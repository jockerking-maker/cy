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37"/>
  </p:notesMasterIdLst>
  <p:sldIdLst>
    <p:sldId id="698" r:id="rId2"/>
    <p:sldId id="699" r:id="rId3"/>
    <p:sldId id="700" r:id="rId4"/>
    <p:sldId id="701" r:id="rId5"/>
    <p:sldId id="702" r:id="rId6"/>
    <p:sldId id="703" r:id="rId7"/>
    <p:sldId id="704" r:id="rId8"/>
    <p:sldId id="705" r:id="rId9"/>
    <p:sldId id="706" r:id="rId10"/>
    <p:sldId id="707" r:id="rId11"/>
    <p:sldId id="708" r:id="rId12"/>
    <p:sldId id="709" r:id="rId13"/>
    <p:sldId id="710" r:id="rId14"/>
    <p:sldId id="711" r:id="rId15"/>
    <p:sldId id="712" r:id="rId16"/>
    <p:sldId id="713" r:id="rId17"/>
    <p:sldId id="714" r:id="rId18"/>
    <p:sldId id="715" r:id="rId19"/>
    <p:sldId id="716" r:id="rId20"/>
    <p:sldId id="717" r:id="rId21"/>
    <p:sldId id="718" r:id="rId22"/>
    <p:sldId id="719" r:id="rId23"/>
    <p:sldId id="720" r:id="rId24"/>
    <p:sldId id="721" r:id="rId25"/>
    <p:sldId id="722" r:id="rId26"/>
    <p:sldId id="723" r:id="rId27"/>
    <p:sldId id="724" r:id="rId28"/>
    <p:sldId id="725" r:id="rId29"/>
    <p:sldId id="726" r:id="rId30"/>
    <p:sldId id="727" r:id="rId31"/>
    <p:sldId id="729" r:id="rId32"/>
    <p:sldId id="730" r:id="rId33"/>
    <p:sldId id="731" r:id="rId34"/>
    <p:sldId id="732" r:id="rId35"/>
    <p:sldId id="298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776B"/>
    <a:srgbClr val="E44C3C"/>
    <a:srgbClr val="BC291A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50" autoAdjust="0"/>
    <p:restoredTop sz="95232" autoAdjust="0"/>
  </p:normalViewPr>
  <p:slideViewPr>
    <p:cSldViewPr snapToGrid="0">
      <p:cViewPr varScale="1">
        <p:scale>
          <a:sx n="40" d="100"/>
          <a:sy n="40" d="100"/>
        </p:scale>
        <p:origin x="81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70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76680" y="726440"/>
            <a:ext cx="6704640" cy="377136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2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217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218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219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1435F71D-641E-4ECC-830F-6558CD869574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12153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1A7CAC1-66FE-47D9-8EE5-3517C4F0C454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5017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zh-CN"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补充案例</a:t>
            </a:r>
            <a:endParaRPr lang="en-US" altLang="zh-CN"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例如，我们曾经参加过的某些产品发布会之类的大会，演讲者可能演讲的是英语，而听众可能需要听到的语言是英语、汉语或法语等。如何解决呢？我们需要多个演讲者、多个会场，但这不是最好的办法。我们可以使用同声翻译的耳机，大家仍然坐在一个会场中，但是通过耳机听到的是自己需要的语言</a:t>
            </a:r>
          </a:p>
          <a:p>
            <a:r>
              <a:rPr lang="zh-CN" altLang="en-US">
                <a:ea typeface="宋体" charset="-122"/>
              </a:rPr>
              <a:t>那么在这里，通过使用耳机不同的波段，坐在同一个会议厅中的人被分成了多个不同的逻辑的组，类似于</a:t>
            </a:r>
            <a:r>
              <a:rPr lang="en-US" altLang="zh-CN">
                <a:ea typeface="宋体" charset="-122"/>
              </a:rPr>
              <a:t>VLAN</a:t>
            </a:r>
            <a:endParaRPr lang="zh-CN" altLang="en-US"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而我们前面说的分在多个会场中，就是一种物理分割的方法，类似于不同的部门使用各自的交换机</a:t>
            </a:r>
          </a:p>
        </p:txBody>
      </p:sp>
      <p:sp>
        <p:nvSpPr>
          <p:cNvPr id="4915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2E223FC-6530-49C5-BDBD-43A2780EDB94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51203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50180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F184305-539E-4818-BA6E-3C87BC0235F9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讲解</a:t>
            </a:r>
            <a:r>
              <a:rPr lang="en-US" altLang="zh-CN">
                <a:ea typeface="宋体" charset="-122"/>
              </a:rPr>
              <a:t>VLAN</a:t>
            </a:r>
            <a:r>
              <a:rPr lang="zh-CN" altLang="en-US">
                <a:ea typeface="宋体" charset="-122"/>
              </a:rPr>
              <a:t>的范围，在讲解完成</a:t>
            </a:r>
            <a:r>
              <a:rPr lang="en-US" altLang="zh-CN">
                <a:ea typeface="宋体" charset="-122"/>
              </a:rPr>
              <a:t>802.1q</a:t>
            </a:r>
            <a:r>
              <a:rPr lang="zh-CN" altLang="en-US">
                <a:ea typeface="宋体" charset="-122"/>
              </a:rPr>
              <a:t>后可以回应此处，说明为什么是</a:t>
            </a:r>
            <a:r>
              <a:rPr lang="en-US" altLang="zh-CN">
                <a:ea typeface="宋体" charset="-122"/>
              </a:rPr>
              <a:t>0</a:t>
            </a:r>
            <a:r>
              <a:rPr lang="zh-CN" altLang="en-US">
                <a:ea typeface="宋体" charset="-122"/>
              </a:rPr>
              <a:t>～</a:t>
            </a:r>
            <a:r>
              <a:rPr lang="en-US" altLang="zh-CN">
                <a:ea typeface="宋体" charset="-122"/>
              </a:rPr>
              <a:t>4095</a:t>
            </a:r>
            <a:r>
              <a:rPr lang="zh-CN" altLang="en-US">
                <a:ea typeface="宋体" charset="-122"/>
              </a:rPr>
              <a:t>。另外，不需要讲解</a:t>
            </a:r>
            <a:r>
              <a:rPr lang="en-US" altLang="zh-CN">
                <a:ea typeface="宋体" charset="-122"/>
              </a:rPr>
              <a:t>FDDI</a:t>
            </a:r>
            <a:r>
              <a:rPr lang="zh-CN" altLang="en-US">
                <a:ea typeface="宋体" charset="-122"/>
              </a:rPr>
              <a:t>（可以简要说明）。</a:t>
            </a:r>
          </a:p>
        </p:txBody>
      </p:sp>
      <p:sp>
        <p:nvSpPr>
          <p:cNvPr id="5120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38C18BE-F9ED-4A42-ACC8-AF6D3780D969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本页开始讲解</a:t>
            </a:r>
            <a:r>
              <a:rPr lang="en-US" altLang="zh-CN">
                <a:ea typeface="宋体" charset="-122"/>
              </a:rPr>
              <a:t>VLAN</a:t>
            </a:r>
            <a:r>
              <a:rPr lang="zh-CN" altLang="en-US">
                <a:ea typeface="宋体" charset="-122"/>
              </a:rPr>
              <a:t>的配置，在讲解过程中配合演示把命令串起来，让学员比较清楚的看到整个配置过程。</a:t>
            </a:r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9E23FA-98D4-45CE-A4BB-7F94D86F75F7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5427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创建</a:t>
            </a:r>
            <a:r>
              <a:rPr lang="en-US" altLang="zh-CN">
                <a:ea typeface="宋体" charset="-122"/>
              </a:rPr>
              <a:t>VLAN</a:t>
            </a:r>
            <a:r>
              <a:rPr lang="zh-CN" altLang="en-US">
                <a:ea typeface="宋体" charset="-122"/>
              </a:rPr>
              <a:t>，需要明确使用</a:t>
            </a:r>
            <a:r>
              <a:rPr lang="en-US" altLang="zh-CN">
                <a:ea typeface="宋体" charset="-122"/>
              </a:rPr>
              <a:t>VLAN</a:t>
            </a:r>
            <a:r>
              <a:rPr lang="zh-CN" altLang="en-US">
                <a:ea typeface="宋体" charset="-122"/>
              </a:rPr>
              <a:t>数据库方式配置</a:t>
            </a:r>
            <a:r>
              <a:rPr lang="en-US" altLang="zh-CN">
                <a:ea typeface="宋体" charset="-122"/>
              </a:rPr>
              <a:t>vlan</a:t>
            </a:r>
            <a:r>
              <a:rPr lang="zh-CN" altLang="en-US">
                <a:ea typeface="宋体" charset="-122"/>
              </a:rPr>
              <a:t>，已经不被推荐，后续的</a:t>
            </a:r>
            <a:r>
              <a:rPr lang="en-US" altLang="zh-CN">
                <a:ea typeface="宋体" charset="-122"/>
              </a:rPr>
              <a:t>ios</a:t>
            </a:r>
            <a:r>
              <a:rPr lang="zh-CN" altLang="en-US">
                <a:ea typeface="宋体" charset="-122"/>
              </a:rPr>
              <a:t>可能不再支持。</a:t>
            </a:r>
            <a:endParaRPr lang="en-US" altLang="zh-CN">
              <a:ea typeface="宋体" charset="-122"/>
            </a:endParaRPr>
          </a:p>
          <a:p>
            <a:endParaRPr lang="en-US" altLang="zh-CN">
              <a:ea typeface="宋体" charset="-122"/>
            </a:endParaRPr>
          </a:p>
        </p:txBody>
      </p:sp>
      <p:sp>
        <p:nvSpPr>
          <p:cNvPr id="53252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D8FC244-0C75-4393-84D9-2B9D8A4EBC25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5529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5427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98F3AD-1B0E-4AD9-A9E4-109BE4BAA5C2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zh-CN">
              <a:ea typeface="宋体" charset="-122"/>
            </a:endParaRPr>
          </a:p>
        </p:txBody>
      </p:sp>
      <p:sp>
        <p:nvSpPr>
          <p:cNvPr id="55300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80F3A9B-176C-4B14-8797-714A7A7A3EB8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首先，讲解单一端口的配置；</a:t>
            </a:r>
            <a:endParaRPr lang="en-US" altLang="zh-CN"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然后，说明有时同一交换机都属于一个</a:t>
            </a:r>
            <a:r>
              <a:rPr lang="en-US" altLang="zh-CN">
                <a:ea typeface="宋体" charset="-122"/>
              </a:rPr>
              <a:t>VLAN</a:t>
            </a:r>
            <a:r>
              <a:rPr lang="zh-CN" altLang="en-US">
                <a:ea typeface="宋体" charset="-122"/>
              </a:rPr>
              <a:t>，如果一个端口一个端口的配置十分繁琐，所以可以使用</a:t>
            </a:r>
            <a:r>
              <a:rPr lang="en-US" altLang="zh-CN">
                <a:ea typeface="宋体" charset="-122"/>
              </a:rPr>
              <a:t>range</a:t>
            </a:r>
            <a:r>
              <a:rPr lang="zh-CN" altLang="en-US">
                <a:ea typeface="宋体" charset="-122"/>
              </a:rPr>
              <a:t>命令对多个端口同时进行操作；</a:t>
            </a:r>
            <a:endParaRPr lang="en-US" altLang="zh-CN">
              <a:ea typeface="宋体" charset="-122"/>
            </a:endParaRPr>
          </a:p>
        </p:txBody>
      </p:sp>
      <p:sp>
        <p:nvSpPr>
          <p:cNvPr id="5632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3702B80-E2ED-46A1-BE97-8DEB959F6CDE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通过查看</a:t>
            </a:r>
            <a:r>
              <a:rPr lang="en-US" altLang="zh-CN">
                <a:ea typeface="宋体" charset="-122"/>
              </a:rPr>
              <a:t>VLAN</a:t>
            </a:r>
            <a:r>
              <a:rPr lang="zh-CN" altLang="en-US">
                <a:ea typeface="宋体" charset="-122"/>
              </a:rPr>
              <a:t>信息，验证</a:t>
            </a:r>
            <a:r>
              <a:rPr lang="en-US" altLang="zh-CN">
                <a:ea typeface="宋体" charset="-122"/>
              </a:rPr>
              <a:t>vlan</a:t>
            </a:r>
            <a:r>
              <a:rPr lang="zh-CN" altLang="en-US">
                <a:ea typeface="宋体" charset="-122"/>
              </a:rPr>
              <a:t>的添加与删除。</a:t>
            </a:r>
          </a:p>
        </p:txBody>
      </p:sp>
      <p:sp>
        <p:nvSpPr>
          <p:cNvPr id="5734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F6B1853-1F7E-40EF-BA95-EE49806F1E04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5939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讲解实验环境，明确配置过程。根据实验环境，进行配置（明确配置的先后顺序）讲解。然后在进行相应的演示。</a:t>
            </a:r>
          </a:p>
        </p:txBody>
      </p:sp>
      <p:sp>
        <p:nvSpPr>
          <p:cNvPr id="58372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98034DF-2737-4AE2-8B8C-0CDF3ABCDD6D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5939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A264083-624A-4934-95C3-3D11A52A9FE2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61443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zh-CN">
              <a:ea typeface="宋体" charset="-122"/>
            </a:endParaRPr>
          </a:p>
        </p:txBody>
      </p:sp>
      <p:sp>
        <p:nvSpPr>
          <p:cNvPr id="60420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3694F1E-0B28-43B7-A825-2F3735FFF310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6144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19B9E48-5CD7-466E-B1F3-7C949AA7EFD1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6349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6246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B9A93EE-6018-4058-B990-F4DEF8AEA1E8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6451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 typeface="Wingdings" pitchFamily="2" charset="2"/>
              <a:buChar char="l"/>
            </a:pPr>
            <a:r>
              <a:rPr lang="en-US" altLang="zh-CN">
                <a:ea typeface="宋体" charset="-122"/>
              </a:rPr>
              <a:t>ISL</a:t>
            </a:r>
            <a:r>
              <a:rPr lang="zh-CN" altLang="en-US">
                <a:ea typeface="宋体" charset="-122"/>
              </a:rPr>
              <a:t>为</a:t>
            </a:r>
            <a:r>
              <a:rPr lang="en-US" altLang="zh-CN">
                <a:ea typeface="宋体" charset="-122"/>
              </a:rPr>
              <a:t>Cisco</a:t>
            </a:r>
            <a:r>
              <a:rPr lang="zh-CN" altLang="en-US">
                <a:ea typeface="宋体" charset="-122"/>
              </a:rPr>
              <a:t>私有标准不作为重点讲解，只是让学员了解</a:t>
            </a:r>
            <a:r>
              <a:rPr lang="en-US" altLang="zh-CN">
                <a:ea typeface="宋体" charset="-122"/>
              </a:rPr>
              <a:t>ISL</a:t>
            </a:r>
            <a:r>
              <a:rPr lang="zh-CN" altLang="en-US">
                <a:ea typeface="宋体" charset="-122"/>
              </a:rPr>
              <a:t>的结构；了解</a:t>
            </a:r>
            <a:r>
              <a:rPr lang="en-US" altLang="zh-CN">
                <a:ea typeface="宋体" charset="-122"/>
              </a:rPr>
              <a:t>ISL</a:t>
            </a:r>
            <a:r>
              <a:rPr lang="zh-CN" altLang="en-US">
                <a:ea typeface="宋体" charset="-122"/>
              </a:rPr>
              <a:t>只是对帧进行封装，而没有修改帧中的任何内容。</a:t>
            </a:r>
          </a:p>
          <a:p>
            <a:pPr>
              <a:buFont typeface="Wingdings" pitchFamily="2" charset="2"/>
              <a:buChar char="l"/>
            </a:pPr>
            <a:r>
              <a:rPr lang="en-US" altLang="zh-CN">
                <a:ea typeface="宋体" charset="-122"/>
              </a:rPr>
              <a:t>802.1q</a:t>
            </a:r>
            <a:r>
              <a:rPr lang="zh-CN" altLang="en-US">
                <a:ea typeface="宋体" charset="-122"/>
              </a:rPr>
              <a:t>为公共标准需要重点讲解。</a:t>
            </a:r>
          </a:p>
          <a:p>
            <a:pPr>
              <a:buFont typeface="Wingdings" pitchFamily="2" charset="2"/>
              <a:buChar char="l"/>
            </a:pPr>
            <a:r>
              <a:rPr lang="zh-CN" altLang="en-US">
                <a:ea typeface="宋体" charset="-122"/>
              </a:rPr>
              <a:t>不同厂商交换机进行互联时需要使用共有标准，即</a:t>
            </a:r>
            <a:r>
              <a:rPr lang="en-US" altLang="zh-CN">
                <a:ea typeface="宋体" charset="-122"/>
              </a:rPr>
              <a:t>802.1q</a:t>
            </a:r>
            <a:r>
              <a:rPr lang="zh-CN" altLang="en-US">
                <a:ea typeface="宋体" charset="-122"/>
              </a:rPr>
              <a:t>。</a:t>
            </a:r>
          </a:p>
          <a:p>
            <a:endParaRPr lang="zh-CN" altLang="en-US">
              <a:ea typeface="宋体" charset="-122"/>
            </a:endParaRPr>
          </a:p>
        </p:txBody>
      </p:sp>
      <p:sp>
        <p:nvSpPr>
          <p:cNvPr id="63492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C357D6-495F-4C81-93B0-92FFFC83AB67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6553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首先，通过动画演示</a:t>
            </a:r>
            <a:r>
              <a:rPr lang="en-US" altLang="zh-CN">
                <a:ea typeface="宋体" charset="-122"/>
              </a:rPr>
              <a:t>802.1q</a:t>
            </a:r>
            <a:r>
              <a:rPr lang="zh-CN" altLang="en-US">
                <a:ea typeface="宋体" charset="-122"/>
              </a:rPr>
              <a:t>的工作过程，添加</a:t>
            </a:r>
            <a:r>
              <a:rPr lang="en-US" altLang="zh-CN">
                <a:ea typeface="宋体" charset="-122"/>
              </a:rPr>
              <a:t>VLAN</a:t>
            </a:r>
            <a:r>
              <a:rPr lang="zh-CN" altLang="en-US">
                <a:ea typeface="宋体" charset="-122"/>
              </a:rPr>
              <a:t>标签为</a:t>
            </a:r>
            <a:r>
              <a:rPr lang="en-US" altLang="zh-CN">
                <a:ea typeface="宋体" charset="-122"/>
              </a:rPr>
              <a:t>4</a:t>
            </a:r>
            <a:r>
              <a:rPr lang="zh-CN" altLang="en-US">
                <a:ea typeface="宋体" charset="-122"/>
              </a:rPr>
              <a:t>字节；</a:t>
            </a:r>
            <a:endParaRPr lang="en-US" altLang="zh-CN"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然后，通过帧结构分析添加的</a:t>
            </a:r>
            <a:r>
              <a:rPr lang="en-US" altLang="zh-CN">
                <a:ea typeface="宋体" charset="-122"/>
              </a:rPr>
              <a:t>4</a:t>
            </a:r>
            <a:r>
              <a:rPr lang="zh-CN" altLang="en-US">
                <a:ea typeface="宋体" charset="-122"/>
              </a:rPr>
              <a:t>字节标签；</a:t>
            </a:r>
            <a:endParaRPr lang="en-US" altLang="zh-CN"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此处可以通过抓包进行演示，抓包需要配置端口镜像，需要提前准备实验环境；</a:t>
            </a:r>
          </a:p>
        </p:txBody>
      </p:sp>
      <p:sp>
        <p:nvSpPr>
          <p:cNvPr id="6451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8C3C785-469F-449D-9F2E-00BE224219C6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66563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872A59-11DF-4136-A8C2-5DB0AE529E76}" type="slidenum">
              <a:rPr lang="zh-CN" altLang="en-US" smtClean="0"/>
              <a:pPr>
                <a:defRPr/>
              </a:pPr>
              <a:t>19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67587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6656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5832AC-9EAA-4DAB-A13D-37860A224589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6861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前面一段主要讲解</a:t>
            </a:r>
            <a:r>
              <a:rPr lang="en-US" altLang="zh-CN">
                <a:ea typeface="宋体" charset="-122"/>
              </a:rPr>
              <a:t>VLAN Trunk</a:t>
            </a:r>
            <a:r>
              <a:rPr lang="zh-CN" altLang="en-US">
                <a:ea typeface="宋体" charset="-122"/>
              </a:rPr>
              <a:t>的理论部分，以提问进行总结。</a:t>
            </a:r>
          </a:p>
        </p:txBody>
      </p:sp>
      <p:sp>
        <p:nvSpPr>
          <p:cNvPr id="6758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FA81F96-5775-4065-B7F6-E1DC10CA8E35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6963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讲解命令时，注意命令格式。此处需要说明，在配置</a:t>
            </a:r>
            <a:r>
              <a:rPr lang="en-US" altLang="zh-CN">
                <a:ea typeface="宋体" charset="-122"/>
              </a:rPr>
              <a:t>3560</a:t>
            </a:r>
            <a:r>
              <a:rPr lang="zh-CN" altLang="en-US">
                <a:ea typeface="宋体" charset="-122"/>
              </a:rPr>
              <a:t>时首先需要配置</a:t>
            </a:r>
            <a:r>
              <a:rPr lang="en-US" altLang="zh-CN">
                <a:ea typeface="宋体" charset="-122"/>
              </a:rPr>
              <a:t>trunk</a:t>
            </a:r>
            <a:r>
              <a:rPr lang="zh-CN" altLang="en-US">
                <a:ea typeface="宋体" charset="-122"/>
              </a:rPr>
              <a:t>的封装为</a:t>
            </a:r>
            <a:r>
              <a:rPr lang="en-US" altLang="zh-CN">
                <a:ea typeface="宋体" charset="-122"/>
              </a:rPr>
              <a:t>dot1q</a:t>
            </a:r>
            <a:r>
              <a:rPr lang="zh-CN" altLang="en-US">
                <a:ea typeface="宋体" charset="-122"/>
              </a:rPr>
              <a:t>，然后再配置接口为</a:t>
            </a:r>
            <a:r>
              <a:rPr lang="en-US" altLang="zh-CN">
                <a:ea typeface="宋体" charset="-122"/>
              </a:rPr>
              <a:t>Trunk</a:t>
            </a:r>
            <a:r>
              <a:rPr lang="zh-CN" altLang="en-US">
                <a:ea typeface="宋体" charset="-122"/>
              </a:rPr>
              <a:t>。</a:t>
            </a:r>
            <a:endParaRPr lang="en-US" altLang="zh-CN"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在配置</a:t>
            </a:r>
            <a:r>
              <a:rPr lang="en-US" altLang="zh-CN">
                <a:ea typeface="宋体" charset="-122"/>
              </a:rPr>
              <a:t>2960</a:t>
            </a:r>
            <a:r>
              <a:rPr lang="zh-CN" altLang="en-US">
                <a:ea typeface="宋体" charset="-122"/>
              </a:rPr>
              <a:t>二层交换机时，其只支持</a:t>
            </a:r>
            <a:r>
              <a:rPr lang="en-US" altLang="zh-CN">
                <a:ea typeface="宋体" charset="-122"/>
              </a:rPr>
              <a:t>dot1q</a:t>
            </a:r>
            <a:r>
              <a:rPr lang="zh-CN" altLang="en-US">
                <a:ea typeface="宋体" charset="-122"/>
              </a:rPr>
              <a:t>所以不需要配置封装类型，直接配置端口为</a:t>
            </a:r>
            <a:r>
              <a:rPr lang="en-US" altLang="zh-CN">
                <a:ea typeface="宋体" charset="-122"/>
              </a:rPr>
              <a:t>Trunk</a:t>
            </a:r>
            <a:r>
              <a:rPr lang="zh-CN" altLang="en-US">
                <a:ea typeface="宋体" charset="-122"/>
              </a:rPr>
              <a:t>。</a:t>
            </a:r>
            <a:endParaRPr lang="en-US" altLang="zh-CN">
              <a:ea typeface="宋体" charset="-122"/>
            </a:endParaRPr>
          </a:p>
          <a:p>
            <a:endParaRPr lang="en-US" altLang="zh-CN">
              <a:ea typeface="宋体" charset="-122"/>
            </a:endParaRPr>
          </a:p>
        </p:txBody>
      </p:sp>
      <p:sp>
        <p:nvSpPr>
          <p:cNvPr id="68612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1662473-145C-41F8-8BE1-69A02152555A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当禁止某个</a:t>
            </a:r>
            <a:r>
              <a:rPr lang="en-US" altLang="zh-CN">
                <a:ea typeface="宋体" charset="-122"/>
              </a:rPr>
              <a:t>VLAN</a:t>
            </a:r>
            <a:r>
              <a:rPr lang="zh-CN" altLang="en-US">
                <a:ea typeface="宋体" charset="-122"/>
              </a:rPr>
              <a:t>数据通过</a:t>
            </a:r>
            <a:r>
              <a:rPr lang="en-US" altLang="zh-CN">
                <a:ea typeface="宋体" charset="-122"/>
              </a:rPr>
              <a:t>Trunk</a:t>
            </a:r>
            <a:r>
              <a:rPr lang="zh-CN" altLang="en-US">
                <a:ea typeface="宋体" charset="-122"/>
              </a:rPr>
              <a:t>接口时，需要在</a:t>
            </a:r>
            <a:r>
              <a:rPr lang="en-US" altLang="zh-CN">
                <a:ea typeface="宋体" charset="-122"/>
              </a:rPr>
              <a:t>Trunk</a:t>
            </a:r>
            <a:r>
              <a:rPr lang="zh-CN" altLang="en-US">
                <a:ea typeface="宋体" charset="-122"/>
              </a:rPr>
              <a:t>接口上删除这个</a:t>
            </a:r>
            <a:r>
              <a:rPr lang="en-US" altLang="zh-CN">
                <a:ea typeface="宋体" charset="-122"/>
              </a:rPr>
              <a:t>VLAN</a:t>
            </a:r>
            <a:r>
              <a:rPr lang="zh-CN" altLang="en-US">
                <a:ea typeface="宋体" charset="-122"/>
              </a:rPr>
              <a:t>，引出配置。</a:t>
            </a:r>
            <a:endParaRPr lang="en-US" altLang="zh-CN"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需要注意：默认情况下</a:t>
            </a:r>
            <a:r>
              <a:rPr lang="en-US" altLang="zh-CN">
                <a:ea typeface="宋体" charset="-122"/>
              </a:rPr>
              <a:t>Trunk</a:t>
            </a:r>
            <a:r>
              <a:rPr lang="zh-CN" altLang="en-US">
                <a:ea typeface="宋体" charset="-122"/>
              </a:rPr>
              <a:t>端口允许所以</a:t>
            </a:r>
            <a:r>
              <a:rPr lang="en-US" altLang="zh-CN">
                <a:ea typeface="宋体" charset="-122"/>
              </a:rPr>
              <a:t>VLAN</a:t>
            </a:r>
            <a:r>
              <a:rPr lang="zh-CN" altLang="en-US">
                <a:ea typeface="宋体" charset="-122"/>
              </a:rPr>
              <a:t>数据通过。</a:t>
            </a:r>
            <a:endParaRPr lang="en-US" altLang="zh-CN">
              <a:ea typeface="宋体" charset="-122"/>
            </a:endParaRPr>
          </a:p>
        </p:txBody>
      </p:sp>
      <p:sp>
        <p:nvSpPr>
          <p:cNvPr id="6963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FC8B9D-9628-4012-B834-FFCF62D42AB2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71683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以一个实例来演示跨交换机的</a:t>
            </a:r>
            <a:r>
              <a:rPr lang="en-US" altLang="zh-CN">
                <a:ea typeface="宋体" charset="-122"/>
              </a:rPr>
              <a:t>VLAN</a:t>
            </a:r>
            <a:r>
              <a:rPr lang="zh-CN" altLang="en-US">
                <a:ea typeface="宋体" charset="-122"/>
              </a:rPr>
              <a:t>通信。</a:t>
            </a:r>
          </a:p>
          <a:p>
            <a:r>
              <a:rPr lang="zh-CN" altLang="en-US">
                <a:ea typeface="宋体" charset="-122"/>
              </a:rPr>
              <a:t>首先，添加</a:t>
            </a:r>
            <a:r>
              <a:rPr lang="en-US" altLang="zh-CN">
                <a:ea typeface="宋体" charset="-122"/>
              </a:rPr>
              <a:t>vlan</a:t>
            </a:r>
            <a:r>
              <a:rPr lang="zh-CN" altLang="en-US">
                <a:ea typeface="宋体" charset="-122"/>
              </a:rPr>
              <a:t>；然后，将端口添加到</a:t>
            </a:r>
            <a:r>
              <a:rPr lang="en-US" altLang="zh-CN">
                <a:ea typeface="宋体" charset="-122"/>
              </a:rPr>
              <a:t>vlan</a:t>
            </a:r>
            <a:r>
              <a:rPr lang="zh-CN" altLang="en-US">
                <a:ea typeface="宋体" charset="-122"/>
              </a:rPr>
              <a:t>中；最后，配置交换机互联接口为</a:t>
            </a:r>
            <a:r>
              <a:rPr lang="en-US" altLang="zh-CN">
                <a:ea typeface="宋体" charset="-122"/>
              </a:rPr>
              <a:t>Trunk</a:t>
            </a:r>
            <a:r>
              <a:rPr lang="zh-CN" altLang="en-US">
                <a:ea typeface="宋体" charset="-122"/>
              </a:rPr>
              <a:t>模式，并通过</a:t>
            </a:r>
            <a:r>
              <a:rPr lang="en-US" altLang="zh-CN">
                <a:ea typeface="宋体" charset="-122"/>
              </a:rPr>
              <a:t>show</a:t>
            </a:r>
            <a:r>
              <a:rPr lang="zh-CN" altLang="en-US">
                <a:ea typeface="宋体" charset="-122"/>
              </a:rPr>
              <a:t>命令查看相关配置。</a:t>
            </a:r>
          </a:p>
          <a:p>
            <a:endParaRPr lang="zh-CN" altLang="en-US">
              <a:ea typeface="宋体" charset="-122"/>
            </a:endParaRPr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DC13D3D-FD37-425C-84A1-632DD0CB7AF7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7168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6BA66B-0965-437F-B153-12D12BD34C93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7373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zh-CN">
              <a:ea typeface="宋体" charset="-122"/>
            </a:endParaRPr>
          </a:p>
        </p:txBody>
      </p:sp>
      <p:sp>
        <p:nvSpPr>
          <p:cNvPr id="7270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F191FB2-407F-46AC-9DBD-A42A0332DCB3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871981E-85EB-434E-83BB-253B380EAB9F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5C6AE77-3A79-4CA9-B04E-4DF85CB27A93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  <p:sp>
        <p:nvSpPr>
          <p:cNvPr id="7680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B690A2F1-E11C-4812-9DAD-E509D7C8C528}" type="slidenum">
              <a:rPr lang="en-US" altLang="zh-CN" sz="1200">
                <a:ea typeface="宋体" charset="-122"/>
              </a:rPr>
              <a:pPr algn="r"/>
              <a:t>31</a:t>
            </a:fld>
            <a:endParaRPr lang="en-US" altLang="zh-CN" sz="1200">
              <a:ea typeface="宋体" charset="-122"/>
            </a:endParaRPr>
          </a:p>
        </p:txBody>
      </p:sp>
      <p:sp>
        <p:nvSpPr>
          <p:cNvPr id="768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7680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 typeface="Wingdings" pitchFamily="2" charset="2"/>
              <a:buNone/>
            </a:pPr>
            <a:endParaRPr lang="zh-CN" altLang="zh-CN">
              <a:solidFill>
                <a:srgbClr val="000066"/>
              </a:solidFill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AB459D-E6F4-4DAF-9C9A-68AAD75E8667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  <p:sp>
        <p:nvSpPr>
          <p:cNvPr id="77827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50A5D9E-62A2-4136-8F63-C1BB5A1B3E0B}" type="slidenum">
              <a:rPr lang="en-US" altLang="zh-CN" sz="1200">
                <a:ea typeface="宋体" charset="-122"/>
              </a:rPr>
              <a:pPr algn="r"/>
              <a:t>32</a:t>
            </a:fld>
            <a:endParaRPr lang="en-US" altLang="zh-CN" sz="1200">
              <a:ea typeface="宋体" charset="-122"/>
            </a:endParaRPr>
          </a:p>
        </p:txBody>
      </p:sp>
      <p:sp>
        <p:nvSpPr>
          <p:cNvPr id="778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7782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EE6508A-451B-4E91-9B43-ABA8E3AEFDEB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  <p:sp>
        <p:nvSpPr>
          <p:cNvPr id="78851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2B850348-7636-4D79-9F71-D86C7828F87F}" type="slidenum">
              <a:rPr lang="en-US" altLang="zh-CN" sz="1200">
                <a:ea typeface="宋体" charset="-122"/>
              </a:rPr>
              <a:pPr algn="r"/>
              <a:t>33</a:t>
            </a:fld>
            <a:endParaRPr lang="en-US" altLang="zh-CN" sz="1200">
              <a:ea typeface="宋体" charset="-122"/>
            </a:endParaRPr>
          </a:p>
        </p:txBody>
      </p:sp>
      <p:sp>
        <p:nvSpPr>
          <p:cNvPr id="788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7885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 typeface="Wingdings" pitchFamily="2" charset="2"/>
              <a:buNone/>
            </a:pPr>
            <a:endParaRPr lang="zh-CN" altLang="zh-CN">
              <a:solidFill>
                <a:srgbClr val="000066"/>
              </a:solidFill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B30FCB4-2368-4D4D-BBA2-C419D489B354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  <p:sp>
        <p:nvSpPr>
          <p:cNvPr id="79875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0565300-D80A-4D27-9E9B-99855AEC8147}" type="slidenum">
              <a:rPr lang="en-US" altLang="zh-CN" sz="1200">
                <a:ea typeface="宋体" charset="-122"/>
              </a:rPr>
              <a:pPr algn="r"/>
              <a:t>34</a:t>
            </a:fld>
            <a:endParaRPr lang="en-US" altLang="zh-CN" sz="1200">
              <a:ea typeface="宋体" charset="-122"/>
            </a:endParaRPr>
          </a:p>
        </p:txBody>
      </p:sp>
      <p:sp>
        <p:nvSpPr>
          <p:cNvPr id="7987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7987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 typeface="Wingdings" pitchFamily="2" charset="2"/>
              <a:buNone/>
            </a:pPr>
            <a:endParaRPr lang="zh-CN" altLang="zh-CN">
              <a:solidFill>
                <a:srgbClr val="000066"/>
              </a:solidFill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1435F71D-641E-4ECC-830F-6558CD869574}" type="slidenum">
              <a:rPr lang="en-US" sz="1400" b="0" strike="noStrike" spc="-1" smtClean="0">
                <a:latin typeface="Times New Roman"/>
              </a:rPr>
              <a:t>35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72068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AA452-31F6-42F1-88E2-2BEAFFB3D008}" type="datetimeFigureOut">
              <a:rPr lang="zh-CN" altLang="en-US" smtClean="0"/>
              <a:t>2021/10/14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6C8-063D-4826-91C2-CB3A25A9B5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613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2520" y="6760080"/>
            <a:ext cx="12186720" cy="121320"/>
          </a:xfrm>
          <a:prstGeom prst="rect">
            <a:avLst/>
          </a:prstGeom>
          <a:gradFill rotWithShape="0">
            <a:gsLst>
              <a:gs pos="0">
                <a:srgbClr val="007BF7"/>
              </a:gs>
              <a:gs pos="100000">
                <a:srgbClr val="0BB3E8"/>
              </a:gs>
            </a:gsLst>
            <a:lin ang="360000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/>
          <p:cNvSpPr/>
          <p:nvPr/>
        </p:nvSpPr>
        <p:spPr>
          <a:xfrm>
            <a:off x="334440" y="6515640"/>
            <a:ext cx="672840" cy="204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00000"/>
              </a:lnSpc>
              <a:spcBef>
                <a:spcPts val="666"/>
              </a:spcBef>
            </a:pPr>
            <a:fld id="{BE2697B1-93DF-4FA3-9179-2157CC991DBC}" type="slidenum">
              <a:rPr lang="en-US" sz="1340" b="0" strike="noStrike" spc="-1">
                <a:solidFill>
                  <a:srgbClr val="5A5A5A"/>
                </a:solidFill>
                <a:latin typeface="Myriad Pro"/>
                <a:ea typeface="微软雅黑"/>
              </a:rPr>
              <a:t>‹#›</a:t>
            </a:fld>
            <a:endParaRPr lang="en-US" sz="1340" b="0" strike="noStrike" spc="-1">
              <a:latin typeface="Arial"/>
            </a:endParaRPr>
          </a:p>
        </p:txBody>
      </p:sp>
      <p:sp>
        <p:nvSpPr>
          <p:cNvPr id="44" name="CustomShape 3"/>
          <p:cNvSpPr/>
          <p:nvPr/>
        </p:nvSpPr>
        <p:spPr>
          <a:xfrm>
            <a:off x="0" y="165240"/>
            <a:ext cx="670680" cy="2869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8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 dirty="0"/>
              <a:t>理解</a:t>
            </a:r>
            <a:r>
              <a:rPr lang="en-US" altLang="zh-CN" dirty="0"/>
              <a:t>VLAN</a:t>
            </a:r>
            <a:r>
              <a:rPr lang="zh-CN" altLang="en-US" dirty="0"/>
              <a:t>的原理</a:t>
            </a:r>
          </a:p>
          <a:p>
            <a:pPr>
              <a:spcBef>
                <a:spcPts val="675"/>
              </a:spcBef>
            </a:pPr>
            <a:r>
              <a:rPr lang="zh-CN" altLang="en-US" dirty="0"/>
              <a:t>理解</a:t>
            </a:r>
            <a:r>
              <a:rPr lang="en-US" altLang="zh-CN" dirty="0"/>
              <a:t>Trunk</a:t>
            </a:r>
            <a:r>
              <a:rPr lang="zh-CN" altLang="en-US" dirty="0"/>
              <a:t>的原理</a:t>
            </a:r>
          </a:p>
          <a:p>
            <a:pPr>
              <a:spcBef>
                <a:spcPts val="675"/>
              </a:spcBef>
            </a:pPr>
            <a:r>
              <a:rPr lang="zh-CN" altLang="en-US" dirty="0"/>
              <a:t>会配置</a:t>
            </a:r>
            <a:r>
              <a:rPr lang="en-US" altLang="zh-CN" dirty="0"/>
              <a:t>VLAN</a:t>
            </a:r>
            <a:r>
              <a:rPr lang="zh-CN" altLang="en-US" dirty="0"/>
              <a:t>和</a:t>
            </a:r>
            <a:r>
              <a:rPr lang="en-US" altLang="zh-CN" dirty="0"/>
              <a:t>Trunk</a:t>
            </a:r>
          </a:p>
          <a:p>
            <a:pPr>
              <a:spcBef>
                <a:spcPts val="675"/>
              </a:spcBef>
            </a:pPr>
            <a:r>
              <a:rPr lang="zh-CN" altLang="en-US" dirty="0"/>
              <a:t>会配置以太网通道</a:t>
            </a: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/>
              <a:t>目标</a:t>
            </a:r>
            <a:endParaRPr lang="en-US" altLang="zh-CN" sz="4400" b="1" spc="-1" dirty="0">
              <a:solidFill>
                <a:srgbClr val="4472C4"/>
              </a:solidFill>
              <a:latin typeface="微软雅黑"/>
              <a:ea typeface="微软雅黑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Line 16"/>
          <p:cNvSpPr>
            <a:spLocks noChangeShapeType="1"/>
          </p:cNvSpPr>
          <p:nvPr/>
        </p:nvSpPr>
        <p:spPr bwMode="auto">
          <a:xfrm>
            <a:off x="4381501" y="5786438"/>
            <a:ext cx="360363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12290" name="Line 25"/>
          <p:cNvSpPr>
            <a:spLocks noChangeShapeType="1"/>
          </p:cNvSpPr>
          <p:nvPr/>
        </p:nvSpPr>
        <p:spPr bwMode="auto">
          <a:xfrm flipV="1">
            <a:off x="6794501" y="4921250"/>
            <a:ext cx="360363" cy="1588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293" name="Line 25"/>
          <p:cNvSpPr>
            <a:spLocks noChangeShapeType="1"/>
          </p:cNvSpPr>
          <p:nvPr/>
        </p:nvSpPr>
        <p:spPr bwMode="auto">
          <a:xfrm flipV="1">
            <a:off x="6777038" y="3379789"/>
            <a:ext cx="431800" cy="1587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294" name="Line 16"/>
          <p:cNvSpPr>
            <a:spLocks noChangeShapeType="1"/>
          </p:cNvSpPr>
          <p:nvPr/>
        </p:nvSpPr>
        <p:spPr bwMode="auto">
          <a:xfrm>
            <a:off x="6770689" y="2439988"/>
            <a:ext cx="358775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295" name="Line 16"/>
          <p:cNvSpPr>
            <a:spLocks noChangeShapeType="1"/>
          </p:cNvSpPr>
          <p:nvPr/>
        </p:nvSpPr>
        <p:spPr bwMode="auto">
          <a:xfrm>
            <a:off x="6778626" y="3979863"/>
            <a:ext cx="360363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12298" name="Line 8"/>
          <p:cNvSpPr>
            <a:spLocks noChangeShapeType="1"/>
          </p:cNvSpPr>
          <p:nvPr/>
        </p:nvSpPr>
        <p:spPr bwMode="auto">
          <a:xfrm flipV="1">
            <a:off x="4352926" y="4413569"/>
            <a:ext cx="2457455" cy="45719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00" name="Line 10"/>
          <p:cNvSpPr>
            <a:spLocks noChangeShapeType="1"/>
          </p:cNvSpPr>
          <p:nvPr/>
        </p:nvSpPr>
        <p:spPr bwMode="auto">
          <a:xfrm>
            <a:off x="3921125" y="3673475"/>
            <a:ext cx="4318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03" name="AutoShape 5"/>
          <p:cNvSpPr>
            <a:spLocks noChangeArrowheads="1"/>
          </p:cNvSpPr>
          <p:nvPr/>
        </p:nvSpPr>
        <p:spPr bwMode="auto">
          <a:xfrm>
            <a:off x="4608439" y="4273168"/>
            <a:ext cx="1971675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VLAN Trunk</a:t>
            </a:r>
            <a:endParaRPr lang="zh-CN" altLang="en-US" sz="1600" b="1" dirty="0" err="1">
              <a:solidFill>
                <a:srgbClr val="000000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12305" name="AutoShape 11"/>
          <p:cNvSpPr>
            <a:spLocks noChangeArrowheads="1"/>
          </p:cNvSpPr>
          <p:nvPr/>
        </p:nvSpPr>
        <p:spPr bwMode="auto">
          <a:xfrm>
            <a:off x="7110438" y="3197306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静态</a:t>
            </a:r>
            <a:r>
              <a:rPr lang="en-US" altLang="zh-CN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VLAN</a:t>
            </a:r>
            <a:r>
              <a:rPr lang="zh-CN" altLang="en-US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的配置</a:t>
            </a:r>
          </a:p>
        </p:txBody>
      </p:sp>
      <p:sp>
        <p:nvSpPr>
          <p:cNvPr id="12307" name="Line 14"/>
          <p:cNvSpPr>
            <a:spLocks noChangeShapeType="1"/>
          </p:cNvSpPr>
          <p:nvPr/>
        </p:nvSpPr>
        <p:spPr bwMode="auto">
          <a:xfrm>
            <a:off x="6781800" y="2446339"/>
            <a:ext cx="0" cy="936625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08" name="AutoShape 18"/>
          <p:cNvSpPr>
            <a:spLocks noChangeArrowheads="1"/>
          </p:cNvSpPr>
          <p:nvPr/>
        </p:nvSpPr>
        <p:spPr bwMode="auto">
          <a:xfrm>
            <a:off x="7110438" y="3786191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Trunk</a:t>
            </a:r>
            <a:r>
              <a:rPr lang="zh-CN" altLang="en-US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概述</a:t>
            </a:r>
          </a:p>
        </p:txBody>
      </p:sp>
      <p:sp>
        <p:nvSpPr>
          <p:cNvPr id="12309" name="AutoShape 27"/>
          <p:cNvSpPr>
            <a:spLocks noChangeArrowheads="1"/>
          </p:cNvSpPr>
          <p:nvPr/>
        </p:nvSpPr>
        <p:spPr bwMode="auto">
          <a:xfrm>
            <a:off x="7110439" y="4731755"/>
            <a:ext cx="2675479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Trunk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的排错</a:t>
            </a:r>
          </a:p>
        </p:txBody>
      </p:sp>
      <p:sp>
        <p:nvSpPr>
          <p:cNvPr id="12311" name="AutoShape 4"/>
          <p:cNvSpPr>
            <a:spLocks noChangeArrowheads="1"/>
          </p:cNvSpPr>
          <p:nvPr/>
        </p:nvSpPr>
        <p:spPr bwMode="auto">
          <a:xfrm>
            <a:off x="1935286" y="3483058"/>
            <a:ext cx="2132012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虚拟局域网</a:t>
            </a: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VLAN</a:t>
            </a:r>
            <a:endParaRPr lang="zh-CN" altLang="en-US" sz="1600" b="1" dirty="0" err="1">
              <a:solidFill>
                <a:srgbClr val="000000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12314" name="Line 36"/>
          <p:cNvSpPr>
            <a:spLocks noChangeShapeType="1"/>
          </p:cNvSpPr>
          <p:nvPr/>
        </p:nvSpPr>
        <p:spPr bwMode="auto">
          <a:xfrm>
            <a:off x="4352926" y="2889250"/>
            <a:ext cx="28575" cy="2897188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15" name="Line 37"/>
          <p:cNvSpPr>
            <a:spLocks noChangeShapeType="1"/>
          </p:cNvSpPr>
          <p:nvPr/>
        </p:nvSpPr>
        <p:spPr bwMode="auto">
          <a:xfrm>
            <a:off x="6781800" y="3957639"/>
            <a:ext cx="0" cy="973137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16" name="Line 8"/>
          <p:cNvSpPr>
            <a:spLocks noChangeShapeType="1"/>
          </p:cNvSpPr>
          <p:nvPr/>
        </p:nvSpPr>
        <p:spPr bwMode="auto">
          <a:xfrm flipV="1">
            <a:off x="4352926" y="2854645"/>
            <a:ext cx="2457455" cy="45719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17" name="AutoShape 11"/>
          <p:cNvSpPr>
            <a:spLocks noChangeArrowheads="1"/>
          </p:cNvSpPr>
          <p:nvPr/>
        </p:nvSpPr>
        <p:spPr bwMode="auto">
          <a:xfrm>
            <a:off x="7110438" y="2249884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VLAN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的概念及优势</a:t>
            </a:r>
          </a:p>
        </p:txBody>
      </p:sp>
      <p:sp>
        <p:nvSpPr>
          <p:cNvPr id="12320" name="AutoShape 5"/>
          <p:cNvSpPr>
            <a:spLocks noChangeArrowheads="1"/>
          </p:cNvSpPr>
          <p:nvPr/>
        </p:nvSpPr>
        <p:spPr bwMode="auto">
          <a:xfrm>
            <a:off x="4608439" y="2708969"/>
            <a:ext cx="1971675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VLAN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概述</a:t>
            </a:r>
          </a:p>
        </p:txBody>
      </p:sp>
      <p:sp>
        <p:nvSpPr>
          <p:cNvPr id="22" name="AutoShape 5"/>
          <p:cNvSpPr>
            <a:spLocks noChangeArrowheads="1"/>
          </p:cNvSpPr>
          <p:nvPr/>
        </p:nvSpPr>
        <p:spPr bwMode="auto">
          <a:xfrm>
            <a:off x="4595803" y="5572141"/>
            <a:ext cx="1971675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配置以太网通道</a:t>
            </a:r>
          </a:p>
        </p:txBody>
      </p:sp>
      <p:sp>
        <p:nvSpPr>
          <p:cNvPr id="26" name="标题 2"/>
          <p:cNvSpPr>
            <a:spLocks noGrp="1"/>
          </p:cNvSpPr>
          <p:nvPr>
            <p:ph type="title"/>
          </p:nvPr>
        </p:nvSpPr>
        <p:spPr>
          <a:xfrm>
            <a:off x="1752600" y="146032"/>
            <a:ext cx="8763000" cy="639763"/>
          </a:xfrm>
        </p:spPr>
        <p:txBody>
          <a:bodyPr/>
          <a:lstStyle/>
          <a:p>
            <a:r>
              <a:rPr lang="zh-CN" altLang="en-US" dirty="0"/>
              <a:t>本章结构</a:t>
            </a:r>
          </a:p>
        </p:txBody>
      </p:sp>
      <p:sp>
        <p:nvSpPr>
          <p:cNvPr id="25" name="Line 25"/>
          <p:cNvSpPr>
            <a:spLocks noChangeShapeType="1"/>
          </p:cNvSpPr>
          <p:nvPr/>
        </p:nvSpPr>
        <p:spPr bwMode="auto">
          <a:xfrm flipV="1">
            <a:off x="6810380" y="2857497"/>
            <a:ext cx="431800" cy="1587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27" name="Line 25"/>
          <p:cNvSpPr>
            <a:spLocks noChangeShapeType="1"/>
          </p:cNvSpPr>
          <p:nvPr/>
        </p:nvSpPr>
        <p:spPr bwMode="auto">
          <a:xfrm flipV="1">
            <a:off x="6810380" y="4427546"/>
            <a:ext cx="431800" cy="1587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18" name="AutoShape 11"/>
          <p:cNvSpPr>
            <a:spLocks noChangeArrowheads="1"/>
          </p:cNvSpPr>
          <p:nvPr/>
        </p:nvSpPr>
        <p:spPr bwMode="auto">
          <a:xfrm>
            <a:off x="7110438" y="2712794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VLAN</a:t>
            </a:r>
            <a:r>
              <a:rPr lang="zh-CN" altLang="en-US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的种类</a:t>
            </a:r>
          </a:p>
        </p:txBody>
      </p:sp>
      <p:sp>
        <p:nvSpPr>
          <p:cNvPr id="12310" name="AutoShape 28"/>
          <p:cNvSpPr>
            <a:spLocks noChangeArrowheads="1"/>
          </p:cNvSpPr>
          <p:nvPr/>
        </p:nvSpPr>
        <p:spPr bwMode="auto">
          <a:xfrm>
            <a:off x="7110438" y="4268151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Trunk</a:t>
            </a:r>
            <a:r>
              <a:rPr lang="zh-CN" altLang="en-US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的配置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23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23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" fill="hold"/>
                                        <p:tgtEl>
                                          <p:spTgt spid="12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fill="hold"/>
                                        <p:tgtEl>
                                          <p:spTgt spid="12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5" dur="1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" fill="hold"/>
                                        <p:tgtEl>
                                          <p:spTgt spid="12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fill="hold"/>
                                        <p:tgtEl>
                                          <p:spTgt spid="12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100"/>
                                        <p:tgtEl>
                                          <p:spTgt spid="1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"/>
                            </p:stCondLst>
                            <p:childTnLst>
                              <p:par>
                                <p:cTn id="23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" fill="hold"/>
                                        <p:tgtEl>
                                          <p:spTgt spid="12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fill="hold"/>
                                        <p:tgtEl>
                                          <p:spTgt spid="12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7" dur="100"/>
                                        <p:tgtEl>
                                          <p:spTgt spid="12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" fill="hold"/>
                                        <p:tgtEl>
                                          <p:spTgt spid="12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" fill="hold"/>
                                        <p:tgtEl>
                                          <p:spTgt spid="12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2" dur="1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7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00"/>
                            </p:stCondLst>
                            <p:childTnLst>
                              <p:par>
                                <p:cTn id="39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1" dur="100"/>
                                        <p:tgtEl>
                                          <p:spTgt spid="123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2" dur="100"/>
                                        <p:tgtEl>
                                          <p:spTgt spid="123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00"/>
                                        <p:tgtEl>
                                          <p:spTgt spid="123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6" dur="100"/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7" dur="100"/>
                                        <p:tgtEl>
                                          <p:spTgt spid="123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00"/>
                                        <p:tgtEl>
                                          <p:spTgt spid="123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1" dur="1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2" dur="1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200"/>
                            </p:stCondLst>
                            <p:childTnLst>
                              <p:par>
                                <p:cTn id="5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9" dur="1000"/>
                                        <p:tgtEl>
                                          <p:spTgt spid="1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2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4" dur="1000"/>
                                        <p:tgtEl>
                                          <p:spTgt spid="12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200"/>
                            </p:stCondLst>
                            <p:childTnLst>
                              <p:par>
                                <p:cTn id="66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70" dur="10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7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80" dur="10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85" dur="10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5" dur="10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200"/>
                            </p:stCondLst>
                            <p:childTnLst>
                              <p:par>
                                <p:cTn id="97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9" dur="80"/>
                                        <p:tgtEl>
                                          <p:spTgt spid="123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00" dur="80"/>
                                        <p:tgtEl>
                                          <p:spTgt spid="123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1" dur="80"/>
                                        <p:tgtEl>
                                          <p:spTgt spid="123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04" dur="80"/>
                                        <p:tgtEl>
                                          <p:spTgt spid="123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05" dur="80"/>
                                        <p:tgtEl>
                                          <p:spTgt spid="123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" dur="80"/>
                                        <p:tgtEl>
                                          <p:spTgt spid="123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09" dur="80"/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10" dur="80"/>
                                        <p:tgtEl>
                                          <p:spTgt spid="123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1" dur="80"/>
                                        <p:tgtEl>
                                          <p:spTgt spid="123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4" dur="80"/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15" dur="80"/>
                                        <p:tgtEl>
                                          <p:spTgt spid="12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6" dur="80"/>
                                        <p:tgtEl>
                                          <p:spTgt spid="12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9" dur="80"/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0" dur="80"/>
                                        <p:tgtEl>
                                          <p:spTgt spid="123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1" dur="80"/>
                                        <p:tgtEl>
                                          <p:spTgt spid="123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4" dur="80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5" dur="80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6" dur="80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12290" grpId="0" animBg="1"/>
      <p:bldP spid="12293" grpId="0" animBg="1"/>
      <p:bldP spid="12294" grpId="0" animBg="1"/>
      <p:bldP spid="12295" grpId="0" animBg="1"/>
      <p:bldP spid="12298" grpId="0" animBg="1"/>
      <p:bldP spid="12300" grpId="0" animBg="1"/>
      <p:bldP spid="12303" grpId="0" animBg="1"/>
      <p:bldP spid="12305" grpId="0" animBg="1"/>
      <p:bldP spid="12307" grpId="0" animBg="1"/>
      <p:bldP spid="12308" grpId="0" animBg="1"/>
      <p:bldP spid="12309" grpId="0" animBg="1"/>
      <p:bldP spid="12311" grpId="0" animBg="1"/>
      <p:bldP spid="12314" grpId="0" animBg="1"/>
      <p:bldP spid="12315" grpId="0" animBg="1"/>
      <p:bldP spid="12316" grpId="0" animBg="1"/>
      <p:bldP spid="12317" grpId="0" animBg="1"/>
      <p:bldP spid="12320" grpId="0" animBg="1"/>
      <p:bldP spid="22" grpId="0" animBg="1"/>
      <p:bldP spid="25" grpId="0" animBg="1"/>
      <p:bldP spid="27" grpId="0" animBg="1"/>
      <p:bldP spid="12318" grpId="0" animBg="1"/>
      <p:bldP spid="123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内容占位符 2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>
                <a:cs typeface="Arial" charset="0"/>
              </a:rPr>
              <a:t>分割广播域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物理分割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逻辑分割</a:t>
            </a:r>
            <a:endParaRPr lang="en-US" altLang="zh-CN">
              <a:cs typeface="Arial" charset="0"/>
            </a:endParaRPr>
          </a:p>
          <a:p>
            <a:pPr>
              <a:spcBef>
                <a:spcPts val="675"/>
              </a:spcBef>
            </a:pPr>
            <a:r>
              <a:rPr lang="en-US" altLang="zh-CN">
                <a:cs typeface="Arial" charset="0"/>
              </a:rPr>
              <a:t>VLAN</a:t>
            </a:r>
            <a:r>
              <a:rPr lang="zh-CN" altLang="en-US">
                <a:cs typeface="Arial" charset="0"/>
              </a:rPr>
              <a:t>的优势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控制广播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增强网络安全性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简化网络管理</a:t>
            </a:r>
          </a:p>
        </p:txBody>
      </p:sp>
      <p:grpSp>
        <p:nvGrpSpPr>
          <p:cNvPr id="2" name="组合 200"/>
          <p:cNvGrpSpPr>
            <a:grpSpLocks/>
          </p:cNvGrpSpPr>
          <p:nvPr/>
        </p:nvGrpSpPr>
        <p:grpSpPr bwMode="auto">
          <a:xfrm>
            <a:off x="2992438" y="2312989"/>
            <a:ext cx="7243762" cy="3692525"/>
            <a:chOff x="1468395" y="2313323"/>
            <a:chExt cx="7243840" cy="3692796"/>
          </a:xfrm>
        </p:grpSpPr>
        <p:sp>
          <p:nvSpPr>
            <p:cNvPr id="11274" name="Oval 4"/>
            <p:cNvSpPr>
              <a:spLocks noChangeArrowheads="1"/>
            </p:cNvSpPr>
            <p:nvPr/>
          </p:nvSpPr>
          <p:spPr bwMode="auto">
            <a:xfrm>
              <a:off x="1468395" y="2313323"/>
              <a:ext cx="5842080" cy="1825650"/>
            </a:xfrm>
            <a:prstGeom prst="ellipse">
              <a:avLst/>
            </a:prstGeom>
            <a:gradFill rotWithShape="1">
              <a:gsLst>
                <a:gs pos="0">
                  <a:srgbClr val="CCECFF"/>
                </a:gs>
                <a:gs pos="100000">
                  <a:schemeClr val="bg1"/>
                </a:gs>
              </a:gsLst>
              <a:lin ang="18900000" scaled="1"/>
            </a:gradFill>
            <a:ln w="9525" algn="ctr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pic>
          <p:nvPicPr>
            <p:cNvPr id="11275" name="图片 11" descr="asdf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232553" y="2970557"/>
              <a:ext cx="566740" cy="5384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2" name="Oval 4"/>
            <p:cNvSpPr>
              <a:spLocks noChangeArrowheads="1"/>
            </p:cNvSpPr>
            <p:nvPr/>
          </p:nvSpPr>
          <p:spPr bwMode="auto">
            <a:xfrm>
              <a:off x="1468395" y="4180360"/>
              <a:ext cx="5842063" cy="1825759"/>
            </a:xfrm>
            <a:prstGeom prst="ellipse">
              <a:avLst/>
            </a:prstGeom>
            <a:gradFill rotWithShape="1">
              <a:gsLst>
                <a:gs pos="100000">
                  <a:srgbClr val="CCECFF"/>
                </a:gs>
                <a:gs pos="0">
                  <a:schemeClr val="bg1"/>
                </a:gs>
              </a:gsLst>
              <a:lin ang="18900000" scaled="1"/>
            </a:gradFill>
            <a:ln w="9525" algn="ctr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277" name="Rectangle 96"/>
            <p:cNvSpPr>
              <a:spLocks noChangeArrowheads="1"/>
            </p:cNvSpPr>
            <p:nvPr/>
          </p:nvSpPr>
          <p:spPr bwMode="auto">
            <a:xfrm>
              <a:off x="4133844" y="2443149"/>
              <a:ext cx="1266693" cy="52322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="b">
              <a:spAutoFit/>
            </a:bodyPr>
            <a:lstStyle/>
            <a:p>
              <a:r>
                <a:rPr lang="zh-CN" altLang="en-US" sz="28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广播域</a:t>
              </a:r>
              <a:endParaRPr lang="en-US" altLang="zh-CN" sz="28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11278" name="Text Box 164"/>
            <p:cNvSpPr txBox="1">
              <a:spLocks noChangeArrowheads="1"/>
            </p:cNvSpPr>
            <p:nvPr/>
          </p:nvSpPr>
          <p:spPr bwMode="auto">
            <a:xfrm>
              <a:off x="7091397" y="3027357"/>
              <a:ext cx="1584325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>
                  <a:solidFill>
                    <a:schemeClr val="tx2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VLAN 1</a:t>
              </a:r>
            </a:p>
          </p:txBody>
        </p:sp>
        <p:sp>
          <p:nvSpPr>
            <p:cNvPr id="11279" name="Text Box 165"/>
            <p:cNvSpPr txBox="1">
              <a:spLocks noChangeArrowheads="1"/>
            </p:cNvSpPr>
            <p:nvPr/>
          </p:nvSpPr>
          <p:spPr bwMode="auto">
            <a:xfrm>
              <a:off x="7127910" y="4926033"/>
              <a:ext cx="1584325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>
                  <a:solidFill>
                    <a:schemeClr val="tx2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VLAN 2</a:t>
              </a:r>
            </a:p>
          </p:txBody>
        </p:sp>
        <p:sp>
          <p:nvSpPr>
            <p:cNvPr id="11280" name="Rectangle 172"/>
            <p:cNvSpPr>
              <a:spLocks noChangeArrowheads="1"/>
            </p:cNvSpPr>
            <p:nvPr/>
          </p:nvSpPr>
          <p:spPr bwMode="auto">
            <a:xfrm>
              <a:off x="4035567" y="5425177"/>
              <a:ext cx="1266693" cy="52322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="b">
              <a:spAutoFit/>
            </a:bodyPr>
            <a:lstStyle/>
            <a:p>
              <a:r>
                <a:rPr lang="zh-CN" altLang="en-US" sz="28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广播域</a:t>
              </a:r>
              <a:endParaRPr lang="en-US" altLang="zh-CN" sz="28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cxnSp>
          <p:nvCxnSpPr>
            <p:cNvPr id="11281" name="直接连接符 170"/>
            <p:cNvCxnSpPr>
              <a:cxnSpLocks noChangeShapeType="1"/>
            </p:cNvCxnSpPr>
            <p:nvPr/>
          </p:nvCxnSpPr>
          <p:spPr bwMode="auto">
            <a:xfrm>
              <a:off x="3695688" y="4028457"/>
              <a:ext cx="1460520" cy="977"/>
            </a:xfrm>
            <a:prstGeom prst="line">
              <a:avLst/>
            </a:prstGeom>
            <a:noFill/>
            <a:ln w="31750" algn="ctr">
              <a:solidFill>
                <a:schemeClr val="tx2"/>
              </a:solidFill>
              <a:round/>
              <a:headEnd/>
              <a:tailEnd/>
            </a:ln>
          </p:spPr>
        </p:cxnSp>
        <p:cxnSp>
          <p:nvCxnSpPr>
            <p:cNvPr id="11282" name="直接连接符 172"/>
            <p:cNvCxnSpPr>
              <a:cxnSpLocks noChangeShapeType="1"/>
            </p:cNvCxnSpPr>
            <p:nvPr/>
          </p:nvCxnSpPr>
          <p:spPr bwMode="auto">
            <a:xfrm>
              <a:off x="3549636" y="4247535"/>
              <a:ext cx="1460520" cy="977"/>
            </a:xfrm>
            <a:prstGeom prst="line">
              <a:avLst/>
            </a:prstGeom>
            <a:noFill/>
            <a:ln w="31750" algn="ctr">
              <a:solidFill>
                <a:schemeClr val="tx2"/>
              </a:solidFill>
              <a:round/>
              <a:headEnd/>
              <a:tailEnd/>
            </a:ln>
          </p:spPr>
        </p:cxnSp>
        <p:pic>
          <p:nvPicPr>
            <p:cNvPr id="11283" name="Picture 95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673324" y="3846870"/>
              <a:ext cx="1204929" cy="5340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284" name="Picture 95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754565" y="3846869"/>
              <a:ext cx="1204929" cy="5340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285" name="图片 11" descr="asdf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887506" y="4905746"/>
              <a:ext cx="566740" cy="5384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286" name="图片 11" descr="asdf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650960" y="2970557"/>
              <a:ext cx="566740" cy="5384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287" name="图片 11" descr="asdf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993406" y="2605427"/>
              <a:ext cx="566740" cy="5384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288" name="图片 11" descr="asdf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049988" y="4905746"/>
              <a:ext cx="566740" cy="5384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1289" name="直接连接符 179"/>
            <p:cNvCxnSpPr>
              <a:cxnSpLocks noChangeShapeType="1"/>
            </p:cNvCxnSpPr>
            <p:nvPr/>
          </p:nvCxnSpPr>
          <p:spPr bwMode="auto">
            <a:xfrm rot="5400000">
              <a:off x="2924763" y="3494857"/>
              <a:ext cx="703040" cy="987"/>
            </a:xfrm>
            <a:prstGeom prst="line">
              <a:avLst/>
            </a:prstGeom>
            <a:noFill/>
            <a:ln w="31750" algn="ctr">
              <a:solidFill>
                <a:schemeClr val="tx2"/>
              </a:solidFill>
              <a:round/>
              <a:headEnd/>
              <a:tailEnd/>
            </a:ln>
          </p:spPr>
        </p:cxnSp>
        <p:cxnSp>
          <p:nvCxnSpPr>
            <p:cNvPr id="11290" name="直接连接符 182"/>
            <p:cNvCxnSpPr>
              <a:cxnSpLocks noChangeShapeType="1"/>
            </p:cNvCxnSpPr>
            <p:nvPr/>
          </p:nvCxnSpPr>
          <p:spPr bwMode="auto">
            <a:xfrm>
              <a:off x="2141378" y="3409846"/>
              <a:ext cx="751024" cy="510049"/>
            </a:xfrm>
            <a:prstGeom prst="line">
              <a:avLst/>
            </a:prstGeom>
            <a:noFill/>
            <a:ln w="31750" algn="ctr">
              <a:solidFill>
                <a:schemeClr val="tx2"/>
              </a:solidFill>
              <a:round/>
              <a:headEnd/>
              <a:tailEnd/>
            </a:ln>
          </p:spPr>
        </p:cxnSp>
        <p:cxnSp>
          <p:nvCxnSpPr>
            <p:cNvPr id="11291" name="直接连接符 188"/>
            <p:cNvCxnSpPr>
              <a:cxnSpLocks noChangeShapeType="1"/>
            </p:cNvCxnSpPr>
            <p:nvPr/>
          </p:nvCxnSpPr>
          <p:spPr bwMode="auto">
            <a:xfrm rot="10800000" flipV="1">
              <a:off x="5777958" y="3462397"/>
              <a:ext cx="557048" cy="388884"/>
            </a:xfrm>
            <a:prstGeom prst="line">
              <a:avLst/>
            </a:prstGeom>
            <a:noFill/>
            <a:ln w="31750" algn="ctr">
              <a:solidFill>
                <a:schemeClr val="tx2"/>
              </a:solidFill>
              <a:round/>
              <a:headEnd/>
              <a:tailEnd/>
            </a:ln>
          </p:spPr>
        </p:cxnSp>
        <p:cxnSp>
          <p:nvCxnSpPr>
            <p:cNvPr id="11292" name="直接连接符 192"/>
            <p:cNvCxnSpPr>
              <a:cxnSpLocks noChangeShapeType="1"/>
            </p:cNvCxnSpPr>
            <p:nvPr/>
          </p:nvCxnSpPr>
          <p:spPr bwMode="auto">
            <a:xfrm rot="5400000" flipH="1" flipV="1">
              <a:off x="2344706" y="4358053"/>
              <a:ext cx="620723" cy="620721"/>
            </a:xfrm>
            <a:prstGeom prst="line">
              <a:avLst/>
            </a:prstGeom>
            <a:noFill/>
            <a:ln w="31750" algn="ctr">
              <a:solidFill>
                <a:schemeClr val="tx2"/>
              </a:solidFill>
              <a:round/>
              <a:headEnd/>
              <a:tailEnd/>
            </a:ln>
          </p:spPr>
        </p:cxnSp>
        <p:cxnSp>
          <p:nvCxnSpPr>
            <p:cNvPr id="11293" name="直接连接符 195"/>
            <p:cNvCxnSpPr>
              <a:cxnSpLocks noChangeShapeType="1"/>
            </p:cNvCxnSpPr>
            <p:nvPr/>
          </p:nvCxnSpPr>
          <p:spPr bwMode="auto">
            <a:xfrm>
              <a:off x="5521338" y="4321538"/>
              <a:ext cx="730260" cy="657234"/>
            </a:xfrm>
            <a:prstGeom prst="line">
              <a:avLst/>
            </a:prstGeom>
            <a:noFill/>
            <a:ln w="31750" algn="ctr">
              <a:solidFill>
                <a:schemeClr val="tx2"/>
              </a:solidFill>
              <a:round/>
              <a:headEnd/>
              <a:tailEnd/>
            </a:ln>
          </p:spPr>
        </p:cxnSp>
      </p:grpSp>
      <p:sp>
        <p:nvSpPr>
          <p:cNvPr id="1126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VLAN</a:t>
            </a:r>
            <a:r>
              <a:rPr lang="zh-CN" altLang="en-US"/>
              <a:t>概述与优势</a:t>
            </a:r>
          </a:p>
        </p:txBody>
      </p:sp>
      <p:sp>
        <p:nvSpPr>
          <p:cNvPr id="69" name="Line 97"/>
          <p:cNvSpPr>
            <a:spLocks noChangeShapeType="1"/>
          </p:cNvSpPr>
          <p:nvPr/>
        </p:nvSpPr>
        <p:spPr bwMode="auto">
          <a:xfrm>
            <a:off x="4927600" y="3298826"/>
            <a:ext cx="0" cy="360363"/>
          </a:xfrm>
          <a:prstGeom prst="line">
            <a:avLst/>
          </a:prstGeom>
          <a:noFill/>
          <a:ln w="57150">
            <a:solidFill>
              <a:srgbClr val="FF6600"/>
            </a:solidFill>
            <a:prstDash val="sysDot"/>
            <a:round/>
            <a:headEnd/>
            <a:tailEnd type="triangle" w="med" len="med"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70" name="Rectangle 98"/>
          <p:cNvSpPr>
            <a:spLocks noChangeArrowheads="1"/>
          </p:cNvSpPr>
          <p:nvPr/>
        </p:nvSpPr>
        <p:spPr bwMode="auto">
          <a:xfrm>
            <a:off x="4927601" y="3189288"/>
            <a:ext cx="803275" cy="4619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b">
            <a:spAutoFit/>
          </a:bodyPr>
          <a:lstStyle/>
          <a:p>
            <a:r>
              <a:rPr lang="zh-CN" altLang="en-US" sz="2400" b="1">
                <a:solidFill>
                  <a:srgbClr val="FF6600"/>
                </a:solidFill>
                <a:ea typeface="楷体_GB2312" pitchFamily="49" charset="-122"/>
              </a:rPr>
              <a:t>广播</a:t>
            </a:r>
          </a:p>
        </p:txBody>
      </p:sp>
      <p:sp>
        <p:nvSpPr>
          <p:cNvPr id="164" name="Line 166"/>
          <p:cNvSpPr>
            <a:spLocks noChangeShapeType="1"/>
          </p:cNvSpPr>
          <p:nvPr/>
        </p:nvSpPr>
        <p:spPr bwMode="auto">
          <a:xfrm flipH="1" flipV="1">
            <a:off x="3905250" y="3408363"/>
            <a:ext cx="438150" cy="292100"/>
          </a:xfrm>
          <a:prstGeom prst="line">
            <a:avLst/>
          </a:prstGeom>
          <a:noFill/>
          <a:ln w="57150">
            <a:solidFill>
              <a:srgbClr val="FF6600"/>
            </a:solidFill>
            <a:prstDash val="sysDot"/>
            <a:round/>
            <a:headEnd/>
            <a:tailEnd type="triangle" w="med" len="med"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165" name="Line 168"/>
          <p:cNvSpPr>
            <a:spLocks noChangeShapeType="1"/>
          </p:cNvSpPr>
          <p:nvPr/>
        </p:nvSpPr>
        <p:spPr bwMode="auto">
          <a:xfrm>
            <a:off x="5657850" y="3883025"/>
            <a:ext cx="469900" cy="0"/>
          </a:xfrm>
          <a:prstGeom prst="line">
            <a:avLst/>
          </a:prstGeom>
          <a:noFill/>
          <a:ln w="57150">
            <a:solidFill>
              <a:srgbClr val="FF6600"/>
            </a:solidFill>
            <a:prstDash val="sysDot"/>
            <a:round/>
            <a:headEnd/>
            <a:tailEnd type="triangle" w="med" len="med"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166" name="Line 169"/>
          <p:cNvSpPr>
            <a:spLocks noChangeShapeType="1"/>
          </p:cNvSpPr>
          <p:nvPr/>
        </p:nvSpPr>
        <p:spPr bwMode="auto">
          <a:xfrm flipV="1">
            <a:off x="7373938" y="3408364"/>
            <a:ext cx="292100" cy="249237"/>
          </a:xfrm>
          <a:prstGeom prst="line">
            <a:avLst/>
          </a:prstGeom>
          <a:noFill/>
          <a:ln w="57150">
            <a:solidFill>
              <a:srgbClr val="FF6600"/>
            </a:solidFill>
            <a:prstDash val="sysDot"/>
            <a:round/>
            <a:headEnd/>
            <a:tailEnd type="triangle" w="med" len="med"/>
          </a:ln>
        </p:spPr>
        <p:txBody>
          <a:bodyPr anchor="b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7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1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71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69" grpId="1" animBg="1"/>
      <p:bldP spid="70" grpId="0"/>
      <p:bldP spid="70" grpId="1"/>
      <p:bldP spid="164" grpId="0" animBg="1"/>
      <p:bldP spid="164" grpId="1" animBg="1"/>
      <p:bldP spid="165" grpId="0" animBg="1"/>
      <p:bldP spid="165" grpId="1" animBg="1"/>
      <p:bldP spid="166" grpId="0" animBg="1"/>
      <p:bldP spid="166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2" name="直接连接符 231"/>
          <p:cNvCxnSpPr>
            <a:cxnSpLocks noChangeShapeType="1"/>
            <a:endCxn id="107" idx="0"/>
          </p:cNvCxnSpPr>
          <p:nvPr/>
        </p:nvCxnSpPr>
        <p:spPr bwMode="auto">
          <a:xfrm rot="5400000" flipH="1" flipV="1">
            <a:off x="2922588" y="4310063"/>
            <a:ext cx="1662112" cy="227012"/>
          </a:xfrm>
          <a:prstGeom prst="line">
            <a:avLst/>
          </a:prstGeom>
          <a:noFill/>
          <a:ln w="38100" algn="ctr">
            <a:solidFill>
              <a:srgbClr val="FF3300"/>
            </a:solidFill>
            <a:round/>
            <a:headEnd/>
            <a:tailEnd/>
          </a:ln>
        </p:spPr>
      </p:cxnSp>
      <p:cxnSp>
        <p:nvCxnSpPr>
          <p:cNvPr id="225" name="直接连接符 224"/>
          <p:cNvCxnSpPr>
            <a:cxnSpLocks noChangeShapeType="1"/>
          </p:cNvCxnSpPr>
          <p:nvPr/>
        </p:nvCxnSpPr>
        <p:spPr bwMode="auto">
          <a:xfrm rot="5400000" flipH="1" flipV="1">
            <a:off x="2232819" y="3934619"/>
            <a:ext cx="1617662" cy="1022350"/>
          </a:xfrm>
          <a:prstGeom prst="line">
            <a:avLst/>
          </a:prstGeom>
          <a:noFill/>
          <a:ln w="38100" algn="ctr">
            <a:solidFill>
              <a:srgbClr val="FF3300"/>
            </a:solidFill>
            <a:round/>
            <a:headEnd/>
            <a:tailEnd/>
          </a:ln>
        </p:spPr>
      </p:cxn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VLAN</a:t>
            </a:r>
            <a:r>
              <a:rPr lang="zh-CN" altLang="en-US"/>
              <a:t>的种类</a:t>
            </a:r>
          </a:p>
        </p:txBody>
      </p:sp>
      <p:pic>
        <p:nvPicPr>
          <p:cNvPr id="67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16314" y="3097213"/>
            <a:ext cx="1241425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8" name="Text Box 9"/>
          <p:cNvSpPr txBox="1">
            <a:spLocks noChangeArrowheads="1"/>
          </p:cNvSpPr>
          <p:nvPr/>
        </p:nvSpPr>
        <p:spPr bwMode="auto">
          <a:xfrm>
            <a:off x="2097089" y="5802314"/>
            <a:ext cx="744537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sz="1600" b="1">
                <a:solidFill>
                  <a:schemeClr val="tx2"/>
                </a:solidFill>
                <a:ea typeface="楷体_GB2312" pitchFamily="49" charset="-122"/>
              </a:rPr>
              <a:t>主机</a:t>
            </a:r>
            <a:r>
              <a:rPr kumimoji="1" lang="en-US" altLang="zh-CN" sz="1600" b="1">
                <a:solidFill>
                  <a:schemeClr val="tx2"/>
                </a:solidFill>
                <a:ea typeface="楷体_GB2312" pitchFamily="49" charset="-122"/>
              </a:rPr>
              <a:t>A</a:t>
            </a:r>
          </a:p>
        </p:txBody>
      </p:sp>
      <p:sp>
        <p:nvSpPr>
          <p:cNvPr id="69" name="Text Box 10"/>
          <p:cNvSpPr txBox="1">
            <a:spLocks noChangeArrowheads="1"/>
          </p:cNvSpPr>
          <p:nvPr/>
        </p:nvSpPr>
        <p:spPr bwMode="auto">
          <a:xfrm>
            <a:off x="3238501" y="5802313"/>
            <a:ext cx="739775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sz="1600" b="1">
                <a:solidFill>
                  <a:srgbClr val="FF0000"/>
                </a:solidFill>
                <a:ea typeface="楷体_GB2312" pitchFamily="49" charset="-122"/>
              </a:rPr>
              <a:t>主机</a:t>
            </a:r>
            <a:r>
              <a:rPr kumimoji="1" lang="en-US" altLang="zh-CN" sz="1600" b="1">
                <a:solidFill>
                  <a:srgbClr val="FF0000"/>
                </a:solidFill>
                <a:ea typeface="楷体_GB2312" pitchFamily="49" charset="-122"/>
              </a:rPr>
              <a:t>B</a:t>
            </a:r>
          </a:p>
        </p:txBody>
      </p:sp>
      <p:sp>
        <p:nvSpPr>
          <p:cNvPr id="70" name="Text Box 11"/>
          <p:cNvSpPr txBox="1">
            <a:spLocks noChangeArrowheads="1"/>
          </p:cNvSpPr>
          <p:nvPr/>
        </p:nvSpPr>
        <p:spPr bwMode="auto">
          <a:xfrm>
            <a:off x="4257676" y="5802313"/>
            <a:ext cx="739775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sz="1600" b="1">
                <a:solidFill>
                  <a:schemeClr val="tx2"/>
                </a:solidFill>
                <a:ea typeface="楷体_GB2312" pitchFamily="49" charset="-122"/>
              </a:rPr>
              <a:t>主机</a:t>
            </a:r>
            <a:r>
              <a:rPr kumimoji="1" lang="en-US" altLang="zh-CN" sz="1600" b="1">
                <a:solidFill>
                  <a:schemeClr val="tx2"/>
                </a:solidFill>
                <a:ea typeface="楷体_GB2312" pitchFamily="49" charset="-122"/>
              </a:rPr>
              <a:t>C</a:t>
            </a:r>
          </a:p>
        </p:txBody>
      </p:sp>
      <p:sp>
        <p:nvSpPr>
          <p:cNvPr id="71" name="Text Box 12"/>
          <p:cNvSpPr txBox="1">
            <a:spLocks noChangeArrowheads="1"/>
          </p:cNvSpPr>
          <p:nvPr/>
        </p:nvSpPr>
        <p:spPr bwMode="auto">
          <a:xfrm>
            <a:off x="5356226" y="5802313"/>
            <a:ext cx="739775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sz="1600" b="1">
                <a:solidFill>
                  <a:srgbClr val="FF0000"/>
                </a:solidFill>
                <a:ea typeface="楷体_GB2312" pitchFamily="49" charset="-122"/>
              </a:rPr>
              <a:t>主机</a:t>
            </a:r>
            <a:r>
              <a:rPr kumimoji="1" lang="en-US" altLang="zh-CN" sz="1600" b="1">
                <a:solidFill>
                  <a:srgbClr val="FF0000"/>
                </a:solidFill>
                <a:ea typeface="楷体_GB2312" pitchFamily="49" charset="-122"/>
              </a:rPr>
              <a:t>D</a:t>
            </a:r>
          </a:p>
        </p:txBody>
      </p:sp>
      <p:sp>
        <p:nvSpPr>
          <p:cNvPr id="72" name="Text Box 13"/>
          <p:cNvSpPr txBox="1">
            <a:spLocks noChangeArrowheads="1"/>
          </p:cNvSpPr>
          <p:nvPr/>
        </p:nvSpPr>
        <p:spPr bwMode="auto">
          <a:xfrm>
            <a:off x="3567114" y="3319464"/>
            <a:ext cx="922337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zh-CN" altLang="en-US" sz="1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交换机</a:t>
            </a:r>
          </a:p>
        </p:txBody>
      </p:sp>
      <p:sp>
        <p:nvSpPr>
          <p:cNvPr id="73" name="Text Box 14"/>
          <p:cNvSpPr txBox="1">
            <a:spLocks noChangeArrowheads="1"/>
          </p:cNvSpPr>
          <p:nvPr/>
        </p:nvSpPr>
        <p:spPr bwMode="auto">
          <a:xfrm>
            <a:off x="7739063" y="3059113"/>
            <a:ext cx="108170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VLAN</a:t>
            </a:r>
            <a:r>
              <a:rPr kumimoji="1"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表</a:t>
            </a:r>
          </a:p>
        </p:txBody>
      </p:sp>
      <p:pic>
        <p:nvPicPr>
          <p:cNvPr id="224" name="图片 11" descr="asd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46314" y="5254626"/>
            <a:ext cx="566737" cy="53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6" name="图片 11" descr="asd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357564" y="5254626"/>
            <a:ext cx="566737" cy="53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7" name="图片 11" descr="asd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16425" y="5254626"/>
            <a:ext cx="566738" cy="53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8" name="图片 11" descr="asd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38775" y="5254626"/>
            <a:ext cx="566738" cy="53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35" name="直接连接符 234"/>
          <p:cNvCxnSpPr>
            <a:cxnSpLocks noChangeShapeType="1"/>
          </p:cNvCxnSpPr>
          <p:nvPr/>
        </p:nvCxnSpPr>
        <p:spPr bwMode="auto">
          <a:xfrm rot="16200000" flipV="1">
            <a:off x="3644901" y="4200526"/>
            <a:ext cx="1643062" cy="465137"/>
          </a:xfrm>
          <a:prstGeom prst="line">
            <a:avLst/>
          </a:prstGeom>
          <a:noFill/>
          <a:ln w="38100" algn="ctr">
            <a:solidFill>
              <a:srgbClr val="FF3300"/>
            </a:solidFill>
            <a:round/>
            <a:headEnd/>
            <a:tailEnd/>
          </a:ln>
        </p:spPr>
      </p:cxnSp>
      <p:cxnSp>
        <p:nvCxnSpPr>
          <p:cNvPr id="238" name="直接连接符 237"/>
          <p:cNvCxnSpPr>
            <a:cxnSpLocks noChangeShapeType="1"/>
          </p:cNvCxnSpPr>
          <p:nvPr/>
        </p:nvCxnSpPr>
        <p:spPr bwMode="auto">
          <a:xfrm rot="16200000" flipV="1">
            <a:off x="4283869" y="3817144"/>
            <a:ext cx="1789112" cy="1085850"/>
          </a:xfrm>
          <a:prstGeom prst="line">
            <a:avLst/>
          </a:prstGeom>
          <a:noFill/>
          <a:ln w="38100" algn="ctr">
            <a:solidFill>
              <a:srgbClr val="FF3300"/>
            </a:solidFill>
            <a:round/>
            <a:headEnd/>
            <a:tailEnd/>
          </a:ln>
        </p:spPr>
      </p:cxnSp>
      <p:sp>
        <p:nvSpPr>
          <p:cNvPr id="106" name="Text Box 43"/>
          <p:cNvSpPr txBox="1">
            <a:spLocks noChangeArrowheads="1"/>
          </p:cNvSpPr>
          <p:nvPr/>
        </p:nvSpPr>
        <p:spPr bwMode="auto">
          <a:xfrm>
            <a:off x="2992439" y="3592513"/>
            <a:ext cx="687387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sz="1400" b="1">
                <a:solidFill>
                  <a:schemeClr val="tx2"/>
                </a:solidFill>
                <a:ea typeface="宋体" charset="-122"/>
              </a:rPr>
              <a:t>Port 1</a:t>
            </a:r>
          </a:p>
        </p:txBody>
      </p:sp>
      <p:sp>
        <p:nvSpPr>
          <p:cNvPr id="107" name="Text Box 44"/>
          <p:cNvSpPr txBox="1">
            <a:spLocks noChangeArrowheads="1"/>
          </p:cNvSpPr>
          <p:nvPr/>
        </p:nvSpPr>
        <p:spPr bwMode="auto">
          <a:xfrm>
            <a:off x="3522664" y="3592513"/>
            <a:ext cx="687387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sz="1400" b="1">
                <a:solidFill>
                  <a:srgbClr val="0066FF"/>
                </a:solidFill>
                <a:ea typeface="宋体" charset="-122"/>
              </a:rPr>
              <a:t>Port 2</a:t>
            </a:r>
          </a:p>
        </p:txBody>
      </p:sp>
      <p:sp>
        <p:nvSpPr>
          <p:cNvPr id="108" name="Text Box 45"/>
          <p:cNvSpPr txBox="1">
            <a:spLocks noChangeArrowheads="1"/>
          </p:cNvSpPr>
          <p:nvPr/>
        </p:nvSpPr>
        <p:spPr bwMode="auto">
          <a:xfrm>
            <a:off x="4048125" y="3592513"/>
            <a:ext cx="687388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sz="1400" b="1">
                <a:solidFill>
                  <a:schemeClr val="tx2"/>
                </a:solidFill>
                <a:ea typeface="宋体" charset="-122"/>
              </a:rPr>
              <a:t>Port 7</a:t>
            </a:r>
          </a:p>
        </p:txBody>
      </p:sp>
      <p:sp>
        <p:nvSpPr>
          <p:cNvPr id="109" name="Text Box 46"/>
          <p:cNvSpPr txBox="1">
            <a:spLocks noChangeArrowheads="1"/>
          </p:cNvSpPr>
          <p:nvPr/>
        </p:nvSpPr>
        <p:spPr bwMode="auto">
          <a:xfrm>
            <a:off x="4579938" y="3592513"/>
            <a:ext cx="785812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sz="1400" b="1">
                <a:solidFill>
                  <a:srgbClr val="0066FF"/>
                </a:solidFill>
                <a:ea typeface="宋体" charset="-122"/>
              </a:rPr>
              <a:t>Port 10</a:t>
            </a:r>
          </a:p>
        </p:txBody>
      </p:sp>
      <p:graphicFrame>
        <p:nvGraphicFramePr>
          <p:cNvPr id="242" name="表格 241"/>
          <p:cNvGraphicFramePr>
            <a:graphicFrameLocks noGrp="1"/>
          </p:cNvGraphicFramePr>
          <p:nvPr/>
        </p:nvGraphicFramePr>
        <p:xfrm>
          <a:off x="6862764" y="3538538"/>
          <a:ext cx="2811511" cy="2357724"/>
        </p:xfrm>
        <a:graphic>
          <a:graphicData uri="http://schemas.openxmlformats.org/drawingml/2006/table">
            <a:tbl>
              <a:tblPr/>
              <a:tblGrid>
                <a:gridCol w="1250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1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39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端 口</a:t>
                      </a:r>
                    </a:p>
                  </a:txBody>
                  <a:tcPr marL="9525" marR="9525" marT="9525" marB="0" anchor="ctr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所属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VLAN</a:t>
                      </a:r>
                    </a:p>
                  </a:txBody>
                  <a:tcPr marL="9525" marR="9525" marT="9525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06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Port1</a:t>
                      </a:r>
                    </a:p>
                  </a:txBody>
                  <a:tcPr marL="9525" marR="9525" marT="9525" marB="0" anchor="ctr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VLAN5</a:t>
                      </a:r>
                    </a:p>
                  </a:txBody>
                  <a:tcPr marL="9525" marR="9525" marT="9525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1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Port2</a:t>
                      </a:r>
                    </a:p>
                  </a:txBody>
                  <a:tcPr marL="9525" marR="9525" marT="9525" marB="0" anchor="ctr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VLAN10</a:t>
                      </a:r>
                    </a:p>
                  </a:txBody>
                  <a:tcPr marL="9525" marR="9525" marT="9525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06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……</a:t>
                      </a:r>
                    </a:p>
                  </a:txBody>
                  <a:tcPr marL="9525" marR="9525" marT="9525" marB="0" anchor="ctr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……</a:t>
                      </a:r>
                    </a:p>
                  </a:txBody>
                  <a:tcPr marL="9525" marR="9525" marT="9525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06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Port7</a:t>
                      </a:r>
                    </a:p>
                  </a:txBody>
                  <a:tcPr marL="9525" marR="9525" marT="9525" marB="0" anchor="ctr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VLAN5</a:t>
                      </a:r>
                    </a:p>
                  </a:txBody>
                  <a:tcPr marL="9525" marR="9525" marT="9525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06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……</a:t>
                      </a:r>
                    </a:p>
                  </a:txBody>
                  <a:tcPr marL="9525" marR="9525" marT="9525" marB="0" anchor="ctr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……</a:t>
                      </a:r>
                    </a:p>
                  </a:txBody>
                  <a:tcPr marL="9525" marR="9525" marT="9525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06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Port10</a:t>
                      </a:r>
                    </a:p>
                  </a:txBody>
                  <a:tcPr marL="9525" marR="9525" marT="9525" marB="0" anchor="ctr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VLAN10</a:t>
                      </a:r>
                    </a:p>
                  </a:txBody>
                  <a:tcPr marL="9525" marR="9525" marT="9525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" name="内容占位符 26"/>
          <p:cNvSpPr>
            <a:spLocks noGrp="1"/>
          </p:cNvSpPr>
          <p:nvPr>
            <p:ph idx="1"/>
          </p:nvPr>
        </p:nvSpPr>
        <p:spPr>
          <a:xfrm>
            <a:off x="1738313" y="1143001"/>
            <a:ext cx="8501062" cy="1928813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静态</a:t>
            </a:r>
            <a:r>
              <a:rPr lang="en-US" altLang="zh-CN"/>
              <a:t>VLAN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基于端口划分静态</a:t>
            </a:r>
            <a:r>
              <a:rPr lang="en-US" altLang="zh-CN"/>
              <a:t>VLAN</a:t>
            </a:r>
          </a:p>
          <a:p>
            <a:pPr>
              <a:spcBef>
                <a:spcPts val="675"/>
              </a:spcBef>
            </a:pPr>
            <a:r>
              <a:rPr lang="zh-CN" altLang="en-US"/>
              <a:t>动态</a:t>
            </a:r>
            <a:r>
              <a:rPr lang="en-US" altLang="zh-CN"/>
              <a:t>VLAN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基于</a:t>
            </a:r>
            <a:r>
              <a:rPr lang="en-US" altLang="zh-CN"/>
              <a:t>MAC</a:t>
            </a:r>
            <a:r>
              <a:rPr lang="zh-CN" altLang="en-US"/>
              <a:t>地址划分动态</a:t>
            </a:r>
            <a:r>
              <a:rPr lang="en-US" altLang="zh-CN"/>
              <a:t>VLAN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2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00"/>
                            </p:stCondLst>
                            <p:childTnLst>
                              <p:par>
                                <p:cTn id="17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7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0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  <p:bldP spid="68" grpId="1"/>
      <p:bldP spid="69" grpId="0"/>
      <p:bldP spid="69" grpId="1"/>
      <p:bldP spid="70" grpId="0"/>
      <p:bldP spid="70" grpId="1"/>
      <p:bldP spid="71" grpId="0"/>
      <p:bldP spid="71" grpId="1"/>
      <p:bldP spid="72" grpId="0"/>
      <p:bldP spid="72" grpId="1"/>
      <p:bldP spid="73" grpId="0"/>
      <p:bldP spid="73" grpId="1"/>
      <p:bldP spid="106" grpId="0"/>
      <p:bldP spid="106" grpId="1"/>
      <p:bldP spid="107" grpId="0"/>
      <p:bldP spid="107" grpId="1"/>
      <p:bldP spid="108" grpId="0"/>
      <p:bldP spid="108" grpId="1"/>
      <p:bldP spid="109" grpId="0"/>
      <p:bldP spid="109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内容占位符 5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>
                <a:cs typeface="Arial" charset="0"/>
              </a:rPr>
              <a:t>VLAN</a:t>
            </a:r>
            <a:r>
              <a:rPr lang="zh-CN" altLang="en-US">
                <a:cs typeface="Arial" charset="0"/>
              </a:rPr>
              <a:t>的范围</a:t>
            </a:r>
          </a:p>
        </p:txBody>
      </p:sp>
      <p:sp>
        <p:nvSpPr>
          <p:cNvPr id="1331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静态</a:t>
            </a:r>
            <a:r>
              <a:rPr lang="en-US" altLang="zh-CN"/>
              <a:t>VLAN</a:t>
            </a:r>
            <a:r>
              <a:rPr lang="zh-CN" altLang="en-US"/>
              <a:t>的配置</a:t>
            </a:r>
            <a:r>
              <a:rPr lang="en-US" altLang="zh-CN"/>
              <a:t>2-1</a:t>
            </a:r>
            <a:endParaRPr lang="zh-CN" altLang="en-US"/>
          </a:p>
        </p:txBody>
      </p:sp>
      <p:graphicFrame>
        <p:nvGraphicFramePr>
          <p:cNvPr id="9255" name="Group 39"/>
          <p:cNvGraphicFramePr>
            <a:graphicFrameLocks noGrp="1"/>
          </p:cNvGraphicFramePr>
          <p:nvPr/>
        </p:nvGraphicFramePr>
        <p:xfrm>
          <a:off x="2006601" y="1785939"/>
          <a:ext cx="8215313" cy="4271645"/>
        </p:xfrm>
        <a:graphic>
          <a:graphicData uri="http://schemas.openxmlformats.org/drawingml/2006/table">
            <a:tbl>
              <a:tblPr/>
              <a:tblGrid>
                <a:gridCol w="2008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9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7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3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VLAN ID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范围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范围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用途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BA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0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0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，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4095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保留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仅限系统使用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用户不能查看和使用这些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VLAN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1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正常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Cisco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默认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VLAN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用户能够使用该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VLAN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，但不能删除它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2-1001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正常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用于以太网的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VLAN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用户可以创建、使用和删除这些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VLAN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1002-1005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正常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用于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FDDI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和令牌环的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Cisco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默认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VLAN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用户不能删除这些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VLAN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0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1006-1024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保留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仅限系统使用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用户不能查看和使用这些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VLAN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1025-4094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扩展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仅用于以太网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VLAN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内容占位符 5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配置静态</a:t>
            </a:r>
            <a:r>
              <a:rPr lang="en-US" altLang="zh-CN"/>
              <a:t>VLAN</a:t>
            </a:r>
            <a:r>
              <a:rPr lang="zh-CN" altLang="en-US"/>
              <a:t>的步骤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创建</a:t>
            </a:r>
            <a:r>
              <a:rPr lang="en-US" altLang="zh-CN"/>
              <a:t>VLAN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将交换机的端口加入到相应的</a:t>
            </a:r>
            <a:r>
              <a:rPr lang="en-US" altLang="zh-CN"/>
              <a:t>VLAN</a:t>
            </a:r>
            <a:r>
              <a:rPr lang="zh-CN" altLang="en-US"/>
              <a:t>中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验证</a:t>
            </a:r>
            <a:r>
              <a:rPr lang="en-US" altLang="zh-CN"/>
              <a:t>VLAN</a:t>
            </a:r>
            <a:r>
              <a:rPr lang="zh-CN" altLang="en-US"/>
              <a:t>的配置</a:t>
            </a:r>
          </a:p>
        </p:txBody>
      </p:sp>
      <p:sp>
        <p:nvSpPr>
          <p:cNvPr id="1433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静态</a:t>
            </a:r>
            <a:r>
              <a:rPr lang="en-US" altLang="zh-CN"/>
              <a:t>VLAN</a:t>
            </a:r>
            <a:r>
              <a:rPr lang="zh-CN" altLang="en-US"/>
              <a:t>的配置</a:t>
            </a:r>
            <a:r>
              <a:rPr lang="en-US" altLang="zh-CN"/>
              <a:t>2-2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内容占位符 16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2928938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创建</a:t>
            </a:r>
            <a:r>
              <a:rPr lang="en-US" altLang="zh-CN"/>
              <a:t>VLAN</a:t>
            </a:r>
            <a:r>
              <a:rPr lang="zh-CN" altLang="en-US"/>
              <a:t>有两种方法</a:t>
            </a:r>
          </a:p>
          <a:p>
            <a:pPr lvl="1">
              <a:spcBef>
                <a:spcPts val="475"/>
              </a:spcBef>
            </a:pPr>
            <a:r>
              <a:rPr lang="en-US" altLang="zh-CN"/>
              <a:t>VLAN</a:t>
            </a:r>
            <a:r>
              <a:rPr lang="zh-CN" altLang="en-US"/>
              <a:t>数据库配置模式</a:t>
            </a:r>
          </a:p>
          <a:p>
            <a:pPr lvl="1">
              <a:spcBef>
                <a:spcPts val="475"/>
              </a:spcBef>
            </a:pPr>
            <a:endParaRPr lang="en-US" altLang="zh-CN"/>
          </a:p>
          <a:p>
            <a:pPr lvl="1">
              <a:spcBef>
                <a:spcPts val="475"/>
              </a:spcBef>
            </a:pPr>
            <a:endParaRPr lang="en-US" altLang="zh-CN"/>
          </a:p>
          <a:p>
            <a:pPr lvl="1">
              <a:spcBef>
                <a:spcPts val="475"/>
              </a:spcBef>
            </a:pPr>
            <a:endParaRPr lang="zh-CN" altLang="en-US"/>
          </a:p>
          <a:p>
            <a:pPr lvl="1">
              <a:spcBef>
                <a:spcPts val="475"/>
              </a:spcBef>
            </a:pP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全局配置模式</a:t>
            </a:r>
          </a:p>
        </p:txBody>
      </p:sp>
      <p:sp>
        <p:nvSpPr>
          <p:cNvPr id="1536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创建</a:t>
            </a:r>
            <a:r>
              <a:rPr lang="en-US" altLang="zh-CN"/>
              <a:t>VLAN2-1</a:t>
            </a:r>
            <a:endParaRPr lang="zh-CN" altLang="en-US"/>
          </a:p>
        </p:txBody>
      </p:sp>
      <p:sp>
        <p:nvSpPr>
          <p:cNvPr id="18" name="AutoShape 16"/>
          <p:cNvSpPr>
            <a:spLocks noChangeArrowheads="1"/>
          </p:cNvSpPr>
          <p:nvPr/>
        </p:nvSpPr>
        <p:spPr bwMode="auto">
          <a:xfrm>
            <a:off x="2109788" y="4283076"/>
            <a:ext cx="7848600" cy="923925"/>
          </a:xfrm>
          <a:prstGeom prst="roundRect">
            <a:avLst>
              <a:gd name="adj" fmla="val 5704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>
              <a:lnSpc>
                <a:spcPct val="150000"/>
              </a:lnSpc>
            </a:pPr>
            <a:r>
              <a:rPr lang="en-US" altLang="zh-CN" b="1">
                <a:solidFill>
                  <a:schemeClr val="tx2"/>
                </a:solidFill>
              </a:rPr>
              <a:t>Switch(config)#vlan </a:t>
            </a:r>
            <a:r>
              <a:rPr lang="en-US" altLang="zh-CN" b="1" i="1">
                <a:solidFill>
                  <a:schemeClr val="tx2"/>
                </a:solidFill>
              </a:rPr>
              <a:t>vlan-id</a:t>
            </a:r>
          </a:p>
          <a:p>
            <a:pPr marL="95250" lvl="1">
              <a:lnSpc>
                <a:spcPct val="150000"/>
              </a:lnSpc>
            </a:pPr>
            <a:r>
              <a:rPr lang="en-US" altLang="zh-CN" b="1">
                <a:solidFill>
                  <a:schemeClr val="tx2"/>
                </a:solidFill>
              </a:rPr>
              <a:t>Switch(config-vlan)#name </a:t>
            </a:r>
            <a:r>
              <a:rPr lang="en-US" altLang="zh-CN" b="1" i="1">
                <a:solidFill>
                  <a:schemeClr val="tx2"/>
                </a:solidFill>
              </a:rPr>
              <a:t>vlan-name</a:t>
            </a:r>
          </a:p>
        </p:txBody>
      </p:sp>
      <p:sp>
        <p:nvSpPr>
          <p:cNvPr id="20" name="AutoShape 16"/>
          <p:cNvSpPr>
            <a:spLocks noChangeArrowheads="1"/>
          </p:cNvSpPr>
          <p:nvPr/>
        </p:nvSpPr>
        <p:spPr bwMode="auto">
          <a:xfrm>
            <a:off x="2109788" y="2071688"/>
            <a:ext cx="7848600" cy="1338262"/>
          </a:xfrm>
          <a:prstGeom prst="roundRect">
            <a:avLst>
              <a:gd name="adj" fmla="val 4329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>
              <a:lnSpc>
                <a:spcPct val="150000"/>
              </a:lnSpc>
            </a:pPr>
            <a:r>
              <a:rPr lang="en-US" altLang="zh-CN" b="1">
                <a:solidFill>
                  <a:schemeClr val="tx2"/>
                </a:solidFill>
              </a:rPr>
              <a:t>Switch#vlan database</a:t>
            </a:r>
          </a:p>
          <a:p>
            <a:pPr marL="95250" lvl="1">
              <a:lnSpc>
                <a:spcPct val="150000"/>
              </a:lnSpc>
            </a:pPr>
            <a:r>
              <a:rPr lang="en-US" altLang="zh-CN" b="1">
                <a:solidFill>
                  <a:schemeClr val="tx2"/>
                </a:solidFill>
              </a:rPr>
              <a:t>Switch(vlan)#vlan </a:t>
            </a:r>
            <a:r>
              <a:rPr lang="en-US" altLang="zh-CN" b="1" i="1">
                <a:solidFill>
                  <a:schemeClr val="tx2"/>
                </a:solidFill>
              </a:rPr>
              <a:t>vlan-id</a:t>
            </a:r>
            <a:r>
              <a:rPr lang="en-US" altLang="zh-CN" b="1">
                <a:solidFill>
                  <a:schemeClr val="tx2"/>
                </a:solidFill>
              </a:rPr>
              <a:t> [name </a:t>
            </a:r>
            <a:r>
              <a:rPr lang="en-US" altLang="zh-CN" b="1" i="1">
                <a:solidFill>
                  <a:schemeClr val="tx2"/>
                </a:solidFill>
              </a:rPr>
              <a:t>vlan-name</a:t>
            </a:r>
            <a:r>
              <a:rPr lang="en-US" altLang="zh-CN" b="1">
                <a:solidFill>
                  <a:schemeClr val="tx2"/>
                </a:solidFill>
              </a:rPr>
              <a:t>]</a:t>
            </a:r>
          </a:p>
          <a:p>
            <a:pPr marL="95250" lvl="1">
              <a:lnSpc>
                <a:spcPct val="150000"/>
              </a:lnSpc>
            </a:pPr>
            <a:r>
              <a:rPr lang="en-US" altLang="zh-CN" b="1">
                <a:solidFill>
                  <a:schemeClr val="tx2"/>
                </a:solidFill>
              </a:rPr>
              <a:t>Switch(vlan)#exit</a:t>
            </a:r>
          </a:p>
        </p:txBody>
      </p:sp>
      <p:sp>
        <p:nvSpPr>
          <p:cNvPr id="23" name="圆角矩形标注 69"/>
          <p:cNvSpPr>
            <a:spLocks noChangeArrowheads="1"/>
          </p:cNvSpPr>
          <p:nvPr/>
        </p:nvSpPr>
        <p:spPr bwMode="auto">
          <a:xfrm flipH="1">
            <a:off x="7167563" y="3000376"/>
            <a:ext cx="2500312" cy="949325"/>
          </a:xfrm>
          <a:prstGeom prst="wedgeRoundRectCallout">
            <a:avLst>
              <a:gd name="adj1" fmla="val 52815"/>
              <a:gd name="adj2" fmla="val -75528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>
              <a:lnSpc>
                <a:spcPct val="90000"/>
              </a:lnSpc>
            </a:pPr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添加</a:t>
            </a:r>
            <a:r>
              <a:rPr lang="en-US" altLang="zh-CN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VLAN</a:t>
            </a:r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并命名，</a:t>
            </a:r>
            <a:endParaRPr lang="en-US" altLang="zh-CN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如不指定名称</a:t>
            </a:r>
            <a:endParaRPr lang="en-US" altLang="zh-CN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系统会使用默认名称</a:t>
            </a:r>
          </a:p>
        </p:txBody>
      </p:sp>
      <p:sp>
        <p:nvSpPr>
          <p:cNvPr id="24" name="圆角矩形标注 69"/>
          <p:cNvSpPr>
            <a:spLocks noChangeArrowheads="1"/>
          </p:cNvSpPr>
          <p:nvPr/>
        </p:nvSpPr>
        <p:spPr bwMode="auto">
          <a:xfrm flipH="1">
            <a:off x="5095875" y="2095500"/>
            <a:ext cx="2357438" cy="357188"/>
          </a:xfrm>
          <a:prstGeom prst="wedgeRoundRectCallout">
            <a:avLst>
              <a:gd name="adj1" fmla="val 64778"/>
              <a:gd name="adj2" fmla="val 27838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进入</a:t>
            </a:r>
            <a:r>
              <a:rPr lang="en-US" altLang="zh-CN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VLAN</a:t>
            </a:r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数据库模式</a:t>
            </a:r>
          </a:p>
        </p:txBody>
      </p:sp>
      <p:sp>
        <p:nvSpPr>
          <p:cNvPr id="25" name="圆角矩形标注 69"/>
          <p:cNvSpPr>
            <a:spLocks noChangeArrowheads="1"/>
          </p:cNvSpPr>
          <p:nvPr/>
        </p:nvSpPr>
        <p:spPr bwMode="auto">
          <a:xfrm flipH="1">
            <a:off x="4595813" y="3357564"/>
            <a:ext cx="1357312" cy="357187"/>
          </a:xfrm>
          <a:prstGeom prst="wedgeRoundRectCallout">
            <a:avLst>
              <a:gd name="adj1" fmla="val 74282"/>
              <a:gd name="adj2" fmla="val -103630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保存退出</a:t>
            </a:r>
          </a:p>
        </p:txBody>
      </p:sp>
      <p:sp>
        <p:nvSpPr>
          <p:cNvPr id="26" name="圆角矩形标注 69"/>
          <p:cNvSpPr>
            <a:spLocks noChangeArrowheads="1"/>
          </p:cNvSpPr>
          <p:nvPr/>
        </p:nvSpPr>
        <p:spPr bwMode="auto">
          <a:xfrm flipH="1">
            <a:off x="5810251" y="4143376"/>
            <a:ext cx="1857375" cy="371475"/>
          </a:xfrm>
          <a:prstGeom prst="wedgeRoundRectCallout">
            <a:avLst>
              <a:gd name="adj1" fmla="val 74167"/>
              <a:gd name="adj2" fmla="val 63718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添加一个</a:t>
            </a:r>
            <a:r>
              <a:rPr lang="en-US" altLang="zh-CN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VLAN</a:t>
            </a:r>
            <a:endParaRPr lang="zh-CN" altLang="en-US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" name="圆角矩形标注 69"/>
          <p:cNvSpPr>
            <a:spLocks noChangeArrowheads="1"/>
          </p:cNvSpPr>
          <p:nvPr/>
        </p:nvSpPr>
        <p:spPr bwMode="auto">
          <a:xfrm flipH="1">
            <a:off x="6310313" y="5286376"/>
            <a:ext cx="1643062" cy="714375"/>
          </a:xfrm>
          <a:prstGeom prst="wedgeRoundRectCallout">
            <a:avLst>
              <a:gd name="adj1" fmla="val 48866"/>
              <a:gd name="adj2" fmla="val -79815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给</a:t>
            </a:r>
            <a:r>
              <a:rPr lang="en-US" altLang="zh-CN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VLAN</a:t>
            </a:r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命名，</a:t>
            </a:r>
            <a:endParaRPr lang="en-US" altLang="zh-CN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此命令可选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内容占位符 15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创建</a:t>
            </a:r>
            <a:r>
              <a:rPr lang="en-US" altLang="zh-CN"/>
              <a:t>VLAN</a:t>
            </a:r>
            <a:r>
              <a:rPr lang="zh-CN" altLang="en-US"/>
              <a:t>示例</a:t>
            </a:r>
          </a:p>
          <a:p>
            <a:pPr lvl="1">
              <a:spcBef>
                <a:spcPts val="475"/>
              </a:spcBef>
            </a:pPr>
            <a:r>
              <a:rPr lang="en-US" altLang="zh-CN"/>
              <a:t>VLAN</a:t>
            </a:r>
            <a:r>
              <a:rPr lang="zh-CN" altLang="en-US"/>
              <a:t>数据库配置模式创建</a:t>
            </a:r>
            <a:r>
              <a:rPr lang="en-US" altLang="zh-CN"/>
              <a:t>VLAN</a:t>
            </a:r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全局配置模式创建</a:t>
            </a:r>
            <a:r>
              <a:rPr lang="en-US" altLang="zh-CN"/>
              <a:t>VLAN</a:t>
            </a:r>
            <a:endParaRPr lang="zh-CN" altLang="en-US"/>
          </a:p>
        </p:txBody>
      </p:sp>
      <p:sp>
        <p:nvSpPr>
          <p:cNvPr id="1638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zh-CN" altLang="en-US"/>
              <a:t>创建</a:t>
            </a:r>
            <a:r>
              <a:rPr lang="en-US" altLang="zh-CN"/>
              <a:t>VLAN2-2</a:t>
            </a:r>
            <a:endParaRPr lang="en-US" altLang="en-US"/>
          </a:p>
        </p:txBody>
      </p:sp>
      <p:sp>
        <p:nvSpPr>
          <p:cNvPr id="17" name="AutoShape 16"/>
          <p:cNvSpPr>
            <a:spLocks noChangeArrowheads="1"/>
          </p:cNvSpPr>
          <p:nvPr/>
        </p:nvSpPr>
        <p:spPr bwMode="auto">
          <a:xfrm>
            <a:off x="2109788" y="2071689"/>
            <a:ext cx="7848600" cy="2516187"/>
          </a:xfrm>
          <a:prstGeom prst="roundRect">
            <a:avLst>
              <a:gd name="adj" fmla="val 2898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>
              <a:lnSpc>
                <a:spcPct val="125000"/>
              </a:lnSpc>
            </a:pPr>
            <a:r>
              <a:rPr lang="en-US" altLang="zh-CN" b="1">
                <a:solidFill>
                  <a:schemeClr val="tx2"/>
                </a:solidFill>
              </a:rPr>
              <a:t>Switch#vlan database</a:t>
            </a:r>
          </a:p>
          <a:p>
            <a:pPr marL="95250" lvl="1">
              <a:lnSpc>
                <a:spcPct val="125000"/>
              </a:lnSpc>
            </a:pPr>
            <a:r>
              <a:rPr lang="en-US" altLang="zh-CN" b="1">
                <a:solidFill>
                  <a:schemeClr val="tx2"/>
                </a:solidFill>
              </a:rPr>
              <a:t>Switch(vlan)#</a:t>
            </a:r>
            <a:r>
              <a:rPr lang="en-US" altLang="zh-CN" b="1">
                <a:solidFill>
                  <a:srgbClr val="FF0000"/>
                </a:solidFill>
              </a:rPr>
              <a:t>vlan 2 name test20</a:t>
            </a:r>
          </a:p>
          <a:p>
            <a:pPr marL="95250" lvl="1">
              <a:lnSpc>
                <a:spcPct val="125000"/>
              </a:lnSpc>
            </a:pPr>
            <a:r>
              <a:rPr lang="en-US" altLang="zh-CN" b="1">
                <a:solidFill>
                  <a:schemeClr val="tx2"/>
                </a:solidFill>
              </a:rPr>
              <a:t>VLAN 2 added:</a:t>
            </a:r>
          </a:p>
          <a:p>
            <a:pPr marL="95250" lvl="1">
              <a:lnSpc>
                <a:spcPct val="125000"/>
              </a:lnSpc>
            </a:pPr>
            <a:r>
              <a:rPr lang="en-US" altLang="zh-CN" b="1">
                <a:solidFill>
                  <a:schemeClr val="tx2"/>
                </a:solidFill>
              </a:rPr>
              <a:t>    Name: test20</a:t>
            </a:r>
          </a:p>
          <a:p>
            <a:pPr marL="95250" lvl="1">
              <a:lnSpc>
                <a:spcPct val="125000"/>
              </a:lnSpc>
            </a:pPr>
            <a:r>
              <a:rPr lang="en-US" altLang="zh-CN" b="1">
                <a:solidFill>
                  <a:schemeClr val="tx2"/>
                </a:solidFill>
              </a:rPr>
              <a:t>Switch(vlan)#</a:t>
            </a:r>
            <a:r>
              <a:rPr lang="en-US" altLang="zh-CN" b="1">
                <a:solidFill>
                  <a:srgbClr val="FF0000"/>
                </a:solidFill>
              </a:rPr>
              <a:t>exit</a:t>
            </a:r>
          </a:p>
          <a:p>
            <a:pPr marL="95250" lvl="1">
              <a:lnSpc>
                <a:spcPct val="125000"/>
              </a:lnSpc>
            </a:pPr>
            <a:r>
              <a:rPr lang="en-US" altLang="zh-CN" b="1">
                <a:solidFill>
                  <a:schemeClr val="tx2"/>
                </a:solidFill>
              </a:rPr>
              <a:t>APPLY completed.</a:t>
            </a:r>
          </a:p>
          <a:p>
            <a:pPr marL="95250" lvl="1">
              <a:lnSpc>
                <a:spcPct val="125000"/>
              </a:lnSpc>
            </a:pPr>
            <a:r>
              <a:rPr lang="en-US" altLang="zh-CN" b="1">
                <a:solidFill>
                  <a:schemeClr val="tx2"/>
                </a:solidFill>
              </a:rPr>
              <a:t>Exiting....</a:t>
            </a:r>
          </a:p>
        </p:txBody>
      </p:sp>
      <p:sp>
        <p:nvSpPr>
          <p:cNvPr id="13" name="圆角矩形标注 69"/>
          <p:cNvSpPr>
            <a:spLocks noChangeArrowheads="1"/>
          </p:cNvSpPr>
          <p:nvPr/>
        </p:nvSpPr>
        <p:spPr bwMode="auto">
          <a:xfrm flipH="1">
            <a:off x="5667376" y="2928939"/>
            <a:ext cx="3838575" cy="1000125"/>
          </a:xfrm>
          <a:prstGeom prst="wedgeRoundRectCallout">
            <a:avLst>
              <a:gd name="adj1" fmla="val 45306"/>
              <a:gd name="adj2" fmla="val -79806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添加</a:t>
            </a:r>
            <a:r>
              <a:rPr lang="en-US" altLang="zh-CN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VLAN2</a:t>
            </a:r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，并命名为</a:t>
            </a:r>
            <a:r>
              <a:rPr lang="en-US" altLang="zh-CN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test20</a:t>
            </a:r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；</a:t>
            </a:r>
            <a:endParaRPr lang="en-US" altLang="zh-CN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如果不指定</a:t>
            </a:r>
            <a:r>
              <a:rPr lang="en-US" altLang="zh-CN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VLAN</a:t>
            </a:r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名称，交换机自动</a:t>
            </a:r>
            <a:endParaRPr lang="en-US" altLang="zh-CN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使用默认名称</a:t>
            </a:r>
            <a:r>
              <a:rPr lang="en-US" altLang="zh-CN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VLAN0002</a:t>
            </a:r>
            <a:endParaRPr lang="zh-CN" altLang="en-US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4" name="圆角矩形标注 69"/>
          <p:cNvSpPr>
            <a:spLocks noChangeArrowheads="1"/>
          </p:cNvSpPr>
          <p:nvPr/>
        </p:nvSpPr>
        <p:spPr bwMode="auto">
          <a:xfrm flipH="1">
            <a:off x="4452939" y="4000500"/>
            <a:ext cx="1335087" cy="407988"/>
          </a:xfrm>
          <a:prstGeom prst="wedgeRoundRectCallout">
            <a:avLst>
              <a:gd name="adj1" fmla="val 67796"/>
              <a:gd name="adj2" fmla="val -116194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保存退出</a:t>
            </a:r>
          </a:p>
        </p:txBody>
      </p:sp>
      <p:grpSp>
        <p:nvGrpSpPr>
          <p:cNvPr id="2" name="组合 18"/>
          <p:cNvGrpSpPr>
            <a:grpSpLocks/>
          </p:cNvGrpSpPr>
          <p:nvPr/>
        </p:nvGrpSpPr>
        <p:grpSpPr bwMode="auto">
          <a:xfrm>
            <a:off x="2095500" y="5000626"/>
            <a:ext cx="7848600" cy="962025"/>
            <a:chOff x="571472" y="5000636"/>
            <a:chExt cx="7848600" cy="962677"/>
          </a:xfrm>
        </p:grpSpPr>
        <p:sp>
          <p:nvSpPr>
            <p:cNvPr id="16392" name="AutoShape 16"/>
            <p:cNvSpPr>
              <a:spLocks noChangeArrowheads="1"/>
            </p:cNvSpPr>
            <p:nvPr/>
          </p:nvSpPr>
          <p:spPr bwMode="auto">
            <a:xfrm>
              <a:off x="571472" y="5178483"/>
              <a:ext cx="7848600" cy="784830"/>
            </a:xfrm>
            <a:prstGeom prst="roundRect">
              <a:avLst>
                <a:gd name="adj" fmla="val 6486"/>
              </a:avLst>
            </a:prstGeom>
            <a:gradFill rotWithShape="1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00808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95250" lvl="1">
                <a:lnSpc>
                  <a:spcPct val="125000"/>
                </a:lnSpc>
              </a:pPr>
              <a:r>
                <a:rPr lang="en-US" altLang="zh-CN" b="1">
                  <a:solidFill>
                    <a:schemeClr val="tx2"/>
                  </a:solidFill>
                </a:rPr>
                <a:t>Switch(config)#</a:t>
              </a:r>
              <a:r>
                <a:rPr lang="en-US" altLang="zh-CN" b="1">
                  <a:solidFill>
                    <a:srgbClr val="FF0000"/>
                  </a:solidFill>
                </a:rPr>
                <a:t>vlan 2</a:t>
              </a:r>
            </a:p>
            <a:p>
              <a:pPr marL="95250" lvl="1">
                <a:lnSpc>
                  <a:spcPct val="125000"/>
                </a:lnSpc>
              </a:pPr>
              <a:r>
                <a:rPr lang="en-US" altLang="zh-CN" b="1">
                  <a:solidFill>
                    <a:schemeClr val="tx2"/>
                  </a:solidFill>
                </a:rPr>
                <a:t>Switch(config-vlan)#name test20</a:t>
              </a:r>
            </a:p>
          </p:txBody>
        </p:sp>
        <p:sp>
          <p:nvSpPr>
            <p:cNvPr id="16393" name="圆角矩形标注 69"/>
            <p:cNvSpPr>
              <a:spLocks noChangeArrowheads="1"/>
            </p:cNvSpPr>
            <p:nvPr/>
          </p:nvSpPr>
          <p:spPr bwMode="auto">
            <a:xfrm flipH="1">
              <a:off x="4572000" y="5000636"/>
              <a:ext cx="2538141" cy="408623"/>
            </a:xfrm>
            <a:prstGeom prst="wedgeRoundRectCallout">
              <a:avLst>
                <a:gd name="adj1" fmla="val 57972"/>
                <a:gd name="adj2" fmla="val 135097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FF990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r>
                <a:rPr lang="zh-CN" altLang="en-US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命名为</a:t>
              </a:r>
              <a:r>
                <a:rPr lang="en-US" altLang="zh-CN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test20</a:t>
              </a:r>
              <a:r>
                <a:rPr lang="zh-CN" altLang="en-US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（可选）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9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删除</a:t>
            </a:r>
            <a:r>
              <a:rPr lang="en-US" altLang="zh-CN" dirty="0"/>
              <a:t>VLAN</a:t>
            </a:r>
            <a:endParaRPr lang="zh-CN" altLang="en-US" dirty="0">
              <a:latin typeface="+mn-ea"/>
            </a:endParaRPr>
          </a:p>
          <a:p>
            <a:pPr lvl="1">
              <a:defRPr/>
            </a:pPr>
            <a:r>
              <a:rPr lang="zh-CN" altLang="en-US" dirty="0"/>
              <a:t>使用</a:t>
            </a:r>
            <a:r>
              <a:rPr lang="en-US" altLang="zh-CN" dirty="0"/>
              <a:t>no </a:t>
            </a:r>
            <a:r>
              <a:rPr lang="en-US" altLang="zh-CN" dirty="0" err="1"/>
              <a:t>vlan</a:t>
            </a:r>
            <a:r>
              <a:rPr lang="en-US" altLang="zh-CN" dirty="0"/>
              <a:t> </a:t>
            </a:r>
            <a:r>
              <a:rPr lang="en-US" altLang="zh-CN" i="1" dirty="0" err="1"/>
              <a:t>vlan</a:t>
            </a:r>
            <a:r>
              <a:rPr lang="en-US" altLang="zh-CN" i="1" dirty="0"/>
              <a:t>-id</a:t>
            </a:r>
            <a:r>
              <a:rPr lang="zh-CN" altLang="en-US" dirty="0"/>
              <a:t>命令删除</a:t>
            </a:r>
            <a:r>
              <a:rPr lang="en-US" altLang="zh-CN" dirty="0"/>
              <a:t>VLAN</a:t>
            </a:r>
          </a:p>
          <a:p>
            <a:pPr lvl="2">
              <a:defRPr/>
            </a:pPr>
            <a:r>
              <a:rPr lang="en-US" altLang="zh-CN" dirty="0"/>
              <a:t>VLAN</a:t>
            </a:r>
            <a:r>
              <a:rPr lang="zh-CN" altLang="en-US" dirty="0"/>
              <a:t>数据库中删除</a:t>
            </a:r>
            <a:r>
              <a:rPr lang="en-US" altLang="zh-CN" dirty="0"/>
              <a:t>VLAN</a:t>
            </a:r>
          </a:p>
          <a:p>
            <a:pPr lvl="2">
              <a:defRPr/>
            </a:pPr>
            <a:endParaRPr lang="en-US" altLang="zh-CN" dirty="0"/>
          </a:p>
          <a:p>
            <a:pPr lvl="2">
              <a:defRPr/>
            </a:pPr>
            <a:endParaRPr lang="en-US" altLang="zh-CN" dirty="0"/>
          </a:p>
          <a:p>
            <a:pPr lvl="2">
              <a:defRPr/>
            </a:pPr>
            <a:endParaRPr lang="en-US" altLang="zh-CN" dirty="0"/>
          </a:p>
          <a:p>
            <a:pPr lvl="2">
              <a:defRPr/>
            </a:pPr>
            <a:endParaRPr lang="en-US" altLang="zh-CN" dirty="0"/>
          </a:p>
          <a:p>
            <a:pPr lvl="2">
              <a:defRPr/>
            </a:pPr>
            <a:endParaRPr lang="en-US" altLang="zh-CN" sz="1400" dirty="0"/>
          </a:p>
          <a:p>
            <a:pPr lvl="2">
              <a:lnSpc>
                <a:spcPts val="2200"/>
              </a:lnSpc>
              <a:defRPr/>
            </a:pPr>
            <a:endParaRPr lang="en-US" altLang="zh-CN" sz="1400" dirty="0"/>
          </a:p>
          <a:p>
            <a:pPr lvl="2">
              <a:defRPr/>
            </a:pPr>
            <a:r>
              <a:rPr lang="zh-CN" altLang="en-US" dirty="0"/>
              <a:t>全局模式下删除</a:t>
            </a:r>
            <a:r>
              <a:rPr lang="en-US" altLang="zh-CN" dirty="0"/>
              <a:t>VLAN</a:t>
            </a:r>
            <a:endParaRPr lang="zh-CN" altLang="en-US" dirty="0"/>
          </a:p>
          <a:p>
            <a:pPr lvl="2">
              <a:defRPr/>
            </a:pPr>
            <a:endParaRPr lang="en-US" altLang="zh-CN" dirty="0"/>
          </a:p>
        </p:txBody>
      </p:sp>
      <p:sp>
        <p:nvSpPr>
          <p:cNvPr id="1741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zh-CN" altLang="en-US"/>
              <a:t>删除</a:t>
            </a:r>
            <a:r>
              <a:rPr lang="en-US" altLang="zh-CN"/>
              <a:t>VLAN</a:t>
            </a:r>
            <a:endParaRPr lang="en-US" altLang="en-US"/>
          </a:p>
        </p:txBody>
      </p:sp>
      <p:sp>
        <p:nvSpPr>
          <p:cNvPr id="17412" name="AutoShape 16"/>
          <p:cNvSpPr>
            <a:spLocks noChangeArrowheads="1"/>
          </p:cNvSpPr>
          <p:nvPr/>
        </p:nvSpPr>
        <p:spPr bwMode="auto">
          <a:xfrm>
            <a:off x="2109788" y="2428875"/>
            <a:ext cx="7848600" cy="2190750"/>
          </a:xfrm>
          <a:prstGeom prst="roundRect">
            <a:avLst>
              <a:gd name="adj" fmla="val 2898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>
              <a:lnSpc>
                <a:spcPct val="125000"/>
              </a:lnSpc>
            </a:pPr>
            <a:r>
              <a:rPr lang="en-US" altLang="zh-CN" b="1">
                <a:solidFill>
                  <a:schemeClr val="tx2"/>
                </a:solidFill>
              </a:rPr>
              <a:t>Switch# vlan database</a:t>
            </a:r>
          </a:p>
          <a:p>
            <a:pPr marL="95250" lvl="1" eaLnBrk="0" hangingPunct="0">
              <a:lnSpc>
                <a:spcPct val="125000"/>
              </a:lnSpc>
            </a:pPr>
            <a:r>
              <a:rPr lang="en-US" altLang="zh-CN" b="1">
                <a:solidFill>
                  <a:schemeClr val="tx2"/>
                </a:solidFill>
              </a:rPr>
              <a:t>Switch(vlan)# </a:t>
            </a:r>
            <a:r>
              <a:rPr lang="en-US" altLang="zh-CN" b="1">
                <a:solidFill>
                  <a:srgbClr val="FF0000"/>
                </a:solidFill>
              </a:rPr>
              <a:t>no vlan 20</a:t>
            </a:r>
          </a:p>
          <a:p>
            <a:pPr marL="95250" lvl="1" eaLnBrk="0" hangingPunct="0">
              <a:lnSpc>
                <a:spcPct val="125000"/>
              </a:lnSpc>
            </a:pPr>
            <a:r>
              <a:rPr lang="en-US" altLang="zh-CN" b="1">
                <a:solidFill>
                  <a:schemeClr val="tx2"/>
                </a:solidFill>
              </a:rPr>
              <a:t>Deleting VLAN 20...</a:t>
            </a:r>
          </a:p>
          <a:p>
            <a:pPr marL="95250" lvl="1" eaLnBrk="0" hangingPunct="0">
              <a:lnSpc>
                <a:spcPct val="125000"/>
              </a:lnSpc>
            </a:pPr>
            <a:r>
              <a:rPr lang="en-US" altLang="zh-CN" b="1">
                <a:solidFill>
                  <a:schemeClr val="tx2"/>
                </a:solidFill>
              </a:rPr>
              <a:t>Switch(vlan)#exit</a:t>
            </a:r>
          </a:p>
          <a:p>
            <a:pPr marL="95250" lvl="1" eaLnBrk="0" hangingPunct="0">
              <a:lnSpc>
                <a:spcPct val="125000"/>
              </a:lnSpc>
            </a:pPr>
            <a:r>
              <a:rPr lang="en-US" altLang="zh-CN" b="1">
                <a:solidFill>
                  <a:schemeClr val="tx2"/>
                </a:solidFill>
              </a:rPr>
              <a:t>APPLY completed.</a:t>
            </a:r>
          </a:p>
          <a:p>
            <a:pPr marL="95250" lvl="1" eaLnBrk="0" hangingPunct="0">
              <a:lnSpc>
                <a:spcPct val="125000"/>
              </a:lnSpc>
            </a:pPr>
            <a:r>
              <a:rPr lang="en-US" altLang="zh-CN" b="1">
                <a:solidFill>
                  <a:schemeClr val="tx2"/>
                </a:solidFill>
              </a:rPr>
              <a:t>Exiting....</a:t>
            </a:r>
          </a:p>
        </p:txBody>
      </p:sp>
      <p:sp>
        <p:nvSpPr>
          <p:cNvPr id="17413" name="AutoShape 16"/>
          <p:cNvSpPr>
            <a:spLocks noChangeArrowheads="1"/>
          </p:cNvSpPr>
          <p:nvPr/>
        </p:nvSpPr>
        <p:spPr bwMode="auto">
          <a:xfrm>
            <a:off x="2109788" y="5027613"/>
            <a:ext cx="7848600" cy="792162"/>
          </a:xfrm>
          <a:prstGeom prst="roundRect">
            <a:avLst>
              <a:gd name="adj" fmla="val 2898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 eaLnBrk="0" hangingPunct="0">
              <a:lnSpc>
                <a:spcPct val="125000"/>
              </a:lnSpc>
            </a:pPr>
            <a:r>
              <a:rPr lang="en-US" altLang="zh-CN" b="1">
                <a:solidFill>
                  <a:schemeClr val="tx2"/>
                </a:solidFill>
              </a:rPr>
              <a:t>Switch# configure terminal </a:t>
            </a:r>
          </a:p>
          <a:p>
            <a:pPr marL="95250" lvl="1" eaLnBrk="0" hangingPunct="0">
              <a:lnSpc>
                <a:spcPct val="125000"/>
              </a:lnSpc>
            </a:pPr>
            <a:r>
              <a:rPr lang="en-US" altLang="zh-CN" b="1">
                <a:solidFill>
                  <a:schemeClr val="tx2"/>
                </a:solidFill>
              </a:rPr>
              <a:t>Switch(config)# </a:t>
            </a:r>
            <a:r>
              <a:rPr lang="en-US" altLang="zh-CN" b="1">
                <a:solidFill>
                  <a:srgbClr val="FF0000"/>
                </a:solidFill>
              </a:rPr>
              <a:t>no vlan 20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内容占位符 19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将端口加入</a:t>
            </a:r>
            <a:r>
              <a:rPr lang="en-US" altLang="zh-CN"/>
              <a:t>VLAN</a:t>
            </a:r>
          </a:p>
          <a:p>
            <a:pPr lvl="1">
              <a:spcBef>
                <a:spcPts val="475"/>
              </a:spcBef>
            </a:pPr>
            <a:endParaRPr lang="en-US" altLang="zh-CN"/>
          </a:p>
          <a:p>
            <a:pPr lvl="1">
              <a:spcBef>
                <a:spcPts val="475"/>
              </a:spcBef>
            </a:pPr>
            <a:endParaRPr lang="en-US" altLang="zh-CN"/>
          </a:p>
          <a:p>
            <a:pPr lvl="1">
              <a:spcBef>
                <a:spcPts val="475"/>
              </a:spcBef>
            </a:pPr>
            <a:endParaRPr lang="en-US" altLang="zh-CN"/>
          </a:p>
          <a:p>
            <a:pPr lvl="1">
              <a:lnSpc>
                <a:spcPts val="2400"/>
              </a:lnSpc>
              <a:spcBef>
                <a:spcPts val="475"/>
              </a:spcBef>
            </a:pP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同时将多个端口加入</a:t>
            </a:r>
            <a:r>
              <a:rPr lang="en-US" altLang="zh-CN"/>
              <a:t>VLAN</a:t>
            </a:r>
          </a:p>
          <a:p>
            <a:pPr lvl="1">
              <a:spcBef>
                <a:spcPts val="475"/>
              </a:spcBef>
            </a:pPr>
            <a:endParaRPr lang="en-US" altLang="zh-CN"/>
          </a:p>
          <a:p>
            <a:pPr lvl="1">
              <a:spcBef>
                <a:spcPts val="475"/>
              </a:spcBef>
            </a:pP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还原接口为默认配置状态</a:t>
            </a:r>
          </a:p>
        </p:txBody>
      </p:sp>
      <p:sp>
        <p:nvSpPr>
          <p:cNvPr id="18435" name="AutoShape 16"/>
          <p:cNvSpPr>
            <a:spLocks noChangeArrowheads="1"/>
          </p:cNvSpPr>
          <p:nvPr/>
        </p:nvSpPr>
        <p:spPr bwMode="auto">
          <a:xfrm>
            <a:off x="2109788" y="1654175"/>
            <a:ext cx="7848600" cy="1631950"/>
          </a:xfrm>
          <a:prstGeom prst="roundRect">
            <a:avLst>
              <a:gd name="adj" fmla="val 2898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Switch(config)# interface </a:t>
            </a:r>
            <a:r>
              <a:rPr lang="en-US" altLang="zh-CN" b="1" i="1">
                <a:solidFill>
                  <a:schemeClr val="tx2"/>
                </a:solidFill>
              </a:rPr>
              <a:t>interface-id</a:t>
            </a:r>
          </a:p>
          <a:p>
            <a:pPr marL="95250" lvl="1">
              <a:lnSpc>
                <a:spcPct val="150000"/>
              </a:lnSpc>
            </a:pPr>
            <a:r>
              <a:rPr lang="en-US" altLang="zh-CN" b="1">
                <a:solidFill>
                  <a:schemeClr val="tx2"/>
                </a:solidFill>
              </a:rPr>
              <a:t>Switch(config-if)# switchport mode access</a:t>
            </a:r>
          </a:p>
          <a:p>
            <a:pPr marL="95250" lvl="1">
              <a:lnSpc>
                <a:spcPct val="150000"/>
              </a:lnSpc>
            </a:pPr>
            <a:r>
              <a:rPr lang="en-US" altLang="zh-CN" b="1">
                <a:solidFill>
                  <a:schemeClr val="tx2"/>
                </a:solidFill>
              </a:rPr>
              <a:t>Switch(config-if)# switchport access vlan </a:t>
            </a:r>
            <a:r>
              <a:rPr lang="en-US" altLang="zh-CN" b="1" i="1">
                <a:solidFill>
                  <a:schemeClr val="tx2"/>
                </a:solidFill>
              </a:rPr>
              <a:t>vlan-id</a:t>
            </a:r>
          </a:p>
          <a:p>
            <a:pPr marL="95250" lvl="1">
              <a:lnSpc>
                <a:spcPct val="150000"/>
              </a:lnSpc>
            </a:pPr>
            <a:r>
              <a:rPr lang="en-US" altLang="zh-CN" b="1">
                <a:solidFill>
                  <a:schemeClr val="tx2"/>
                </a:solidFill>
              </a:rPr>
              <a:t>Switch(config-if)# </a:t>
            </a:r>
            <a:r>
              <a:rPr lang="en-US" altLang="zh-CN" b="1">
                <a:solidFill>
                  <a:srgbClr val="FF0000"/>
                </a:solidFill>
              </a:rPr>
              <a:t>no</a:t>
            </a:r>
            <a:r>
              <a:rPr lang="en-US" altLang="zh-CN" b="1">
                <a:solidFill>
                  <a:schemeClr val="tx2"/>
                </a:solidFill>
              </a:rPr>
              <a:t> switchport access vlan </a:t>
            </a:r>
            <a:r>
              <a:rPr lang="en-US" altLang="zh-CN" b="1" i="1">
                <a:solidFill>
                  <a:schemeClr val="tx2"/>
                </a:solidFill>
              </a:rPr>
              <a:t>vlan-id</a:t>
            </a:r>
          </a:p>
        </p:txBody>
      </p:sp>
      <p:sp>
        <p:nvSpPr>
          <p:cNvPr id="1843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zh-CN" altLang="en-US"/>
              <a:t>将端口加入</a:t>
            </a:r>
            <a:r>
              <a:rPr lang="en-US" altLang="zh-CN"/>
              <a:t>VLAN</a:t>
            </a:r>
            <a:endParaRPr lang="en-US" altLang="en-US"/>
          </a:p>
        </p:txBody>
      </p:sp>
      <p:sp>
        <p:nvSpPr>
          <p:cNvPr id="12" name="圆角矩形标注 69"/>
          <p:cNvSpPr>
            <a:spLocks noChangeArrowheads="1"/>
          </p:cNvSpPr>
          <p:nvPr/>
        </p:nvSpPr>
        <p:spPr bwMode="auto">
          <a:xfrm flipH="1">
            <a:off x="6667500" y="1285875"/>
            <a:ext cx="2089150" cy="407988"/>
          </a:xfrm>
          <a:prstGeom prst="wedgeRoundRectCallout">
            <a:avLst>
              <a:gd name="adj1" fmla="val 58694"/>
              <a:gd name="adj2" fmla="val 82944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进入要配置的端口</a:t>
            </a:r>
          </a:p>
        </p:txBody>
      </p:sp>
      <p:sp>
        <p:nvSpPr>
          <p:cNvPr id="13" name="圆角矩形标注 69"/>
          <p:cNvSpPr>
            <a:spLocks noChangeArrowheads="1"/>
          </p:cNvSpPr>
          <p:nvPr/>
        </p:nvSpPr>
        <p:spPr bwMode="auto">
          <a:xfrm flipH="1">
            <a:off x="7381875" y="1785939"/>
            <a:ext cx="2444750" cy="407987"/>
          </a:xfrm>
          <a:prstGeom prst="wedgeRoundRectCallout">
            <a:avLst>
              <a:gd name="adj1" fmla="val 65042"/>
              <a:gd name="adj2" fmla="val 60986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定义二层端口模式</a:t>
            </a:r>
          </a:p>
        </p:txBody>
      </p:sp>
      <p:sp>
        <p:nvSpPr>
          <p:cNvPr id="14" name="圆角矩形标注 69"/>
          <p:cNvSpPr>
            <a:spLocks noChangeArrowheads="1"/>
          </p:cNvSpPr>
          <p:nvPr/>
        </p:nvSpPr>
        <p:spPr bwMode="auto">
          <a:xfrm flipH="1">
            <a:off x="7953376" y="2357439"/>
            <a:ext cx="2301875" cy="407987"/>
          </a:xfrm>
          <a:prstGeom prst="wedgeRoundRectCallout">
            <a:avLst>
              <a:gd name="adj1" fmla="val 64662"/>
              <a:gd name="adj2" fmla="val 22366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将端口添加到</a:t>
            </a:r>
            <a:r>
              <a:rPr lang="en-US" altLang="zh-CN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VLAN</a:t>
            </a:r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中</a:t>
            </a:r>
          </a:p>
        </p:txBody>
      </p:sp>
      <p:sp>
        <p:nvSpPr>
          <p:cNvPr id="15" name="圆角矩形标注 69"/>
          <p:cNvSpPr>
            <a:spLocks noChangeArrowheads="1"/>
          </p:cNvSpPr>
          <p:nvPr/>
        </p:nvSpPr>
        <p:spPr bwMode="auto">
          <a:xfrm flipH="1">
            <a:off x="7681914" y="3286125"/>
            <a:ext cx="2771775" cy="407988"/>
          </a:xfrm>
          <a:prstGeom prst="wedgeRoundRectCallout">
            <a:avLst>
              <a:gd name="adj1" fmla="val 37921"/>
              <a:gd name="adj2" fmla="val -101838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将端口从某个</a:t>
            </a:r>
            <a:r>
              <a:rPr lang="en-US" altLang="zh-CN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VLAN</a:t>
            </a:r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中删除</a:t>
            </a:r>
          </a:p>
        </p:txBody>
      </p:sp>
      <p:sp>
        <p:nvSpPr>
          <p:cNvPr id="18" name="AutoShape 16"/>
          <p:cNvSpPr>
            <a:spLocks noChangeArrowheads="1"/>
          </p:cNvSpPr>
          <p:nvPr/>
        </p:nvSpPr>
        <p:spPr bwMode="auto">
          <a:xfrm>
            <a:off x="2109788" y="3786188"/>
            <a:ext cx="7848600" cy="792162"/>
          </a:xfrm>
          <a:prstGeom prst="roundRect">
            <a:avLst>
              <a:gd name="adj" fmla="val 2898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>
              <a:lnSpc>
                <a:spcPct val="125000"/>
              </a:lnSpc>
            </a:pPr>
            <a:r>
              <a:rPr lang="en-US" altLang="zh-CN" b="1">
                <a:solidFill>
                  <a:schemeClr val="tx2"/>
                </a:solidFill>
              </a:rPr>
              <a:t>Switch(config)# interface </a:t>
            </a:r>
            <a:r>
              <a:rPr lang="en-US" altLang="zh-CN" b="1">
                <a:solidFill>
                  <a:srgbClr val="FF0000"/>
                </a:solidFill>
              </a:rPr>
              <a:t>range</a:t>
            </a:r>
            <a:r>
              <a:rPr lang="en-US" altLang="zh-CN" b="1">
                <a:solidFill>
                  <a:schemeClr val="tx2"/>
                </a:solidFill>
              </a:rPr>
              <a:t> f0/1 – 10</a:t>
            </a:r>
          </a:p>
          <a:p>
            <a:pPr marL="95250" lvl="1">
              <a:lnSpc>
                <a:spcPct val="125000"/>
              </a:lnSpc>
            </a:pPr>
            <a:r>
              <a:rPr lang="en-US" altLang="zh-CN" b="1">
                <a:solidFill>
                  <a:schemeClr val="tx2"/>
                </a:solidFill>
              </a:rPr>
              <a:t>Switch(config-if-range)# switchport access vlan </a:t>
            </a:r>
            <a:r>
              <a:rPr lang="en-US" altLang="zh-CN" b="1" i="1">
                <a:solidFill>
                  <a:schemeClr val="tx2"/>
                </a:solidFill>
              </a:rPr>
              <a:t>vlan-id</a:t>
            </a:r>
          </a:p>
        </p:txBody>
      </p:sp>
      <p:sp>
        <p:nvSpPr>
          <p:cNvPr id="19" name="AutoShape 16"/>
          <p:cNvSpPr>
            <a:spLocks noChangeArrowheads="1"/>
          </p:cNvSpPr>
          <p:nvPr/>
        </p:nvSpPr>
        <p:spPr bwMode="auto">
          <a:xfrm>
            <a:off x="2109788" y="5122864"/>
            <a:ext cx="7848600" cy="407987"/>
          </a:xfrm>
          <a:prstGeom prst="roundRect">
            <a:avLst>
              <a:gd name="adj" fmla="val 2898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>
              <a:lnSpc>
                <a:spcPct val="125000"/>
              </a:lnSpc>
            </a:pPr>
            <a:r>
              <a:rPr lang="en-US" altLang="zh-CN" b="1">
                <a:solidFill>
                  <a:schemeClr val="tx2"/>
                </a:solidFill>
              </a:rPr>
              <a:t>Switch(config)# default interface </a:t>
            </a:r>
            <a:r>
              <a:rPr lang="en-US" altLang="zh-CN" b="1" i="1">
                <a:solidFill>
                  <a:schemeClr val="tx2"/>
                </a:solidFill>
              </a:rPr>
              <a:t>interface-id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内容占位符 9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查看所有</a:t>
            </a:r>
            <a:r>
              <a:rPr lang="en-US" altLang="zh-CN"/>
              <a:t>VLAN</a:t>
            </a:r>
            <a:r>
              <a:rPr lang="zh-CN" altLang="en-US"/>
              <a:t>的摘要信息</a:t>
            </a:r>
          </a:p>
          <a:p>
            <a:pPr lvl="1">
              <a:spcBef>
                <a:spcPts val="475"/>
              </a:spcBef>
            </a:pPr>
            <a:endParaRPr lang="zh-CN" altLang="en-US"/>
          </a:p>
          <a:p>
            <a:pPr>
              <a:spcBef>
                <a:spcPts val="675"/>
              </a:spcBef>
            </a:pPr>
            <a:r>
              <a:rPr lang="zh-CN" altLang="en-US"/>
              <a:t>查看指定</a:t>
            </a:r>
            <a:r>
              <a:rPr lang="en-US" altLang="zh-CN"/>
              <a:t>VLAN</a:t>
            </a:r>
            <a:r>
              <a:rPr lang="zh-CN" altLang="en-US"/>
              <a:t>信息</a:t>
            </a:r>
          </a:p>
        </p:txBody>
      </p:sp>
      <p:sp>
        <p:nvSpPr>
          <p:cNvPr id="1945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zh-CN" altLang="en-US"/>
              <a:t>验证</a:t>
            </a:r>
            <a:r>
              <a:rPr lang="en-US" altLang="zh-CN"/>
              <a:t>VLAN</a:t>
            </a:r>
            <a:r>
              <a:rPr lang="zh-CN" altLang="en-US"/>
              <a:t>的配置</a:t>
            </a:r>
            <a:endParaRPr lang="en-US" altLang="en-US"/>
          </a:p>
        </p:txBody>
      </p:sp>
      <p:sp>
        <p:nvSpPr>
          <p:cNvPr id="19460" name="AutoShape 16"/>
          <p:cNvSpPr>
            <a:spLocks noChangeArrowheads="1"/>
          </p:cNvSpPr>
          <p:nvPr/>
        </p:nvSpPr>
        <p:spPr bwMode="auto">
          <a:xfrm>
            <a:off x="2109788" y="1698626"/>
            <a:ext cx="7848600" cy="373063"/>
          </a:xfrm>
          <a:prstGeom prst="roundRect">
            <a:avLst>
              <a:gd name="adj" fmla="val 2898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Switch# show vlan brief</a:t>
            </a:r>
          </a:p>
        </p:txBody>
      </p:sp>
      <p:sp>
        <p:nvSpPr>
          <p:cNvPr id="19461" name="AutoShape 16"/>
          <p:cNvSpPr>
            <a:spLocks noChangeArrowheads="1"/>
          </p:cNvSpPr>
          <p:nvPr/>
        </p:nvSpPr>
        <p:spPr bwMode="auto">
          <a:xfrm>
            <a:off x="2109788" y="2643188"/>
            <a:ext cx="7848600" cy="373062"/>
          </a:xfrm>
          <a:prstGeom prst="roundRect">
            <a:avLst>
              <a:gd name="adj" fmla="val 2898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Switch# show vlan id </a:t>
            </a:r>
            <a:r>
              <a:rPr lang="en-US" altLang="zh-CN" b="1" i="1">
                <a:solidFill>
                  <a:schemeClr val="tx2"/>
                </a:solidFill>
              </a:rPr>
              <a:t>vlan-id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内容占位符 18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1500188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>
                <a:cs typeface="Arial" charset="0"/>
              </a:rPr>
              <a:t>需求描述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创建</a:t>
            </a:r>
            <a:r>
              <a:rPr lang="en-US" altLang="en-US">
                <a:cs typeface="Arial" charset="0"/>
              </a:rPr>
              <a:t>VLAN 10、20</a:t>
            </a:r>
            <a:r>
              <a:rPr lang="zh-CN" altLang="en-US">
                <a:cs typeface="Arial" charset="0"/>
              </a:rPr>
              <a:t>、</a:t>
            </a:r>
            <a:r>
              <a:rPr lang="en-US" altLang="en-US">
                <a:cs typeface="Arial" charset="0"/>
              </a:rPr>
              <a:t>30，VLAN 30命名为caiwu</a:t>
            </a: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如图所示将交换机端口添加到</a:t>
            </a:r>
            <a:r>
              <a:rPr lang="en-US" altLang="zh-CN">
                <a:cs typeface="Arial" charset="0"/>
              </a:rPr>
              <a:t>VLAN</a:t>
            </a:r>
            <a:r>
              <a:rPr lang="zh-CN" altLang="en-US">
                <a:cs typeface="Arial" charset="0"/>
              </a:rPr>
              <a:t>中</a:t>
            </a:r>
            <a:endParaRPr lang="en-US" altLang="zh-CN">
              <a:cs typeface="Arial" charset="0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VLAN</a:t>
            </a:r>
            <a:r>
              <a:rPr lang="zh-CN" altLang="en-US"/>
              <a:t>配置实例</a:t>
            </a:r>
            <a:endParaRPr lang="zh-CN" altLang="zh-CN"/>
          </a:p>
        </p:txBody>
      </p:sp>
      <p:grpSp>
        <p:nvGrpSpPr>
          <p:cNvPr id="2" name="组合 24"/>
          <p:cNvGrpSpPr>
            <a:grpSpLocks/>
          </p:cNvGrpSpPr>
          <p:nvPr/>
        </p:nvGrpSpPr>
        <p:grpSpPr bwMode="auto">
          <a:xfrm>
            <a:off x="3795714" y="3246438"/>
            <a:ext cx="4243387" cy="2203450"/>
            <a:chOff x="2271713" y="3246438"/>
            <a:chExt cx="4244043" cy="2203866"/>
          </a:xfrm>
        </p:grpSpPr>
        <p:pic>
          <p:nvPicPr>
            <p:cNvPr id="20488" name="Picture 6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768725" y="3246438"/>
              <a:ext cx="1366838" cy="584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0489" name="图片 11" descr="asdf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490788" y="4670425"/>
              <a:ext cx="566737" cy="538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0490" name="图片 11" descr="asdf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171950" y="4670425"/>
              <a:ext cx="566738" cy="538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0491" name="图片 11" descr="asdf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721350" y="4670425"/>
              <a:ext cx="566738" cy="538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20492" name="直接连接符 8"/>
            <p:cNvCxnSpPr>
              <a:cxnSpLocks noChangeShapeType="1"/>
            </p:cNvCxnSpPr>
            <p:nvPr/>
          </p:nvCxnSpPr>
          <p:spPr bwMode="auto">
            <a:xfrm rot="16200000" flipH="1">
              <a:off x="4033838" y="4248150"/>
              <a:ext cx="839787" cy="4763"/>
            </a:xfrm>
            <a:prstGeom prst="line">
              <a:avLst/>
            </a:prstGeom>
            <a:noFill/>
            <a:ln w="38100" algn="ctr">
              <a:solidFill>
                <a:schemeClr val="tx2"/>
              </a:solidFill>
              <a:round/>
              <a:headEnd/>
              <a:tailEnd/>
            </a:ln>
          </p:spPr>
        </p:cxnSp>
        <p:cxnSp>
          <p:nvCxnSpPr>
            <p:cNvPr id="20493" name="形状 10"/>
            <p:cNvCxnSpPr>
              <a:cxnSpLocks noChangeShapeType="1"/>
            </p:cNvCxnSpPr>
            <p:nvPr/>
          </p:nvCxnSpPr>
          <p:spPr bwMode="auto">
            <a:xfrm>
              <a:off x="5135563" y="3538538"/>
              <a:ext cx="869950" cy="1131887"/>
            </a:xfrm>
            <a:prstGeom prst="bentConnector2">
              <a:avLst/>
            </a:prstGeom>
            <a:noFill/>
            <a:ln w="38100" algn="ctr">
              <a:solidFill>
                <a:schemeClr val="tx2"/>
              </a:solidFill>
              <a:round/>
              <a:headEnd/>
              <a:tailEnd/>
            </a:ln>
          </p:spPr>
        </p:cxnSp>
        <p:cxnSp>
          <p:nvCxnSpPr>
            <p:cNvPr id="20494" name="形状 11"/>
            <p:cNvCxnSpPr>
              <a:cxnSpLocks noChangeShapeType="1"/>
            </p:cNvCxnSpPr>
            <p:nvPr/>
          </p:nvCxnSpPr>
          <p:spPr bwMode="auto">
            <a:xfrm rot="10800000" flipV="1">
              <a:off x="2773363" y="3538538"/>
              <a:ext cx="995362" cy="1131887"/>
            </a:xfrm>
            <a:prstGeom prst="bentConnector2">
              <a:avLst/>
            </a:prstGeom>
            <a:noFill/>
            <a:ln w="38100" algn="ctr">
              <a:solidFill>
                <a:schemeClr val="tx2"/>
              </a:solidFill>
              <a:round/>
              <a:headEnd/>
              <a:tailEnd/>
            </a:ln>
          </p:spPr>
        </p:cxnSp>
        <p:sp>
          <p:nvSpPr>
            <p:cNvPr id="20495" name="矩形 14"/>
            <p:cNvSpPr>
              <a:spLocks noChangeArrowheads="1"/>
            </p:cNvSpPr>
            <p:nvPr/>
          </p:nvSpPr>
          <p:spPr bwMode="auto">
            <a:xfrm>
              <a:off x="3845873" y="3503921"/>
              <a:ext cx="882650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b="1">
                  <a:solidFill>
                    <a:schemeClr val="bg1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交换机</a:t>
              </a:r>
              <a:endParaRPr lang="zh-CN" altLang="en-US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20496" name="TextBox 20"/>
            <p:cNvSpPr txBox="1">
              <a:spLocks noChangeArrowheads="1"/>
            </p:cNvSpPr>
            <p:nvPr/>
          </p:nvSpPr>
          <p:spPr bwMode="auto">
            <a:xfrm>
              <a:off x="2271713" y="5108575"/>
              <a:ext cx="1019831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VLAN 10</a:t>
              </a:r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20497" name="TextBox 21"/>
            <p:cNvSpPr txBox="1">
              <a:spLocks noChangeArrowheads="1"/>
            </p:cNvSpPr>
            <p:nvPr/>
          </p:nvSpPr>
          <p:spPr bwMode="auto">
            <a:xfrm>
              <a:off x="5495925" y="5111750"/>
              <a:ext cx="1019831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VLAN 30</a:t>
              </a:r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20498" name="TextBox 22"/>
            <p:cNvSpPr txBox="1">
              <a:spLocks noChangeArrowheads="1"/>
            </p:cNvSpPr>
            <p:nvPr/>
          </p:nvSpPr>
          <p:spPr bwMode="auto">
            <a:xfrm>
              <a:off x="3984625" y="5108575"/>
              <a:ext cx="1019831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VLAN 20</a:t>
              </a:r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20499" name="TextBox 23"/>
            <p:cNvSpPr txBox="1">
              <a:spLocks noChangeArrowheads="1"/>
            </p:cNvSpPr>
            <p:nvPr/>
          </p:nvSpPr>
          <p:spPr bwMode="auto">
            <a:xfrm>
              <a:off x="2709863" y="3246438"/>
              <a:ext cx="1170513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F0/5~F0/10</a:t>
              </a:r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20500" name="TextBox 24"/>
            <p:cNvSpPr txBox="1">
              <a:spLocks noChangeArrowheads="1"/>
            </p:cNvSpPr>
            <p:nvPr/>
          </p:nvSpPr>
          <p:spPr bwMode="auto">
            <a:xfrm>
              <a:off x="5046663" y="3246438"/>
              <a:ext cx="127310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F0/16~F0/20</a:t>
              </a:r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20501" name="TextBox 25"/>
            <p:cNvSpPr txBox="1">
              <a:spLocks noChangeArrowheads="1"/>
            </p:cNvSpPr>
            <p:nvPr/>
          </p:nvSpPr>
          <p:spPr bwMode="auto">
            <a:xfrm>
              <a:off x="4387850" y="3757613"/>
              <a:ext cx="1261756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F0/11~F0/15</a:t>
              </a:r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sp>
        <p:nvSpPr>
          <p:cNvPr id="26" name="AutoShape 16"/>
          <p:cNvSpPr>
            <a:spLocks noChangeArrowheads="1"/>
          </p:cNvSpPr>
          <p:nvPr/>
        </p:nvSpPr>
        <p:spPr bwMode="auto">
          <a:xfrm>
            <a:off x="2109789" y="1214439"/>
            <a:ext cx="3914775" cy="1608137"/>
          </a:xfrm>
          <a:prstGeom prst="roundRect">
            <a:avLst>
              <a:gd name="adj" fmla="val 205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 eaLnBrk="0" hangingPunct="0">
              <a:lnSpc>
                <a:spcPct val="110000"/>
              </a:lnSpc>
            </a:pPr>
            <a:r>
              <a:rPr lang="en-US" altLang="zh-CN" b="1">
                <a:solidFill>
                  <a:schemeClr val="tx2"/>
                </a:solidFill>
              </a:rPr>
              <a:t>Switch(config)#vlan 10,20</a:t>
            </a:r>
          </a:p>
          <a:p>
            <a:pPr marL="95250" lvl="1" eaLnBrk="0" hangingPunct="0">
              <a:lnSpc>
                <a:spcPct val="110000"/>
              </a:lnSpc>
            </a:pPr>
            <a:r>
              <a:rPr lang="en-US" altLang="zh-CN" b="1">
                <a:solidFill>
                  <a:schemeClr val="tx2"/>
                </a:solidFill>
              </a:rPr>
              <a:t>Switch(config-vlan)#exit </a:t>
            </a:r>
          </a:p>
          <a:p>
            <a:pPr marL="95250" lvl="1" eaLnBrk="0" hangingPunct="0">
              <a:lnSpc>
                <a:spcPct val="110000"/>
              </a:lnSpc>
            </a:pPr>
            <a:r>
              <a:rPr lang="en-US" altLang="zh-CN" b="1">
                <a:solidFill>
                  <a:schemeClr val="tx2"/>
                </a:solidFill>
              </a:rPr>
              <a:t>Switch(config)#vlan 30</a:t>
            </a:r>
          </a:p>
          <a:p>
            <a:pPr marL="95250" lvl="1" eaLnBrk="0" hangingPunct="0">
              <a:lnSpc>
                <a:spcPct val="110000"/>
              </a:lnSpc>
            </a:pPr>
            <a:r>
              <a:rPr lang="en-US" altLang="zh-CN" b="1">
                <a:solidFill>
                  <a:schemeClr val="tx2"/>
                </a:solidFill>
              </a:rPr>
              <a:t>Switch(config-vlan)#</a:t>
            </a:r>
            <a:r>
              <a:rPr lang="en-US" altLang="zh-CN" b="1">
                <a:solidFill>
                  <a:srgbClr val="FF0000"/>
                </a:solidFill>
              </a:rPr>
              <a:t>name caiwu</a:t>
            </a:r>
          </a:p>
          <a:p>
            <a:pPr marL="95250" lvl="1" eaLnBrk="0" hangingPunct="0">
              <a:lnSpc>
                <a:spcPct val="110000"/>
              </a:lnSpc>
            </a:pPr>
            <a:r>
              <a:rPr lang="en-US" altLang="zh-CN" b="1">
                <a:solidFill>
                  <a:schemeClr val="tx2"/>
                </a:solidFill>
              </a:rPr>
              <a:t>Switch(config-vlan)#exit</a:t>
            </a:r>
          </a:p>
        </p:txBody>
      </p:sp>
      <p:sp>
        <p:nvSpPr>
          <p:cNvPr id="27" name="AutoShape 16"/>
          <p:cNvSpPr>
            <a:spLocks noChangeArrowheads="1"/>
          </p:cNvSpPr>
          <p:nvPr/>
        </p:nvSpPr>
        <p:spPr bwMode="auto">
          <a:xfrm>
            <a:off x="2109788" y="2941639"/>
            <a:ext cx="7848600" cy="3748087"/>
          </a:xfrm>
          <a:prstGeom prst="roundRect">
            <a:avLst>
              <a:gd name="adj" fmla="val 1486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 eaLnBrk="0" hangingPunct="0">
              <a:lnSpc>
                <a:spcPct val="110000"/>
              </a:lnSpc>
            </a:pPr>
            <a:r>
              <a:rPr lang="en-US" altLang="zh-CN" b="1">
                <a:solidFill>
                  <a:schemeClr val="tx2"/>
                </a:solidFill>
              </a:rPr>
              <a:t>Switch(config)#interface </a:t>
            </a:r>
            <a:r>
              <a:rPr lang="en-US" altLang="zh-CN" b="1">
                <a:solidFill>
                  <a:srgbClr val="FF0000"/>
                </a:solidFill>
              </a:rPr>
              <a:t>range</a:t>
            </a:r>
            <a:r>
              <a:rPr lang="en-US" altLang="zh-CN" b="1">
                <a:solidFill>
                  <a:schemeClr val="tx2"/>
                </a:solidFill>
              </a:rPr>
              <a:t> f0/5 – 10</a:t>
            </a:r>
          </a:p>
          <a:p>
            <a:pPr marL="95250" lvl="1" eaLnBrk="0" hangingPunct="0">
              <a:lnSpc>
                <a:spcPct val="110000"/>
              </a:lnSpc>
            </a:pPr>
            <a:r>
              <a:rPr lang="en-US" altLang="zh-CN" b="1">
                <a:solidFill>
                  <a:schemeClr val="tx2"/>
                </a:solidFill>
              </a:rPr>
              <a:t>Switch(config-if-range)#switchport mode access</a:t>
            </a:r>
          </a:p>
          <a:p>
            <a:pPr marL="95250" lvl="1" eaLnBrk="0" hangingPunct="0">
              <a:lnSpc>
                <a:spcPct val="110000"/>
              </a:lnSpc>
            </a:pPr>
            <a:r>
              <a:rPr lang="en-US" altLang="zh-CN" b="1">
                <a:solidFill>
                  <a:schemeClr val="tx2"/>
                </a:solidFill>
              </a:rPr>
              <a:t>Switch(config-if-range)#</a:t>
            </a:r>
            <a:r>
              <a:rPr lang="en-US" altLang="zh-CN" b="1">
                <a:solidFill>
                  <a:srgbClr val="FF0000"/>
                </a:solidFill>
              </a:rPr>
              <a:t>switchport access vlan 10</a:t>
            </a:r>
          </a:p>
          <a:p>
            <a:pPr marL="95250" lvl="1" eaLnBrk="0" hangingPunct="0">
              <a:lnSpc>
                <a:spcPct val="110000"/>
              </a:lnSpc>
            </a:pPr>
            <a:r>
              <a:rPr lang="en-US" altLang="zh-CN" b="1">
                <a:solidFill>
                  <a:schemeClr val="tx2"/>
                </a:solidFill>
              </a:rPr>
              <a:t>Switch(config-if-range)#exit</a:t>
            </a:r>
          </a:p>
          <a:p>
            <a:pPr marL="95250" lvl="1" eaLnBrk="0" hangingPunct="0">
              <a:lnSpc>
                <a:spcPct val="110000"/>
              </a:lnSpc>
            </a:pPr>
            <a:r>
              <a:rPr lang="en-US" altLang="zh-CN" b="1">
                <a:solidFill>
                  <a:schemeClr val="tx2"/>
                </a:solidFill>
              </a:rPr>
              <a:t>Switch(config)#interface </a:t>
            </a:r>
            <a:r>
              <a:rPr lang="en-US" altLang="zh-CN" b="1">
                <a:solidFill>
                  <a:srgbClr val="FF0000"/>
                </a:solidFill>
              </a:rPr>
              <a:t>range</a:t>
            </a:r>
            <a:r>
              <a:rPr lang="en-US" altLang="zh-CN" b="1">
                <a:solidFill>
                  <a:schemeClr val="tx2"/>
                </a:solidFill>
              </a:rPr>
              <a:t> f0/11 – 15</a:t>
            </a:r>
          </a:p>
          <a:p>
            <a:pPr marL="95250" lvl="1" eaLnBrk="0" hangingPunct="0">
              <a:lnSpc>
                <a:spcPct val="110000"/>
              </a:lnSpc>
            </a:pPr>
            <a:r>
              <a:rPr lang="en-US" altLang="zh-CN" b="1">
                <a:solidFill>
                  <a:schemeClr val="tx2"/>
                </a:solidFill>
              </a:rPr>
              <a:t>Switch(config-if-range)#switchport mode access</a:t>
            </a:r>
          </a:p>
          <a:p>
            <a:pPr marL="95250" lvl="1" eaLnBrk="0" hangingPunct="0">
              <a:lnSpc>
                <a:spcPct val="110000"/>
              </a:lnSpc>
            </a:pPr>
            <a:r>
              <a:rPr lang="en-US" altLang="zh-CN" b="1">
                <a:solidFill>
                  <a:schemeClr val="tx2"/>
                </a:solidFill>
              </a:rPr>
              <a:t>Switch(config-if-range)#</a:t>
            </a:r>
            <a:r>
              <a:rPr lang="en-US" altLang="zh-CN" b="1">
                <a:solidFill>
                  <a:srgbClr val="FF0000"/>
                </a:solidFill>
              </a:rPr>
              <a:t>switchport access vlan 20</a:t>
            </a:r>
          </a:p>
          <a:p>
            <a:pPr marL="95250" lvl="1" eaLnBrk="0" hangingPunct="0">
              <a:lnSpc>
                <a:spcPct val="110000"/>
              </a:lnSpc>
            </a:pPr>
            <a:r>
              <a:rPr lang="en-US" altLang="zh-CN" b="1">
                <a:solidFill>
                  <a:schemeClr val="tx2"/>
                </a:solidFill>
              </a:rPr>
              <a:t>Switch(config-if-range)#exit</a:t>
            </a:r>
          </a:p>
          <a:p>
            <a:pPr marL="95250" lvl="1" eaLnBrk="0" hangingPunct="0">
              <a:lnSpc>
                <a:spcPct val="110000"/>
              </a:lnSpc>
            </a:pPr>
            <a:r>
              <a:rPr lang="en-US" altLang="zh-CN" b="1">
                <a:solidFill>
                  <a:schemeClr val="tx2"/>
                </a:solidFill>
              </a:rPr>
              <a:t>Switch(config)#interface </a:t>
            </a:r>
            <a:r>
              <a:rPr lang="en-US" altLang="zh-CN" b="1">
                <a:solidFill>
                  <a:srgbClr val="FF0000"/>
                </a:solidFill>
              </a:rPr>
              <a:t>range</a:t>
            </a:r>
            <a:r>
              <a:rPr lang="en-US" altLang="zh-CN" b="1">
                <a:solidFill>
                  <a:schemeClr val="tx2"/>
                </a:solidFill>
              </a:rPr>
              <a:t> f0/16 – 20</a:t>
            </a:r>
          </a:p>
          <a:p>
            <a:pPr marL="95250" lvl="1" eaLnBrk="0" hangingPunct="0">
              <a:lnSpc>
                <a:spcPct val="110000"/>
              </a:lnSpc>
            </a:pPr>
            <a:r>
              <a:rPr lang="en-US" altLang="zh-CN" b="1">
                <a:solidFill>
                  <a:schemeClr val="tx2"/>
                </a:solidFill>
              </a:rPr>
              <a:t>Switch(config-if-range)#switchport mode access</a:t>
            </a:r>
          </a:p>
          <a:p>
            <a:pPr marL="95250" lvl="1" eaLnBrk="0" hangingPunct="0">
              <a:lnSpc>
                <a:spcPct val="110000"/>
              </a:lnSpc>
            </a:pPr>
            <a:r>
              <a:rPr lang="en-US" altLang="zh-CN" b="1">
                <a:solidFill>
                  <a:schemeClr val="tx2"/>
                </a:solidFill>
              </a:rPr>
              <a:t>Switch(config-if-range)#</a:t>
            </a:r>
            <a:r>
              <a:rPr lang="en-US" altLang="zh-CN" b="1">
                <a:solidFill>
                  <a:srgbClr val="FF0000"/>
                </a:solidFill>
              </a:rPr>
              <a:t>switchport access vlan 30</a:t>
            </a:r>
          </a:p>
          <a:p>
            <a:pPr marL="95250" lvl="1" eaLnBrk="0" hangingPunct="0">
              <a:lnSpc>
                <a:spcPct val="110000"/>
              </a:lnSpc>
            </a:pPr>
            <a:r>
              <a:rPr lang="en-US" altLang="zh-CN" b="1">
                <a:solidFill>
                  <a:schemeClr val="tx2"/>
                </a:solidFill>
              </a:rPr>
              <a:t>Switch(config-if-range)#end</a:t>
            </a:r>
          </a:p>
        </p:txBody>
      </p:sp>
      <p:sp>
        <p:nvSpPr>
          <p:cNvPr id="28" name="AutoShape 16"/>
          <p:cNvSpPr>
            <a:spLocks noChangeArrowheads="1"/>
          </p:cNvSpPr>
          <p:nvPr/>
        </p:nvSpPr>
        <p:spPr bwMode="auto">
          <a:xfrm>
            <a:off x="2109788" y="1266825"/>
            <a:ext cx="7848600" cy="4662488"/>
          </a:xfrm>
          <a:prstGeom prst="roundRect">
            <a:avLst>
              <a:gd name="adj" fmla="val 1486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 eaLnBrk="0" hangingPunct="0">
              <a:lnSpc>
                <a:spcPct val="110000"/>
              </a:lnSpc>
            </a:pPr>
            <a:r>
              <a:rPr lang="en-US" altLang="zh-CN" b="1">
                <a:solidFill>
                  <a:schemeClr val="tx2"/>
                </a:solidFill>
              </a:rPr>
              <a:t>Switch#show vlan brief</a:t>
            </a:r>
          </a:p>
          <a:p>
            <a:pPr marL="95250" lvl="1" eaLnBrk="0" hangingPunct="0">
              <a:lnSpc>
                <a:spcPct val="110000"/>
              </a:lnSpc>
            </a:pPr>
            <a:r>
              <a:rPr lang="en-US" altLang="zh-CN" b="1">
                <a:solidFill>
                  <a:schemeClr val="tx2"/>
                </a:solidFill>
              </a:rPr>
              <a:t>VLAN  Name                            Status       Ports</a:t>
            </a:r>
          </a:p>
          <a:p>
            <a:pPr marL="95250" lvl="1" eaLnBrk="0" hangingPunct="0">
              <a:lnSpc>
                <a:spcPct val="110000"/>
              </a:lnSpc>
            </a:pPr>
            <a:r>
              <a:rPr lang="en-US" altLang="zh-CN" b="1">
                <a:solidFill>
                  <a:schemeClr val="tx2"/>
                </a:solidFill>
              </a:rPr>
              <a:t>----       ---------------------------      ---------      -------------------------------</a:t>
            </a:r>
          </a:p>
          <a:p>
            <a:pPr marL="95250" lvl="1" eaLnBrk="0" hangingPunct="0">
              <a:lnSpc>
                <a:spcPct val="110000"/>
              </a:lnSpc>
            </a:pPr>
            <a:r>
              <a:rPr lang="en-US" altLang="zh-CN" b="1">
                <a:solidFill>
                  <a:schemeClr val="tx2"/>
                </a:solidFill>
              </a:rPr>
              <a:t>1          default                          active       Fa0/1, Fa0/2, Fa0/3, Fa0/4</a:t>
            </a:r>
          </a:p>
          <a:p>
            <a:pPr marL="95250" lvl="1" eaLnBrk="0" hangingPunct="0">
              <a:lnSpc>
                <a:spcPct val="110000"/>
              </a:lnSpc>
            </a:pPr>
            <a:r>
              <a:rPr lang="en-US" altLang="zh-CN" b="1">
                <a:solidFill>
                  <a:schemeClr val="tx2"/>
                </a:solidFill>
              </a:rPr>
              <a:t>                                                                   Fa0/21, Fa0/22,Fa0/23, Fa0/24</a:t>
            </a:r>
          </a:p>
          <a:p>
            <a:pPr marL="95250" lvl="1" eaLnBrk="0" hangingPunct="0">
              <a:lnSpc>
                <a:spcPct val="110000"/>
              </a:lnSpc>
            </a:pPr>
            <a:r>
              <a:rPr lang="en-US" altLang="zh-CN" b="1">
                <a:solidFill>
                  <a:srgbClr val="FF0000"/>
                </a:solidFill>
              </a:rPr>
              <a:t>10        VLAN0010                    active       Fa0/5, Fa0/6, Fa0/7, Fa0/8</a:t>
            </a:r>
          </a:p>
          <a:p>
            <a:pPr marL="95250" lvl="1" eaLnBrk="0" hangingPunct="0">
              <a:lnSpc>
                <a:spcPct val="110000"/>
              </a:lnSpc>
            </a:pPr>
            <a:r>
              <a:rPr lang="en-US" altLang="zh-CN" b="1">
                <a:solidFill>
                  <a:srgbClr val="FF0000"/>
                </a:solidFill>
              </a:rPr>
              <a:t>                                                                   Fa0/9, Fa0/10</a:t>
            </a:r>
          </a:p>
          <a:p>
            <a:pPr marL="95250" lvl="1" eaLnBrk="0" hangingPunct="0">
              <a:lnSpc>
                <a:spcPct val="110000"/>
              </a:lnSpc>
            </a:pPr>
            <a:r>
              <a:rPr lang="en-US" altLang="zh-CN" b="1">
                <a:solidFill>
                  <a:schemeClr val="tx2"/>
                </a:solidFill>
              </a:rPr>
              <a:t>20        VLAN0020                    active       Fa0/11, Fa0/12, Fa0/13, Fa0/14</a:t>
            </a:r>
          </a:p>
          <a:p>
            <a:pPr marL="95250" lvl="1" eaLnBrk="0" hangingPunct="0">
              <a:lnSpc>
                <a:spcPct val="110000"/>
              </a:lnSpc>
            </a:pPr>
            <a:r>
              <a:rPr lang="en-US" altLang="zh-CN" b="1">
                <a:solidFill>
                  <a:schemeClr val="tx2"/>
                </a:solidFill>
              </a:rPr>
              <a:t>                                                                   Fa0/15 </a:t>
            </a:r>
          </a:p>
          <a:p>
            <a:pPr marL="95250" lvl="1" eaLnBrk="0" hangingPunct="0">
              <a:lnSpc>
                <a:spcPct val="110000"/>
              </a:lnSpc>
            </a:pPr>
            <a:r>
              <a:rPr lang="en-US" altLang="zh-CN" b="1">
                <a:solidFill>
                  <a:srgbClr val="FF0000"/>
                </a:solidFill>
              </a:rPr>
              <a:t>30        caiwu                            active       Fa0/16, Fa0/17, Fa0/18,Fa0/19 </a:t>
            </a:r>
          </a:p>
          <a:p>
            <a:pPr marL="95250" lvl="1" eaLnBrk="0" hangingPunct="0">
              <a:lnSpc>
                <a:spcPct val="110000"/>
              </a:lnSpc>
            </a:pPr>
            <a:r>
              <a:rPr lang="en-US" altLang="zh-CN" b="1">
                <a:solidFill>
                  <a:srgbClr val="FF0000"/>
                </a:solidFill>
              </a:rPr>
              <a:t>                                      	                          Fa0/20</a:t>
            </a:r>
          </a:p>
          <a:p>
            <a:pPr marL="95250" lvl="1" eaLnBrk="0" hangingPunct="0">
              <a:lnSpc>
                <a:spcPct val="110000"/>
              </a:lnSpc>
            </a:pPr>
            <a:r>
              <a:rPr lang="en-US" altLang="zh-CN" b="1">
                <a:solidFill>
                  <a:schemeClr val="tx2"/>
                </a:solidFill>
              </a:rPr>
              <a:t>1002   fddi-default                   act/unsup</a:t>
            </a:r>
          </a:p>
          <a:p>
            <a:pPr marL="95250" lvl="1" eaLnBrk="0" hangingPunct="0">
              <a:lnSpc>
                <a:spcPct val="110000"/>
              </a:lnSpc>
            </a:pPr>
            <a:r>
              <a:rPr lang="en-US" altLang="zh-CN" b="1">
                <a:solidFill>
                  <a:schemeClr val="tx2"/>
                </a:solidFill>
              </a:rPr>
              <a:t>1003   token-ring-default        act/unsup</a:t>
            </a:r>
          </a:p>
          <a:p>
            <a:pPr marL="95250" lvl="1" eaLnBrk="0" hangingPunct="0">
              <a:lnSpc>
                <a:spcPct val="110000"/>
              </a:lnSpc>
            </a:pPr>
            <a:r>
              <a:rPr lang="en-US" altLang="zh-CN" b="1">
                <a:solidFill>
                  <a:schemeClr val="tx2"/>
                </a:solidFill>
              </a:rPr>
              <a:t>1004   fddinet-default              act/unsup</a:t>
            </a:r>
          </a:p>
          <a:p>
            <a:pPr marL="95250" lvl="1" eaLnBrk="0" hangingPunct="0">
              <a:lnSpc>
                <a:spcPct val="110000"/>
              </a:lnSpc>
            </a:pPr>
            <a:r>
              <a:rPr lang="en-US" altLang="zh-CN" b="1">
                <a:solidFill>
                  <a:schemeClr val="tx2"/>
                </a:solidFill>
              </a:rPr>
              <a:t>1005   trnet-default                  act/unsup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-0.33302  E" pathEditMode="relative" ptsTypes="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70000" y="7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  <p:bldP spid="26" grpId="0" animBg="1"/>
      <p:bldP spid="26" grpId="1" animBg="1"/>
      <p:bldP spid="27" grpId="0" animBg="1"/>
      <p:bldP spid="27" grpId="1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>
                <a:cs typeface="Arial" charset="0"/>
              </a:rPr>
              <a:t>请思考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如下图所示，交换机连接</a:t>
            </a:r>
            <a:r>
              <a:rPr lang="en-US" altLang="zh-CN">
                <a:cs typeface="Arial" charset="0"/>
              </a:rPr>
              <a:t>4</a:t>
            </a:r>
            <a:r>
              <a:rPr lang="zh-CN" altLang="en-US">
                <a:cs typeface="Arial" charset="0"/>
              </a:rPr>
              <a:t>台电脑，连接到</a:t>
            </a:r>
            <a:r>
              <a:rPr lang="en-US" altLang="zh-CN">
                <a:cs typeface="Arial" charset="0"/>
              </a:rPr>
              <a:t>1</a:t>
            </a:r>
            <a:r>
              <a:rPr lang="zh-CN" altLang="en-US">
                <a:cs typeface="Arial" charset="0"/>
              </a:rPr>
              <a:t>、</a:t>
            </a:r>
            <a:r>
              <a:rPr lang="en-US" altLang="zh-CN">
                <a:cs typeface="Arial" charset="0"/>
              </a:rPr>
              <a:t>2</a:t>
            </a:r>
            <a:r>
              <a:rPr lang="zh-CN" altLang="en-US">
                <a:cs typeface="Arial" charset="0"/>
              </a:rPr>
              <a:t>、</a:t>
            </a:r>
            <a:r>
              <a:rPr lang="en-US" altLang="zh-CN">
                <a:cs typeface="Arial" charset="0"/>
              </a:rPr>
              <a:t>3</a:t>
            </a:r>
            <a:r>
              <a:rPr lang="zh-CN" altLang="en-US">
                <a:cs typeface="Arial" charset="0"/>
              </a:rPr>
              <a:t>、</a:t>
            </a:r>
            <a:r>
              <a:rPr lang="en-US" altLang="zh-CN">
                <a:cs typeface="Arial" charset="0"/>
              </a:rPr>
              <a:t>4</a:t>
            </a:r>
            <a:r>
              <a:rPr lang="zh-CN" altLang="en-US">
                <a:cs typeface="Arial" charset="0"/>
              </a:rPr>
              <a:t>端口上，分别属于</a:t>
            </a:r>
            <a:r>
              <a:rPr lang="en-US" altLang="zh-CN">
                <a:cs typeface="Arial" charset="0"/>
              </a:rPr>
              <a:t>VLAN1</a:t>
            </a:r>
            <a:r>
              <a:rPr lang="zh-CN" altLang="en-US">
                <a:cs typeface="Arial" charset="0"/>
              </a:rPr>
              <a:t>、</a:t>
            </a:r>
            <a:r>
              <a:rPr lang="en-US" altLang="zh-CN">
                <a:cs typeface="Arial" charset="0"/>
              </a:rPr>
              <a:t>2</a:t>
            </a:r>
            <a:r>
              <a:rPr lang="zh-CN" altLang="en-US">
                <a:cs typeface="Arial" charset="0"/>
              </a:rPr>
              <a:t>、</a:t>
            </a:r>
            <a:r>
              <a:rPr lang="en-US" altLang="zh-CN">
                <a:cs typeface="Arial" charset="0"/>
              </a:rPr>
              <a:t>3</a:t>
            </a:r>
            <a:r>
              <a:rPr lang="zh-CN" altLang="en-US">
                <a:cs typeface="Arial" charset="0"/>
              </a:rPr>
              <a:t>、</a:t>
            </a:r>
            <a:r>
              <a:rPr lang="en-US" altLang="zh-CN">
                <a:cs typeface="Arial" charset="0"/>
              </a:rPr>
              <a:t>4</a:t>
            </a:r>
            <a:r>
              <a:rPr lang="zh-CN" altLang="en-US">
                <a:cs typeface="Arial" charset="0"/>
              </a:rPr>
              <a:t>，请按照要求在交换机上做相应的配置。 </a:t>
            </a:r>
          </a:p>
          <a:p>
            <a:pPr lvl="1">
              <a:spcBef>
                <a:spcPts val="475"/>
              </a:spcBef>
            </a:pPr>
            <a:endParaRPr lang="zh-CN" altLang="en-US">
              <a:cs typeface="Arial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小结</a:t>
            </a: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3309938" y="2784476"/>
            <a:ext cx="6208712" cy="2144713"/>
            <a:chOff x="1338" y="2298"/>
            <a:chExt cx="3911" cy="1351"/>
          </a:xfrm>
        </p:grpSpPr>
        <p:sp>
          <p:nvSpPr>
            <p:cNvPr id="21509" name="Line 21"/>
            <p:cNvSpPr>
              <a:spLocks noChangeShapeType="1"/>
            </p:cNvSpPr>
            <p:nvPr/>
          </p:nvSpPr>
          <p:spPr bwMode="auto">
            <a:xfrm>
              <a:off x="2200" y="2930"/>
              <a:ext cx="1088" cy="0"/>
            </a:xfrm>
            <a:prstGeom prst="line">
              <a:avLst/>
            </a:prstGeom>
            <a:noFill/>
            <a:ln w="19050">
              <a:solidFill>
                <a:srgbClr val="9DB6FB"/>
              </a:solidFill>
              <a:round/>
              <a:headEnd/>
              <a:tailEnd/>
            </a:ln>
            <a:effectLst>
              <a:prstShdw prst="shdw17" dist="17961" dir="2700000">
                <a:srgbClr val="5E6D97"/>
              </a:prstShdw>
            </a:effectLst>
          </p:spPr>
          <p:txBody>
            <a:bodyPr anchor="b"/>
            <a:lstStyle/>
            <a:p>
              <a:endParaRPr lang="zh-CN" altLang="en-US"/>
            </a:p>
          </p:txBody>
        </p:sp>
        <p:sp>
          <p:nvSpPr>
            <p:cNvPr id="21510" name="Line 22"/>
            <p:cNvSpPr>
              <a:spLocks noChangeShapeType="1"/>
            </p:cNvSpPr>
            <p:nvPr/>
          </p:nvSpPr>
          <p:spPr bwMode="auto">
            <a:xfrm>
              <a:off x="2200" y="3022"/>
              <a:ext cx="1224" cy="0"/>
            </a:xfrm>
            <a:prstGeom prst="line">
              <a:avLst/>
            </a:prstGeom>
            <a:noFill/>
            <a:ln w="19050">
              <a:solidFill>
                <a:srgbClr val="9DB6FB"/>
              </a:solidFill>
              <a:round/>
              <a:headEnd/>
              <a:tailEnd/>
            </a:ln>
            <a:effectLst>
              <a:prstShdw prst="shdw17" dist="17961" dir="2700000">
                <a:srgbClr val="5E6D97"/>
              </a:prstShdw>
            </a:effectLst>
          </p:spPr>
          <p:txBody>
            <a:bodyPr anchor="b"/>
            <a:lstStyle/>
            <a:p>
              <a:endParaRPr lang="zh-CN" altLang="en-US"/>
            </a:p>
          </p:txBody>
        </p:sp>
        <p:sp>
          <p:nvSpPr>
            <p:cNvPr id="21511" name="Line 23"/>
            <p:cNvSpPr>
              <a:spLocks noChangeShapeType="1"/>
            </p:cNvSpPr>
            <p:nvPr/>
          </p:nvSpPr>
          <p:spPr bwMode="auto">
            <a:xfrm>
              <a:off x="2109" y="3112"/>
              <a:ext cx="1315" cy="0"/>
            </a:xfrm>
            <a:prstGeom prst="line">
              <a:avLst/>
            </a:prstGeom>
            <a:noFill/>
            <a:ln w="19050">
              <a:solidFill>
                <a:srgbClr val="9DB6FB"/>
              </a:solidFill>
              <a:round/>
              <a:headEnd/>
              <a:tailEnd/>
            </a:ln>
            <a:effectLst>
              <a:prstShdw prst="shdw17" dist="17961" dir="2700000">
                <a:srgbClr val="5E6D97"/>
              </a:prstShdw>
            </a:effectLst>
          </p:spPr>
          <p:txBody>
            <a:bodyPr anchor="b"/>
            <a:lstStyle/>
            <a:p>
              <a:endParaRPr lang="zh-CN" altLang="en-US"/>
            </a:p>
          </p:txBody>
        </p:sp>
        <p:sp>
          <p:nvSpPr>
            <p:cNvPr id="21512" name="Line 24"/>
            <p:cNvSpPr>
              <a:spLocks noChangeShapeType="1"/>
            </p:cNvSpPr>
            <p:nvPr/>
          </p:nvSpPr>
          <p:spPr bwMode="auto">
            <a:xfrm>
              <a:off x="2018" y="3203"/>
              <a:ext cx="1224" cy="0"/>
            </a:xfrm>
            <a:prstGeom prst="line">
              <a:avLst/>
            </a:prstGeom>
            <a:noFill/>
            <a:ln w="19050">
              <a:solidFill>
                <a:srgbClr val="9DB6FB"/>
              </a:solidFill>
              <a:round/>
              <a:headEnd/>
              <a:tailEnd/>
            </a:ln>
            <a:effectLst>
              <a:prstShdw prst="shdw17" dist="17961" dir="2700000">
                <a:srgbClr val="5E6D97"/>
              </a:prstShdw>
            </a:effectLst>
          </p:spPr>
          <p:txBody>
            <a:bodyPr anchor="b"/>
            <a:lstStyle/>
            <a:p>
              <a:endParaRPr lang="zh-CN" altLang="en-US"/>
            </a:p>
          </p:txBody>
        </p:sp>
        <p:sp>
          <p:nvSpPr>
            <p:cNvPr id="21513" name="Line 25"/>
            <p:cNvSpPr>
              <a:spLocks noChangeShapeType="1"/>
            </p:cNvSpPr>
            <p:nvPr/>
          </p:nvSpPr>
          <p:spPr bwMode="auto">
            <a:xfrm flipV="1">
              <a:off x="3288" y="2476"/>
              <a:ext cx="0" cy="454"/>
            </a:xfrm>
            <a:prstGeom prst="line">
              <a:avLst/>
            </a:prstGeom>
            <a:noFill/>
            <a:ln w="19050">
              <a:solidFill>
                <a:srgbClr val="9DB6FB"/>
              </a:solidFill>
              <a:round/>
              <a:headEnd/>
              <a:tailEnd/>
            </a:ln>
            <a:effectLst>
              <a:prstShdw prst="shdw17" dist="17961" dir="2700000">
                <a:srgbClr val="5E6D97"/>
              </a:prstShdw>
            </a:effectLst>
          </p:spPr>
          <p:txBody>
            <a:bodyPr anchor="b"/>
            <a:lstStyle/>
            <a:p>
              <a:endParaRPr lang="zh-CN" altLang="en-US"/>
            </a:p>
          </p:txBody>
        </p:sp>
        <p:sp>
          <p:nvSpPr>
            <p:cNvPr id="21514" name="Line 26"/>
            <p:cNvSpPr>
              <a:spLocks noChangeShapeType="1"/>
            </p:cNvSpPr>
            <p:nvPr/>
          </p:nvSpPr>
          <p:spPr bwMode="auto">
            <a:xfrm flipV="1">
              <a:off x="3243" y="3204"/>
              <a:ext cx="0" cy="316"/>
            </a:xfrm>
            <a:prstGeom prst="line">
              <a:avLst/>
            </a:prstGeom>
            <a:noFill/>
            <a:ln w="19050">
              <a:solidFill>
                <a:srgbClr val="9DB6FB"/>
              </a:solidFill>
              <a:round/>
              <a:headEnd/>
              <a:tailEnd/>
            </a:ln>
            <a:effectLst>
              <a:prstShdw prst="shdw17" dist="17961" dir="2700000">
                <a:srgbClr val="5E6D97"/>
              </a:prstShdw>
            </a:effectLst>
          </p:spPr>
          <p:txBody>
            <a:bodyPr anchor="b"/>
            <a:lstStyle/>
            <a:p>
              <a:endParaRPr lang="zh-CN" altLang="en-US"/>
            </a:p>
          </p:txBody>
        </p:sp>
        <p:sp>
          <p:nvSpPr>
            <p:cNvPr id="21515" name="Line 27"/>
            <p:cNvSpPr>
              <a:spLocks noChangeShapeType="1"/>
            </p:cNvSpPr>
            <p:nvPr/>
          </p:nvSpPr>
          <p:spPr bwMode="auto">
            <a:xfrm>
              <a:off x="3288" y="2476"/>
              <a:ext cx="1044" cy="0"/>
            </a:xfrm>
            <a:prstGeom prst="line">
              <a:avLst/>
            </a:prstGeom>
            <a:noFill/>
            <a:ln w="19050">
              <a:solidFill>
                <a:srgbClr val="9DB6FB"/>
              </a:solidFill>
              <a:round/>
              <a:headEnd/>
              <a:tailEnd/>
            </a:ln>
            <a:effectLst>
              <a:prstShdw prst="shdw17" dist="17961" dir="2700000">
                <a:srgbClr val="5E6D97"/>
              </a:prstShdw>
            </a:effectLst>
          </p:spPr>
          <p:txBody>
            <a:bodyPr anchor="b"/>
            <a:lstStyle/>
            <a:p>
              <a:endParaRPr lang="zh-CN" altLang="en-US"/>
            </a:p>
          </p:txBody>
        </p:sp>
        <p:sp>
          <p:nvSpPr>
            <p:cNvPr id="21516" name="Line 28"/>
            <p:cNvSpPr>
              <a:spLocks noChangeShapeType="1"/>
            </p:cNvSpPr>
            <p:nvPr/>
          </p:nvSpPr>
          <p:spPr bwMode="auto">
            <a:xfrm>
              <a:off x="3243" y="3520"/>
              <a:ext cx="181" cy="0"/>
            </a:xfrm>
            <a:prstGeom prst="line">
              <a:avLst/>
            </a:prstGeom>
            <a:noFill/>
            <a:ln w="19050">
              <a:solidFill>
                <a:srgbClr val="9DB6FB"/>
              </a:solidFill>
              <a:round/>
              <a:headEnd/>
              <a:tailEnd/>
            </a:ln>
            <a:effectLst>
              <a:prstShdw prst="shdw17" dist="17961" dir="2700000">
                <a:srgbClr val="5E6D97"/>
              </a:prstShdw>
            </a:effectLst>
          </p:spPr>
          <p:txBody>
            <a:bodyPr anchor="b"/>
            <a:lstStyle/>
            <a:p>
              <a:endParaRPr lang="zh-CN" altLang="en-US"/>
            </a:p>
          </p:txBody>
        </p:sp>
        <p:sp>
          <p:nvSpPr>
            <p:cNvPr id="21517" name="Line 29"/>
            <p:cNvSpPr>
              <a:spLocks noChangeShapeType="1"/>
            </p:cNvSpPr>
            <p:nvPr/>
          </p:nvSpPr>
          <p:spPr bwMode="auto">
            <a:xfrm flipV="1">
              <a:off x="3424" y="2749"/>
              <a:ext cx="0" cy="273"/>
            </a:xfrm>
            <a:prstGeom prst="line">
              <a:avLst/>
            </a:prstGeom>
            <a:noFill/>
            <a:ln w="19050">
              <a:solidFill>
                <a:srgbClr val="9DB6FB"/>
              </a:solidFill>
              <a:round/>
              <a:headEnd/>
              <a:tailEnd/>
            </a:ln>
            <a:effectLst>
              <a:prstShdw prst="shdw17" dist="17961" dir="2700000">
                <a:srgbClr val="5E6D97"/>
              </a:prstShdw>
            </a:effectLst>
          </p:spPr>
          <p:txBody>
            <a:bodyPr anchor="b"/>
            <a:lstStyle/>
            <a:p>
              <a:endParaRPr lang="zh-CN" altLang="en-US"/>
            </a:p>
          </p:txBody>
        </p:sp>
        <p:sp>
          <p:nvSpPr>
            <p:cNvPr id="21518" name="Line 30"/>
            <p:cNvSpPr>
              <a:spLocks noChangeShapeType="1"/>
            </p:cNvSpPr>
            <p:nvPr/>
          </p:nvSpPr>
          <p:spPr bwMode="auto">
            <a:xfrm>
              <a:off x="3424" y="2749"/>
              <a:ext cx="590" cy="0"/>
            </a:xfrm>
            <a:prstGeom prst="line">
              <a:avLst/>
            </a:prstGeom>
            <a:noFill/>
            <a:ln w="19050">
              <a:solidFill>
                <a:srgbClr val="9DB6FB"/>
              </a:solidFill>
              <a:round/>
              <a:headEnd/>
              <a:tailEnd/>
            </a:ln>
            <a:effectLst>
              <a:prstShdw prst="shdw17" dist="17961" dir="2700000">
                <a:srgbClr val="5E6D97"/>
              </a:prstShdw>
            </a:effectLst>
          </p:spPr>
          <p:txBody>
            <a:bodyPr anchor="b"/>
            <a:lstStyle/>
            <a:p>
              <a:endParaRPr lang="zh-CN" altLang="en-US"/>
            </a:p>
          </p:txBody>
        </p:sp>
        <p:sp>
          <p:nvSpPr>
            <p:cNvPr id="21519" name="Line 31"/>
            <p:cNvSpPr>
              <a:spLocks noChangeShapeType="1"/>
            </p:cNvSpPr>
            <p:nvPr/>
          </p:nvSpPr>
          <p:spPr bwMode="auto">
            <a:xfrm flipV="1">
              <a:off x="3424" y="3112"/>
              <a:ext cx="0" cy="136"/>
            </a:xfrm>
            <a:prstGeom prst="line">
              <a:avLst/>
            </a:prstGeom>
            <a:noFill/>
            <a:ln w="19050">
              <a:solidFill>
                <a:srgbClr val="9DB6FB"/>
              </a:solidFill>
              <a:round/>
              <a:headEnd/>
              <a:tailEnd/>
            </a:ln>
            <a:effectLst>
              <a:prstShdw prst="shdw17" dist="17961" dir="2700000">
                <a:srgbClr val="5E6D97"/>
              </a:prstShdw>
            </a:effectLst>
          </p:spPr>
          <p:txBody>
            <a:bodyPr anchor="b"/>
            <a:lstStyle/>
            <a:p>
              <a:endParaRPr lang="zh-CN" altLang="en-US"/>
            </a:p>
          </p:txBody>
        </p:sp>
        <p:sp>
          <p:nvSpPr>
            <p:cNvPr id="21520" name="Line 32"/>
            <p:cNvSpPr>
              <a:spLocks noChangeShapeType="1"/>
            </p:cNvSpPr>
            <p:nvPr/>
          </p:nvSpPr>
          <p:spPr bwMode="auto">
            <a:xfrm>
              <a:off x="3424" y="3248"/>
              <a:ext cx="318" cy="0"/>
            </a:xfrm>
            <a:prstGeom prst="line">
              <a:avLst/>
            </a:prstGeom>
            <a:noFill/>
            <a:ln w="19050">
              <a:solidFill>
                <a:srgbClr val="9DB6FB"/>
              </a:solidFill>
              <a:round/>
              <a:headEnd/>
              <a:tailEnd/>
            </a:ln>
            <a:effectLst>
              <a:prstShdw prst="shdw17" dist="17961" dir="2700000">
                <a:srgbClr val="5E6D97"/>
              </a:prstShdw>
            </a:effectLst>
          </p:spPr>
          <p:txBody>
            <a:bodyPr anchor="b"/>
            <a:lstStyle/>
            <a:p>
              <a:endParaRPr lang="zh-CN" altLang="en-US"/>
            </a:p>
          </p:txBody>
        </p:sp>
        <p:sp>
          <p:nvSpPr>
            <p:cNvPr id="21521" name="Text Box 146"/>
            <p:cNvSpPr txBox="1">
              <a:spLocks noChangeArrowheads="1"/>
            </p:cNvSpPr>
            <p:nvPr/>
          </p:nvSpPr>
          <p:spPr bwMode="auto">
            <a:xfrm>
              <a:off x="4602" y="2346"/>
              <a:ext cx="647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Vlan 1</a:t>
              </a:r>
            </a:p>
          </p:txBody>
        </p:sp>
        <p:sp>
          <p:nvSpPr>
            <p:cNvPr id="21522" name="Text Box 151"/>
            <p:cNvSpPr txBox="1">
              <a:spLocks noChangeArrowheads="1"/>
            </p:cNvSpPr>
            <p:nvPr/>
          </p:nvSpPr>
          <p:spPr bwMode="auto">
            <a:xfrm>
              <a:off x="2359" y="2753"/>
              <a:ext cx="590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21523" name="Text Box 152"/>
            <p:cNvSpPr txBox="1">
              <a:spLocks noChangeArrowheads="1"/>
            </p:cNvSpPr>
            <p:nvPr/>
          </p:nvSpPr>
          <p:spPr bwMode="auto">
            <a:xfrm>
              <a:off x="2274" y="2900"/>
              <a:ext cx="590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21524" name="Text Box 153"/>
            <p:cNvSpPr txBox="1">
              <a:spLocks noChangeArrowheads="1"/>
            </p:cNvSpPr>
            <p:nvPr/>
          </p:nvSpPr>
          <p:spPr bwMode="auto">
            <a:xfrm>
              <a:off x="2168" y="3010"/>
              <a:ext cx="590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21525" name="Text Box 154"/>
            <p:cNvSpPr txBox="1">
              <a:spLocks noChangeArrowheads="1"/>
            </p:cNvSpPr>
            <p:nvPr/>
          </p:nvSpPr>
          <p:spPr bwMode="auto">
            <a:xfrm>
              <a:off x="2060" y="3144"/>
              <a:ext cx="590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4</a:t>
              </a:r>
            </a:p>
          </p:txBody>
        </p:sp>
        <p:pic>
          <p:nvPicPr>
            <p:cNvPr id="21526" name="Picture 6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338" y="2885"/>
              <a:ext cx="861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1527" name="图片 11" descr="asdf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363" y="3310"/>
              <a:ext cx="357" cy="3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1528" name="图片 11" descr="asdf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685" y="3034"/>
              <a:ext cx="357" cy="3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1529" name="图片 11" descr="asdf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984" y="2574"/>
              <a:ext cx="357" cy="3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1530" name="图片 11" descr="asdf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283" y="2298"/>
              <a:ext cx="357" cy="3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531" name="Text Box 146"/>
            <p:cNvSpPr txBox="1">
              <a:spLocks noChangeArrowheads="1"/>
            </p:cNvSpPr>
            <p:nvPr/>
          </p:nvSpPr>
          <p:spPr bwMode="auto">
            <a:xfrm>
              <a:off x="4004" y="3082"/>
              <a:ext cx="647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Vlan 3</a:t>
              </a:r>
            </a:p>
          </p:txBody>
        </p:sp>
        <p:sp>
          <p:nvSpPr>
            <p:cNvPr id="21532" name="Text Box 146"/>
            <p:cNvSpPr txBox="1">
              <a:spLocks noChangeArrowheads="1"/>
            </p:cNvSpPr>
            <p:nvPr/>
          </p:nvSpPr>
          <p:spPr bwMode="auto">
            <a:xfrm>
              <a:off x="4283" y="2642"/>
              <a:ext cx="647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Vlan 2</a:t>
              </a:r>
            </a:p>
          </p:txBody>
        </p:sp>
        <p:sp>
          <p:nvSpPr>
            <p:cNvPr id="21533" name="Text Box 146"/>
            <p:cNvSpPr txBox="1">
              <a:spLocks noChangeArrowheads="1"/>
            </p:cNvSpPr>
            <p:nvPr/>
          </p:nvSpPr>
          <p:spPr bwMode="auto">
            <a:xfrm>
              <a:off x="3705" y="3358"/>
              <a:ext cx="647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Vlan 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直接连接符 64"/>
          <p:cNvCxnSpPr>
            <a:cxnSpLocks noChangeShapeType="1"/>
          </p:cNvCxnSpPr>
          <p:nvPr/>
        </p:nvCxnSpPr>
        <p:spPr bwMode="auto">
          <a:xfrm>
            <a:off x="5449889" y="3916364"/>
            <a:ext cx="1423987" cy="1587"/>
          </a:xfrm>
          <a:prstGeom prst="line">
            <a:avLst/>
          </a:prstGeom>
          <a:noFill/>
          <a:ln w="31750" algn="ctr">
            <a:solidFill>
              <a:srgbClr val="66CCFF"/>
            </a:solidFill>
            <a:round/>
            <a:headEnd/>
            <a:tailEnd/>
          </a:ln>
        </p:spPr>
      </p:cxnSp>
      <p:cxnSp>
        <p:nvCxnSpPr>
          <p:cNvPr id="22531" name="直接连接符 62"/>
          <p:cNvCxnSpPr>
            <a:cxnSpLocks noChangeShapeType="1"/>
          </p:cNvCxnSpPr>
          <p:nvPr/>
        </p:nvCxnSpPr>
        <p:spPr bwMode="auto">
          <a:xfrm>
            <a:off x="7739064" y="4060825"/>
            <a:ext cx="1423987" cy="1588"/>
          </a:xfrm>
          <a:prstGeom prst="line">
            <a:avLst/>
          </a:prstGeom>
          <a:noFill/>
          <a:ln w="31750" algn="ctr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62" name="直接连接符 61"/>
          <p:cNvCxnSpPr>
            <a:cxnSpLocks noChangeShapeType="1"/>
          </p:cNvCxnSpPr>
          <p:nvPr/>
        </p:nvCxnSpPr>
        <p:spPr bwMode="auto">
          <a:xfrm>
            <a:off x="5365750" y="4060825"/>
            <a:ext cx="1423988" cy="1588"/>
          </a:xfrm>
          <a:prstGeom prst="line">
            <a:avLst/>
          </a:prstGeom>
          <a:noFill/>
          <a:ln w="31750" algn="ctr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22533" name="直接连接符 59"/>
          <p:cNvCxnSpPr>
            <a:cxnSpLocks noChangeShapeType="1"/>
          </p:cNvCxnSpPr>
          <p:nvPr/>
        </p:nvCxnSpPr>
        <p:spPr bwMode="auto">
          <a:xfrm>
            <a:off x="3101975" y="4062414"/>
            <a:ext cx="1423988" cy="1587"/>
          </a:xfrm>
          <a:prstGeom prst="line">
            <a:avLst/>
          </a:prstGeom>
          <a:noFill/>
          <a:ln w="31750" algn="ctr">
            <a:solidFill>
              <a:schemeClr val="tx2"/>
            </a:solidFill>
            <a:round/>
            <a:headEnd/>
            <a:tailEnd/>
          </a:ln>
        </p:spPr>
      </p:cxnSp>
      <p:sp>
        <p:nvSpPr>
          <p:cNvPr id="22534" name="内容占位符 2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>
                <a:cs typeface="Arial" charset="0"/>
              </a:rPr>
              <a:t>如何实现交换机之间的</a:t>
            </a:r>
            <a:r>
              <a:rPr lang="en-US" altLang="zh-CN">
                <a:cs typeface="Arial" charset="0"/>
              </a:rPr>
              <a:t>VLAN</a:t>
            </a:r>
            <a:r>
              <a:rPr lang="zh-CN" altLang="en-US">
                <a:cs typeface="Arial" charset="0"/>
              </a:rPr>
              <a:t>通信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为每一个</a:t>
            </a:r>
            <a:r>
              <a:rPr lang="en-US" altLang="zh-CN">
                <a:cs typeface="Arial" charset="0"/>
              </a:rPr>
              <a:t>VLAN</a:t>
            </a:r>
            <a:r>
              <a:rPr lang="zh-CN" altLang="en-US">
                <a:cs typeface="Arial" charset="0"/>
              </a:rPr>
              <a:t>提供一条链路？</a:t>
            </a:r>
          </a:p>
        </p:txBody>
      </p:sp>
      <p:sp>
        <p:nvSpPr>
          <p:cNvPr id="2253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Trunk</a:t>
            </a:r>
            <a:r>
              <a:rPr lang="zh-CN" altLang="en-US"/>
              <a:t>的作用</a:t>
            </a:r>
            <a:r>
              <a:rPr lang="en-US" altLang="zh-CN"/>
              <a:t>2-1</a:t>
            </a:r>
            <a:endParaRPr lang="zh-CN" altLang="en-US"/>
          </a:p>
        </p:txBody>
      </p:sp>
      <p:sp>
        <p:nvSpPr>
          <p:cNvPr id="31" name="Freeform 202"/>
          <p:cNvSpPr>
            <a:spLocks/>
          </p:cNvSpPr>
          <p:nvPr/>
        </p:nvSpPr>
        <p:spPr bwMode="auto">
          <a:xfrm>
            <a:off x="3432176" y="2957513"/>
            <a:ext cx="5491163" cy="819150"/>
          </a:xfrm>
          <a:custGeom>
            <a:avLst/>
            <a:gdLst>
              <a:gd name="T0" fmla="*/ 0 w 3598"/>
              <a:gd name="T1" fmla="*/ 2147483647 h 434"/>
              <a:gd name="T2" fmla="*/ 2147483647 w 3598"/>
              <a:gd name="T3" fmla="*/ 2147483647 h 434"/>
              <a:gd name="T4" fmla="*/ 2147483647 w 3598"/>
              <a:gd name="T5" fmla="*/ 2147483647 h 434"/>
              <a:gd name="T6" fmla="*/ 2147483647 w 3598"/>
              <a:gd name="T7" fmla="*/ 2147483647 h 434"/>
              <a:gd name="T8" fmla="*/ 0 60000 65536"/>
              <a:gd name="T9" fmla="*/ 0 60000 65536"/>
              <a:gd name="T10" fmla="*/ 0 60000 65536"/>
              <a:gd name="T11" fmla="*/ 0 60000 65536"/>
              <a:gd name="T12" fmla="*/ 0 w 3598"/>
              <a:gd name="T13" fmla="*/ 0 h 434"/>
              <a:gd name="T14" fmla="*/ 3598 w 3598"/>
              <a:gd name="T15" fmla="*/ 434 h 43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598" h="434">
                <a:moveTo>
                  <a:pt x="0" y="16"/>
                </a:moveTo>
                <a:cubicBezTo>
                  <a:pt x="128" y="144"/>
                  <a:pt x="257" y="273"/>
                  <a:pt x="680" y="333"/>
                </a:cubicBezTo>
                <a:cubicBezTo>
                  <a:pt x="1103" y="393"/>
                  <a:pt x="2070" y="434"/>
                  <a:pt x="2540" y="379"/>
                </a:cubicBezTo>
                <a:cubicBezTo>
                  <a:pt x="3010" y="324"/>
                  <a:pt x="3598" y="0"/>
                  <a:pt x="3503" y="5"/>
                </a:cubicBezTo>
              </a:path>
            </a:pathLst>
          </a:custGeom>
          <a:noFill/>
          <a:ln w="38100">
            <a:solidFill>
              <a:srgbClr val="66CCFF"/>
            </a:solidFill>
            <a:round/>
            <a:headEnd/>
            <a:tailEnd type="triangle" w="lg" len="lg"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33" name="Freeform 217"/>
          <p:cNvSpPr>
            <a:spLocks/>
          </p:cNvSpPr>
          <p:nvPr/>
        </p:nvSpPr>
        <p:spPr bwMode="auto">
          <a:xfrm>
            <a:off x="3216276" y="4341814"/>
            <a:ext cx="5624513" cy="1095375"/>
          </a:xfrm>
          <a:custGeom>
            <a:avLst/>
            <a:gdLst>
              <a:gd name="T0" fmla="*/ 0 w 3583"/>
              <a:gd name="T1" fmla="*/ 2147483647 h 635"/>
              <a:gd name="T2" fmla="*/ 2147483647 w 3583"/>
              <a:gd name="T3" fmla="*/ 2147483647 h 635"/>
              <a:gd name="T4" fmla="*/ 2147483647 w 3583"/>
              <a:gd name="T5" fmla="*/ 2147483647 h 635"/>
              <a:gd name="T6" fmla="*/ 2147483647 w 3583"/>
              <a:gd name="T7" fmla="*/ 2147483647 h 635"/>
              <a:gd name="T8" fmla="*/ 0 60000 65536"/>
              <a:gd name="T9" fmla="*/ 0 60000 65536"/>
              <a:gd name="T10" fmla="*/ 0 60000 65536"/>
              <a:gd name="T11" fmla="*/ 0 60000 65536"/>
              <a:gd name="T12" fmla="*/ 0 w 3583"/>
              <a:gd name="T13" fmla="*/ 0 h 635"/>
              <a:gd name="T14" fmla="*/ 3583 w 3583"/>
              <a:gd name="T15" fmla="*/ 635 h 63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583" h="635">
                <a:moveTo>
                  <a:pt x="0" y="635"/>
                </a:moveTo>
                <a:cubicBezTo>
                  <a:pt x="227" y="408"/>
                  <a:pt x="454" y="182"/>
                  <a:pt x="907" y="91"/>
                </a:cubicBezTo>
                <a:cubicBezTo>
                  <a:pt x="1360" y="0"/>
                  <a:pt x="2275" y="12"/>
                  <a:pt x="2721" y="91"/>
                </a:cubicBezTo>
                <a:cubicBezTo>
                  <a:pt x="3167" y="170"/>
                  <a:pt x="3318" y="397"/>
                  <a:pt x="3583" y="567"/>
                </a:cubicBez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 type="triangle" w="lg" len="lg"/>
          </a:ln>
        </p:spPr>
        <p:txBody>
          <a:bodyPr anchor="b"/>
          <a:lstStyle/>
          <a:p>
            <a:endParaRPr lang="zh-CN" altLang="en-US"/>
          </a:p>
        </p:txBody>
      </p:sp>
      <p:pic>
        <p:nvPicPr>
          <p:cNvPr id="22538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43400" y="3830638"/>
            <a:ext cx="1168400" cy="50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9" name="图片 11" descr="asd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63825" y="3841751"/>
            <a:ext cx="48418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40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16713" y="3830638"/>
            <a:ext cx="1168400" cy="50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41" name="图片 11" descr="asd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63825" y="2735264"/>
            <a:ext cx="48418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42" name="图片 11" descr="asd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63825" y="5108576"/>
            <a:ext cx="48418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43" name="图片 11" descr="asd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053514" y="3844926"/>
            <a:ext cx="4841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44" name="图片 11" descr="asd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053514" y="2749551"/>
            <a:ext cx="4841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45" name="图片 11" descr="asd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053514" y="5122864"/>
            <a:ext cx="4841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2546" name="直接连接符 46"/>
          <p:cNvCxnSpPr>
            <a:cxnSpLocks noChangeShapeType="1"/>
          </p:cNvCxnSpPr>
          <p:nvPr/>
        </p:nvCxnSpPr>
        <p:spPr bwMode="auto">
          <a:xfrm>
            <a:off x="3148014" y="2965451"/>
            <a:ext cx="1341437" cy="974725"/>
          </a:xfrm>
          <a:prstGeom prst="line">
            <a:avLst/>
          </a:prstGeom>
          <a:noFill/>
          <a:ln w="31750" algn="ctr">
            <a:solidFill>
              <a:srgbClr val="66CCFF"/>
            </a:solidFill>
            <a:round/>
            <a:headEnd/>
            <a:tailEnd/>
          </a:ln>
        </p:spPr>
      </p:cxnSp>
      <p:cxnSp>
        <p:nvCxnSpPr>
          <p:cNvPr id="22547" name="直接连接符 47"/>
          <p:cNvCxnSpPr>
            <a:cxnSpLocks noChangeShapeType="1"/>
          </p:cNvCxnSpPr>
          <p:nvPr/>
        </p:nvCxnSpPr>
        <p:spPr bwMode="auto">
          <a:xfrm flipV="1">
            <a:off x="3148013" y="4305301"/>
            <a:ext cx="1231900" cy="1033463"/>
          </a:xfrm>
          <a:prstGeom prst="line">
            <a:avLst/>
          </a:prstGeom>
          <a:noFill/>
          <a:ln w="31750" algn="ctr">
            <a:solidFill>
              <a:srgbClr val="FF3300"/>
            </a:solidFill>
            <a:round/>
            <a:headEnd/>
            <a:tailEnd/>
          </a:ln>
        </p:spPr>
      </p:cxnSp>
      <p:cxnSp>
        <p:nvCxnSpPr>
          <p:cNvPr id="22548" name="直接连接符 58"/>
          <p:cNvCxnSpPr>
            <a:cxnSpLocks noChangeShapeType="1"/>
          </p:cNvCxnSpPr>
          <p:nvPr/>
        </p:nvCxnSpPr>
        <p:spPr bwMode="auto">
          <a:xfrm>
            <a:off x="7702551" y="4232276"/>
            <a:ext cx="1350963" cy="1120775"/>
          </a:xfrm>
          <a:prstGeom prst="line">
            <a:avLst/>
          </a:prstGeom>
          <a:noFill/>
          <a:ln w="31750" algn="ctr">
            <a:solidFill>
              <a:srgbClr val="FF3300"/>
            </a:solidFill>
            <a:round/>
            <a:headEnd/>
            <a:tailEnd/>
          </a:ln>
        </p:spPr>
      </p:cxnSp>
      <p:cxnSp>
        <p:nvCxnSpPr>
          <p:cNvPr id="22549" name="直接连接符 60"/>
          <p:cNvCxnSpPr>
            <a:cxnSpLocks noChangeShapeType="1"/>
          </p:cNvCxnSpPr>
          <p:nvPr/>
        </p:nvCxnSpPr>
        <p:spPr bwMode="auto">
          <a:xfrm flipV="1">
            <a:off x="7885113" y="2979738"/>
            <a:ext cx="1168400" cy="887412"/>
          </a:xfrm>
          <a:prstGeom prst="line">
            <a:avLst/>
          </a:prstGeom>
          <a:noFill/>
          <a:ln w="31750" algn="ctr">
            <a:solidFill>
              <a:srgbClr val="66CCFF"/>
            </a:solidFill>
            <a:round/>
            <a:headEnd/>
            <a:tailEnd/>
          </a:ln>
        </p:spPr>
      </p:cxnSp>
      <p:cxnSp>
        <p:nvCxnSpPr>
          <p:cNvPr id="66" name="直接连接符 65"/>
          <p:cNvCxnSpPr>
            <a:cxnSpLocks noChangeShapeType="1"/>
          </p:cNvCxnSpPr>
          <p:nvPr/>
        </p:nvCxnSpPr>
        <p:spPr bwMode="auto">
          <a:xfrm>
            <a:off x="5292725" y="4244975"/>
            <a:ext cx="1423988" cy="1588"/>
          </a:xfrm>
          <a:prstGeom prst="line">
            <a:avLst/>
          </a:prstGeom>
          <a:noFill/>
          <a:ln w="31750" algn="ctr">
            <a:solidFill>
              <a:srgbClr val="FF3300"/>
            </a:solidFill>
            <a:round/>
            <a:headEnd/>
            <a:tailEnd/>
          </a:ln>
        </p:spPr>
      </p:cxnSp>
      <p:sp>
        <p:nvSpPr>
          <p:cNvPr id="32" name="Line 209"/>
          <p:cNvSpPr>
            <a:spLocks noChangeShapeType="1"/>
          </p:cNvSpPr>
          <p:nvPr/>
        </p:nvSpPr>
        <p:spPr bwMode="auto">
          <a:xfrm>
            <a:off x="3287713" y="4137025"/>
            <a:ext cx="5688012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lg" len="lg"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22552" name="Text Box 13"/>
          <p:cNvSpPr txBox="1">
            <a:spLocks noChangeArrowheads="1"/>
          </p:cNvSpPr>
          <p:nvPr/>
        </p:nvSpPr>
        <p:spPr bwMode="auto">
          <a:xfrm>
            <a:off x="8834438" y="4852989"/>
            <a:ext cx="1058862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1600" b="1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VLAN 30</a:t>
            </a:r>
            <a:endParaRPr kumimoji="1" lang="zh-CN" altLang="en-US" sz="1600" b="1">
              <a:solidFill>
                <a:schemeClr val="tx2"/>
              </a:solidFill>
              <a:ea typeface="楷体_GB2312" pitchFamily="49" charset="-122"/>
              <a:cs typeface="Arial" charset="0"/>
            </a:endParaRPr>
          </a:p>
        </p:txBody>
      </p:sp>
      <p:sp>
        <p:nvSpPr>
          <p:cNvPr id="22553" name="Text Box 13"/>
          <p:cNvSpPr txBox="1">
            <a:spLocks noChangeArrowheads="1"/>
          </p:cNvSpPr>
          <p:nvPr/>
        </p:nvSpPr>
        <p:spPr bwMode="auto">
          <a:xfrm>
            <a:off x="2408238" y="4852989"/>
            <a:ext cx="1058862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1600" b="1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VLAN 30</a:t>
            </a:r>
            <a:endParaRPr kumimoji="1" lang="zh-CN" altLang="en-US" sz="1600" b="1">
              <a:solidFill>
                <a:schemeClr val="tx2"/>
              </a:solidFill>
              <a:ea typeface="楷体_GB2312" pitchFamily="49" charset="-122"/>
              <a:cs typeface="Arial" charset="0"/>
            </a:endParaRPr>
          </a:p>
        </p:txBody>
      </p:sp>
      <p:sp>
        <p:nvSpPr>
          <p:cNvPr id="22554" name="Text Box 13"/>
          <p:cNvSpPr txBox="1">
            <a:spLocks noChangeArrowheads="1"/>
          </p:cNvSpPr>
          <p:nvPr/>
        </p:nvSpPr>
        <p:spPr bwMode="auto">
          <a:xfrm>
            <a:off x="8797926" y="3611564"/>
            <a:ext cx="1058863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1600" b="1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VLAN 20</a:t>
            </a:r>
            <a:endParaRPr kumimoji="1" lang="zh-CN" altLang="en-US" sz="1600" b="1">
              <a:solidFill>
                <a:schemeClr val="tx2"/>
              </a:solidFill>
              <a:ea typeface="楷体_GB2312" pitchFamily="49" charset="-122"/>
              <a:cs typeface="Arial" charset="0"/>
            </a:endParaRPr>
          </a:p>
        </p:txBody>
      </p:sp>
      <p:sp>
        <p:nvSpPr>
          <p:cNvPr id="22555" name="Text Box 13"/>
          <p:cNvSpPr txBox="1">
            <a:spLocks noChangeArrowheads="1"/>
          </p:cNvSpPr>
          <p:nvPr/>
        </p:nvSpPr>
        <p:spPr bwMode="auto">
          <a:xfrm>
            <a:off x="2408238" y="3575050"/>
            <a:ext cx="1058862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1600" b="1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VLAN 20</a:t>
            </a:r>
            <a:endParaRPr kumimoji="1" lang="zh-CN" altLang="en-US" sz="1600" b="1">
              <a:solidFill>
                <a:schemeClr val="tx2"/>
              </a:solidFill>
              <a:ea typeface="楷体_GB2312" pitchFamily="49" charset="-122"/>
              <a:cs typeface="Arial" charset="0"/>
            </a:endParaRPr>
          </a:p>
        </p:txBody>
      </p:sp>
      <p:sp>
        <p:nvSpPr>
          <p:cNvPr id="22556" name="Text Box 13"/>
          <p:cNvSpPr txBox="1">
            <a:spLocks noChangeArrowheads="1"/>
          </p:cNvSpPr>
          <p:nvPr/>
        </p:nvSpPr>
        <p:spPr bwMode="auto">
          <a:xfrm>
            <a:off x="2481263" y="2479675"/>
            <a:ext cx="1058862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1600" b="1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VLAN 10</a:t>
            </a:r>
            <a:endParaRPr kumimoji="1" lang="zh-CN" altLang="en-US" sz="1600" b="1">
              <a:solidFill>
                <a:schemeClr val="tx2"/>
              </a:solidFill>
              <a:ea typeface="楷体_GB2312" pitchFamily="49" charset="-122"/>
              <a:cs typeface="Arial" charset="0"/>
            </a:endParaRPr>
          </a:p>
        </p:txBody>
      </p:sp>
      <p:sp>
        <p:nvSpPr>
          <p:cNvPr id="22557" name="Text Box 13"/>
          <p:cNvSpPr txBox="1">
            <a:spLocks noChangeArrowheads="1"/>
          </p:cNvSpPr>
          <p:nvPr/>
        </p:nvSpPr>
        <p:spPr bwMode="auto">
          <a:xfrm>
            <a:off x="8797926" y="2479675"/>
            <a:ext cx="1058863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1600" b="1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VLAN 10</a:t>
            </a:r>
            <a:endParaRPr kumimoji="1" lang="zh-CN" altLang="en-US" sz="1600" b="1">
              <a:solidFill>
                <a:schemeClr val="tx2"/>
              </a:solidFill>
              <a:ea typeface="楷体_GB2312" pitchFamily="49" charset="-122"/>
              <a:cs typeface="Arial" charset="0"/>
            </a:endParaRPr>
          </a:p>
        </p:txBody>
      </p:sp>
      <p:sp>
        <p:nvSpPr>
          <p:cNvPr id="18472" name="AutoShape 40"/>
          <p:cNvSpPr>
            <a:spLocks noChangeArrowheads="1"/>
          </p:cNvSpPr>
          <p:nvPr/>
        </p:nvSpPr>
        <p:spPr bwMode="auto">
          <a:xfrm>
            <a:off x="4881563" y="2286000"/>
            <a:ext cx="1979612" cy="1258888"/>
          </a:xfrm>
          <a:prstGeom prst="cloudCallout">
            <a:avLst>
              <a:gd name="adj1" fmla="val -45048"/>
              <a:gd name="adj2" fmla="val 71323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defRPr/>
            </a:pPr>
            <a:r>
              <a:rPr lang="zh-CN" altLang="en-US">
                <a:ea typeface="楷体_GB2312" pitchFamily="49" charset="-122"/>
              </a:rPr>
              <a:t>如果有</a:t>
            </a:r>
            <a:r>
              <a:rPr lang="en-US" altLang="zh-CN">
                <a:ea typeface="楷体_GB2312" pitchFamily="49" charset="-122"/>
              </a:rPr>
              <a:t>100</a:t>
            </a:r>
            <a:r>
              <a:rPr lang="zh-CN" altLang="en-US">
                <a:ea typeface="楷体_GB2312" pitchFamily="49" charset="-122"/>
              </a:rPr>
              <a:t>个</a:t>
            </a:r>
            <a:r>
              <a:rPr lang="en-US" altLang="zh-CN">
                <a:ea typeface="楷体_GB2312" pitchFamily="49" charset="-122"/>
              </a:rPr>
              <a:t>VLAN</a:t>
            </a:r>
            <a:r>
              <a:rPr lang="zh-CN" altLang="en-US">
                <a:ea typeface="楷体_GB2312" pitchFamily="49" charset="-122"/>
              </a:rPr>
              <a:t>怎么办呢？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8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3" grpId="0" animBg="1"/>
      <p:bldP spid="32" grpId="0" animBg="1"/>
      <p:bldP spid="1847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直接连接符 64"/>
          <p:cNvCxnSpPr>
            <a:cxnSpLocks noChangeShapeType="1"/>
          </p:cNvCxnSpPr>
          <p:nvPr/>
        </p:nvCxnSpPr>
        <p:spPr bwMode="auto">
          <a:xfrm>
            <a:off x="5449889" y="4025900"/>
            <a:ext cx="1423987" cy="1588"/>
          </a:xfrm>
          <a:prstGeom prst="line">
            <a:avLst/>
          </a:prstGeom>
          <a:noFill/>
          <a:ln w="31750" algn="ctr">
            <a:solidFill>
              <a:srgbClr val="66CCFF"/>
            </a:solidFill>
            <a:round/>
            <a:headEnd/>
            <a:tailEnd/>
          </a:ln>
        </p:spPr>
      </p:cxnSp>
      <p:grpSp>
        <p:nvGrpSpPr>
          <p:cNvPr id="2" name="组合 46"/>
          <p:cNvGrpSpPr>
            <a:grpSpLocks/>
          </p:cNvGrpSpPr>
          <p:nvPr/>
        </p:nvGrpSpPr>
        <p:grpSpPr bwMode="auto">
          <a:xfrm>
            <a:off x="4543425" y="4159250"/>
            <a:ext cx="4089400" cy="12700"/>
            <a:chOff x="2600337" y="5314913"/>
            <a:chExt cx="4089417" cy="12763"/>
          </a:xfrm>
        </p:grpSpPr>
        <p:grpSp>
          <p:nvGrpSpPr>
            <p:cNvPr id="3" name="组合 44"/>
            <p:cNvGrpSpPr>
              <a:grpSpLocks/>
            </p:cNvGrpSpPr>
            <p:nvPr/>
          </p:nvGrpSpPr>
          <p:grpSpPr bwMode="auto">
            <a:xfrm>
              <a:off x="2600337" y="5324500"/>
              <a:ext cx="3797313" cy="3176"/>
              <a:chOff x="2527291" y="5838858"/>
              <a:chExt cx="3797313" cy="3176"/>
            </a:xfrm>
          </p:grpSpPr>
          <p:cxnSp>
            <p:nvCxnSpPr>
              <p:cNvPr id="23585" name="直接连接符 34"/>
              <p:cNvCxnSpPr>
                <a:cxnSpLocks noChangeShapeType="1"/>
              </p:cNvCxnSpPr>
              <p:nvPr/>
            </p:nvCxnSpPr>
            <p:spPr bwMode="auto">
              <a:xfrm>
                <a:off x="2527291" y="5840446"/>
                <a:ext cx="1423988" cy="1588"/>
              </a:xfrm>
              <a:prstGeom prst="line">
                <a:avLst/>
              </a:prstGeom>
              <a:noFill/>
              <a:ln w="31750" algn="ctr">
                <a:solidFill>
                  <a:srgbClr val="FF3300"/>
                </a:solidFill>
                <a:round/>
                <a:headEnd/>
                <a:tailEnd/>
              </a:ln>
            </p:spPr>
          </p:cxnSp>
          <p:cxnSp>
            <p:nvCxnSpPr>
              <p:cNvPr id="23586" name="直接连接符 32"/>
              <p:cNvCxnSpPr>
                <a:cxnSpLocks noChangeShapeType="1"/>
              </p:cNvCxnSpPr>
              <p:nvPr/>
            </p:nvCxnSpPr>
            <p:spPr bwMode="auto">
              <a:xfrm>
                <a:off x="2709836" y="5838861"/>
                <a:ext cx="1423988" cy="1588"/>
              </a:xfrm>
              <a:prstGeom prst="line">
                <a:avLst/>
              </a:prstGeom>
              <a:noFill/>
              <a:ln w="31750" algn="ctr">
                <a:solidFill>
                  <a:schemeClr val="tx2"/>
                </a:solidFill>
                <a:round/>
                <a:headEnd/>
                <a:tailEnd/>
              </a:ln>
            </p:spPr>
          </p:cxnSp>
          <p:cxnSp>
            <p:nvCxnSpPr>
              <p:cNvPr id="23587" name="直接连接符 33"/>
              <p:cNvCxnSpPr>
                <a:cxnSpLocks noChangeShapeType="1"/>
              </p:cNvCxnSpPr>
              <p:nvPr/>
            </p:nvCxnSpPr>
            <p:spPr bwMode="auto">
              <a:xfrm>
                <a:off x="2928915" y="5840446"/>
                <a:ext cx="1423987" cy="1587"/>
              </a:xfrm>
              <a:prstGeom prst="line">
                <a:avLst/>
              </a:prstGeom>
              <a:noFill/>
              <a:ln w="31750" algn="ctr">
                <a:solidFill>
                  <a:srgbClr val="66CCFF"/>
                </a:solidFill>
                <a:round/>
                <a:headEnd/>
                <a:tailEnd/>
              </a:ln>
            </p:spPr>
          </p:cxnSp>
          <p:cxnSp>
            <p:nvCxnSpPr>
              <p:cNvPr id="23588" name="直接连接符 35"/>
              <p:cNvCxnSpPr>
                <a:cxnSpLocks noChangeShapeType="1"/>
              </p:cNvCxnSpPr>
              <p:nvPr/>
            </p:nvCxnSpPr>
            <p:spPr bwMode="auto">
              <a:xfrm>
                <a:off x="3148012" y="5840446"/>
                <a:ext cx="1423988" cy="1588"/>
              </a:xfrm>
              <a:prstGeom prst="line">
                <a:avLst/>
              </a:prstGeom>
              <a:noFill/>
              <a:ln w="31750" algn="ctr">
                <a:solidFill>
                  <a:srgbClr val="FF3300"/>
                </a:solidFill>
                <a:round/>
                <a:headEnd/>
                <a:tailEnd/>
              </a:ln>
            </p:spPr>
          </p:cxnSp>
          <p:cxnSp>
            <p:nvCxnSpPr>
              <p:cNvPr id="23589" name="直接连接符 36"/>
              <p:cNvCxnSpPr>
                <a:cxnSpLocks noChangeShapeType="1"/>
              </p:cNvCxnSpPr>
              <p:nvPr/>
            </p:nvCxnSpPr>
            <p:spPr bwMode="auto">
              <a:xfrm>
                <a:off x="3367090" y="5840446"/>
                <a:ext cx="1423988" cy="1588"/>
              </a:xfrm>
              <a:prstGeom prst="line">
                <a:avLst/>
              </a:prstGeom>
              <a:noFill/>
              <a:ln w="31750" algn="ctr">
                <a:solidFill>
                  <a:schemeClr val="tx2"/>
                </a:solidFill>
                <a:round/>
                <a:headEnd/>
                <a:tailEnd/>
              </a:ln>
            </p:spPr>
          </p:cxnSp>
          <p:cxnSp>
            <p:nvCxnSpPr>
              <p:cNvPr id="23590" name="直接连接符 37"/>
              <p:cNvCxnSpPr>
                <a:cxnSpLocks noChangeShapeType="1"/>
              </p:cNvCxnSpPr>
              <p:nvPr/>
            </p:nvCxnSpPr>
            <p:spPr bwMode="auto">
              <a:xfrm>
                <a:off x="3598044" y="5840446"/>
                <a:ext cx="1423987" cy="1587"/>
              </a:xfrm>
              <a:prstGeom prst="line">
                <a:avLst/>
              </a:prstGeom>
              <a:noFill/>
              <a:ln w="31750" algn="ctr">
                <a:solidFill>
                  <a:srgbClr val="66CCFF"/>
                </a:solidFill>
                <a:round/>
                <a:headEnd/>
                <a:tailEnd/>
              </a:ln>
            </p:spPr>
          </p:cxnSp>
          <p:cxnSp>
            <p:nvCxnSpPr>
              <p:cNvPr id="23591" name="直接连接符 38"/>
              <p:cNvCxnSpPr>
                <a:cxnSpLocks noChangeShapeType="1"/>
              </p:cNvCxnSpPr>
              <p:nvPr/>
            </p:nvCxnSpPr>
            <p:spPr bwMode="auto">
              <a:xfrm>
                <a:off x="3805227" y="5838858"/>
                <a:ext cx="1423988" cy="1588"/>
              </a:xfrm>
              <a:prstGeom prst="line">
                <a:avLst/>
              </a:prstGeom>
              <a:noFill/>
              <a:ln w="31750" algn="ctr">
                <a:solidFill>
                  <a:srgbClr val="FF3300"/>
                </a:solidFill>
                <a:round/>
                <a:headEnd/>
                <a:tailEnd/>
              </a:ln>
            </p:spPr>
          </p:cxnSp>
          <p:cxnSp>
            <p:nvCxnSpPr>
              <p:cNvPr id="23592" name="直接连接符 39"/>
              <p:cNvCxnSpPr>
                <a:cxnSpLocks noChangeShapeType="1"/>
              </p:cNvCxnSpPr>
              <p:nvPr/>
            </p:nvCxnSpPr>
            <p:spPr bwMode="auto">
              <a:xfrm>
                <a:off x="4024305" y="5840383"/>
                <a:ext cx="1423988" cy="1588"/>
              </a:xfrm>
              <a:prstGeom prst="line">
                <a:avLst/>
              </a:prstGeom>
              <a:noFill/>
              <a:ln w="31750" algn="ctr">
                <a:solidFill>
                  <a:schemeClr val="tx2"/>
                </a:solidFill>
                <a:round/>
                <a:headEnd/>
                <a:tailEnd/>
              </a:ln>
            </p:spPr>
          </p:cxnSp>
          <p:cxnSp>
            <p:nvCxnSpPr>
              <p:cNvPr id="23593" name="直接连接符 40"/>
              <p:cNvCxnSpPr>
                <a:cxnSpLocks noChangeShapeType="1"/>
              </p:cNvCxnSpPr>
              <p:nvPr/>
            </p:nvCxnSpPr>
            <p:spPr bwMode="auto">
              <a:xfrm>
                <a:off x="4243383" y="5838858"/>
                <a:ext cx="1423987" cy="1587"/>
              </a:xfrm>
              <a:prstGeom prst="line">
                <a:avLst/>
              </a:prstGeom>
              <a:noFill/>
              <a:ln w="31750" algn="ctr">
                <a:solidFill>
                  <a:srgbClr val="66CCFF"/>
                </a:solidFill>
                <a:round/>
                <a:headEnd/>
                <a:tailEnd/>
              </a:ln>
            </p:spPr>
          </p:cxnSp>
          <p:cxnSp>
            <p:nvCxnSpPr>
              <p:cNvPr id="23594" name="直接连接符 41"/>
              <p:cNvCxnSpPr>
                <a:cxnSpLocks noChangeShapeType="1"/>
              </p:cNvCxnSpPr>
              <p:nvPr/>
            </p:nvCxnSpPr>
            <p:spPr bwMode="auto">
              <a:xfrm>
                <a:off x="4462461" y="5838858"/>
                <a:ext cx="1423988" cy="1588"/>
              </a:xfrm>
              <a:prstGeom prst="line">
                <a:avLst/>
              </a:prstGeom>
              <a:noFill/>
              <a:ln w="31750" algn="ctr">
                <a:solidFill>
                  <a:srgbClr val="FF3300"/>
                </a:solidFill>
                <a:round/>
                <a:headEnd/>
                <a:tailEnd/>
              </a:ln>
            </p:spPr>
          </p:cxnSp>
          <p:cxnSp>
            <p:nvCxnSpPr>
              <p:cNvPr id="23595" name="直接连接符 42"/>
              <p:cNvCxnSpPr>
                <a:cxnSpLocks noChangeShapeType="1"/>
              </p:cNvCxnSpPr>
              <p:nvPr/>
            </p:nvCxnSpPr>
            <p:spPr bwMode="auto">
              <a:xfrm>
                <a:off x="4681539" y="5838858"/>
                <a:ext cx="1423988" cy="1588"/>
              </a:xfrm>
              <a:prstGeom prst="line">
                <a:avLst/>
              </a:prstGeom>
              <a:noFill/>
              <a:ln w="31750" algn="ctr">
                <a:solidFill>
                  <a:schemeClr val="tx2"/>
                </a:solidFill>
                <a:round/>
                <a:headEnd/>
                <a:tailEnd/>
              </a:ln>
            </p:spPr>
          </p:cxnSp>
          <p:cxnSp>
            <p:nvCxnSpPr>
              <p:cNvPr id="23596" name="直接连接符 43"/>
              <p:cNvCxnSpPr>
                <a:cxnSpLocks noChangeShapeType="1"/>
              </p:cNvCxnSpPr>
              <p:nvPr/>
            </p:nvCxnSpPr>
            <p:spPr bwMode="auto">
              <a:xfrm>
                <a:off x="4900617" y="5838858"/>
                <a:ext cx="1423987" cy="1587"/>
              </a:xfrm>
              <a:prstGeom prst="line">
                <a:avLst/>
              </a:prstGeom>
              <a:noFill/>
              <a:ln w="31750" algn="ctr">
                <a:solidFill>
                  <a:srgbClr val="66CCFF"/>
                </a:solidFill>
                <a:round/>
                <a:headEnd/>
                <a:tailEnd/>
              </a:ln>
            </p:spPr>
          </p:cxnSp>
        </p:grpSp>
        <p:cxnSp>
          <p:nvCxnSpPr>
            <p:cNvPr id="23584" name="直接连接符 45"/>
            <p:cNvCxnSpPr>
              <a:cxnSpLocks noChangeShapeType="1"/>
            </p:cNvCxnSpPr>
            <p:nvPr/>
          </p:nvCxnSpPr>
          <p:spPr bwMode="auto">
            <a:xfrm>
              <a:off x="5265767" y="5314913"/>
              <a:ext cx="1423987" cy="1587"/>
            </a:xfrm>
            <a:prstGeom prst="line">
              <a:avLst/>
            </a:prstGeom>
            <a:noFill/>
            <a:ln w="57150" algn="ctr">
              <a:solidFill>
                <a:schemeClr val="bg1"/>
              </a:solidFill>
              <a:round/>
              <a:headEnd/>
              <a:tailEnd/>
            </a:ln>
          </p:spPr>
        </p:cxnSp>
      </p:grpSp>
      <p:cxnSp>
        <p:nvCxnSpPr>
          <p:cNvPr id="23556" name="直接连接符 62"/>
          <p:cNvCxnSpPr>
            <a:cxnSpLocks noChangeShapeType="1"/>
          </p:cNvCxnSpPr>
          <p:nvPr/>
        </p:nvCxnSpPr>
        <p:spPr bwMode="auto">
          <a:xfrm>
            <a:off x="7739064" y="4170364"/>
            <a:ext cx="1423987" cy="1587"/>
          </a:xfrm>
          <a:prstGeom prst="line">
            <a:avLst/>
          </a:prstGeom>
          <a:noFill/>
          <a:ln w="31750" algn="ctr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62" name="直接连接符 61"/>
          <p:cNvCxnSpPr>
            <a:cxnSpLocks noChangeShapeType="1"/>
          </p:cNvCxnSpPr>
          <p:nvPr/>
        </p:nvCxnSpPr>
        <p:spPr bwMode="auto">
          <a:xfrm>
            <a:off x="5365750" y="4170364"/>
            <a:ext cx="1423988" cy="1587"/>
          </a:xfrm>
          <a:prstGeom prst="line">
            <a:avLst/>
          </a:prstGeom>
          <a:noFill/>
          <a:ln w="31750" algn="ctr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23558" name="直接连接符 59"/>
          <p:cNvCxnSpPr>
            <a:cxnSpLocks noChangeShapeType="1"/>
          </p:cNvCxnSpPr>
          <p:nvPr/>
        </p:nvCxnSpPr>
        <p:spPr bwMode="auto">
          <a:xfrm>
            <a:off x="3101975" y="4171950"/>
            <a:ext cx="1423988" cy="1588"/>
          </a:xfrm>
          <a:prstGeom prst="line">
            <a:avLst/>
          </a:prstGeom>
          <a:noFill/>
          <a:ln w="31750" algn="ctr">
            <a:solidFill>
              <a:schemeClr val="tx2"/>
            </a:solidFill>
            <a:round/>
            <a:headEnd/>
            <a:tailEnd/>
          </a:ln>
        </p:spPr>
      </p:cxnSp>
      <p:sp>
        <p:nvSpPr>
          <p:cNvPr id="46" name="内容占位符 45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如何实现交换机之间的</a:t>
            </a:r>
            <a:r>
              <a:rPr lang="en-US" altLang="zh-CN"/>
              <a:t>VLAN</a:t>
            </a:r>
            <a:r>
              <a:rPr lang="zh-CN" altLang="en-US"/>
              <a:t>通信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只使用一条链路，且通过标识来区分不同</a:t>
            </a:r>
            <a:r>
              <a:rPr lang="en-US" altLang="zh-CN"/>
              <a:t>VLAN</a:t>
            </a:r>
            <a:r>
              <a:rPr lang="zh-CN" altLang="en-US"/>
              <a:t>的数据</a:t>
            </a:r>
            <a:endParaRPr lang="en-US" altLang="zh-CN"/>
          </a:p>
        </p:txBody>
      </p:sp>
      <p:sp>
        <p:nvSpPr>
          <p:cNvPr id="2356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Trunk</a:t>
            </a:r>
            <a:r>
              <a:rPr lang="zh-CN" altLang="en-US"/>
              <a:t>的作用</a:t>
            </a:r>
            <a:r>
              <a:rPr lang="en-US" altLang="zh-CN"/>
              <a:t>2-2</a:t>
            </a:r>
            <a:endParaRPr lang="zh-CN" altLang="en-US"/>
          </a:p>
        </p:txBody>
      </p:sp>
      <p:pic>
        <p:nvPicPr>
          <p:cNvPr id="23561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43400" y="3940176"/>
            <a:ext cx="116840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62" name="图片 11" descr="asd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63825" y="3951289"/>
            <a:ext cx="48418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63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16713" y="3940176"/>
            <a:ext cx="116840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64" name="图片 11" descr="asd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63825" y="2844801"/>
            <a:ext cx="48418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65" name="图片 11" descr="asd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63825" y="5218114"/>
            <a:ext cx="48418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66" name="图片 11" descr="asd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053514" y="3954464"/>
            <a:ext cx="4841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67" name="图片 11" descr="asd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053514" y="2859089"/>
            <a:ext cx="4841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68" name="图片 11" descr="asd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053514" y="5232401"/>
            <a:ext cx="4841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3569" name="直接连接符 46"/>
          <p:cNvCxnSpPr>
            <a:cxnSpLocks noChangeShapeType="1"/>
          </p:cNvCxnSpPr>
          <p:nvPr/>
        </p:nvCxnSpPr>
        <p:spPr bwMode="auto">
          <a:xfrm>
            <a:off x="3148014" y="3074989"/>
            <a:ext cx="1341437" cy="974725"/>
          </a:xfrm>
          <a:prstGeom prst="line">
            <a:avLst/>
          </a:prstGeom>
          <a:noFill/>
          <a:ln w="31750" algn="ctr">
            <a:solidFill>
              <a:srgbClr val="66CCFF"/>
            </a:solidFill>
            <a:round/>
            <a:headEnd/>
            <a:tailEnd/>
          </a:ln>
        </p:spPr>
      </p:cxnSp>
      <p:cxnSp>
        <p:nvCxnSpPr>
          <p:cNvPr id="23570" name="直接连接符 47"/>
          <p:cNvCxnSpPr>
            <a:cxnSpLocks noChangeShapeType="1"/>
          </p:cNvCxnSpPr>
          <p:nvPr/>
        </p:nvCxnSpPr>
        <p:spPr bwMode="auto">
          <a:xfrm flipV="1">
            <a:off x="3148013" y="4414838"/>
            <a:ext cx="1231900" cy="1033462"/>
          </a:xfrm>
          <a:prstGeom prst="line">
            <a:avLst/>
          </a:prstGeom>
          <a:noFill/>
          <a:ln w="31750" algn="ctr">
            <a:solidFill>
              <a:srgbClr val="FF3300"/>
            </a:solidFill>
            <a:round/>
            <a:headEnd/>
            <a:tailEnd/>
          </a:ln>
        </p:spPr>
      </p:cxnSp>
      <p:cxnSp>
        <p:nvCxnSpPr>
          <p:cNvPr id="23571" name="直接连接符 58"/>
          <p:cNvCxnSpPr>
            <a:cxnSpLocks noChangeShapeType="1"/>
          </p:cNvCxnSpPr>
          <p:nvPr/>
        </p:nvCxnSpPr>
        <p:spPr bwMode="auto">
          <a:xfrm>
            <a:off x="7702551" y="4341814"/>
            <a:ext cx="1350963" cy="1120775"/>
          </a:xfrm>
          <a:prstGeom prst="line">
            <a:avLst/>
          </a:prstGeom>
          <a:noFill/>
          <a:ln w="31750" algn="ctr">
            <a:solidFill>
              <a:srgbClr val="FF3300"/>
            </a:solidFill>
            <a:round/>
            <a:headEnd/>
            <a:tailEnd/>
          </a:ln>
        </p:spPr>
      </p:cxnSp>
      <p:cxnSp>
        <p:nvCxnSpPr>
          <p:cNvPr id="23572" name="直接连接符 60"/>
          <p:cNvCxnSpPr>
            <a:cxnSpLocks noChangeShapeType="1"/>
          </p:cNvCxnSpPr>
          <p:nvPr/>
        </p:nvCxnSpPr>
        <p:spPr bwMode="auto">
          <a:xfrm flipV="1">
            <a:off x="7885113" y="3089276"/>
            <a:ext cx="1168400" cy="887413"/>
          </a:xfrm>
          <a:prstGeom prst="line">
            <a:avLst/>
          </a:prstGeom>
          <a:noFill/>
          <a:ln w="31750" algn="ctr">
            <a:solidFill>
              <a:srgbClr val="66CCFF"/>
            </a:solidFill>
            <a:round/>
            <a:headEnd/>
            <a:tailEnd/>
          </a:ln>
        </p:spPr>
      </p:cxnSp>
      <p:cxnSp>
        <p:nvCxnSpPr>
          <p:cNvPr id="66" name="直接连接符 65"/>
          <p:cNvCxnSpPr>
            <a:cxnSpLocks noChangeShapeType="1"/>
          </p:cNvCxnSpPr>
          <p:nvPr/>
        </p:nvCxnSpPr>
        <p:spPr bwMode="auto">
          <a:xfrm>
            <a:off x="5292725" y="4354514"/>
            <a:ext cx="1423988" cy="1587"/>
          </a:xfrm>
          <a:prstGeom prst="line">
            <a:avLst/>
          </a:prstGeom>
          <a:noFill/>
          <a:ln w="31750" algn="ctr">
            <a:solidFill>
              <a:srgbClr val="FF3300"/>
            </a:solidFill>
            <a:round/>
            <a:headEnd/>
            <a:tailEnd/>
          </a:ln>
        </p:spPr>
      </p:cxnSp>
      <p:sp>
        <p:nvSpPr>
          <p:cNvPr id="23574" name="Text Box 13"/>
          <p:cNvSpPr txBox="1">
            <a:spLocks noChangeArrowheads="1"/>
          </p:cNvSpPr>
          <p:nvPr/>
        </p:nvSpPr>
        <p:spPr bwMode="auto">
          <a:xfrm>
            <a:off x="8834438" y="4962525"/>
            <a:ext cx="1058862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VLAN 30</a:t>
            </a:r>
            <a:endParaRPr kumimoji="1" lang="zh-CN" altLang="en-US" sz="1600" b="1">
              <a:solidFill>
                <a:schemeClr val="tx2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3575" name="Text Box 13"/>
          <p:cNvSpPr txBox="1">
            <a:spLocks noChangeArrowheads="1"/>
          </p:cNvSpPr>
          <p:nvPr/>
        </p:nvSpPr>
        <p:spPr bwMode="auto">
          <a:xfrm>
            <a:off x="2408238" y="4962525"/>
            <a:ext cx="1058862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VLAN 30</a:t>
            </a:r>
            <a:endParaRPr kumimoji="1" lang="zh-CN" altLang="en-US" sz="1600" b="1">
              <a:solidFill>
                <a:schemeClr val="tx2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3576" name="Text Box 13"/>
          <p:cNvSpPr txBox="1">
            <a:spLocks noChangeArrowheads="1"/>
          </p:cNvSpPr>
          <p:nvPr/>
        </p:nvSpPr>
        <p:spPr bwMode="auto">
          <a:xfrm>
            <a:off x="8797926" y="3721100"/>
            <a:ext cx="1058863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VLAN 20</a:t>
            </a:r>
            <a:endParaRPr kumimoji="1" lang="zh-CN" altLang="en-US" sz="1600" b="1">
              <a:solidFill>
                <a:schemeClr val="tx2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3577" name="Text Box 13"/>
          <p:cNvSpPr txBox="1">
            <a:spLocks noChangeArrowheads="1"/>
          </p:cNvSpPr>
          <p:nvPr/>
        </p:nvSpPr>
        <p:spPr bwMode="auto">
          <a:xfrm>
            <a:off x="2408238" y="3684589"/>
            <a:ext cx="1058862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VLAN 20</a:t>
            </a:r>
            <a:endParaRPr kumimoji="1" lang="zh-CN" altLang="en-US" sz="1600" b="1">
              <a:solidFill>
                <a:schemeClr val="tx2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3578" name="Text Box 13"/>
          <p:cNvSpPr txBox="1">
            <a:spLocks noChangeArrowheads="1"/>
          </p:cNvSpPr>
          <p:nvPr/>
        </p:nvSpPr>
        <p:spPr bwMode="auto">
          <a:xfrm>
            <a:off x="2481263" y="2589214"/>
            <a:ext cx="1058862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VLAN 10</a:t>
            </a:r>
            <a:endParaRPr kumimoji="1" lang="zh-CN" altLang="en-US" sz="1600" b="1">
              <a:solidFill>
                <a:schemeClr val="tx2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3579" name="Text Box 13"/>
          <p:cNvSpPr txBox="1">
            <a:spLocks noChangeArrowheads="1"/>
          </p:cNvSpPr>
          <p:nvPr/>
        </p:nvSpPr>
        <p:spPr bwMode="auto">
          <a:xfrm>
            <a:off x="8797926" y="2589214"/>
            <a:ext cx="1058863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VLAN 10</a:t>
            </a:r>
            <a:endParaRPr kumimoji="1" lang="zh-CN" altLang="en-US" sz="1600" b="1">
              <a:solidFill>
                <a:schemeClr val="tx2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48" name="圆角矩形标注 69"/>
          <p:cNvSpPr>
            <a:spLocks noChangeArrowheads="1"/>
          </p:cNvSpPr>
          <p:nvPr/>
        </p:nvSpPr>
        <p:spPr bwMode="auto">
          <a:xfrm flipH="1">
            <a:off x="3735388" y="5341939"/>
            <a:ext cx="1289050" cy="407987"/>
          </a:xfrm>
          <a:prstGeom prst="wedgeRoundRectCallout">
            <a:avLst>
              <a:gd name="adj1" fmla="val 44907"/>
              <a:gd name="adj2" fmla="val -137824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接入链路</a:t>
            </a:r>
          </a:p>
        </p:txBody>
      </p:sp>
      <p:sp>
        <p:nvSpPr>
          <p:cNvPr id="49" name="圆角矩形标注 69"/>
          <p:cNvSpPr>
            <a:spLocks noChangeArrowheads="1"/>
          </p:cNvSpPr>
          <p:nvPr/>
        </p:nvSpPr>
        <p:spPr bwMode="auto">
          <a:xfrm flipH="1">
            <a:off x="5913438" y="4602164"/>
            <a:ext cx="1397000" cy="407987"/>
          </a:xfrm>
          <a:prstGeom prst="wedgeRoundRectCallout">
            <a:avLst>
              <a:gd name="adj1" fmla="val 45694"/>
              <a:gd name="adj2" fmla="val -135667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中继链路</a:t>
            </a:r>
          </a:p>
        </p:txBody>
      </p:sp>
      <p:sp>
        <p:nvSpPr>
          <p:cNvPr id="51" name="内容占位符 45"/>
          <p:cNvSpPr txBox="1">
            <a:spLocks/>
          </p:cNvSpPr>
          <p:nvPr/>
        </p:nvSpPr>
        <p:spPr bwMode="auto">
          <a:xfrm>
            <a:off x="1738313" y="1143001"/>
            <a:ext cx="8501062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ts val="672"/>
              </a:spcBef>
              <a:buClr>
                <a:schemeClr val="hlink"/>
              </a:buClr>
              <a:buFont typeface="Wingdings" pitchFamily="2" charset="2"/>
              <a:buChar char="v"/>
              <a:defRPr/>
            </a:pPr>
            <a:r>
              <a:rPr lang="zh-CN" altLang="en-US" sz="2800" b="1" kern="0" dirty="0">
                <a:solidFill>
                  <a:schemeClr val="tx2"/>
                </a:solidFill>
              </a:rPr>
              <a:t>交换网络中的链路类型</a:t>
            </a:r>
          </a:p>
          <a:p>
            <a:pPr marL="742950" lvl="1" indent="-285750" eaLnBrk="0" hangingPunct="0">
              <a:lnSpc>
                <a:spcPts val="3000"/>
              </a:lnSpc>
              <a:spcBef>
                <a:spcPts val="472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r>
              <a:rPr lang="zh-CN" altLang="en-US" sz="2400" b="1" kern="0" dirty="0">
                <a:solidFill>
                  <a:schemeClr val="tx2"/>
                </a:solidFill>
              </a:rPr>
              <a:t>接入链路</a:t>
            </a:r>
          </a:p>
          <a:p>
            <a:pPr marL="742950" lvl="1" indent="-285750" eaLnBrk="0" hangingPunct="0">
              <a:lnSpc>
                <a:spcPts val="3000"/>
              </a:lnSpc>
              <a:spcBef>
                <a:spcPts val="472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r>
              <a:rPr lang="zh-CN" altLang="en-US" sz="2400" b="1" kern="0" dirty="0">
                <a:solidFill>
                  <a:schemeClr val="tx2"/>
                </a:solidFill>
              </a:rPr>
              <a:t>中继链路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uild="p"/>
      <p:bldP spid="48" grpId="0" animBg="1"/>
      <p:bldP spid="49" grpId="0" animBg="1"/>
      <p:bldP spid="5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Grp="1" noChangeArrowheads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>
                <a:cs typeface="Arial" charset="0"/>
              </a:rPr>
              <a:t>交换机给往其他交换机的数据帧打上</a:t>
            </a:r>
            <a:r>
              <a:rPr lang="en-US" altLang="zh-CN">
                <a:cs typeface="Arial" charset="0"/>
              </a:rPr>
              <a:t>VLAN</a:t>
            </a:r>
            <a:r>
              <a:rPr lang="zh-CN" altLang="en-US">
                <a:cs typeface="Arial" charset="0"/>
              </a:rPr>
              <a:t>标识</a:t>
            </a:r>
            <a:endParaRPr lang="en-US" altLang="zh-CN">
              <a:cs typeface="Arial" charset="0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VLAN</a:t>
            </a:r>
            <a:r>
              <a:rPr lang="zh-CN" altLang="en-US"/>
              <a:t>跨交换机通信过程</a:t>
            </a:r>
          </a:p>
        </p:txBody>
      </p:sp>
      <p:grpSp>
        <p:nvGrpSpPr>
          <p:cNvPr id="2" name="组合 23"/>
          <p:cNvGrpSpPr>
            <a:grpSpLocks/>
          </p:cNvGrpSpPr>
          <p:nvPr/>
        </p:nvGrpSpPr>
        <p:grpSpPr bwMode="auto">
          <a:xfrm>
            <a:off x="4672013" y="3971925"/>
            <a:ext cx="4089400" cy="12700"/>
            <a:chOff x="2600337" y="5314913"/>
            <a:chExt cx="4089417" cy="12763"/>
          </a:xfrm>
        </p:grpSpPr>
        <p:grpSp>
          <p:nvGrpSpPr>
            <p:cNvPr id="3" name="组合 44"/>
            <p:cNvGrpSpPr>
              <a:grpSpLocks/>
            </p:cNvGrpSpPr>
            <p:nvPr/>
          </p:nvGrpSpPr>
          <p:grpSpPr bwMode="auto">
            <a:xfrm>
              <a:off x="2600337" y="5322915"/>
              <a:ext cx="3797313" cy="4761"/>
              <a:chOff x="2527291" y="5837273"/>
              <a:chExt cx="3797313" cy="4761"/>
            </a:xfrm>
          </p:grpSpPr>
          <p:cxnSp>
            <p:nvCxnSpPr>
              <p:cNvPr id="24637" name="直接连接符 26"/>
              <p:cNvCxnSpPr>
                <a:cxnSpLocks noChangeShapeType="1"/>
              </p:cNvCxnSpPr>
              <p:nvPr/>
            </p:nvCxnSpPr>
            <p:spPr bwMode="auto">
              <a:xfrm>
                <a:off x="2527291" y="5840446"/>
                <a:ext cx="1423988" cy="1588"/>
              </a:xfrm>
              <a:prstGeom prst="line">
                <a:avLst/>
              </a:prstGeom>
              <a:noFill/>
              <a:ln w="31750" algn="ctr">
                <a:solidFill>
                  <a:srgbClr val="FF3300"/>
                </a:solidFill>
                <a:round/>
                <a:headEnd/>
                <a:tailEnd/>
              </a:ln>
            </p:spPr>
          </p:cxnSp>
          <p:cxnSp>
            <p:nvCxnSpPr>
              <p:cNvPr id="24638" name="直接连接符 27"/>
              <p:cNvCxnSpPr>
                <a:cxnSpLocks noChangeShapeType="1"/>
              </p:cNvCxnSpPr>
              <p:nvPr/>
            </p:nvCxnSpPr>
            <p:spPr bwMode="auto">
              <a:xfrm>
                <a:off x="2709836" y="5838861"/>
                <a:ext cx="1423988" cy="1588"/>
              </a:xfrm>
              <a:prstGeom prst="line">
                <a:avLst/>
              </a:prstGeom>
              <a:noFill/>
              <a:ln w="31750" algn="ctr">
                <a:solidFill>
                  <a:schemeClr val="tx2"/>
                </a:solidFill>
                <a:round/>
                <a:headEnd/>
                <a:tailEnd/>
              </a:ln>
            </p:spPr>
          </p:cxnSp>
          <p:cxnSp>
            <p:nvCxnSpPr>
              <p:cNvPr id="24639" name="直接连接符 28"/>
              <p:cNvCxnSpPr>
                <a:cxnSpLocks noChangeShapeType="1"/>
              </p:cNvCxnSpPr>
              <p:nvPr/>
            </p:nvCxnSpPr>
            <p:spPr bwMode="auto">
              <a:xfrm>
                <a:off x="2928915" y="5840446"/>
                <a:ext cx="1423987" cy="1587"/>
              </a:xfrm>
              <a:prstGeom prst="line">
                <a:avLst/>
              </a:prstGeom>
              <a:noFill/>
              <a:ln w="31750" algn="ctr">
                <a:solidFill>
                  <a:srgbClr val="66CCFF"/>
                </a:solidFill>
                <a:round/>
                <a:headEnd/>
                <a:tailEnd/>
              </a:ln>
            </p:spPr>
          </p:cxnSp>
          <p:cxnSp>
            <p:nvCxnSpPr>
              <p:cNvPr id="24640" name="直接连接符 29"/>
              <p:cNvCxnSpPr>
                <a:cxnSpLocks noChangeShapeType="1"/>
              </p:cNvCxnSpPr>
              <p:nvPr/>
            </p:nvCxnSpPr>
            <p:spPr bwMode="auto">
              <a:xfrm>
                <a:off x="3148012" y="5840446"/>
                <a:ext cx="1423988" cy="1588"/>
              </a:xfrm>
              <a:prstGeom prst="line">
                <a:avLst/>
              </a:prstGeom>
              <a:noFill/>
              <a:ln w="31750" algn="ctr">
                <a:solidFill>
                  <a:srgbClr val="FF3300"/>
                </a:solidFill>
                <a:round/>
                <a:headEnd/>
                <a:tailEnd/>
              </a:ln>
            </p:spPr>
          </p:cxnSp>
          <p:cxnSp>
            <p:nvCxnSpPr>
              <p:cNvPr id="24641" name="直接连接符 30"/>
              <p:cNvCxnSpPr>
                <a:cxnSpLocks noChangeShapeType="1"/>
              </p:cNvCxnSpPr>
              <p:nvPr/>
            </p:nvCxnSpPr>
            <p:spPr bwMode="auto">
              <a:xfrm>
                <a:off x="3367090" y="5840446"/>
                <a:ext cx="1423988" cy="1588"/>
              </a:xfrm>
              <a:prstGeom prst="line">
                <a:avLst/>
              </a:prstGeom>
              <a:noFill/>
              <a:ln w="31750" algn="ctr">
                <a:solidFill>
                  <a:schemeClr val="tx2"/>
                </a:solidFill>
                <a:round/>
                <a:headEnd/>
                <a:tailEnd/>
              </a:ln>
            </p:spPr>
          </p:cxnSp>
          <p:cxnSp>
            <p:nvCxnSpPr>
              <p:cNvPr id="24642" name="直接连接符 31"/>
              <p:cNvCxnSpPr>
                <a:cxnSpLocks noChangeShapeType="1"/>
              </p:cNvCxnSpPr>
              <p:nvPr/>
            </p:nvCxnSpPr>
            <p:spPr bwMode="auto">
              <a:xfrm>
                <a:off x="3598044" y="5840446"/>
                <a:ext cx="1423987" cy="1587"/>
              </a:xfrm>
              <a:prstGeom prst="line">
                <a:avLst/>
              </a:prstGeom>
              <a:noFill/>
              <a:ln w="31750" algn="ctr">
                <a:solidFill>
                  <a:srgbClr val="66CCFF"/>
                </a:solidFill>
                <a:round/>
                <a:headEnd/>
                <a:tailEnd/>
              </a:ln>
            </p:spPr>
          </p:cxnSp>
          <p:cxnSp>
            <p:nvCxnSpPr>
              <p:cNvPr id="24643" name="直接连接符 32"/>
              <p:cNvCxnSpPr>
                <a:cxnSpLocks noChangeShapeType="1"/>
              </p:cNvCxnSpPr>
              <p:nvPr/>
            </p:nvCxnSpPr>
            <p:spPr bwMode="auto">
              <a:xfrm>
                <a:off x="3805227" y="5838858"/>
                <a:ext cx="1423988" cy="1588"/>
              </a:xfrm>
              <a:prstGeom prst="line">
                <a:avLst/>
              </a:prstGeom>
              <a:noFill/>
              <a:ln w="31750" algn="ctr">
                <a:solidFill>
                  <a:srgbClr val="FF3300"/>
                </a:solidFill>
                <a:round/>
                <a:headEnd/>
                <a:tailEnd/>
              </a:ln>
            </p:spPr>
          </p:cxnSp>
          <p:cxnSp>
            <p:nvCxnSpPr>
              <p:cNvPr id="24644" name="直接连接符 33"/>
              <p:cNvCxnSpPr>
                <a:cxnSpLocks noChangeShapeType="1"/>
              </p:cNvCxnSpPr>
              <p:nvPr/>
            </p:nvCxnSpPr>
            <p:spPr bwMode="auto">
              <a:xfrm>
                <a:off x="4024305" y="5837273"/>
                <a:ext cx="1423988" cy="1588"/>
              </a:xfrm>
              <a:prstGeom prst="line">
                <a:avLst/>
              </a:prstGeom>
              <a:noFill/>
              <a:ln w="31750" algn="ctr">
                <a:solidFill>
                  <a:schemeClr val="tx2"/>
                </a:solidFill>
                <a:round/>
                <a:headEnd/>
                <a:tailEnd/>
              </a:ln>
            </p:spPr>
          </p:cxnSp>
          <p:cxnSp>
            <p:nvCxnSpPr>
              <p:cNvPr id="24645" name="直接连接符 34"/>
              <p:cNvCxnSpPr>
                <a:cxnSpLocks noChangeShapeType="1"/>
              </p:cNvCxnSpPr>
              <p:nvPr/>
            </p:nvCxnSpPr>
            <p:spPr bwMode="auto">
              <a:xfrm>
                <a:off x="4243383" y="5838858"/>
                <a:ext cx="1423987" cy="1587"/>
              </a:xfrm>
              <a:prstGeom prst="line">
                <a:avLst/>
              </a:prstGeom>
              <a:noFill/>
              <a:ln w="31750" algn="ctr">
                <a:solidFill>
                  <a:srgbClr val="66CCFF"/>
                </a:solidFill>
                <a:round/>
                <a:headEnd/>
                <a:tailEnd/>
              </a:ln>
            </p:spPr>
          </p:cxnSp>
          <p:cxnSp>
            <p:nvCxnSpPr>
              <p:cNvPr id="24646" name="直接连接符 35"/>
              <p:cNvCxnSpPr>
                <a:cxnSpLocks noChangeShapeType="1"/>
              </p:cNvCxnSpPr>
              <p:nvPr/>
            </p:nvCxnSpPr>
            <p:spPr bwMode="auto">
              <a:xfrm>
                <a:off x="4462461" y="5838858"/>
                <a:ext cx="1423988" cy="1588"/>
              </a:xfrm>
              <a:prstGeom prst="line">
                <a:avLst/>
              </a:prstGeom>
              <a:noFill/>
              <a:ln w="31750" algn="ctr">
                <a:solidFill>
                  <a:srgbClr val="FF3300"/>
                </a:solidFill>
                <a:round/>
                <a:headEnd/>
                <a:tailEnd/>
              </a:ln>
            </p:spPr>
          </p:cxnSp>
          <p:cxnSp>
            <p:nvCxnSpPr>
              <p:cNvPr id="24647" name="直接连接符 36"/>
              <p:cNvCxnSpPr>
                <a:cxnSpLocks noChangeShapeType="1"/>
              </p:cNvCxnSpPr>
              <p:nvPr/>
            </p:nvCxnSpPr>
            <p:spPr bwMode="auto">
              <a:xfrm>
                <a:off x="4681539" y="5838858"/>
                <a:ext cx="1423988" cy="1588"/>
              </a:xfrm>
              <a:prstGeom prst="line">
                <a:avLst/>
              </a:prstGeom>
              <a:noFill/>
              <a:ln w="31750" algn="ctr">
                <a:solidFill>
                  <a:schemeClr val="tx2"/>
                </a:solidFill>
                <a:round/>
                <a:headEnd/>
                <a:tailEnd/>
              </a:ln>
            </p:spPr>
          </p:cxnSp>
          <p:cxnSp>
            <p:nvCxnSpPr>
              <p:cNvPr id="24648" name="直接连接符 37"/>
              <p:cNvCxnSpPr>
                <a:cxnSpLocks noChangeShapeType="1"/>
              </p:cNvCxnSpPr>
              <p:nvPr/>
            </p:nvCxnSpPr>
            <p:spPr bwMode="auto">
              <a:xfrm>
                <a:off x="4900617" y="5838858"/>
                <a:ext cx="1423987" cy="1587"/>
              </a:xfrm>
              <a:prstGeom prst="line">
                <a:avLst/>
              </a:prstGeom>
              <a:noFill/>
              <a:ln w="31750" algn="ctr">
                <a:solidFill>
                  <a:srgbClr val="66CCFF"/>
                </a:solidFill>
                <a:round/>
                <a:headEnd/>
                <a:tailEnd/>
              </a:ln>
            </p:spPr>
          </p:cxnSp>
        </p:grpSp>
        <p:cxnSp>
          <p:nvCxnSpPr>
            <p:cNvPr id="24636" name="直接连接符 25"/>
            <p:cNvCxnSpPr>
              <a:cxnSpLocks noChangeShapeType="1"/>
            </p:cNvCxnSpPr>
            <p:nvPr/>
          </p:nvCxnSpPr>
          <p:spPr bwMode="auto">
            <a:xfrm>
              <a:off x="5265767" y="5314913"/>
              <a:ext cx="1423987" cy="1587"/>
            </a:xfrm>
            <a:prstGeom prst="line">
              <a:avLst/>
            </a:prstGeom>
            <a:noFill/>
            <a:ln w="57150" algn="ctr">
              <a:solidFill>
                <a:schemeClr val="bg1"/>
              </a:solidFill>
              <a:round/>
              <a:headEnd/>
              <a:tailEnd/>
            </a:ln>
          </p:spPr>
        </p:cxnSp>
      </p:grpSp>
      <p:cxnSp>
        <p:nvCxnSpPr>
          <p:cNvPr id="24581" name="直接连接符 62"/>
          <p:cNvCxnSpPr>
            <a:cxnSpLocks noChangeShapeType="1"/>
          </p:cNvCxnSpPr>
          <p:nvPr/>
        </p:nvCxnSpPr>
        <p:spPr bwMode="auto">
          <a:xfrm>
            <a:off x="7739064" y="3983039"/>
            <a:ext cx="1423987" cy="1587"/>
          </a:xfrm>
          <a:prstGeom prst="line">
            <a:avLst/>
          </a:prstGeom>
          <a:noFill/>
          <a:ln w="31750" algn="ctr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24582" name="直接连接符 59"/>
          <p:cNvCxnSpPr>
            <a:cxnSpLocks noChangeShapeType="1"/>
          </p:cNvCxnSpPr>
          <p:nvPr/>
        </p:nvCxnSpPr>
        <p:spPr bwMode="auto">
          <a:xfrm>
            <a:off x="3101975" y="3984625"/>
            <a:ext cx="1423988" cy="1588"/>
          </a:xfrm>
          <a:prstGeom prst="line">
            <a:avLst/>
          </a:prstGeom>
          <a:noFill/>
          <a:ln w="31750" algn="ctr">
            <a:solidFill>
              <a:schemeClr val="tx2"/>
            </a:solidFill>
            <a:round/>
            <a:headEnd/>
            <a:tailEnd/>
          </a:ln>
        </p:spPr>
      </p:cxnSp>
      <p:pic>
        <p:nvPicPr>
          <p:cNvPr id="24583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43400" y="3752851"/>
            <a:ext cx="116840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4" name="图片 11" descr="asd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63825" y="3763964"/>
            <a:ext cx="48418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5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16713" y="3752851"/>
            <a:ext cx="116840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6" name="图片 11" descr="asd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63825" y="2657476"/>
            <a:ext cx="48418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7" name="图片 11" descr="asd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63825" y="5030789"/>
            <a:ext cx="48418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8" name="图片 11" descr="asd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053514" y="3767139"/>
            <a:ext cx="4841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9" name="图片 11" descr="asd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053514" y="2671764"/>
            <a:ext cx="4841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90" name="图片 11" descr="asd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053514" y="5045076"/>
            <a:ext cx="4841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4591" name="直接连接符 46"/>
          <p:cNvCxnSpPr>
            <a:cxnSpLocks noChangeShapeType="1"/>
          </p:cNvCxnSpPr>
          <p:nvPr/>
        </p:nvCxnSpPr>
        <p:spPr bwMode="auto">
          <a:xfrm>
            <a:off x="3148014" y="2887664"/>
            <a:ext cx="1341437" cy="974725"/>
          </a:xfrm>
          <a:prstGeom prst="line">
            <a:avLst/>
          </a:prstGeom>
          <a:noFill/>
          <a:ln w="31750" algn="ctr">
            <a:solidFill>
              <a:srgbClr val="66CCFF"/>
            </a:solidFill>
            <a:round/>
            <a:headEnd/>
            <a:tailEnd/>
          </a:ln>
        </p:spPr>
      </p:cxnSp>
      <p:cxnSp>
        <p:nvCxnSpPr>
          <p:cNvPr id="24592" name="直接连接符 47"/>
          <p:cNvCxnSpPr>
            <a:cxnSpLocks noChangeShapeType="1"/>
          </p:cNvCxnSpPr>
          <p:nvPr/>
        </p:nvCxnSpPr>
        <p:spPr bwMode="auto">
          <a:xfrm flipV="1">
            <a:off x="3148013" y="4227513"/>
            <a:ext cx="1231900" cy="1033462"/>
          </a:xfrm>
          <a:prstGeom prst="line">
            <a:avLst/>
          </a:prstGeom>
          <a:noFill/>
          <a:ln w="31750" algn="ctr">
            <a:solidFill>
              <a:srgbClr val="FF3300"/>
            </a:solidFill>
            <a:round/>
            <a:headEnd/>
            <a:tailEnd/>
          </a:ln>
        </p:spPr>
      </p:cxnSp>
      <p:cxnSp>
        <p:nvCxnSpPr>
          <p:cNvPr id="24593" name="直接连接符 58"/>
          <p:cNvCxnSpPr>
            <a:cxnSpLocks noChangeShapeType="1"/>
          </p:cNvCxnSpPr>
          <p:nvPr/>
        </p:nvCxnSpPr>
        <p:spPr bwMode="auto">
          <a:xfrm>
            <a:off x="7702551" y="4154489"/>
            <a:ext cx="1350963" cy="1120775"/>
          </a:xfrm>
          <a:prstGeom prst="line">
            <a:avLst/>
          </a:prstGeom>
          <a:noFill/>
          <a:ln w="31750" algn="ctr">
            <a:solidFill>
              <a:srgbClr val="FF3300"/>
            </a:solidFill>
            <a:round/>
            <a:headEnd/>
            <a:tailEnd/>
          </a:ln>
        </p:spPr>
      </p:cxnSp>
      <p:cxnSp>
        <p:nvCxnSpPr>
          <p:cNvPr id="24594" name="直接连接符 60"/>
          <p:cNvCxnSpPr>
            <a:cxnSpLocks noChangeShapeType="1"/>
          </p:cNvCxnSpPr>
          <p:nvPr/>
        </p:nvCxnSpPr>
        <p:spPr bwMode="auto">
          <a:xfrm flipV="1">
            <a:off x="7885113" y="2901951"/>
            <a:ext cx="1168400" cy="887413"/>
          </a:xfrm>
          <a:prstGeom prst="line">
            <a:avLst/>
          </a:prstGeom>
          <a:noFill/>
          <a:ln w="31750" algn="ctr">
            <a:solidFill>
              <a:srgbClr val="66CCFF"/>
            </a:solidFill>
            <a:round/>
            <a:headEnd/>
            <a:tailEnd/>
          </a:ln>
        </p:spPr>
      </p:cxnSp>
      <p:sp>
        <p:nvSpPr>
          <p:cNvPr id="24595" name="Text Box 13"/>
          <p:cNvSpPr txBox="1">
            <a:spLocks noChangeArrowheads="1"/>
          </p:cNvSpPr>
          <p:nvPr/>
        </p:nvSpPr>
        <p:spPr bwMode="auto">
          <a:xfrm>
            <a:off x="8834438" y="4775200"/>
            <a:ext cx="1058862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VLAN 30</a:t>
            </a:r>
            <a:endParaRPr kumimoji="1" lang="zh-CN" altLang="en-US" sz="1600" b="1">
              <a:solidFill>
                <a:schemeClr val="tx2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4596" name="Text Box 13"/>
          <p:cNvSpPr txBox="1">
            <a:spLocks noChangeArrowheads="1"/>
          </p:cNvSpPr>
          <p:nvPr/>
        </p:nvSpPr>
        <p:spPr bwMode="auto">
          <a:xfrm>
            <a:off x="2408238" y="4775200"/>
            <a:ext cx="1058862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VLAN 30</a:t>
            </a:r>
            <a:endParaRPr kumimoji="1" lang="zh-CN" altLang="en-US" sz="1600" b="1">
              <a:solidFill>
                <a:schemeClr val="tx2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4597" name="Text Box 13"/>
          <p:cNvSpPr txBox="1">
            <a:spLocks noChangeArrowheads="1"/>
          </p:cNvSpPr>
          <p:nvPr/>
        </p:nvSpPr>
        <p:spPr bwMode="auto">
          <a:xfrm>
            <a:off x="8797926" y="3533775"/>
            <a:ext cx="1058863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VLAN 20</a:t>
            </a:r>
            <a:endParaRPr kumimoji="1" lang="zh-CN" altLang="en-US" sz="1600" b="1">
              <a:solidFill>
                <a:schemeClr val="tx2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4598" name="Text Box 13"/>
          <p:cNvSpPr txBox="1">
            <a:spLocks noChangeArrowheads="1"/>
          </p:cNvSpPr>
          <p:nvPr/>
        </p:nvSpPr>
        <p:spPr bwMode="auto">
          <a:xfrm>
            <a:off x="2408238" y="3497264"/>
            <a:ext cx="1058862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VLAN 20</a:t>
            </a:r>
            <a:endParaRPr kumimoji="1" lang="zh-CN" altLang="en-US" sz="1600" b="1">
              <a:solidFill>
                <a:schemeClr val="tx2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4599" name="Text Box 13"/>
          <p:cNvSpPr txBox="1">
            <a:spLocks noChangeArrowheads="1"/>
          </p:cNvSpPr>
          <p:nvPr/>
        </p:nvSpPr>
        <p:spPr bwMode="auto">
          <a:xfrm>
            <a:off x="2481263" y="2401889"/>
            <a:ext cx="1058862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VLAN 10</a:t>
            </a:r>
            <a:endParaRPr kumimoji="1" lang="zh-CN" altLang="en-US" sz="1600" b="1">
              <a:solidFill>
                <a:schemeClr val="tx2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4600" name="Text Box 13"/>
          <p:cNvSpPr txBox="1">
            <a:spLocks noChangeArrowheads="1"/>
          </p:cNvSpPr>
          <p:nvPr/>
        </p:nvSpPr>
        <p:spPr bwMode="auto">
          <a:xfrm>
            <a:off x="8797926" y="2401889"/>
            <a:ext cx="1058863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VLAN 10</a:t>
            </a:r>
            <a:endParaRPr kumimoji="1" lang="zh-CN" altLang="en-US" sz="1600" b="1">
              <a:solidFill>
                <a:schemeClr val="tx2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grpSp>
        <p:nvGrpSpPr>
          <p:cNvPr id="4" name="Group 205"/>
          <p:cNvGrpSpPr>
            <a:grpSpLocks/>
          </p:cNvGrpSpPr>
          <p:nvPr/>
        </p:nvGrpSpPr>
        <p:grpSpPr bwMode="auto">
          <a:xfrm>
            <a:off x="3357563" y="2773363"/>
            <a:ext cx="1079500" cy="144462"/>
            <a:chOff x="1565" y="2024"/>
            <a:chExt cx="997" cy="136"/>
          </a:xfrm>
        </p:grpSpPr>
        <p:sp>
          <p:nvSpPr>
            <p:cNvPr id="24633" name="Rectangle 203"/>
            <p:cNvSpPr>
              <a:spLocks noChangeArrowheads="1"/>
            </p:cNvSpPr>
            <p:nvPr/>
          </p:nvSpPr>
          <p:spPr bwMode="auto">
            <a:xfrm>
              <a:off x="1565" y="2024"/>
              <a:ext cx="317" cy="136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34" name="Rectangle 204"/>
            <p:cNvSpPr>
              <a:spLocks noChangeArrowheads="1"/>
            </p:cNvSpPr>
            <p:nvPr/>
          </p:nvSpPr>
          <p:spPr bwMode="auto">
            <a:xfrm>
              <a:off x="1882" y="2024"/>
              <a:ext cx="680" cy="136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5" name="Group 213"/>
          <p:cNvGrpSpPr>
            <a:grpSpLocks/>
          </p:cNvGrpSpPr>
          <p:nvPr/>
        </p:nvGrpSpPr>
        <p:grpSpPr bwMode="auto">
          <a:xfrm>
            <a:off x="4433889" y="3540126"/>
            <a:ext cx="1296987" cy="144463"/>
            <a:chOff x="1882" y="2750"/>
            <a:chExt cx="817" cy="91"/>
          </a:xfrm>
        </p:grpSpPr>
        <p:sp>
          <p:nvSpPr>
            <p:cNvPr id="24630" name="Rectangle 207"/>
            <p:cNvSpPr>
              <a:spLocks noChangeArrowheads="1"/>
            </p:cNvSpPr>
            <p:nvPr/>
          </p:nvSpPr>
          <p:spPr bwMode="auto">
            <a:xfrm>
              <a:off x="1882" y="2750"/>
              <a:ext cx="216" cy="91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31" name="Rectangle 208"/>
            <p:cNvSpPr>
              <a:spLocks noChangeArrowheads="1"/>
            </p:cNvSpPr>
            <p:nvPr/>
          </p:nvSpPr>
          <p:spPr bwMode="auto">
            <a:xfrm>
              <a:off x="2235" y="2750"/>
              <a:ext cx="464" cy="91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32" name="Rectangle 210"/>
            <p:cNvSpPr>
              <a:spLocks noChangeArrowheads="1"/>
            </p:cNvSpPr>
            <p:nvPr/>
          </p:nvSpPr>
          <p:spPr bwMode="auto">
            <a:xfrm>
              <a:off x="2064" y="2750"/>
              <a:ext cx="181" cy="90"/>
            </a:xfrm>
            <a:prstGeom prst="rect">
              <a:avLst/>
            </a:prstGeom>
            <a:solidFill>
              <a:srgbClr val="66CCFF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6" name="Group 214"/>
          <p:cNvGrpSpPr>
            <a:grpSpLocks/>
          </p:cNvGrpSpPr>
          <p:nvPr/>
        </p:nvGrpSpPr>
        <p:grpSpPr bwMode="auto">
          <a:xfrm>
            <a:off x="6570664" y="3538538"/>
            <a:ext cx="1296987" cy="144462"/>
            <a:chOff x="1882" y="2750"/>
            <a:chExt cx="817" cy="91"/>
          </a:xfrm>
        </p:grpSpPr>
        <p:sp>
          <p:nvSpPr>
            <p:cNvPr id="24627" name="Rectangle 215"/>
            <p:cNvSpPr>
              <a:spLocks noChangeArrowheads="1"/>
            </p:cNvSpPr>
            <p:nvPr/>
          </p:nvSpPr>
          <p:spPr bwMode="auto">
            <a:xfrm>
              <a:off x="1882" y="2750"/>
              <a:ext cx="216" cy="91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28" name="Rectangle 216"/>
            <p:cNvSpPr>
              <a:spLocks noChangeArrowheads="1"/>
            </p:cNvSpPr>
            <p:nvPr/>
          </p:nvSpPr>
          <p:spPr bwMode="auto">
            <a:xfrm>
              <a:off x="2235" y="2750"/>
              <a:ext cx="464" cy="91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29" name="Rectangle 217"/>
            <p:cNvSpPr>
              <a:spLocks noChangeArrowheads="1"/>
            </p:cNvSpPr>
            <p:nvPr/>
          </p:nvSpPr>
          <p:spPr bwMode="auto">
            <a:xfrm>
              <a:off x="2064" y="2750"/>
              <a:ext cx="181" cy="90"/>
            </a:xfrm>
            <a:prstGeom prst="rect">
              <a:avLst/>
            </a:prstGeom>
            <a:solidFill>
              <a:srgbClr val="66CCFF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7" name="Group 218"/>
          <p:cNvGrpSpPr>
            <a:grpSpLocks/>
          </p:cNvGrpSpPr>
          <p:nvPr/>
        </p:nvGrpSpPr>
        <p:grpSpPr bwMode="auto">
          <a:xfrm>
            <a:off x="7827963" y="2773363"/>
            <a:ext cx="1079500" cy="144462"/>
            <a:chOff x="1565" y="2024"/>
            <a:chExt cx="997" cy="136"/>
          </a:xfrm>
        </p:grpSpPr>
        <p:sp>
          <p:nvSpPr>
            <p:cNvPr id="24625" name="Rectangle 219"/>
            <p:cNvSpPr>
              <a:spLocks noChangeArrowheads="1"/>
            </p:cNvSpPr>
            <p:nvPr/>
          </p:nvSpPr>
          <p:spPr bwMode="auto">
            <a:xfrm>
              <a:off x="1565" y="2024"/>
              <a:ext cx="317" cy="136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26" name="Rectangle 220"/>
            <p:cNvSpPr>
              <a:spLocks noChangeArrowheads="1"/>
            </p:cNvSpPr>
            <p:nvPr/>
          </p:nvSpPr>
          <p:spPr bwMode="auto">
            <a:xfrm>
              <a:off x="1882" y="2024"/>
              <a:ext cx="680" cy="136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8" name="Group 205"/>
          <p:cNvGrpSpPr>
            <a:grpSpLocks/>
          </p:cNvGrpSpPr>
          <p:nvPr/>
        </p:nvGrpSpPr>
        <p:grpSpPr bwMode="auto">
          <a:xfrm>
            <a:off x="3357563" y="5145088"/>
            <a:ext cx="1079500" cy="144462"/>
            <a:chOff x="1565" y="2024"/>
            <a:chExt cx="997" cy="136"/>
          </a:xfrm>
        </p:grpSpPr>
        <p:sp>
          <p:nvSpPr>
            <p:cNvPr id="24623" name="Rectangle 203"/>
            <p:cNvSpPr>
              <a:spLocks noChangeArrowheads="1"/>
            </p:cNvSpPr>
            <p:nvPr/>
          </p:nvSpPr>
          <p:spPr bwMode="auto">
            <a:xfrm>
              <a:off x="1565" y="2024"/>
              <a:ext cx="317" cy="136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24" name="Rectangle 204"/>
            <p:cNvSpPr>
              <a:spLocks noChangeArrowheads="1"/>
            </p:cNvSpPr>
            <p:nvPr/>
          </p:nvSpPr>
          <p:spPr bwMode="auto">
            <a:xfrm>
              <a:off x="1882" y="2024"/>
              <a:ext cx="680" cy="136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9" name="Group 213"/>
          <p:cNvGrpSpPr>
            <a:grpSpLocks/>
          </p:cNvGrpSpPr>
          <p:nvPr/>
        </p:nvGrpSpPr>
        <p:grpSpPr bwMode="auto">
          <a:xfrm>
            <a:off x="4427539" y="4305301"/>
            <a:ext cx="1296987" cy="144463"/>
            <a:chOff x="1882" y="2750"/>
            <a:chExt cx="817" cy="91"/>
          </a:xfrm>
        </p:grpSpPr>
        <p:sp>
          <p:nvSpPr>
            <p:cNvPr id="24620" name="Rectangle 207"/>
            <p:cNvSpPr>
              <a:spLocks noChangeArrowheads="1"/>
            </p:cNvSpPr>
            <p:nvPr/>
          </p:nvSpPr>
          <p:spPr bwMode="auto">
            <a:xfrm>
              <a:off x="1882" y="2750"/>
              <a:ext cx="216" cy="91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21" name="Rectangle 208"/>
            <p:cNvSpPr>
              <a:spLocks noChangeArrowheads="1"/>
            </p:cNvSpPr>
            <p:nvPr/>
          </p:nvSpPr>
          <p:spPr bwMode="auto">
            <a:xfrm>
              <a:off x="2235" y="2750"/>
              <a:ext cx="464" cy="91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22" name="Rectangle 210"/>
            <p:cNvSpPr>
              <a:spLocks noChangeArrowheads="1"/>
            </p:cNvSpPr>
            <p:nvPr/>
          </p:nvSpPr>
          <p:spPr bwMode="auto">
            <a:xfrm>
              <a:off x="2064" y="2750"/>
              <a:ext cx="181" cy="90"/>
            </a:xfrm>
            <a:prstGeom prst="rect">
              <a:avLst/>
            </a:prstGeom>
            <a:solidFill>
              <a:srgbClr val="FF3300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0" name="Group 213"/>
          <p:cNvGrpSpPr>
            <a:grpSpLocks/>
          </p:cNvGrpSpPr>
          <p:nvPr/>
        </p:nvGrpSpPr>
        <p:grpSpPr bwMode="auto">
          <a:xfrm>
            <a:off x="6551614" y="4306888"/>
            <a:ext cx="1296987" cy="144462"/>
            <a:chOff x="1882" y="2750"/>
            <a:chExt cx="817" cy="91"/>
          </a:xfrm>
        </p:grpSpPr>
        <p:sp>
          <p:nvSpPr>
            <p:cNvPr id="24617" name="Rectangle 207"/>
            <p:cNvSpPr>
              <a:spLocks noChangeArrowheads="1"/>
            </p:cNvSpPr>
            <p:nvPr/>
          </p:nvSpPr>
          <p:spPr bwMode="auto">
            <a:xfrm>
              <a:off x="1882" y="2750"/>
              <a:ext cx="216" cy="91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18" name="Rectangle 208"/>
            <p:cNvSpPr>
              <a:spLocks noChangeArrowheads="1"/>
            </p:cNvSpPr>
            <p:nvPr/>
          </p:nvSpPr>
          <p:spPr bwMode="auto">
            <a:xfrm>
              <a:off x="2235" y="2750"/>
              <a:ext cx="464" cy="91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19" name="Rectangle 210"/>
            <p:cNvSpPr>
              <a:spLocks noChangeArrowheads="1"/>
            </p:cNvSpPr>
            <p:nvPr/>
          </p:nvSpPr>
          <p:spPr bwMode="auto">
            <a:xfrm>
              <a:off x="2064" y="2750"/>
              <a:ext cx="181" cy="90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1" name="Group 205"/>
          <p:cNvGrpSpPr>
            <a:grpSpLocks/>
          </p:cNvGrpSpPr>
          <p:nvPr/>
        </p:nvGrpSpPr>
        <p:grpSpPr bwMode="auto">
          <a:xfrm>
            <a:off x="7754938" y="5145088"/>
            <a:ext cx="1079500" cy="144462"/>
            <a:chOff x="1565" y="2024"/>
            <a:chExt cx="997" cy="136"/>
          </a:xfrm>
        </p:grpSpPr>
        <p:sp>
          <p:nvSpPr>
            <p:cNvPr id="24615" name="Rectangle 203"/>
            <p:cNvSpPr>
              <a:spLocks noChangeArrowheads="1"/>
            </p:cNvSpPr>
            <p:nvPr/>
          </p:nvSpPr>
          <p:spPr bwMode="auto">
            <a:xfrm>
              <a:off x="1565" y="2024"/>
              <a:ext cx="317" cy="136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16" name="Rectangle 204"/>
            <p:cNvSpPr>
              <a:spLocks noChangeArrowheads="1"/>
            </p:cNvSpPr>
            <p:nvPr/>
          </p:nvSpPr>
          <p:spPr bwMode="auto">
            <a:xfrm>
              <a:off x="1882" y="2024"/>
              <a:ext cx="680" cy="136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99" name="Line 212"/>
          <p:cNvSpPr>
            <a:spLocks noChangeShapeType="1"/>
          </p:cNvSpPr>
          <p:nvPr/>
        </p:nvSpPr>
        <p:spPr bwMode="auto">
          <a:xfrm>
            <a:off x="5840413" y="3611563"/>
            <a:ext cx="646112" cy="0"/>
          </a:xfrm>
          <a:prstGeom prst="line">
            <a:avLst/>
          </a:prstGeom>
          <a:noFill/>
          <a:ln w="38100">
            <a:solidFill>
              <a:srgbClr val="66CCFF"/>
            </a:solidFill>
            <a:round/>
            <a:headEnd/>
            <a:tailEnd type="triangle" w="lg" len="sm"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100" name="Line 212"/>
          <p:cNvSpPr>
            <a:spLocks noChangeShapeType="1"/>
          </p:cNvSpPr>
          <p:nvPr/>
        </p:nvSpPr>
        <p:spPr bwMode="auto">
          <a:xfrm>
            <a:off x="5816601" y="4389438"/>
            <a:ext cx="646113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lg" len="sm"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101" name="Line 212"/>
          <p:cNvSpPr>
            <a:spLocks noChangeShapeType="1"/>
          </p:cNvSpPr>
          <p:nvPr/>
        </p:nvSpPr>
        <p:spPr bwMode="auto">
          <a:xfrm>
            <a:off x="3905251" y="3100388"/>
            <a:ext cx="511175" cy="328612"/>
          </a:xfrm>
          <a:prstGeom prst="line">
            <a:avLst/>
          </a:prstGeom>
          <a:noFill/>
          <a:ln w="38100">
            <a:solidFill>
              <a:srgbClr val="66CCFF"/>
            </a:solidFill>
            <a:round/>
            <a:headEnd/>
            <a:tailEnd type="triangle" w="lg" len="sm"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102" name="Line 212"/>
          <p:cNvSpPr>
            <a:spLocks noChangeShapeType="1"/>
          </p:cNvSpPr>
          <p:nvPr/>
        </p:nvSpPr>
        <p:spPr bwMode="auto">
          <a:xfrm flipV="1">
            <a:off x="7994651" y="3063876"/>
            <a:ext cx="474663" cy="365125"/>
          </a:xfrm>
          <a:prstGeom prst="line">
            <a:avLst/>
          </a:prstGeom>
          <a:noFill/>
          <a:ln w="38100">
            <a:solidFill>
              <a:srgbClr val="66CCFF"/>
            </a:solidFill>
            <a:round/>
            <a:headEnd/>
            <a:tailEnd type="triangle" w="lg" len="sm"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103" name="Line 212"/>
          <p:cNvSpPr>
            <a:spLocks noChangeShapeType="1"/>
          </p:cNvSpPr>
          <p:nvPr/>
        </p:nvSpPr>
        <p:spPr bwMode="auto">
          <a:xfrm flipV="1">
            <a:off x="3832226" y="4633914"/>
            <a:ext cx="474663" cy="3651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lg" len="sm"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104" name="Line 212"/>
          <p:cNvSpPr>
            <a:spLocks noChangeShapeType="1"/>
          </p:cNvSpPr>
          <p:nvPr/>
        </p:nvSpPr>
        <p:spPr bwMode="auto">
          <a:xfrm>
            <a:off x="7848600" y="4560888"/>
            <a:ext cx="547688" cy="4746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lg" len="sm"/>
          </a:ln>
        </p:spPr>
        <p:txBody>
          <a:bodyPr anchor="b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内容占位符 5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en-US">
                <a:cs typeface="Arial" charset="0"/>
              </a:rPr>
              <a:t>在以太网上实现中继，</a:t>
            </a:r>
            <a:r>
              <a:rPr lang="zh-CN" altLang="en-US">
                <a:cs typeface="Arial" charset="0"/>
              </a:rPr>
              <a:t>有</a:t>
            </a:r>
            <a:r>
              <a:rPr lang="en-US" altLang="en-US">
                <a:cs typeface="Arial" charset="0"/>
              </a:rPr>
              <a:t>两种封装类型</a:t>
            </a:r>
          </a:p>
          <a:p>
            <a:pPr lvl="1">
              <a:spcBef>
                <a:spcPts val="475"/>
              </a:spcBef>
            </a:pPr>
            <a:r>
              <a:rPr lang="en-US" altLang="zh-CN">
                <a:cs typeface="Arial" charset="0"/>
              </a:rPr>
              <a:t>ISL</a:t>
            </a:r>
            <a:r>
              <a:rPr lang="zh-CN" altLang="en-US">
                <a:cs typeface="Arial" charset="0"/>
              </a:rPr>
              <a:t>（</a:t>
            </a:r>
            <a:r>
              <a:rPr lang="en-US" altLang="zh-CN">
                <a:cs typeface="Arial" charset="0"/>
              </a:rPr>
              <a:t>Cisco</a:t>
            </a:r>
            <a:r>
              <a:rPr lang="zh-CN" altLang="en-US">
                <a:cs typeface="Arial" charset="0"/>
              </a:rPr>
              <a:t>私有标准）</a:t>
            </a:r>
          </a:p>
          <a:p>
            <a:pPr lvl="1">
              <a:spcBef>
                <a:spcPts val="475"/>
              </a:spcBef>
            </a:pPr>
            <a:r>
              <a:rPr lang="en-US" altLang="zh-CN">
                <a:cs typeface="Arial" charset="0"/>
              </a:rPr>
              <a:t>IEEE 802.1q</a:t>
            </a:r>
          </a:p>
          <a:p>
            <a:pPr lvl="1">
              <a:spcBef>
                <a:spcPts val="475"/>
              </a:spcBef>
            </a:pPr>
            <a:endParaRPr lang="en-US" altLang="zh-CN">
              <a:cs typeface="Arial" charset="0"/>
            </a:endParaRPr>
          </a:p>
          <a:p>
            <a:pPr>
              <a:spcBef>
                <a:spcPts val="675"/>
              </a:spcBef>
            </a:pPr>
            <a:r>
              <a:rPr lang="en-US" altLang="zh-CN">
                <a:cs typeface="Arial" charset="0"/>
              </a:rPr>
              <a:t>ISL</a:t>
            </a:r>
            <a:r>
              <a:rPr lang="zh-CN" altLang="en-US">
                <a:cs typeface="Arial" charset="0"/>
              </a:rPr>
              <a:t>帧格式</a:t>
            </a:r>
          </a:p>
        </p:txBody>
      </p:sp>
      <p:sp>
        <p:nvSpPr>
          <p:cNvPr id="2560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VLAN</a:t>
            </a:r>
            <a:r>
              <a:rPr lang="zh-CN" altLang="en-US"/>
              <a:t>的标识</a:t>
            </a:r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2041525" y="3767139"/>
            <a:ext cx="8021638" cy="1379537"/>
            <a:chOff x="326" y="2296"/>
            <a:chExt cx="5053" cy="869"/>
          </a:xfrm>
        </p:grpSpPr>
        <p:sp>
          <p:nvSpPr>
            <p:cNvPr id="25605" name="Rectangle 4"/>
            <p:cNvSpPr>
              <a:spLocks noChangeArrowheads="1"/>
            </p:cNvSpPr>
            <p:nvPr/>
          </p:nvSpPr>
          <p:spPr bwMode="auto">
            <a:xfrm>
              <a:off x="340" y="2296"/>
              <a:ext cx="1010" cy="273"/>
            </a:xfrm>
            <a:prstGeom prst="rect">
              <a:avLst/>
            </a:prstGeom>
            <a:gradFill rotWithShape="1">
              <a:gsLst>
                <a:gs pos="0">
                  <a:srgbClr val="B7CAE7"/>
                </a:gs>
                <a:gs pos="100000">
                  <a:srgbClr val="555D6B"/>
                </a:gs>
              </a:gsLst>
              <a:lin ang="5400000" scaled="1"/>
            </a:gradFill>
            <a:ln w="12700" algn="ctr">
              <a:noFill/>
              <a:miter lim="800000"/>
              <a:headEnd/>
              <a:tailEnd/>
            </a:ln>
            <a:effectLst>
              <a:prstShdw prst="shdw17" dist="17961" dir="2700000">
                <a:srgbClr val="6E798B"/>
              </a:prstShdw>
            </a:effectLst>
          </p:spPr>
          <p:txBody>
            <a:bodyPr wrap="none" anchor="ctr"/>
            <a:lstStyle/>
            <a:p>
              <a:endParaRPr lang="zh-CN" altLang="en-US" sz="20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1111" y="2931"/>
              <a:ext cx="590" cy="233"/>
              <a:chOff x="1239" y="2361"/>
              <a:chExt cx="590" cy="233"/>
            </a:xfrm>
          </p:grpSpPr>
          <p:sp>
            <p:nvSpPr>
              <p:cNvPr id="25626" name="Rectangle 7"/>
              <p:cNvSpPr>
                <a:spLocks noChangeArrowheads="1"/>
              </p:cNvSpPr>
              <p:nvPr/>
            </p:nvSpPr>
            <p:spPr bwMode="auto">
              <a:xfrm>
                <a:off x="1239" y="2361"/>
                <a:ext cx="590" cy="227"/>
              </a:xfrm>
              <a:prstGeom prst="rect">
                <a:avLst/>
              </a:prstGeom>
              <a:solidFill>
                <a:srgbClr val="EAEAEA"/>
              </a:solidFill>
              <a:ln w="12700" algn="ctr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25627" name="Text Box 8"/>
              <p:cNvSpPr txBox="1">
                <a:spLocks noChangeArrowheads="1"/>
              </p:cNvSpPr>
              <p:nvPr/>
            </p:nvSpPr>
            <p:spPr bwMode="auto">
              <a:xfrm>
                <a:off x="1375" y="2361"/>
                <a:ext cx="326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solidFill>
                      <a:schemeClr val="tx2"/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DA</a:t>
                </a:r>
              </a:p>
            </p:txBody>
          </p:sp>
        </p:grpSp>
        <p:grpSp>
          <p:nvGrpSpPr>
            <p:cNvPr id="4" name="Group 9"/>
            <p:cNvGrpSpPr>
              <a:grpSpLocks/>
            </p:cNvGrpSpPr>
            <p:nvPr/>
          </p:nvGrpSpPr>
          <p:grpSpPr bwMode="auto">
            <a:xfrm>
              <a:off x="1701" y="2931"/>
              <a:ext cx="590" cy="233"/>
              <a:chOff x="1829" y="2361"/>
              <a:chExt cx="590" cy="233"/>
            </a:xfrm>
          </p:grpSpPr>
          <p:sp>
            <p:nvSpPr>
              <p:cNvPr id="25624" name="Rectangle 10"/>
              <p:cNvSpPr>
                <a:spLocks noChangeArrowheads="1"/>
              </p:cNvSpPr>
              <p:nvPr/>
            </p:nvSpPr>
            <p:spPr bwMode="auto">
              <a:xfrm>
                <a:off x="1829" y="2361"/>
                <a:ext cx="590" cy="227"/>
              </a:xfrm>
              <a:prstGeom prst="rect">
                <a:avLst/>
              </a:prstGeom>
              <a:solidFill>
                <a:srgbClr val="EAEAEA"/>
              </a:solidFill>
              <a:ln w="12700" algn="ctr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25625" name="Text Box 11"/>
              <p:cNvSpPr txBox="1">
                <a:spLocks noChangeArrowheads="1"/>
              </p:cNvSpPr>
              <p:nvPr/>
            </p:nvSpPr>
            <p:spPr bwMode="auto">
              <a:xfrm>
                <a:off x="1965" y="2361"/>
                <a:ext cx="302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solidFill>
                      <a:schemeClr val="tx2"/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SA</a:t>
                </a:r>
              </a:p>
            </p:txBody>
          </p:sp>
        </p:grpSp>
        <p:grpSp>
          <p:nvGrpSpPr>
            <p:cNvPr id="5" name="Group 30"/>
            <p:cNvGrpSpPr>
              <a:grpSpLocks/>
            </p:cNvGrpSpPr>
            <p:nvPr/>
          </p:nvGrpSpPr>
          <p:grpSpPr bwMode="auto">
            <a:xfrm>
              <a:off x="2257" y="2931"/>
              <a:ext cx="1069" cy="234"/>
              <a:chOff x="2385" y="2361"/>
              <a:chExt cx="1069" cy="234"/>
            </a:xfrm>
          </p:grpSpPr>
          <p:sp>
            <p:nvSpPr>
              <p:cNvPr id="25622" name="Rectangle 13"/>
              <p:cNvSpPr>
                <a:spLocks noChangeArrowheads="1"/>
              </p:cNvSpPr>
              <p:nvPr/>
            </p:nvSpPr>
            <p:spPr bwMode="auto">
              <a:xfrm>
                <a:off x="2418" y="2361"/>
                <a:ext cx="953" cy="227"/>
              </a:xfrm>
              <a:prstGeom prst="rect">
                <a:avLst/>
              </a:prstGeom>
              <a:solidFill>
                <a:srgbClr val="EAEAEA"/>
              </a:solidFill>
              <a:ln w="12700" algn="ctr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25623" name="Text Box 14"/>
              <p:cNvSpPr txBox="1">
                <a:spLocks noChangeArrowheads="1"/>
              </p:cNvSpPr>
              <p:nvPr/>
            </p:nvSpPr>
            <p:spPr bwMode="auto">
              <a:xfrm>
                <a:off x="2385" y="2362"/>
                <a:ext cx="1069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b="1">
                    <a:solidFill>
                      <a:schemeClr val="tx2"/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以太类型</a:t>
                </a:r>
                <a:r>
                  <a:rPr lang="en-US" altLang="zh-CN" b="1">
                    <a:solidFill>
                      <a:schemeClr val="tx2"/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/</a:t>
                </a:r>
                <a:r>
                  <a:rPr lang="zh-CN" altLang="en-US" b="1">
                    <a:solidFill>
                      <a:schemeClr val="tx2"/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长度</a:t>
                </a:r>
              </a:p>
            </p:txBody>
          </p:sp>
        </p:grpSp>
        <p:grpSp>
          <p:nvGrpSpPr>
            <p:cNvPr id="6" name="Group 15"/>
            <p:cNvGrpSpPr>
              <a:grpSpLocks/>
            </p:cNvGrpSpPr>
            <p:nvPr/>
          </p:nvGrpSpPr>
          <p:grpSpPr bwMode="auto">
            <a:xfrm>
              <a:off x="3243" y="2922"/>
              <a:ext cx="953" cy="236"/>
              <a:chOff x="3371" y="2352"/>
              <a:chExt cx="953" cy="236"/>
            </a:xfrm>
          </p:grpSpPr>
          <p:sp>
            <p:nvSpPr>
              <p:cNvPr id="25620" name="Rectangle 16"/>
              <p:cNvSpPr>
                <a:spLocks noChangeArrowheads="1"/>
              </p:cNvSpPr>
              <p:nvPr/>
            </p:nvSpPr>
            <p:spPr bwMode="auto">
              <a:xfrm>
                <a:off x="3371" y="2361"/>
                <a:ext cx="953" cy="227"/>
              </a:xfrm>
              <a:prstGeom prst="rect">
                <a:avLst/>
              </a:prstGeom>
              <a:solidFill>
                <a:srgbClr val="EAEAEA"/>
              </a:solidFill>
              <a:ln w="12700" algn="ctr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25621" name="Text Box 17"/>
              <p:cNvSpPr txBox="1">
                <a:spLocks noChangeArrowheads="1"/>
              </p:cNvSpPr>
              <p:nvPr/>
            </p:nvSpPr>
            <p:spPr bwMode="auto">
              <a:xfrm>
                <a:off x="3607" y="2352"/>
                <a:ext cx="409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b="1">
                    <a:solidFill>
                      <a:schemeClr val="tx2"/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数据</a:t>
                </a:r>
              </a:p>
            </p:txBody>
          </p:sp>
        </p:grpSp>
        <p:grpSp>
          <p:nvGrpSpPr>
            <p:cNvPr id="7" name="Group 18"/>
            <p:cNvGrpSpPr>
              <a:grpSpLocks/>
            </p:cNvGrpSpPr>
            <p:nvPr/>
          </p:nvGrpSpPr>
          <p:grpSpPr bwMode="auto">
            <a:xfrm>
              <a:off x="4195" y="2931"/>
              <a:ext cx="499" cy="233"/>
              <a:chOff x="4323" y="2361"/>
              <a:chExt cx="499" cy="233"/>
            </a:xfrm>
          </p:grpSpPr>
          <p:sp>
            <p:nvSpPr>
              <p:cNvPr id="25618" name="Rectangle 19"/>
              <p:cNvSpPr>
                <a:spLocks noChangeArrowheads="1"/>
              </p:cNvSpPr>
              <p:nvPr/>
            </p:nvSpPr>
            <p:spPr bwMode="auto">
              <a:xfrm>
                <a:off x="4323" y="2361"/>
                <a:ext cx="499" cy="227"/>
              </a:xfrm>
              <a:prstGeom prst="rect">
                <a:avLst/>
              </a:prstGeom>
              <a:solidFill>
                <a:srgbClr val="EAEAEA"/>
              </a:solidFill>
              <a:ln w="12700" algn="ctr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25619" name="Text Box 20"/>
              <p:cNvSpPr txBox="1">
                <a:spLocks noChangeArrowheads="1"/>
              </p:cNvSpPr>
              <p:nvPr/>
            </p:nvSpPr>
            <p:spPr bwMode="auto">
              <a:xfrm>
                <a:off x="4378" y="2361"/>
                <a:ext cx="431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solidFill>
                      <a:schemeClr val="tx2"/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CRC</a:t>
                </a:r>
              </a:p>
            </p:txBody>
          </p:sp>
        </p:grpSp>
        <p:sp>
          <p:nvSpPr>
            <p:cNvPr id="25611" name="Text Box 21"/>
            <p:cNvSpPr txBox="1">
              <a:spLocks noChangeArrowheads="1"/>
            </p:cNvSpPr>
            <p:nvPr/>
          </p:nvSpPr>
          <p:spPr bwMode="auto">
            <a:xfrm>
              <a:off x="326" y="2303"/>
              <a:ext cx="1035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chemeClr val="bg1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26</a:t>
              </a:r>
              <a:r>
                <a:rPr lang="zh-CN" altLang="en-US" sz="2000" b="1">
                  <a:solidFill>
                    <a:schemeClr val="bg1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字节</a:t>
              </a:r>
              <a:r>
                <a:rPr lang="en-US" altLang="zh-CN" sz="2000" b="1">
                  <a:solidFill>
                    <a:schemeClr val="bg1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ISL</a:t>
              </a:r>
              <a:r>
                <a:rPr lang="zh-CN" altLang="en-US" sz="2000" b="1">
                  <a:solidFill>
                    <a:schemeClr val="bg1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头</a:t>
              </a:r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657" y="2569"/>
              <a:ext cx="0" cy="499"/>
            </a:xfrm>
            <a:prstGeom prst="line">
              <a:avLst/>
            </a:prstGeom>
            <a:noFill/>
            <a:ln w="38100">
              <a:solidFill>
                <a:srgbClr val="6666FF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pPr>
                <a:defRPr/>
              </a:pPr>
              <a:endParaRPr lang="zh-CN" altLang="en-US" sz="20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>
              <a:off x="657" y="3068"/>
              <a:ext cx="454" cy="0"/>
            </a:xfrm>
            <a:prstGeom prst="line">
              <a:avLst/>
            </a:prstGeom>
            <a:noFill/>
            <a:ln w="38100">
              <a:solidFill>
                <a:srgbClr val="6666FF"/>
              </a:solidFill>
              <a:round/>
              <a:headEnd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pPr>
                <a:defRPr/>
              </a:pPr>
              <a:endParaRPr lang="zh-CN" altLang="en-US" sz="20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25614" name="Rectangle 24"/>
            <p:cNvSpPr>
              <a:spLocks noChangeArrowheads="1"/>
            </p:cNvSpPr>
            <p:nvPr/>
          </p:nvSpPr>
          <p:spPr bwMode="auto">
            <a:xfrm>
              <a:off x="4423" y="2342"/>
              <a:ext cx="953" cy="273"/>
            </a:xfrm>
            <a:prstGeom prst="rect">
              <a:avLst/>
            </a:prstGeom>
            <a:gradFill rotWithShape="1">
              <a:gsLst>
                <a:gs pos="0">
                  <a:srgbClr val="B7CAE7"/>
                </a:gs>
                <a:gs pos="100000">
                  <a:srgbClr val="555D6B"/>
                </a:gs>
              </a:gsLst>
              <a:lin ang="5400000" scaled="1"/>
            </a:gradFill>
            <a:ln w="12700" algn="ctr">
              <a:noFill/>
              <a:miter lim="800000"/>
              <a:headEnd/>
              <a:tailEnd/>
            </a:ln>
            <a:effectLst>
              <a:prstShdw prst="shdw17" dist="17961" dir="2700000">
                <a:srgbClr val="6E798B"/>
              </a:prstShdw>
            </a:effectLst>
          </p:spPr>
          <p:txBody>
            <a:bodyPr wrap="none" anchor="ctr"/>
            <a:lstStyle/>
            <a:p>
              <a:endParaRPr lang="zh-CN" altLang="en-US" sz="20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25615" name="Text Box 25"/>
            <p:cNvSpPr txBox="1">
              <a:spLocks noChangeArrowheads="1"/>
            </p:cNvSpPr>
            <p:nvPr/>
          </p:nvSpPr>
          <p:spPr bwMode="auto">
            <a:xfrm>
              <a:off x="4434" y="2342"/>
              <a:ext cx="945" cy="25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chemeClr val="bg1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4</a:t>
              </a:r>
              <a:r>
                <a:rPr lang="zh-CN" altLang="en-US" sz="2000" b="1">
                  <a:solidFill>
                    <a:schemeClr val="bg1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字节</a:t>
              </a:r>
              <a:r>
                <a:rPr lang="en-US" altLang="zh-CN" sz="2000" b="1">
                  <a:solidFill>
                    <a:schemeClr val="bg1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ISL</a:t>
              </a:r>
              <a:r>
                <a:rPr lang="zh-CN" altLang="en-US" sz="2000" b="1">
                  <a:solidFill>
                    <a:schemeClr val="bg1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尾</a:t>
              </a:r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4921" y="2614"/>
              <a:ext cx="0" cy="408"/>
            </a:xfrm>
            <a:prstGeom prst="line">
              <a:avLst/>
            </a:prstGeom>
            <a:noFill/>
            <a:ln w="38100">
              <a:solidFill>
                <a:srgbClr val="6666FF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pPr>
                <a:defRPr/>
              </a:pPr>
              <a:endParaRPr lang="zh-CN" altLang="en-US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25617" name="Line 27"/>
            <p:cNvSpPr>
              <a:spLocks noChangeShapeType="1"/>
            </p:cNvSpPr>
            <p:nvPr/>
          </p:nvSpPr>
          <p:spPr bwMode="auto">
            <a:xfrm flipH="1">
              <a:off x="4694" y="3022"/>
              <a:ext cx="227" cy="0"/>
            </a:xfrm>
            <a:prstGeom prst="line">
              <a:avLst/>
            </a:prstGeom>
            <a:noFill/>
            <a:ln w="38100">
              <a:solidFill>
                <a:srgbClr val="6666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内容占位符 14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/>
              <a:t>IEEE 802.1q</a:t>
            </a:r>
            <a:r>
              <a:rPr lang="zh-CN" altLang="en-US"/>
              <a:t>工作原理</a:t>
            </a:r>
          </a:p>
        </p:txBody>
      </p:sp>
      <p:sp>
        <p:nvSpPr>
          <p:cNvPr id="2662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IEEE 802.1q</a:t>
            </a:r>
            <a:endParaRPr lang="zh-CN" altLang="en-US"/>
          </a:p>
        </p:txBody>
      </p:sp>
      <p:sp>
        <p:nvSpPr>
          <p:cNvPr id="19" name="Text Box 7"/>
          <p:cNvSpPr txBox="1">
            <a:spLocks noChangeArrowheads="1"/>
          </p:cNvSpPr>
          <p:nvPr/>
        </p:nvSpPr>
        <p:spPr bwMode="auto">
          <a:xfrm>
            <a:off x="5456238" y="1931989"/>
            <a:ext cx="133350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中继链路</a:t>
            </a:r>
          </a:p>
        </p:txBody>
      </p:sp>
      <p:sp>
        <p:nvSpPr>
          <p:cNvPr id="21" name="Text Box 10"/>
          <p:cNvSpPr txBox="1">
            <a:spLocks noChangeArrowheads="1"/>
          </p:cNvSpPr>
          <p:nvPr/>
        </p:nvSpPr>
        <p:spPr bwMode="auto">
          <a:xfrm>
            <a:off x="3092450" y="1931989"/>
            <a:ext cx="12509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接入链路</a:t>
            </a:r>
          </a:p>
        </p:txBody>
      </p:sp>
      <p:sp>
        <p:nvSpPr>
          <p:cNvPr id="89" name="AutoShape 80"/>
          <p:cNvSpPr>
            <a:spLocks noChangeArrowheads="1"/>
          </p:cNvSpPr>
          <p:nvPr/>
        </p:nvSpPr>
        <p:spPr bwMode="auto">
          <a:xfrm>
            <a:off x="4959351" y="3333750"/>
            <a:ext cx="2397125" cy="407988"/>
          </a:xfrm>
          <a:prstGeom prst="wedgeRoundRectCallout">
            <a:avLst>
              <a:gd name="adj1" fmla="val -61324"/>
              <a:gd name="adj2" fmla="val -183074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802.1q </a:t>
            </a:r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标记   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4</a:t>
            </a:r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字节</a:t>
            </a:r>
          </a:p>
        </p:txBody>
      </p:sp>
      <p:grpSp>
        <p:nvGrpSpPr>
          <p:cNvPr id="2" name="组合 100"/>
          <p:cNvGrpSpPr>
            <a:grpSpLocks/>
          </p:cNvGrpSpPr>
          <p:nvPr/>
        </p:nvGrpSpPr>
        <p:grpSpPr bwMode="auto">
          <a:xfrm>
            <a:off x="4452938" y="2260600"/>
            <a:ext cx="4089400" cy="12700"/>
            <a:chOff x="2600337" y="5314913"/>
            <a:chExt cx="4089417" cy="12763"/>
          </a:xfrm>
        </p:grpSpPr>
        <p:grpSp>
          <p:nvGrpSpPr>
            <p:cNvPr id="3" name="组合 44"/>
            <p:cNvGrpSpPr>
              <a:grpSpLocks/>
            </p:cNvGrpSpPr>
            <p:nvPr/>
          </p:nvGrpSpPr>
          <p:grpSpPr bwMode="auto">
            <a:xfrm>
              <a:off x="2600337" y="5322915"/>
              <a:ext cx="3797313" cy="4761"/>
              <a:chOff x="2527291" y="5837273"/>
              <a:chExt cx="3797313" cy="4761"/>
            </a:xfrm>
          </p:grpSpPr>
          <p:cxnSp>
            <p:nvCxnSpPr>
              <p:cNvPr id="26717" name="直接连接符 103"/>
              <p:cNvCxnSpPr>
                <a:cxnSpLocks noChangeShapeType="1"/>
              </p:cNvCxnSpPr>
              <p:nvPr/>
            </p:nvCxnSpPr>
            <p:spPr bwMode="auto">
              <a:xfrm>
                <a:off x="2527291" y="5840446"/>
                <a:ext cx="1423988" cy="1588"/>
              </a:xfrm>
              <a:prstGeom prst="line">
                <a:avLst/>
              </a:prstGeom>
              <a:noFill/>
              <a:ln w="31750" algn="ctr">
                <a:solidFill>
                  <a:srgbClr val="FF3300"/>
                </a:solidFill>
                <a:round/>
                <a:headEnd/>
                <a:tailEnd/>
              </a:ln>
            </p:spPr>
          </p:cxnSp>
          <p:cxnSp>
            <p:nvCxnSpPr>
              <p:cNvPr id="26718" name="直接连接符 104"/>
              <p:cNvCxnSpPr>
                <a:cxnSpLocks noChangeShapeType="1"/>
              </p:cNvCxnSpPr>
              <p:nvPr/>
            </p:nvCxnSpPr>
            <p:spPr bwMode="auto">
              <a:xfrm>
                <a:off x="2709836" y="5838861"/>
                <a:ext cx="1423988" cy="1588"/>
              </a:xfrm>
              <a:prstGeom prst="line">
                <a:avLst/>
              </a:prstGeom>
              <a:noFill/>
              <a:ln w="31750" algn="ctr">
                <a:solidFill>
                  <a:schemeClr val="tx2"/>
                </a:solidFill>
                <a:round/>
                <a:headEnd/>
                <a:tailEnd/>
              </a:ln>
            </p:spPr>
          </p:cxnSp>
          <p:cxnSp>
            <p:nvCxnSpPr>
              <p:cNvPr id="26719" name="直接连接符 105"/>
              <p:cNvCxnSpPr>
                <a:cxnSpLocks noChangeShapeType="1"/>
              </p:cNvCxnSpPr>
              <p:nvPr/>
            </p:nvCxnSpPr>
            <p:spPr bwMode="auto">
              <a:xfrm>
                <a:off x="2928915" y="5840446"/>
                <a:ext cx="1423987" cy="1587"/>
              </a:xfrm>
              <a:prstGeom prst="line">
                <a:avLst/>
              </a:prstGeom>
              <a:noFill/>
              <a:ln w="31750" algn="ctr">
                <a:solidFill>
                  <a:srgbClr val="66CCFF"/>
                </a:solidFill>
                <a:round/>
                <a:headEnd/>
                <a:tailEnd/>
              </a:ln>
            </p:spPr>
          </p:cxnSp>
          <p:cxnSp>
            <p:nvCxnSpPr>
              <p:cNvPr id="26720" name="直接连接符 106"/>
              <p:cNvCxnSpPr>
                <a:cxnSpLocks noChangeShapeType="1"/>
              </p:cNvCxnSpPr>
              <p:nvPr/>
            </p:nvCxnSpPr>
            <p:spPr bwMode="auto">
              <a:xfrm>
                <a:off x="3148012" y="5840446"/>
                <a:ext cx="1423988" cy="1588"/>
              </a:xfrm>
              <a:prstGeom prst="line">
                <a:avLst/>
              </a:prstGeom>
              <a:noFill/>
              <a:ln w="31750" algn="ctr">
                <a:solidFill>
                  <a:srgbClr val="FF3300"/>
                </a:solidFill>
                <a:round/>
                <a:headEnd/>
                <a:tailEnd/>
              </a:ln>
            </p:spPr>
          </p:cxnSp>
          <p:cxnSp>
            <p:nvCxnSpPr>
              <p:cNvPr id="26721" name="直接连接符 107"/>
              <p:cNvCxnSpPr>
                <a:cxnSpLocks noChangeShapeType="1"/>
              </p:cNvCxnSpPr>
              <p:nvPr/>
            </p:nvCxnSpPr>
            <p:spPr bwMode="auto">
              <a:xfrm>
                <a:off x="3367090" y="5840446"/>
                <a:ext cx="1423988" cy="1588"/>
              </a:xfrm>
              <a:prstGeom prst="line">
                <a:avLst/>
              </a:prstGeom>
              <a:noFill/>
              <a:ln w="31750" algn="ctr">
                <a:solidFill>
                  <a:schemeClr val="tx2"/>
                </a:solidFill>
                <a:round/>
                <a:headEnd/>
                <a:tailEnd/>
              </a:ln>
            </p:spPr>
          </p:cxnSp>
          <p:cxnSp>
            <p:nvCxnSpPr>
              <p:cNvPr id="26722" name="直接连接符 108"/>
              <p:cNvCxnSpPr>
                <a:cxnSpLocks noChangeShapeType="1"/>
              </p:cNvCxnSpPr>
              <p:nvPr/>
            </p:nvCxnSpPr>
            <p:spPr bwMode="auto">
              <a:xfrm>
                <a:off x="3598044" y="5840446"/>
                <a:ext cx="1423987" cy="1587"/>
              </a:xfrm>
              <a:prstGeom prst="line">
                <a:avLst/>
              </a:prstGeom>
              <a:noFill/>
              <a:ln w="31750" algn="ctr">
                <a:solidFill>
                  <a:srgbClr val="66CCFF"/>
                </a:solidFill>
                <a:round/>
                <a:headEnd/>
                <a:tailEnd/>
              </a:ln>
            </p:spPr>
          </p:cxnSp>
          <p:cxnSp>
            <p:nvCxnSpPr>
              <p:cNvPr id="26723" name="直接连接符 109"/>
              <p:cNvCxnSpPr>
                <a:cxnSpLocks noChangeShapeType="1"/>
              </p:cNvCxnSpPr>
              <p:nvPr/>
            </p:nvCxnSpPr>
            <p:spPr bwMode="auto">
              <a:xfrm>
                <a:off x="3805227" y="5838858"/>
                <a:ext cx="1423988" cy="1588"/>
              </a:xfrm>
              <a:prstGeom prst="line">
                <a:avLst/>
              </a:prstGeom>
              <a:noFill/>
              <a:ln w="31750" algn="ctr">
                <a:solidFill>
                  <a:srgbClr val="FF3300"/>
                </a:solidFill>
                <a:round/>
                <a:headEnd/>
                <a:tailEnd/>
              </a:ln>
            </p:spPr>
          </p:cxnSp>
          <p:cxnSp>
            <p:nvCxnSpPr>
              <p:cNvPr id="26724" name="直接连接符 110"/>
              <p:cNvCxnSpPr>
                <a:cxnSpLocks noChangeShapeType="1"/>
              </p:cNvCxnSpPr>
              <p:nvPr/>
            </p:nvCxnSpPr>
            <p:spPr bwMode="auto">
              <a:xfrm>
                <a:off x="4024305" y="5837273"/>
                <a:ext cx="1423988" cy="1588"/>
              </a:xfrm>
              <a:prstGeom prst="line">
                <a:avLst/>
              </a:prstGeom>
              <a:noFill/>
              <a:ln w="31750" algn="ctr">
                <a:solidFill>
                  <a:schemeClr val="tx2"/>
                </a:solidFill>
                <a:round/>
                <a:headEnd/>
                <a:tailEnd/>
              </a:ln>
            </p:spPr>
          </p:cxnSp>
          <p:cxnSp>
            <p:nvCxnSpPr>
              <p:cNvPr id="26725" name="直接连接符 111"/>
              <p:cNvCxnSpPr>
                <a:cxnSpLocks noChangeShapeType="1"/>
              </p:cNvCxnSpPr>
              <p:nvPr/>
            </p:nvCxnSpPr>
            <p:spPr bwMode="auto">
              <a:xfrm>
                <a:off x="4243383" y="5838858"/>
                <a:ext cx="1423987" cy="1587"/>
              </a:xfrm>
              <a:prstGeom prst="line">
                <a:avLst/>
              </a:prstGeom>
              <a:noFill/>
              <a:ln w="31750" algn="ctr">
                <a:solidFill>
                  <a:srgbClr val="66CCFF"/>
                </a:solidFill>
                <a:round/>
                <a:headEnd/>
                <a:tailEnd/>
              </a:ln>
            </p:spPr>
          </p:cxnSp>
          <p:cxnSp>
            <p:nvCxnSpPr>
              <p:cNvPr id="26726" name="直接连接符 112"/>
              <p:cNvCxnSpPr>
                <a:cxnSpLocks noChangeShapeType="1"/>
              </p:cNvCxnSpPr>
              <p:nvPr/>
            </p:nvCxnSpPr>
            <p:spPr bwMode="auto">
              <a:xfrm>
                <a:off x="4462461" y="5838858"/>
                <a:ext cx="1423988" cy="1588"/>
              </a:xfrm>
              <a:prstGeom prst="line">
                <a:avLst/>
              </a:prstGeom>
              <a:noFill/>
              <a:ln w="31750" algn="ctr">
                <a:solidFill>
                  <a:srgbClr val="FF3300"/>
                </a:solidFill>
                <a:round/>
                <a:headEnd/>
                <a:tailEnd/>
              </a:ln>
            </p:spPr>
          </p:cxnSp>
          <p:cxnSp>
            <p:nvCxnSpPr>
              <p:cNvPr id="26727" name="直接连接符 113"/>
              <p:cNvCxnSpPr>
                <a:cxnSpLocks noChangeShapeType="1"/>
              </p:cNvCxnSpPr>
              <p:nvPr/>
            </p:nvCxnSpPr>
            <p:spPr bwMode="auto">
              <a:xfrm>
                <a:off x="4681539" y="5838858"/>
                <a:ext cx="1423988" cy="1588"/>
              </a:xfrm>
              <a:prstGeom prst="line">
                <a:avLst/>
              </a:prstGeom>
              <a:noFill/>
              <a:ln w="31750" algn="ctr">
                <a:solidFill>
                  <a:schemeClr val="tx2"/>
                </a:solidFill>
                <a:round/>
                <a:headEnd/>
                <a:tailEnd/>
              </a:ln>
            </p:spPr>
          </p:cxnSp>
          <p:cxnSp>
            <p:nvCxnSpPr>
              <p:cNvPr id="26728" name="直接连接符 114"/>
              <p:cNvCxnSpPr>
                <a:cxnSpLocks noChangeShapeType="1"/>
              </p:cNvCxnSpPr>
              <p:nvPr/>
            </p:nvCxnSpPr>
            <p:spPr bwMode="auto">
              <a:xfrm>
                <a:off x="4900617" y="5838858"/>
                <a:ext cx="1423987" cy="1587"/>
              </a:xfrm>
              <a:prstGeom prst="line">
                <a:avLst/>
              </a:prstGeom>
              <a:noFill/>
              <a:ln w="31750" algn="ctr">
                <a:solidFill>
                  <a:srgbClr val="66CCFF"/>
                </a:solidFill>
                <a:round/>
                <a:headEnd/>
                <a:tailEnd/>
              </a:ln>
            </p:spPr>
          </p:cxnSp>
        </p:grpSp>
        <p:cxnSp>
          <p:nvCxnSpPr>
            <p:cNvPr id="26716" name="直接连接符 102"/>
            <p:cNvCxnSpPr>
              <a:cxnSpLocks noChangeShapeType="1"/>
            </p:cNvCxnSpPr>
            <p:nvPr/>
          </p:nvCxnSpPr>
          <p:spPr bwMode="auto">
            <a:xfrm>
              <a:off x="5265767" y="5314913"/>
              <a:ext cx="1423987" cy="1587"/>
            </a:xfrm>
            <a:prstGeom prst="line">
              <a:avLst/>
            </a:prstGeom>
            <a:noFill/>
            <a:ln w="57150" algn="ctr">
              <a:solidFill>
                <a:schemeClr val="bg1"/>
              </a:solidFill>
              <a:round/>
              <a:headEnd/>
              <a:tailEnd/>
            </a:ln>
          </p:spPr>
        </p:cxnSp>
      </p:grpSp>
      <p:cxnSp>
        <p:nvCxnSpPr>
          <p:cNvPr id="116" name="直接连接符 62"/>
          <p:cNvCxnSpPr>
            <a:cxnSpLocks noChangeShapeType="1"/>
          </p:cNvCxnSpPr>
          <p:nvPr/>
        </p:nvCxnSpPr>
        <p:spPr bwMode="auto">
          <a:xfrm>
            <a:off x="7519989" y="2271714"/>
            <a:ext cx="1423987" cy="1587"/>
          </a:xfrm>
          <a:prstGeom prst="line">
            <a:avLst/>
          </a:prstGeom>
          <a:noFill/>
          <a:ln w="31750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117" name="直接连接符 59"/>
          <p:cNvCxnSpPr>
            <a:cxnSpLocks noChangeShapeType="1"/>
          </p:cNvCxnSpPr>
          <p:nvPr/>
        </p:nvCxnSpPr>
        <p:spPr bwMode="auto">
          <a:xfrm>
            <a:off x="2882900" y="2273300"/>
            <a:ext cx="1423988" cy="1588"/>
          </a:xfrm>
          <a:prstGeom prst="line">
            <a:avLst/>
          </a:prstGeom>
          <a:noFill/>
          <a:ln w="31750" algn="ctr">
            <a:solidFill>
              <a:srgbClr val="FF0000"/>
            </a:solidFill>
            <a:round/>
            <a:headEnd/>
            <a:tailEnd/>
          </a:ln>
        </p:spPr>
      </p:cxnSp>
      <p:pic>
        <p:nvPicPr>
          <p:cNvPr id="118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24325" y="2041526"/>
            <a:ext cx="116840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9" name="图片 11" descr="asd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44750" y="2052639"/>
            <a:ext cx="48418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0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97638" y="2041526"/>
            <a:ext cx="116840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" name="图片 11" descr="asd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834439" y="2055814"/>
            <a:ext cx="4841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8" name="Text Box 13"/>
          <p:cNvSpPr txBox="1">
            <a:spLocks noChangeArrowheads="1"/>
          </p:cNvSpPr>
          <p:nvPr/>
        </p:nvSpPr>
        <p:spPr bwMode="auto">
          <a:xfrm>
            <a:off x="8578851" y="1822450"/>
            <a:ext cx="1058863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VLAN 20</a:t>
            </a:r>
            <a:endParaRPr kumimoji="1" lang="zh-CN" altLang="en-US" sz="1600" b="1">
              <a:solidFill>
                <a:schemeClr val="tx2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29" name="Text Box 13"/>
          <p:cNvSpPr txBox="1">
            <a:spLocks noChangeArrowheads="1"/>
          </p:cNvSpPr>
          <p:nvPr/>
        </p:nvSpPr>
        <p:spPr bwMode="auto">
          <a:xfrm>
            <a:off x="2189163" y="1785939"/>
            <a:ext cx="1058862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VLAN 20</a:t>
            </a:r>
            <a:endParaRPr kumimoji="1" lang="zh-CN" altLang="en-US" sz="1600" b="1">
              <a:solidFill>
                <a:schemeClr val="tx2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grpSp>
        <p:nvGrpSpPr>
          <p:cNvPr id="4" name="Group 205"/>
          <p:cNvGrpSpPr>
            <a:grpSpLocks/>
          </p:cNvGrpSpPr>
          <p:nvPr/>
        </p:nvGrpSpPr>
        <p:grpSpPr bwMode="auto">
          <a:xfrm>
            <a:off x="2205038" y="2589213"/>
            <a:ext cx="1079500" cy="144462"/>
            <a:chOff x="1565" y="2024"/>
            <a:chExt cx="997" cy="136"/>
          </a:xfrm>
        </p:grpSpPr>
        <p:sp>
          <p:nvSpPr>
            <p:cNvPr id="26713" name="Rectangle 203"/>
            <p:cNvSpPr>
              <a:spLocks noChangeArrowheads="1"/>
            </p:cNvSpPr>
            <p:nvPr/>
          </p:nvSpPr>
          <p:spPr bwMode="auto">
            <a:xfrm>
              <a:off x="1565" y="2024"/>
              <a:ext cx="317" cy="136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26714" name="Rectangle 204"/>
            <p:cNvSpPr>
              <a:spLocks noChangeArrowheads="1"/>
            </p:cNvSpPr>
            <p:nvPr/>
          </p:nvSpPr>
          <p:spPr bwMode="auto">
            <a:xfrm>
              <a:off x="1882" y="2024"/>
              <a:ext cx="680" cy="136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sp>
        <p:nvSpPr>
          <p:cNvPr id="142" name="Rectangle 207"/>
          <p:cNvSpPr>
            <a:spLocks noChangeArrowheads="1"/>
          </p:cNvSpPr>
          <p:nvPr/>
        </p:nvSpPr>
        <p:spPr bwMode="auto">
          <a:xfrm>
            <a:off x="4208464" y="2593975"/>
            <a:ext cx="280987" cy="146050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b="1">
              <a:solidFill>
                <a:schemeClr val="tx2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43" name="Rectangle 208"/>
          <p:cNvSpPr>
            <a:spLocks noChangeArrowheads="1"/>
          </p:cNvSpPr>
          <p:nvPr/>
        </p:nvSpPr>
        <p:spPr bwMode="auto">
          <a:xfrm>
            <a:off x="4789488" y="2593976"/>
            <a:ext cx="692150" cy="14922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b="1">
              <a:solidFill>
                <a:schemeClr val="tx2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44" name="Rectangle 210"/>
          <p:cNvSpPr>
            <a:spLocks noChangeArrowheads="1"/>
          </p:cNvSpPr>
          <p:nvPr/>
        </p:nvSpPr>
        <p:spPr bwMode="auto">
          <a:xfrm>
            <a:off x="4497389" y="3006726"/>
            <a:ext cx="287337" cy="142875"/>
          </a:xfrm>
          <a:prstGeom prst="rect">
            <a:avLst/>
          </a:prstGeom>
          <a:solidFill>
            <a:srgbClr val="FF3300"/>
          </a:solidFill>
          <a:ln w="9525" algn="ctr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b="1">
              <a:solidFill>
                <a:schemeClr val="tx2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grpSp>
        <p:nvGrpSpPr>
          <p:cNvPr id="5" name="Group 213"/>
          <p:cNvGrpSpPr>
            <a:grpSpLocks/>
          </p:cNvGrpSpPr>
          <p:nvPr/>
        </p:nvGrpSpPr>
        <p:grpSpPr bwMode="auto">
          <a:xfrm>
            <a:off x="6332539" y="2595563"/>
            <a:ext cx="1296987" cy="144462"/>
            <a:chOff x="1882" y="2750"/>
            <a:chExt cx="817" cy="91"/>
          </a:xfrm>
        </p:grpSpPr>
        <p:sp>
          <p:nvSpPr>
            <p:cNvPr id="26710" name="Rectangle 207"/>
            <p:cNvSpPr>
              <a:spLocks noChangeArrowheads="1"/>
            </p:cNvSpPr>
            <p:nvPr/>
          </p:nvSpPr>
          <p:spPr bwMode="auto">
            <a:xfrm>
              <a:off x="1882" y="2750"/>
              <a:ext cx="216" cy="91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26711" name="Rectangle 208"/>
            <p:cNvSpPr>
              <a:spLocks noChangeArrowheads="1"/>
            </p:cNvSpPr>
            <p:nvPr/>
          </p:nvSpPr>
          <p:spPr bwMode="auto">
            <a:xfrm>
              <a:off x="2235" y="2750"/>
              <a:ext cx="464" cy="91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26712" name="Rectangle 210"/>
            <p:cNvSpPr>
              <a:spLocks noChangeArrowheads="1"/>
            </p:cNvSpPr>
            <p:nvPr/>
          </p:nvSpPr>
          <p:spPr bwMode="auto">
            <a:xfrm>
              <a:off x="2064" y="2750"/>
              <a:ext cx="181" cy="90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6" name="Group 205"/>
          <p:cNvGrpSpPr>
            <a:grpSpLocks/>
          </p:cNvGrpSpPr>
          <p:nvPr/>
        </p:nvGrpSpPr>
        <p:grpSpPr bwMode="auto">
          <a:xfrm>
            <a:off x="8521700" y="2589213"/>
            <a:ext cx="1079500" cy="144462"/>
            <a:chOff x="1565" y="2024"/>
            <a:chExt cx="997" cy="136"/>
          </a:xfrm>
        </p:grpSpPr>
        <p:sp>
          <p:nvSpPr>
            <p:cNvPr id="26708" name="Rectangle 203"/>
            <p:cNvSpPr>
              <a:spLocks noChangeArrowheads="1"/>
            </p:cNvSpPr>
            <p:nvPr/>
          </p:nvSpPr>
          <p:spPr bwMode="auto">
            <a:xfrm>
              <a:off x="1565" y="2024"/>
              <a:ext cx="317" cy="136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26709" name="Rectangle 204"/>
            <p:cNvSpPr>
              <a:spLocks noChangeArrowheads="1"/>
            </p:cNvSpPr>
            <p:nvPr/>
          </p:nvSpPr>
          <p:spPr bwMode="auto">
            <a:xfrm>
              <a:off x="1882" y="2024"/>
              <a:ext cx="680" cy="136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sp>
        <p:nvSpPr>
          <p:cNvPr id="153" name="Line 212"/>
          <p:cNvSpPr>
            <a:spLocks noChangeShapeType="1"/>
          </p:cNvSpPr>
          <p:nvPr/>
        </p:nvSpPr>
        <p:spPr bwMode="auto">
          <a:xfrm>
            <a:off x="5597526" y="2678113"/>
            <a:ext cx="646113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lg" len="sm"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156" name="Line 212"/>
          <p:cNvSpPr>
            <a:spLocks noChangeShapeType="1"/>
          </p:cNvSpPr>
          <p:nvPr/>
        </p:nvSpPr>
        <p:spPr bwMode="auto">
          <a:xfrm>
            <a:off x="7739063" y="2662238"/>
            <a:ext cx="646112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lg" len="sm"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157" name="Line 212"/>
          <p:cNvSpPr>
            <a:spLocks noChangeShapeType="1"/>
          </p:cNvSpPr>
          <p:nvPr/>
        </p:nvSpPr>
        <p:spPr bwMode="auto">
          <a:xfrm>
            <a:off x="3430588" y="2662238"/>
            <a:ext cx="646112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lg" len="sm"/>
          </a:ln>
        </p:spPr>
        <p:txBody>
          <a:bodyPr anchor="b"/>
          <a:lstStyle/>
          <a:p>
            <a:endParaRPr lang="zh-CN" altLang="en-US"/>
          </a:p>
        </p:txBody>
      </p:sp>
      <p:grpSp>
        <p:nvGrpSpPr>
          <p:cNvPr id="7" name="Group 205"/>
          <p:cNvGrpSpPr>
            <a:grpSpLocks/>
          </p:cNvGrpSpPr>
          <p:nvPr/>
        </p:nvGrpSpPr>
        <p:grpSpPr bwMode="auto">
          <a:xfrm>
            <a:off x="4306888" y="2593976"/>
            <a:ext cx="1079500" cy="144463"/>
            <a:chOff x="1565" y="2024"/>
            <a:chExt cx="997" cy="136"/>
          </a:xfrm>
        </p:grpSpPr>
        <p:sp>
          <p:nvSpPr>
            <p:cNvPr id="26706" name="Rectangle 203"/>
            <p:cNvSpPr>
              <a:spLocks noChangeArrowheads="1"/>
            </p:cNvSpPr>
            <p:nvPr/>
          </p:nvSpPr>
          <p:spPr bwMode="auto">
            <a:xfrm>
              <a:off x="1565" y="2024"/>
              <a:ext cx="317" cy="136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26707" name="Rectangle 204"/>
            <p:cNvSpPr>
              <a:spLocks noChangeArrowheads="1"/>
            </p:cNvSpPr>
            <p:nvPr/>
          </p:nvSpPr>
          <p:spPr bwMode="auto">
            <a:xfrm>
              <a:off x="1882" y="2024"/>
              <a:ext cx="680" cy="136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8" name="组合 219"/>
          <p:cNvGrpSpPr>
            <a:grpSpLocks/>
          </p:cNvGrpSpPr>
          <p:nvPr/>
        </p:nvGrpSpPr>
        <p:grpSpPr bwMode="auto">
          <a:xfrm>
            <a:off x="1881189" y="2479676"/>
            <a:ext cx="6478587" cy="3343275"/>
            <a:chOff x="211049" y="4778442"/>
            <a:chExt cx="6478635" cy="3343310"/>
          </a:xfrm>
        </p:grpSpPr>
        <p:sp>
          <p:nvSpPr>
            <p:cNvPr id="26654" name="Text Box 42"/>
            <p:cNvSpPr txBox="1">
              <a:spLocks noChangeArrowheads="1"/>
            </p:cNvSpPr>
            <p:nvPr/>
          </p:nvSpPr>
          <p:spPr bwMode="auto">
            <a:xfrm>
              <a:off x="211049" y="4870512"/>
              <a:ext cx="1851025" cy="40011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zh-CN" altLang="en-US" sz="2000" b="1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标准以太网帧</a:t>
              </a:r>
            </a:p>
          </p:txBody>
        </p:sp>
        <p:sp>
          <p:nvSpPr>
            <p:cNvPr id="26655" name="Line 43"/>
            <p:cNvSpPr>
              <a:spLocks noChangeShapeType="1"/>
            </p:cNvSpPr>
            <p:nvPr/>
          </p:nvSpPr>
          <p:spPr bwMode="auto">
            <a:xfrm flipH="1">
              <a:off x="2892401" y="5362642"/>
              <a:ext cx="309585" cy="496837"/>
            </a:xfrm>
            <a:prstGeom prst="line">
              <a:avLst/>
            </a:prstGeom>
            <a:noFill/>
            <a:ln w="38100">
              <a:solidFill>
                <a:srgbClr val="BD452B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6" name="Line 44"/>
            <p:cNvSpPr>
              <a:spLocks noChangeShapeType="1"/>
            </p:cNvSpPr>
            <p:nvPr/>
          </p:nvSpPr>
          <p:spPr bwMode="auto">
            <a:xfrm>
              <a:off x="3201988" y="5362642"/>
              <a:ext cx="301233" cy="513691"/>
            </a:xfrm>
            <a:prstGeom prst="line">
              <a:avLst/>
            </a:prstGeom>
            <a:noFill/>
            <a:ln w="38100">
              <a:solidFill>
                <a:srgbClr val="BD452B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" name="Group 90"/>
            <p:cNvGrpSpPr>
              <a:grpSpLocks/>
            </p:cNvGrpSpPr>
            <p:nvPr/>
          </p:nvGrpSpPr>
          <p:grpSpPr bwMode="auto">
            <a:xfrm>
              <a:off x="1617663" y="6986631"/>
              <a:ext cx="4756149" cy="657227"/>
              <a:chOff x="1337" y="2564"/>
              <a:chExt cx="2996" cy="414"/>
            </a:xfrm>
          </p:grpSpPr>
          <p:grpSp>
            <p:nvGrpSpPr>
              <p:cNvPr id="10" name="Group 91"/>
              <p:cNvGrpSpPr>
                <a:grpSpLocks/>
              </p:cNvGrpSpPr>
              <p:nvPr/>
            </p:nvGrpSpPr>
            <p:grpSpPr bwMode="auto">
              <a:xfrm>
                <a:off x="1337" y="2568"/>
                <a:ext cx="1360" cy="410"/>
                <a:chOff x="1417" y="3140"/>
                <a:chExt cx="2508" cy="1007"/>
              </a:xfrm>
            </p:grpSpPr>
            <p:sp>
              <p:nvSpPr>
                <p:cNvPr id="26701" name="Rectangle 92"/>
                <p:cNvSpPr>
                  <a:spLocks noChangeArrowheads="1"/>
                </p:cNvSpPr>
                <p:nvPr/>
              </p:nvSpPr>
              <p:spPr bwMode="auto">
                <a:xfrm>
                  <a:off x="1427" y="3151"/>
                  <a:ext cx="2468" cy="987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endParaRPr lang="zh-CN" altLang="en-US" sz="2000"/>
                </a:p>
              </p:txBody>
            </p:sp>
            <p:sp>
              <p:nvSpPr>
                <p:cNvPr id="190" name="Rectangle 93"/>
                <p:cNvSpPr>
                  <a:spLocks noChangeArrowheads="1"/>
                </p:cNvSpPr>
                <p:nvPr/>
              </p:nvSpPr>
              <p:spPr bwMode="auto">
                <a:xfrm>
                  <a:off x="1426" y="3143"/>
                  <a:ext cx="146" cy="1002"/>
                </a:xfrm>
                <a:prstGeom prst="rect">
                  <a:avLst/>
                </a:prstGeom>
                <a:gradFill rotWithShape="0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100000">
                      <a:schemeClr val="folHlink">
                        <a:gamma/>
                        <a:tint val="0"/>
                        <a:invGamma/>
                      </a:schemeClr>
                    </a:gs>
                  </a:gsLst>
                  <a:lin ang="0" scaled="1"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>
                    <a:defRPr/>
                  </a:pPr>
                  <a:endParaRPr lang="zh-CN" altLang="en-US" sz="2000">
                    <a:latin typeface="Arial" pitchFamily="34" charset="0"/>
                  </a:endParaRPr>
                </a:p>
              </p:txBody>
            </p:sp>
            <p:sp>
              <p:nvSpPr>
                <p:cNvPr id="191" name="Rectangle 94"/>
                <p:cNvSpPr>
                  <a:spLocks noChangeArrowheads="1"/>
                </p:cNvSpPr>
                <p:nvPr/>
              </p:nvSpPr>
              <p:spPr bwMode="auto">
                <a:xfrm>
                  <a:off x="3772" y="3140"/>
                  <a:ext cx="138" cy="1000"/>
                </a:xfrm>
                <a:prstGeom prst="rect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bg1">
                        <a:gamma/>
                        <a:shade val="26275"/>
                        <a:invGamma/>
                      </a:schemeClr>
                    </a:gs>
                  </a:gsLst>
                  <a:lin ang="0" scaled="1"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>
                    <a:defRPr/>
                  </a:pPr>
                  <a:endParaRPr lang="zh-CN" altLang="en-US" sz="2000">
                    <a:latin typeface="Arial" pitchFamily="34" charset="0"/>
                  </a:endParaRPr>
                </a:p>
              </p:txBody>
            </p:sp>
            <p:sp>
              <p:nvSpPr>
                <p:cNvPr id="26704" name="AutoShape 95"/>
                <p:cNvSpPr>
                  <a:spLocks noChangeArrowheads="1"/>
                </p:cNvSpPr>
                <p:nvPr/>
              </p:nvSpPr>
              <p:spPr bwMode="auto">
                <a:xfrm>
                  <a:off x="1429" y="3143"/>
                  <a:ext cx="2484" cy="141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2548 w 21600"/>
                    <a:gd name="T13" fmla="*/ 2604 h 21600"/>
                    <a:gd name="T14" fmla="*/ 19052 w 21600"/>
                    <a:gd name="T15" fmla="*/ 18996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1496" y="21600"/>
                      </a:lnTo>
                      <a:lnTo>
                        <a:pt x="20104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DDDDD"/>
                    </a:gs>
                    <a:gs pos="100000">
                      <a:srgbClr val="FFFFFF"/>
                    </a:gs>
                  </a:gsLst>
                  <a:lin ang="5400000" scaled="1"/>
                </a:gradFill>
                <a:ln w="9525">
                  <a:noFill/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endParaRPr lang="zh-CN" altLang="en-US"/>
                </a:p>
              </p:txBody>
            </p:sp>
            <p:sp>
              <p:nvSpPr>
                <p:cNvPr id="193" name="AutoShape 96"/>
                <p:cNvSpPr>
                  <a:spLocks noChangeArrowheads="1"/>
                </p:cNvSpPr>
                <p:nvPr/>
              </p:nvSpPr>
              <p:spPr bwMode="auto">
                <a:xfrm flipV="1">
                  <a:off x="1417" y="4037"/>
                  <a:ext cx="2508" cy="111"/>
                </a:xfrm>
                <a:custGeom>
                  <a:avLst/>
                  <a:gdLst>
                    <a:gd name="G0" fmla="+- 1489 0 0"/>
                    <a:gd name="G1" fmla="+- 21600 0 1489"/>
                    <a:gd name="G2" fmla="*/ 1489 1 2"/>
                    <a:gd name="G3" fmla="+- 21600 0 G2"/>
                    <a:gd name="G4" fmla="+/ 1489 21600 2"/>
                    <a:gd name="G5" fmla="+/ G1 0 2"/>
                    <a:gd name="G6" fmla="*/ 21600 21600 1489"/>
                    <a:gd name="G7" fmla="*/ G6 1 2"/>
                    <a:gd name="G8" fmla="+- 21600 0 G7"/>
                    <a:gd name="G9" fmla="*/ 21600 1 2"/>
                    <a:gd name="G10" fmla="+- 1489 0 G9"/>
                    <a:gd name="G11" fmla="?: G10 G8 0"/>
                    <a:gd name="G12" fmla="?: G10 G7 21600"/>
                    <a:gd name="T0" fmla="*/ 20855 w 21600"/>
                    <a:gd name="T1" fmla="*/ 10800 h 21600"/>
                    <a:gd name="T2" fmla="*/ 10800 w 21600"/>
                    <a:gd name="T3" fmla="*/ 21600 h 21600"/>
                    <a:gd name="T4" fmla="*/ 745 w 21600"/>
                    <a:gd name="T5" fmla="*/ 10800 h 21600"/>
                    <a:gd name="T6" fmla="*/ 10800 w 21600"/>
                    <a:gd name="T7" fmla="*/ 0 h 21600"/>
                    <a:gd name="T8" fmla="*/ 2545 w 21600"/>
                    <a:gd name="T9" fmla="*/ 2545 h 21600"/>
                    <a:gd name="T10" fmla="*/ 19055 w 21600"/>
                    <a:gd name="T11" fmla="*/ 1905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0" y="0"/>
                      </a:moveTo>
                      <a:lnTo>
                        <a:pt x="1489" y="21600"/>
                      </a:lnTo>
                      <a:lnTo>
                        <a:pt x="20111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1"/>
                    </a:gs>
                    <a:gs pos="100000">
                      <a:schemeClr val="bg1">
                        <a:gamma/>
                        <a:shade val="25882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>
                    <a:defRPr/>
                  </a:pPr>
                  <a:endParaRPr lang="zh-CN" altLang="en-US" sz="2000">
                    <a:latin typeface="Arial" pitchFamily="34" charset="0"/>
                  </a:endParaRPr>
                </a:p>
              </p:txBody>
            </p:sp>
          </p:grpSp>
          <p:grpSp>
            <p:nvGrpSpPr>
              <p:cNvPr id="11" name="Group 97"/>
              <p:cNvGrpSpPr>
                <a:grpSpLocks/>
              </p:cNvGrpSpPr>
              <p:nvPr/>
            </p:nvGrpSpPr>
            <p:grpSpPr bwMode="auto">
              <a:xfrm>
                <a:off x="2653" y="2564"/>
                <a:ext cx="680" cy="407"/>
                <a:chOff x="1417" y="3143"/>
                <a:chExt cx="2508" cy="1004"/>
              </a:xfrm>
            </p:grpSpPr>
            <p:sp>
              <p:nvSpPr>
                <p:cNvPr id="26697" name="Rectangle 98"/>
                <p:cNvSpPr>
                  <a:spLocks noChangeArrowheads="1"/>
                </p:cNvSpPr>
                <p:nvPr/>
              </p:nvSpPr>
              <p:spPr bwMode="auto">
                <a:xfrm>
                  <a:off x="1427" y="3151"/>
                  <a:ext cx="2468" cy="987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endParaRPr lang="zh-CN" altLang="en-US" sz="2000"/>
                </a:p>
              </p:txBody>
            </p:sp>
            <p:sp>
              <p:nvSpPr>
                <p:cNvPr id="186" name="Rectangle 100"/>
                <p:cNvSpPr>
                  <a:spLocks noChangeArrowheads="1"/>
                </p:cNvSpPr>
                <p:nvPr/>
              </p:nvSpPr>
              <p:spPr bwMode="auto">
                <a:xfrm>
                  <a:off x="3774" y="3143"/>
                  <a:ext cx="136" cy="1002"/>
                </a:xfrm>
                <a:prstGeom prst="rect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bg1">
                        <a:gamma/>
                        <a:shade val="26275"/>
                        <a:invGamma/>
                      </a:schemeClr>
                    </a:gs>
                  </a:gsLst>
                  <a:lin ang="0" scaled="1"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>
                    <a:defRPr/>
                  </a:pPr>
                  <a:endParaRPr lang="zh-CN" altLang="en-US" sz="2000">
                    <a:latin typeface="Arial" pitchFamily="34" charset="0"/>
                  </a:endParaRPr>
                </a:p>
              </p:txBody>
            </p:sp>
            <p:sp>
              <p:nvSpPr>
                <p:cNvPr id="26699" name="AutoShape 101"/>
                <p:cNvSpPr>
                  <a:spLocks noChangeArrowheads="1"/>
                </p:cNvSpPr>
                <p:nvPr/>
              </p:nvSpPr>
              <p:spPr bwMode="auto">
                <a:xfrm>
                  <a:off x="1429" y="3143"/>
                  <a:ext cx="2484" cy="141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2548 w 21600"/>
                    <a:gd name="T13" fmla="*/ 2604 h 21600"/>
                    <a:gd name="T14" fmla="*/ 19052 w 21600"/>
                    <a:gd name="T15" fmla="*/ 18996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1496" y="21600"/>
                      </a:lnTo>
                      <a:lnTo>
                        <a:pt x="20104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DDDDD"/>
                    </a:gs>
                    <a:gs pos="100000">
                      <a:srgbClr val="FFFFFF"/>
                    </a:gs>
                  </a:gsLst>
                  <a:lin ang="5400000" scaled="1"/>
                </a:gradFill>
                <a:ln w="9525">
                  <a:noFill/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endParaRPr lang="zh-CN" altLang="en-US"/>
                </a:p>
              </p:txBody>
            </p:sp>
            <p:sp>
              <p:nvSpPr>
                <p:cNvPr id="188" name="AutoShape 102"/>
                <p:cNvSpPr>
                  <a:spLocks noChangeArrowheads="1"/>
                </p:cNvSpPr>
                <p:nvPr/>
              </p:nvSpPr>
              <p:spPr bwMode="auto">
                <a:xfrm flipV="1">
                  <a:off x="1417" y="4036"/>
                  <a:ext cx="2508" cy="111"/>
                </a:xfrm>
                <a:custGeom>
                  <a:avLst/>
                  <a:gdLst>
                    <a:gd name="G0" fmla="+- 1489 0 0"/>
                    <a:gd name="G1" fmla="+- 21600 0 1489"/>
                    <a:gd name="G2" fmla="*/ 1489 1 2"/>
                    <a:gd name="G3" fmla="+- 21600 0 G2"/>
                    <a:gd name="G4" fmla="+/ 1489 21600 2"/>
                    <a:gd name="G5" fmla="+/ G1 0 2"/>
                    <a:gd name="G6" fmla="*/ 21600 21600 1489"/>
                    <a:gd name="G7" fmla="*/ G6 1 2"/>
                    <a:gd name="G8" fmla="+- 21600 0 G7"/>
                    <a:gd name="G9" fmla="*/ 21600 1 2"/>
                    <a:gd name="G10" fmla="+- 1489 0 G9"/>
                    <a:gd name="G11" fmla="?: G10 G8 0"/>
                    <a:gd name="G12" fmla="?: G10 G7 21600"/>
                    <a:gd name="T0" fmla="*/ 20855 w 21600"/>
                    <a:gd name="T1" fmla="*/ 10800 h 21600"/>
                    <a:gd name="T2" fmla="*/ 10800 w 21600"/>
                    <a:gd name="T3" fmla="*/ 21600 h 21600"/>
                    <a:gd name="T4" fmla="*/ 745 w 21600"/>
                    <a:gd name="T5" fmla="*/ 10800 h 21600"/>
                    <a:gd name="T6" fmla="*/ 10800 w 21600"/>
                    <a:gd name="T7" fmla="*/ 0 h 21600"/>
                    <a:gd name="T8" fmla="*/ 2545 w 21600"/>
                    <a:gd name="T9" fmla="*/ 2545 h 21600"/>
                    <a:gd name="T10" fmla="*/ 19055 w 21600"/>
                    <a:gd name="T11" fmla="*/ 1905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0" y="0"/>
                      </a:moveTo>
                      <a:lnTo>
                        <a:pt x="1489" y="21600"/>
                      </a:lnTo>
                      <a:lnTo>
                        <a:pt x="20111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1"/>
                    </a:gs>
                    <a:gs pos="100000">
                      <a:schemeClr val="bg1">
                        <a:gamma/>
                        <a:shade val="25882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>
                    <a:defRPr/>
                  </a:pPr>
                  <a:endParaRPr lang="zh-CN" altLang="en-US" sz="2000">
                    <a:latin typeface="Arial" pitchFamily="34" charset="0"/>
                  </a:endParaRPr>
                </a:p>
              </p:txBody>
            </p:sp>
          </p:grpSp>
          <p:sp>
            <p:nvSpPr>
              <p:cNvPr id="26682" name="Text Box 103"/>
              <p:cNvSpPr txBox="1">
                <a:spLocks noChangeArrowheads="1"/>
              </p:cNvSpPr>
              <p:nvPr/>
            </p:nvSpPr>
            <p:spPr bwMode="auto">
              <a:xfrm>
                <a:off x="1770" y="2636"/>
                <a:ext cx="485" cy="25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000">
                    <a:solidFill>
                      <a:srgbClr val="66CCFF"/>
                    </a:solidFill>
                    <a:ea typeface="宋体" charset="-122"/>
                  </a:rPr>
                  <a:t>TPID</a:t>
                </a:r>
              </a:p>
            </p:txBody>
          </p:sp>
          <p:sp>
            <p:nvSpPr>
              <p:cNvPr id="26683" name="Text Box 104"/>
              <p:cNvSpPr txBox="1">
                <a:spLocks noChangeArrowheads="1"/>
              </p:cNvSpPr>
              <p:nvPr/>
            </p:nvSpPr>
            <p:spPr bwMode="auto">
              <a:xfrm>
                <a:off x="2689" y="2636"/>
                <a:ext cx="619" cy="25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000">
                    <a:solidFill>
                      <a:srgbClr val="66CCFF"/>
                    </a:solidFill>
                    <a:ea typeface="宋体" charset="-122"/>
                  </a:rPr>
                  <a:t>Priority</a:t>
                </a:r>
              </a:p>
            </p:txBody>
          </p:sp>
          <p:grpSp>
            <p:nvGrpSpPr>
              <p:cNvPr id="12" name="Group 105"/>
              <p:cNvGrpSpPr>
                <a:grpSpLocks/>
              </p:cNvGrpSpPr>
              <p:nvPr/>
            </p:nvGrpSpPr>
            <p:grpSpPr bwMode="auto">
              <a:xfrm>
                <a:off x="3333" y="2567"/>
                <a:ext cx="273" cy="408"/>
                <a:chOff x="1417" y="3143"/>
                <a:chExt cx="2508" cy="1004"/>
              </a:xfrm>
            </p:grpSpPr>
            <p:sp>
              <p:nvSpPr>
                <p:cNvPr id="26692" name="Rectangle 106"/>
                <p:cNvSpPr>
                  <a:spLocks noChangeArrowheads="1"/>
                </p:cNvSpPr>
                <p:nvPr/>
              </p:nvSpPr>
              <p:spPr bwMode="auto">
                <a:xfrm>
                  <a:off x="1427" y="3151"/>
                  <a:ext cx="2468" cy="987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endParaRPr lang="zh-CN" altLang="en-US" sz="2000"/>
                </a:p>
              </p:txBody>
            </p:sp>
            <p:sp>
              <p:nvSpPr>
                <p:cNvPr id="180" name="Rectangle 107"/>
                <p:cNvSpPr>
                  <a:spLocks noChangeArrowheads="1"/>
                </p:cNvSpPr>
                <p:nvPr/>
              </p:nvSpPr>
              <p:spPr bwMode="auto">
                <a:xfrm>
                  <a:off x="1426" y="3143"/>
                  <a:ext cx="147" cy="1002"/>
                </a:xfrm>
                <a:prstGeom prst="rect">
                  <a:avLst/>
                </a:prstGeom>
                <a:gradFill rotWithShape="0">
                  <a:gsLst>
                    <a:gs pos="0">
                      <a:schemeClr val="folHlink"/>
                    </a:gs>
                    <a:gs pos="100000">
                      <a:schemeClr val="folHlink">
                        <a:gamma/>
                        <a:tint val="0"/>
                        <a:invGamma/>
                      </a:schemeClr>
                    </a:gs>
                  </a:gsLst>
                  <a:lin ang="0" scaled="1"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>
                    <a:defRPr/>
                  </a:pPr>
                  <a:endParaRPr lang="zh-CN" altLang="en-US" sz="2000">
                    <a:latin typeface="Arial" pitchFamily="34" charset="0"/>
                  </a:endParaRPr>
                </a:p>
              </p:txBody>
            </p:sp>
            <p:sp>
              <p:nvSpPr>
                <p:cNvPr id="181" name="Rectangle 108"/>
                <p:cNvSpPr>
                  <a:spLocks noChangeArrowheads="1"/>
                </p:cNvSpPr>
                <p:nvPr/>
              </p:nvSpPr>
              <p:spPr bwMode="auto">
                <a:xfrm>
                  <a:off x="3759" y="3143"/>
                  <a:ext cx="138" cy="1002"/>
                </a:xfrm>
                <a:prstGeom prst="rect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bg1">
                        <a:gamma/>
                        <a:shade val="26275"/>
                        <a:invGamma/>
                      </a:schemeClr>
                    </a:gs>
                  </a:gsLst>
                  <a:lin ang="0" scaled="1"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>
                    <a:defRPr/>
                  </a:pPr>
                  <a:endParaRPr lang="zh-CN" altLang="en-US" sz="2000">
                    <a:latin typeface="Arial" pitchFamily="34" charset="0"/>
                  </a:endParaRPr>
                </a:p>
              </p:txBody>
            </p:sp>
            <p:sp>
              <p:nvSpPr>
                <p:cNvPr id="26695" name="AutoShape 109"/>
                <p:cNvSpPr>
                  <a:spLocks noChangeArrowheads="1"/>
                </p:cNvSpPr>
                <p:nvPr/>
              </p:nvSpPr>
              <p:spPr bwMode="auto">
                <a:xfrm>
                  <a:off x="1429" y="3143"/>
                  <a:ext cx="2484" cy="141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2548 w 21600"/>
                    <a:gd name="T13" fmla="*/ 2604 h 21600"/>
                    <a:gd name="T14" fmla="*/ 19052 w 21600"/>
                    <a:gd name="T15" fmla="*/ 18996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1496" y="21600"/>
                      </a:lnTo>
                      <a:lnTo>
                        <a:pt x="20104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DDDDD"/>
                    </a:gs>
                    <a:gs pos="100000">
                      <a:srgbClr val="FFFFFF"/>
                    </a:gs>
                  </a:gsLst>
                  <a:lin ang="5400000" scaled="1"/>
                </a:gradFill>
                <a:ln w="9525">
                  <a:noFill/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endParaRPr lang="zh-CN" altLang="en-US"/>
                </a:p>
              </p:txBody>
            </p:sp>
            <p:sp>
              <p:nvSpPr>
                <p:cNvPr id="183" name="AutoShape 110"/>
                <p:cNvSpPr>
                  <a:spLocks noChangeArrowheads="1"/>
                </p:cNvSpPr>
                <p:nvPr/>
              </p:nvSpPr>
              <p:spPr bwMode="auto">
                <a:xfrm flipV="1">
                  <a:off x="1417" y="4036"/>
                  <a:ext cx="2508" cy="111"/>
                </a:xfrm>
                <a:custGeom>
                  <a:avLst/>
                  <a:gdLst>
                    <a:gd name="G0" fmla="+- 1489 0 0"/>
                    <a:gd name="G1" fmla="+- 21600 0 1489"/>
                    <a:gd name="G2" fmla="*/ 1489 1 2"/>
                    <a:gd name="G3" fmla="+- 21600 0 G2"/>
                    <a:gd name="G4" fmla="+/ 1489 21600 2"/>
                    <a:gd name="G5" fmla="+/ G1 0 2"/>
                    <a:gd name="G6" fmla="*/ 21600 21600 1489"/>
                    <a:gd name="G7" fmla="*/ G6 1 2"/>
                    <a:gd name="G8" fmla="+- 21600 0 G7"/>
                    <a:gd name="G9" fmla="*/ 21600 1 2"/>
                    <a:gd name="G10" fmla="+- 1489 0 G9"/>
                    <a:gd name="G11" fmla="?: G10 G8 0"/>
                    <a:gd name="G12" fmla="?: G10 G7 21600"/>
                    <a:gd name="T0" fmla="*/ 20855 w 21600"/>
                    <a:gd name="T1" fmla="*/ 10800 h 21600"/>
                    <a:gd name="T2" fmla="*/ 10800 w 21600"/>
                    <a:gd name="T3" fmla="*/ 21600 h 21600"/>
                    <a:gd name="T4" fmla="*/ 745 w 21600"/>
                    <a:gd name="T5" fmla="*/ 10800 h 21600"/>
                    <a:gd name="T6" fmla="*/ 10800 w 21600"/>
                    <a:gd name="T7" fmla="*/ 0 h 21600"/>
                    <a:gd name="T8" fmla="*/ 2545 w 21600"/>
                    <a:gd name="T9" fmla="*/ 2545 h 21600"/>
                    <a:gd name="T10" fmla="*/ 19055 w 21600"/>
                    <a:gd name="T11" fmla="*/ 1905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0" y="0"/>
                      </a:moveTo>
                      <a:lnTo>
                        <a:pt x="1489" y="21600"/>
                      </a:lnTo>
                      <a:lnTo>
                        <a:pt x="20111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1"/>
                    </a:gs>
                    <a:gs pos="100000">
                      <a:schemeClr val="bg1">
                        <a:gamma/>
                        <a:shade val="25882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>
                    <a:defRPr/>
                  </a:pPr>
                  <a:endParaRPr lang="zh-CN" altLang="en-US" sz="2000">
                    <a:latin typeface="Arial" pitchFamily="34" charset="0"/>
                  </a:endParaRPr>
                </a:p>
              </p:txBody>
            </p:sp>
          </p:grpSp>
          <p:sp>
            <p:nvSpPr>
              <p:cNvPr id="26685" name="Text Box 111"/>
              <p:cNvSpPr txBox="1">
                <a:spLocks noChangeArrowheads="1"/>
              </p:cNvSpPr>
              <p:nvPr/>
            </p:nvSpPr>
            <p:spPr bwMode="auto">
              <a:xfrm>
                <a:off x="3267" y="2636"/>
                <a:ext cx="377" cy="25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000">
                    <a:solidFill>
                      <a:srgbClr val="66CCFF"/>
                    </a:solidFill>
                    <a:ea typeface="宋体" charset="-122"/>
                  </a:rPr>
                  <a:t>CFI</a:t>
                </a:r>
              </a:p>
            </p:txBody>
          </p:sp>
          <p:grpSp>
            <p:nvGrpSpPr>
              <p:cNvPr id="13" name="Group 112"/>
              <p:cNvGrpSpPr>
                <a:grpSpLocks/>
              </p:cNvGrpSpPr>
              <p:nvPr/>
            </p:nvGrpSpPr>
            <p:grpSpPr bwMode="auto">
              <a:xfrm>
                <a:off x="3605" y="2567"/>
                <a:ext cx="681" cy="408"/>
                <a:chOff x="1417" y="3143"/>
                <a:chExt cx="2508" cy="1004"/>
              </a:xfrm>
            </p:grpSpPr>
            <p:sp>
              <p:nvSpPr>
                <p:cNvPr id="26688" name="Rectangle 113"/>
                <p:cNvSpPr>
                  <a:spLocks noChangeArrowheads="1"/>
                </p:cNvSpPr>
                <p:nvPr/>
              </p:nvSpPr>
              <p:spPr bwMode="auto">
                <a:xfrm>
                  <a:off x="1427" y="3151"/>
                  <a:ext cx="2468" cy="987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endParaRPr lang="zh-CN" altLang="en-US" sz="2000"/>
                </a:p>
              </p:txBody>
            </p:sp>
            <p:sp>
              <p:nvSpPr>
                <p:cNvPr id="176" name="Rectangle 115"/>
                <p:cNvSpPr>
                  <a:spLocks noChangeArrowheads="1"/>
                </p:cNvSpPr>
                <p:nvPr/>
              </p:nvSpPr>
              <p:spPr bwMode="auto">
                <a:xfrm>
                  <a:off x="3770" y="3143"/>
                  <a:ext cx="140" cy="1002"/>
                </a:xfrm>
                <a:prstGeom prst="rect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bg1">
                        <a:gamma/>
                        <a:shade val="26275"/>
                        <a:invGamma/>
                      </a:schemeClr>
                    </a:gs>
                  </a:gsLst>
                  <a:lin ang="0" scaled="1"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>
                    <a:defRPr/>
                  </a:pPr>
                  <a:endParaRPr lang="zh-CN" altLang="en-US" sz="2000">
                    <a:latin typeface="Arial" pitchFamily="34" charset="0"/>
                  </a:endParaRPr>
                </a:p>
              </p:txBody>
            </p:sp>
            <p:sp>
              <p:nvSpPr>
                <p:cNvPr id="26690" name="AutoShape 116"/>
                <p:cNvSpPr>
                  <a:spLocks noChangeArrowheads="1"/>
                </p:cNvSpPr>
                <p:nvPr/>
              </p:nvSpPr>
              <p:spPr bwMode="auto">
                <a:xfrm>
                  <a:off x="1429" y="3143"/>
                  <a:ext cx="2484" cy="141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2548 w 21600"/>
                    <a:gd name="T13" fmla="*/ 2604 h 21600"/>
                    <a:gd name="T14" fmla="*/ 19052 w 21600"/>
                    <a:gd name="T15" fmla="*/ 18996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1496" y="21600"/>
                      </a:lnTo>
                      <a:lnTo>
                        <a:pt x="20104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DDDDD"/>
                    </a:gs>
                    <a:gs pos="100000">
                      <a:srgbClr val="FFFFFF"/>
                    </a:gs>
                  </a:gsLst>
                  <a:lin ang="5400000" scaled="1"/>
                </a:gradFill>
                <a:ln w="9525">
                  <a:noFill/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endParaRPr lang="zh-CN" altLang="en-US"/>
                </a:p>
              </p:txBody>
            </p:sp>
            <p:sp>
              <p:nvSpPr>
                <p:cNvPr id="178" name="AutoShape 117"/>
                <p:cNvSpPr>
                  <a:spLocks noChangeArrowheads="1"/>
                </p:cNvSpPr>
                <p:nvPr/>
              </p:nvSpPr>
              <p:spPr bwMode="auto">
                <a:xfrm flipV="1">
                  <a:off x="1417" y="4036"/>
                  <a:ext cx="2508" cy="111"/>
                </a:xfrm>
                <a:custGeom>
                  <a:avLst/>
                  <a:gdLst>
                    <a:gd name="G0" fmla="+- 1489 0 0"/>
                    <a:gd name="G1" fmla="+- 21600 0 1489"/>
                    <a:gd name="G2" fmla="*/ 1489 1 2"/>
                    <a:gd name="G3" fmla="+- 21600 0 G2"/>
                    <a:gd name="G4" fmla="+/ 1489 21600 2"/>
                    <a:gd name="G5" fmla="+/ G1 0 2"/>
                    <a:gd name="G6" fmla="*/ 21600 21600 1489"/>
                    <a:gd name="G7" fmla="*/ G6 1 2"/>
                    <a:gd name="G8" fmla="+- 21600 0 G7"/>
                    <a:gd name="G9" fmla="*/ 21600 1 2"/>
                    <a:gd name="G10" fmla="+- 1489 0 G9"/>
                    <a:gd name="G11" fmla="?: G10 G8 0"/>
                    <a:gd name="G12" fmla="?: G10 G7 21600"/>
                    <a:gd name="T0" fmla="*/ 20855 w 21600"/>
                    <a:gd name="T1" fmla="*/ 10800 h 21600"/>
                    <a:gd name="T2" fmla="*/ 10800 w 21600"/>
                    <a:gd name="T3" fmla="*/ 21600 h 21600"/>
                    <a:gd name="T4" fmla="*/ 745 w 21600"/>
                    <a:gd name="T5" fmla="*/ 10800 h 21600"/>
                    <a:gd name="T6" fmla="*/ 10800 w 21600"/>
                    <a:gd name="T7" fmla="*/ 0 h 21600"/>
                    <a:gd name="T8" fmla="*/ 2545 w 21600"/>
                    <a:gd name="T9" fmla="*/ 2545 h 21600"/>
                    <a:gd name="T10" fmla="*/ 19055 w 21600"/>
                    <a:gd name="T11" fmla="*/ 1905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0" y="0"/>
                      </a:moveTo>
                      <a:lnTo>
                        <a:pt x="1489" y="21600"/>
                      </a:lnTo>
                      <a:lnTo>
                        <a:pt x="20111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1"/>
                    </a:gs>
                    <a:gs pos="100000">
                      <a:schemeClr val="bg1">
                        <a:gamma/>
                        <a:shade val="25882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>
                    <a:defRPr/>
                  </a:pPr>
                  <a:endParaRPr lang="zh-CN" altLang="en-US" sz="2000">
                    <a:latin typeface="Arial" pitchFamily="34" charset="0"/>
                  </a:endParaRPr>
                </a:p>
              </p:txBody>
            </p:sp>
          </p:grpSp>
          <p:sp>
            <p:nvSpPr>
              <p:cNvPr id="26687" name="Text Box 118"/>
              <p:cNvSpPr txBox="1">
                <a:spLocks noChangeArrowheads="1"/>
              </p:cNvSpPr>
              <p:nvPr/>
            </p:nvSpPr>
            <p:spPr bwMode="auto">
              <a:xfrm>
                <a:off x="3588" y="2636"/>
                <a:ext cx="745" cy="25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000">
                    <a:solidFill>
                      <a:srgbClr val="66CCFF"/>
                    </a:solidFill>
                    <a:ea typeface="宋体" charset="-122"/>
                  </a:rPr>
                  <a:t>VLAN ID</a:t>
                </a:r>
              </a:p>
            </p:txBody>
          </p:sp>
        </p:grpSp>
        <p:sp>
          <p:nvSpPr>
            <p:cNvPr id="26658" name="Line 119"/>
            <p:cNvSpPr>
              <a:spLocks noChangeShapeType="1"/>
            </p:cNvSpPr>
            <p:nvPr/>
          </p:nvSpPr>
          <p:spPr bwMode="auto">
            <a:xfrm flipH="1">
              <a:off x="1650959" y="6443688"/>
              <a:ext cx="1204929" cy="511182"/>
            </a:xfrm>
            <a:prstGeom prst="line">
              <a:avLst/>
            </a:prstGeom>
            <a:noFill/>
            <a:ln w="38100">
              <a:solidFill>
                <a:srgbClr val="BD452B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9" name="Line 120"/>
            <p:cNvSpPr>
              <a:spLocks noChangeShapeType="1"/>
            </p:cNvSpPr>
            <p:nvPr/>
          </p:nvSpPr>
          <p:spPr bwMode="auto">
            <a:xfrm>
              <a:off x="3513124" y="6443687"/>
              <a:ext cx="2774988" cy="547695"/>
            </a:xfrm>
            <a:prstGeom prst="line">
              <a:avLst/>
            </a:prstGeom>
            <a:noFill/>
            <a:ln w="38100">
              <a:solidFill>
                <a:srgbClr val="BD452B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0" name="Line 121"/>
            <p:cNvSpPr>
              <a:spLocks noChangeShapeType="1"/>
            </p:cNvSpPr>
            <p:nvPr/>
          </p:nvSpPr>
          <p:spPr bwMode="auto">
            <a:xfrm flipH="1">
              <a:off x="3706813" y="7685129"/>
              <a:ext cx="0" cy="431800"/>
            </a:xfrm>
            <a:prstGeom prst="line">
              <a:avLst/>
            </a:prstGeom>
            <a:noFill/>
            <a:ln w="38100">
              <a:solidFill>
                <a:srgbClr val="BD452B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1" name="Line 122"/>
            <p:cNvSpPr>
              <a:spLocks noChangeShapeType="1"/>
            </p:cNvSpPr>
            <p:nvPr/>
          </p:nvSpPr>
          <p:spPr bwMode="auto">
            <a:xfrm flipH="1">
              <a:off x="6270625" y="7685129"/>
              <a:ext cx="0" cy="431800"/>
            </a:xfrm>
            <a:prstGeom prst="line">
              <a:avLst/>
            </a:prstGeom>
            <a:noFill/>
            <a:ln w="38100">
              <a:solidFill>
                <a:srgbClr val="BD452B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2" name="Line 123"/>
            <p:cNvSpPr>
              <a:spLocks noChangeShapeType="1"/>
            </p:cNvSpPr>
            <p:nvPr/>
          </p:nvSpPr>
          <p:spPr bwMode="auto">
            <a:xfrm flipH="1">
              <a:off x="3706764" y="7901088"/>
              <a:ext cx="719139" cy="0"/>
            </a:xfrm>
            <a:prstGeom prst="line">
              <a:avLst/>
            </a:prstGeom>
            <a:noFill/>
            <a:ln w="38100">
              <a:solidFill>
                <a:srgbClr val="BD452B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3" name="Text Box 124"/>
            <p:cNvSpPr txBox="1">
              <a:spLocks noChangeArrowheads="1"/>
            </p:cNvSpPr>
            <p:nvPr/>
          </p:nvSpPr>
          <p:spPr bwMode="auto">
            <a:xfrm>
              <a:off x="4667203" y="7721698"/>
              <a:ext cx="598490" cy="4000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000">
                  <a:solidFill>
                    <a:srgbClr val="66CCFF"/>
                  </a:solidFill>
                  <a:ea typeface="宋体" charset="-122"/>
                </a:rPr>
                <a:t>TCI</a:t>
              </a:r>
            </a:p>
          </p:txBody>
        </p:sp>
        <p:sp>
          <p:nvSpPr>
            <p:cNvPr id="26664" name="Line 125"/>
            <p:cNvSpPr>
              <a:spLocks noChangeShapeType="1"/>
            </p:cNvSpPr>
            <p:nvPr/>
          </p:nvSpPr>
          <p:spPr bwMode="auto">
            <a:xfrm>
              <a:off x="5506994" y="7901088"/>
              <a:ext cx="763589" cy="0"/>
            </a:xfrm>
            <a:prstGeom prst="line">
              <a:avLst/>
            </a:prstGeom>
            <a:noFill/>
            <a:ln w="38100">
              <a:solidFill>
                <a:srgbClr val="BD452B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" name="Group 156"/>
            <p:cNvGrpSpPr>
              <a:grpSpLocks/>
            </p:cNvGrpSpPr>
            <p:nvPr/>
          </p:nvGrpSpPr>
          <p:grpSpPr bwMode="auto">
            <a:xfrm>
              <a:off x="1908175" y="4778442"/>
              <a:ext cx="4464050" cy="576262"/>
              <a:chOff x="1066" y="1162"/>
              <a:chExt cx="2812" cy="363"/>
            </a:xfrm>
          </p:grpSpPr>
          <p:sp>
            <p:nvSpPr>
              <p:cNvPr id="204" name="Rectangle 154"/>
              <p:cNvSpPr>
                <a:spLocks noChangeArrowheads="1"/>
              </p:cNvSpPr>
              <p:nvPr/>
            </p:nvSpPr>
            <p:spPr bwMode="auto">
              <a:xfrm>
                <a:off x="2290" y="1162"/>
                <a:ext cx="1180" cy="363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bg2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000">
                  <a:latin typeface="Arial" pitchFamily="34" charset="0"/>
                </a:endParaRPr>
              </a:p>
            </p:txBody>
          </p:sp>
          <p:sp>
            <p:nvSpPr>
              <p:cNvPr id="205" name="Text Box 40"/>
              <p:cNvSpPr txBox="1">
                <a:spLocks noChangeArrowheads="1"/>
              </p:cNvSpPr>
              <p:nvPr/>
            </p:nvSpPr>
            <p:spPr bwMode="auto">
              <a:xfrm>
                <a:off x="2608" y="1207"/>
                <a:ext cx="458" cy="25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kumimoji="1" lang="en-US" altLang="zh-CN" sz="2000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itchFamily="34" charset="0"/>
                    <a:ea typeface="宋体" pitchFamily="2" charset="-122"/>
                  </a:rPr>
                  <a:t>Data</a:t>
                </a:r>
              </a:p>
            </p:txBody>
          </p:sp>
          <p:sp>
            <p:nvSpPr>
              <p:cNvPr id="26676" name="Rectangle 151"/>
              <p:cNvSpPr>
                <a:spLocks noChangeArrowheads="1"/>
              </p:cNvSpPr>
              <p:nvPr/>
            </p:nvSpPr>
            <p:spPr bwMode="auto">
              <a:xfrm>
                <a:off x="1066" y="1162"/>
                <a:ext cx="408" cy="363"/>
              </a:xfrm>
              <a:prstGeom prst="rect">
                <a:avLst/>
              </a:prstGeom>
              <a:solidFill>
                <a:srgbClr val="66CCFF"/>
              </a:solidFill>
              <a:ln w="9525" algn="ctr">
                <a:solidFill>
                  <a:schemeClr val="bg2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2000">
                    <a:solidFill>
                      <a:schemeClr val="tx2"/>
                    </a:solidFill>
                    <a:ea typeface="宋体" charset="-122"/>
                  </a:rPr>
                  <a:t>DA</a:t>
                </a:r>
              </a:p>
            </p:txBody>
          </p:sp>
          <p:sp>
            <p:nvSpPr>
              <p:cNvPr id="26677" name="Rectangle 152"/>
              <p:cNvSpPr>
                <a:spLocks noChangeArrowheads="1"/>
              </p:cNvSpPr>
              <p:nvPr/>
            </p:nvSpPr>
            <p:spPr bwMode="auto">
              <a:xfrm>
                <a:off x="1474" y="1162"/>
                <a:ext cx="408" cy="363"/>
              </a:xfrm>
              <a:prstGeom prst="rect">
                <a:avLst/>
              </a:prstGeom>
              <a:solidFill>
                <a:srgbClr val="66CCFF"/>
              </a:solidFill>
              <a:ln w="9525" algn="ctr">
                <a:solidFill>
                  <a:schemeClr val="bg2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2000">
                    <a:solidFill>
                      <a:schemeClr val="tx2"/>
                    </a:solidFill>
                    <a:ea typeface="宋体" charset="-122"/>
                  </a:rPr>
                  <a:t>SA</a:t>
                </a:r>
              </a:p>
            </p:txBody>
          </p:sp>
          <p:sp>
            <p:nvSpPr>
              <p:cNvPr id="26678" name="Rectangle 153"/>
              <p:cNvSpPr>
                <a:spLocks noChangeArrowheads="1"/>
              </p:cNvSpPr>
              <p:nvPr/>
            </p:nvSpPr>
            <p:spPr bwMode="auto">
              <a:xfrm>
                <a:off x="1882" y="1162"/>
                <a:ext cx="408" cy="363"/>
              </a:xfrm>
              <a:prstGeom prst="rect">
                <a:avLst/>
              </a:prstGeom>
              <a:solidFill>
                <a:srgbClr val="66CCFF"/>
              </a:solidFill>
              <a:ln w="9525" algn="ctr">
                <a:solidFill>
                  <a:schemeClr val="bg2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2000" dirty="0">
                    <a:solidFill>
                      <a:schemeClr val="tx2"/>
                    </a:solidFill>
                    <a:ea typeface="宋体" charset="-122"/>
                  </a:rPr>
                  <a:t>Type</a:t>
                </a:r>
              </a:p>
            </p:txBody>
          </p:sp>
          <p:sp>
            <p:nvSpPr>
              <p:cNvPr id="26679" name="Rectangle 155"/>
              <p:cNvSpPr>
                <a:spLocks noChangeArrowheads="1"/>
              </p:cNvSpPr>
              <p:nvPr/>
            </p:nvSpPr>
            <p:spPr bwMode="auto">
              <a:xfrm>
                <a:off x="3470" y="1162"/>
                <a:ext cx="408" cy="363"/>
              </a:xfrm>
              <a:prstGeom prst="rect">
                <a:avLst/>
              </a:prstGeom>
              <a:solidFill>
                <a:srgbClr val="66CCFF"/>
              </a:solidFill>
              <a:ln w="9525" algn="ctr">
                <a:solidFill>
                  <a:schemeClr val="bg2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2000">
                    <a:solidFill>
                      <a:schemeClr val="tx2"/>
                    </a:solidFill>
                    <a:ea typeface="宋体" charset="-122"/>
                  </a:rPr>
                  <a:t>CRC</a:t>
                </a:r>
              </a:p>
            </p:txBody>
          </p:sp>
        </p:grpSp>
        <p:grpSp>
          <p:nvGrpSpPr>
            <p:cNvPr id="15" name="Group 165"/>
            <p:cNvGrpSpPr>
              <a:grpSpLocks/>
            </p:cNvGrpSpPr>
            <p:nvPr/>
          </p:nvGrpSpPr>
          <p:grpSpPr bwMode="auto">
            <a:xfrm>
              <a:off x="1577934" y="5859479"/>
              <a:ext cx="5111750" cy="576262"/>
              <a:chOff x="1021" y="2205"/>
              <a:chExt cx="3220" cy="363"/>
            </a:xfrm>
          </p:grpSpPr>
          <p:sp>
            <p:nvSpPr>
              <p:cNvPr id="211" name="Rectangle 158"/>
              <p:cNvSpPr>
                <a:spLocks noChangeArrowheads="1"/>
              </p:cNvSpPr>
              <p:nvPr/>
            </p:nvSpPr>
            <p:spPr bwMode="auto">
              <a:xfrm>
                <a:off x="2653" y="2205"/>
                <a:ext cx="1180" cy="363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bg2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000">
                  <a:latin typeface="Arial" pitchFamily="34" charset="0"/>
                </a:endParaRPr>
              </a:p>
            </p:txBody>
          </p:sp>
          <p:sp>
            <p:nvSpPr>
              <p:cNvPr id="212" name="Text Box 159"/>
              <p:cNvSpPr txBox="1">
                <a:spLocks noChangeArrowheads="1"/>
              </p:cNvSpPr>
              <p:nvPr/>
            </p:nvSpPr>
            <p:spPr bwMode="auto">
              <a:xfrm>
                <a:off x="2971" y="2250"/>
                <a:ext cx="458" cy="25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kumimoji="1" lang="en-US" altLang="zh-CN" sz="2000" dirty="0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itchFamily="34" charset="0"/>
                    <a:ea typeface="宋体" pitchFamily="2" charset="-122"/>
                  </a:rPr>
                  <a:t>Data</a:t>
                </a:r>
              </a:p>
            </p:txBody>
          </p:sp>
          <p:sp>
            <p:nvSpPr>
              <p:cNvPr id="26669" name="Rectangle 160"/>
              <p:cNvSpPr>
                <a:spLocks noChangeArrowheads="1"/>
              </p:cNvSpPr>
              <p:nvPr/>
            </p:nvSpPr>
            <p:spPr bwMode="auto">
              <a:xfrm>
                <a:off x="1021" y="2205"/>
                <a:ext cx="408" cy="363"/>
              </a:xfrm>
              <a:prstGeom prst="rect">
                <a:avLst/>
              </a:prstGeom>
              <a:solidFill>
                <a:srgbClr val="66CCFF"/>
              </a:solidFill>
              <a:ln w="9525" algn="ctr">
                <a:solidFill>
                  <a:schemeClr val="bg2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2000" dirty="0">
                    <a:solidFill>
                      <a:schemeClr val="tx2"/>
                    </a:solidFill>
                    <a:ea typeface="宋体" charset="-122"/>
                  </a:rPr>
                  <a:t>DA</a:t>
                </a:r>
              </a:p>
            </p:txBody>
          </p:sp>
          <p:sp>
            <p:nvSpPr>
              <p:cNvPr id="26670" name="Rectangle 161"/>
              <p:cNvSpPr>
                <a:spLocks noChangeArrowheads="1"/>
              </p:cNvSpPr>
              <p:nvPr/>
            </p:nvSpPr>
            <p:spPr bwMode="auto">
              <a:xfrm>
                <a:off x="1429" y="2205"/>
                <a:ext cx="408" cy="363"/>
              </a:xfrm>
              <a:prstGeom prst="rect">
                <a:avLst/>
              </a:prstGeom>
              <a:solidFill>
                <a:srgbClr val="66CCFF"/>
              </a:solidFill>
              <a:ln w="9525" algn="ctr">
                <a:solidFill>
                  <a:schemeClr val="bg2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2000">
                    <a:solidFill>
                      <a:schemeClr val="tx2"/>
                    </a:solidFill>
                    <a:ea typeface="宋体" charset="-122"/>
                  </a:rPr>
                  <a:t>SA</a:t>
                </a:r>
              </a:p>
            </p:txBody>
          </p:sp>
          <p:sp>
            <p:nvSpPr>
              <p:cNvPr id="26671" name="Rectangle 162"/>
              <p:cNvSpPr>
                <a:spLocks noChangeArrowheads="1"/>
              </p:cNvSpPr>
              <p:nvPr/>
            </p:nvSpPr>
            <p:spPr bwMode="auto">
              <a:xfrm>
                <a:off x="2245" y="2205"/>
                <a:ext cx="408" cy="363"/>
              </a:xfrm>
              <a:prstGeom prst="rect">
                <a:avLst/>
              </a:prstGeom>
              <a:solidFill>
                <a:srgbClr val="66CCFF"/>
              </a:solidFill>
              <a:ln w="9525" algn="ctr">
                <a:solidFill>
                  <a:schemeClr val="bg2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2000">
                    <a:solidFill>
                      <a:schemeClr val="tx2"/>
                    </a:solidFill>
                    <a:ea typeface="宋体" charset="-122"/>
                  </a:rPr>
                  <a:t>Type</a:t>
                </a:r>
              </a:p>
            </p:txBody>
          </p:sp>
          <p:sp>
            <p:nvSpPr>
              <p:cNvPr id="26672" name="Rectangle 163"/>
              <p:cNvSpPr>
                <a:spLocks noChangeArrowheads="1"/>
              </p:cNvSpPr>
              <p:nvPr/>
            </p:nvSpPr>
            <p:spPr bwMode="auto">
              <a:xfrm>
                <a:off x="3833" y="2205"/>
                <a:ext cx="408" cy="363"/>
              </a:xfrm>
              <a:prstGeom prst="rect">
                <a:avLst/>
              </a:prstGeom>
              <a:solidFill>
                <a:srgbClr val="66CCFF"/>
              </a:solidFill>
              <a:ln w="9525" algn="ctr">
                <a:solidFill>
                  <a:schemeClr val="bg2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2000">
                    <a:solidFill>
                      <a:schemeClr val="tx2"/>
                    </a:solidFill>
                    <a:ea typeface="宋体" charset="-122"/>
                  </a:rPr>
                  <a:t>CRC</a:t>
                </a:r>
              </a:p>
            </p:txBody>
          </p:sp>
          <p:sp>
            <p:nvSpPr>
              <p:cNvPr id="26673" name="Rectangle 164"/>
              <p:cNvSpPr>
                <a:spLocks noChangeArrowheads="1"/>
              </p:cNvSpPr>
              <p:nvPr/>
            </p:nvSpPr>
            <p:spPr bwMode="auto">
              <a:xfrm>
                <a:off x="1837" y="2205"/>
                <a:ext cx="408" cy="363"/>
              </a:xfrm>
              <a:prstGeom prst="rect">
                <a:avLst/>
              </a:prstGeom>
              <a:solidFill>
                <a:srgbClr val="FFC000"/>
              </a:solidFill>
              <a:ln w="9525" algn="ctr">
                <a:solidFill>
                  <a:schemeClr val="bg2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2000">
                    <a:solidFill>
                      <a:schemeClr val="tx2"/>
                    </a:solidFill>
                    <a:ea typeface="宋体" charset="-122"/>
                  </a:rPr>
                  <a:t>Tag</a:t>
                </a:r>
              </a:p>
            </p:txBody>
          </p:sp>
        </p:grpSp>
      </p:grpSp>
      <p:sp>
        <p:nvSpPr>
          <p:cNvPr id="218" name="AutoShape 166"/>
          <p:cNvSpPr>
            <a:spLocks noChangeArrowheads="1"/>
          </p:cNvSpPr>
          <p:nvPr/>
        </p:nvSpPr>
        <p:spPr bwMode="auto">
          <a:xfrm>
            <a:off x="8326438" y="2236789"/>
            <a:ext cx="2151062" cy="714375"/>
          </a:xfrm>
          <a:prstGeom prst="wedgeRoundRectCallout">
            <a:avLst>
              <a:gd name="adj1" fmla="val -47468"/>
              <a:gd name="adj2" fmla="val 148426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带有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802.1q</a:t>
            </a:r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标记的以太网帧</a:t>
            </a:r>
          </a:p>
        </p:txBody>
      </p:sp>
      <p:sp>
        <p:nvSpPr>
          <p:cNvPr id="219" name="内容占位符 14"/>
          <p:cNvSpPr txBox="1">
            <a:spLocks/>
          </p:cNvSpPr>
          <p:nvPr/>
        </p:nvSpPr>
        <p:spPr bwMode="auto">
          <a:xfrm>
            <a:off x="1738313" y="1143001"/>
            <a:ext cx="8229600" cy="203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0" hangingPunct="0">
              <a:spcBef>
                <a:spcPts val="672"/>
              </a:spcBef>
              <a:buClr>
                <a:schemeClr val="hlink"/>
              </a:buClr>
              <a:buFont typeface="Wingdings" pitchFamily="2" charset="2"/>
              <a:buChar char="v"/>
              <a:defRPr/>
            </a:pPr>
            <a:r>
              <a:rPr lang="en-US" altLang="zh-CN" sz="2800" b="1" dirty="0">
                <a:solidFill>
                  <a:schemeClr val="tx2"/>
                </a:solidFill>
              </a:rPr>
              <a:t>IEEE 802.1q</a:t>
            </a:r>
            <a:r>
              <a:rPr lang="zh-CN" altLang="en-US" sz="2800" b="1" dirty="0">
                <a:solidFill>
                  <a:schemeClr val="tx2"/>
                </a:solidFill>
              </a:rPr>
              <a:t>帧格式</a:t>
            </a:r>
          </a:p>
        </p:txBody>
      </p:sp>
      <p:sp>
        <p:nvSpPr>
          <p:cNvPr id="202" name="AutoShape 129"/>
          <p:cNvSpPr>
            <a:spLocks noChangeArrowheads="1"/>
          </p:cNvSpPr>
          <p:nvPr/>
        </p:nvSpPr>
        <p:spPr bwMode="auto">
          <a:xfrm>
            <a:off x="8286750" y="4159251"/>
            <a:ext cx="2266950" cy="714375"/>
          </a:xfrm>
          <a:prstGeom prst="wedgeRoundRectCallout">
            <a:avLst>
              <a:gd name="adj1" fmla="val -62500"/>
              <a:gd name="adj2" fmla="val 45185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12bit</a:t>
            </a:r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，可标识的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VLAN ID</a:t>
            </a:r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为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4096</a:t>
            </a:r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个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2.58094E-6 L 1.38889E-6 -0.06036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  <p:bldP spid="19" grpId="0"/>
      <p:bldP spid="21" grpId="0"/>
      <p:bldP spid="89" grpId="0" animBg="1"/>
      <p:bldP spid="89" grpId="1" animBg="1"/>
      <p:bldP spid="128" grpId="0"/>
      <p:bldP spid="129" grpId="0"/>
      <p:bldP spid="142" grpId="0" animBg="1"/>
      <p:bldP spid="142" grpId="1" animBg="1"/>
      <p:bldP spid="143" grpId="0" animBg="1"/>
      <p:bldP spid="143" grpId="1" animBg="1"/>
      <p:bldP spid="144" grpId="0" animBg="1"/>
      <p:bldP spid="144" grpId="1" animBg="1"/>
      <p:bldP spid="144" grpId="2" animBg="1"/>
      <p:bldP spid="153" grpId="0" animBg="1"/>
      <p:bldP spid="153" grpId="1" animBg="1"/>
      <p:bldP spid="156" grpId="0" animBg="1"/>
      <p:bldP spid="156" grpId="1" animBg="1"/>
      <p:bldP spid="157" grpId="0" animBg="1"/>
      <p:bldP spid="157" grpId="1" animBg="1"/>
      <p:bldP spid="218" grpId="0" animBg="1"/>
      <p:bldP spid="219" grpId="0"/>
      <p:bldP spid="20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内容占位符 2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/>
              <a:t>Native VLAN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不支持</a:t>
            </a:r>
            <a:r>
              <a:rPr lang="en-US" altLang="zh-CN"/>
              <a:t>VLAN</a:t>
            </a:r>
            <a:r>
              <a:rPr lang="zh-CN" altLang="en-US"/>
              <a:t>的交换机混合部署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允许交换机从</a:t>
            </a:r>
            <a:r>
              <a:rPr lang="en-US" altLang="zh-CN"/>
              <a:t>Trunk</a:t>
            </a:r>
            <a:r>
              <a:rPr lang="zh-CN" altLang="en-US"/>
              <a:t>端口上转发未被标记的帧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en-US" altLang="zh-CN"/>
              <a:t>Cisco Catalyst</a:t>
            </a:r>
            <a:r>
              <a:rPr lang="zh-CN" altLang="en-US"/>
              <a:t>交换机默认</a:t>
            </a:r>
            <a:r>
              <a:rPr lang="en-US" altLang="zh-CN"/>
              <a:t>Native VLAN</a:t>
            </a:r>
            <a:r>
              <a:rPr lang="zh-CN" altLang="en-US"/>
              <a:t>是</a:t>
            </a:r>
            <a:r>
              <a:rPr lang="en-US" altLang="zh-CN"/>
              <a:t>VLAN 1</a:t>
            </a:r>
          </a:p>
          <a:p>
            <a:pPr lvl="1">
              <a:spcBef>
                <a:spcPts val="475"/>
              </a:spcBef>
            </a:pPr>
            <a:r>
              <a:rPr lang="en-US" altLang="zh-CN"/>
              <a:t>Trunk</a:t>
            </a:r>
            <a:r>
              <a:rPr lang="zh-CN" altLang="en-US"/>
              <a:t>端口互联</a:t>
            </a:r>
            <a:r>
              <a:rPr lang="en-US" altLang="zh-CN"/>
              <a:t>Native VLAN</a:t>
            </a:r>
            <a:r>
              <a:rPr lang="zh-CN" altLang="en-US"/>
              <a:t>必须相同</a:t>
            </a:r>
            <a:endParaRPr lang="en-US" altLang="zh-CN"/>
          </a:p>
        </p:txBody>
      </p:sp>
      <p:sp>
        <p:nvSpPr>
          <p:cNvPr id="2765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Native VLAN</a:t>
            </a:r>
            <a:r>
              <a:rPr lang="zh-CN" altLang="en-US"/>
              <a:t>概述</a:t>
            </a:r>
          </a:p>
        </p:txBody>
      </p:sp>
      <p:grpSp>
        <p:nvGrpSpPr>
          <p:cNvPr id="2" name="Group 205"/>
          <p:cNvGrpSpPr>
            <a:grpSpLocks/>
          </p:cNvGrpSpPr>
          <p:nvPr/>
        </p:nvGrpSpPr>
        <p:grpSpPr bwMode="auto">
          <a:xfrm>
            <a:off x="3275013" y="5873751"/>
            <a:ext cx="1079500" cy="144463"/>
            <a:chOff x="1565" y="2024"/>
            <a:chExt cx="997" cy="136"/>
          </a:xfrm>
        </p:grpSpPr>
        <p:sp>
          <p:nvSpPr>
            <p:cNvPr id="27703" name="Rectangle 203"/>
            <p:cNvSpPr>
              <a:spLocks noChangeArrowheads="1"/>
            </p:cNvSpPr>
            <p:nvPr/>
          </p:nvSpPr>
          <p:spPr bwMode="auto">
            <a:xfrm>
              <a:off x="1565" y="2024"/>
              <a:ext cx="317" cy="136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704" name="Rectangle 204"/>
            <p:cNvSpPr>
              <a:spLocks noChangeArrowheads="1"/>
            </p:cNvSpPr>
            <p:nvPr/>
          </p:nvSpPr>
          <p:spPr bwMode="auto">
            <a:xfrm>
              <a:off x="1882" y="2024"/>
              <a:ext cx="680" cy="136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" name="Group 213"/>
          <p:cNvGrpSpPr>
            <a:grpSpLocks/>
          </p:cNvGrpSpPr>
          <p:nvPr/>
        </p:nvGrpSpPr>
        <p:grpSpPr bwMode="auto">
          <a:xfrm>
            <a:off x="5273676" y="5248276"/>
            <a:ext cx="1223963" cy="144463"/>
            <a:chOff x="1882" y="2750"/>
            <a:chExt cx="677" cy="91"/>
          </a:xfrm>
        </p:grpSpPr>
        <p:sp>
          <p:nvSpPr>
            <p:cNvPr id="27701" name="Rectangle 207"/>
            <p:cNvSpPr>
              <a:spLocks noChangeArrowheads="1"/>
            </p:cNvSpPr>
            <p:nvPr/>
          </p:nvSpPr>
          <p:spPr bwMode="auto">
            <a:xfrm>
              <a:off x="1882" y="2750"/>
              <a:ext cx="216" cy="91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702" name="Rectangle 208"/>
            <p:cNvSpPr>
              <a:spLocks noChangeArrowheads="1"/>
            </p:cNvSpPr>
            <p:nvPr/>
          </p:nvSpPr>
          <p:spPr bwMode="auto">
            <a:xfrm>
              <a:off x="2095" y="2750"/>
              <a:ext cx="464" cy="91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4" name="Group 205"/>
          <p:cNvGrpSpPr>
            <a:grpSpLocks/>
          </p:cNvGrpSpPr>
          <p:nvPr/>
        </p:nvGrpSpPr>
        <p:grpSpPr bwMode="auto">
          <a:xfrm>
            <a:off x="7497763" y="5873751"/>
            <a:ext cx="1079500" cy="144463"/>
            <a:chOff x="1565" y="2024"/>
            <a:chExt cx="997" cy="136"/>
          </a:xfrm>
        </p:grpSpPr>
        <p:sp>
          <p:nvSpPr>
            <p:cNvPr id="27699" name="Rectangle 203"/>
            <p:cNvSpPr>
              <a:spLocks noChangeArrowheads="1"/>
            </p:cNvSpPr>
            <p:nvPr/>
          </p:nvSpPr>
          <p:spPr bwMode="auto">
            <a:xfrm>
              <a:off x="1565" y="2024"/>
              <a:ext cx="317" cy="136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700" name="Rectangle 204"/>
            <p:cNvSpPr>
              <a:spLocks noChangeArrowheads="1"/>
            </p:cNvSpPr>
            <p:nvPr/>
          </p:nvSpPr>
          <p:spPr bwMode="auto">
            <a:xfrm>
              <a:off x="1882" y="2024"/>
              <a:ext cx="680" cy="136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70" name="Line 212"/>
          <p:cNvSpPr>
            <a:spLocks noChangeShapeType="1"/>
          </p:cNvSpPr>
          <p:nvPr/>
        </p:nvSpPr>
        <p:spPr bwMode="auto">
          <a:xfrm>
            <a:off x="5346700" y="5591175"/>
            <a:ext cx="10795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lg" len="sm"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73" name="Line 212"/>
          <p:cNvSpPr>
            <a:spLocks noChangeShapeType="1"/>
          </p:cNvSpPr>
          <p:nvPr/>
        </p:nvSpPr>
        <p:spPr bwMode="auto">
          <a:xfrm flipV="1">
            <a:off x="3808413" y="5376864"/>
            <a:ext cx="474662" cy="3651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lg" len="sm"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74" name="Line 212"/>
          <p:cNvSpPr>
            <a:spLocks noChangeShapeType="1"/>
          </p:cNvSpPr>
          <p:nvPr/>
        </p:nvSpPr>
        <p:spPr bwMode="auto">
          <a:xfrm>
            <a:off x="7426326" y="5305425"/>
            <a:ext cx="576263" cy="3952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lg" len="sm"/>
          </a:ln>
        </p:spPr>
        <p:txBody>
          <a:bodyPr anchor="b"/>
          <a:lstStyle/>
          <a:p>
            <a:endParaRPr lang="zh-CN" altLang="en-US"/>
          </a:p>
        </p:txBody>
      </p:sp>
      <p:grpSp>
        <p:nvGrpSpPr>
          <p:cNvPr id="5" name="组合 83"/>
          <p:cNvGrpSpPr>
            <a:grpSpLocks/>
          </p:cNvGrpSpPr>
          <p:nvPr/>
        </p:nvGrpSpPr>
        <p:grpSpPr bwMode="auto">
          <a:xfrm>
            <a:off x="2238376" y="3517901"/>
            <a:ext cx="7485063" cy="2982913"/>
            <a:chOff x="884238" y="3498856"/>
            <a:chExt cx="7485062" cy="2982926"/>
          </a:xfrm>
        </p:grpSpPr>
        <p:grpSp>
          <p:nvGrpSpPr>
            <p:cNvPr id="6" name="组合 23"/>
            <p:cNvGrpSpPr>
              <a:grpSpLocks/>
            </p:cNvGrpSpPr>
            <p:nvPr/>
          </p:nvGrpSpPr>
          <p:grpSpPr bwMode="auto">
            <a:xfrm>
              <a:off x="3148013" y="4895871"/>
              <a:ext cx="4089400" cy="12700"/>
              <a:chOff x="2600337" y="5314913"/>
              <a:chExt cx="4089417" cy="12763"/>
            </a:xfrm>
          </p:grpSpPr>
          <p:grpSp>
            <p:nvGrpSpPr>
              <p:cNvPr id="7" name="组合 44"/>
              <p:cNvGrpSpPr>
                <a:grpSpLocks/>
              </p:cNvGrpSpPr>
              <p:nvPr/>
            </p:nvGrpSpPr>
            <p:grpSpPr bwMode="auto">
              <a:xfrm>
                <a:off x="2600337" y="5322915"/>
                <a:ext cx="3797313" cy="4761"/>
                <a:chOff x="2527291" y="5837273"/>
                <a:chExt cx="3797313" cy="4761"/>
              </a:xfrm>
            </p:grpSpPr>
            <p:cxnSp>
              <p:nvCxnSpPr>
                <p:cNvPr id="27687" name="直接连接符 26"/>
                <p:cNvCxnSpPr>
                  <a:cxnSpLocks noChangeShapeType="1"/>
                </p:cNvCxnSpPr>
                <p:nvPr/>
              </p:nvCxnSpPr>
              <p:spPr bwMode="auto">
                <a:xfrm>
                  <a:off x="2527291" y="5840446"/>
                  <a:ext cx="1423988" cy="1588"/>
                </a:xfrm>
                <a:prstGeom prst="line">
                  <a:avLst/>
                </a:prstGeom>
                <a:noFill/>
                <a:ln w="31750" algn="ctr">
                  <a:solidFill>
                    <a:srgbClr val="FF33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27688" name="直接连接符 27"/>
                <p:cNvCxnSpPr>
                  <a:cxnSpLocks noChangeShapeType="1"/>
                </p:cNvCxnSpPr>
                <p:nvPr/>
              </p:nvCxnSpPr>
              <p:spPr bwMode="auto">
                <a:xfrm>
                  <a:off x="2709836" y="5838861"/>
                  <a:ext cx="1423988" cy="1588"/>
                </a:xfrm>
                <a:prstGeom prst="line">
                  <a:avLst/>
                </a:prstGeom>
                <a:noFill/>
                <a:ln w="31750" algn="ctr">
                  <a:solidFill>
                    <a:schemeClr val="tx2"/>
                  </a:solidFill>
                  <a:round/>
                  <a:headEnd/>
                  <a:tailEnd/>
                </a:ln>
              </p:spPr>
            </p:cxnSp>
            <p:cxnSp>
              <p:nvCxnSpPr>
                <p:cNvPr id="27689" name="直接连接符 28"/>
                <p:cNvCxnSpPr>
                  <a:cxnSpLocks noChangeShapeType="1"/>
                </p:cNvCxnSpPr>
                <p:nvPr/>
              </p:nvCxnSpPr>
              <p:spPr bwMode="auto">
                <a:xfrm>
                  <a:off x="2928915" y="5840446"/>
                  <a:ext cx="1423987" cy="1587"/>
                </a:xfrm>
                <a:prstGeom prst="line">
                  <a:avLst/>
                </a:prstGeom>
                <a:noFill/>
                <a:ln w="31750" algn="ctr">
                  <a:solidFill>
                    <a:srgbClr val="66CCFF"/>
                  </a:solidFill>
                  <a:round/>
                  <a:headEnd/>
                  <a:tailEnd/>
                </a:ln>
              </p:spPr>
            </p:cxnSp>
            <p:cxnSp>
              <p:nvCxnSpPr>
                <p:cNvPr id="27690" name="直接连接符 29"/>
                <p:cNvCxnSpPr>
                  <a:cxnSpLocks noChangeShapeType="1"/>
                </p:cNvCxnSpPr>
                <p:nvPr/>
              </p:nvCxnSpPr>
              <p:spPr bwMode="auto">
                <a:xfrm>
                  <a:off x="3148012" y="5840446"/>
                  <a:ext cx="1423988" cy="1588"/>
                </a:xfrm>
                <a:prstGeom prst="line">
                  <a:avLst/>
                </a:prstGeom>
                <a:noFill/>
                <a:ln w="31750" algn="ctr">
                  <a:solidFill>
                    <a:srgbClr val="FF33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27691" name="直接连接符 30"/>
                <p:cNvCxnSpPr>
                  <a:cxnSpLocks noChangeShapeType="1"/>
                </p:cNvCxnSpPr>
                <p:nvPr/>
              </p:nvCxnSpPr>
              <p:spPr bwMode="auto">
                <a:xfrm>
                  <a:off x="3367090" y="5840446"/>
                  <a:ext cx="1423988" cy="1588"/>
                </a:xfrm>
                <a:prstGeom prst="line">
                  <a:avLst/>
                </a:prstGeom>
                <a:noFill/>
                <a:ln w="31750" algn="ctr">
                  <a:solidFill>
                    <a:schemeClr val="tx2"/>
                  </a:solidFill>
                  <a:round/>
                  <a:headEnd/>
                  <a:tailEnd/>
                </a:ln>
              </p:spPr>
            </p:cxnSp>
            <p:cxnSp>
              <p:nvCxnSpPr>
                <p:cNvPr id="27692" name="直接连接符 31"/>
                <p:cNvCxnSpPr>
                  <a:cxnSpLocks noChangeShapeType="1"/>
                </p:cNvCxnSpPr>
                <p:nvPr/>
              </p:nvCxnSpPr>
              <p:spPr bwMode="auto">
                <a:xfrm>
                  <a:off x="3598044" y="5840446"/>
                  <a:ext cx="1423987" cy="1587"/>
                </a:xfrm>
                <a:prstGeom prst="line">
                  <a:avLst/>
                </a:prstGeom>
                <a:noFill/>
                <a:ln w="31750" algn="ctr">
                  <a:solidFill>
                    <a:srgbClr val="66CCFF"/>
                  </a:solidFill>
                  <a:round/>
                  <a:headEnd/>
                  <a:tailEnd/>
                </a:ln>
              </p:spPr>
            </p:cxnSp>
            <p:cxnSp>
              <p:nvCxnSpPr>
                <p:cNvPr id="27693" name="直接连接符 32"/>
                <p:cNvCxnSpPr>
                  <a:cxnSpLocks noChangeShapeType="1"/>
                </p:cNvCxnSpPr>
                <p:nvPr/>
              </p:nvCxnSpPr>
              <p:spPr bwMode="auto">
                <a:xfrm>
                  <a:off x="3805227" y="5838858"/>
                  <a:ext cx="1423988" cy="1588"/>
                </a:xfrm>
                <a:prstGeom prst="line">
                  <a:avLst/>
                </a:prstGeom>
                <a:noFill/>
                <a:ln w="31750" algn="ctr">
                  <a:solidFill>
                    <a:srgbClr val="FF33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27694" name="直接连接符 33"/>
                <p:cNvCxnSpPr>
                  <a:cxnSpLocks noChangeShapeType="1"/>
                </p:cNvCxnSpPr>
                <p:nvPr/>
              </p:nvCxnSpPr>
              <p:spPr bwMode="auto">
                <a:xfrm>
                  <a:off x="4024305" y="5837273"/>
                  <a:ext cx="1423988" cy="1588"/>
                </a:xfrm>
                <a:prstGeom prst="line">
                  <a:avLst/>
                </a:prstGeom>
                <a:noFill/>
                <a:ln w="31750" algn="ctr">
                  <a:solidFill>
                    <a:schemeClr val="tx2"/>
                  </a:solidFill>
                  <a:round/>
                  <a:headEnd/>
                  <a:tailEnd/>
                </a:ln>
              </p:spPr>
            </p:cxnSp>
            <p:cxnSp>
              <p:nvCxnSpPr>
                <p:cNvPr id="27695" name="直接连接符 34"/>
                <p:cNvCxnSpPr>
                  <a:cxnSpLocks noChangeShapeType="1"/>
                </p:cNvCxnSpPr>
                <p:nvPr/>
              </p:nvCxnSpPr>
              <p:spPr bwMode="auto">
                <a:xfrm>
                  <a:off x="4243383" y="5838858"/>
                  <a:ext cx="1423987" cy="1587"/>
                </a:xfrm>
                <a:prstGeom prst="line">
                  <a:avLst/>
                </a:prstGeom>
                <a:noFill/>
                <a:ln w="31750" algn="ctr">
                  <a:solidFill>
                    <a:srgbClr val="66CCFF"/>
                  </a:solidFill>
                  <a:round/>
                  <a:headEnd/>
                  <a:tailEnd/>
                </a:ln>
              </p:spPr>
            </p:cxnSp>
            <p:cxnSp>
              <p:nvCxnSpPr>
                <p:cNvPr id="27696" name="直接连接符 35"/>
                <p:cNvCxnSpPr>
                  <a:cxnSpLocks noChangeShapeType="1"/>
                </p:cNvCxnSpPr>
                <p:nvPr/>
              </p:nvCxnSpPr>
              <p:spPr bwMode="auto">
                <a:xfrm>
                  <a:off x="4462461" y="5838858"/>
                  <a:ext cx="1423988" cy="1588"/>
                </a:xfrm>
                <a:prstGeom prst="line">
                  <a:avLst/>
                </a:prstGeom>
                <a:noFill/>
                <a:ln w="31750" algn="ctr">
                  <a:solidFill>
                    <a:srgbClr val="FF33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27697" name="直接连接符 36"/>
                <p:cNvCxnSpPr>
                  <a:cxnSpLocks noChangeShapeType="1"/>
                </p:cNvCxnSpPr>
                <p:nvPr/>
              </p:nvCxnSpPr>
              <p:spPr bwMode="auto">
                <a:xfrm>
                  <a:off x="4681539" y="5838858"/>
                  <a:ext cx="1423988" cy="1588"/>
                </a:xfrm>
                <a:prstGeom prst="line">
                  <a:avLst/>
                </a:prstGeom>
                <a:noFill/>
                <a:ln w="31750" algn="ctr">
                  <a:solidFill>
                    <a:schemeClr val="tx2"/>
                  </a:solidFill>
                  <a:round/>
                  <a:headEnd/>
                  <a:tailEnd/>
                </a:ln>
              </p:spPr>
            </p:cxnSp>
            <p:cxnSp>
              <p:nvCxnSpPr>
                <p:cNvPr id="27698" name="直接连接符 37"/>
                <p:cNvCxnSpPr>
                  <a:cxnSpLocks noChangeShapeType="1"/>
                </p:cNvCxnSpPr>
                <p:nvPr/>
              </p:nvCxnSpPr>
              <p:spPr bwMode="auto">
                <a:xfrm>
                  <a:off x="4900617" y="5838858"/>
                  <a:ext cx="1423987" cy="1587"/>
                </a:xfrm>
                <a:prstGeom prst="line">
                  <a:avLst/>
                </a:prstGeom>
                <a:noFill/>
                <a:ln w="31750" algn="ctr">
                  <a:solidFill>
                    <a:srgbClr val="66CCFF"/>
                  </a:solidFill>
                  <a:round/>
                  <a:headEnd/>
                  <a:tailEnd/>
                </a:ln>
              </p:spPr>
            </p:cxnSp>
          </p:grpSp>
          <p:cxnSp>
            <p:nvCxnSpPr>
              <p:cNvPr id="27686" name="直接连接符 25"/>
              <p:cNvCxnSpPr>
                <a:cxnSpLocks noChangeShapeType="1"/>
              </p:cNvCxnSpPr>
              <p:nvPr/>
            </p:nvCxnSpPr>
            <p:spPr bwMode="auto">
              <a:xfrm>
                <a:off x="5265767" y="5314913"/>
                <a:ext cx="1423987" cy="1587"/>
              </a:xfrm>
              <a:prstGeom prst="line">
                <a:avLst/>
              </a:prstGeom>
              <a:noFill/>
              <a:ln w="57150" algn="ctr">
                <a:solidFill>
                  <a:schemeClr val="bg1"/>
                </a:solidFill>
                <a:round/>
                <a:headEnd/>
                <a:tailEnd/>
              </a:ln>
            </p:spPr>
          </p:cxnSp>
        </p:grpSp>
        <p:cxnSp>
          <p:nvCxnSpPr>
            <p:cNvPr id="27660" name="直接连接符 62"/>
            <p:cNvCxnSpPr>
              <a:cxnSpLocks noChangeShapeType="1"/>
            </p:cNvCxnSpPr>
            <p:nvPr/>
          </p:nvCxnSpPr>
          <p:spPr bwMode="auto">
            <a:xfrm>
              <a:off x="6215063" y="4906984"/>
              <a:ext cx="1423987" cy="1587"/>
            </a:xfrm>
            <a:prstGeom prst="line">
              <a:avLst/>
            </a:prstGeom>
            <a:noFill/>
            <a:ln w="31750" algn="ctr">
              <a:solidFill>
                <a:schemeClr val="tx2"/>
              </a:solidFill>
              <a:round/>
              <a:headEnd/>
              <a:tailEnd/>
            </a:ln>
          </p:spPr>
        </p:cxnSp>
        <p:cxnSp>
          <p:nvCxnSpPr>
            <p:cNvPr id="27661" name="直接连接符 59"/>
            <p:cNvCxnSpPr>
              <a:cxnSpLocks noChangeShapeType="1"/>
            </p:cNvCxnSpPr>
            <p:nvPr/>
          </p:nvCxnSpPr>
          <p:spPr bwMode="auto">
            <a:xfrm>
              <a:off x="1577975" y="4908571"/>
              <a:ext cx="1423988" cy="1588"/>
            </a:xfrm>
            <a:prstGeom prst="line">
              <a:avLst/>
            </a:prstGeom>
            <a:noFill/>
            <a:ln w="31750" algn="ctr">
              <a:solidFill>
                <a:schemeClr val="tx2"/>
              </a:solidFill>
              <a:round/>
              <a:headEnd/>
              <a:tailEnd/>
            </a:ln>
          </p:spPr>
        </p:cxnSp>
        <p:pic>
          <p:nvPicPr>
            <p:cNvPr id="27662" name="Picture 6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819400" y="4676796"/>
              <a:ext cx="1168400" cy="500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7663" name="图片 11" descr="asdf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139825" y="4687909"/>
              <a:ext cx="484188" cy="460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7664" name="Picture 6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192713" y="4676796"/>
              <a:ext cx="1168400" cy="500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7665" name="图片 11" descr="asdf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139825" y="3754443"/>
              <a:ext cx="484188" cy="460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7666" name="图片 11" descr="asdf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139825" y="5740420"/>
              <a:ext cx="484188" cy="460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7667" name="图片 11" descr="asdf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7529513" y="4691084"/>
              <a:ext cx="484187" cy="460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7668" name="图片 11" descr="asdf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7529513" y="3744898"/>
              <a:ext cx="484187" cy="460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7669" name="图片 11" descr="asdf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7529513" y="5754707"/>
              <a:ext cx="484187" cy="460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27670" name="直接连接符 46"/>
            <p:cNvCxnSpPr>
              <a:cxnSpLocks noChangeShapeType="1"/>
            </p:cNvCxnSpPr>
            <p:nvPr/>
          </p:nvCxnSpPr>
          <p:spPr bwMode="auto">
            <a:xfrm>
              <a:off x="1624013" y="3984631"/>
              <a:ext cx="1341437" cy="801703"/>
            </a:xfrm>
            <a:prstGeom prst="line">
              <a:avLst/>
            </a:prstGeom>
            <a:noFill/>
            <a:ln w="31750" algn="ctr">
              <a:solidFill>
                <a:srgbClr val="66CCFF"/>
              </a:solidFill>
              <a:round/>
              <a:headEnd/>
              <a:tailEnd/>
            </a:ln>
          </p:spPr>
        </p:cxnSp>
        <p:cxnSp>
          <p:nvCxnSpPr>
            <p:cNvPr id="27671" name="直接连接符 47"/>
            <p:cNvCxnSpPr>
              <a:cxnSpLocks noChangeShapeType="1"/>
            </p:cNvCxnSpPr>
            <p:nvPr/>
          </p:nvCxnSpPr>
          <p:spPr bwMode="auto">
            <a:xfrm flipV="1">
              <a:off x="1624013" y="5151459"/>
              <a:ext cx="1231900" cy="819149"/>
            </a:xfrm>
            <a:prstGeom prst="line">
              <a:avLst/>
            </a:prstGeom>
            <a:noFill/>
            <a:ln w="31750" algn="ctr">
              <a:solidFill>
                <a:srgbClr val="FF3300"/>
              </a:solidFill>
              <a:round/>
              <a:headEnd/>
              <a:tailEnd/>
            </a:ln>
          </p:spPr>
        </p:cxnSp>
        <p:cxnSp>
          <p:nvCxnSpPr>
            <p:cNvPr id="27672" name="直接连接符 58"/>
            <p:cNvCxnSpPr>
              <a:cxnSpLocks noChangeShapeType="1"/>
            </p:cNvCxnSpPr>
            <p:nvPr/>
          </p:nvCxnSpPr>
          <p:spPr bwMode="auto">
            <a:xfrm>
              <a:off x="6178550" y="5078434"/>
              <a:ext cx="1350963" cy="906461"/>
            </a:xfrm>
            <a:prstGeom prst="line">
              <a:avLst/>
            </a:prstGeom>
            <a:noFill/>
            <a:ln w="31750" algn="ctr">
              <a:solidFill>
                <a:srgbClr val="FF3300"/>
              </a:solidFill>
              <a:round/>
              <a:headEnd/>
              <a:tailEnd/>
            </a:ln>
          </p:spPr>
        </p:cxnSp>
        <p:cxnSp>
          <p:nvCxnSpPr>
            <p:cNvPr id="27673" name="直接连接符 60"/>
            <p:cNvCxnSpPr>
              <a:cxnSpLocks noChangeShapeType="1"/>
            </p:cNvCxnSpPr>
            <p:nvPr/>
          </p:nvCxnSpPr>
          <p:spPr bwMode="auto">
            <a:xfrm flipV="1">
              <a:off x="6361113" y="3975086"/>
              <a:ext cx="1168400" cy="738224"/>
            </a:xfrm>
            <a:prstGeom prst="line">
              <a:avLst/>
            </a:prstGeom>
            <a:noFill/>
            <a:ln w="31750" algn="ctr">
              <a:solidFill>
                <a:srgbClr val="66CCFF"/>
              </a:solidFill>
              <a:round/>
              <a:headEnd/>
              <a:tailEnd/>
            </a:ln>
          </p:spPr>
        </p:cxnSp>
        <p:sp>
          <p:nvSpPr>
            <p:cNvPr id="27674" name="Text Box 13"/>
            <p:cNvSpPr txBox="1">
              <a:spLocks noChangeArrowheads="1"/>
            </p:cNvSpPr>
            <p:nvPr/>
          </p:nvSpPr>
          <p:spPr bwMode="auto">
            <a:xfrm>
              <a:off x="7310438" y="5484832"/>
              <a:ext cx="1058862" cy="3381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VLAN 1</a:t>
              </a:r>
              <a:endParaRPr kumimoji="1" lang="zh-CN" altLang="en-US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27675" name="Text Box 13"/>
            <p:cNvSpPr txBox="1">
              <a:spLocks noChangeArrowheads="1"/>
            </p:cNvSpPr>
            <p:nvPr/>
          </p:nvSpPr>
          <p:spPr bwMode="auto">
            <a:xfrm>
              <a:off x="884238" y="5484832"/>
              <a:ext cx="1058862" cy="3381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VLAN 1</a:t>
              </a:r>
              <a:endParaRPr kumimoji="1" lang="zh-CN" altLang="en-US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27676" name="Text Box 13"/>
            <p:cNvSpPr txBox="1">
              <a:spLocks noChangeArrowheads="1"/>
            </p:cNvSpPr>
            <p:nvPr/>
          </p:nvSpPr>
          <p:spPr bwMode="auto">
            <a:xfrm>
              <a:off x="7273925" y="4457721"/>
              <a:ext cx="1058863" cy="3381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VLAN 2</a:t>
              </a:r>
              <a:endParaRPr kumimoji="1" lang="zh-CN" altLang="en-US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27677" name="Text Box 13"/>
            <p:cNvSpPr txBox="1">
              <a:spLocks noChangeArrowheads="1"/>
            </p:cNvSpPr>
            <p:nvPr/>
          </p:nvSpPr>
          <p:spPr bwMode="auto">
            <a:xfrm>
              <a:off x="884238" y="4421209"/>
              <a:ext cx="1058862" cy="33813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VLAN 2</a:t>
              </a:r>
              <a:endParaRPr kumimoji="1" lang="zh-CN" altLang="en-US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27678" name="Text Box 13"/>
            <p:cNvSpPr txBox="1">
              <a:spLocks noChangeArrowheads="1"/>
            </p:cNvSpPr>
            <p:nvPr/>
          </p:nvSpPr>
          <p:spPr bwMode="auto">
            <a:xfrm>
              <a:off x="957263" y="3498856"/>
              <a:ext cx="1058862" cy="33813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VLAN 3</a:t>
              </a:r>
              <a:endParaRPr kumimoji="1" lang="zh-CN" altLang="en-US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27679" name="Text Box 13"/>
            <p:cNvSpPr txBox="1">
              <a:spLocks noChangeArrowheads="1"/>
            </p:cNvSpPr>
            <p:nvPr/>
          </p:nvSpPr>
          <p:spPr bwMode="auto">
            <a:xfrm>
              <a:off x="7273925" y="3498856"/>
              <a:ext cx="1058863" cy="33813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VLAN 3</a:t>
              </a:r>
              <a:endParaRPr kumimoji="1" lang="zh-CN" altLang="en-US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27680" name="Text Box 13"/>
            <p:cNvSpPr txBox="1">
              <a:spLocks noChangeArrowheads="1"/>
            </p:cNvSpPr>
            <p:nvPr/>
          </p:nvSpPr>
          <p:spPr bwMode="auto">
            <a:xfrm>
              <a:off x="2973068" y="4885056"/>
              <a:ext cx="642942" cy="3381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en-US" altLang="zh-CN" sz="1600" b="1">
                  <a:solidFill>
                    <a:schemeClr val="bg1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SW1</a:t>
              </a:r>
              <a:endParaRPr kumimoji="1" lang="zh-CN" altLang="en-US" sz="1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27681" name="Text Box 13"/>
            <p:cNvSpPr txBox="1">
              <a:spLocks noChangeArrowheads="1"/>
            </p:cNvSpPr>
            <p:nvPr/>
          </p:nvSpPr>
          <p:spPr bwMode="auto">
            <a:xfrm>
              <a:off x="5357818" y="4885056"/>
              <a:ext cx="642942" cy="3381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en-US" altLang="zh-CN" sz="1600" b="1">
                  <a:solidFill>
                    <a:schemeClr val="bg1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SW2</a:t>
              </a:r>
              <a:endParaRPr kumimoji="1" lang="zh-CN" altLang="en-US" sz="1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27682" name="Text Box 13"/>
            <p:cNvSpPr txBox="1">
              <a:spLocks noChangeArrowheads="1"/>
            </p:cNvSpPr>
            <p:nvPr/>
          </p:nvSpPr>
          <p:spPr bwMode="auto">
            <a:xfrm>
              <a:off x="4143372" y="4591061"/>
              <a:ext cx="857256" cy="33813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802.1q</a:t>
              </a:r>
              <a:endParaRPr kumimoji="1" lang="zh-CN" altLang="en-US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27683" name="Text Box 13"/>
            <p:cNvSpPr txBox="1">
              <a:spLocks noChangeArrowheads="1"/>
            </p:cNvSpPr>
            <p:nvPr/>
          </p:nvSpPr>
          <p:spPr bwMode="auto">
            <a:xfrm>
              <a:off x="1000100" y="6143644"/>
              <a:ext cx="857256" cy="3381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zh-CN" altLang="en-US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主机</a:t>
              </a:r>
              <a:r>
                <a:rPr kumimoji="1"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A</a:t>
              </a:r>
              <a:endParaRPr kumimoji="1" lang="zh-CN" altLang="en-US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27684" name="Text Box 13"/>
            <p:cNvSpPr txBox="1">
              <a:spLocks noChangeArrowheads="1"/>
            </p:cNvSpPr>
            <p:nvPr/>
          </p:nvSpPr>
          <p:spPr bwMode="auto">
            <a:xfrm>
              <a:off x="7429520" y="6143644"/>
              <a:ext cx="857256" cy="3381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zh-CN" altLang="en-US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主机</a:t>
              </a:r>
              <a:r>
                <a:rPr kumimoji="1"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B</a:t>
              </a:r>
              <a:endParaRPr kumimoji="1" lang="zh-CN" altLang="en-US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3" grpId="0" animBg="1"/>
      <p:bldP spid="7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10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DTP动态中继协议</a:t>
            </a:r>
            <a:endParaRPr lang="en-US" dirty="0"/>
          </a:p>
          <a:p>
            <a:pPr>
              <a:defRPr/>
            </a:pPr>
            <a:r>
              <a:rPr lang="en-US" altLang="zh-CN" dirty="0"/>
              <a:t>Trunk</a:t>
            </a:r>
            <a:r>
              <a:rPr lang="zh-CN" altLang="en-US" dirty="0"/>
              <a:t>的模式</a:t>
            </a:r>
            <a:endParaRPr lang="en-US" altLang="zh-CN" dirty="0"/>
          </a:p>
          <a:p>
            <a:pPr lvl="1">
              <a:defRPr/>
            </a:pPr>
            <a:r>
              <a:rPr lang="zh-CN" altLang="en-US" dirty="0">
                <a:latin typeface="+mn-ea"/>
              </a:rPr>
              <a:t>接入（</a:t>
            </a:r>
            <a:r>
              <a:rPr lang="en-US" altLang="zh-CN" dirty="0">
                <a:latin typeface="+mn-ea"/>
              </a:rPr>
              <a:t>Access</a:t>
            </a:r>
            <a:r>
              <a:rPr lang="zh-CN" altLang="en-US" dirty="0">
                <a:latin typeface="+mn-ea"/>
              </a:rPr>
              <a:t>）  </a:t>
            </a:r>
            <a:endParaRPr lang="en-US" altLang="zh-CN" dirty="0">
              <a:latin typeface="+mn-ea"/>
            </a:endParaRPr>
          </a:p>
          <a:p>
            <a:pPr lvl="1">
              <a:defRPr/>
            </a:pPr>
            <a:r>
              <a:rPr lang="zh-CN" altLang="en-US" dirty="0">
                <a:latin typeface="+mn-ea"/>
              </a:rPr>
              <a:t>干道（</a:t>
            </a:r>
            <a:r>
              <a:rPr lang="en-US" altLang="zh-CN" dirty="0">
                <a:latin typeface="+mn-ea"/>
              </a:rPr>
              <a:t>Trunk</a:t>
            </a:r>
            <a:r>
              <a:rPr lang="zh-CN" altLang="en-US" dirty="0">
                <a:latin typeface="+mn-ea"/>
              </a:rPr>
              <a:t>）</a:t>
            </a:r>
            <a:endParaRPr lang="en-US" altLang="zh-CN" dirty="0">
              <a:latin typeface="+mn-ea"/>
            </a:endParaRPr>
          </a:p>
          <a:p>
            <a:pPr lvl="1">
              <a:defRPr/>
            </a:pPr>
            <a:r>
              <a:rPr lang="zh-CN" altLang="en-US" dirty="0">
                <a:latin typeface="+mn-ea"/>
              </a:rPr>
              <a:t>动态企望（</a:t>
            </a:r>
            <a:r>
              <a:rPr lang="en-US" altLang="zh-CN" dirty="0">
                <a:latin typeface="+mn-ea"/>
              </a:rPr>
              <a:t>Dynamic desirable</a:t>
            </a:r>
            <a:r>
              <a:rPr lang="zh-CN" altLang="en-US" dirty="0">
                <a:latin typeface="+mn-ea"/>
              </a:rPr>
              <a:t>）</a:t>
            </a:r>
            <a:endParaRPr lang="en-US" altLang="zh-CN" dirty="0">
              <a:latin typeface="+mn-ea"/>
            </a:endParaRPr>
          </a:p>
          <a:p>
            <a:pPr lvl="1">
              <a:defRPr/>
            </a:pPr>
            <a:r>
              <a:rPr lang="zh-CN" altLang="en-US" dirty="0">
                <a:latin typeface="+mn-ea"/>
              </a:rPr>
              <a:t>动态自动（</a:t>
            </a:r>
            <a:r>
              <a:rPr lang="en-US" altLang="zh-CN" dirty="0">
                <a:latin typeface="+mn-ea"/>
              </a:rPr>
              <a:t>Dynamic auto</a:t>
            </a:r>
            <a:r>
              <a:rPr lang="zh-CN" altLang="en-US" dirty="0">
                <a:latin typeface="+mn-ea"/>
              </a:rPr>
              <a:t>）   </a:t>
            </a:r>
            <a:endParaRPr lang="en-US" altLang="zh-CN" dirty="0">
              <a:latin typeface="+mn-ea"/>
            </a:endParaRPr>
          </a:p>
          <a:p>
            <a:pPr lvl="1">
              <a:defRPr/>
            </a:pPr>
            <a:r>
              <a:rPr lang="zh-CN" altLang="en-US" dirty="0">
                <a:latin typeface="+mn-ea"/>
              </a:rPr>
              <a:t>非协商（</a:t>
            </a:r>
            <a:r>
              <a:rPr lang="en-US" altLang="zh-CN" dirty="0" err="1">
                <a:latin typeface="+mn-ea"/>
              </a:rPr>
              <a:t>Nonegotiate</a:t>
            </a:r>
            <a:r>
              <a:rPr lang="zh-CN" altLang="en-US" dirty="0" err="1">
                <a:latin typeface="+mn-ea"/>
              </a:rPr>
              <a:t>） 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2867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en-US" altLang="zh-CN"/>
              <a:t>Trunk</a:t>
            </a:r>
            <a:r>
              <a:rPr lang="zh-CN" altLang="en-US"/>
              <a:t>的模式和协商</a:t>
            </a:r>
            <a:endParaRPr lang="en-US" altLang="en-US"/>
          </a:p>
        </p:txBody>
      </p:sp>
      <p:sp>
        <p:nvSpPr>
          <p:cNvPr id="13" name="内容占位符 10"/>
          <p:cNvSpPr txBox="1">
            <a:spLocks/>
          </p:cNvSpPr>
          <p:nvPr/>
        </p:nvSpPr>
        <p:spPr bwMode="auto">
          <a:xfrm>
            <a:off x="1738313" y="1143001"/>
            <a:ext cx="8229600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ts val="672"/>
              </a:spcBef>
              <a:buClr>
                <a:schemeClr val="hlink"/>
              </a:buClr>
              <a:buFont typeface="Wingdings" pitchFamily="2" charset="2"/>
              <a:buChar char="v"/>
              <a:defRPr/>
            </a:pPr>
            <a:r>
              <a:rPr lang="en-US" altLang="zh-CN" sz="2800" b="1" dirty="0">
                <a:solidFill>
                  <a:schemeClr val="tx2"/>
                </a:solidFill>
              </a:rPr>
              <a:t>Trunk</a:t>
            </a:r>
            <a:r>
              <a:rPr lang="zh-CN" altLang="en-US" sz="2800" b="1" dirty="0">
                <a:solidFill>
                  <a:schemeClr val="tx2"/>
                </a:solidFill>
              </a:rPr>
              <a:t>模式协商结果</a:t>
            </a:r>
            <a:endParaRPr lang="en-US" sz="2800" b="1" dirty="0">
              <a:solidFill>
                <a:schemeClr val="tx2"/>
              </a:solidFill>
            </a:endParaRPr>
          </a:p>
        </p:txBody>
      </p:sp>
      <p:graphicFrame>
        <p:nvGraphicFramePr>
          <p:cNvPr id="24634" name="Group 58"/>
          <p:cNvGraphicFramePr>
            <a:graphicFrameLocks noGrp="1"/>
          </p:cNvGraphicFramePr>
          <p:nvPr/>
        </p:nvGraphicFramePr>
        <p:xfrm>
          <a:off x="1860551" y="1785939"/>
          <a:ext cx="8397875" cy="6454013"/>
        </p:xfrm>
        <a:graphic>
          <a:graphicData uri="http://schemas.openxmlformats.org/drawingml/2006/table">
            <a:tbl>
              <a:tblPr/>
              <a:tblGrid>
                <a:gridCol w="252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16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SW1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端口模式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8AF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SW2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端口模式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8AF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SW1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结果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8AF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SW2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结果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8AF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trunk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dynamic auto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trunk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trunk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trunk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dynamic desirable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trunk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trunk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dynamic auto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dynamic auto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access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access</a:t>
                      </a: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dynamic auto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dynamic desirable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trunk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trunk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dynamic desirable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dynamic desirable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trunk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trunk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trunk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、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nonegotiate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trunk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trunk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trunk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trunk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、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nonegotiate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dynamic auto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trunk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access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trunk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、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nonegotiate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dynamic desirable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trunk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仿宋_GB2312" pitchFamily="49" charset="-122"/>
                          <a:ea typeface="仿宋_GB2312" pitchFamily="49" charset="-122"/>
                        </a:rPr>
                        <a:t>access</a:t>
                      </a: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46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46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4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内容占位符 4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>
                <a:cs typeface="Arial" charset="0"/>
              </a:rPr>
              <a:t>请思考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什么是</a:t>
            </a:r>
            <a:r>
              <a:rPr lang="en-US" altLang="zh-CN">
                <a:cs typeface="Arial" charset="0"/>
              </a:rPr>
              <a:t>Trunk</a:t>
            </a:r>
            <a:r>
              <a:rPr lang="zh-CN" altLang="en-US">
                <a:cs typeface="Arial" charset="0"/>
              </a:rPr>
              <a:t> </a:t>
            </a:r>
            <a:r>
              <a:rPr lang="en-US" altLang="zh-CN">
                <a:cs typeface="Arial" charset="0"/>
              </a:rPr>
              <a:t>Link</a:t>
            </a:r>
            <a:r>
              <a:rPr lang="zh-CN" altLang="en-US">
                <a:cs typeface="Arial" charset="0"/>
              </a:rPr>
              <a:t>，什么是</a:t>
            </a:r>
            <a:r>
              <a:rPr lang="en-US" altLang="zh-CN">
                <a:cs typeface="Arial" charset="0"/>
              </a:rPr>
              <a:t>Access Link</a:t>
            </a:r>
            <a:r>
              <a:rPr lang="zh-CN" altLang="en-US">
                <a:cs typeface="Arial" charset="0"/>
              </a:rPr>
              <a:t>？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链路两端接口模式分别为：</a:t>
            </a:r>
            <a:r>
              <a:rPr lang="en-US" altLang="zh-CN">
                <a:cs typeface="Arial" charset="0"/>
              </a:rPr>
              <a:t> 	</a:t>
            </a:r>
          </a:p>
          <a:p>
            <a:pPr lvl="2">
              <a:spcBef>
                <a:spcPct val="0"/>
              </a:spcBef>
            </a:pPr>
            <a:r>
              <a:rPr lang="en-US" altLang="zh-CN">
                <a:cs typeface="Arial" charset="0"/>
              </a:rPr>
              <a:t>Trunk</a:t>
            </a:r>
            <a:r>
              <a:rPr lang="zh-CN" altLang="en-US">
                <a:cs typeface="Arial" charset="0"/>
              </a:rPr>
              <a:t>、</a:t>
            </a:r>
            <a:r>
              <a:rPr lang="en-US" altLang="zh-CN">
                <a:cs typeface="Arial" charset="0"/>
              </a:rPr>
              <a:t>Access	</a:t>
            </a:r>
          </a:p>
          <a:p>
            <a:pPr lvl="2">
              <a:spcBef>
                <a:spcPct val="0"/>
              </a:spcBef>
            </a:pPr>
            <a:r>
              <a:rPr lang="en-US" altLang="zh-CN">
                <a:cs typeface="Arial" charset="0"/>
              </a:rPr>
              <a:t>dynamic desirable</a:t>
            </a:r>
            <a:r>
              <a:rPr lang="zh-CN" altLang="en-US">
                <a:cs typeface="Arial" charset="0"/>
              </a:rPr>
              <a:t>、</a:t>
            </a:r>
            <a:r>
              <a:rPr lang="en-US" altLang="zh-CN">
                <a:cs typeface="Arial" charset="0"/>
              </a:rPr>
              <a:t>dynamic auto	</a:t>
            </a:r>
          </a:p>
          <a:p>
            <a:pPr lvl="2">
              <a:spcBef>
                <a:spcPct val="0"/>
              </a:spcBef>
            </a:pPr>
            <a:r>
              <a:rPr lang="en-US" altLang="zh-CN">
                <a:cs typeface="Arial" charset="0"/>
              </a:rPr>
              <a:t>Trunk</a:t>
            </a:r>
            <a:r>
              <a:rPr lang="zh-CN" altLang="en-US">
                <a:cs typeface="Arial" charset="0"/>
              </a:rPr>
              <a:t>、</a:t>
            </a:r>
            <a:r>
              <a:rPr lang="en-US" altLang="zh-CN">
                <a:cs typeface="Arial" charset="0"/>
              </a:rPr>
              <a:t>dynamic auto</a:t>
            </a:r>
          </a:p>
          <a:p>
            <a:pPr lvl="1">
              <a:spcBef>
                <a:spcPts val="475"/>
              </a:spcBef>
              <a:buNone/>
            </a:pPr>
            <a:r>
              <a:rPr lang="en-US" altLang="zh-CN">
                <a:cs typeface="Arial" charset="0"/>
              </a:rPr>
              <a:t>	</a:t>
            </a:r>
            <a:r>
              <a:rPr lang="zh-CN" altLang="en-US">
                <a:cs typeface="Arial" charset="0"/>
              </a:rPr>
              <a:t>试分析上述三种情况交换机间链路类型。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如果需要与其他厂家的交换机连接配置</a:t>
            </a:r>
            <a:r>
              <a:rPr lang="en-US" altLang="zh-CN">
                <a:cs typeface="Arial" charset="0"/>
              </a:rPr>
              <a:t>VLAN Trunk,</a:t>
            </a:r>
            <a:r>
              <a:rPr lang="zh-CN" altLang="en-US">
                <a:cs typeface="Arial" charset="0"/>
              </a:rPr>
              <a:t>需要使用哪种标记方式？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带有</a:t>
            </a:r>
            <a:r>
              <a:rPr lang="en-US" altLang="zh-CN">
                <a:cs typeface="Arial" charset="0"/>
              </a:rPr>
              <a:t>VLAN</a:t>
            </a:r>
            <a:r>
              <a:rPr lang="zh-CN" altLang="en-US">
                <a:cs typeface="Arial" charset="0"/>
              </a:rPr>
              <a:t>标记的数据帧，普通的主机能否正确读出？</a:t>
            </a: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小结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内容占位符 15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>
                <a:cs typeface="Arial" charset="0"/>
              </a:rPr>
              <a:t>配置步骤与命令</a:t>
            </a:r>
          </a:p>
          <a:p>
            <a:pPr lvl="1">
              <a:spcBef>
                <a:spcPts val="475"/>
              </a:spcBef>
              <a:spcAft>
                <a:spcPts val="600"/>
              </a:spcAft>
            </a:pPr>
            <a:r>
              <a:rPr lang="zh-CN" altLang="en-US">
                <a:cs typeface="Times New Roman" pitchFamily="18" charset="0"/>
              </a:rPr>
              <a:t>进入接口配置模式</a:t>
            </a:r>
            <a:endParaRPr lang="en-US" altLang="zh-CN">
              <a:cs typeface="Times New Roman" pitchFamily="18" charset="0"/>
            </a:endParaRPr>
          </a:p>
          <a:p>
            <a:pPr lvl="1">
              <a:lnSpc>
                <a:spcPts val="2600"/>
              </a:lnSpc>
              <a:spcBef>
                <a:spcPct val="0"/>
              </a:spcBef>
            </a:pPr>
            <a:endParaRPr lang="en-US" altLang="zh-CN">
              <a:cs typeface="Times New Roman" pitchFamily="18" charset="0"/>
            </a:endParaRPr>
          </a:p>
          <a:p>
            <a:pPr lvl="1">
              <a:spcBef>
                <a:spcPts val="475"/>
              </a:spcBef>
              <a:spcAft>
                <a:spcPts val="600"/>
              </a:spcAft>
            </a:pPr>
            <a:r>
              <a:rPr lang="zh-CN" altLang="en-US">
                <a:cs typeface="Times New Roman" pitchFamily="18" charset="0"/>
              </a:rPr>
              <a:t>选择封装类型</a:t>
            </a:r>
            <a:endParaRPr lang="en-US" altLang="zh-CN">
              <a:cs typeface="Times New Roman" pitchFamily="18" charset="0"/>
            </a:endParaRPr>
          </a:p>
          <a:p>
            <a:pPr lvl="1">
              <a:lnSpc>
                <a:spcPts val="4200"/>
              </a:lnSpc>
              <a:spcBef>
                <a:spcPct val="0"/>
              </a:spcBef>
              <a:buNone/>
            </a:pPr>
            <a:endParaRPr lang="en-US" altLang="zh-CN" sz="2000">
              <a:cs typeface="Arial" charset="0"/>
            </a:endParaRPr>
          </a:p>
          <a:p>
            <a:pPr lvl="1">
              <a:spcBef>
                <a:spcPts val="475"/>
              </a:spcBef>
              <a:spcAft>
                <a:spcPts val="600"/>
              </a:spcAft>
            </a:pPr>
            <a:r>
              <a:rPr lang="zh-CN" altLang="en-US">
                <a:cs typeface="Times New Roman" pitchFamily="18" charset="0"/>
              </a:rPr>
              <a:t>将接口配置为</a:t>
            </a:r>
            <a:r>
              <a:rPr lang="en-US" altLang="zh-CN">
                <a:cs typeface="Times New Roman" pitchFamily="18" charset="0"/>
              </a:rPr>
              <a:t>Trunk</a:t>
            </a:r>
          </a:p>
          <a:p>
            <a:pPr lvl="1">
              <a:spcBef>
                <a:spcPts val="475"/>
              </a:spcBef>
              <a:spcAft>
                <a:spcPts val="600"/>
              </a:spcAft>
              <a:buNone/>
            </a:pPr>
            <a:endParaRPr lang="en-US" altLang="zh-CN" sz="2000">
              <a:cs typeface="Arial" charset="0"/>
            </a:endParaRPr>
          </a:p>
          <a:p>
            <a:pPr lvl="1">
              <a:spcBef>
                <a:spcPts val="475"/>
              </a:spcBef>
              <a:spcAft>
                <a:spcPts val="600"/>
              </a:spcAft>
            </a:pPr>
            <a:r>
              <a:rPr lang="zh-CN" altLang="en-US">
                <a:cs typeface="Times New Roman" pitchFamily="18" charset="0"/>
              </a:rPr>
              <a:t>指定</a:t>
            </a:r>
            <a:r>
              <a:rPr lang="en-US" altLang="zh-CN">
                <a:cs typeface="Times New Roman" pitchFamily="18" charset="0"/>
              </a:rPr>
              <a:t>Native VLAN</a:t>
            </a:r>
            <a:r>
              <a:rPr lang="zh-CN" altLang="en-US">
                <a:cs typeface="Times New Roman" pitchFamily="18" charset="0"/>
              </a:rPr>
              <a:t>（可选）</a:t>
            </a:r>
            <a:endParaRPr lang="en-US" altLang="zh-CN">
              <a:cs typeface="Times New Roman" pitchFamily="18" charset="0"/>
            </a:endParaRPr>
          </a:p>
          <a:p>
            <a:pPr lvl="1">
              <a:spcBef>
                <a:spcPts val="475"/>
              </a:spcBef>
              <a:spcAft>
                <a:spcPts val="600"/>
              </a:spcAft>
              <a:buNone/>
            </a:pPr>
            <a:endParaRPr lang="en-US" altLang="zh-CN" sz="2000">
              <a:cs typeface="Arial" charset="0"/>
            </a:endParaRPr>
          </a:p>
          <a:p>
            <a:pPr lvl="1">
              <a:spcBef>
                <a:spcPts val="475"/>
              </a:spcBef>
              <a:buNone/>
            </a:pPr>
            <a:endParaRPr lang="zh-CN" altLang="en-US">
              <a:cs typeface="Arial" charset="0"/>
            </a:endParaRPr>
          </a:p>
        </p:txBody>
      </p:sp>
      <p:sp>
        <p:nvSpPr>
          <p:cNvPr id="3072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en-US" altLang="zh-CN"/>
              <a:t>Trunk</a:t>
            </a:r>
            <a:r>
              <a:rPr lang="zh-CN" altLang="en-US"/>
              <a:t>的配置</a:t>
            </a:r>
            <a:r>
              <a:rPr lang="en-US" altLang="zh-CN"/>
              <a:t>2-1</a:t>
            </a:r>
            <a:endParaRPr lang="en-US" altLang="en-US"/>
          </a:p>
        </p:txBody>
      </p:sp>
      <p:sp>
        <p:nvSpPr>
          <p:cNvPr id="30724" name="AutoShape 16"/>
          <p:cNvSpPr>
            <a:spLocks noChangeArrowheads="1"/>
          </p:cNvSpPr>
          <p:nvPr/>
        </p:nvSpPr>
        <p:spPr bwMode="auto">
          <a:xfrm>
            <a:off x="2109788" y="2073275"/>
            <a:ext cx="7848600" cy="369888"/>
          </a:xfrm>
          <a:prstGeom prst="roundRect">
            <a:avLst>
              <a:gd name="adj" fmla="val 1269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Switch(config)#interface </a:t>
            </a:r>
            <a:r>
              <a:rPr lang="en-US" altLang="zh-CN" b="1" i="1">
                <a:solidFill>
                  <a:schemeClr val="tx2"/>
                </a:solidFill>
              </a:rPr>
              <a:t>interface-id</a:t>
            </a:r>
          </a:p>
        </p:txBody>
      </p:sp>
      <p:sp>
        <p:nvSpPr>
          <p:cNvPr id="30725" name="AutoShape 16"/>
          <p:cNvSpPr>
            <a:spLocks noChangeArrowheads="1"/>
          </p:cNvSpPr>
          <p:nvPr/>
        </p:nvSpPr>
        <p:spPr bwMode="auto">
          <a:xfrm>
            <a:off x="2109788" y="2911475"/>
            <a:ext cx="7848600" cy="647700"/>
          </a:xfrm>
          <a:prstGeom prst="roundRect">
            <a:avLst>
              <a:gd name="adj" fmla="val 1269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Switch(config-if)#switchport trunk encapsulation { isl | dot1q | negotiate }</a:t>
            </a:r>
          </a:p>
        </p:txBody>
      </p:sp>
      <p:sp>
        <p:nvSpPr>
          <p:cNvPr id="30726" name="AutoShape 16"/>
          <p:cNvSpPr>
            <a:spLocks noChangeArrowheads="1"/>
          </p:cNvSpPr>
          <p:nvPr/>
        </p:nvSpPr>
        <p:spPr bwMode="auto">
          <a:xfrm>
            <a:off x="2105025" y="3949701"/>
            <a:ext cx="7848600" cy="646113"/>
          </a:xfrm>
          <a:prstGeom prst="roundRect">
            <a:avLst>
              <a:gd name="adj" fmla="val 1269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Switch(config-if)#switchport mode {dynamic {desirable | auto} | trunk | access}</a:t>
            </a:r>
          </a:p>
        </p:txBody>
      </p:sp>
      <p:sp>
        <p:nvSpPr>
          <p:cNvPr id="30727" name="AutoShape 16"/>
          <p:cNvSpPr>
            <a:spLocks noChangeArrowheads="1"/>
          </p:cNvSpPr>
          <p:nvPr/>
        </p:nvSpPr>
        <p:spPr bwMode="auto">
          <a:xfrm>
            <a:off x="2109788" y="5027614"/>
            <a:ext cx="7848600" cy="369887"/>
          </a:xfrm>
          <a:prstGeom prst="roundRect">
            <a:avLst>
              <a:gd name="adj" fmla="val 1269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Switch(config-if)#switchport trunk native vlan </a:t>
            </a:r>
            <a:r>
              <a:rPr lang="en-US" altLang="zh-CN" b="1" i="1">
                <a:solidFill>
                  <a:schemeClr val="tx2"/>
                </a:solidFill>
              </a:rPr>
              <a:t>vlan-id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内容占位符 9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>
                <a:cs typeface="Arial" charset="0"/>
              </a:rPr>
              <a:t>其他配置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  <a:spcAft>
                <a:spcPts val="600"/>
              </a:spcAft>
            </a:pPr>
            <a:r>
              <a:rPr lang="zh-CN" altLang="en-US">
                <a:cs typeface="Times New Roman" pitchFamily="18" charset="0"/>
              </a:rPr>
              <a:t>禁止</a:t>
            </a:r>
            <a:r>
              <a:rPr lang="en-US" altLang="zh-CN">
                <a:cs typeface="Times New Roman" pitchFamily="18" charset="0"/>
              </a:rPr>
              <a:t>Trunk</a:t>
            </a:r>
            <a:r>
              <a:rPr lang="zh-CN" altLang="en-US">
                <a:cs typeface="Times New Roman" pitchFamily="18" charset="0"/>
              </a:rPr>
              <a:t>传送某个</a:t>
            </a:r>
            <a:r>
              <a:rPr lang="en-US" altLang="zh-CN">
                <a:cs typeface="Times New Roman" pitchFamily="18" charset="0"/>
              </a:rPr>
              <a:t>VLAN</a:t>
            </a:r>
            <a:r>
              <a:rPr lang="zh-CN" altLang="en-US">
                <a:cs typeface="Times New Roman" pitchFamily="18" charset="0"/>
              </a:rPr>
              <a:t>的数据，删除这个</a:t>
            </a:r>
            <a:r>
              <a:rPr lang="en-US" altLang="zh-CN">
                <a:cs typeface="Times New Roman" pitchFamily="18" charset="0"/>
              </a:rPr>
              <a:t>VLAN</a:t>
            </a:r>
          </a:p>
          <a:p>
            <a:pPr lvl="1">
              <a:spcBef>
                <a:spcPct val="0"/>
              </a:spcBef>
            </a:pPr>
            <a:endParaRPr lang="en-US" altLang="zh-CN">
              <a:cs typeface="Times New Roman" pitchFamily="18" charset="0"/>
            </a:endParaRPr>
          </a:p>
          <a:p>
            <a:pPr lvl="1">
              <a:spcBef>
                <a:spcPts val="475"/>
              </a:spcBef>
              <a:spcAft>
                <a:spcPts val="600"/>
              </a:spcAft>
            </a:pPr>
            <a:r>
              <a:rPr lang="zh-CN" altLang="en-US">
                <a:cs typeface="Times New Roman" pitchFamily="18" charset="0"/>
              </a:rPr>
              <a:t>允许</a:t>
            </a:r>
            <a:r>
              <a:rPr lang="en-US" altLang="zh-CN">
                <a:cs typeface="Times New Roman" pitchFamily="18" charset="0"/>
              </a:rPr>
              <a:t>Trunk</a:t>
            </a:r>
            <a:r>
              <a:rPr lang="zh-CN" altLang="en-US">
                <a:cs typeface="Times New Roman" pitchFamily="18" charset="0"/>
              </a:rPr>
              <a:t>传送某个</a:t>
            </a:r>
            <a:r>
              <a:rPr lang="en-US" altLang="zh-CN">
                <a:cs typeface="Times New Roman" pitchFamily="18" charset="0"/>
              </a:rPr>
              <a:t>VLAN</a:t>
            </a:r>
            <a:r>
              <a:rPr lang="zh-CN" altLang="en-US">
                <a:cs typeface="Times New Roman" pitchFamily="18" charset="0"/>
              </a:rPr>
              <a:t>的数据，添加这个</a:t>
            </a:r>
            <a:r>
              <a:rPr lang="en-US" altLang="zh-CN">
                <a:cs typeface="Times New Roman" pitchFamily="18" charset="0"/>
              </a:rPr>
              <a:t>VLAN</a:t>
            </a:r>
          </a:p>
          <a:p>
            <a:pPr lvl="1">
              <a:spcBef>
                <a:spcPct val="0"/>
              </a:spcBef>
              <a:buFontTx/>
              <a:buNone/>
            </a:pPr>
            <a:endParaRPr lang="en-US" altLang="zh-CN" sz="2000">
              <a:cs typeface="Arial" charset="0"/>
            </a:endParaRPr>
          </a:p>
          <a:p>
            <a:pPr lvl="2">
              <a:spcBef>
                <a:spcPct val="0"/>
              </a:spcBef>
              <a:spcAft>
                <a:spcPts val="600"/>
              </a:spcAft>
            </a:pPr>
            <a:r>
              <a:rPr lang="zh-CN" altLang="en-US">
                <a:cs typeface="Times New Roman" pitchFamily="18" charset="0"/>
              </a:rPr>
              <a:t>默认允许全部</a:t>
            </a:r>
            <a:r>
              <a:rPr lang="en-US" altLang="zh-CN">
                <a:cs typeface="Times New Roman" pitchFamily="18" charset="0"/>
              </a:rPr>
              <a:t>VLAN</a:t>
            </a:r>
            <a:r>
              <a:rPr lang="zh-CN" altLang="en-US">
                <a:cs typeface="Times New Roman" pitchFamily="18" charset="0"/>
              </a:rPr>
              <a:t>的数据通过</a:t>
            </a:r>
            <a:endParaRPr lang="en-US" altLang="zh-CN">
              <a:cs typeface="Times New Roman" pitchFamily="18" charset="0"/>
            </a:endParaRPr>
          </a:p>
          <a:p>
            <a:pPr lvl="1">
              <a:spcBef>
                <a:spcPts val="475"/>
              </a:spcBef>
              <a:spcAft>
                <a:spcPts val="600"/>
              </a:spcAft>
            </a:pPr>
            <a:r>
              <a:rPr lang="zh-CN" altLang="en-US">
                <a:cs typeface="Times New Roman" pitchFamily="18" charset="0"/>
              </a:rPr>
              <a:t>查看接口模式、状态 ：</a:t>
            </a:r>
            <a:endParaRPr lang="en-US" altLang="zh-CN">
              <a:cs typeface="Times New Roman" pitchFamily="18" charset="0"/>
            </a:endParaRPr>
          </a:p>
          <a:p>
            <a:pPr lvl="1">
              <a:spcBef>
                <a:spcPts val="475"/>
              </a:spcBef>
              <a:spcAft>
                <a:spcPts val="600"/>
              </a:spcAft>
              <a:buNone/>
            </a:pPr>
            <a:endParaRPr lang="en-US" altLang="zh-CN" sz="2000">
              <a:cs typeface="Arial" charset="0"/>
            </a:endParaRPr>
          </a:p>
          <a:p>
            <a:pPr lvl="1">
              <a:spcBef>
                <a:spcPts val="475"/>
              </a:spcBef>
              <a:buNone/>
            </a:pPr>
            <a:endParaRPr lang="zh-CN" altLang="en-US">
              <a:cs typeface="Arial" charset="0"/>
            </a:endParaRPr>
          </a:p>
        </p:txBody>
      </p:sp>
      <p:sp>
        <p:nvSpPr>
          <p:cNvPr id="3174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en-US" altLang="zh-CN"/>
              <a:t>Trunk</a:t>
            </a:r>
            <a:r>
              <a:rPr lang="zh-CN" altLang="en-US"/>
              <a:t>的配置</a:t>
            </a:r>
            <a:r>
              <a:rPr lang="en-US" altLang="zh-CN"/>
              <a:t>2-2</a:t>
            </a:r>
            <a:endParaRPr lang="en-US" altLang="en-US"/>
          </a:p>
        </p:txBody>
      </p:sp>
      <p:sp>
        <p:nvSpPr>
          <p:cNvPr id="31748" name="AutoShape 16"/>
          <p:cNvSpPr>
            <a:spLocks noChangeArrowheads="1"/>
          </p:cNvSpPr>
          <p:nvPr/>
        </p:nvSpPr>
        <p:spPr bwMode="auto">
          <a:xfrm>
            <a:off x="2105025" y="2087563"/>
            <a:ext cx="7848600" cy="369332"/>
          </a:xfrm>
          <a:prstGeom prst="roundRect">
            <a:avLst>
              <a:gd name="adj" fmla="val 1269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Switch(config-if)#switchport trunk allowed vlan remove </a:t>
            </a:r>
            <a:r>
              <a:rPr lang="en-US" altLang="zh-CN" b="1" i="1">
                <a:solidFill>
                  <a:schemeClr val="tx2"/>
                </a:solidFill>
              </a:rPr>
              <a:t>vlan-id</a:t>
            </a:r>
          </a:p>
        </p:txBody>
      </p:sp>
      <p:sp>
        <p:nvSpPr>
          <p:cNvPr id="31749" name="AutoShape 16"/>
          <p:cNvSpPr>
            <a:spLocks noChangeArrowheads="1"/>
          </p:cNvSpPr>
          <p:nvPr/>
        </p:nvSpPr>
        <p:spPr bwMode="auto">
          <a:xfrm>
            <a:off x="2109788" y="2976563"/>
            <a:ext cx="7848600" cy="369332"/>
          </a:xfrm>
          <a:prstGeom prst="roundRect">
            <a:avLst>
              <a:gd name="adj" fmla="val 1269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Switch(config-if)#switchport trunk allowed vlan add </a:t>
            </a:r>
            <a:r>
              <a:rPr lang="en-US" altLang="zh-CN" b="1" i="1">
                <a:solidFill>
                  <a:schemeClr val="tx2"/>
                </a:solidFill>
              </a:rPr>
              <a:t>vlan-id</a:t>
            </a:r>
            <a:r>
              <a:rPr lang="zh-CN" altLang="en-US" b="1">
                <a:solidFill>
                  <a:schemeClr val="tx2"/>
                </a:solidFill>
              </a:rPr>
              <a:t>     </a:t>
            </a:r>
            <a:endParaRPr lang="en-US" altLang="zh-CN" b="1">
              <a:solidFill>
                <a:schemeClr val="tx2"/>
              </a:solidFill>
            </a:endParaRPr>
          </a:p>
        </p:txBody>
      </p:sp>
      <p:sp>
        <p:nvSpPr>
          <p:cNvPr id="31750" name="AutoShape 16"/>
          <p:cNvSpPr>
            <a:spLocks noChangeArrowheads="1"/>
          </p:cNvSpPr>
          <p:nvPr/>
        </p:nvSpPr>
        <p:spPr bwMode="auto">
          <a:xfrm>
            <a:off x="2109788" y="4327525"/>
            <a:ext cx="7848600" cy="369332"/>
          </a:xfrm>
          <a:prstGeom prst="roundRect">
            <a:avLst>
              <a:gd name="adj" fmla="val 1269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Switch#show interface </a:t>
            </a:r>
            <a:r>
              <a:rPr lang="en-US" altLang="zh-CN" b="1" i="1">
                <a:solidFill>
                  <a:schemeClr val="tx2"/>
                </a:solidFill>
              </a:rPr>
              <a:t>interface-id</a:t>
            </a:r>
            <a:r>
              <a:rPr lang="en-US" altLang="zh-CN" b="1">
                <a:solidFill>
                  <a:schemeClr val="tx2"/>
                </a:solidFill>
              </a:rPr>
              <a:t> switchport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内容占位符 18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>
                <a:cs typeface="Arial" charset="0"/>
              </a:rPr>
              <a:t>需求描述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en-US" altLang="zh-CN">
                <a:cs typeface="Arial" charset="0"/>
              </a:rPr>
              <a:t>SW1</a:t>
            </a:r>
            <a:r>
              <a:rPr lang="zh-CN" altLang="en-US">
                <a:cs typeface="Arial" charset="0"/>
              </a:rPr>
              <a:t>和</a:t>
            </a:r>
            <a:r>
              <a:rPr lang="en-US" altLang="zh-CN">
                <a:cs typeface="Arial" charset="0"/>
              </a:rPr>
              <a:t>SW2</a:t>
            </a:r>
            <a:r>
              <a:rPr lang="zh-CN" altLang="en-US">
                <a:cs typeface="Arial" charset="0"/>
              </a:rPr>
              <a:t>各创建</a:t>
            </a:r>
            <a:r>
              <a:rPr lang="en-US" altLang="zh-CN">
                <a:cs typeface="Arial" charset="0"/>
              </a:rPr>
              <a:t>3</a:t>
            </a:r>
            <a:r>
              <a:rPr lang="zh-CN" altLang="en-US">
                <a:cs typeface="Arial" charset="0"/>
              </a:rPr>
              <a:t>个</a:t>
            </a:r>
            <a:r>
              <a:rPr lang="en-US" altLang="zh-CN">
                <a:cs typeface="Arial" charset="0"/>
              </a:rPr>
              <a:t>VLAN</a:t>
            </a:r>
            <a:r>
              <a:rPr lang="zh-CN" altLang="en-US">
                <a:cs typeface="Arial" charset="0"/>
              </a:rPr>
              <a:t>，</a:t>
            </a:r>
            <a:r>
              <a:rPr lang="en-US" altLang="zh-CN">
                <a:cs typeface="Arial" charset="0"/>
              </a:rPr>
              <a:t>VLAN 1</a:t>
            </a:r>
            <a:r>
              <a:rPr lang="zh-CN" altLang="en-US">
                <a:cs typeface="Arial" charset="0"/>
              </a:rPr>
              <a:t>、</a:t>
            </a:r>
            <a:r>
              <a:rPr lang="en-US" altLang="zh-CN">
                <a:cs typeface="Arial" charset="0"/>
              </a:rPr>
              <a:t>2</a:t>
            </a:r>
            <a:r>
              <a:rPr lang="zh-CN" altLang="en-US">
                <a:cs typeface="Arial" charset="0"/>
              </a:rPr>
              <a:t>、</a:t>
            </a:r>
            <a:r>
              <a:rPr lang="en-US" altLang="zh-CN">
                <a:cs typeface="Arial" charset="0"/>
              </a:rPr>
              <a:t>3</a:t>
            </a:r>
            <a:r>
              <a:rPr lang="zh-CN" altLang="en-US">
                <a:cs typeface="Arial" charset="0"/>
              </a:rPr>
              <a:t>；</a:t>
            </a: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交换机端口分配：</a:t>
            </a:r>
            <a:r>
              <a:rPr lang="en-US" altLang="zh-CN">
                <a:cs typeface="Arial" charset="0"/>
              </a:rPr>
              <a:t>VLAN 1</a:t>
            </a:r>
            <a:r>
              <a:rPr lang="zh-CN" altLang="en-US">
                <a:cs typeface="Arial" charset="0"/>
              </a:rPr>
              <a:t>：</a:t>
            </a:r>
            <a:r>
              <a:rPr lang="en-US" altLang="zh-CN">
                <a:cs typeface="Arial" charset="0"/>
              </a:rPr>
              <a:t>F0/1</a:t>
            </a:r>
            <a:r>
              <a:rPr lang="zh-CN" altLang="en-US">
                <a:cs typeface="Arial" charset="0"/>
              </a:rPr>
              <a:t>～</a:t>
            </a:r>
            <a:r>
              <a:rPr lang="en-US" altLang="zh-CN">
                <a:cs typeface="Arial" charset="0"/>
              </a:rPr>
              <a:t>F0/3</a:t>
            </a:r>
            <a:r>
              <a:rPr lang="zh-CN" altLang="en-US">
                <a:cs typeface="Arial" charset="0"/>
              </a:rPr>
              <a:t>；</a:t>
            </a:r>
            <a:r>
              <a:rPr lang="en-US" altLang="zh-CN">
                <a:cs typeface="Arial" charset="0"/>
              </a:rPr>
              <a:t>VLAN 2</a:t>
            </a:r>
            <a:r>
              <a:rPr lang="zh-CN" altLang="en-US">
                <a:cs typeface="Arial" charset="0"/>
              </a:rPr>
              <a:t>：</a:t>
            </a:r>
            <a:r>
              <a:rPr lang="en-US" altLang="zh-CN">
                <a:cs typeface="Arial" charset="0"/>
              </a:rPr>
              <a:t>F0/4</a:t>
            </a:r>
            <a:r>
              <a:rPr lang="zh-CN" altLang="en-US">
                <a:cs typeface="Arial" charset="0"/>
              </a:rPr>
              <a:t>～</a:t>
            </a:r>
            <a:r>
              <a:rPr lang="en-US" altLang="zh-CN">
                <a:cs typeface="Arial" charset="0"/>
              </a:rPr>
              <a:t>F0/10</a:t>
            </a:r>
            <a:r>
              <a:rPr lang="zh-CN" altLang="en-US">
                <a:cs typeface="Arial" charset="0"/>
              </a:rPr>
              <a:t>；</a:t>
            </a:r>
            <a:r>
              <a:rPr lang="en-US" altLang="zh-CN">
                <a:cs typeface="Arial" charset="0"/>
              </a:rPr>
              <a:t>VLAN 3</a:t>
            </a:r>
            <a:r>
              <a:rPr lang="zh-CN" altLang="en-US">
                <a:cs typeface="Arial" charset="0"/>
              </a:rPr>
              <a:t>：</a:t>
            </a:r>
            <a:r>
              <a:rPr lang="en-US" altLang="zh-CN">
                <a:cs typeface="Arial" charset="0"/>
              </a:rPr>
              <a:t>F0/11</a:t>
            </a:r>
            <a:r>
              <a:rPr lang="zh-CN" altLang="en-US">
                <a:cs typeface="Arial" charset="0"/>
              </a:rPr>
              <a:t>～</a:t>
            </a:r>
            <a:r>
              <a:rPr lang="en-US" altLang="zh-CN">
                <a:cs typeface="Arial" charset="0"/>
              </a:rPr>
              <a:t>F0/23</a:t>
            </a:r>
            <a:endParaRPr lang="zh-CN" altLang="en-US">
              <a:cs typeface="Arial" charset="0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Trunk</a:t>
            </a:r>
            <a:r>
              <a:rPr lang="zh-CN" altLang="en-US"/>
              <a:t>配置实例</a:t>
            </a:r>
            <a:r>
              <a:rPr lang="en-US" altLang="zh-CN"/>
              <a:t>3-1</a:t>
            </a:r>
            <a:endParaRPr lang="zh-CN" altLang="zh-CN"/>
          </a:p>
        </p:txBody>
      </p:sp>
      <p:grpSp>
        <p:nvGrpSpPr>
          <p:cNvPr id="2" name="组合 15"/>
          <p:cNvGrpSpPr>
            <a:grpSpLocks/>
          </p:cNvGrpSpPr>
          <p:nvPr/>
        </p:nvGrpSpPr>
        <p:grpSpPr bwMode="auto">
          <a:xfrm>
            <a:off x="4672013" y="4610100"/>
            <a:ext cx="4089400" cy="12700"/>
            <a:chOff x="2600337" y="5314913"/>
            <a:chExt cx="4089417" cy="12763"/>
          </a:xfrm>
        </p:grpSpPr>
        <p:grpSp>
          <p:nvGrpSpPr>
            <p:cNvPr id="3" name="组合 44"/>
            <p:cNvGrpSpPr>
              <a:grpSpLocks/>
            </p:cNvGrpSpPr>
            <p:nvPr/>
          </p:nvGrpSpPr>
          <p:grpSpPr bwMode="auto">
            <a:xfrm>
              <a:off x="2600337" y="5322915"/>
              <a:ext cx="3797313" cy="4761"/>
              <a:chOff x="2527291" y="5837273"/>
              <a:chExt cx="3797313" cy="4761"/>
            </a:xfrm>
          </p:grpSpPr>
          <p:cxnSp>
            <p:nvCxnSpPr>
              <p:cNvPr id="32805" name="直接连接符 43"/>
              <p:cNvCxnSpPr>
                <a:cxnSpLocks noChangeShapeType="1"/>
              </p:cNvCxnSpPr>
              <p:nvPr/>
            </p:nvCxnSpPr>
            <p:spPr bwMode="auto">
              <a:xfrm>
                <a:off x="2527291" y="5840446"/>
                <a:ext cx="1423988" cy="1588"/>
              </a:xfrm>
              <a:prstGeom prst="line">
                <a:avLst/>
              </a:prstGeom>
              <a:noFill/>
              <a:ln w="31750" algn="ctr">
                <a:solidFill>
                  <a:srgbClr val="FF3300"/>
                </a:solidFill>
                <a:round/>
                <a:headEnd/>
                <a:tailEnd/>
              </a:ln>
            </p:spPr>
          </p:cxnSp>
          <p:cxnSp>
            <p:nvCxnSpPr>
              <p:cNvPr id="32806" name="直接连接符 44"/>
              <p:cNvCxnSpPr>
                <a:cxnSpLocks noChangeShapeType="1"/>
              </p:cNvCxnSpPr>
              <p:nvPr/>
            </p:nvCxnSpPr>
            <p:spPr bwMode="auto">
              <a:xfrm>
                <a:off x="2709836" y="5838861"/>
                <a:ext cx="1423988" cy="1588"/>
              </a:xfrm>
              <a:prstGeom prst="line">
                <a:avLst/>
              </a:prstGeom>
              <a:noFill/>
              <a:ln w="31750" algn="ctr">
                <a:solidFill>
                  <a:schemeClr val="tx2"/>
                </a:solidFill>
                <a:round/>
                <a:headEnd/>
                <a:tailEnd/>
              </a:ln>
            </p:spPr>
          </p:cxnSp>
          <p:cxnSp>
            <p:nvCxnSpPr>
              <p:cNvPr id="32807" name="直接连接符 45"/>
              <p:cNvCxnSpPr>
                <a:cxnSpLocks noChangeShapeType="1"/>
              </p:cNvCxnSpPr>
              <p:nvPr/>
            </p:nvCxnSpPr>
            <p:spPr bwMode="auto">
              <a:xfrm>
                <a:off x="2928915" y="5840446"/>
                <a:ext cx="1423987" cy="1587"/>
              </a:xfrm>
              <a:prstGeom prst="line">
                <a:avLst/>
              </a:prstGeom>
              <a:noFill/>
              <a:ln w="31750" algn="ctr">
                <a:solidFill>
                  <a:srgbClr val="66CCFF"/>
                </a:solidFill>
                <a:round/>
                <a:headEnd/>
                <a:tailEnd/>
              </a:ln>
            </p:spPr>
          </p:cxnSp>
          <p:cxnSp>
            <p:nvCxnSpPr>
              <p:cNvPr id="32808" name="直接连接符 46"/>
              <p:cNvCxnSpPr>
                <a:cxnSpLocks noChangeShapeType="1"/>
              </p:cNvCxnSpPr>
              <p:nvPr/>
            </p:nvCxnSpPr>
            <p:spPr bwMode="auto">
              <a:xfrm>
                <a:off x="3148012" y="5840446"/>
                <a:ext cx="1423988" cy="1588"/>
              </a:xfrm>
              <a:prstGeom prst="line">
                <a:avLst/>
              </a:prstGeom>
              <a:noFill/>
              <a:ln w="31750" algn="ctr">
                <a:solidFill>
                  <a:srgbClr val="FF3300"/>
                </a:solidFill>
                <a:round/>
                <a:headEnd/>
                <a:tailEnd/>
              </a:ln>
            </p:spPr>
          </p:cxnSp>
          <p:cxnSp>
            <p:nvCxnSpPr>
              <p:cNvPr id="32809" name="直接连接符 23"/>
              <p:cNvCxnSpPr>
                <a:cxnSpLocks noChangeShapeType="1"/>
              </p:cNvCxnSpPr>
              <p:nvPr/>
            </p:nvCxnSpPr>
            <p:spPr bwMode="auto">
              <a:xfrm>
                <a:off x="3367090" y="5840446"/>
                <a:ext cx="1423988" cy="1588"/>
              </a:xfrm>
              <a:prstGeom prst="line">
                <a:avLst/>
              </a:prstGeom>
              <a:noFill/>
              <a:ln w="31750" algn="ctr">
                <a:solidFill>
                  <a:schemeClr val="tx2"/>
                </a:solidFill>
                <a:round/>
                <a:headEnd/>
                <a:tailEnd/>
              </a:ln>
            </p:spPr>
          </p:cxnSp>
          <p:cxnSp>
            <p:nvCxnSpPr>
              <p:cNvPr id="32810" name="直接连接符 24"/>
              <p:cNvCxnSpPr>
                <a:cxnSpLocks noChangeShapeType="1"/>
              </p:cNvCxnSpPr>
              <p:nvPr/>
            </p:nvCxnSpPr>
            <p:spPr bwMode="auto">
              <a:xfrm>
                <a:off x="3598044" y="5840446"/>
                <a:ext cx="1423987" cy="1587"/>
              </a:xfrm>
              <a:prstGeom prst="line">
                <a:avLst/>
              </a:prstGeom>
              <a:noFill/>
              <a:ln w="31750" algn="ctr">
                <a:solidFill>
                  <a:srgbClr val="66CCFF"/>
                </a:solidFill>
                <a:round/>
                <a:headEnd/>
                <a:tailEnd/>
              </a:ln>
            </p:spPr>
          </p:cxnSp>
          <p:cxnSp>
            <p:nvCxnSpPr>
              <p:cNvPr id="32811" name="直接连接符 49"/>
              <p:cNvCxnSpPr>
                <a:cxnSpLocks noChangeShapeType="1"/>
              </p:cNvCxnSpPr>
              <p:nvPr/>
            </p:nvCxnSpPr>
            <p:spPr bwMode="auto">
              <a:xfrm>
                <a:off x="3805227" y="5838858"/>
                <a:ext cx="1423988" cy="1588"/>
              </a:xfrm>
              <a:prstGeom prst="line">
                <a:avLst/>
              </a:prstGeom>
              <a:noFill/>
              <a:ln w="31750" algn="ctr">
                <a:solidFill>
                  <a:srgbClr val="FF3300"/>
                </a:solidFill>
                <a:round/>
                <a:headEnd/>
                <a:tailEnd/>
              </a:ln>
            </p:spPr>
          </p:cxnSp>
          <p:cxnSp>
            <p:nvCxnSpPr>
              <p:cNvPr id="32812" name="直接连接符 50"/>
              <p:cNvCxnSpPr>
                <a:cxnSpLocks noChangeShapeType="1"/>
              </p:cNvCxnSpPr>
              <p:nvPr/>
            </p:nvCxnSpPr>
            <p:spPr bwMode="auto">
              <a:xfrm>
                <a:off x="4024305" y="5837273"/>
                <a:ext cx="1423988" cy="1588"/>
              </a:xfrm>
              <a:prstGeom prst="line">
                <a:avLst/>
              </a:prstGeom>
              <a:noFill/>
              <a:ln w="31750" algn="ctr">
                <a:solidFill>
                  <a:schemeClr val="tx2"/>
                </a:solidFill>
                <a:round/>
                <a:headEnd/>
                <a:tailEnd/>
              </a:ln>
            </p:spPr>
          </p:cxnSp>
          <p:cxnSp>
            <p:nvCxnSpPr>
              <p:cNvPr id="32813" name="直接连接符 27"/>
              <p:cNvCxnSpPr>
                <a:cxnSpLocks noChangeShapeType="1"/>
              </p:cNvCxnSpPr>
              <p:nvPr/>
            </p:nvCxnSpPr>
            <p:spPr bwMode="auto">
              <a:xfrm>
                <a:off x="4243383" y="5838858"/>
                <a:ext cx="1423987" cy="1587"/>
              </a:xfrm>
              <a:prstGeom prst="line">
                <a:avLst/>
              </a:prstGeom>
              <a:noFill/>
              <a:ln w="31750" algn="ctr">
                <a:solidFill>
                  <a:srgbClr val="66CCFF"/>
                </a:solidFill>
                <a:round/>
                <a:headEnd/>
                <a:tailEnd/>
              </a:ln>
            </p:spPr>
          </p:cxnSp>
          <p:cxnSp>
            <p:nvCxnSpPr>
              <p:cNvPr id="32814" name="直接连接符 52"/>
              <p:cNvCxnSpPr>
                <a:cxnSpLocks noChangeShapeType="1"/>
              </p:cNvCxnSpPr>
              <p:nvPr/>
            </p:nvCxnSpPr>
            <p:spPr bwMode="auto">
              <a:xfrm>
                <a:off x="4462461" y="5838858"/>
                <a:ext cx="1423988" cy="1588"/>
              </a:xfrm>
              <a:prstGeom prst="line">
                <a:avLst/>
              </a:prstGeom>
              <a:noFill/>
              <a:ln w="31750" algn="ctr">
                <a:solidFill>
                  <a:srgbClr val="FF3300"/>
                </a:solidFill>
                <a:round/>
                <a:headEnd/>
                <a:tailEnd/>
              </a:ln>
            </p:spPr>
          </p:cxnSp>
          <p:cxnSp>
            <p:nvCxnSpPr>
              <p:cNvPr id="32815" name="直接连接符 53"/>
              <p:cNvCxnSpPr>
                <a:cxnSpLocks noChangeShapeType="1"/>
              </p:cNvCxnSpPr>
              <p:nvPr/>
            </p:nvCxnSpPr>
            <p:spPr bwMode="auto">
              <a:xfrm>
                <a:off x="4681539" y="5838858"/>
                <a:ext cx="1423988" cy="1588"/>
              </a:xfrm>
              <a:prstGeom prst="line">
                <a:avLst/>
              </a:prstGeom>
              <a:noFill/>
              <a:ln w="31750" algn="ctr">
                <a:solidFill>
                  <a:schemeClr val="tx2"/>
                </a:solidFill>
                <a:round/>
                <a:headEnd/>
                <a:tailEnd/>
              </a:ln>
            </p:spPr>
          </p:cxnSp>
          <p:cxnSp>
            <p:nvCxnSpPr>
              <p:cNvPr id="32816" name="直接连接符 54"/>
              <p:cNvCxnSpPr>
                <a:cxnSpLocks noChangeShapeType="1"/>
              </p:cNvCxnSpPr>
              <p:nvPr/>
            </p:nvCxnSpPr>
            <p:spPr bwMode="auto">
              <a:xfrm>
                <a:off x="4900617" y="5838858"/>
                <a:ext cx="1423987" cy="1587"/>
              </a:xfrm>
              <a:prstGeom prst="line">
                <a:avLst/>
              </a:prstGeom>
              <a:noFill/>
              <a:ln w="31750" algn="ctr">
                <a:solidFill>
                  <a:srgbClr val="66CCFF"/>
                </a:solidFill>
                <a:round/>
                <a:headEnd/>
                <a:tailEnd/>
              </a:ln>
            </p:spPr>
          </p:cxnSp>
        </p:grpSp>
        <p:cxnSp>
          <p:nvCxnSpPr>
            <p:cNvPr id="32804" name="直接连接符 42"/>
            <p:cNvCxnSpPr>
              <a:cxnSpLocks noChangeShapeType="1"/>
            </p:cNvCxnSpPr>
            <p:nvPr/>
          </p:nvCxnSpPr>
          <p:spPr bwMode="auto">
            <a:xfrm>
              <a:off x="5265767" y="5314913"/>
              <a:ext cx="1423987" cy="1587"/>
            </a:xfrm>
            <a:prstGeom prst="line">
              <a:avLst/>
            </a:prstGeom>
            <a:noFill/>
            <a:ln w="57150" algn="ctr">
              <a:solidFill>
                <a:schemeClr val="bg1"/>
              </a:solidFill>
              <a:round/>
              <a:headEnd/>
              <a:tailEnd/>
            </a:ln>
          </p:spPr>
        </p:cxnSp>
      </p:grpSp>
      <p:cxnSp>
        <p:nvCxnSpPr>
          <p:cNvPr id="32773" name="直接连接符 62"/>
          <p:cNvCxnSpPr>
            <a:cxnSpLocks noChangeShapeType="1"/>
          </p:cNvCxnSpPr>
          <p:nvPr/>
        </p:nvCxnSpPr>
        <p:spPr bwMode="auto">
          <a:xfrm>
            <a:off x="7739064" y="4621214"/>
            <a:ext cx="1423987" cy="1587"/>
          </a:xfrm>
          <a:prstGeom prst="line">
            <a:avLst/>
          </a:prstGeom>
          <a:noFill/>
          <a:ln w="31750" algn="ctr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32774" name="直接连接符 59"/>
          <p:cNvCxnSpPr>
            <a:cxnSpLocks noChangeShapeType="1"/>
          </p:cNvCxnSpPr>
          <p:nvPr/>
        </p:nvCxnSpPr>
        <p:spPr bwMode="auto">
          <a:xfrm>
            <a:off x="3101975" y="4622800"/>
            <a:ext cx="1423988" cy="1588"/>
          </a:xfrm>
          <a:prstGeom prst="line">
            <a:avLst/>
          </a:prstGeom>
          <a:noFill/>
          <a:ln w="31750" algn="ctr">
            <a:solidFill>
              <a:schemeClr val="tx2"/>
            </a:solidFill>
            <a:round/>
            <a:headEnd/>
            <a:tailEnd/>
          </a:ln>
        </p:spPr>
      </p:cxnSp>
      <p:pic>
        <p:nvPicPr>
          <p:cNvPr id="32775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43400" y="4391026"/>
            <a:ext cx="116840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76" name="图片 11" descr="asd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63825" y="4402139"/>
            <a:ext cx="48418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77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16713" y="4391026"/>
            <a:ext cx="116840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78" name="图片 11" descr="asd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63825" y="3295651"/>
            <a:ext cx="48418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79" name="图片 11" descr="asd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63825" y="5668964"/>
            <a:ext cx="48418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80" name="图片 11" descr="asd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053514" y="4405314"/>
            <a:ext cx="4841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81" name="图片 11" descr="asd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053514" y="3309939"/>
            <a:ext cx="4841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82" name="图片 11" descr="asd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053514" y="5683251"/>
            <a:ext cx="4841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2783" name="直接连接符 46"/>
          <p:cNvCxnSpPr>
            <a:cxnSpLocks noChangeShapeType="1"/>
          </p:cNvCxnSpPr>
          <p:nvPr/>
        </p:nvCxnSpPr>
        <p:spPr bwMode="auto">
          <a:xfrm>
            <a:off x="3148014" y="3525839"/>
            <a:ext cx="1341437" cy="974725"/>
          </a:xfrm>
          <a:prstGeom prst="line">
            <a:avLst/>
          </a:prstGeom>
          <a:noFill/>
          <a:ln w="31750" algn="ctr">
            <a:solidFill>
              <a:srgbClr val="66CCFF"/>
            </a:solidFill>
            <a:round/>
            <a:headEnd/>
            <a:tailEnd/>
          </a:ln>
        </p:spPr>
      </p:cxnSp>
      <p:cxnSp>
        <p:nvCxnSpPr>
          <p:cNvPr id="32784" name="直接连接符 47"/>
          <p:cNvCxnSpPr>
            <a:cxnSpLocks noChangeShapeType="1"/>
          </p:cNvCxnSpPr>
          <p:nvPr/>
        </p:nvCxnSpPr>
        <p:spPr bwMode="auto">
          <a:xfrm flipV="1">
            <a:off x="3148013" y="4865688"/>
            <a:ext cx="1231900" cy="1033462"/>
          </a:xfrm>
          <a:prstGeom prst="line">
            <a:avLst/>
          </a:prstGeom>
          <a:noFill/>
          <a:ln w="31750" algn="ctr">
            <a:solidFill>
              <a:srgbClr val="FF3300"/>
            </a:solidFill>
            <a:round/>
            <a:headEnd/>
            <a:tailEnd/>
          </a:ln>
        </p:spPr>
      </p:cxnSp>
      <p:cxnSp>
        <p:nvCxnSpPr>
          <p:cNvPr id="32785" name="直接连接符 58"/>
          <p:cNvCxnSpPr>
            <a:cxnSpLocks noChangeShapeType="1"/>
          </p:cNvCxnSpPr>
          <p:nvPr/>
        </p:nvCxnSpPr>
        <p:spPr bwMode="auto">
          <a:xfrm>
            <a:off x="7702551" y="4792664"/>
            <a:ext cx="1350963" cy="1120775"/>
          </a:xfrm>
          <a:prstGeom prst="line">
            <a:avLst/>
          </a:prstGeom>
          <a:noFill/>
          <a:ln w="31750" algn="ctr">
            <a:solidFill>
              <a:srgbClr val="FF3300"/>
            </a:solidFill>
            <a:round/>
            <a:headEnd/>
            <a:tailEnd/>
          </a:ln>
        </p:spPr>
      </p:cxnSp>
      <p:cxnSp>
        <p:nvCxnSpPr>
          <p:cNvPr id="32786" name="直接连接符 60"/>
          <p:cNvCxnSpPr>
            <a:cxnSpLocks noChangeShapeType="1"/>
          </p:cNvCxnSpPr>
          <p:nvPr/>
        </p:nvCxnSpPr>
        <p:spPr bwMode="auto">
          <a:xfrm flipV="1">
            <a:off x="7885113" y="3540126"/>
            <a:ext cx="1168400" cy="887413"/>
          </a:xfrm>
          <a:prstGeom prst="line">
            <a:avLst/>
          </a:prstGeom>
          <a:noFill/>
          <a:ln w="31750" algn="ctr">
            <a:solidFill>
              <a:srgbClr val="66CCFF"/>
            </a:solidFill>
            <a:round/>
            <a:headEnd/>
            <a:tailEnd/>
          </a:ln>
        </p:spPr>
      </p:cxnSp>
      <p:sp>
        <p:nvSpPr>
          <p:cNvPr id="32787" name="Text Box 13"/>
          <p:cNvSpPr txBox="1">
            <a:spLocks noChangeArrowheads="1"/>
          </p:cNvSpPr>
          <p:nvPr/>
        </p:nvSpPr>
        <p:spPr bwMode="auto">
          <a:xfrm>
            <a:off x="8936038" y="5413375"/>
            <a:ext cx="1058862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16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VLAN 3</a:t>
            </a:r>
            <a:endParaRPr kumimoji="1" lang="zh-CN" altLang="en-US" sz="1600">
              <a:solidFill>
                <a:schemeClr val="tx2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32788" name="Text Box 13"/>
          <p:cNvSpPr txBox="1">
            <a:spLocks noChangeArrowheads="1"/>
          </p:cNvSpPr>
          <p:nvPr/>
        </p:nvSpPr>
        <p:spPr bwMode="auto">
          <a:xfrm>
            <a:off x="2408238" y="5413375"/>
            <a:ext cx="1058862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16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VLAN 3</a:t>
            </a:r>
            <a:endParaRPr kumimoji="1" lang="zh-CN" altLang="en-US" sz="1600">
              <a:solidFill>
                <a:schemeClr val="tx2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32789" name="Text Box 13"/>
          <p:cNvSpPr txBox="1">
            <a:spLocks noChangeArrowheads="1"/>
          </p:cNvSpPr>
          <p:nvPr/>
        </p:nvSpPr>
        <p:spPr bwMode="auto">
          <a:xfrm>
            <a:off x="8899526" y="4171950"/>
            <a:ext cx="1058863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16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VLAN 2</a:t>
            </a:r>
            <a:endParaRPr kumimoji="1" lang="zh-CN" altLang="en-US" sz="1600">
              <a:solidFill>
                <a:schemeClr val="tx2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32790" name="Text Box 13"/>
          <p:cNvSpPr txBox="1">
            <a:spLocks noChangeArrowheads="1"/>
          </p:cNvSpPr>
          <p:nvPr/>
        </p:nvSpPr>
        <p:spPr bwMode="auto">
          <a:xfrm>
            <a:off x="2408238" y="4135439"/>
            <a:ext cx="1058862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16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VLAN 2</a:t>
            </a:r>
            <a:endParaRPr kumimoji="1" lang="zh-CN" altLang="en-US" sz="1600">
              <a:solidFill>
                <a:schemeClr val="tx2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32791" name="Text Box 13"/>
          <p:cNvSpPr txBox="1">
            <a:spLocks noChangeArrowheads="1"/>
          </p:cNvSpPr>
          <p:nvPr/>
        </p:nvSpPr>
        <p:spPr bwMode="auto">
          <a:xfrm>
            <a:off x="2481263" y="3040064"/>
            <a:ext cx="1058862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16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VLAN 1</a:t>
            </a:r>
            <a:endParaRPr kumimoji="1" lang="zh-CN" altLang="en-US" sz="1600">
              <a:solidFill>
                <a:schemeClr val="tx2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32792" name="Text Box 13"/>
          <p:cNvSpPr txBox="1">
            <a:spLocks noChangeArrowheads="1"/>
          </p:cNvSpPr>
          <p:nvPr/>
        </p:nvSpPr>
        <p:spPr bwMode="auto">
          <a:xfrm>
            <a:off x="8899526" y="3040064"/>
            <a:ext cx="1058863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16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VLAN 1</a:t>
            </a:r>
            <a:endParaRPr kumimoji="1" lang="zh-CN" altLang="en-US" sz="1600">
              <a:solidFill>
                <a:schemeClr val="tx2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32793" name="Text Box 13"/>
          <p:cNvSpPr txBox="1">
            <a:spLocks noChangeArrowheads="1"/>
          </p:cNvSpPr>
          <p:nvPr/>
        </p:nvSpPr>
        <p:spPr bwMode="auto">
          <a:xfrm>
            <a:off x="6096001" y="4600575"/>
            <a:ext cx="803275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16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F0/24</a:t>
            </a:r>
            <a:endParaRPr kumimoji="1" lang="zh-CN" altLang="en-US" sz="1600">
              <a:solidFill>
                <a:schemeClr val="tx2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32794" name="Text Box 13"/>
          <p:cNvSpPr txBox="1">
            <a:spLocks noChangeArrowheads="1"/>
          </p:cNvSpPr>
          <p:nvPr/>
        </p:nvSpPr>
        <p:spPr bwMode="auto">
          <a:xfrm>
            <a:off x="5438776" y="4318000"/>
            <a:ext cx="803275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16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F0/24</a:t>
            </a:r>
            <a:endParaRPr kumimoji="1" lang="zh-CN" altLang="en-US" sz="1600">
              <a:solidFill>
                <a:schemeClr val="tx2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32795" name="Text Box 245"/>
          <p:cNvSpPr txBox="1">
            <a:spLocks noChangeArrowheads="1"/>
          </p:cNvSpPr>
          <p:nvPr/>
        </p:nvSpPr>
        <p:spPr bwMode="auto">
          <a:xfrm>
            <a:off x="4468813" y="4584701"/>
            <a:ext cx="62865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600" b="1">
                <a:solidFill>
                  <a:schemeClr val="tx2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SW1</a:t>
            </a:r>
          </a:p>
        </p:txBody>
      </p:sp>
      <p:sp>
        <p:nvSpPr>
          <p:cNvPr id="32796" name="Text Box 245"/>
          <p:cNvSpPr txBox="1">
            <a:spLocks noChangeArrowheads="1"/>
          </p:cNvSpPr>
          <p:nvPr/>
        </p:nvSpPr>
        <p:spPr bwMode="auto">
          <a:xfrm>
            <a:off x="6864350" y="4573589"/>
            <a:ext cx="6286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600" b="1">
                <a:solidFill>
                  <a:schemeClr val="tx2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SW2</a:t>
            </a:r>
          </a:p>
        </p:txBody>
      </p:sp>
      <p:sp>
        <p:nvSpPr>
          <p:cNvPr id="32797" name="TextBox 46"/>
          <p:cNvSpPr txBox="1">
            <a:spLocks noChangeArrowheads="1"/>
          </p:cNvSpPr>
          <p:nvPr/>
        </p:nvSpPr>
        <p:spPr bwMode="auto">
          <a:xfrm>
            <a:off x="4087814" y="3989389"/>
            <a:ext cx="106838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6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F0/1~F0/3</a:t>
            </a:r>
            <a:endParaRPr lang="zh-CN" altLang="en-US" sz="1600" b="1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798" name="TextBox 47"/>
          <p:cNvSpPr txBox="1">
            <a:spLocks noChangeArrowheads="1"/>
          </p:cNvSpPr>
          <p:nvPr/>
        </p:nvSpPr>
        <p:spPr bwMode="auto">
          <a:xfrm>
            <a:off x="7088189" y="3989389"/>
            <a:ext cx="106838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6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F0/1~F0/3</a:t>
            </a:r>
            <a:endParaRPr lang="zh-CN" altLang="en-US" sz="1600" b="1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799" name="TextBox 48"/>
          <p:cNvSpPr txBox="1">
            <a:spLocks noChangeArrowheads="1"/>
          </p:cNvSpPr>
          <p:nvPr/>
        </p:nvSpPr>
        <p:spPr bwMode="auto">
          <a:xfrm>
            <a:off x="3175000" y="4343400"/>
            <a:ext cx="11699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6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F0/4~F0/10</a:t>
            </a:r>
            <a:endParaRPr lang="zh-CN" altLang="en-US" sz="1600" b="1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800" name="TextBox 49"/>
          <p:cNvSpPr txBox="1">
            <a:spLocks noChangeArrowheads="1"/>
          </p:cNvSpPr>
          <p:nvPr/>
        </p:nvSpPr>
        <p:spPr bwMode="auto">
          <a:xfrm>
            <a:off x="7812089" y="4343400"/>
            <a:ext cx="116998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6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F0/4~F0/10</a:t>
            </a:r>
            <a:endParaRPr lang="zh-CN" altLang="en-US" sz="1600" b="1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801" name="TextBox 50"/>
          <p:cNvSpPr txBox="1">
            <a:spLocks noChangeArrowheads="1"/>
          </p:cNvSpPr>
          <p:nvPr/>
        </p:nvSpPr>
        <p:spPr bwMode="auto">
          <a:xfrm>
            <a:off x="6762751" y="4975225"/>
            <a:ext cx="1262063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6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F0/11~F0/23</a:t>
            </a:r>
            <a:endParaRPr lang="zh-CN" altLang="en-US" sz="1600" b="1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802" name="TextBox 51"/>
          <p:cNvSpPr txBox="1">
            <a:spLocks noChangeArrowheads="1"/>
          </p:cNvSpPr>
          <p:nvPr/>
        </p:nvSpPr>
        <p:spPr bwMode="auto">
          <a:xfrm>
            <a:off x="4087813" y="4975225"/>
            <a:ext cx="12620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6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F0/11~F0/23</a:t>
            </a:r>
            <a:endParaRPr lang="zh-CN" altLang="en-US" sz="1600" b="1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内容占位符 14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642938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查看端口模式、状态</a:t>
            </a:r>
          </a:p>
        </p:txBody>
      </p:sp>
      <p:sp>
        <p:nvSpPr>
          <p:cNvPr id="3379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en-US" altLang="zh-CN"/>
              <a:t>Trunk</a:t>
            </a:r>
            <a:r>
              <a:rPr lang="zh-CN" altLang="en-US"/>
              <a:t>配置实例</a:t>
            </a:r>
            <a:r>
              <a:rPr lang="en-US" altLang="zh-CN"/>
              <a:t>3-2</a:t>
            </a:r>
            <a:endParaRPr lang="en-US" altLang="en-US"/>
          </a:p>
        </p:txBody>
      </p:sp>
      <p:sp>
        <p:nvSpPr>
          <p:cNvPr id="33796" name="AutoShape 16"/>
          <p:cNvSpPr>
            <a:spLocks noChangeArrowheads="1"/>
          </p:cNvSpPr>
          <p:nvPr/>
        </p:nvSpPr>
        <p:spPr bwMode="auto">
          <a:xfrm>
            <a:off x="2109788" y="1714500"/>
            <a:ext cx="7848600" cy="4586288"/>
          </a:xfrm>
          <a:prstGeom prst="roundRect">
            <a:avLst>
              <a:gd name="adj" fmla="val 3352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 eaLnBrk="0" hangingPunct="0"/>
            <a:r>
              <a:rPr lang="en-US" altLang="zh-CN" sz="1600" b="1">
                <a:solidFill>
                  <a:schemeClr val="tx2"/>
                </a:solidFill>
              </a:rPr>
              <a:t>SW1#show interface f0/24 switchport</a:t>
            </a:r>
          </a:p>
          <a:p>
            <a:pPr marL="95250" lvl="1" eaLnBrk="0" hangingPunct="0"/>
            <a:r>
              <a:rPr lang="en-US" altLang="zh-CN" sz="1600" b="1">
                <a:solidFill>
                  <a:schemeClr val="tx2"/>
                </a:solidFill>
              </a:rPr>
              <a:t>Name: Fa0/24</a:t>
            </a:r>
          </a:p>
          <a:p>
            <a:pPr marL="95250" lvl="1" eaLnBrk="0" hangingPunct="0"/>
            <a:r>
              <a:rPr lang="en-US" altLang="zh-CN" sz="1600" b="1">
                <a:solidFill>
                  <a:schemeClr val="tx2"/>
                </a:solidFill>
              </a:rPr>
              <a:t>Switchport: Enabled</a:t>
            </a:r>
          </a:p>
          <a:p>
            <a:pPr marL="95250" lvl="1" eaLnBrk="0" hangingPunct="0"/>
            <a:r>
              <a:rPr lang="en-US" altLang="zh-CN" sz="1600" b="1">
                <a:solidFill>
                  <a:schemeClr val="tx2"/>
                </a:solidFill>
              </a:rPr>
              <a:t>Administrative Mode: </a:t>
            </a:r>
            <a:r>
              <a:rPr lang="en-US" altLang="zh-CN" sz="1600" b="1">
                <a:solidFill>
                  <a:srgbClr val="FF0000"/>
                </a:solidFill>
              </a:rPr>
              <a:t>trunk</a:t>
            </a:r>
          </a:p>
          <a:p>
            <a:pPr marL="95250" lvl="1" eaLnBrk="0" hangingPunct="0"/>
            <a:r>
              <a:rPr lang="en-US" altLang="zh-CN" sz="1600" b="1">
                <a:solidFill>
                  <a:schemeClr val="tx2"/>
                </a:solidFill>
              </a:rPr>
              <a:t>Operational Mode:</a:t>
            </a:r>
            <a:r>
              <a:rPr lang="en-US" altLang="zh-CN" sz="1600" b="1">
                <a:solidFill>
                  <a:srgbClr val="FF0000"/>
                </a:solidFill>
              </a:rPr>
              <a:t> trunk</a:t>
            </a:r>
          </a:p>
          <a:p>
            <a:pPr marL="95250" lvl="1" eaLnBrk="0" hangingPunct="0"/>
            <a:r>
              <a:rPr lang="en-US" altLang="zh-CN" sz="1600" b="1">
                <a:solidFill>
                  <a:schemeClr val="tx2"/>
                </a:solidFill>
              </a:rPr>
              <a:t>Administrative Trunking Encapsulation: </a:t>
            </a:r>
            <a:r>
              <a:rPr lang="en-US" altLang="zh-CN" sz="1600" b="1">
                <a:solidFill>
                  <a:srgbClr val="FF0000"/>
                </a:solidFill>
              </a:rPr>
              <a:t>dot1q</a:t>
            </a:r>
          </a:p>
          <a:p>
            <a:pPr marL="95250" lvl="1" eaLnBrk="0" hangingPunct="0"/>
            <a:r>
              <a:rPr lang="en-US" altLang="zh-CN" sz="1600" b="1">
                <a:solidFill>
                  <a:schemeClr val="tx2"/>
                </a:solidFill>
              </a:rPr>
              <a:t>Operational Trunking Encapsulation: </a:t>
            </a:r>
            <a:r>
              <a:rPr lang="en-US" altLang="zh-CN" sz="1600" b="1">
                <a:solidFill>
                  <a:srgbClr val="FF0000"/>
                </a:solidFill>
              </a:rPr>
              <a:t>dot1q</a:t>
            </a:r>
          </a:p>
          <a:p>
            <a:pPr marL="95250" lvl="1" eaLnBrk="0" hangingPunct="0"/>
            <a:r>
              <a:rPr lang="en-US" altLang="zh-CN" sz="1600" b="1">
                <a:solidFill>
                  <a:schemeClr val="tx2"/>
                </a:solidFill>
              </a:rPr>
              <a:t>Negotiation of Trunking: On</a:t>
            </a:r>
          </a:p>
          <a:p>
            <a:pPr marL="95250" lvl="1" eaLnBrk="0" hangingPunct="0"/>
            <a:r>
              <a:rPr lang="en-US" altLang="zh-CN" sz="1600" b="1">
                <a:solidFill>
                  <a:schemeClr val="tx2"/>
                </a:solidFill>
              </a:rPr>
              <a:t>Access Mode VLAN: 1 (default)</a:t>
            </a:r>
          </a:p>
          <a:p>
            <a:pPr marL="95250" lvl="1" eaLnBrk="0" hangingPunct="0"/>
            <a:r>
              <a:rPr lang="en-US" altLang="zh-CN" sz="1600" b="1">
                <a:solidFill>
                  <a:schemeClr val="tx2"/>
                </a:solidFill>
              </a:rPr>
              <a:t>Trunking Native Mode VLAN: 1 (default)</a:t>
            </a:r>
          </a:p>
          <a:p>
            <a:pPr marL="95250" lvl="1" eaLnBrk="0" hangingPunct="0"/>
            <a:r>
              <a:rPr lang="en-US" altLang="zh-CN" sz="1600" b="1">
                <a:solidFill>
                  <a:schemeClr val="tx2"/>
                </a:solidFill>
              </a:rPr>
              <a:t>Voice VLAN: none</a:t>
            </a:r>
          </a:p>
          <a:p>
            <a:pPr marL="95250" lvl="1" eaLnBrk="0" hangingPunct="0"/>
            <a:r>
              <a:rPr lang="en-US" altLang="zh-CN" sz="1600" b="1">
                <a:solidFill>
                  <a:schemeClr val="tx2"/>
                </a:solidFill>
              </a:rPr>
              <a:t>Administrative private-vlan host-association: none</a:t>
            </a:r>
          </a:p>
          <a:p>
            <a:pPr marL="95250" lvl="1" eaLnBrk="0" hangingPunct="0"/>
            <a:r>
              <a:rPr lang="en-US" altLang="zh-CN" sz="1600" b="1">
                <a:solidFill>
                  <a:schemeClr val="tx2"/>
                </a:solidFill>
              </a:rPr>
              <a:t>Administrative private-vlan mapping: none</a:t>
            </a:r>
          </a:p>
          <a:p>
            <a:pPr marL="95250" lvl="1" eaLnBrk="0" hangingPunct="0"/>
            <a:r>
              <a:rPr lang="en-US" altLang="zh-CN" sz="1600" b="1">
                <a:solidFill>
                  <a:schemeClr val="tx2"/>
                </a:solidFill>
              </a:rPr>
              <a:t>Operational private-vlan: none</a:t>
            </a:r>
          </a:p>
          <a:p>
            <a:pPr marL="95250" lvl="1" eaLnBrk="0" hangingPunct="0"/>
            <a:r>
              <a:rPr lang="en-US" altLang="zh-CN" sz="1600" b="1">
                <a:solidFill>
                  <a:schemeClr val="tx2"/>
                </a:solidFill>
              </a:rPr>
              <a:t>Trunking VLANs Enabled:</a:t>
            </a:r>
            <a:r>
              <a:rPr lang="en-US" altLang="zh-CN" sz="1600" b="1">
                <a:solidFill>
                  <a:srgbClr val="FF0000"/>
                </a:solidFill>
              </a:rPr>
              <a:t> ALL</a:t>
            </a:r>
          </a:p>
          <a:p>
            <a:pPr marL="95250" lvl="1" eaLnBrk="0" hangingPunct="0"/>
            <a:r>
              <a:rPr lang="en-US" altLang="zh-CN" sz="1600" b="1">
                <a:solidFill>
                  <a:schemeClr val="tx2"/>
                </a:solidFill>
              </a:rPr>
              <a:t>Pruning VLANs Enabled: 2-1001</a:t>
            </a:r>
          </a:p>
          <a:p>
            <a:pPr marL="95250" lvl="1" eaLnBrk="0" hangingPunct="0"/>
            <a:r>
              <a:rPr lang="en-US" altLang="zh-CN" sz="1600" b="1">
                <a:solidFill>
                  <a:schemeClr val="tx2"/>
                </a:solidFill>
              </a:rPr>
              <a:t>Capture Mode Disabled</a:t>
            </a:r>
          </a:p>
          <a:p>
            <a:pPr marL="95250" lvl="1" eaLnBrk="0" hangingPunct="0"/>
            <a:r>
              <a:rPr lang="en-US" altLang="zh-CN" sz="1600" b="1">
                <a:solidFill>
                  <a:schemeClr val="tx2"/>
                </a:solidFill>
              </a:rPr>
              <a:t>Capture VLANs Allowed: ALL</a:t>
            </a:r>
          </a:p>
        </p:txBody>
      </p:sp>
      <p:sp>
        <p:nvSpPr>
          <p:cNvPr id="11" name="AutoShape 8"/>
          <p:cNvSpPr>
            <a:spLocks noChangeArrowheads="1"/>
          </p:cNvSpPr>
          <p:nvPr/>
        </p:nvSpPr>
        <p:spPr bwMode="auto">
          <a:xfrm>
            <a:off x="5340350" y="2063750"/>
            <a:ext cx="2459038" cy="407988"/>
          </a:xfrm>
          <a:prstGeom prst="wedgeRoundRectCallout">
            <a:avLst>
              <a:gd name="adj1" fmla="val -64958"/>
              <a:gd name="adj2" fmla="val 58491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接口模式配置为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Trunk</a:t>
            </a:r>
          </a:p>
        </p:txBody>
      </p:sp>
      <p:sp>
        <p:nvSpPr>
          <p:cNvPr id="12" name="AutoShape 9"/>
          <p:cNvSpPr>
            <a:spLocks noChangeArrowheads="1"/>
          </p:cNvSpPr>
          <p:nvPr/>
        </p:nvSpPr>
        <p:spPr bwMode="auto">
          <a:xfrm>
            <a:off x="5340350" y="2600325"/>
            <a:ext cx="2459038" cy="407988"/>
          </a:xfrm>
          <a:prstGeom prst="wedgeRoundRectCallout">
            <a:avLst>
              <a:gd name="adj1" fmla="val -72139"/>
              <a:gd name="adj2" fmla="val 29685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接口工作模式为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Trunk</a:t>
            </a:r>
          </a:p>
        </p:txBody>
      </p:sp>
      <p:sp>
        <p:nvSpPr>
          <p:cNvPr id="13" name="AutoShape 10"/>
          <p:cNvSpPr>
            <a:spLocks noChangeArrowheads="1"/>
          </p:cNvSpPr>
          <p:nvPr/>
        </p:nvSpPr>
        <p:spPr bwMode="auto">
          <a:xfrm>
            <a:off x="6826250" y="3522664"/>
            <a:ext cx="2698750" cy="407987"/>
          </a:xfrm>
          <a:prstGeom prst="wedgeRoundRectCallout">
            <a:avLst>
              <a:gd name="adj1" fmla="val -61148"/>
              <a:gd name="adj2" fmla="val -56861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Trunk</a:t>
            </a:r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协议类型为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802.1q</a:t>
            </a:r>
          </a:p>
        </p:txBody>
      </p:sp>
      <p:sp>
        <p:nvSpPr>
          <p:cNvPr id="14" name="AutoShape 11"/>
          <p:cNvSpPr>
            <a:spLocks noChangeArrowheads="1"/>
          </p:cNvSpPr>
          <p:nvPr/>
        </p:nvSpPr>
        <p:spPr bwMode="auto">
          <a:xfrm>
            <a:off x="5764214" y="5092700"/>
            <a:ext cx="3119437" cy="407988"/>
          </a:xfrm>
          <a:prstGeom prst="wedgeRoundRectCallout">
            <a:avLst>
              <a:gd name="adj1" fmla="val -65370"/>
              <a:gd name="adj2" fmla="val 19139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Trunk</a:t>
            </a:r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可以承载所有的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VLAN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内容占位符 18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71500"/>
          </a:xfrm>
        </p:spPr>
        <p:txBody>
          <a:bodyPr>
            <a:normAutofit fontScale="25000" lnSpcReduction="20000"/>
          </a:bodyPr>
          <a:lstStyle/>
          <a:p>
            <a:pPr>
              <a:spcBef>
                <a:spcPts val="675"/>
              </a:spcBef>
            </a:pPr>
            <a:r>
              <a:rPr lang="en-US" altLang="zh-CN">
                <a:cs typeface="Arial" charset="0"/>
              </a:rPr>
              <a:t>Trunk</a:t>
            </a:r>
            <a:r>
              <a:rPr lang="zh-CN" altLang="en-US">
                <a:cs typeface="Arial" charset="0"/>
              </a:rPr>
              <a:t>链路上移除</a:t>
            </a:r>
            <a:r>
              <a:rPr lang="en-US" altLang="zh-CN">
                <a:cs typeface="Arial" charset="0"/>
              </a:rPr>
              <a:t>VLAN 2</a:t>
            </a:r>
          </a:p>
          <a:p>
            <a:pPr lvl="1">
              <a:spcBef>
                <a:spcPts val="675"/>
              </a:spcBef>
            </a:pPr>
            <a:endParaRPr lang="en-US" altLang="zh-CN">
              <a:cs typeface="Arial" charset="0"/>
            </a:endParaRPr>
          </a:p>
          <a:p>
            <a:pPr lvl="1">
              <a:lnSpc>
                <a:spcPts val="1600"/>
              </a:lnSpc>
              <a:spcBef>
                <a:spcPts val="675"/>
              </a:spcBef>
            </a:pPr>
            <a:endParaRPr lang="en-US" altLang="zh-CN">
              <a:cs typeface="Arial" charset="0"/>
            </a:endParaRPr>
          </a:p>
          <a:p>
            <a:pPr>
              <a:spcBef>
                <a:spcPts val="675"/>
              </a:spcBef>
            </a:pPr>
            <a:r>
              <a:rPr lang="zh-CN" altLang="en-US">
                <a:cs typeface="Arial" charset="0"/>
              </a:rPr>
              <a:t>查看端口模式、状态</a:t>
            </a:r>
            <a:endParaRPr lang="en-US" altLang="zh-CN">
              <a:cs typeface="Arial" charset="0"/>
            </a:endParaRPr>
          </a:p>
        </p:txBody>
      </p:sp>
      <p:sp>
        <p:nvSpPr>
          <p:cNvPr id="3481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en-US" altLang="zh-CN"/>
              <a:t>Trunk</a:t>
            </a:r>
            <a:r>
              <a:rPr lang="zh-CN" altLang="en-US"/>
              <a:t>配置实例</a:t>
            </a:r>
            <a:r>
              <a:rPr lang="en-US" altLang="zh-CN"/>
              <a:t>3-3</a:t>
            </a:r>
            <a:endParaRPr lang="en-US" altLang="en-US"/>
          </a:p>
        </p:txBody>
      </p:sp>
      <p:sp>
        <p:nvSpPr>
          <p:cNvPr id="34820" name="AutoShape 16"/>
          <p:cNvSpPr>
            <a:spLocks noChangeArrowheads="1"/>
          </p:cNvSpPr>
          <p:nvPr/>
        </p:nvSpPr>
        <p:spPr bwMode="auto">
          <a:xfrm>
            <a:off x="2109788" y="1643064"/>
            <a:ext cx="7848600" cy="750887"/>
          </a:xfrm>
          <a:prstGeom prst="roundRect">
            <a:avLst>
              <a:gd name="adj" fmla="val 1269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>
              <a:lnSpc>
                <a:spcPct val="125000"/>
              </a:lnSpc>
            </a:pPr>
            <a:r>
              <a:rPr lang="en-US" altLang="zh-CN" b="1">
                <a:solidFill>
                  <a:schemeClr val="tx2"/>
                </a:solidFill>
              </a:rPr>
              <a:t>SW1(config)#interface f0/24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>
              <a:lnSpc>
                <a:spcPct val="125000"/>
              </a:lnSpc>
            </a:pPr>
            <a:r>
              <a:rPr lang="en-US" altLang="zh-CN" b="1">
                <a:solidFill>
                  <a:schemeClr val="tx2"/>
                </a:solidFill>
              </a:rPr>
              <a:t>SW1(config-if)#switchport trunk allowed vlan remove 2</a:t>
            </a:r>
            <a:endParaRPr lang="zh-CN" altLang="en-US" b="1">
              <a:solidFill>
                <a:schemeClr val="tx2"/>
              </a:solidFill>
            </a:endParaRPr>
          </a:p>
        </p:txBody>
      </p:sp>
      <p:sp>
        <p:nvSpPr>
          <p:cNvPr id="34821" name="AutoShape 16"/>
          <p:cNvSpPr>
            <a:spLocks noChangeArrowheads="1"/>
          </p:cNvSpPr>
          <p:nvPr/>
        </p:nvSpPr>
        <p:spPr bwMode="auto">
          <a:xfrm>
            <a:off x="2109788" y="2928938"/>
            <a:ext cx="7848600" cy="2862262"/>
          </a:xfrm>
          <a:prstGeom prst="roundRect">
            <a:avLst>
              <a:gd name="adj" fmla="val 1269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SW1#show interface f0/24 switchport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Name: Fa0/24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Switchport: Enabled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Administrative Mode: trunk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Operational Mode: trunk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…………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Operational private-vlan: none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Trunking VLANs Enabled: </a:t>
            </a:r>
            <a:r>
              <a:rPr lang="en-US" altLang="zh-CN" b="1">
                <a:solidFill>
                  <a:srgbClr val="FF0000"/>
                </a:solidFill>
              </a:rPr>
              <a:t>1,3-1005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Pruning VLANs Enabled: 2-1001</a:t>
            </a:r>
          </a:p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Capture Mode Disabled</a:t>
            </a:r>
            <a:endParaRPr lang="zh-CN" altLang="zh-CN" b="1">
              <a:solidFill>
                <a:schemeClr val="tx2"/>
              </a:solidFill>
            </a:endParaRPr>
          </a:p>
        </p:txBody>
      </p:sp>
      <p:sp>
        <p:nvSpPr>
          <p:cNvPr id="10" name="AutoShape 11"/>
          <p:cNvSpPr>
            <a:spLocks noChangeArrowheads="1"/>
          </p:cNvSpPr>
          <p:nvPr/>
        </p:nvSpPr>
        <p:spPr bwMode="auto">
          <a:xfrm>
            <a:off x="6310314" y="5332414"/>
            <a:ext cx="2663825" cy="407987"/>
          </a:xfrm>
          <a:prstGeom prst="wedgeRoundRectCallout">
            <a:avLst>
              <a:gd name="adj1" fmla="val -56810"/>
              <a:gd name="adj2" fmla="val -112310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不允许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VLAN 2</a:t>
            </a:r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数据通过</a:t>
            </a:r>
            <a:endParaRPr lang="en-US" altLang="zh-CN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内容占位符 10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>
                <a:cs typeface="Arial" charset="0"/>
              </a:rPr>
              <a:t>Trunk</a:t>
            </a:r>
            <a:r>
              <a:rPr lang="zh-CN" altLang="en-US">
                <a:cs typeface="Arial" charset="0"/>
              </a:rPr>
              <a:t>链路无法建立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接口模式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封装类型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en-US" altLang="zh-CN">
                <a:cs typeface="Arial" charset="0"/>
              </a:rPr>
              <a:t>Native VLAN</a:t>
            </a:r>
            <a:endParaRPr lang="zh-CN" altLang="en-US">
              <a:cs typeface="Arial" charset="0"/>
            </a:endParaRPr>
          </a:p>
        </p:txBody>
      </p:sp>
      <p:sp>
        <p:nvSpPr>
          <p:cNvPr id="3584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en-US" altLang="zh-CN"/>
              <a:t>Trunk</a:t>
            </a:r>
            <a:r>
              <a:rPr lang="zh-CN" altLang="en-US"/>
              <a:t>的排错</a:t>
            </a:r>
            <a:endParaRPr lang="en-US" altLang="en-US"/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2889251" y="1211263"/>
            <a:ext cx="4856163" cy="1789112"/>
            <a:chOff x="1134" y="2961"/>
            <a:chExt cx="3059" cy="1127"/>
          </a:xfrm>
        </p:grpSpPr>
        <p:pic>
          <p:nvPicPr>
            <p:cNvPr id="35848" name="Picture 1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502" y="3038"/>
              <a:ext cx="528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5849" name="Picture 1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410" y="3038"/>
              <a:ext cx="528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5850" name="Picture 2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134" y="3571"/>
              <a:ext cx="393" cy="3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5851" name="Picture 2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806" y="3571"/>
              <a:ext cx="393" cy="3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5852" name="Picture 2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066" y="3571"/>
              <a:ext cx="392" cy="3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5853" name="Picture 2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800" y="3571"/>
              <a:ext cx="393" cy="3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35854" name="肘形连接符 9"/>
            <p:cNvCxnSpPr>
              <a:cxnSpLocks noChangeShapeType="1"/>
            </p:cNvCxnSpPr>
            <p:nvPr/>
          </p:nvCxnSpPr>
          <p:spPr bwMode="auto">
            <a:xfrm rot="5400000">
              <a:off x="1303" y="3291"/>
              <a:ext cx="307" cy="254"/>
            </a:xfrm>
            <a:prstGeom prst="bentConnector3">
              <a:avLst>
                <a:gd name="adj1" fmla="val 50000"/>
              </a:avLst>
            </a:prstGeom>
            <a:noFill/>
            <a:ln w="38100" algn="ctr">
              <a:solidFill>
                <a:schemeClr val="tx2"/>
              </a:solidFill>
              <a:round/>
              <a:headEnd/>
              <a:tailEnd/>
            </a:ln>
          </p:spPr>
        </p:cxnSp>
        <p:cxnSp>
          <p:nvCxnSpPr>
            <p:cNvPr id="35855" name="肘形连接符 10"/>
            <p:cNvCxnSpPr>
              <a:cxnSpLocks noChangeShapeType="1"/>
            </p:cNvCxnSpPr>
            <p:nvPr/>
          </p:nvCxnSpPr>
          <p:spPr bwMode="auto">
            <a:xfrm rot="16200000" flipH="1">
              <a:off x="1734" y="3303"/>
              <a:ext cx="307" cy="230"/>
            </a:xfrm>
            <a:prstGeom prst="bentConnector3">
              <a:avLst>
                <a:gd name="adj1" fmla="val 50000"/>
              </a:avLst>
            </a:prstGeom>
            <a:noFill/>
            <a:ln w="38100" algn="ctr">
              <a:solidFill>
                <a:schemeClr val="tx2"/>
              </a:solidFill>
              <a:round/>
              <a:headEnd/>
              <a:tailEnd/>
            </a:ln>
          </p:spPr>
        </p:cxnSp>
        <p:cxnSp>
          <p:nvCxnSpPr>
            <p:cNvPr id="35856" name="肘形连接符 13"/>
            <p:cNvCxnSpPr>
              <a:cxnSpLocks noChangeShapeType="1"/>
            </p:cNvCxnSpPr>
            <p:nvPr/>
          </p:nvCxnSpPr>
          <p:spPr bwMode="auto">
            <a:xfrm rot="5400000">
              <a:off x="3246" y="3280"/>
              <a:ext cx="307" cy="275"/>
            </a:xfrm>
            <a:prstGeom prst="bentConnector3">
              <a:avLst>
                <a:gd name="adj1" fmla="val 50000"/>
              </a:avLst>
            </a:prstGeom>
            <a:noFill/>
            <a:ln w="38100" algn="ctr">
              <a:solidFill>
                <a:schemeClr val="tx2"/>
              </a:solidFill>
              <a:round/>
              <a:headEnd/>
              <a:tailEnd/>
            </a:ln>
          </p:spPr>
        </p:cxnSp>
        <p:cxnSp>
          <p:nvCxnSpPr>
            <p:cNvPr id="35857" name="肘形连接符 16"/>
            <p:cNvCxnSpPr>
              <a:cxnSpLocks noChangeShapeType="1"/>
            </p:cNvCxnSpPr>
            <p:nvPr/>
          </p:nvCxnSpPr>
          <p:spPr bwMode="auto">
            <a:xfrm rot="16200000" flipH="1">
              <a:off x="3715" y="3290"/>
              <a:ext cx="307" cy="256"/>
            </a:xfrm>
            <a:prstGeom prst="bentConnector3">
              <a:avLst>
                <a:gd name="adj1" fmla="val 50000"/>
              </a:avLst>
            </a:prstGeom>
            <a:noFill/>
            <a:ln w="38100" algn="ctr">
              <a:solidFill>
                <a:schemeClr val="tx2"/>
              </a:solidFill>
              <a:round/>
              <a:headEnd/>
              <a:tailEnd/>
            </a:ln>
          </p:spPr>
        </p:cxnSp>
        <p:cxnSp>
          <p:nvCxnSpPr>
            <p:cNvPr id="35858" name="直接连接符 21"/>
            <p:cNvCxnSpPr>
              <a:cxnSpLocks noChangeShapeType="1"/>
            </p:cNvCxnSpPr>
            <p:nvPr/>
          </p:nvCxnSpPr>
          <p:spPr bwMode="auto">
            <a:xfrm>
              <a:off x="2030" y="3151"/>
              <a:ext cx="1380" cy="1"/>
            </a:xfrm>
            <a:prstGeom prst="line">
              <a:avLst/>
            </a:prstGeom>
            <a:noFill/>
            <a:ln w="38100" algn="ctr">
              <a:solidFill>
                <a:schemeClr val="tx2"/>
              </a:solidFill>
              <a:round/>
              <a:headEnd/>
              <a:tailEnd/>
            </a:ln>
          </p:spPr>
        </p:cxnSp>
        <p:sp>
          <p:nvSpPr>
            <p:cNvPr id="35859" name="Text Box 33"/>
            <p:cNvSpPr txBox="1">
              <a:spLocks noChangeArrowheads="1"/>
            </p:cNvSpPr>
            <p:nvPr/>
          </p:nvSpPr>
          <p:spPr bwMode="auto">
            <a:xfrm>
              <a:off x="3103" y="2961"/>
              <a:ext cx="401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r>
                <a:rPr lang="en-US" altLang="zh-CN" sz="14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F0/24</a:t>
              </a:r>
            </a:p>
          </p:txBody>
        </p:sp>
        <p:sp>
          <p:nvSpPr>
            <p:cNvPr id="35860" name="Text Box 33"/>
            <p:cNvSpPr txBox="1">
              <a:spLocks noChangeArrowheads="1"/>
            </p:cNvSpPr>
            <p:nvPr/>
          </p:nvSpPr>
          <p:spPr bwMode="auto">
            <a:xfrm>
              <a:off x="3714" y="3240"/>
              <a:ext cx="339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r>
                <a:rPr lang="en-US" altLang="zh-CN" sz="14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F0/1</a:t>
              </a:r>
            </a:p>
          </p:txBody>
        </p:sp>
        <p:sp>
          <p:nvSpPr>
            <p:cNvPr id="35861" name="Text Box 33"/>
            <p:cNvSpPr txBox="1">
              <a:spLocks noChangeArrowheads="1"/>
            </p:cNvSpPr>
            <p:nvPr/>
          </p:nvSpPr>
          <p:spPr bwMode="auto">
            <a:xfrm>
              <a:off x="3214" y="3238"/>
              <a:ext cx="339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r>
                <a:rPr lang="en-US" altLang="zh-CN" sz="14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F0/2</a:t>
              </a:r>
            </a:p>
          </p:txBody>
        </p:sp>
        <p:sp>
          <p:nvSpPr>
            <p:cNvPr id="35862" name="Text Box 33"/>
            <p:cNvSpPr txBox="1">
              <a:spLocks noChangeArrowheads="1"/>
            </p:cNvSpPr>
            <p:nvPr/>
          </p:nvSpPr>
          <p:spPr bwMode="auto">
            <a:xfrm>
              <a:off x="1266" y="3231"/>
              <a:ext cx="339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r>
                <a:rPr lang="en-US" altLang="zh-CN" sz="14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F0/2</a:t>
              </a:r>
            </a:p>
          </p:txBody>
        </p:sp>
        <p:sp>
          <p:nvSpPr>
            <p:cNvPr id="35863" name="Text Box 33"/>
            <p:cNvSpPr txBox="1">
              <a:spLocks noChangeArrowheads="1"/>
            </p:cNvSpPr>
            <p:nvPr/>
          </p:nvSpPr>
          <p:spPr bwMode="auto">
            <a:xfrm>
              <a:off x="1750" y="3225"/>
              <a:ext cx="339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r>
                <a:rPr lang="en-US" altLang="zh-CN" sz="14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F0/1</a:t>
              </a:r>
            </a:p>
          </p:txBody>
        </p:sp>
        <p:sp>
          <p:nvSpPr>
            <p:cNvPr id="35864" name="Text Box 33"/>
            <p:cNvSpPr txBox="1">
              <a:spLocks noChangeArrowheads="1"/>
            </p:cNvSpPr>
            <p:nvPr/>
          </p:nvSpPr>
          <p:spPr bwMode="auto">
            <a:xfrm>
              <a:off x="1985" y="2961"/>
              <a:ext cx="401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r>
                <a:rPr lang="en-US" altLang="zh-CN" sz="14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F0/24</a:t>
              </a:r>
            </a:p>
          </p:txBody>
        </p:sp>
        <p:sp>
          <p:nvSpPr>
            <p:cNvPr id="35865" name="Text Box 33"/>
            <p:cNvSpPr txBox="1">
              <a:spLocks noChangeArrowheads="1"/>
            </p:cNvSpPr>
            <p:nvPr/>
          </p:nvSpPr>
          <p:spPr bwMode="auto">
            <a:xfrm>
              <a:off x="1173" y="3896"/>
              <a:ext cx="334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r>
                <a:rPr lang="en-US" altLang="zh-CN" sz="14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PC1</a:t>
              </a:r>
            </a:p>
          </p:txBody>
        </p:sp>
        <p:sp>
          <p:nvSpPr>
            <p:cNvPr id="35866" name="Text Box 33"/>
            <p:cNvSpPr txBox="1">
              <a:spLocks noChangeArrowheads="1"/>
            </p:cNvSpPr>
            <p:nvPr/>
          </p:nvSpPr>
          <p:spPr bwMode="auto">
            <a:xfrm>
              <a:off x="1840" y="3896"/>
              <a:ext cx="334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r>
                <a:rPr lang="en-US" altLang="zh-CN" sz="14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PC2</a:t>
              </a:r>
            </a:p>
          </p:txBody>
        </p:sp>
        <p:sp>
          <p:nvSpPr>
            <p:cNvPr id="35867" name="Text Box 33"/>
            <p:cNvSpPr txBox="1">
              <a:spLocks noChangeArrowheads="1"/>
            </p:cNvSpPr>
            <p:nvPr/>
          </p:nvSpPr>
          <p:spPr bwMode="auto">
            <a:xfrm>
              <a:off x="3106" y="3896"/>
              <a:ext cx="334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r>
                <a:rPr lang="en-US" altLang="zh-CN" sz="14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PC3</a:t>
              </a:r>
            </a:p>
          </p:txBody>
        </p:sp>
        <p:sp>
          <p:nvSpPr>
            <p:cNvPr id="35868" name="Text Box 33"/>
            <p:cNvSpPr txBox="1">
              <a:spLocks noChangeArrowheads="1"/>
            </p:cNvSpPr>
            <p:nvPr/>
          </p:nvSpPr>
          <p:spPr bwMode="auto">
            <a:xfrm>
              <a:off x="3842" y="3896"/>
              <a:ext cx="334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r>
                <a:rPr lang="en-US" altLang="zh-CN" sz="14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PC4</a:t>
              </a:r>
            </a:p>
          </p:txBody>
        </p:sp>
        <p:sp>
          <p:nvSpPr>
            <p:cNvPr id="35869" name="Text Box 33"/>
            <p:cNvSpPr txBox="1">
              <a:spLocks noChangeArrowheads="1"/>
            </p:cNvSpPr>
            <p:nvPr/>
          </p:nvSpPr>
          <p:spPr bwMode="auto">
            <a:xfrm>
              <a:off x="1556" y="3113"/>
              <a:ext cx="324" cy="17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r>
                <a:rPr lang="en-US" altLang="zh-CN" sz="1200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SW1</a:t>
              </a:r>
            </a:p>
          </p:txBody>
        </p:sp>
        <p:sp>
          <p:nvSpPr>
            <p:cNvPr id="35870" name="Text Box 33"/>
            <p:cNvSpPr txBox="1">
              <a:spLocks noChangeArrowheads="1"/>
            </p:cNvSpPr>
            <p:nvPr/>
          </p:nvSpPr>
          <p:spPr bwMode="auto">
            <a:xfrm>
              <a:off x="3466" y="3122"/>
              <a:ext cx="324" cy="17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r>
                <a:rPr lang="en-US" altLang="zh-CN" sz="1200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SW2</a:t>
              </a:r>
            </a:p>
          </p:txBody>
        </p:sp>
      </p:grpSp>
      <p:sp>
        <p:nvSpPr>
          <p:cNvPr id="29" name="Rectangle 30"/>
          <p:cNvSpPr>
            <a:spLocks noChangeArrowheads="1"/>
          </p:cNvSpPr>
          <p:nvPr/>
        </p:nvSpPr>
        <p:spPr bwMode="auto">
          <a:xfrm>
            <a:off x="2101851" y="3000376"/>
            <a:ext cx="3279775" cy="3122613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50000">
                <a:schemeClr val="bg1"/>
              </a:gs>
              <a:gs pos="100000">
                <a:srgbClr val="CCFFFF"/>
              </a:gs>
            </a:gsLst>
            <a:lin ang="2700000" scaled="1"/>
          </a:gradFill>
          <a:ln w="9525">
            <a:solidFill>
              <a:srgbClr val="99CCFF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>
              <a:defRPr/>
            </a:pP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  <a:cs typeface="Arial" charset="0"/>
              </a:rPr>
              <a:t>SW1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  <a:cs typeface="Arial" charset="0"/>
              </a:rPr>
              <a:t>交换机配置</a:t>
            </a:r>
            <a:endParaRPr lang="en-US" altLang="zh-CN" b="1" dirty="0">
              <a:solidFill>
                <a:srgbClr val="FF0000"/>
              </a:solidFill>
              <a:ea typeface="楷体_GB2312" pitchFamily="49" charset="-122"/>
              <a:cs typeface="Arial" charset="0"/>
            </a:endParaRPr>
          </a:p>
          <a:p>
            <a:pPr eaLnBrk="0" hangingPunct="0">
              <a:defRPr/>
            </a:pPr>
            <a:r>
              <a:rPr lang="en-US" altLang="zh-CN" dirty="0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interface FastEthernet0/1</a:t>
            </a:r>
          </a:p>
          <a:p>
            <a:pPr eaLnBrk="0" hangingPunct="0">
              <a:defRPr/>
            </a:pPr>
            <a:r>
              <a:rPr lang="en-US" altLang="zh-CN" dirty="0" err="1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switchport</a:t>
            </a:r>
            <a:r>
              <a:rPr lang="en-US" altLang="zh-CN" dirty="0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 access </a:t>
            </a:r>
            <a:r>
              <a:rPr lang="en-US" altLang="zh-CN" dirty="0" err="1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vlan</a:t>
            </a:r>
            <a:r>
              <a:rPr lang="en-US" altLang="zh-CN" dirty="0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 2</a:t>
            </a:r>
          </a:p>
          <a:p>
            <a:pPr eaLnBrk="0" hangingPunct="0">
              <a:defRPr/>
            </a:pPr>
            <a:r>
              <a:rPr lang="en-US" altLang="zh-CN" dirty="0" err="1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switchport</a:t>
            </a:r>
            <a:r>
              <a:rPr lang="en-US" altLang="zh-CN" dirty="0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 mode access</a:t>
            </a:r>
          </a:p>
          <a:p>
            <a:pPr eaLnBrk="0" hangingPunct="0">
              <a:defRPr/>
            </a:pPr>
            <a:r>
              <a:rPr lang="en-US" altLang="zh-CN" dirty="0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!</a:t>
            </a:r>
          </a:p>
          <a:p>
            <a:pPr eaLnBrk="0" hangingPunct="0">
              <a:defRPr/>
            </a:pPr>
            <a:r>
              <a:rPr lang="en-US" altLang="zh-CN" dirty="0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interface FastEthernet0/2</a:t>
            </a:r>
          </a:p>
          <a:p>
            <a:pPr eaLnBrk="0" hangingPunct="0">
              <a:defRPr/>
            </a:pPr>
            <a:r>
              <a:rPr lang="en-US" altLang="zh-CN" dirty="0" err="1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switchport</a:t>
            </a:r>
            <a:r>
              <a:rPr lang="en-US" altLang="zh-CN" dirty="0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 access </a:t>
            </a:r>
            <a:r>
              <a:rPr lang="en-US" altLang="zh-CN" dirty="0" err="1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vlan</a:t>
            </a:r>
            <a:r>
              <a:rPr lang="en-US" altLang="zh-CN" dirty="0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 3</a:t>
            </a:r>
          </a:p>
          <a:p>
            <a:pPr eaLnBrk="0" hangingPunct="0">
              <a:defRPr/>
            </a:pPr>
            <a:r>
              <a:rPr lang="en-US" altLang="zh-CN" dirty="0" err="1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switchport</a:t>
            </a:r>
            <a:r>
              <a:rPr lang="en-US" altLang="zh-CN" dirty="0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 mode access</a:t>
            </a:r>
          </a:p>
          <a:p>
            <a:pPr eaLnBrk="0" hangingPunct="0">
              <a:defRPr/>
            </a:pPr>
            <a:r>
              <a:rPr lang="en-US" altLang="zh-CN" dirty="0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!</a:t>
            </a:r>
          </a:p>
          <a:p>
            <a:pPr eaLnBrk="0" hangingPunct="0">
              <a:defRPr/>
            </a:pPr>
            <a:r>
              <a:rPr lang="en-US" altLang="zh-CN" dirty="0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interface FastEthernet0/24 </a:t>
            </a:r>
          </a:p>
          <a:p>
            <a:pPr eaLnBrk="0" hangingPunct="0">
              <a:defRPr/>
            </a:pPr>
            <a:r>
              <a:rPr lang="en-US" altLang="zh-CN" dirty="0" err="1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switchport</a:t>
            </a:r>
            <a:r>
              <a:rPr lang="en-US" altLang="zh-CN" dirty="0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 mode dynamic auto</a:t>
            </a:r>
          </a:p>
        </p:txBody>
      </p:sp>
      <p:sp>
        <p:nvSpPr>
          <p:cNvPr id="30" name="Rectangle 30"/>
          <p:cNvSpPr>
            <a:spLocks noChangeArrowheads="1"/>
          </p:cNvSpPr>
          <p:nvPr/>
        </p:nvSpPr>
        <p:spPr bwMode="auto">
          <a:xfrm>
            <a:off x="5595939" y="3000376"/>
            <a:ext cx="3279775" cy="3122613"/>
          </a:xfrm>
          <a:prstGeom prst="rect">
            <a:avLst/>
          </a:prstGeom>
          <a:gradFill rotWithShape="1">
            <a:gsLst>
              <a:gs pos="0">
                <a:srgbClr val="CCFFCC"/>
              </a:gs>
              <a:gs pos="50000">
                <a:schemeClr val="bg1"/>
              </a:gs>
              <a:gs pos="100000">
                <a:srgbClr val="CCFFCC"/>
              </a:gs>
            </a:gsLst>
            <a:lin ang="2700000" scaled="1"/>
          </a:gradFill>
          <a:ln w="9525" algn="ctr">
            <a:solidFill>
              <a:srgbClr val="99CC00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>
              <a:defRPr/>
            </a:pPr>
            <a:r>
              <a:rPr lang="en-US" altLang="zh-CN" b="1" dirty="0">
                <a:solidFill>
                  <a:srgbClr val="FF3300"/>
                </a:solidFill>
                <a:ea typeface="楷体_GB2312" pitchFamily="49" charset="-122"/>
                <a:cs typeface="Arial" charset="0"/>
              </a:rPr>
              <a:t>SW2</a:t>
            </a:r>
            <a:r>
              <a:rPr lang="zh-CN" altLang="en-US" b="1" dirty="0">
                <a:solidFill>
                  <a:srgbClr val="FF3300"/>
                </a:solidFill>
                <a:ea typeface="楷体_GB2312" pitchFamily="49" charset="-122"/>
                <a:cs typeface="Arial" charset="0"/>
              </a:rPr>
              <a:t>交换机配置</a:t>
            </a:r>
            <a:endParaRPr lang="en-US" altLang="zh-CN" b="1" dirty="0">
              <a:solidFill>
                <a:srgbClr val="FF3300"/>
              </a:solidFill>
              <a:ea typeface="楷体_GB2312" pitchFamily="49" charset="-122"/>
              <a:cs typeface="Arial" charset="0"/>
            </a:endParaRPr>
          </a:p>
          <a:p>
            <a:pPr eaLnBrk="0" hangingPunct="0">
              <a:defRPr/>
            </a:pPr>
            <a:r>
              <a:rPr lang="en-US" altLang="zh-CN" dirty="0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interface FastEthernet0/1</a:t>
            </a:r>
          </a:p>
          <a:p>
            <a:pPr eaLnBrk="0" hangingPunct="0">
              <a:defRPr/>
            </a:pPr>
            <a:r>
              <a:rPr lang="en-US" altLang="zh-CN" dirty="0" err="1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switchport</a:t>
            </a:r>
            <a:r>
              <a:rPr lang="en-US" altLang="zh-CN" dirty="0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 access </a:t>
            </a:r>
            <a:r>
              <a:rPr lang="en-US" altLang="zh-CN" dirty="0" err="1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vlan</a:t>
            </a:r>
            <a:r>
              <a:rPr lang="en-US" altLang="zh-CN" dirty="0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 2</a:t>
            </a:r>
          </a:p>
          <a:p>
            <a:pPr eaLnBrk="0" hangingPunct="0">
              <a:defRPr/>
            </a:pPr>
            <a:r>
              <a:rPr lang="en-US" altLang="zh-CN" dirty="0" err="1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switchport</a:t>
            </a:r>
            <a:r>
              <a:rPr lang="en-US" altLang="zh-CN" dirty="0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 mode access</a:t>
            </a:r>
          </a:p>
          <a:p>
            <a:pPr eaLnBrk="0" hangingPunct="0">
              <a:defRPr/>
            </a:pPr>
            <a:r>
              <a:rPr lang="en-US" altLang="zh-CN" dirty="0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!</a:t>
            </a:r>
          </a:p>
          <a:p>
            <a:pPr eaLnBrk="0" hangingPunct="0">
              <a:defRPr/>
            </a:pPr>
            <a:r>
              <a:rPr lang="en-US" altLang="zh-CN" dirty="0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interface FastEthernet0/2</a:t>
            </a:r>
          </a:p>
          <a:p>
            <a:pPr eaLnBrk="0" hangingPunct="0">
              <a:defRPr/>
            </a:pPr>
            <a:r>
              <a:rPr lang="en-US" altLang="zh-CN" dirty="0" err="1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switchport</a:t>
            </a:r>
            <a:r>
              <a:rPr lang="en-US" altLang="zh-CN" dirty="0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 access </a:t>
            </a:r>
            <a:r>
              <a:rPr lang="en-US" altLang="zh-CN" dirty="0" err="1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vlan</a:t>
            </a:r>
            <a:r>
              <a:rPr lang="en-US" altLang="zh-CN" dirty="0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 3</a:t>
            </a:r>
          </a:p>
          <a:p>
            <a:pPr eaLnBrk="0" hangingPunct="0">
              <a:defRPr/>
            </a:pPr>
            <a:r>
              <a:rPr lang="en-US" altLang="zh-CN" dirty="0" err="1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switchport</a:t>
            </a:r>
            <a:r>
              <a:rPr lang="en-US" altLang="zh-CN" dirty="0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 mode access</a:t>
            </a:r>
          </a:p>
          <a:p>
            <a:pPr eaLnBrk="0" hangingPunct="0">
              <a:defRPr/>
            </a:pPr>
            <a:r>
              <a:rPr lang="en-US" altLang="zh-CN" dirty="0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!</a:t>
            </a:r>
          </a:p>
          <a:p>
            <a:pPr eaLnBrk="0" hangingPunct="0">
              <a:defRPr/>
            </a:pPr>
            <a:r>
              <a:rPr lang="en-US" altLang="zh-CN" dirty="0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interface FastEthernet0/24 </a:t>
            </a:r>
          </a:p>
          <a:p>
            <a:pPr eaLnBrk="0" hangingPunct="0">
              <a:defRPr/>
            </a:pPr>
            <a:r>
              <a:rPr lang="en-US" altLang="zh-CN" dirty="0" err="1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switchport</a:t>
            </a:r>
            <a:r>
              <a:rPr lang="en-US" altLang="zh-CN" dirty="0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 mode dynamic auto</a:t>
            </a:r>
          </a:p>
        </p:txBody>
      </p:sp>
      <p:sp>
        <p:nvSpPr>
          <p:cNvPr id="31" name="AutoShape 19"/>
          <p:cNvSpPr>
            <a:spLocks noChangeArrowheads="1"/>
          </p:cNvSpPr>
          <p:nvPr/>
        </p:nvSpPr>
        <p:spPr bwMode="auto">
          <a:xfrm>
            <a:off x="7953375" y="2071689"/>
            <a:ext cx="2643188" cy="714375"/>
          </a:xfrm>
          <a:prstGeom prst="wedgeRoundRectCallout">
            <a:avLst>
              <a:gd name="adj1" fmla="val -41463"/>
              <a:gd name="adj2" fmla="val 74532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检查交换机配置保证同一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Vlan</a:t>
            </a:r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内主机可以通信</a:t>
            </a:r>
            <a:endParaRPr lang="en-US" altLang="zh-CN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 build="p"/>
      <p:bldP spid="29" grpId="0" animBg="1"/>
      <p:bldP spid="30" grpId="0" animBg="1"/>
      <p:bldP spid="3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1500188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/>
              <a:t>EthernetChannel</a:t>
            </a:r>
            <a:r>
              <a:rPr lang="zh-CN" altLang="en-US"/>
              <a:t>－以太通道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多条线路负载均衡，带宽提高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容错，当一条线路失效时，其他线路通信，不会丢包</a:t>
            </a:r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36867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配置以太网通道</a:t>
            </a:r>
            <a:r>
              <a:rPr lang="en-US" altLang="zh-CN"/>
              <a:t>3-1</a:t>
            </a:r>
            <a:endParaRPr lang="zh-CN" altLang="en-US"/>
          </a:p>
        </p:txBody>
      </p:sp>
      <p:sp>
        <p:nvSpPr>
          <p:cNvPr id="4" name="Line 11"/>
          <p:cNvSpPr>
            <a:spLocks noChangeShapeType="1"/>
          </p:cNvSpPr>
          <p:nvPr/>
        </p:nvSpPr>
        <p:spPr bwMode="auto">
          <a:xfrm>
            <a:off x="5010151" y="4794250"/>
            <a:ext cx="1871663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pic>
        <p:nvPicPr>
          <p:cNvPr id="36869" name="Picture 16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81813" y="3571875"/>
            <a:ext cx="1657350" cy="16446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6" name="Line 17"/>
          <p:cNvSpPr>
            <a:spLocks noChangeShapeType="1"/>
          </p:cNvSpPr>
          <p:nvPr/>
        </p:nvSpPr>
        <p:spPr bwMode="auto">
          <a:xfrm>
            <a:off x="5010151" y="4362450"/>
            <a:ext cx="1871663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Line 60"/>
          <p:cNvSpPr>
            <a:spLocks noChangeShapeType="1"/>
          </p:cNvSpPr>
          <p:nvPr/>
        </p:nvSpPr>
        <p:spPr bwMode="auto">
          <a:xfrm>
            <a:off x="5008563" y="4578350"/>
            <a:ext cx="1871662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8" name="Line 61"/>
          <p:cNvSpPr>
            <a:spLocks noChangeShapeType="1"/>
          </p:cNvSpPr>
          <p:nvPr/>
        </p:nvSpPr>
        <p:spPr bwMode="auto">
          <a:xfrm>
            <a:off x="5008563" y="4135438"/>
            <a:ext cx="1871662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pic>
        <p:nvPicPr>
          <p:cNvPr id="36873" name="Picture 14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4238" y="3643313"/>
            <a:ext cx="1657350" cy="16446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36874" name="Oval 72"/>
          <p:cNvSpPr>
            <a:spLocks noChangeArrowheads="1"/>
          </p:cNvSpPr>
          <p:nvPr/>
        </p:nvSpPr>
        <p:spPr bwMode="auto">
          <a:xfrm>
            <a:off x="5872163" y="3919538"/>
            <a:ext cx="215900" cy="1079500"/>
          </a:xfrm>
          <a:prstGeom prst="ellips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AutoShape 19"/>
          <p:cNvSpPr>
            <a:spLocks noChangeArrowheads="1"/>
          </p:cNvSpPr>
          <p:nvPr/>
        </p:nvSpPr>
        <p:spPr bwMode="auto">
          <a:xfrm>
            <a:off x="5881689" y="2786063"/>
            <a:ext cx="2643187" cy="857250"/>
          </a:xfrm>
          <a:prstGeom prst="wedgeRoundRectCallout">
            <a:avLst>
              <a:gd name="adj1" fmla="val -41463"/>
              <a:gd name="adj2" fmla="val 74532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配置为以太通道的接口，必须物理特性相同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矩形 21"/>
          <p:cNvSpPr>
            <a:spLocks noChangeArrowheads="1"/>
          </p:cNvSpPr>
          <p:nvPr/>
        </p:nvSpPr>
        <p:spPr bwMode="auto">
          <a:xfrm>
            <a:off x="2095500" y="1670050"/>
            <a:ext cx="8072438" cy="922338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b="1">
                <a:solidFill>
                  <a:schemeClr val="tx2"/>
                </a:solidFill>
              </a:rPr>
              <a:t>Switch(config)# interface range fastEthernet 0/1 – 2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Switch(config-if-range)#channel-group 1 mode on</a:t>
            </a:r>
          </a:p>
          <a:p>
            <a:r>
              <a:rPr lang="en-US" altLang="zh-CN" b="1" i="1">
                <a:solidFill>
                  <a:schemeClr val="tx2"/>
                </a:solidFill>
              </a:rPr>
              <a:t> </a:t>
            </a:r>
            <a:r>
              <a:rPr lang="en-US" altLang="zh-CN" i="1">
                <a:solidFill>
                  <a:schemeClr val="tx2"/>
                </a:solidFill>
              </a:rPr>
              <a:t>Creating a port-channel interface Port-channel 1</a:t>
            </a:r>
          </a:p>
        </p:txBody>
      </p:sp>
      <p:sp>
        <p:nvSpPr>
          <p:cNvPr id="37891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7929562" cy="1714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配置接口为以太通道模式</a:t>
            </a:r>
          </a:p>
          <a:p>
            <a:pPr>
              <a:spcBef>
                <a:spcPts val="675"/>
              </a:spcBef>
              <a:buNone/>
            </a:pPr>
            <a:r>
              <a:rPr lang="en-US" altLang="zh-CN" sz="1800"/>
              <a:t>      </a:t>
            </a:r>
            <a:endParaRPr lang="zh-CN" altLang="en-US"/>
          </a:p>
        </p:txBody>
      </p:sp>
      <p:sp>
        <p:nvSpPr>
          <p:cNvPr id="37892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配置以太网通道</a:t>
            </a:r>
            <a:r>
              <a:rPr lang="en-US" altLang="zh-CN"/>
              <a:t>3-2</a:t>
            </a:r>
            <a:endParaRPr lang="zh-CN" altLang="en-US"/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4857751" y="4360863"/>
            <a:ext cx="1800225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586538" y="4138614"/>
            <a:ext cx="1295400" cy="585787"/>
            <a:chOff x="1837" y="1706"/>
            <a:chExt cx="816" cy="369"/>
          </a:xfrm>
        </p:grpSpPr>
        <p:pic>
          <p:nvPicPr>
            <p:cNvPr id="37908" name="Picture 6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837" y="1706"/>
              <a:ext cx="816" cy="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7909" name="Text Box 7"/>
            <p:cNvSpPr txBox="1">
              <a:spLocks noChangeArrowheads="1"/>
            </p:cNvSpPr>
            <p:nvPr/>
          </p:nvSpPr>
          <p:spPr bwMode="auto">
            <a:xfrm>
              <a:off x="2068" y="1844"/>
              <a:ext cx="544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bg1"/>
                  </a:solidFill>
                  <a:ea typeface="宋体" charset="-122"/>
                </a:rPr>
                <a:t>B</a:t>
              </a:r>
            </a:p>
          </p:txBody>
        </p:sp>
      </p:grpSp>
      <p:sp>
        <p:nvSpPr>
          <p:cNvPr id="8" name="Line 11"/>
          <p:cNvSpPr>
            <a:spLocks noChangeShapeType="1"/>
          </p:cNvSpPr>
          <p:nvPr/>
        </p:nvSpPr>
        <p:spPr bwMode="auto">
          <a:xfrm>
            <a:off x="4784726" y="4503738"/>
            <a:ext cx="1800225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3705225" y="4138614"/>
            <a:ext cx="1295400" cy="585787"/>
            <a:chOff x="1837" y="1706"/>
            <a:chExt cx="816" cy="369"/>
          </a:xfrm>
        </p:grpSpPr>
        <p:pic>
          <p:nvPicPr>
            <p:cNvPr id="37906" name="Picture 9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837" y="1706"/>
              <a:ext cx="816" cy="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7907" name="Text Box 10"/>
            <p:cNvSpPr txBox="1">
              <a:spLocks noChangeArrowheads="1"/>
            </p:cNvSpPr>
            <p:nvPr/>
          </p:nvSpPr>
          <p:spPr bwMode="auto">
            <a:xfrm>
              <a:off x="2038" y="1844"/>
              <a:ext cx="544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bg1"/>
                  </a:solidFill>
                  <a:ea typeface="宋体" charset="-122"/>
                </a:rPr>
                <a:t>A</a:t>
              </a:r>
            </a:p>
          </p:txBody>
        </p:sp>
      </p:grpSp>
      <p:sp>
        <p:nvSpPr>
          <p:cNvPr id="37897" name="Text Box 12"/>
          <p:cNvSpPr txBox="1">
            <a:spLocks noChangeArrowheads="1"/>
          </p:cNvSpPr>
          <p:nvPr/>
        </p:nvSpPr>
        <p:spPr bwMode="auto">
          <a:xfrm>
            <a:off x="5010150" y="3990976"/>
            <a:ext cx="1728788" cy="3667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>
            <a:prstShdw prst="shdw17" dist="17961" dir="2700000">
              <a:srgbClr val="7A5C99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f0/1</a:t>
            </a:r>
          </a:p>
        </p:txBody>
      </p:sp>
      <p:sp>
        <p:nvSpPr>
          <p:cNvPr id="37898" name="Text Box 13"/>
          <p:cNvSpPr txBox="1">
            <a:spLocks noChangeArrowheads="1"/>
          </p:cNvSpPr>
          <p:nvPr/>
        </p:nvSpPr>
        <p:spPr bwMode="auto">
          <a:xfrm>
            <a:off x="6238875" y="3990976"/>
            <a:ext cx="1728788" cy="3667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>
            <a:prstShdw prst="shdw17" dist="17961" dir="2700000">
              <a:srgbClr val="7A5C99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f0/3</a:t>
            </a:r>
          </a:p>
        </p:txBody>
      </p:sp>
      <p:sp>
        <p:nvSpPr>
          <p:cNvPr id="37899" name="Text Box 14"/>
          <p:cNvSpPr txBox="1">
            <a:spLocks noChangeArrowheads="1"/>
          </p:cNvSpPr>
          <p:nvPr/>
        </p:nvSpPr>
        <p:spPr bwMode="auto">
          <a:xfrm>
            <a:off x="4724400" y="4500563"/>
            <a:ext cx="1728788" cy="3667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>
            <a:prstShdw prst="shdw17" dist="17961" dir="2700000">
              <a:srgbClr val="7A5C99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f0/2</a:t>
            </a:r>
          </a:p>
        </p:txBody>
      </p:sp>
      <p:sp>
        <p:nvSpPr>
          <p:cNvPr id="37900" name="Text Box 15"/>
          <p:cNvSpPr txBox="1">
            <a:spLocks noChangeArrowheads="1"/>
          </p:cNvSpPr>
          <p:nvPr/>
        </p:nvSpPr>
        <p:spPr bwMode="auto">
          <a:xfrm>
            <a:off x="6024564" y="4491038"/>
            <a:ext cx="1728787" cy="3667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>
            <a:prstShdw prst="shdw17" dist="17961" dir="2700000">
              <a:srgbClr val="7A5C99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f0/4</a:t>
            </a:r>
          </a:p>
        </p:txBody>
      </p:sp>
      <p:sp>
        <p:nvSpPr>
          <p:cNvPr id="37901" name="Oval 20"/>
          <p:cNvSpPr>
            <a:spLocks noChangeArrowheads="1"/>
          </p:cNvSpPr>
          <p:nvPr/>
        </p:nvSpPr>
        <p:spPr bwMode="auto">
          <a:xfrm>
            <a:off x="5792788" y="4287838"/>
            <a:ext cx="144462" cy="360362"/>
          </a:xfrm>
          <a:prstGeom prst="ellips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Oval 16"/>
          <p:cNvSpPr>
            <a:spLocks noChangeArrowheads="1"/>
          </p:cNvSpPr>
          <p:nvPr/>
        </p:nvSpPr>
        <p:spPr bwMode="auto">
          <a:xfrm>
            <a:off x="6881813" y="1571626"/>
            <a:ext cx="1223962" cy="576263"/>
          </a:xfrm>
          <a:prstGeom prst="ellips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Oval 18"/>
          <p:cNvSpPr>
            <a:spLocks noChangeArrowheads="1"/>
          </p:cNvSpPr>
          <p:nvPr/>
        </p:nvSpPr>
        <p:spPr bwMode="auto">
          <a:xfrm>
            <a:off x="6310313" y="1857375"/>
            <a:ext cx="360362" cy="431800"/>
          </a:xfrm>
          <a:prstGeom prst="ellips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AutoShape 19"/>
          <p:cNvSpPr>
            <a:spLocks noChangeArrowheads="1"/>
          </p:cNvSpPr>
          <p:nvPr/>
        </p:nvSpPr>
        <p:spPr bwMode="auto">
          <a:xfrm>
            <a:off x="7453314" y="2286001"/>
            <a:ext cx="2357437" cy="500063"/>
          </a:xfrm>
          <a:prstGeom prst="wedgeRoundRectCallout">
            <a:avLst>
              <a:gd name="adj1" fmla="val -34574"/>
              <a:gd name="adj2" fmla="val -111685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要捆绑在一起的端口</a:t>
            </a:r>
          </a:p>
        </p:txBody>
      </p:sp>
      <p:sp>
        <p:nvSpPr>
          <p:cNvPr id="21" name="AutoShape 19"/>
          <p:cNvSpPr>
            <a:spLocks noChangeArrowheads="1"/>
          </p:cNvSpPr>
          <p:nvPr/>
        </p:nvSpPr>
        <p:spPr bwMode="auto">
          <a:xfrm>
            <a:off x="5667375" y="2714626"/>
            <a:ext cx="2071688" cy="500063"/>
          </a:xfrm>
          <a:prstGeom prst="wedgeRoundRectCallout">
            <a:avLst>
              <a:gd name="adj1" fmla="val -11185"/>
              <a:gd name="adj2" fmla="val -130509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以太通道的组号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9" grpId="0" animBg="1"/>
      <p:bldP spid="20" grpId="0" animBg="1"/>
      <p:bldP spid="20" grpId="1" animBg="1"/>
      <p:bldP spid="2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71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查看以太通道的配置</a:t>
            </a:r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38915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配置以太网通道</a:t>
            </a:r>
            <a:r>
              <a:rPr lang="en-US" altLang="zh-CN"/>
              <a:t>3-3</a:t>
            </a:r>
            <a:endParaRPr lang="zh-CN" altLang="en-US"/>
          </a:p>
        </p:txBody>
      </p:sp>
      <p:sp>
        <p:nvSpPr>
          <p:cNvPr id="38916" name="矩形 3"/>
          <p:cNvSpPr>
            <a:spLocks noChangeArrowheads="1"/>
          </p:cNvSpPr>
          <p:nvPr/>
        </p:nvSpPr>
        <p:spPr bwMode="auto">
          <a:xfrm>
            <a:off x="2095500" y="1785939"/>
            <a:ext cx="7786688" cy="3760787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>
                <a:solidFill>
                  <a:schemeClr val="tx2"/>
                </a:solidFill>
              </a:rPr>
              <a:t>Switch# show etherchannel </a:t>
            </a:r>
            <a:r>
              <a:rPr lang="en-US" altLang="zh-CN" sz="2800" i="1">
                <a:solidFill>
                  <a:schemeClr val="tx2"/>
                </a:solidFill>
              </a:rPr>
              <a:t>1 </a:t>
            </a:r>
            <a:r>
              <a:rPr lang="en-US" altLang="zh-CN" sz="2800">
                <a:solidFill>
                  <a:schemeClr val="tx2"/>
                </a:solidFill>
              </a:rPr>
              <a:t>summary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>
                <a:solidFill>
                  <a:schemeClr val="tx2"/>
                </a:solidFill>
              </a:rPr>
              <a:t>Flags:  D - down </a:t>
            </a:r>
            <a:r>
              <a:rPr lang="en-US" altLang="zh-CN"/>
              <a:t>       </a:t>
            </a:r>
            <a:r>
              <a:rPr lang="en-US" altLang="zh-CN">
                <a:solidFill>
                  <a:srgbClr val="FF0000"/>
                </a:solidFill>
              </a:rPr>
              <a:t>P - in port-channel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>
                <a:solidFill>
                  <a:schemeClr val="tx2"/>
                </a:solidFill>
              </a:rPr>
              <a:t>        I - stand-alone s - suspended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>
                <a:solidFill>
                  <a:schemeClr val="tx2"/>
                </a:solidFill>
              </a:rPr>
              <a:t>        H - Hot-standby (LACP only)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/>
              <a:t>        </a:t>
            </a:r>
            <a:r>
              <a:rPr lang="en-US" altLang="zh-CN">
                <a:solidFill>
                  <a:schemeClr val="tx2"/>
                </a:solidFill>
              </a:rPr>
              <a:t>R - Layer3      </a:t>
            </a:r>
            <a:r>
              <a:rPr lang="en-US" altLang="zh-CN">
                <a:solidFill>
                  <a:srgbClr val="FF0000"/>
                </a:solidFill>
              </a:rPr>
              <a:t>S - Layer2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/>
              <a:t>        </a:t>
            </a:r>
            <a:r>
              <a:rPr lang="en-US" altLang="zh-CN">
                <a:solidFill>
                  <a:srgbClr val="FF0000"/>
                </a:solidFill>
              </a:rPr>
              <a:t>U - in use</a:t>
            </a:r>
            <a:r>
              <a:rPr lang="en-US" altLang="zh-CN"/>
              <a:t>      </a:t>
            </a:r>
            <a:r>
              <a:rPr lang="en-US" altLang="zh-CN">
                <a:solidFill>
                  <a:schemeClr val="tx2"/>
                </a:solidFill>
              </a:rPr>
              <a:t>f - failed to allocate aggregator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/>
              <a:t>        </a:t>
            </a:r>
            <a:r>
              <a:rPr lang="en-US" altLang="zh-CN">
                <a:solidFill>
                  <a:schemeClr val="tx2"/>
                </a:solidFill>
              </a:rPr>
              <a:t>u - unsuitable for bundling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>
                <a:solidFill>
                  <a:schemeClr val="tx2"/>
                </a:solidFill>
              </a:rPr>
              <a:t>        w - waiting to be aggregated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>
                <a:solidFill>
                  <a:schemeClr val="tx2"/>
                </a:solidFill>
              </a:rPr>
              <a:t>        d - default port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altLang="zh-CN">
              <a:solidFill>
                <a:schemeClr val="tx2"/>
              </a:solidFill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>
                <a:solidFill>
                  <a:schemeClr val="tx2"/>
                </a:solidFill>
              </a:rPr>
              <a:t>Number of channel-groups in use: 1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>
                <a:solidFill>
                  <a:schemeClr val="tx2"/>
                </a:solidFill>
              </a:rPr>
              <a:t>Number of aggregators:           1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altLang="zh-CN">
              <a:solidFill>
                <a:schemeClr val="tx2"/>
              </a:solidFill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>
                <a:solidFill>
                  <a:schemeClr val="tx2"/>
                </a:solidFill>
              </a:rPr>
              <a:t>Group  Port-channel  Protocol    Ports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>
                <a:solidFill>
                  <a:schemeClr val="tx2"/>
                </a:solidFill>
              </a:rPr>
              <a:t>------+-------------+-----------+-----------------------------------------------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>
                <a:solidFill>
                  <a:schemeClr val="tx2"/>
                </a:solidFill>
              </a:rPr>
              <a:t>1      Po1(</a:t>
            </a:r>
            <a:r>
              <a:rPr lang="en-US" altLang="zh-CN">
                <a:solidFill>
                  <a:srgbClr val="FF0000"/>
                </a:solidFill>
              </a:rPr>
              <a:t>SU</a:t>
            </a:r>
            <a:r>
              <a:rPr lang="en-US" altLang="zh-CN">
                <a:solidFill>
                  <a:schemeClr val="tx2"/>
                </a:solidFill>
              </a:rPr>
              <a:t>)          -        Fa0/23(</a:t>
            </a:r>
            <a:r>
              <a:rPr lang="en-US" altLang="zh-CN">
                <a:solidFill>
                  <a:srgbClr val="FF0000"/>
                </a:solidFill>
              </a:rPr>
              <a:t>P</a:t>
            </a:r>
            <a:r>
              <a:rPr lang="en-US" altLang="zh-CN">
                <a:solidFill>
                  <a:schemeClr val="tx2"/>
                </a:solidFill>
              </a:rPr>
              <a:t>)</a:t>
            </a:r>
            <a:r>
              <a:rPr lang="en-US" altLang="zh-CN"/>
              <a:t>   </a:t>
            </a:r>
            <a:r>
              <a:rPr lang="en-US" altLang="zh-CN">
                <a:solidFill>
                  <a:schemeClr val="tx2"/>
                </a:solidFill>
              </a:rPr>
              <a:t>Fa0/24(</a:t>
            </a:r>
            <a:r>
              <a:rPr lang="en-US" altLang="zh-CN">
                <a:solidFill>
                  <a:srgbClr val="FF0000"/>
                </a:solidFill>
              </a:rPr>
              <a:t>P</a:t>
            </a:r>
            <a:r>
              <a:rPr lang="en-US" altLang="zh-CN">
                <a:solidFill>
                  <a:schemeClr val="tx2"/>
                </a:solidFill>
              </a:rPr>
              <a:t>)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内容占位符 18"/>
          <p:cNvSpPr>
            <a:spLocks noGrp="1"/>
          </p:cNvSpPr>
          <p:nvPr>
            <p:ph idx="1"/>
          </p:nvPr>
        </p:nvSpPr>
        <p:spPr>
          <a:xfrm>
            <a:off x="1738313" y="1143001"/>
            <a:ext cx="8501062" cy="2428875"/>
          </a:xfrm>
        </p:spPr>
        <p:txBody>
          <a:bodyPr/>
          <a:lstStyle/>
          <a:p>
            <a:pPr>
              <a:spcBef>
                <a:spcPts val="475"/>
              </a:spcBef>
            </a:pPr>
            <a:r>
              <a:rPr lang="zh-CN" altLang="en-US">
                <a:cs typeface="Arial" charset="0"/>
              </a:rPr>
              <a:t>实验环境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en-US" altLang="en-US">
                <a:cs typeface="Arial" charset="0"/>
              </a:rPr>
              <a:t>PC1</a:t>
            </a:r>
            <a:r>
              <a:rPr lang="zh-CN" altLang="en-US">
                <a:cs typeface="Arial" charset="0"/>
              </a:rPr>
              <a:t>和</a:t>
            </a:r>
            <a:r>
              <a:rPr lang="en-US" altLang="en-US">
                <a:cs typeface="Arial" charset="0"/>
              </a:rPr>
              <a:t>PC3</a:t>
            </a:r>
            <a:r>
              <a:rPr lang="zh-CN" altLang="en-US">
                <a:cs typeface="Arial" charset="0"/>
              </a:rPr>
              <a:t>属于</a:t>
            </a:r>
            <a:r>
              <a:rPr lang="en-US" altLang="en-US">
                <a:cs typeface="Arial" charset="0"/>
              </a:rPr>
              <a:t>VLAN 2</a:t>
            </a:r>
            <a:r>
              <a:rPr lang="zh-CN" altLang="en-US">
                <a:cs typeface="Arial" charset="0"/>
              </a:rPr>
              <a:t>，</a:t>
            </a:r>
            <a:r>
              <a:rPr lang="en-US" altLang="en-US">
                <a:cs typeface="Arial" charset="0"/>
              </a:rPr>
              <a:t>PC2</a:t>
            </a:r>
            <a:r>
              <a:rPr lang="zh-CN" altLang="en-US">
                <a:cs typeface="Arial" charset="0"/>
              </a:rPr>
              <a:t>属于</a:t>
            </a:r>
            <a:r>
              <a:rPr lang="en-US" altLang="en-US">
                <a:cs typeface="Arial" charset="0"/>
              </a:rPr>
              <a:t>VLAN 3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en-US" altLang="en-US">
                <a:cs typeface="Arial" charset="0"/>
              </a:rPr>
              <a:t>PC1</a:t>
            </a:r>
            <a:r>
              <a:rPr lang="zh-CN" altLang="en-US">
                <a:cs typeface="Arial" charset="0"/>
              </a:rPr>
              <a:t>的</a:t>
            </a:r>
            <a:r>
              <a:rPr lang="en-US" altLang="en-US">
                <a:cs typeface="Arial" charset="0"/>
              </a:rPr>
              <a:t>IP</a:t>
            </a:r>
            <a:r>
              <a:rPr lang="zh-CN" altLang="en-US">
                <a:cs typeface="Arial" charset="0"/>
              </a:rPr>
              <a:t>地址为：</a:t>
            </a:r>
            <a:r>
              <a:rPr lang="en-US" altLang="en-US">
                <a:cs typeface="Arial" charset="0"/>
              </a:rPr>
              <a:t>192.168.0.1/24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en-US" altLang="en-US">
                <a:cs typeface="Arial" charset="0"/>
              </a:rPr>
              <a:t>PC2</a:t>
            </a:r>
            <a:r>
              <a:rPr lang="zh-CN" altLang="en-US">
                <a:cs typeface="Arial" charset="0"/>
              </a:rPr>
              <a:t>的</a:t>
            </a:r>
            <a:r>
              <a:rPr lang="en-US" altLang="en-US">
                <a:cs typeface="Arial" charset="0"/>
              </a:rPr>
              <a:t>IP</a:t>
            </a:r>
            <a:r>
              <a:rPr lang="zh-CN" altLang="en-US">
                <a:cs typeface="Arial" charset="0"/>
              </a:rPr>
              <a:t>地址为：</a:t>
            </a:r>
            <a:r>
              <a:rPr lang="en-US" altLang="en-US">
                <a:cs typeface="Arial" charset="0"/>
              </a:rPr>
              <a:t>192.168.0.2/24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en-US" altLang="en-US">
                <a:cs typeface="Arial" charset="0"/>
              </a:rPr>
              <a:t>PC3</a:t>
            </a:r>
            <a:r>
              <a:rPr lang="zh-CN" altLang="en-US">
                <a:cs typeface="Arial" charset="0"/>
              </a:rPr>
              <a:t>的</a:t>
            </a:r>
            <a:r>
              <a:rPr lang="en-US" altLang="en-US">
                <a:cs typeface="Arial" charset="0"/>
              </a:rPr>
              <a:t>IP</a:t>
            </a:r>
            <a:r>
              <a:rPr lang="zh-CN" altLang="en-US">
                <a:cs typeface="Arial" charset="0"/>
              </a:rPr>
              <a:t>地址为：</a:t>
            </a:r>
            <a:r>
              <a:rPr lang="en-US" altLang="en-US">
                <a:cs typeface="Arial" charset="0"/>
              </a:rPr>
              <a:t>192.168.0.3/24</a:t>
            </a:r>
            <a:endParaRPr lang="zh-CN" altLang="en-US">
              <a:cs typeface="Arial" charset="0"/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itchFamily="2" charset="-122"/>
              </a:rPr>
              <a:t>实验一：</a:t>
            </a:r>
            <a:r>
              <a:rPr lang="zh-CN" altLang="en-US"/>
              <a:t> 配置</a:t>
            </a:r>
            <a:r>
              <a:rPr lang="en-US" altLang="zh-CN"/>
              <a:t>VLAN2-1</a:t>
            </a:r>
            <a:endParaRPr lang="en-US" altLang="zh-CN">
              <a:latin typeface="黑体" pitchFamily="2" charset="-122"/>
            </a:endParaRPr>
          </a:p>
        </p:txBody>
      </p:sp>
      <p:grpSp>
        <p:nvGrpSpPr>
          <p:cNvPr id="2" name="组合 18"/>
          <p:cNvGrpSpPr>
            <a:grpSpLocks/>
          </p:cNvGrpSpPr>
          <p:nvPr/>
        </p:nvGrpSpPr>
        <p:grpSpPr bwMode="auto">
          <a:xfrm>
            <a:off x="4241800" y="3638551"/>
            <a:ext cx="3424238" cy="2576513"/>
            <a:chOff x="2717800" y="3529013"/>
            <a:chExt cx="3424238" cy="2576512"/>
          </a:xfrm>
        </p:grpSpPr>
        <p:grpSp>
          <p:nvGrpSpPr>
            <p:cNvPr id="3" name="组合 63"/>
            <p:cNvGrpSpPr>
              <a:grpSpLocks/>
            </p:cNvGrpSpPr>
            <p:nvPr/>
          </p:nvGrpSpPr>
          <p:grpSpPr bwMode="auto">
            <a:xfrm>
              <a:off x="3257550" y="3675063"/>
              <a:ext cx="1079500" cy="498475"/>
              <a:chOff x="2746359" y="3003542"/>
              <a:chExt cx="1079295" cy="498484"/>
            </a:xfrm>
          </p:grpSpPr>
          <p:pic>
            <p:nvPicPr>
              <p:cNvPr id="42002" name="Picture 10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2746359" y="3003542"/>
                <a:ext cx="1079295" cy="4619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2003" name="Text Box 33"/>
              <p:cNvSpPr txBox="1">
                <a:spLocks noChangeArrowheads="1"/>
              </p:cNvSpPr>
              <p:nvPr/>
            </p:nvSpPr>
            <p:spPr bwMode="auto">
              <a:xfrm>
                <a:off x="2901935" y="3194051"/>
                <a:ext cx="574675" cy="30797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anchorCtr="1">
                <a:spAutoFit/>
              </a:bodyPr>
              <a:lstStyle/>
              <a:p>
                <a:r>
                  <a:rPr lang="en-US" altLang="zh-CN" sz="1400" b="1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SW1</a:t>
                </a:r>
              </a:p>
            </p:txBody>
          </p:sp>
        </p:grpSp>
        <p:pic>
          <p:nvPicPr>
            <p:cNvPr id="41990" name="Picture 2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717800" y="5099050"/>
              <a:ext cx="730250" cy="6905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41991" name="肘形连接符 9"/>
            <p:cNvCxnSpPr>
              <a:cxnSpLocks noChangeShapeType="1"/>
            </p:cNvCxnSpPr>
            <p:nvPr/>
          </p:nvCxnSpPr>
          <p:spPr bwMode="auto">
            <a:xfrm rot="5400000">
              <a:off x="2835275" y="4384675"/>
              <a:ext cx="962025" cy="466725"/>
            </a:xfrm>
            <a:prstGeom prst="bentConnector3">
              <a:avLst>
                <a:gd name="adj1" fmla="val 50000"/>
              </a:avLst>
            </a:prstGeom>
            <a:noFill/>
            <a:ln w="38100" algn="ctr">
              <a:solidFill>
                <a:schemeClr val="tx2"/>
              </a:solidFill>
              <a:round/>
              <a:headEnd/>
              <a:tailEnd/>
            </a:ln>
          </p:spPr>
        </p:cxnSp>
        <p:cxnSp>
          <p:nvCxnSpPr>
            <p:cNvPr id="41992" name="肘形连接符 10"/>
            <p:cNvCxnSpPr>
              <a:cxnSpLocks noChangeShapeType="1"/>
            </p:cNvCxnSpPr>
            <p:nvPr/>
          </p:nvCxnSpPr>
          <p:spPr bwMode="auto">
            <a:xfrm rot="16200000" flipH="1">
              <a:off x="3648869" y="4394994"/>
              <a:ext cx="962025" cy="446087"/>
            </a:xfrm>
            <a:prstGeom prst="bentConnector3">
              <a:avLst>
                <a:gd name="adj1" fmla="val 50000"/>
              </a:avLst>
            </a:prstGeom>
            <a:noFill/>
            <a:ln w="38100" algn="ctr">
              <a:solidFill>
                <a:schemeClr val="tx2"/>
              </a:solidFill>
              <a:round/>
              <a:headEnd/>
              <a:tailEnd/>
            </a:ln>
          </p:spPr>
        </p:cxnSp>
        <p:sp>
          <p:nvSpPr>
            <p:cNvPr id="41993" name="Text Box 33"/>
            <p:cNvSpPr txBox="1">
              <a:spLocks noChangeArrowheads="1"/>
            </p:cNvSpPr>
            <p:nvPr/>
          </p:nvSpPr>
          <p:spPr bwMode="auto">
            <a:xfrm>
              <a:off x="3000375" y="4114800"/>
              <a:ext cx="595313" cy="3381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r>
                <a:rPr lang="en-US" altLang="zh-CN" sz="160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F0/1</a:t>
              </a:r>
            </a:p>
          </p:txBody>
        </p:sp>
        <p:sp>
          <p:nvSpPr>
            <p:cNvPr id="41994" name="Text Box 33"/>
            <p:cNvSpPr txBox="1">
              <a:spLocks noChangeArrowheads="1"/>
            </p:cNvSpPr>
            <p:nvPr/>
          </p:nvSpPr>
          <p:spPr bwMode="auto">
            <a:xfrm>
              <a:off x="3857625" y="4127500"/>
              <a:ext cx="56137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r>
                <a:rPr lang="en-US" altLang="zh-CN" sz="160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F0/2</a:t>
              </a:r>
            </a:p>
          </p:txBody>
        </p:sp>
        <p:sp>
          <p:nvSpPr>
            <p:cNvPr id="41995" name="Text Box 33"/>
            <p:cNvSpPr txBox="1">
              <a:spLocks noChangeArrowheads="1"/>
            </p:cNvSpPr>
            <p:nvPr/>
          </p:nvSpPr>
          <p:spPr bwMode="auto">
            <a:xfrm>
              <a:off x="4259263" y="3589338"/>
              <a:ext cx="56137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r>
                <a:rPr lang="en-US" altLang="zh-CN" sz="160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F0/3</a:t>
              </a:r>
            </a:p>
          </p:txBody>
        </p:sp>
        <p:sp>
          <p:nvSpPr>
            <p:cNvPr id="41996" name="Text Box 33"/>
            <p:cNvSpPr txBox="1">
              <a:spLocks noChangeArrowheads="1"/>
            </p:cNvSpPr>
            <p:nvPr/>
          </p:nvSpPr>
          <p:spPr bwMode="auto">
            <a:xfrm>
              <a:off x="4129088" y="5768975"/>
              <a:ext cx="577850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PC2</a:t>
              </a:r>
            </a:p>
          </p:txBody>
        </p:sp>
        <p:sp>
          <p:nvSpPr>
            <p:cNvPr id="41997" name="Text Box 33"/>
            <p:cNvSpPr txBox="1">
              <a:spLocks noChangeArrowheads="1"/>
            </p:cNvSpPr>
            <p:nvPr/>
          </p:nvSpPr>
          <p:spPr bwMode="auto">
            <a:xfrm>
              <a:off x="2809875" y="5768975"/>
              <a:ext cx="577850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PC1</a:t>
              </a:r>
            </a:p>
          </p:txBody>
        </p:sp>
        <p:pic>
          <p:nvPicPr>
            <p:cNvPr id="41998" name="Picture 2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987800" y="5099050"/>
              <a:ext cx="730250" cy="6905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999" name="Picture 2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411788" y="3529013"/>
              <a:ext cx="730250" cy="6905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42000" name="直接连接符 31"/>
            <p:cNvCxnSpPr>
              <a:cxnSpLocks noChangeShapeType="1"/>
            </p:cNvCxnSpPr>
            <p:nvPr/>
          </p:nvCxnSpPr>
          <p:spPr bwMode="auto">
            <a:xfrm>
              <a:off x="4243388" y="3895725"/>
              <a:ext cx="1223962" cy="1588"/>
            </a:xfrm>
            <a:prstGeom prst="line">
              <a:avLst/>
            </a:prstGeom>
            <a:noFill/>
            <a:ln w="38100" algn="ctr">
              <a:solidFill>
                <a:schemeClr val="tx2"/>
              </a:solidFill>
              <a:round/>
              <a:headEnd/>
              <a:tailEnd/>
            </a:ln>
          </p:spPr>
        </p:cxnSp>
        <p:sp>
          <p:nvSpPr>
            <p:cNvPr id="42001" name="Text Box 33"/>
            <p:cNvSpPr txBox="1">
              <a:spLocks noChangeArrowheads="1"/>
            </p:cNvSpPr>
            <p:nvPr/>
          </p:nvSpPr>
          <p:spPr bwMode="auto">
            <a:xfrm>
              <a:off x="5557838" y="4149725"/>
              <a:ext cx="559769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PC3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内容占位符 6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 dirty="0">
                <a:cs typeface="Arial" charset="0"/>
              </a:rPr>
              <a:t>需求分析</a:t>
            </a:r>
            <a:endParaRPr lang="en-US" altLang="zh-CN" dirty="0">
              <a:cs typeface="Arial" charset="0"/>
            </a:endParaRPr>
          </a:p>
          <a:p>
            <a:pPr lvl="1">
              <a:spcBef>
                <a:spcPts val="675"/>
              </a:spcBef>
            </a:pPr>
            <a:r>
              <a:rPr lang="zh-CN" altLang="en-US" dirty="0">
                <a:cs typeface="Arial" charset="0"/>
              </a:rPr>
              <a:t>配置</a:t>
            </a:r>
            <a:r>
              <a:rPr lang="en-US" altLang="zh-CN" dirty="0">
                <a:cs typeface="Arial" charset="0"/>
              </a:rPr>
              <a:t>VLAN</a:t>
            </a:r>
            <a:r>
              <a:rPr lang="zh-CN" altLang="en-US" dirty="0">
                <a:cs typeface="Arial" charset="0"/>
              </a:rPr>
              <a:t>，并将交换机接口加入</a:t>
            </a:r>
            <a:r>
              <a:rPr lang="en-US" altLang="zh-CN" dirty="0">
                <a:cs typeface="Arial" charset="0"/>
              </a:rPr>
              <a:t>VLAN</a:t>
            </a:r>
          </a:p>
          <a:p>
            <a:pPr>
              <a:spcBef>
                <a:spcPts val="675"/>
              </a:spcBef>
            </a:pPr>
            <a:r>
              <a:rPr lang="zh-CN" altLang="en-US" dirty="0">
                <a:cs typeface="Arial" charset="0"/>
              </a:rPr>
              <a:t>实现思路</a:t>
            </a:r>
            <a:endParaRPr lang="en-US" altLang="zh-CN" dirty="0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 dirty="0">
                <a:cs typeface="Arial" charset="0"/>
              </a:rPr>
              <a:t>处于相同</a:t>
            </a:r>
            <a:r>
              <a:rPr lang="en-US" altLang="en-US" dirty="0">
                <a:cs typeface="Arial" charset="0"/>
              </a:rPr>
              <a:t>VLAN</a:t>
            </a:r>
            <a:r>
              <a:rPr lang="zh-CN" altLang="en-US" dirty="0">
                <a:cs typeface="Arial" charset="0"/>
              </a:rPr>
              <a:t>中的主机能够通信</a:t>
            </a:r>
            <a:endParaRPr lang="en-US" altLang="zh-CN" dirty="0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 dirty="0">
                <a:cs typeface="Arial" charset="0"/>
              </a:rPr>
              <a:t>处于不同</a:t>
            </a:r>
            <a:r>
              <a:rPr lang="en-US" altLang="en-US" dirty="0">
                <a:cs typeface="Arial" charset="0"/>
              </a:rPr>
              <a:t>VLAN</a:t>
            </a:r>
            <a:r>
              <a:rPr lang="zh-CN" altLang="en-US" dirty="0">
                <a:cs typeface="Arial" charset="0"/>
              </a:rPr>
              <a:t>中的主机不能通信</a:t>
            </a:r>
          </a:p>
          <a:p>
            <a:pPr lvl="1">
              <a:spcBef>
                <a:spcPts val="475"/>
              </a:spcBef>
            </a:pPr>
            <a:endParaRPr lang="en-US" altLang="zh-CN" dirty="0">
              <a:cs typeface="Arial" charset="0"/>
            </a:endParaRPr>
          </a:p>
          <a:p>
            <a:pPr>
              <a:spcBef>
                <a:spcPts val="675"/>
              </a:spcBef>
            </a:pPr>
            <a:r>
              <a:rPr lang="zh-CN" altLang="en-US" dirty="0">
                <a:cs typeface="Arial" charset="0"/>
              </a:rPr>
              <a:t>学员练习</a:t>
            </a:r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itchFamily="2" charset="-122"/>
              </a:rPr>
              <a:t>实验一：</a:t>
            </a:r>
            <a:r>
              <a:rPr lang="zh-CN" altLang="en-US"/>
              <a:t> 配置</a:t>
            </a:r>
            <a:r>
              <a:rPr lang="en-US" altLang="zh-CN"/>
              <a:t>VLAN2-2</a:t>
            </a:r>
            <a:endParaRPr lang="en-US" altLang="zh-CN">
              <a:latin typeface="黑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内容占位符 7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475"/>
              </a:spcBef>
            </a:pPr>
            <a:r>
              <a:rPr lang="zh-CN" altLang="en-US">
                <a:cs typeface="Arial" charset="0"/>
              </a:rPr>
              <a:t>实验环境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公司网络现状无法满足公司要求</a:t>
            </a:r>
            <a:endParaRPr lang="en-US" altLang="zh-CN">
              <a:cs typeface="Arial" charset="0"/>
            </a:endParaRPr>
          </a:p>
          <a:p>
            <a:pPr lvl="2">
              <a:spcBef>
                <a:spcPct val="0"/>
              </a:spcBef>
            </a:pPr>
            <a:r>
              <a:rPr lang="zh-CN" altLang="en-US">
                <a:cs typeface="Arial" charset="0"/>
              </a:rPr>
              <a:t>现有网中广播很多导致网速慢</a:t>
            </a:r>
            <a:endParaRPr lang="en-US" altLang="zh-CN">
              <a:cs typeface="Arial" charset="0"/>
            </a:endParaRPr>
          </a:p>
          <a:p>
            <a:pPr lvl="2">
              <a:spcBef>
                <a:spcPct val="0"/>
              </a:spcBef>
            </a:pPr>
            <a:r>
              <a:rPr lang="zh-CN" altLang="en-US">
                <a:cs typeface="Arial" charset="0"/>
              </a:rPr>
              <a:t>各部门间可以互访，存在一定安全问题</a:t>
            </a:r>
            <a:endParaRPr lang="en-US" altLang="zh-CN">
              <a:cs typeface="Arial" charset="0"/>
            </a:endParaRPr>
          </a:p>
          <a:p>
            <a:pPr>
              <a:spcBef>
                <a:spcPts val="475"/>
              </a:spcBef>
            </a:pPr>
            <a:r>
              <a:rPr lang="zh-CN" altLang="en-US">
                <a:cs typeface="Arial" charset="0"/>
              </a:rPr>
              <a:t>需求描述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使用</a:t>
            </a:r>
            <a:r>
              <a:rPr lang="en-US" altLang="zh-CN">
                <a:cs typeface="Arial" charset="0"/>
              </a:rPr>
              <a:t>VLAN</a:t>
            </a:r>
            <a:r>
              <a:rPr lang="zh-CN" altLang="en-US">
                <a:cs typeface="Arial" charset="0"/>
              </a:rPr>
              <a:t>技术从逻辑将整个网络进行划分</a:t>
            </a:r>
            <a:endParaRPr lang="en-US" altLang="zh-CN">
              <a:cs typeface="Arial" charset="0"/>
            </a:endParaRPr>
          </a:p>
          <a:p>
            <a:pPr lvl="2">
              <a:spcBef>
                <a:spcPct val="0"/>
              </a:spcBef>
            </a:pPr>
            <a:r>
              <a:rPr lang="zh-CN" altLang="en-US">
                <a:cs typeface="Arial" charset="0"/>
              </a:rPr>
              <a:t>限制广播报文，增强公司内部一定安全性</a:t>
            </a:r>
            <a:endParaRPr lang="en-US" altLang="zh-CN">
              <a:cs typeface="Arial" charset="0"/>
            </a:endParaRPr>
          </a:p>
          <a:p>
            <a:pPr>
              <a:spcBef>
                <a:spcPct val="0"/>
              </a:spcBef>
            </a:pPr>
            <a:r>
              <a:rPr lang="zh-CN" altLang="en-US">
                <a:cs typeface="Arial" charset="0"/>
              </a:rPr>
              <a:t>实现思路</a:t>
            </a:r>
            <a:endParaRPr lang="en-US" altLang="zh-CN">
              <a:cs typeface="Arial" charset="0"/>
            </a:endParaRPr>
          </a:p>
          <a:p>
            <a:pPr lvl="1">
              <a:spcBef>
                <a:spcPct val="0"/>
              </a:spcBef>
            </a:pPr>
            <a:r>
              <a:rPr lang="zh-CN" altLang="en-US">
                <a:cs typeface="Arial" charset="0"/>
              </a:rPr>
              <a:t>在交换机上划分</a:t>
            </a:r>
            <a:r>
              <a:rPr lang="en-US" altLang="zh-CN">
                <a:cs typeface="Arial" charset="0"/>
              </a:rPr>
              <a:t>VLAN</a:t>
            </a:r>
            <a:r>
              <a:rPr lang="zh-CN" altLang="en-US">
                <a:cs typeface="Arial" charset="0"/>
              </a:rPr>
              <a:t>，将端口添加到相应</a:t>
            </a:r>
            <a:r>
              <a:rPr lang="en-US" altLang="zh-CN">
                <a:cs typeface="Arial" charset="0"/>
              </a:rPr>
              <a:t>VLAN</a:t>
            </a:r>
            <a:r>
              <a:rPr lang="zh-CN" altLang="en-US">
                <a:cs typeface="Arial" charset="0"/>
              </a:rPr>
              <a:t>中</a:t>
            </a:r>
            <a:endParaRPr lang="en-US" altLang="zh-CN">
              <a:cs typeface="Arial" charset="0"/>
            </a:endParaRPr>
          </a:p>
          <a:p>
            <a:pPr lvl="1">
              <a:spcBef>
                <a:spcPct val="0"/>
              </a:spcBef>
            </a:pPr>
            <a:r>
              <a:rPr lang="zh-CN" altLang="en-US">
                <a:cs typeface="Arial" charset="0"/>
              </a:rPr>
              <a:t>配置交换机</a:t>
            </a:r>
            <a:r>
              <a:rPr lang="en-US" altLang="zh-CN">
                <a:cs typeface="Arial" charset="0"/>
              </a:rPr>
              <a:t>IP</a:t>
            </a:r>
            <a:r>
              <a:rPr lang="zh-CN" altLang="en-US">
                <a:cs typeface="Arial" charset="0"/>
              </a:rPr>
              <a:t>地址</a:t>
            </a:r>
            <a:endParaRPr lang="en-US" altLang="zh-CN">
              <a:cs typeface="Arial" charset="0"/>
            </a:endParaRPr>
          </a:p>
          <a:p>
            <a:pPr lvl="1">
              <a:spcBef>
                <a:spcPct val="0"/>
              </a:spcBef>
            </a:pPr>
            <a:r>
              <a:rPr lang="zh-CN" altLang="en-US">
                <a:cs typeface="Arial" charset="0"/>
              </a:rPr>
              <a:t>验证访问是否正常</a:t>
            </a:r>
            <a:endParaRPr lang="en-US" altLang="zh-CN">
              <a:cs typeface="Arial" charset="0"/>
            </a:endParaRPr>
          </a:p>
          <a:p>
            <a:pPr lvl="1">
              <a:spcBef>
                <a:spcPct val="0"/>
              </a:spcBef>
            </a:pPr>
            <a:endParaRPr lang="en-US" altLang="zh-CN">
              <a:cs typeface="Arial" charset="0"/>
            </a:endParaRP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itchFamily="2" charset="-122"/>
              </a:rPr>
              <a:t>实验二：配置</a:t>
            </a:r>
            <a:r>
              <a:rPr lang="en-US" altLang="zh-CN"/>
              <a:t>Trunk2-1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内容占位符 7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>
                <a:cs typeface="Arial" charset="0"/>
              </a:rPr>
              <a:t>学员练习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按照网络规划和网络拓扑进行配置</a:t>
            </a: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itchFamily="2" charset="-122"/>
              </a:rPr>
              <a:t>实验二：配置</a:t>
            </a:r>
            <a:r>
              <a:rPr lang="en-US" altLang="zh-CN"/>
              <a:t>Trunk2-2</a:t>
            </a:r>
          </a:p>
        </p:txBody>
      </p:sp>
      <p:grpSp>
        <p:nvGrpSpPr>
          <p:cNvPr id="2" name="组合 53"/>
          <p:cNvGrpSpPr>
            <a:grpSpLocks/>
          </p:cNvGrpSpPr>
          <p:nvPr/>
        </p:nvGrpSpPr>
        <p:grpSpPr bwMode="auto">
          <a:xfrm>
            <a:off x="2063750" y="2679700"/>
            <a:ext cx="7683500" cy="2076450"/>
            <a:chOff x="540087" y="2680394"/>
            <a:chExt cx="7682713" cy="2075734"/>
          </a:xfrm>
        </p:grpSpPr>
        <p:cxnSp>
          <p:nvCxnSpPr>
            <p:cNvPr id="45063" name="直接连接符 47"/>
            <p:cNvCxnSpPr>
              <a:cxnSpLocks noChangeShapeType="1"/>
            </p:cNvCxnSpPr>
            <p:nvPr/>
          </p:nvCxnSpPr>
          <p:spPr bwMode="auto">
            <a:xfrm>
              <a:off x="4830436" y="2970563"/>
              <a:ext cx="2049834" cy="2072"/>
            </a:xfrm>
            <a:prstGeom prst="line">
              <a:avLst/>
            </a:prstGeom>
            <a:noFill/>
            <a:ln w="22225" algn="ctr">
              <a:solidFill>
                <a:schemeClr val="tx2"/>
              </a:solidFill>
              <a:round/>
              <a:headEnd/>
              <a:tailEnd/>
            </a:ln>
          </p:spPr>
        </p:cxnSp>
        <p:cxnSp>
          <p:nvCxnSpPr>
            <p:cNvPr id="45064" name="直接连接符 44"/>
            <p:cNvCxnSpPr>
              <a:cxnSpLocks noChangeShapeType="1"/>
            </p:cNvCxnSpPr>
            <p:nvPr/>
          </p:nvCxnSpPr>
          <p:spPr bwMode="auto">
            <a:xfrm>
              <a:off x="2017875" y="2970563"/>
              <a:ext cx="2049833" cy="2072"/>
            </a:xfrm>
            <a:prstGeom prst="line">
              <a:avLst/>
            </a:prstGeom>
            <a:noFill/>
            <a:ln w="22225" algn="ctr">
              <a:solidFill>
                <a:schemeClr val="tx2"/>
              </a:solidFill>
              <a:round/>
              <a:headEnd/>
              <a:tailEnd/>
            </a:ln>
          </p:spPr>
        </p:cxnSp>
        <p:pic>
          <p:nvPicPr>
            <p:cNvPr id="45065" name="Picture 1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207475" y="2684539"/>
              <a:ext cx="1094350" cy="4684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5066" name="Picture 1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687515" y="2684539"/>
              <a:ext cx="1094350" cy="4684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5067" name="Picture 2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40087" y="3693910"/>
              <a:ext cx="814545" cy="7710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5068" name="Picture 2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752578" y="3685620"/>
              <a:ext cx="814544" cy="7710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5069" name="Picture 2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206664" y="3693910"/>
              <a:ext cx="812472" cy="7710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5070" name="Picture 2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7400501" y="3685620"/>
              <a:ext cx="814545" cy="7710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45071" name="肘形连接符 7"/>
            <p:cNvCxnSpPr>
              <a:cxnSpLocks noChangeShapeType="1"/>
            </p:cNvCxnSpPr>
            <p:nvPr/>
          </p:nvCxnSpPr>
          <p:spPr bwMode="auto">
            <a:xfrm rot="5400000">
              <a:off x="915234" y="3184043"/>
              <a:ext cx="540956" cy="478779"/>
            </a:xfrm>
            <a:prstGeom prst="bentConnector3">
              <a:avLst>
                <a:gd name="adj1" fmla="val 50000"/>
              </a:avLst>
            </a:prstGeom>
            <a:noFill/>
            <a:ln w="22225" algn="ctr">
              <a:solidFill>
                <a:schemeClr val="tx2"/>
              </a:solidFill>
              <a:round/>
              <a:headEnd/>
              <a:tailEnd/>
            </a:ln>
          </p:spPr>
        </p:cxnSp>
        <p:cxnSp>
          <p:nvCxnSpPr>
            <p:cNvPr id="45072" name="肘形连接符 8"/>
            <p:cNvCxnSpPr>
              <a:cxnSpLocks noChangeShapeType="1"/>
            </p:cNvCxnSpPr>
            <p:nvPr/>
          </p:nvCxnSpPr>
          <p:spPr bwMode="auto">
            <a:xfrm rot="16200000" flipH="1">
              <a:off x="1679000" y="3205806"/>
              <a:ext cx="532666" cy="426962"/>
            </a:xfrm>
            <a:prstGeom prst="bentConnector3">
              <a:avLst>
                <a:gd name="adj1" fmla="val 50000"/>
              </a:avLst>
            </a:prstGeom>
            <a:noFill/>
            <a:ln w="22225" algn="ctr">
              <a:solidFill>
                <a:schemeClr val="tx2"/>
              </a:solidFill>
              <a:round/>
              <a:headEnd/>
              <a:tailEnd/>
            </a:ln>
          </p:spPr>
        </p:cxnSp>
        <p:cxnSp>
          <p:nvCxnSpPr>
            <p:cNvPr id="45073" name="肘形连接符 9"/>
            <p:cNvCxnSpPr>
              <a:cxnSpLocks noChangeShapeType="1"/>
            </p:cNvCxnSpPr>
            <p:nvPr/>
          </p:nvCxnSpPr>
          <p:spPr bwMode="auto">
            <a:xfrm rot="5400000">
              <a:off x="6581812" y="3184043"/>
              <a:ext cx="540956" cy="478779"/>
            </a:xfrm>
            <a:prstGeom prst="bentConnector3">
              <a:avLst>
                <a:gd name="adj1" fmla="val 50000"/>
              </a:avLst>
            </a:prstGeom>
            <a:noFill/>
            <a:ln w="22225" algn="ctr">
              <a:solidFill>
                <a:schemeClr val="tx2"/>
              </a:solidFill>
              <a:round/>
              <a:headEnd/>
              <a:tailEnd/>
            </a:ln>
          </p:spPr>
        </p:cxnSp>
        <p:cxnSp>
          <p:nvCxnSpPr>
            <p:cNvPr id="45074" name="肘形连接符 10"/>
            <p:cNvCxnSpPr>
              <a:cxnSpLocks noChangeShapeType="1"/>
            </p:cNvCxnSpPr>
            <p:nvPr/>
          </p:nvCxnSpPr>
          <p:spPr bwMode="auto">
            <a:xfrm rot="16200000" flipH="1">
              <a:off x="7331068" y="3207879"/>
              <a:ext cx="524375" cy="431108"/>
            </a:xfrm>
            <a:prstGeom prst="bentConnector3">
              <a:avLst>
                <a:gd name="adj1" fmla="val 50000"/>
              </a:avLst>
            </a:prstGeom>
            <a:noFill/>
            <a:ln w="22225" algn="ctr">
              <a:solidFill>
                <a:schemeClr val="tx2"/>
              </a:solidFill>
              <a:round/>
              <a:headEnd/>
              <a:tailEnd/>
            </a:ln>
          </p:spPr>
        </p:cxnSp>
        <p:sp>
          <p:nvSpPr>
            <p:cNvPr id="45075" name="Text Box 33"/>
            <p:cNvSpPr txBox="1">
              <a:spLocks noChangeArrowheads="1"/>
            </p:cNvSpPr>
            <p:nvPr/>
          </p:nvSpPr>
          <p:spPr bwMode="auto">
            <a:xfrm>
              <a:off x="7307506" y="3104111"/>
              <a:ext cx="522893" cy="30767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r>
                <a:rPr lang="en-US" altLang="zh-CN" sz="14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F0/2</a:t>
              </a:r>
            </a:p>
          </p:txBody>
        </p:sp>
        <p:sp>
          <p:nvSpPr>
            <p:cNvPr id="45076" name="Text Box 33"/>
            <p:cNvSpPr txBox="1">
              <a:spLocks noChangeArrowheads="1"/>
            </p:cNvSpPr>
            <p:nvPr/>
          </p:nvSpPr>
          <p:spPr bwMode="auto">
            <a:xfrm>
              <a:off x="6589966" y="3113633"/>
              <a:ext cx="522893" cy="30767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r>
                <a:rPr lang="en-US" altLang="zh-CN" sz="14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F0/1</a:t>
              </a:r>
            </a:p>
          </p:txBody>
        </p:sp>
        <p:sp>
          <p:nvSpPr>
            <p:cNvPr id="45077" name="Text Box 33"/>
            <p:cNvSpPr txBox="1">
              <a:spLocks noChangeArrowheads="1"/>
            </p:cNvSpPr>
            <p:nvPr/>
          </p:nvSpPr>
          <p:spPr bwMode="auto">
            <a:xfrm>
              <a:off x="929020" y="3113633"/>
              <a:ext cx="522893" cy="30767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r>
                <a:rPr lang="en-US" altLang="zh-CN" sz="14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F0/1</a:t>
              </a:r>
            </a:p>
          </p:txBody>
        </p:sp>
        <p:sp>
          <p:nvSpPr>
            <p:cNvPr id="45078" name="Text Box 33"/>
            <p:cNvSpPr txBox="1">
              <a:spLocks noChangeArrowheads="1"/>
            </p:cNvSpPr>
            <p:nvPr/>
          </p:nvSpPr>
          <p:spPr bwMode="auto">
            <a:xfrm>
              <a:off x="1684659" y="3113633"/>
              <a:ext cx="522893" cy="30767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r>
                <a:rPr lang="en-US" altLang="zh-CN" sz="14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F0/2</a:t>
              </a:r>
            </a:p>
          </p:txBody>
        </p:sp>
        <p:sp>
          <p:nvSpPr>
            <p:cNvPr id="45079" name="Text Box 33"/>
            <p:cNvSpPr txBox="1">
              <a:spLocks noChangeArrowheads="1"/>
            </p:cNvSpPr>
            <p:nvPr/>
          </p:nvSpPr>
          <p:spPr bwMode="auto">
            <a:xfrm>
              <a:off x="635336" y="4448259"/>
              <a:ext cx="513275" cy="30767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r>
                <a:rPr lang="en-US" altLang="zh-CN" sz="14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PC1</a:t>
              </a:r>
            </a:p>
          </p:txBody>
        </p:sp>
        <p:sp>
          <p:nvSpPr>
            <p:cNvPr id="45080" name="Text Box 33"/>
            <p:cNvSpPr txBox="1">
              <a:spLocks noChangeArrowheads="1"/>
            </p:cNvSpPr>
            <p:nvPr/>
          </p:nvSpPr>
          <p:spPr bwMode="auto">
            <a:xfrm>
              <a:off x="1875156" y="4448259"/>
              <a:ext cx="533393" cy="30786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r>
                <a:rPr lang="en-US" altLang="zh-CN" sz="14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PC2</a:t>
              </a:r>
            </a:p>
          </p:txBody>
        </p:sp>
        <p:sp>
          <p:nvSpPr>
            <p:cNvPr id="45081" name="Text Box 33"/>
            <p:cNvSpPr txBox="1">
              <a:spLocks noChangeArrowheads="1"/>
            </p:cNvSpPr>
            <p:nvPr/>
          </p:nvSpPr>
          <p:spPr bwMode="auto">
            <a:xfrm>
              <a:off x="6356606" y="4448259"/>
              <a:ext cx="533393" cy="30786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r>
                <a:rPr lang="en-US" altLang="zh-CN" sz="14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PC5</a:t>
              </a:r>
            </a:p>
          </p:txBody>
        </p:sp>
        <p:sp>
          <p:nvSpPr>
            <p:cNvPr id="45082" name="Text Box 33"/>
            <p:cNvSpPr txBox="1">
              <a:spLocks noChangeArrowheads="1"/>
            </p:cNvSpPr>
            <p:nvPr/>
          </p:nvSpPr>
          <p:spPr bwMode="auto">
            <a:xfrm>
              <a:off x="7547215" y="4448259"/>
              <a:ext cx="513275" cy="30767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r>
                <a:rPr lang="en-US" altLang="zh-CN" sz="14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PC6</a:t>
              </a:r>
            </a:p>
          </p:txBody>
        </p:sp>
        <p:sp>
          <p:nvSpPr>
            <p:cNvPr id="45083" name="Text Box 33"/>
            <p:cNvSpPr txBox="1">
              <a:spLocks noChangeArrowheads="1"/>
            </p:cNvSpPr>
            <p:nvPr/>
          </p:nvSpPr>
          <p:spPr bwMode="auto">
            <a:xfrm>
              <a:off x="730584" y="2732764"/>
              <a:ext cx="553349" cy="30767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r>
                <a:rPr lang="en-US" altLang="zh-CN" sz="14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SW1</a:t>
              </a:r>
            </a:p>
          </p:txBody>
        </p:sp>
        <p:sp>
          <p:nvSpPr>
            <p:cNvPr id="45084" name="Text Box 33"/>
            <p:cNvSpPr txBox="1">
              <a:spLocks noChangeArrowheads="1"/>
            </p:cNvSpPr>
            <p:nvPr/>
          </p:nvSpPr>
          <p:spPr bwMode="auto">
            <a:xfrm>
              <a:off x="7669451" y="2732764"/>
              <a:ext cx="553349" cy="30767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r>
                <a:rPr lang="en-US" altLang="zh-CN" sz="14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SW3</a:t>
              </a:r>
            </a:p>
          </p:txBody>
        </p:sp>
        <p:pic>
          <p:nvPicPr>
            <p:cNvPr id="45085" name="Picture 1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926769" y="2680394"/>
              <a:ext cx="1094350" cy="4684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5086" name="Picture 2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394103" y="3683548"/>
              <a:ext cx="812472" cy="7710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5087" name="Picture 2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587939" y="3675257"/>
              <a:ext cx="814544" cy="7710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45088" name="肘形连接符 31"/>
            <p:cNvCxnSpPr>
              <a:cxnSpLocks noChangeShapeType="1"/>
            </p:cNvCxnSpPr>
            <p:nvPr/>
          </p:nvCxnSpPr>
          <p:spPr bwMode="auto">
            <a:xfrm rot="5400000">
              <a:off x="3769249" y="3173680"/>
              <a:ext cx="540957" cy="478777"/>
            </a:xfrm>
            <a:prstGeom prst="bentConnector3">
              <a:avLst>
                <a:gd name="adj1" fmla="val 50000"/>
              </a:avLst>
            </a:prstGeom>
            <a:noFill/>
            <a:ln w="22225" algn="ctr">
              <a:solidFill>
                <a:schemeClr val="tx2"/>
              </a:solidFill>
              <a:round/>
              <a:headEnd/>
              <a:tailEnd/>
            </a:ln>
          </p:spPr>
        </p:cxnSp>
        <p:cxnSp>
          <p:nvCxnSpPr>
            <p:cNvPr id="45089" name="肘形连接符 32"/>
            <p:cNvCxnSpPr>
              <a:cxnSpLocks noChangeShapeType="1"/>
            </p:cNvCxnSpPr>
            <p:nvPr/>
          </p:nvCxnSpPr>
          <p:spPr bwMode="auto">
            <a:xfrm rot="16200000" flipH="1">
              <a:off x="4518505" y="3197515"/>
              <a:ext cx="524376" cy="431108"/>
            </a:xfrm>
            <a:prstGeom prst="bentConnector3">
              <a:avLst>
                <a:gd name="adj1" fmla="val 50000"/>
              </a:avLst>
            </a:prstGeom>
            <a:noFill/>
            <a:ln w="22225" algn="ctr">
              <a:solidFill>
                <a:schemeClr val="tx2"/>
              </a:solidFill>
              <a:round/>
              <a:headEnd/>
              <a:tailEnd/>
            </a:ln>
          </p:spPr>
        </p:cxnSp>
        <p:sp>
          <p:nvSpPr>
            <p:cNvPr id="45090" name="Text Box 33"/>
            <p:cNvSpPr txBox="1">
              <a:spLocks noChangeArrowheads="1"/>
            </p:cNvSpPr>
            <p:nvPr/>
          </p:nvSpPr>
          <p:spPr bwMode="auto">
            <a:xfrm>
              <a:off x="4494495" y="3093002"/>
              <a:ext cx="522893" cy="30767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r>
                <a:rPr lang="en-US" altLang="zh-CN" sz="14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F0/2</a:t>
              </a:r>
            </a:p>
          </p:txBody>
        </p:sp>
        <p:sp>
          <p:nvSpPr>
            <p:cNvPr id="45091" name="Text Box 33"/>
            <p:cNvSpPr txBox="1">
              <a:spLocks noChangeArrowheads="1"/>
            </p:cNvSpPr>
            <p:nvPr/>
          </p:nvSpPr>
          <p:spPr bwMode="auto">
            <a:xfrm>
              <a:off x="3776955" y="3104111"/>
              <a:ext cx="522893" cy="30767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r>
                <a:rPr lang="en-US" altLang="zh-CN" sz="14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F0/1</a:t>
              </a:r>
            </a:p>
          </p:txBody>
        </p:sp>
        <p:sp>
          <p:nvSpPr>
            <p:cNvPr id="45092" name="Text Box 33"/>
            <p:cNvSpPr txBox="1">
              <a:spLocks noChangeArrowheads="1"/>
            </p:cNvSpPr>
            <p:nvPr/>
          </p:nvSpPr>
          <p:spPr bwMode="auto">
            <a:xfrm>
              <a:off x="3543595" y="4438737"/>
              <a:ext cx="533393" cy="30628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r>
                <a:rPr lang="en-US" altLang="zh-CN" sz="14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PC3</a:t>
              </a:r>
            </a:p>
          </p:txBody>
        </p:sp>
        <p:sp>
          <p:nvSpPr>
            <p:cNvPr id="45093" name="Text Box 33"/>
            <p:cNvSpPr txBox="1">
              <a:spLocks noChangeArrowheads="1"/>
            </p:cNvSpPr>
            <p:nvPr/>
          </p:nvSpPr>
          <p:spPr bwMode="auto">
            <a:xfrm>
              <a:off x="4735792" y="4438737"/>
              <a:ext cx="533393" cy="30628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r>
                <a:rPr lang="en-US" altLang="zh-CN" sz="14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PC4</a:t>
              </a:r>
            </a:p>
          </p:txBody>
        </p:sp>
        <p:sp>
          <p:nvSpPr>
            <p:cNvPr id="45094" name="Text Box 33"/>
            <p:cNvSpPr txBox="1">
              <a:spLocks noChangeArrowheads="1"/>
            </p:cNvSpPr>
            <p:nvPr/>
          </p:nvSpPr>
          <p:spPr bwMode="auto">
            <a:xfrm>
              <a:off x="4067463" y="2879711"/>
              <a:ext cx="553349" cy="30767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r>
                <a:rPr lang="en-US" altLang="zh-CN" sz="1400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SW2</a:t>
              </a:r>
            </a:p>
          </p:txBody>
        </p:sp>
        <p:sp>
          <p:nvSpPr>
            <p:cNvPr id="45095" name="Text Box 33"/>
            <p:cNvSpPr txBox="1">
              <a:spLocks noChangeArrowheads="1"/>
            </p:cNvSpPr>
            <p:nvPr/>
          </p:nvSpPr>
          <p:spPr bwMode="auto">
            <a:xfrm>
              <a:off x="2033904" y="2926372"/>
              <a:ext cx="612660" cy="30767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r>
                <a:rPr lang="en-US" altLang="zh-CN" sz="14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F0/14</a:t>
              </a:r>
            </a:p>
          </p:txBody>
        </p:sp>
        <p:sp>
          <p:nvSpPr>
            <p:cNvPr id="45096" name="Text Box 33"/>
            <p:cNvSpPr txBox="1">
              <a:spLocks noChangeArrowheads="1"/>
            </p:cNvSpPr>
            <p:nvPr/>
          </p:nvSpPr>
          <p:spPr bwMode="auto">
            <a:xfrm>
              <a:off x="3362623" y="2913677"/>
              <a:ext cx="612660" cy="30767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r>
                <a:rPr lang="en-US" altLang="zh-CN" sz="14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F0/14</a:t>
              </a:r>
            </a:p>
          </p:txBody>
        </p:sp>
        <p:sp>
          <p:nvSpPr>
            <p:cNvPr id="45097" name="Text Box 33"/>
            <p:cNvSpPr txBox="1">
              <a:spLocks noChangeArrowheads="1"/>
            </p:cNvSpPr>
            <p:nvPr/>
          </p:nvSpPr>
          <p:spPr bwMode="auto">
            <a:xfrm>
              <a:off x="4783416" y="2926372"/>
              <a:ext cx="612660" cy="30767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r>
                <a:rPr lang="en-US" altLang="zh-CN" sz="14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F0/15</a:t>
              </a:r>
            </a:p>
          </p:txBody>
        </p:sp>
        <p:sp>
          <p:nvSpPr>
            <p:cNvPr id="45098" name="Text Box 33"/>
            <p:cNvSpPr txBox="1">
              <a:spLocks noChangeArrowheads="1"/>
            </p:cNvSpPr>
            <p:nvPr/>
          </p:nvSpPr>
          <p:spPr bwMode="auto">
            <a:xfrm>
              <a:off x="6116898" y="2923198"/>
              <a:ext cx="612660" cy="30767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r>
                <a:rPr lang="en-US" altLang="zh-CN" sz="14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F0/15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835318-A86B-4409-944A-1726D62CC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435D2E-46A2-4568-AD7C-3760BC95C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46" y="2551193"/>
            <a:ext cx="10972440" cy="75140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4800" dirty="0"/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3404734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6608</TotalTime>
  <Words>2856</Words>
  <Application>Microsoft Office PowerPoint</Application>
  <PresentationFormat>宽屏</PresentationFormat>
  <Paragraphs>658</Paragraphs>
  <Slides>35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6" baseType="lpstr">
      <vt:lpstr>DejaVu Sans</vt:lpstr>
      <vt:lpstr>Myriad Pro</vt:lpstr>
      <vt:lpstr>仿宋_GB2312</vt:lpstr>
      <vt:lpstr>黑体</vt:lpstr>
      <vt:lpstr>楷体_GB2312</vt:lpstr>
      <vt:lpstr>微软雅黑</vt:lpstr>
      <vt:lpstr>Arial</vt:lpstr>
      <vt:lpstr>Symbol</vt:lpstr>
      <vt:lpstr>Times New Roman</vt:lpstr>
      <vt:lpstr>Wingdings</vt:lpstr>
      <vt:lpstr>Office Theme</vt:lpstr>
      <vt:lpstr>目标</vt:lpstr>
      <vt:lpstr>本章结构</vt:lpstr>
      <vt:lpstr>VLAN概述与优势</vt:lpstr>
      <vt:lpstr>VLAN的种类</vt:lpstr>
      <vt:lpstr>静态VLAN的配置2-1</vt:lpstr>
      <vt:lpstr>静态VLAN的配置2-2</vt:lpstr>
      <vt:lpstr>创建VLAN2-1</vt:lpstr>
      <vt:lpstr>创建VLAN2-2</vt:lpstr>
      <vt:lpstr>删除VLAN</vt:lpstr>
      <vt:lpstr>将端口加入VLAN</vt:lpstr>
      <vt:lpstr>验证VLAN的配置</vt:lpstr>
      <vt:lpstr>VLAN配置实例</vt:lpstr>
      <vt:lpstr>小结</vt:lpstr>
      <vt:lpstr>Trunk的作用2-1</vt:lpstr>
      <vt:lpstr>Trunk的作用2-2</vt:lpstr>
      <vt:lpstr>VLAN跨交换机通信过程</vt:lpstr>
      <vt:lpstr>VLAN的标识</vt:lpstr>
      <vt:lpstr>IEEE 802.1q</vt:lpstr>
      <vt:lpstr>Native VLAN概述</vt:lpstr>
      <vt:lpstr>Trunk的模式和协商</vt:lpstr>
      <vt:lpstr>小结</vt:lpstr>
      <vt:lpstr>Trunk的配置2-1</vt:lpstr>
      <vt:lpstr>Trunk的配置2-2</vt:lpstr>
      <vt:lpstr>Trunk配置实例3-1</vt:lpstr>
      <vt:lpstr>Trunk配置实例3-2</vt:lpstr>
      <vt:lpstr>Trunk配置实例3-3</vt:lpstr>
      <vt:lpstr>Trunk的排错</vt:lpstr>
      <vt:lpstr>配置以太网通道3-1</vt:lpstr>
      <vt:lpstr>配置以太网通道3-2</vt:lpstr>
      <vt:lpstr>配置以太网通道3-3</vt:lpstr>
      <vt:lpstr>实验一： 配置VLAN2-1</vt:lpstr>
      <vt:lpstr>实验一： 配置VLAN2-2</vt:lpstr>
      <vt:lpstr>实验二：配置Trunk2-1</vt:lpstr>
      <vt:lpstr>实验二：配置Trunk2-2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cuiyongxin</dc:creator>
  <dc:description/>
  <cp:lastModifiedBy>Jason Chen</cp:lastModifiedBy>
  <cp:revision>167</cp:revision>
  <dcterms:created xsi:type="dcterms:W3CDTF">2019-12-12T13:30:13Z</dcterms:created>
  <dcterms:modified xsi:type="dcterms:W3CDTF">2021-10-14T05:35:28Z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KSOProductBuildVer">
    <vt:lpwstr>2052-1.2.1.1575</vt:lpwstr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4</vt:i4>
  </property>
  <property fmtid="{D5CDD505-2E9C-101B-9397-08002B2CF9AE}" pid="9" name="PresentationFormat">
    <vt:lpwstr>宽屏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24</vt:i4>
  </property>
</Properties>
</file>