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6"/>
  </p:notesMasterIdLst>
  <p:sldIdLst>
    <p:sldId id="602" r:id="rId2"/>
    <p:sldId id="603" r:id="rId3"/>
    <p:sldId id="604" r:id="rId4"/>
    <p:sldId id="605" r:id="rId5"/>
    <p:sldId id="606" r:id="rId6"/>
    <p:sldId id="607" r:id="rId7"/>
    <p:sldId id="608" r:id="rId8"/>
    <p:sldId id="609" r:id="rId9"/>
    <p:sldId id="610" r:id="rId10"/>
    <p:sldId id="611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20" r:id="rId20"/>
    <p:sldId id="621" r:id="rId21"/>
    <p:sldId id="622" r:id="rId22"/>
    <p:sldId id="623" r:id="rId23"/>
    <p:sldId id="624" r:id="rId24"/>
    <p:sldId id="625" r:id="rId25"/>
    <p:sldId id="626" r:id="rId26"/>
    <p:sldId id="627" r:id="rId27"/>
    <p:sldId id="628" r:id="rId28"/>
    <p:sldId id="629" r:id="rId29"/>
    <p:sldId id="487" r:id="rId30"/>
    <p:sldId id="630" r:id="rId31"/>
    <p:sldId id="631" r:id="rId32"/>
    <p:sldId id="632" r:id="rId33"/>
    <p:sldId id="635" r:id="rId34"/>
    <p:sldId id="29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66" d="100"/>
          <a:sy n="66" d="100"/>
        </p:scale>
        <p:origin x="6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2DF31B-7817-430E-99AC-D2EF3F16E4A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1"/>
            <a:r>
              <a:rPr lang="zh-CN" altLang="en-US">
                <a:ea typeface="宋体" charset="-122"/>
              </a:rPr>
              <a:t>本章从介绍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技术出现的背景开始，讲解了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技术的工作原理以及一些相关概念和术语。</a:t>
            </a:r>
          </a:p>
          <a:p>
            <a:pPr marL="0" lvl="1"/>
            <a:r>
              <a:rPr lang="zh-CN" altLang="en-US">
                <a:ea typeface="宋体" charset="-122"/>
              </a:rPr>
              <a:t>首先，明确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出现的背景和作用：</a:t>
            </a:r>
            <a:endParaRPr lang="en-US" altLang="zh-CN">
              <a:ea typeface="宋体" charset="-122"/>
            </a:endParaRPr>
          </a:p>
          <a:p>
            <a:pPr marL="0" lvl="1"/>
            <a:r>
              <a:rPr lang="en-US" altLang="zh-CN">
                <a:ea typeface="宋体" charset="-122"/>
              </a:rPr>
              <a:t>1</a:t>
            </a:r>
            <a:r>
              <a:rPr lang="zh-CN" altLang="en-US">
                <a:ea typeface="宋体" charset="-122"/>
              </a:rPr>
              <a:t>、合法的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地址资源日益短缺</a:t>
            </a:r>
          </a:p>
          <a:p>
            <a:pPr marL="0" lvl="1"/>
            <a:r>
              <a:rPr lang="en-US" altLang="zh-CN">
                <a:ea typeface="宋体" charset="-122"/>
              </a:rPr>
              <a:t>2</a:t>
            </a:r>
            <a:r>
              <a:rPr lang="zh-CN" altLang="en-US">
                <a:ea typeface="宋体" charset="-122"/>
              </a:rPr>
              <a:t>、一个局域网内部有很多台主机，但不是每台主机都有合法的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地址，为了使所有内部主机都可以连接因特网，需要使用地址转换</a:t>
            </a:r>
          </a:p>
          <a:p>
            <a:pPr marL="0" lvl="1"/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、地址转换技术可以有效地隐藏内部局域网中的主机，具有一定的网络安全保护作用</a:t>
            </a:r>
          </a:p>
          <a:p>
            <a:pPr marL="0" lvl="1"/>
            <a:r>
              <a:rPr lang="en-US" altLang="zh-CN">
                <a:ea typeface="宋体" charset="-122"/>
              </a:rPr>
              <a:t>4</a:t>
            </a:r>
            <a:r>
              <a:rPr lang="zh-CN" altLang="en-US">
                <a:ea typeface="宋体" charset="-122"/>
              </a:rPr>
              <a:t>、地址转换可以在局域网内部提供给外部</a:t>
            </a:r>
            <a:r>
              <a:rPr lang="en-US" altLang="zh-CN">
                <a:ea typeface="宋体" charset="-122"/>
              </a:rPr>
              <a:t>FTP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WWW</a:t>
            </a:r>
            <a:r>
              <a:rPr lang="zh-CN" altLang="en-US">
                <a:ea typeface="宋体" charset="-122"/>
              </a:rPr>
              <a:t>、</a:t>
            </a:r>
            <a:r>
              <a:rPr lang="en-US" altLang="zh-CN">
                <a:ea typeface="宋体" charset="-122"/>
              </a:rPr>
              <a:t>Telnet</a:t>
            </a:r>
            <a:r>
              <a:rPr lang="zh-CN" altLang="en-US">
                <a:ea typeface="宋体" charset="-122"/>
              </a:rPr>
              <a:t>服务</a:t>
            </a:r>
            <a:endParaRPr lang="en-US" altLang="zh-CN">
              <a:ea typeface="宋体" charset="-122"/>
            </a:endParaRPr>
          </a:p>
          <a:p>
            <a:pPr marL="0" lvl="1"/>
            <a:endParaRPr lang="en-US" altLang="zh-CN">
              <a:ea typeface="宋体" charset="-122"/>
            </a:endParaRPr>
          </a:p>
          <a:p>
            <a:pPr marL="0" lvl="1"/>
            <a:r>
              <a:rPr lang="zh-CN" altLang="en-US">
                <a:ea typeface="宋体" charset="-122"/>
              </a:rPr>
              <a:t>然后，概括介绍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技术的工作情况，简要说明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的工作原理。</a:t>
            </a:r>
            <a:endParaRPr lang="en-US" altLang="zh-CN">
              <a:ea typeface="宋体" charset="-122"/>
            </a:endParaRPr>
          </a:p>
          <a:p>
            <a:pPr marL="0" lvl="1"/>
            <a:r>
              <a:rPr lang="zh-CN" altLang="en-US">
                <a:ea typeface="宋体" charset="-122"/>
              </a:rPr>
              <a:t>最后，结合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工作原理，讲述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的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种实现方式，简单介绍工作原理和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种方式的不同点，为后面详细介绍工作原理和配置做铺垫。此处需要讲解清楚这三种转换一般使用的地方，是否节约了</a:t>
            </a:r>
            <a:r>
              <a:rPr lang="en-US" altLang="zh-CN">
                <a:ea typeface="宋体" charset="-122"/>
              </a:rPr>
              <a:t>IP</a:t>
            </a:r>
            <a:r>
              <a:rPr lang="zh-CN" altLang="en-US">
                <a:ea typeface="宋体" charset="-122"/>
              </a:rPr>
              <a:t>地址等。</a:t>
            </a:r>
            <a:endParaRPr lang="en-US" altLang="zh-CN">
              <a:ea typeface="宋体" charset="-122"/>
            </a:endParaRPr>
          </a:p>
          <a:p>
            <a:pPr marL="0" lvl="1"/>
            <a:endParaRPr lang="zh-CN" altLang="en-US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5966C7-503A-4FC8-94F7-AFEF82A532C4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7788" y="727075"/>
            <a:ext cx="6702425" cy="37703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外部局部地址简单了解即可。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A31630-8DEA-4861-955E-B635A45FECB6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强调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不支持的应用  如：</a:t>
            </a:r>
            <a:r>
              <a:rPr lang="en-US" altLang="zh-CN">
                <a:ea typeface="宋体" charset="-122"/>
              </a:rPr>
              <a:t>SNMP</a:t>
            </a:r>
            <a:r>
              <a:rPr lang="zh-CN" altLang="en-US">
                <a:ea typeface="宋体" charset="-122"/>
              </a:rPr>
              <a:t>协议等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785AC5-A5B5-468D-816D-64B28ABFCD85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B20B75-30F5-4497-82AA-37B4E219A9F6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介绍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端口映射，明确</a:t>
            </a:r>
            <a:r>
              <a:rPr lang="en-US" altLang="zh-CN">
                <a:ea typeface="宋体" charset="-122"/>
              </a:rPr>
              <a:t>NAT</a:t>
            </a:r>
            <a:r>
              <a:rPr lang="zh-CN" altLang="en-US">
                <a:ea typeface="宋体" charset="-122"/>
              </a:rPr>
              <a:t>端口转换的作用和意义，明确</a:t>
            </a:r>
            <a:r>
              <a:rPr lang="en-US" altLang="zh-CN">
                <a:ea typeface="宋体" charset="-122"/>
              </a:rPr>
              <a:t>extendable</a:t>
            </a:r>
            <a:r>
              <a:rPr lang="zh-CN" altLang="en-US">
                <a:ea typeface="宋体" charset="-122"/>
              </a:rPr>
              <a:t>参数的作用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8A7B64-CFB1-49D8-87D6-D67D5FC56909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AFBD43-EADC-458E-A6EF-2D587D54D30E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0C2665-D690-4DB4-9143-6989C222B8D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01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FB4DA5F-BE78-442B-B701-814EA2CEBC85}" type="slidenum">
              <a:rPr lang="en-US" altLang="zh-CN" sz="1200">
                <a:ea typeface="宋体" charset="-122"/>
              </a:rPr>
              <a:pPr algn="r"/>
              <a:t>30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92D4E0-F0FF-4411-8179-9468DD2FD7B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1392479-423B-4EDA-A78C-E2E6CBF4DE66}" type="slidenum">
              <a:rPr lang="en-US" altLang="zh-CN" sz="1200">
                <a:ea typeface="宋体" charset="-122"/>
              </a:rPr>
              <a:pPr algn="r"/>
              <a:t>31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92D4E0-F0FF-4411-8179-9468DD2FD7B3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1392479-423B-4EDA-A78C-E2E6CBF4DE66}" type="slidenum">
              <a:rPr lang="en-US" altLang="zh-CN" sz="1200">
                <a:ea typeface="宋体" charset="-122"/>
              </a:rPr>
              <a:pPr algn="r"/>
              <a:t>32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92D4E0-F0FF-4411-8179-9468DD2FD7B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1392479-423B-4EDA-A78C-E2E6CBF4DE66}" type="slidenum">
              <a:rPr lang="en-US" altLang="zh-CN" sz="1200">
                <a:ea typeface="宋体" charset="-122"/>
              </a:rPr>
              <a:pPr algn="r"/>
              <a:t>33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34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2021/10/14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wmf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wmf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wmf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wmf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wmf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wmf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理解</a:t>
            </a:r>
            <a:r>
              <a:rPr lang="en-US" altLang="zh-CN" dirty="0"/>
              <a:t>NAT</a:t>
            </a:r>
            <a:r>
              <a:rPr lang="zh-CN" altLang="en-US" dirty="0"/>
              <a:t>的实现方式</a:t>
            </a:r>
            <a:endParaRPr lang="zh-CN" altLang="en-US" i="1" dirty="0"/>
          </a:p>
          <a:p>
            <a:pPr>
              <a:spcBef>
                <a:spcPts val="675"/>
              </a:spcBef>
            </a:pPr>
            <a:r>
              <a:rPr lang="zh-CN" altLang="en-US" dirty="0"/>
              <a:t>理解</a:t>
            </a:r>
            <a:r>
              <a:rPr lang="en-US" altLang="zh-CN" dirty="0"/>
              <a:t>NAT</a:t>
            </a:r>
            <a:r>
              <a:rPr lang="zh-CN" altLang="en-US" dirty="0"/>
              <a:t>的工作过程</a:t>
            </a:r>
            <a:endParaRPr lang="zh-CN" altLang="en-US" i="1" dirty="0"/>
          </a:p>
          <a:p>
            <a:pPr>
              <a:spcBef>
                <a:spcPts val="675"/>
              </a:spcBef>
            </a:pPr>
            <a:r>
              <a:rPr lang="zh-CN" altLang="en-US" dirty="0"/>
              <a:t>会配置</a:t>
            </a:r>
            <a:r>
              <a:rPr lang="en-US" altLang="zh-CN" dirty="0"/>
              <a:t>NAT</a:t>
            </a:r>
            <a:endParaRPr lang="zh-CN" altLang="en-US" i="1" dirty="0"/>
          </a:p>
          <a:p>
            <a:pPr>
              <a:spcBef>
                <a:spcPts val="675"/>
              </a:spcBef>
            </a:pPr>
            <a:r>
              <a:rPr lang="zh-CN" altLang="en-US" dirty="0"/>
              <a:t>会分析并排查各类</a:t>
            </a:r>
            <a:r>
              <a:rPr lang="en-US" altLang="zh-CN" dirty="0"/>
              <a:t>NAT</a:t>
            </a:r>
            <a:r>
              <a:rPr lang="zh-CN" altLang="en-US" dirty="0"/>
              <a:t>故障</a:t>
            </a:r>
            <a:endParaRPr lang="zh-CN" altLang="en-US" i="1" dirty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目标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ine 25"/>
          <p:cNvSpPr>
            <a:spLocks noChangeShapeType="1"/>
          </p:cNvSpPr>
          <p:nvPr/>
        </p:nvSpPr>
        <p:spPr bwMode="auto">
          <a:xfrm flipV="1">
            <a:off x="4238625" y="5357814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cxnSp>
        <p:nvCxnSpPr>
          <p:cNvPr id="49" name="直接连接符 48"/>
          <p:cNvCxnSpPr/>
          <p:nvPr/>
        </p:nvCxnSpPr>
        <p:spPr bwMode="auto">
          <a:xfrm rot="16200000" flipH="1">
            <a:off x="5453063" y="785813"/>
            <a:ext cx="1588" cy="24304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2290" name="Line 25"/>
          <p:cNvSpPr>
            <a:spLocks noChangeShapeType="1"/>
          </p:cNvSpPr>
          <p:nvPr/>
        </p:nvSpPr>
        <p:spPr bwMode="auto">
          <a:xfrm flipV="1">
            <a:off x="6680201" y="3795714"/>
            <a:ext cx="360363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3" name="Line 25"/>
          <p:cNvSpPr>
            <a:spLocks noChangeShapeType="1"/>
          </p:cNvSpPr>
          <p:nvPr/>
        </p:nvSpPr>
        <p:spPr bwMode="auto">
          <a:xfrm flipV="1">
            <a:off x="6648450" y="2225675"/>
            <a:ext cx="431800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656389" y="1285875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5" name="Line 16"/>
          <p:cNvSpPr>
            <a:spLocks noChangeShapeType="1"/>
          </p:cNvSpPr>
          <p:nvPr/>
        </p:nvSpPr>
        <p:spPr bwMode="auto">
          <a:xfrm>
            <a:off x="6664326" y="2714625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6" name="Line 26"/>
          <p:cNvSpPr>
            <a:spLocks noChangeShapeType="1"/>
          </p:cNvSpPr>
          <p:nvPr/>
        </p:nvSpPr>
        <p:spPr bwMode="auto">
          <a:xfrm flipV="1">
            <a:off x="6678613" y="3306764"/>
            <a:ext cx="349250" cy="31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7" name="Line 25"/>
          <p:cNvSpPr>
            <a:spLocks noChangeShapeType="1"/>
          </p:cNvSpPr>
          <p:nvPr/>
        </p:nvSpPr>
        <p:spPr bwMode="auto">
          <a:xfrm flipV="1">
            <a:off x="6667501" y="4246563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>
            <a:off x="4238626" y="4000500"/>
            <a:ext cx="24288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6825" y="3632200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0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本章结构</a:t>
            </a:r>
          </a:p>
        </p:txBody>
      </p:sp>
      <p:sp>
        <p:nvSpPr>
          <p:cNvPr id="12303" name="AutoShape 5"/>
          <p:cNvSpPr>
            <a:spLocks noChangeArrowheads="1"/>
          </p:cNvSpPr>
          <p:nvPr/>
        </p:nvSpPr>
        <p:spPr bwMode="auto">
          <a:xfrm>
            <a:off x="4492626" y="3840248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的配置</a:t>
            </a:r>
          </a:p>
        </p:txBody>
      </p:sp>
      <p:sp>
        <p:nvSpPr>
          <p:cNvPr id="12305" name="AutoShape 11"/>
          <p:cNvSpPr>
            <a:spLocks noChangeArrowheads="1"/>
          </p:cNvSpPr>
          <p:nvPr/>
        </p:nvSpPr>
        <p:spPr bwMode="auto">
          <a:xfrm>
            <a:off x="6988175" y="2028842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实现方法的工作过程</a:t>
            </a:r>
          </a:p>
        </p:txBody>
      </p:sp>
      <p:sp>
        <p:nvSpPr>
          <p:cNvPr id="12308" name="AutoShape 18"/>
          <p:cNvSpPr>
            <a:spLocks noChangeArrowheads="1"/>
          </p:cNvSpPr>
          <p:nvPr/>
        </p:nvSpPr>
        <p:spPr bwMode="auto">
          <a:xfrm>
            <a:off x="6988175" y="2500307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的特性</a:t>
            </a:r>
          </a:p>
        </p:txBody>
      </p:sp>
      <p:sp>
        <p:nvSpPr>
          <p:cNvPr id="12309" name="AutoShape 27"/>
          <p:cNvSpPr>
            <a:spLocks noChangeArrowheads="1"/>
          </p:cNvSpPr>
          <p:nvPr/>
        </p:nvSpPr>
        <p:spPr bwMode="auto">
          <a:xfrm>
            <a:off x="6992422" y="3593205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动态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0" name="AutoShape 28"/>
          <p:cNvSpPr>
            <a:spLocks noChangeArrowheads="1"/>
          </p:cNvSpPr>
          <p:nvPr/>
        </p:nvSpPr>
        <p:spPr bwMode="auto">
          <a:xfrm>
            <a:off x="6988175" y="3143249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静态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NAT</a:t>
            </a:r>
            <a:endParaRPr lang="zh-CN" altLang="en-US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36738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网络地址转换（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12312" name="AutoShape 27"/>
          <p:cNvSpPr>
            <a:spLocks noChangeArrowheads="1"/>
          </p:cNvSpPr>
          <p:nvPr/>
        </p:nvSpPr>
        <p:spPr bwMode="auto">
          <a:xfrm>
            <a:off x="6992421" y="4047230"/>
            <a:ext cx="2675480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PAT</a:t>
            </a:r>
            <a:endParaRPr lang="zh-CN" altLang="en-US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>
            <a:off x="4238625" y="2000251"/>
            <a:ext cx="0" cy="335756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5" name="Line 37"/>
          <p:cNvSpPr>
            <a:spLocks noChangeShapeType="1"/>
          </p:cNvSpPr>
          <p:nvPr/>
        </p:nvSpPr>
        <p:spPr bwMode="auto">
          <a:xfrm>
            <a:off x="6667500" y="3298825"/>
            <a:ext cx="0" cy="142875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6988175" y="1122364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的概念与实现方式</a:t>
            </a:r>
          </a:p>
        </p:txBody>
      </p:sp>
      <p:sp>
        <p:nvSpPr>
          <p:cNvPr id="12319" name="AutoShape 5"/>
          <p:cNvSpPr>
            <a:spLocks noChangeArrowheads="1"/>
          </p:cNvSpPr>
          <p:nvPr/>
        </p:nvSpPr>
        <p:spPr bwMode="auto">
          <a:xfrm>
            <a:off x="4485201" y="5154271"/>
            <a:ext cx="2000263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的故障处理</a:t>
            </a:r>
          </a:p>
        </p:txBody>
      </p: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857364"/>
            <a:ext cx="1971675" cy="37465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概述</a:t>
            </a:r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667501" y="4711700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6992042" y="4557038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验证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的配置</a:t>
            </a:r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 flipV="1">
            <a:off x="6664325" y="1714500"/>
            <a:ext cx="431800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6988175" y="157162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的术语与转换表</a:t>
            </a:r>
          </a:p>
        </p:txBody>
      </p:sp>
      <p:cxnSp>
        <p:nvCxnSpPr>
          <p:cNvPr id="38" name="直接连接符 37"/>
          <p:cNvCxnSpPr/>
          <p:nvPr/>
        </p:nvCxnSpPr>
        <p:spPr bwMode="auto">
          <a:xfrm rot="5400000">
            <a:off x="5953125" y="2000250"/>
            <a:ext cx="142875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4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0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3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6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9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3" grpId="0" animBg="1"/>
      <p:bldP spid="12305" grpId="0" animBg="1"/>
      <p:bldP spid="12308" grpId="0" animBg="1"/>
      <p:bldP spid="12309" grpId="0" animBg="1"/>
      <p:bldP spid="12310" grpId="0" animBg="1"/>
      <p:bldP spid="12311" grpId="0" animBg="1"/>
      <p:bldP spid="12312" grpId="0" animBg="1"/>
      <p:bldP spid="12317" grpId="0" animBg="1"/>
      <p:bldP spid="12319" grpId="0" animBg="1"/>
      <p:bldP spid="12320" grpId="0" animBg="1"/>
      <p:bldP spid="43" grpId="0" animBg="1"/>
      <p:bldP spid="123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地址转换出现的背景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的工作原理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Network Address Translation</a:t>
            </a:r>
            <a:r>
              <a:rPr lang="zh-CN" altLang="en-US">
                <a:cs typeface="Arial" charset="0"/>
              </a:rPr>
              <a:t>，网络地址转换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实现方式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静态转换（</a:t>
            </a:r>
            <a:r>
              <a:rPr lang="en-US" altLang="zh-CN">
                <a:cs typeface="Arial" charset="0"/>
              </a:rPr>
              <a:t>Static Translation</a:t>
            </a:r>
            <a:r>
              <a:rPr lang="zh-CN" altLang="en-US">
                <a:cs typeface="Arial" charset="0"/>
              </a:rPr>
              <a:t>）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动态转换（</a:t>
            </a:r>
            <a:r>
              <a:rPr lang="en-US" altLang="zh-CN">
                <a:cs typeface="Arial" charset="0"/>
              </a:rPr>
              <a:t>Dynamic Translation</a:t>
            </a:r>
            <a:r>
              <a:rPr lang="zh-CN" altLang="en-US">
                <a:cs typeface="Arial" charset="0"/>
              </a:rPr>
              <a:t>）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端口多路复用（</a:t>
            </a:r>
            <a:r>
              <a:rPr lang="en-US" altLang="zh-CN">
                <a:cs typeface="Arial" charset="0"/>
              </a:rPr>
              <a:t>Port Address Translation</a:t>
            </a:r>
            <a:r>
              <a:rPr lang="zh-CN" altLang="en-US">
                <a:cs typeface="Arial" charset="0"/>
              </a:rPr>
              <a:t>，</a:t>
            </a:r>
            <a:r>
              <a:rPr lang="en-US" altLang="zh-CN">
                <a:cs typeface="Arial" charset="0"/>
              </a:rPr>
              <a:t>PAT</a:t>
            </a:r>
            <a:r>
              <a:rPr lang="zh-CN" altLang="en-US">
                <a:cs typeface="Arial" charset="0"/>
              </a:rPr>
              <a:t>）</a:t>
            </a:r>
          </a:p>
          <a:p>
            <a:pPr>
              <a:spcBef>
                <a:spcPts val="675"/>
              </a:spcBef>
            </a:pPr>
            <a:endParaRPr lang="en-US" altLang="zh-CN"/>
          </a:p>
        </p:txBody>
      </p:sp>
      <p:sp>
        <p:nvSpPr>
          <p:cNvPr id="11267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NAT</a:t>
            </a:r>
            <a:r>
              <a:rPr lang="zh-CN" altLang="en-US"/>
              <a:t>概述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500063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包含</a:t>
            </a:r>
            <a:r>
              <a:rPr lang="en-US" altLang="zh-CN">
                <a:cs typeface="Arial" charset="0"/>
              </a:rPr>
              <a:t>4</a:t>
            </a:r>
            <a:r>
              <a:rPr lang="zh-CN" altLang="en-US">
                <a:cs typeface="Arial" charset="0"/>
              </a:rPr>
              <a:t>类地址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en-US" altLang="zh-CN"/>
              <a:t>NAT</a:t>
            </a:r>
            <a:r>
              <a:rPr lang="zh-CN" altLang="en-US"/>
              <a:t>的转换条目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简单转换条目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扩展转换条目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229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NAT</a:t>
            </a:r>
            <a:r>
              <a:rPr lang="zh-CN" altLang="en-US"/>
              <a:t>的术语与转换表</a:t>
            </a:r>
          </a:p>
        </p:txBody>
      </p:sp>
      <p:grpSp>
        <p:nvGrpSpPr>
          <p:cNvPr id="3" name="组合 62"/>
          <p:cNvGrpSpPr>
            <a:grpSpLocks/>
          </p:cNvGrpSpPr>
          <p:nvPr/>
        </p:nvGrpSpPr>
        <p:grpSpPr bwMode="auto">
          <a:xfrm>
            <a:off x="1524001" y="1928814"/>
            <a:ext cx="8836025" cy="2809875"/>
            <a:chOff x="1116013" y="2663825"/>
            <a:chExt cx="6480175" cy="2060575"/>
          </a:xfrm>
        </p:grpSpPr>
        <p:pic>
          <p:nvPicPr>
            <p:cNvPr id="12297" name="Picture 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32225" y="3497263"/>
              <a:ext cx="833438" cy="45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936973" y="3743007"/>
              <a:ext cx="598421" cy="2491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NAT</a:t>
              </a:r>
            </a:p>
          </p:txBody>
        </p:sp>
        <p:pic>
          <p:nvPicPr>
            <p:cNvPr id="12299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33793" y="3428366"/>
              <a:ext cx="685809" cy="60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2300" name="AutoShape 7"/>
            <p:cNvCxnSpPr>
              <a:cxnSpLocks noChangeShapeType="1"/>
            </p:cNvCxnSpPr>
            <p:nvPr/>
          </p:nvCxnSpPr>
          <p:spPr bwMode="auto">
            <a:xfrm>
              <a:off x="2233613" y="3724275"/>
              <a:ext cx="1598612" cy="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2301" name="AutoShape 8"/>
            <p:cNvCxnSpPr>
              <a:cxnSpLocks noChangeShapeType="1"/>
            </p:cNvCxnSpPr>
            <p:nvPr/>
          </p:nvCxnSpPr>
          <p:spPr bwMode="auto">
            <a:xfrm>
              <a:off x="4665663" y="3724275"/>
              <a:ext cx="1557585" cy="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12302" name="Picture 9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157490" y="3386775"/>
              <a:ext cx="1336971" cy="6768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3" name="Picture 10" descr="black_server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281184" y="3203575"/>
              <a:ext cx="463550" cy="40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4" name="Picture 11" descr="black_server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629271" y="3868742"/>
              <a:ext cx="463550" cy="40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5" name="Picture 12" descr="black_server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027863" y="3244959"/>
              <a:ext cx="463550" cy="409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6509950" y="3612620"/>
              <a:ext cx="728816" cy="2491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1116013" y="3376295"/>
              <a:ext cx="594928" cy="2491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PC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1259215" y="4051512"/>
              <a:ext cx="927901" cy="24796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192.168.1.2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249901" y="2702242"/>
              <a:ext cx="2847738" cy="2022158"/>
            </a:xfrm>
            <a:prstGeom prst="rect">
              <a:avLst/>
            </a:prstGeom>
            <a:noFill/>
            <a:ln w="19050" algn="ctr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389864" y="2702242"/>
              <a:ext cx="3206324" cy="2022158"/>
            </a:xfrm>
            <a:prstGeom prst="rect">
              <a:avLst/>
            </a:prstGeom>
            <a:noFill/>
            <a:ln w="19050" algn="ctr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AutoShape 18"/>
            <p:cNvSpPr>
              <a:spLocks noChangeArrowheads="1"/>
            </p:cNvSpPr>
            <p:nvPr/>
          </p:nvSpPr>
          <p:spPr bwMode="auto">
            <a:xfrm>
              <a:off x="3911360" y="3068955"/>
              <a:ext cx="684575" cy="307340"/>
            </a:xfrm>
            <a:prstGeom prst="rightArrow">
              <a:avLst>
                <a:gd name="adj1" fmla="val 49861"/>
                <a:gd name="adj2" fmla="val 55613"/>
              </a:avLst>
            </a:prstGeom>
            <a:gradFill rotWithShape="1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12700" cap="rnd" algn="ctr">
              <a:solidFill>
                <a:srgbClr val="3399FF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AutoShape 19"/>
            <p:cNvSpPr>
              <a:spLocks noChangeArrowheads="1"/>
            </p:cNvSpPr>
            <p:nvPr/>
          </p:nvSpPr>
          <p:spPr bwMode="auto">
            <a:xfrm flipH="1">
              <a:off x="3892732" y="4171420"/>
              <a:ext cx="668275" cy="307340"/>
            </a:xfrm>
            <a:prstGeom prst="rightArrow">
              <a:avLst>
                <a:gd name="adj1" fmla="val 49861"/>
                <a:gd name="adj2" fmla="val 54604"/>
              </a:avLst>
            </a:prstGeom>
            <a:gradFill rotWithShape="1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12700" cap="rnd" algn="ctr">
              <a:solidFill>
                <a:srgbClr val="3399FF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261628" y="4357687"/>
              <a:ext cx="1600834" cy="221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fontAlgn="ctr">
                <a:defRPr/>
              </a:pPr>
              <a:r>
                <a:rPr lang="zh-CN" altLang="en-US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目的</a:t>
              </a: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IP= 192.168.1.2</a:t>
              </a: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261628" y="4138824"/>
              <a:ext cx="1600834" cy="21886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fontAlgn="ctr">
                <a:defRPr/>
              </a:pPr>
              <a:r>
                <a:rPr lang="zh-CN" altLang="en-US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源</a:t>
              </a: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IP= 203.51.23.55</a:t>
              </a: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261628" y="3917632"/>
              <a:ext cx="1600834" cy="221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fontAlgn="ctr"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经过路由器后的包</a:t>
              </a: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261628" y="3917632"/>
              <a:ext cx="1600834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261628" y="4578879"/>
              <a:ext cx="1600834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2261628" y="4357687"/>
              <a:ext cx="160083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2261628" y="4138824"/>
              <a:ext cx="160083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2261628" y="3917632"/>
              <a:ext cx="0" cy="661247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3862462" y="3917632"/>
              <a:ext cx="0" cy="661247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2263956" y="3326235"/>
              <a:ext cx="1589192" cy="2235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fontAlgn="ctr">
                <a:defRPr/>
              </a:pPr>
              <a:r>
                <a:rPr lang="zh-CN" altLang="en-US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目的</a:t>
              </a: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IP=203.51.23.55</a:t>
              </a: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263956" y="3105044"/>
              <a:ext cx="1589192" cy="221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fontAlgn="ctr">
                <a:defRPr/>
              </a:pPr>
              <a:r>
                <a:rPr lang="zh-CN" altLang="en-US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源</a:t>
              </a: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IP=192.168.1.2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2263956" y="2886180"/>
              <a:ext cx="1589192" cy="21886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fontAlgn="ctr">
                <a:defRPr/>
              </a:pP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PC</a:t>
              </a:r>
              <a:r>
                <a:rPr lang="zh-CN" altLang="en-US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访问服务器的包</a:t>
              </a: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263956" y="2886180"/>
              <a:ext cx="1589192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2263956" y="3549755"/>
              <a:ext cx="1589192" cy="0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2263956" y="3326235"/>
              <a:ext cx="1589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2263956" y="3105044"/>
              <a:ext cx="1589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2263956" y="2886180"/>
              <a:ext cx="0" cy="663575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3853148" y="2886180"/>
              <a:ext cx="0" cy="663575"/>
            </a:xfrm>
            <a:prstGeom prst="line">
              <a:avLst/>
            </a:prstGeom>
            <a:noFill/>
            <a:ln w="9525" cap="sq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 anchorCtr="1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" name="Group 38"/>
            <p:cNvGrpSpPr>
              <a:grpSpLocks/>
            </p:cNvGrpSpPr>
            <p:nvPr/>
          </p:nvGrpSpPr>
          <p:grpSpPr bwMode="auto">
            <a:xfrm>
              <a:off x="4672014" y="3919544"/>
              <a:ext cx="1557283" cy="673101"/>
              <a:chOff x="2943" y="2469"/>
              <a:chExt cx="1016" cy="424"/>
            </a:xfrm>
          </p:grpSpPr>
          <p:sp>
            <p:nvSpPr>
              <p:cNvPr id="55" name="Rectangle 39"/>
              <p:cNvSpPr>
                <a:spLocks noChangeArrowheads="1"/>
              </p:cNvSpPr>
              <p:nvPr/>
            </p:nvSpPr>
            <p:spPr bwMode="auto">
              <a:xfrm>
                <a:off x="2943" y="2746"/>
                <a:ext cx="1016" cy="14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marL="342900" indent="-342900" fontAlgn="ctr">
                  <a:defRPr/>
                </a:pPr>
                <a:r>
                  <a:rPr lang="zh-CN" altLang="en-US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目的</a:t>
                </a:r>
                <a:r>
                  <a:rPr lang="en-US" altLang="zh-CN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IP=125.25.65.3</a:t>
                </a:r>
              </a:p>
            </p:txBody>
          </p:sp>
          <p:sp>
            <p:nvSpPr>
              <p:cNvPr id="56" name="Rectangle 40"/>
              <p:cNvSpPr>
                <a:spLocks noChangeArrowheads="1"/>
              </p:cNvSpPr>
              <p:nvPr/>
            </p:nvSpPr>
            <p:spPr bwMode="auto">
              <a:xfrm>
                <a:off x="2943" y="2607"/>
                <a:ext cx="1016" cy="13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marL="342900" indent="-342900" fontAlgn="ctr">
                  <a:defRPr/>
                </a:pPr>
                <a:r>
                  <a:rPr lang="zh-CN" altLang="en-US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源</a:t>
                </a:r>
                <a:r>
                  <a:rPr lang="en-US" altLang="zh-CN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IP=203.51.23.55</a:t>
                </a:r>
              </a:p>
            </p:txBody>
          </p:sp>
          <p:sp>
            <p:nvSpPr>
              <p:cNvPr id="57" name="Rectangle 41"/>
              <p:cNvSpPr>
                <a:spLocks noChangeArrowheads="1"/>
              </p:cNvSpPr>
              <p:nvPr/>
            </p:nvSpPr>
            <p:spPr bwMode="auto">
              <a:xfrm>
                <a:off x="2943" y="2469"/>
                <a:ext cx="1016" cy="13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marL="342900" indent="-342900" fontAlgn="ctr">
                  <a:defRPr/>
                </a:pPr>
                <a:r>
                  <a:rPr lang="zh-CN" altLang="en-US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服务器返回</a:t>
                </a:r>
                <a:r>
                  <a:rPr lang="en-US" altLang="zh-CN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PC</a:t>
                </a:r>
                <a:r>
                  <a:rPr lang="zh-CN" altLang="en-US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的包</a:t>
                </a:r>
              </a:p>
            </p:txBody>
          </p:sp>
          <p:sp>
            <p:nvSpPr>
              <p:cNvPr id="58" name="Line 42"/>
              <p:cNvSpPr>
                <a:spLocks noChangeShapeType="1"/>
              </p:cNvSpPr>
              <p:nvPr/>
            </p:nvSpPr>
            <p:spPr bwMode="auto">
              <a:xfrm>
                <a:off x="2943" y="2469"/>
                <a:ext cx="1016" cy="0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9" name="Line 43"/>
              <p:cNvSpPr>
                <a:spLocks noChangeShapeType="1"/>
              </p:cNvSpPr>
              <p:nvPr/>
            </p:nvSpPr>
            <p:spPr bwMode="auto">
              <a:xfrm>
                <a:off x="2943" y="2893"/>
                <a:ext cx="1016" cy="0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0" name="Line 44"/>
              <p:cNvSpPr>
                <a:spLocks noChangeShapeType="1"/>
              </p:cNvSpPr>
              <p:nvPr/>
            </p:nvSpPr>
            <p:spPr bwMode="auto">
              <a:xfrm>
                <a:off x="2943" y="2746"/>
                <a:ext cx="10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1" name="Line 45"/>
              <p:cNvSpPr>
                <a:spLocks noChangeShapeType="1"/>
              </p:cNvSpPr>
              <p:nvPr/>
            </p:nvSpPr>
            <p:spPr bwMode="auto">
              <a:xfrm>
                <a:off x="2943" y="2607"/>
                <a:ext cx="1016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Line 46"/>
              <p:cNvSpPr>
                <a:spLocks noChangeShapeType="1"/>
              </p:cNvSpPr>
              <p:nvPr/>
            </p:nvSpPr>
            <p:spPr bwMode="auto">
              <a:xfrm>
                <a:off x="2943" y="2469"/>
                <a:ext cx="0" cy="424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3" name="Line 47"/>
              <p:cNvSpPr>
                <a:spLocks noChangeShapeType="1"/>
              </p:cNvSpPr>
              <p:nvPr/>
            </p:nvSpPr>
            <p:spPr bwMode="auto">
              <a:xfrm>
                <a:off x="3958" y="2469"/>
                <a:ext cx="0" cy="424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40" name="Text Box 48"/>
            <p:cNvSpPr txBox="1">
              <a:spLocks noChangeArrowheads="1"/>
            </p:cNvSpPr>
            <p:nvPr/>
          </p:nvSpPr>
          <p:spPr bwMode="auto">
            <a:xfrm>
              <a:off x="6397018" y="4316942"/>
              <a:ext cx="1014056" cy="24796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 fontAlgn="ctr"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203.51.23.55</a:t>
              </a:r>
            </a:p>
          </p:txBody>
        </p:sp>
        <p:grpSp>
          <p:nvGrpSpPr>
            <p:cNvPr id="5" name="Group 49"/>
            <p:cNvGrpSpPr>
              <a:grpSpLocks/>
            </p:cNvGrpSpPr>
            <p:nvPr/>
          </p:nvGrpSpPr>
          <p:grpSpPr bwMode="auto">
            <a:xfrm>
              <a:off x="4646613" y="2889254"/>
              <a:ext cx="1581150" cy="660401"/>
              <a:chOff x="2927" y="1820"/>
              <a:chExt cx="1044" cy="416"/>
            </a:xfrm>
          </p:grpSpPr>
          <p:sp>
            <p:nvSpPr>
              <p:cNvPr id="46" name="Rectangle 50"/>
              <p:cNvSpPr>
                <a:spLocks noChangeArrowheads="1"/>
              </p:cNvSpPr>
              <p:nvPr/>
            </p:nvSpPr>
            <p:spPr bwMode="auto">
              <a:xfrm>
                <a:off x="2927" y="2098"/>
                <a:ext cx="1044" cy="13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marL="342900" indent="-342900" fontAlgn="ctr">
                  <a:defRPr/>
                </a:pPr>
                <a:r>
                  <a:rPr lang="zh-CN" altLang="en-US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目的</a:t>
                </a:r>
                <a:r>
                  <a:rPr lang="en-US" altLang="zh-CN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IP=203.51.23.55</a:t>
                </a:r>
              </a:p>
            </p:txBody>
          </p:sp>
          <p:sp>
            <p:nvSpPr>
              <p:cNvPr id="47" name="Rectangle 51"/>
              <p:cNvSpPr>
                <a:spLocks noChangeArrowheads="1"/>
              </p:cNvSpPr>
              <p:nvPr/>
            </p:nvSpPr>
            <p:spPr bwMode="auto">
              <a:xfrm>
                <a:off x="2927" y="1959"/>
                <a:ext cx="1044" cy="13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marL="342900" indent="-342900" fontAlgn="ctr">
                  <a:defRPr/>
                </a:pPr>
                <a:r>
                  <a:rPr lang="zh-CN" altLang="en-US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源</a:t>
                </a:r>
                <a:r>
                  <a:rPr lang="en-US" altLang="zh-CN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IP=125.25.65.3</a:t>
                </a:r>
              </a:p>
            </p:txBody>
          </p:sp>
          <p:sp>
            <p:nvSpPr>
              <p:cNvPr id="48" name="Rectangle 52"/>
              <p:cNvSpPr>
                <a:spLocks noChangeArrowheads="1"/>
              </p:cNvSpPr>
              <p:nvPr/>
            </p:nvSpPr>
            <p:spPr bwMode="auto">
              <a:xfrm>
                <a:off x="2927" y="1820"/>
                <a:ext cx="1044" cy="13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marL="342900" indent="-342900" fontAlgn="ctr">
                  <a:defRPr/>
                </a:pPr>
                <a:r>
                  <a:rPr lang="zh-CN" altLang="en-US" sz="1600" b="1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经过路由器后的包</a:t>
                </a:r>
              </a:p>
            </p:txBody>
          </p:sp>
          <p:sp>
            <p:nvSpPr>
              <p:cNvPr id="49" name="Line 53"/>
              <p:cNvSpPr>
                <a:spLocks noChangeShapeType="1"/>
              </p:cNvSpPr>
              <p:nvPr/>
            </p:nvSpPr>
            <p:spPr bwMode="auto">
              <a:xfrm>
                <a:off x="2927" y="1820"/>
                <a:ext cx="1044" cy="0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0" name="Line 54"/>
              <p:cNvSpPr>
                <a:spLocks noChangeShapeType="1"/>
              </p:cNvSpPr>
              <p:nvPr/>
            </p:nvSpPr>
            <p:spPr bwMode="auto">
              <a:xfrm>
                <a:off x="2927" y="2236"/>
                <a:ext cx="1044" cy="0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" name="Line 55"/>
              <p:cNvSpPr>
                <a:spLocks noChangeShapeType="1"/>
              </p:cNvSpPr>
              <p:nvPr/>
            </p:nvSpPr>
            <p:spPr bwMode="auto">
              <a:xfrm>
                <a:off x="2927" y="2098"/>
                <a:ext cx="104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2" name="Line 56"/>
              <p:cNvSpPr>
                <a:spLocks noChangeShapeType="1"/>
              </p:cNvSpPr>
              <p:nvPr/>
            </p:nvSpPr>
            <p:spPr bwMode="auto">
              <a:xfrm>
                <a:off x="2927" y="1959"/>
                <a:ext cx="1044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3" name="Line 57"/>
              <p:cNvSpPr>
                <a:spLocks noChangeShapeType="1"/>
              </p:cNvSpPr>
              <p:nvPr/>
            </p:nvSpPr>
            <p:spPr bwMode="auto">
              <a:xfrm>
                <a:off x="2927" y="1820"/>
                <a:ext cx="0" cy="416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" name="Line 58"/>
              <p:cNvSpPr>
                <a:spLocks noChangeShapeType="1"/>
              </p:cNvSpPr>
              <p:nvPr/>
            </p:nvSpPr>
            <p:spPr bwMode="auto">
              <a:xfrm>
                <a:off x="3971" y="1820"/>
                <a:ext cx="0" cy="416"/>
              </a:xfrm>
              <a:prstGeom prst="line">
                <a:avLst/>
              </a:prstGeom>
              <a:noFill/>
              <a:ln w="9525" cap="sq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 anchorCtr="1"/>
              <a:lstStyle/>
              <a:p>
                <a:pPr>
                  <a:defRPr/>
                </a:pPr>
                <a:endPara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42" name="Text Box 59"/>
            <p:cNvSpPr txBox="1">
              <a:spLocks noChangeArrowheads="1"/>
            </p:cNvSpPr>
            <p:nvPr/>
          </p:nvSpPr>
          <p:spPr bwMode="auto">
            <a:xfrm>
              <a:off x="4012649" y="4195868"/>
              <a:ext cx="464533" cy="2491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转换</a:t>
              </a:r>
            </a:p>
          </p:txBody>
        </p:sp>
        <p:sp>
          <p:nvSpPr>
            <p:cNvPr id="43" name="Text Box 60"/>
            <p:cNvSpPr txBox="1">
              <a:spLocks noChangeArrowheads="1"/>
            </p:cNvSpPr>
            <p:nvPr/>
          </p:nvSpPr>
          <p:spPr bwMode="auto">
            <a:xfrm>
              <a:off x="4014977" y="3102715"/>
              <a:ext cx="464533" cy="2479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转换</a:t>
              </a:r>
            </a:p>
          </p:txBody>
        </p: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3566744" y="2663825"/>
              <a:ext cx="728816" cy="24796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内部</a:t>
              </a:r>
            </a:p>
          </p:txBody>
        </p:sp>
        <p:sp>
          <p:nvSpPr>
            <p:cNvPr id="45" name="Text Box 62"/>
            <p:cNvSpPr txBox="1">
              <a:spLocks noChangeArrowheads="1"/>
            </p:cNvSpPr>
            <p:nvPr/>
          </p:nvSpPr>
          <p:spPr bwMode="auto">
            <a:xfrm>
              <a:off x="4194271" y="2663825"/>
              <a:ext cx="728816" cy="24796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外部</a:t>
              </a:r>
            </a:p>
          </p:txBody>
        </p:sp>
      </p:grpSp>
      <p:sp>
        <p:nvSpPr>
          <p:cNvPr id="64" name="AutoShape 4"/>
          <p:cNvSpPr>
            <a:spLocks noChangeArrowheads="1"/>
          </p:cNvSpPr>
          <p:nvPr/>
        </p:nvSpPr>
        <p:spPr bwMode="auto">
          <a:xfrm>
            <a:off x="2381250" y="1628776"/>
            <a:ext cx="1766888" cy="442913"/>
          </a:xfrm>
          <a:prstGeom prst="wedgeRoundRectCallout">
            <a:avLst>
              <a:gd name="adj1" fmla="val 44199"/>
              <a:gd name="adj2" fmla="val 17903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内部局部地址</a:t>
            </a:r>
          </a:p>
        </p:txBody>
      </p:sp>
      <p:sp>
        <p:nvSpPr>
          <p:cNvPr id="65" name="AutoShape 4"/>
          <p:cNvSpPr>
            <a:spLocks noChangeArrowheads="1"/>
          </p:cNvSpPr>
          <p:nvPr/>
        </p:nvSpPr>
        <p:spPr bwMode="auto">
          <a:xfrm>
            <a:off x="4941889" y="1592263"/>
            <a:ext cx="1766887" cy="442912"/>
          </a:xfrm>
          <a:prstGeom prst="wedgeRoundRectCallout">
            <a:avLst>
              <a:gd name="adj1" fmla="val -43273"/>
              <a:gd name="adj2" fmla="val 24990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外部局部地址</a:t>
            </a:r>
          </a:p>
        </p:txBody>
      </p:sp>
      <p:sp>
        <p:nvSpPr>
          <p:cNvPr id="66" name="AutoShape 4"/>
          <p:cNvSpPr>
            <a:spLocks noChangeArrowheads="1"/>
          </p:cNvSpPr>
          <p:nvPr/>
        </p:nvSpPr>
        <p:spPr bwMode="auto">
          <a:xfrm>
            <a:off x="8405814" y="1592263"/>
            <a:ext cx="1766887" cy="442912"/>
          </a:xfrm>
          <a:prstGeom prst="wedgeRoundRectCallout">
            <a:avLst>
              <a:gd name="adj1" fmla="val -46866"/>
              <a:gd name="adj2" fmla="val 24416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外部全局地址</a:t>
            </a:r>
          </a:p>
        </p:txBody>
      </p:sp>
      <p:sp>
        <p:nvSpPr>
          <p:cNvPr id="67" name="AutoShape 4"/>
          <p:cNvSpPr>
            <a:spLocks noChangeArrowheads="1"/>
          </p:cNvSpPr>
          <p:nvPr/>
        </p:nvSpPr>
        <p:spPr bwMode="auto">
          <a:xfrm>
            <a:off x="6835775" y="1112838"/>
            <a:ext cx="1766888" cy="442912"/>
          </a:xfrm>
          <a:prstGeom prst="wedgeRoundRectCallout">
            <a:avLst>
              <a:gd name="adj1" fmla="val -6963"/>
              <a:gd name="adj2" fmla="val 29306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内部全局地址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静态转换和动态转换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331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 </a:t>
            </a:r>
            <a:r>
              <a:rPr lang="en-US" altLang="zh-CN"/>
              <a:t>NAT</a:t>
            </a:r>
            <a:r>
              <a:rPr lang="zh-CN" altLang="en-US"/>
              <a:t>实现方法的工作过程</a:t>
            </a:r>
            <a:r>
              <a:rPr lang="en-US" altLang="zh-CN"/>
              <a:t>2-1</a:t>
            </a:r>
            <a:endParaRPr lang="zh-CN" altLang="en-US"/>
          </a:p>
        </p:txBody>
      </p:sp>
      <p:cxnSp>
        <p:nvCxnSpPr>
          <p:cNvPr id="13316" name="AutoShape 4"/>
          <p:cNvCxnSpPr>
            <a:cxnSpLocks noChangeShapeType="1"/>
          </p:cNvCxnSpPr>
          <p:nvPr/>
        </p:nvCxnSpPr>
        <p:spPr bwMode="auto">
          <a:xfrm>
            <a:off x="2773364" y="2714626"/>
            <a:ext cx="1587" cy="1439863"/>
          </a:xfrm>
          <a:prstGeom prst="bentConnector3">
            <a:avLst>
              <a:gd name="adj1" fmla="val 62099505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13317" name="直接连接符 92"/>
          <p:cNvCxnSpPr>
            <a:cxnSpLocks noChangeShapeType="1"/>
          </p:cNvCxnSpPr>
          <p:nvPr/>
        </p:nvCxnSpPr>
        <p:spPr bwMode="auto">
          <a:xfrm>
            <a:off x="3783014" y="3444875"/>
            <a:ext cx="5578475" cy="15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3736976"/>
            <a:ext cx="790575" cy="69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2349501"/>
            <a:ext cx="790575" cy="69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90"/>
          <p:cNvGrpSpPr>
            <a:grpSpLocks/>
          </p:cNvGrpSpPr>
          <p:nvPr/>
        </p:nvGrpSpPr>
        <p:grpSpPr bwMode="auto">
          <a:xfrm>
            <a:off x="6811963" y="3065464"/>
            <a:ext cx="1339850" cy="784225"/>
            <a:chOff x="4932363" y="3338513"/>
            <a:chExt cx="1339464" cy="784234"/>
          </a:xfrm>
        </p:grpSpPr>
        <p:pic>
          <p:nvPicPr>
            <p:cNvPr id="13388" name="Picture 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32363" y="3338513"/>
              <a:ext cx="1339464" cy="784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5083132" y="3565528"/>
              <a:ext cx="991902" cy="3381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</a:p>
          </p:txBody>
        </p:sp>
      </p:grpSp>
      <p:pic>
        <p:nvPicPr>
          <p:cNvPr id="13321" name="Picture 10" descr="black_ser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64625" y="3070226"/>
            <a:ext cx="8509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970089" y="4357689"/>
            <a:ext cx="108108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10.1.1.1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933575" y="2959101"/>
            <a:ext cx="1081088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10.1.1.2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8747125" y="3773488"/>
            <a:ext cx="1525588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172.20.7.3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外部主机</a:t>
            </a: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6" name="AutoShape 18"/>
          <p:cNvSpPr>
            <a:spLocks noChangeArrowheads="1"/>
          </p:cNvSpPr>
          <p:nvPr/>
        </p:nvSpPr>
        <p:spPr bwMode="auto">
          <a:xfrm>
            <a:off x="8215314" y="2928939"/>
            <a:ext cx="750887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7" name="Group 20"/>
          <p:cNvGraphicFramePr>
            <a:graphicFrameLocks noGrp="1"/>
          </p:cNvGraphicFramePr>
          <p:nvPr/>
        </p:nvGraphicFramePr>
        <p:xfrm>
          <a:off x="3197226" y="4248150"/>
          <a:ext cx="1119187" cy="670560"/>
        </p:xfrm>
        <a:graphic>
          <a:graphicData uri="http://schemas.openxmlformats.org/drawingml/2006/table">
            <a:tbl>
              <a:tblPr/>
              <a:tblGrid>
                <a:gridCol w="1119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10.1.1.1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8"/>
          <p:cNvGraphicFramePr>
            <a:graphicFrameLocks noGrp="1"/>
          </p:cNvGraphicFramePr>
          <p:nvPr/>
        </p:nvGraphicFramePr>
        <p:xfrm>
          <a:off x="5381625" y="2071688"/>
          <a:ext cx="1571636" cy="670560"/>
        </p:xfrm>
        <a:graphic>
          <a:graphicData uri="http://schemas.openxmlformats.org/drawingml/2006/table">
            <a:tbl>
              <a:tblPr/>
              <a:tblGrid>
                <a:gridCol w="1571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202.168.2.2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SimSun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Group 36"/>
          <p:cNvGraphicFramePr>
            <a:graphicFrameLocks noGrp="1"/>
          </p:cNvGraphicFramePr>
          <p:nvPr/>
        </p:nvGraphicFramePr>
        <p:xfrm>
          <a:off x="7453313" y="2071688"/>
          <a:ext cx="1554170" cy="670560"/>
        </p:xfrm>
        <a:graphic>
          <a:graphicData uri="http://schemas.openxmlformats.org/drawingml/2006/table">
            <a:tbl>
              <a:tblPr/>
              <a:tblGrid>
                <a:gridCol w="1554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202.168.2.2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SimSun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Group 44"/>
          <p:cNvGraphicFramePr>
            <a:graphicFrameLocks noGrp="1"/>
          </p:cNvGraphicFramePr>
          <p:nvPr/>
        </p:nvGraphicFramePr>
        <p:xfrm>
          <a:off x="3810000" y="2071688"/>
          <a:ext cx="1428760" cy="670560"/>
        </p:xfrm>
        <a:graphic>
          <a:graphicData uri="http://schemas.openxmlformats.org/drawingml/2006/table">
            <a:tbl>
              <a:tblPr/>
              <a:tblGrid>
                <a:gridCol w="142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  <a:cs typeface="+mn-cs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10.1.1.1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组合 89"/>
          <p:cNvGrpSpPr>
            <a:grpSpLocks/>
          </p:cNvGrpSpPr>
          <p:nvPr/>
        </p:nvGrpSpPr>
        <p:grpSpPr bwMode="auto">
          <a:xfrm>
            <a:off x="4814888" y="3087688"/>
            <a:ext cx="1230312" cy="685800"/>
            <a:chOff x="3348038" y="3400425"/>
            <a:chExt cx="1230698" cy="685809"/>
          </a:xfrm>
        </p:grpSpPr>
        <p:pic>
          <p:nvPicPr>
            <p:cNvPr id="13386" name="Picture 6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348038" y="3400425"/>
              <a:ext cx="1230698" cy="670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 Box 52"/>
            <p:cNvSpPr txBox="1">
              <a:spLocks noChangeArrowheads="1"/>
            </p:cNvSpPr>
            <p:nvPr/>
          </p:nvSpPr>
          <p:spPr bwMode="auto">
            <a:xfrm>
              <a:off x="3644993" y="3748092"/>
              <a:ext cx="598676" cy="3381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NAT</a:t>
              </a:r>
            </a:p>
          </p:txBody>
        </p:sp>
      </p:grpSp>
      <p:sp>
        <p:nvSpPr>
          <p:cNvPr id="24" name="Text Box 53"/>
          <p:cNvSpPr txBox="1">
            <a:spLocks noChangeArrowheads="1"/>
          </p:cNvSpPr>
          <p:nvPr/>
        </p:nvSpPr>
        <p:spPr bwMode="auto">
          <a:xfrm>
            <a:off x="6643689" y="4662489"/>
            <a:ext cx="124618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</a:t>
            </a:r>
            <a:r>
              <a: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转换表</a:t>
            </a:r>
          </a:p>
        </p:txBody>
      </p:sp>
      <p:graphicFrame>
        <p:nvGraphicFramePr>
          <p:cNvPr id="25" name="Group 54"/>
          <p:cNvGraphicFramePr>
            <a:graphicFrameLocks noGrp="1"/>
          </p:cNvGraphicFramePr>
          <p:nvPr/>
        </p:nvGraphicFramePr>
        <p:xfrm>
          <a:off x="4117976" y="5014913"/>
          <a:ext cx="6426287" cy="670560"/>
        </p:xfrm>
        <a:graphic>
          <a:graphicData uri="http://schemas.openxmlformats.org/drawingml/2006/table">
            <a:tbl>
              <a:tblPr/>
              <a:tblGrid>
                <a:gridCol w="70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协议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内部用局部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内部用全局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外部用全局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10.1.1.1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202.168.2.2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172.20.7.3:23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AutoShape 71"/>
          <p:cNvSpPr>
            <a:spLocks noChangeArrowheads="1"/>
          </p:cNvSpPr>
          <p:nvPr/>
        </p:nvSpPr>
        <p:spPr bwMode="auto">
          <a:xfrm rot="3211803">
            <a:off x="5808664" y="4086226"/>
            <a:ext cx="1190625" cy="339725"/>
          </a:xfrm>
          <a:prstGeom prst="rightArrow">
            <a:avLst>
              <a:gd name="adj1" fmla="val 50000"/>
              <a:gd name="adj2" fmla="val 100184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 Box 72"/>
          <p:cNvSpPr txBox="1">
            <a:spLocks noChangeArrowheads="1"/>
          </p:cNvSpPr>
          <p:nvPr/>
        </p:nvSpPr>
        <p:spPr bwMode="auto">
          <a:xfrm>
            <a:off x="3963989" y="4364039"/>
            <a:ext cx="1081087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8" name="Text Box 73"/>
          <p:cNvSpPr txBox="1">
            <a:spLocks noChangeArrowheads="1"/>
          </p:cNvSpPr>
          <p:nvPr/>
        </p:nvSpPr>
        <p:spPr bwMode="auto">
          <a:xfrm>
            <a:off x="5292725" y="4078289"/>
            <a:ext cx="1081088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9" name="Text Box 74"/>
          <p:cNvSpPr txBox="1">
            <a:spLocks noChangeArrowheads="1"/>
          </p:cNvSpPr>
          <p:nvPr/>
        </p:nvSpPr>
        <p:spPr bwMode="auto">
          <a:xfrm>
            <a:off x="6738939" y="2120900"/>
            <a:ext cx="1081087" cy="5222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30" name="Text Box 75"/>
          <p:cNvSpPr txBox="1">
            <a:spLocks noChangeArrowheads="1"/>
          </p:cNvSpPr>
          <p:nvPr/>
        </p:nvSpPr>
        <p:spPr bwMode="auto">
          <a:xfrm>
            <a:off x="8834439" y="2428876"/>
            <a:ext cx="1081087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31" name="Text Box 76"/>
          <p:cNvSpPr txBox="1">
            <a:spLocks noChangeArrowheads="1"/>
          </p:cNvSpPr>
          <p:nvPr/>
        </p:nvSpPr>
        <p:spPr bwMode="auto">
          <a:xfrm>
            <a:off x="3124200" y="1911350"/>
            <a:ext cx="1081088" cy="5222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32" name="AutoShape 18"/>
          <p:cNvSpPr>
            <a:spLocks noChangeArrowheads="1"/>
          </p:cNvSpPr>
          <p:nvPr/>
        </p:nvSpPr>
        <p:spPr bwMode="auto">
          <a:xfrm flipH="1">
            <a:off x="3890964" y="373697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AutoShape 18"/>
          <p:cNvSpPr>
            <a:spLocks noChangeArrowheads="1"/>
          </p:cNvSpPr>
          <p:nvPr/>
        </p:nvSpPr>
        <p:spPr bwMode="auto">
          <a:xfrm flipH="1">
            <a:off x="6118225" y="3000375"/>
            <a:ext cx="750888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AutoShape 18"/>
          <p:cNvSpPr>
            <a:spLocks noChangeArrowheads="1"/>
          </p:cNvSpPr>
          <p:nvPr/>
        </p:nvSpPr>
        <p:spPr bwMode="auto">
          <a:xfrm>
            <a:off x="3963989" y="2970214"/>
            <a:ext cx="750887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PAT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433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NAT</a:t>
            </a:r>
            <a:r>
              <a:rPr lang="zh-CN" altLang="en-US"/>
              <a:t>实现方法的工作过程</a:t>
            </a:r>
            <a:r>
              <a:rPr lang="en-US" altLang="zh-CN"/>
              <a:t>2-2</a:t>
            </a:r>
            <a:endParaRPr lang="zh-CN" altLang="en-US"/>
          </a:p>
        </p:txBody>
      </p:sp>
      <p:cxnSp>
        <p:nvCxnSpPr>
          <p:cNvPr id="14340" name="AutoShape 4"/>
          <p:cNvCxnSpPr>
            <a:cxnSpLocks noChangeShapeType="1"/>
          </p:cNvCxnSpPr>
          <p:nvPr/>
        </p:nvCxnSpPr>
        <p:spPr bwMode="auto">
          <a:xfrm>
            <a:off x="2754314" y="2693988"/>
            <a:ext cx="1587" cy="1439862"/>
          </a:xfrm>
          <a:prstGeom prst="bentConnector3">
            <a:avLst>
              <a:gd name="adj1" fmla="val 62099505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14341" name="直接连接符 92"/>
          <p:cNvCxnSpPr>
            <a:cxnSpLocks noChangeShapeType="1"/>
          </p:cNvCxnSpPr>
          <p:nvPr/>
        </p:nvCxnSpPr>
        <p:spPr bwMode="auto">
          <a:xfrm>
            <a:off x="3763964" y="3424239"/>
            <a:ext cx="5578475" cy="15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143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064" y="3716338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064" y="2328863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90"/>
          <p:cNvGrpSpPr>
            <a:grpSpLocks/>
          </p:cNvGrpSpPr>
          <p:nvPr/>
        </p:nvGrpSpPr>
        <p:grpSpPr bwMode="auto">
          <a:xfrm>
            <a:off x="6792913" y="3044826"/>
            <a:ext cx="1339850" cy="784225"/>
            <a:chOff x="4932363" y="3338513"/>
            <a:chExt cx="1339464" cy="784234"/>
          </a:xfrm>
        </p:grpSpPr>
        <p:pic>
          <p:nvPicPr>
            <p:cNvPr id="14417" name="Picture 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32363" y="3338513"/>
              <a:ext cx="1339464" cy="784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083132" y="3565529"/>
              <a:ext cx="991902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</a:p>
          </p:txBody>
        </p:sp>
      </p:grpSp>
      <p:pic>
        <p:nvPicPr>
          <p:cNvPr id="14345" name="Picture 10" descr="black_ser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45575" y="3049589"/>
            <a:ext cx="8509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951039" y="4337050"/>
            <a:ext cx="108108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10.1.1.1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1914525" y="2938464"/>
            <a:ext cx="1081088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10.1.1.2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8728075" y="3752850"/>
            <a:ext cx="1525588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172.20.7.3</a:t>
            </a:r>
          </a:p>
          <a:p>
            <a:pPr>
              <a:defRPr/>
            </a:pPr>
            <a:r>
              <a: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外部主机</a:t>
            </a: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8196264" y="309562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6" name="Group 20"/>
          <p:cNvGraphicFramePr>
            <a:graphicFrameLocks noGrp="1"/>
          </p:cNvGraphicFramePr>
          <p:nvPr/>
        </p:nvGraphicFramePr>
        <p:xfrm>
          <a:off x="3178176" y="4227513"/>
          <a:ext cx="1119187" cy="670560"/>
        </p:xfrm>
        <a:graphic>
          <a:graphicData uri="http://schemas.openxmlformats.org/drawingml/2006/table">
            <a:tbl>
              <a:tblPr/>
              <a:tblGrid>
                <a:gridCol w="1119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10.1.1.1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Group 28"/>
          <p:cNvGraphicFramePr>
            <a:graphicFrameLocks noGrp="1"/>
          </p:cNvGraphicFramePr>
          <p:nvPr/>
        </p:nvGraphicFramePr>
        <p:xfrm>
          <a:off x="5595939" y="2182813"/>
          <a:ext cx="1525553" cy="670560"/>
        </p:xfrm>
        <a:graphic>
          <a:graphicData uri="http://schemas.openxmlformats.org/drawingml/2006/table">
            <a:tbl>
              <a:tblPr/>
              <a:tblGrid>
                <a:gridCol w="1525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202.168.2.2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SimSun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36"/>
          <p:cNvGraphicFramePr>
            <a:graphicFrameLocks noGrp="1"/>
          </p:cNvGraphicFramePr>
          <p:nvPr/>
        </p:nvGraphicFramePr>
        <p:xfrm>
          <a:off x="7596188" y="2187575"/>
          <a:ext cx="1606502" cy="670560"/>
        </p:xfrm>
        <a:graphic>
          <a:graphicData uri="http://schemas.openxmlformats.org/drawingml/2006/table">
            <a:tbl>
              <a:tblPr/>
              <a:tblGrid>
                <a:gridCol w="1606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202.168.2.2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SimSun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Group 44"/>
          <p:cNvGraphicFramePr>
            <a:graphicFrameLocks noGrp="1"/>
          </p:cNvGraphicFramePr>
          <p:nvPr/>
        </p:nvGraphicFramePr>
        <p:xfrm>
          <a:off x="3798888" y="2182813"/>
          <a:ext cx="1297036" cy="670560"/>
        </p:xfrm>
        <a:graphic>
          <a:graphicData uri="http://schemas.openxmlformats.org/drawingml/2006/table">
            <a:tbl>
              <a:tblPr/>
              <a:tblGrid>
                <a:gridCol w="129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10.1.1.1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组合 89"/>
          <p:cNvGrpSpPr>
            <a:grpSpLocks/>
          </p:cNvGrpSpPr>
          <p:nvPr/>
        </p:nvGrpSpPr>
        <p:grpSpPr bwMode="auto">
          <a:xfrm>
            <a:off x="4795838" y="3067050"/>
            <a:ext cx="1230312" cy="685800"/>
            <a:chOff x="3348038" y="3400425"/>
            <a:chExt cx="1230698" cy="685809"/>
          </a:xfrm>
        </p:grpSpPr>
        <p:pic>
          <p:nvPicPr>
            <p:cNvPr id="14415" name="Picture 6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348038" y="3400425"/>
              <a:ext cx="1230698" cy="670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52"/>
            <p:cNvSpPr txBox="1">
              <a:spLocks noChangeArrowheads="1"/>
            </p:cNvSpPr>
            <p:nvPr/>
          </p:nvSpPr>
          <p:spPr bwMode="auto">
            <a:xfrm>
              <a:off x="3644993" y="3748093"/>
              <a:ext cx="598676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NAT</a:t>
              </a:r>
            </a:p>
          </p:txBody>
        </p:sp>
      </p:grpSp>
      <p:sp>
        <p:nvSpPr>
          <p:cNvPr id="23" name="Text Box 53"/>
          <p:cNvSpPr txBox="1">
            <a:spLocks noChangeArrowheads="1"/>
          </p:cNvSpPr>
          <p:nvPr/>
        </p:nvSpPr>
        <p:spPr bwMode="auto">
          <a:xfrm>
            <a:off x="6624639" y="4641850"/>
            <a:ext cx="124618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</a:t>
            </a:r>
            <a:r>
              <a: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转换表</a:t>
            </a:r>
          </a:p>
        </p:txBody>
      </p:sp>
      <p:graphicFrame>
        <p:nvGraphicFramePr>
          <p:cNvPr id="24" name="Group 54"/>
          <p:cNvGraphicFramePr>
            <a:graphicFrameLocks noGrp="1"/>
          </p:cNvGraphicFramePr>
          <p:nvPr/>
        </p:nvGraphicFramePr>
        <p:xfrm>
          <a:off x="4098926" y="4994275"/>
          <a:ext cx="6426287" cy="1005840"/>
        </p:xfrm>
        <a:graphic>
          <a:graphicData uri="http://schemas.openxmlformats.org/drawingml/2006/table">
            <a:tbl>
              <a:tblPr/>
              <a:tblGrid>
                <a:gridCol w="70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协议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内部用局部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内部用全局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外部用全局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10.1.1.1:1492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202.168.2.2:1492</a:t>
                      </a:r>
                      <a:endParaRPr kumimoji="0" lang="en-US" altLang="zh-CN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172.20.7.3:23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10.1.1.2:1493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202.168.2.2:1493</a:t>
                      </a:r>
                      <a:endParaRPr kumimoji="0" lang="en-US" altLang="zh-CN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172.20.7.3:80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AutoShape 71"/>
          <p:cNvSpPr>
            <a:spLocks noChangeArrowheads="1"/>
          </p:cNvSpPr>
          <p:nvPr/>
        </p:nvSpPr>
        <p:spPr bwMode="auto">
          <a:xfrm rot="3211803">
            <a:off x="5789614" y="4065589"/>
            <a:ext cx="1190625" cy="339725"/>
          </a:xfrm>
          <a:prstGeom prst="rightArrow">
            <a:avLst>
              <a:gd name="adj1" fmla="val 50000"/>
              <a:gd name="adj2" fmla="val 100184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/>
        </p:nvSpPr>
        <p:spPr bwMode="auto">
          <a:xfrm>
            <a:off x="3944939" y="4343401"/>
            <a:ext cx="1081087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7" name="Text Box 73"/>
          <p:cNvSpPr txBox="1">
            <a:spLocks noChangeArrowheads="1"/>
          </p:cNvSpPr>
          <p:nvPr/>
        </p:nvSpPr>
        <p:spPr bwMode="auto">
          <a:xfrm>
            <a:off x="5273675" y="4057651"/>
            <a:ext cx="1081088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8" name="Text Box 74"/>
          <p:cNvSpPr txBox="1">
            <a:spLocks noChangeArrowheads="1"/>
          </p:cNvSpPr>
          <p:nvPr/>
        </p:nvSpPr>
        <p:spPr bwMode="auto">
          <a:xfrm>
            <a:off x="6719889" y="2109789"/>
            <a:ext cx="1081087" cy="5222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9" name="Text Box 75"/>
          <p:cNvSpPr txBox="1">
            <a:spLocks noChangeArrowheads="1"/>
          </p:cNvSpPr>
          <p:nvPr/>
        </p:nvSpPr>
        <p:spPr bwMode="auto">
          <a:xfrm>
            <a:off x="8815389" y="2408239"/>
            <a:ext cx="1081087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30" name="Text Box 76"/>
          <p:cNvSpPr txBox="1">
            <a:spLocks noChangeArrowheads="1"/>
          </p:cNvSpPr>
          <p:nvPr/>
        </p:nvSpPr>
        <p:spPr bwMode="auto">
          <a:xfrm>
            <a:off x="3105150" y="1890714"/>
            <a:ext cx="1081088" cy="5222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31" name="AutoShape 18"/>
          <p:cNvSpPr>
            <a:spLocks noChangeArrowheads="1"/>
          </p:cNvSpPr>
          <p:nvPr/>
        </p:nvSpPr>
        <p:spPr bwMode="auto">
          <a:xfrm flipH="1">
            <a:off x="3871914" y="3716339"/>
            <a:ext cx="750887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AutoShape 18"/>
          <p:cNvSpPr>
            <a:spLocks noChangeArrowheads="1"/>
          </p:cNvSpPr>
          <p:nvPr/>
        </p:nvSpPr>
        <p:spPr bwMode="auto">
          <a:xfrm flipH="1">
            <a:off x="6099175" y="2949575"/>
            <a:ext cx="750888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AutoShape 18"/>
          <p:cNvSpPr>
            <a:spLocks noChangeArrowheads="1"/>
          </p:cNvSpPr>
          <p:nvPr/>
        </p:nvSpPr>
        <p:spPr bwMode="auto">
          <a:xfrm>
            <a:off x="3944939" y="294957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的优点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GB">
                <a:cs typeface="Arial" charset="0"/>
              </a:rPr>
              <a:t>节省公有合法</a:t>
            </a:r>
            <a:r>
              <a:rPr lang="en-GB" altLang="zh-CN">
                <a:cs typeface="Arial" charset="0"/>
              </a:rPr>
              <a:t>IP</a:t>
            </a:r>
            <a:r>
              <a:rPr lang="zh-CN" altLang="en-GB">
                <a:cs typeface="Arial" charset="0"/>
              </a:rPr>
              <a:t>地址</a:t>
            </a:r>
          </a:p>
          <a:p>
            <a:pPr lvl="1">
              <a:spcBef>
                <a:spcPts val="475"/>
              </a:spcBef>
            </a:pPr>
            <a:r>
              <a:rPr lang="zh-CN" altLang="en-GB">
                <a:cs typeface="Arial" charset="0"/>
              </a:rPr>
              <a:t>处理地址</a:t>
            </a:r>
            <a:r>
              <a:rPr lang="zh-CN" altLang="en-US">
                <a:cs typeface="Arial" charset="0"/>
              </a:rPr>
              <a:t>重叠</a:t>
            </a:r>
            <a:endParaRPr lang="zh-CN" altLang="en-GB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GB">
                <a:cs typeface="Arial" charset="0"/>
              </a:rPr>
              <a:t>增强灵活性</a:t>
            </a:r>
          </a:p>
          <a:p>
            <a:pPr lvl="1">
              <a:spcBef>
                <a:spcPts val="475"/>
              </a:spcBef>
            </a:pPr>
            <a:r>
              <a:rPr lang="zh-CN" altLang="en-GB">
                <a:cs typeface="Arial" charset="0"/>
              </a:rPr>
              <a:t>安全性</a:t>
            </a:r>
          </a:p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的缺点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GB">
                <a:cs typeface="Arial" charset="0"/>
              </a:rPr>
              <a:t>延迟增大</a:t>
            </a:r>
          </a:p>
          <a:p>
            <a:pPr lvl="1">
              <a:spcBef>
                <a:spcPts val="475"/>
              </a:spcBef>
            </a:pPr>
            <a:r>
              <a:rPr lang="zh-CN" altLang="en-GB">
                <a:cs typeface="Arial" charset="0"/>
              </a:rPr>
              <a:t>配置和维护的复杂性</a:t>
            </a:r>
          </a:p>
          <a:p>
            <a:pPr lvl="1">
              <a:spcBef>
                <a:spcPts val="475"/>
              </a:spcBef>
            </a:pPr>
            <a:r>
              <a:rPr lang="zh-CN" altLang="en-GB">
                <a:cs typeface="Arial" charset="0"/>
              </a:rPr>
              <a:t>不支持某些应用</a:t>
            </a:r>
            <a:r>
              <a:rPr lang="zh-CN" altLang="en-US">
                <a:cs typeface="Arial" charset="0"/>
              </a:rPr>
              <a:t>，</a:t>
            </a:r>
            <a:r>
              <a:rPr lang="zh-CN" altLang="en-US"/>
              <a:t>可以通过静态</a:t>
            </a:r>
            <a:r>
              <a:rPr lang="en-US" altLang="zh-CN"/>
              <a:t>NAT</a:t>
            </a:r>
            <a:r>
              <a:rPr lang="zh-CN" altLang="en-US"/>
              <a:t>映射来避免</a:t>
            </a:r>
            <a:endParaRPr lang="zh-CN" altLang="en-US">
              <a:cs typeface="Arial" charset="0"/>
            </a:endParaRP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536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NAT</a:t>
            </a:r>
            <a:r>
              <a:rPr lang="zh-CN" altLang="en-US"/>
              <a:t>的特性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8"/>
          <p:cNvSpPr>
            <a:spLocks noChangeArrowheads="1"/>
          </p:cNvSpPr>
          <p:nvPr/>
        </p:nvSpPr>
        <p:spPr bwMode="auto">
          <a:xfrm>
            <a:off x="2225675" y="3000376"/>
            <a:ext cx="7886700" cy="785813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  <p:sp>
        <p:nvSpPr>
          <p:cNvPr id="16387" name="AutoShape 8"/>
          <p:cNvSpPr>
            <a:spLocks noChangeArrowheads="1"/>
          </p:cNvSpPr>
          <p:nvPr/>
        </p:nvSpPr>
        <p:spPr bwMode="auto">
          <a:xfrm>
            <a:off x="2225675" y="4214814"/>
            <a:ext cx="7886700" cy="128587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  <p:sp>
        <p:nvSpPr>
          <p:cNvPr id="1638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配置步骤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接口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地址配置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使用访问控制列表定义哪些内部主机能做</a:t>
            </a:r>
            <a:r>
              <a:rPr lang="en-US" altLang="zh-CN">
                <a:cs typeface="Arial" charset="0"/>
              </a:rPr>
              <a:t>NAT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决定采用什么公有地址，静态或地址池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  <a:buNone/>
            </a:pPr>
            <a:r>
              <a:rPr lang="en-US" altLang="zh-CN" sz="1800">
                <a:cs typeface="Arial" charset="0"/>
              </a:rPr>
              <a:t>Router(config)#ip nat pool </a:t>
            </a:r>
            <a:r>
              <a:rPr lang="en-US" altLang="zh-CN" sz="1800" i="1">
                <a:cs typeface="Arial" charset="0"/>
              </a:rPr>
              <a:t>pool-name</a:t>
            </a:r>
            <a:r>
              <a:rPr lang="en-US" altLang="zh-CN" sz="1800">
                <a:cs typeface="Arial" charset="0"/>
              </a:rPr>
              <a:t> </a:t>
            </a:r>
            <a:r>
              <a:rPr lang="en-US" altLang="zh-CN" sz="1800" i="1">
                <a:cs typeface="Arial" charset="0"/>
              </a:rPr>
              <a:t>star-ip</a:t>
            </a:r>
            <a:r>
              <a:rPr lang="en-US" altLang="zh-CN" sz="1800">
                <a:cs typeface="Arial" charset="0"/>
              </a:rPr>
              <a:t> </a:t>
            </a:r>
            <a:r>
              <a:rPr lang="en-US" altLang="zh-CN" sz="1800" i="1">
                <a:cs typeface="Arial" charset="0"/>
              </a:rPr>
              <a:t>end-ip</a:t>
            </a:r>
            <a:r>
              <a:rPr lang="en-US" altLang="zh-CN" sz="1800">
                <a:cs typeface="Arial" charset="0"/>
              </a:rPr>
              <a:t> {</a:t>
            </a:r>
            <a:r>
              <a:rPr lang="en-US" altLang="zh-CN" sz="1800" i="1">
                <a:cs typeface="Arial" charset="0"/>
              </a:rPr>
              <a:t>netmask netmask </a:t>
            </a:r>
            <a:r>
              <a:rPr lang="en-US" altLang="zh-CN" sz="1800">
                <a:cs typeface="Arial" charset="0"/>
              </a:rPr>
              <a:t>| </a:t>
            </a:r>
            <a:r>
              <a:rPr lang="en-US" altLang="zh-CN" sz="1800" i="1">
                <a:cs typeface="Arial" charset="0"/>
              </a:rPr>
              <a:t>prefix-length prefix-length</a:t>
            </a:r>
            <a:r>
              <a:rPr lang="en-US" altLang="zh-CN" sz="1800">
                <a:cs typeface="Arial" charset="0"/>
              </a:rPr>
              <a:t>} [</a:t>
            </a:r>
            <a:r>
              <a:rPr lang="en-US" altLang="zh-CN" sz="1800" i="1">
                <a:cs typeface="Arial" charset="0"/>
              </a:rPr>
              <a:t>type rotary</a:t>
            </a:r>
            <a:r>
              <a:rPr lang="en-US" altLang="zh-CN" sz="1800">
                <a:cs typeface="Arial" charset="0"/>
              </a:rPr>
              <a:t>]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指定地址转换映射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  <a:buSzPct val="50000"/>
              <a:buNone/>
            </a:pPr>
            <a:r>
              <a:rPr lang="en-US" altLang="zh-CN" sz="1800">
                <a:cs typeface="Arial" charset="0"/>
              </a:rPr>
              <a:t>Router(config)#ip nat inside source static </a:t>
            </a:r>
            <a:r>
              <a:rPr lang="en-US" altLang="zh-CN" sz="1800" i="1">
                <a:cs typeface="Arial" charset="0"/>
              </a:rPr>
              <a:t>local-ip</a:t>
            </a:r>
            <a:r>
              <a:rPr lang="en-US" altLang="zh-CN" sz="1800">
                <a:cs typeface="Arial" charset="0"/>
              </a:rPr>
              <a:t> </a:t>
            </a:r>
            <a:r>
              <a:rPr lang="en-US" altLang="zh-CN" sz="1800" i="1">
                <a:cs typeface="Arial" charset="0"/>
              </a:rPr>
              <a:t>global-ip </a:t>
            </a:r>
            <a:r>
              <a:rPr lang="en-US" altLang="zh-CN" sz="1800">
                <a:cs typeface="Arial" charset="0"/>
              </a:rPr>
              <a:t>[extendable]</a:t>
            </a:r>
          </a:p>
          <a:p>
            <a:pPr lvl="1">
              <a:spcBef>
                <a:spcPts val="475"/>
              </a:spcBef>
              <a:buNone/>
            </a:pPr>
            <a:r>
              <a:rPr lang="en-US" altLang="zh-CN" sz="1800">
                <a:cs typeface="Arial" charset="0"/>
              </a:rPr>
              <a:t>Router(config)#ip nat inside source list </a:t>
            </a:r>
            <a:r>
              <a:rPr lang="en-US" altLang="zh-CN" sz="1800" i="1">
                <a:cs typeface="Arial" charset="0"/>
              </a:rPr>
              <a:t>access-list-number</a:t>
            </a:r>
            <a:r>
              <a:rPr lang="en-US" altLang="zh-CN" sz="1800">
                <a:cs typeface="Arial" charset="0"/>
              </a:rPr>
              <a:t>  pool </a:t>
            </a:r>
            <a:r>
              <a:rPr lang="en-US" altLang="zh-CN" sz="1800" i="1">
                <a:cs typeface="Arial" charset="0"/>
              </a:rPr>
              <a:t>pool-name</a:t>
            </a:r>
            <a:r>
              <a:rPr lang="en-US" altLang="zh-CN" sz="1800">
                <a:cs typeface="Arial" charset="0"/>
              </a:rPr>
              <a:t> [overload]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在内部和外部端口上启用</a:t>
            </a:r>
            <a:r>
              <a:rPr lang="en-US" altLang="zh-CN">
                <a:cs typeface="Arial" charset="0"/>
              </a:rPr>
              <a:t>NAT</a:t>
            </a:r>
            <a:endParaRPr lang="zh-CN" altLang="en-US">
              <a:cs typeface="Arial" charset="0"/>
            </a:endParaRP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638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NAT</a:t>
            </a:r>
            <a:r>
              <a:rPr lang="zh-CN"/>
              <a:t>的配置</a:t>
            </a:r>
            <a:endParaRPr lang="zh-CN" altLang="en-US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8453439" y="3533775"/>
            <a:ext cx="1385887" cy="407988"/>
          </a:xfrm>
          <a:prstGeom prst="wedgeRoundRectCallout">
            <a:avLst>
              <a:gd name="adj1" fmla="val -64999"/>
              <a:gd name="adj2" fmla="val -7142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定义地址池</a:t>
            </a:r>
            <a:endParaRPr lang="en-US" altLang="zh-CN" b="1" dirty="0">
              <a:solidFill>
                <a:schemeClr val="tx2"/>
              </a:solidFill>
              <a:latin typeface="+mj-lt"/>
              <a:ea typeface="楷体_GB2312" pitchFamily="49" charset="-122"/>
              <a:cs typeface="Arial" pitchFamily="34" charset="0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453063" y="3857625"/>
            <a:ext cx="2055812" cy="407988"/>
          </a:xfrm>
          <a:prstGeom prst="wedgeRoundRectCallout">
            <a:avLst>
              <a:gd name="adj1" fmla="val 70908"/>
              <a:gd name="adj2" fmla="val 6865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静态</a:t>
            </a:r>
            <a:r>
              <a:rPr lang="en-US" altLang="zh-CN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NAT</a:t>
            </a:r>
            <a:r>
              <a:rPr lang="zh-CN" altLang="en-US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地址映射</a:t>
            </a:r>
            <a:endParaRPr lang="en-US" altLang="zh-CN" b="1" dirty="0">
              <a:solidFill>
                <a:schemeClr val="tx2"/>
              </a:solidFill>
              <a:latin typeface="+mj-lt"/>
              <a:ea typeface="楷体_GB2312" pitchFamily="49" charset="-122"/>
              <a:cs typeface="Arial" pitchFamily="34" charset="0"/>
            </a:endParaRP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7381876" y="5286375"/>
            <a:ext cx="2722563" cy="407988"/>
          </a:xfrm>
          <a:prstGeom prst="wedgeRoundRectCallout">
            <a:avLst>
              <a:gd name="adj1" fmla="val -4824"/>
              <a:gd name="adj2" fmla="val -9632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动态</a:t>
            </a:r>
            <a:r>
              <a:rPr lang="en-US" altLang="zh-CN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NAT</a:t>
            </a:r>
            <a:r>
              <a:rPr lang="zh-CN" altLang="en-US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或</a:t>
            </a:r>
            <a:r>
              <a:rPr lang="en-US" altLang="zh-CN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PAT</a:t>
            </a:r>
            <a:r>
              <a:rPr lang="zh-CN" altLang="en-US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地址映射</a:t>
            </a:r>
            <a:endParaRPr lang="en-US" altLang="zh-CN" b="1" dirty="0">
              <a:solidFill>
                <a:schemeClr val="tx2"/>
              </a:solidFill>
              <a:latin typeface="+mj-lt"/>
              <a:ea typeface="楷体_GB2312" pitchFamily="49" charset="-122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1"/>
          <p:cNvSpPr>
            <a:spLocks noGrp="1"/>
          </p:cNvSpPr>
          <p:nvPr>
            <p:ph idx="1"/>
          </p:nvPr>
        </p:nvSpPr>
        <p:spPr>
          <a:xfrm>
            <a:off x="1738314" y="1143000"/>
            <a:ext cx="8715375" cy="150018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将内网地址</a:t>
            </a:r>
            <a:r>
              <a:rPr lang="en-US" altLang="zh-CN">
                <a:cs typeface="Arial" charset="0"/>
              </a:rPr>
              <a:t>192.168.100.2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192.168.100.3</a:t>
            </a:r>
            <a:r>
              <a:rPr lang="zh-CN" altLang="en-US">
                <a:cs typeface="Arial" charset="0"/>
              </a:rPr>
              <a:t>静态转换为合法的外部地址</a:t>
            </a:r>
            <a:r>
              <a:rPr lang="en-US" altLang="zh-CN">
                <a:cs typeface="Arial" charset="0"/>
              </a:rPr>
              <a:t>61.159.62.131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61.159.62.132</a:t>
            </a:r>
            <a:r>
              <a:rPr lang="zh-CN" altLang="en-US">
                <a:cs typeface="Arial" charset="0"/>
              </a:rPr>
              <a:t>，以便访问外网或被外网访问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741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en-US" altLang="zh-CN"/>
              <a:t>4-1</a:t>
            </a:r>
            <a:endParaRPr lang="zh-CN" altLang="en-US"/>
          </a:p>
        </p:txBody>
      </p:sp>
      <p:grpSp>
        <p:nvGrpSpPr>
          <p:cNvPr id="2" name="组合 65"/>
          <p:cNvGrpSpPr>
            <a:grpSpLocks/>
          </p:cNvGrpSpPr>
          <p:nvPr/>
        </p:nvGrpSpPr>
        <p:grpSpPr bwMode="auto">
          <a:xfrm>
            <a:off x="3667126" y="2506664"/>
            <a:ext cx="4831755" cy="4139863"/>
            <a:chOff x="1906924" y="899665"/>
            <a:chExt cx="5356738" cy="4740932"/>
          </a:xfrm>
        </p:grpSpPr>
        <p:cxnSp>
          <p:nvCxnSpPr>
            <p:cNvPr id="17413" name="直接连接符 38"/>
            <p:cNvCxnSpPr>
              <a:cxnSpLocks noChangeShapeType="1"/>
            </p:cNvCxnSpPr>
            <p:nvPr/>
          </p:nvCxnSpPr>
          <p:spPr bwMode="auto">
            <a:xfrm rot="5400000">
              <a:off x="3787764" y="2331367"/>
              <a:ext cx="1716111" cy="1588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17414" name="Picture 9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24305" y="1985287"/>
              <a:ext cx="1206463" cy="65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5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87792" y="3117190"/>
              <a:ext cx="1277954" cy="511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6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71681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7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86149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8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959494" y="4500475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9" name="Picture 3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878253" y="899665"/>
              <a:ext cx="1496380" cy="720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420" name="直接连接符 39"/>
            <p:cNvCxnSpPr>
              <a:cxnSpLocks noChangeShapeType="1"/>
            </p:cNvCxnSpPr>
            <p:nvPr/>
          </p:nvCxnSpPr>
          <p:spPr bwMode="auto">
            <a:xfrm rot="5400000">
              <a:off x="3197879" y="3085562"/>
              <a:ext cx="886081" cy="1971701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7421" name="直接连接符 43"/>
            <p:cNvCxnSpPr>
              <a:cxnSpLocks noChangeShapeType="1"/>
            </p:cNvCxnSpPr>
            <p:nvPr/>
          </p:nvCxnSpPr>
          <p:spPr bwMode="auto">
            <a:xfrm rot="5400000">
              <a:off x="3855113" y="3742796"/>
              <a:ext cx="886081" cy="657233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17422" name="直接连接符 46"/>
            <p:cNvCxnSpPr>
              <a:cxnSpLocks noChangeShapeType="1"/>
            </p:cNvCxnSpPr>
            <p:nvPr/>
          </p:nvCxnSpPr>
          <p:spPr bwMode="auto">
            <a:xfrm rot="16200000" flipH="1">
              <a:off x="5048774" y="3206367"/>
              <a:ext cx="872103" cy="1716112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199082" y="5135582"/>
              <a:ext cx="4855802" cy="38770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192.168.100.2</a:t>
              </a: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～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192.168.100.254/24</a:t>
              </a: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4425465" y="4477469"/>
              <a:ext cx="1460788" cy="11631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3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………</a:t>
              </a:r>
            </a:p>
          </p:txBody>
        </p:sp>
        <p:sp>
          <p:nvSpPr>
            <p:cNvPr id="17" name="Rectangle 2"/>
            <p:cNvSpPr>
              <a:spLocks noChangeArrowheads="1"/>
            </p:cNvSpPr>
            <p:nvPr/>
          </p:nvSpPr>
          <p:spPr bwMode="auto">
            <a:xfrm>
              <a:off x="2162123" y="3017623"/>
              <a:ext cx="4820601" cy="2410655"/>
            </a:xfrm>
            <a:prstGeom prst="rect">
              <a:avLst/>
            </a:prstGeom>
            <a:noFill/>
            <a:ln w="19050" algn="ctr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199082" y="3053983"/>
              <a:ext cx="1212631" cy="3872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内部网络</a:t>
              </a:r>
            </a:p>
          </p:txBody>
        </p:sp>
        <p:sp>
          <p:nvSpPr>
            <p:cNvPr id="19" name="AutoShape 4"/>
            <p:cNvSpPr>
              <a:spLocks noChangeArrowheads="1"/>
            </p:cNvSpPr>
            <p:nvPr/>
          </p:nvSpPr>
          <p:spPr bwMode="auto">
            <a:xfrm>
              <a:off x="1906924" y="2397689"/>
              <a:ext cx="2080304" cy="467223"/>
            </a:xfrm>
            <a:prstGeom prst="wedgeRoundRectCallout">
              <a:avLst>
                <a:gd name="adj1" fmla="val 82552"/>
                <a:gd name="adj2" fmla="val 1875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anchor="ctr"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192.168.100.1</a:t>
              </a:r>
            </a:p>
          </p:txBody>
        </p:sp>
        <p:sp>
          <p:nvSpPr>
            <p:cNvPr id="20" name="AutoShape 4"/>
            <p:cNvSpPr>
              <a:spLocks noChangeArrowheads="1"/>
            </p:cNvSpPr>
            <p:nvPr/>
          </p:nvSpPr>
          <p:spPr bwMode="auto">
            <a:xfrm>
              <a:off x="1906924" y="1628678"/>
              <a:ext cx="2080304" cy="467224"/>
            </a:xfrm>
            <a:prstGeom prst="wedgeRoundRectCallout">
              <a:avLst>
                <a:gd name="adj1" fmla="val 82552"/>
                <a:gd name="adj2" fmla="val 1875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anchor="ctr"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61.159.62.130</a:t>
              </a:r>
            </a:p>
          </p:txBody>
        </p:sp>
        <p:sp>
          <p:nvSpPr>
            <p:cNvPr id="17429" name="AutoShape 4"/>
            <p:cNvSpPr>
              <a:spLocks noChangeArrowheads="1"/>
            </p:cNvSpPr>
            <p:nvPr/>
          </p:nvSpPr>
          <p:spPr bwMode="auto">
            <a:xfrm>
              <a:off x="5448312" y="2396568"/>
              <a:ext cx="1812128" cy="467951"/>
            </a:xfrm>
            <a:prstGeom prst="wedgeRoundRectCallout">
              <a:avLst>
                <a:gd name="adj1" fmla="val -95190"/>
                <a:gd name="adj2" fmla="val 1258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NAT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内部端口</a:t>
              </a:r>
            </a:p>
          </p:txBody>
        </p:sp>
        <p:sp>
          <p:nvSpPr>
            <p:cNvPr id="17430" name="AutoShape 4"/>
            <p:cNvSpPr>
              <a:spLocks noChangeArrowheads="1"/>
            </p:cNvSpPr>
            <p:nvPr/>
          </p:nvSpPr>
          <p:spPr bwMode="auto">
            <a:xfrm>
              <a:off x="5451534" y="1632257"/>
              <a:ext cx="1812128" cy="467951"/>
            </a:xfrm>
            <a:prstGeom prst="wedgeRoundRectCallout">
              <a:avLst>
                <a:gd name="adj1" fmla="val -95190"/>
                <a:gd name="adj2" fmla="val 1258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NAT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外部端口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4024188" y="1077828"/>
              <a:ext cx="1277750" cy="4229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  <a:endPara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16"/>
            <p:cNvSpPr txBox="1">
              <a:spLocks noChangeArrowheads="1"/>
            </p:cNvSpPr>
            <p:nvPr/>
          </p:nvSpPr>
          <p:spPr bwMode="auto">
            <a:xfrm>
              <a:off x="4337465" y="2692203"/>
              <a:ext cx="1212630" cy="387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F1/0</a:t>
              </a:r>
              <a:endPara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3728510" y="1568685"/>
              <a:ext cx="1212630" cy="387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F0/0</a:t>
              </a:r>
              <a:endPara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设置外部端口的</a:t>
            </a:r>
            <a:r>
              <a:rPr lang="en-US" altLang="zh-CN"/>
              <a:t>IP</a:t>
            </a:r>
            <a:r>
              <a:rPr lang="zh-CN" altLang="en-US"/>
              <a:t>地址：</a:t>
            </a:r>
            <a:endParaRPr lang="en-US" altLang="zh-CN"/>
          </a:p>
          <a:p>
            <a:pPr>
              <a:spcBef>
                <a:spcPts val="675"/>
              </a:spcBef>
              <a:buNone/>
            </a:pPr>
            <a:endParaRPr lang="zh-CN" altLang="en-US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设置内部端口的</a:t>
            </a:r>
            <a:r>
              <a:rPr lang="en-US" altLang="zh-CN"/>
              <a:t>IP</a:t>
            </a:r>
            <a:r>
              <a:rPr lang="zh-CN" altLang="en-US"/>
              <a:t>地址：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建立静态地址转换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8435" name="AutoShape 8"/>
          <p:cNvSpPr>
            <a:spLocks noChangeArrowheads="1"/>
          </p:cNvSpPr>
          <p:nvPr/>
        </p:nvSpPr>
        <p:spPr bwMode="auto">
          <a:xfrm>
            <a:off x="2138363" y="1714501"/>
            <a:ext cx="7886700" cy="10001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Router(config)#interface FastEthernet 0/0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Router(config-if)#ip address 61.159.62.130 255.255.255.248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Router(config-if)#no shut</a:t>
            </a:r>
            <a:endParaRPr lang="zh-CN" altLang="zh-CN" b="1">
              <a:solidFill>
                <a:schemeClr val="tx2"/>
              </a:solidFill>
            </a:endParaRPr>
          </a:p>
        </p:txBody>
      </p:sp>
      <p:sp>
        <p:nvSpPr>
          <p:cNvPr id="1843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en-US" altLang="zh-CN"/>
              <a:t>4-2</a:t>
            </a:r>
            <a:endParaRPr lang="zh-CN" altLang="en-US"/>
          </a:p>
        </p:txBody>
      </p:sp>
      <p:sp>
        <p:nvSpPr>
          <p:cNvPr id="18437" name="AutoShape 8"/>
          <p:cNvSpPr>
            <a:spLocks noChangeArrowheads="1"/>
          </p:cNvSpPr>
          <p:nvPr/>
        </p:nvSpPr>
        <p:spPr bwMode="auto">
          <a:xfrm>
            <a:off x="2138363" y="3286125"/>
            <a:ext cx="7886700" cy="928688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Router(config)#interface FastEthernet 1/0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Router(config-if)#ip address 192.168.100.1 255.255.255.0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Router(config-if)#no shut</a:t>
            </a:r>
            <a:endParaRPr lang="zh-CN" altLang="zh-CN" b="1">
              <a:solidFill>
                <a:schemeClr val="tx2"/>
              </a:solidFill>
            </a:endParaRPr>
          </a:p>
          <a:p>
            <a:endParaRPr lang="zh-CN" altLang="zh-CN" b="1">
              <a:solidFill>
                <a:schemeClr val="tx2"/>
              </a:solidFill>
            </a:endParaRPr>
          </a:p>
        </p:txBody>
      </p:sp>
      <p:sp>
        <p:nvSpPr>
          <p:cNvPr id="18438" name="AutoShape 8"/>
          <p:cNvSpPr>
            <a:spLocks noChangeArrowheads="1"/>
          </p:cNvSpPr>
          <p:nvPr/>
        </p:nvSpPr>
        <p:spPr bwMode="auto">
          <a:xfrm>
            <a:off x="2095500" y="4929188"/>
            <a:ext cx="7886700" cy="785812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Router(config)#ip nat inside source static 192.168.100.2 61.159.62.130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Router(config)#ip nat inside source static 192.168.100.3 61.159.62.131</a:t>
            </a:r>
            <a:endParaRPr lang="zh-CN" altLang="zh-CN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在内部和外部端口上启用</a:t>
            </a:r>
            <a:r>
              <a:rPr lang="en-US" altLang="en-US">
                <a:cs typeface="Arial" charset="0"/>
              </a:rPr>
              <a:t>NAT</a:t>
            </a: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配置默认路由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945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en-US" altLang="zh-CN"/>
              <a:t>4-3</a:t>
            </a:r>
            <a:endParaRPr lang="zh-CN" altLang="en-US"/>
          </a:p>
        </p:txBody>
      </p:sp>
      <p:sp>
        <p:nvSpPr>
          <p:cNvPr id="19460" name="AutoShape 8"/>
          <p:cNvSpPr>
            <a:spLocks noChangeArrowheads="1"/>
          </p:cNvSpPr>
          <p:nvPr/>
        </p:nvSpPr>
        <p:spPr bwMode="auto">
          <a:xfrm>
            <a:off x="2138363" y="1714501"/>
            <a:ext cx="7886700" cy="1357313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Router(config)#interface FastEthernet 0/0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Router(config-if)#ip nat outside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Router(config)#interface FastEthernet 1/0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Router(config-if)#ip nat inside</a:t>
            </a:r>
            <a:endParaRPr lang="zh-CN" altLang="zh-CN" b="1">
              <a:solidFill>
                <a:schemeClr val="tx2"/>
              </a:solidFill>
            </a:endParaRPr>
          </a:p>
        </p:txBody>
      </p:sp>
      <p:sp>
        <p:nvSpPr>
          <p:cNvPr id="19461" name="AutoShape 8"/>
          <p:cNvSpPr>
            <a:spLocks noChangeArrowheads="1"/>
          </p:cNvSpPr>
          <p:nvPr/>
        </p:nvSpPr>
        <p:spPr bwMode="auto">
          <a:xfrm>
            <a:off x="2095500" y="3857626"/>
            <a:ext cx="7886700" cy="4286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fr-FR" altLang="zh-CN" b="1">
                <a:solidFill>
                  <a:schemeClr val="tx2"/>
                </a:solidFill>
              </a:rPr>
              <a:t>Router(config)#ip route 0.0.0.0 0.0.0.0 61.159.62.129</a:t>
            </a:r>
            <a:endParaRPr lang="zh-CN" altLang="zh-CN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en-US" altLang="zh-CN"/>
              <a:t>4-4</a:t>
            </a:r>
            <a:endParaRPr lang="zh-CN" altLang="en-US"/>
          </a:p>
        </p:txBody>
      </p:sp>
      <p:cxnSp>
        <p:nvCxnSpPr>
          <p:cNvPr id="20484" name="AutoShape 4"/>
          <p:cNvCxnSpPr>
            <a:cxnSpLocks noChangeShapeType="1"/>
          </p:cNvCxnSpPr>
          <p:nvPr/>
        </p:nvCxnSpPr>
        <p:spPr bwMode="auto">
          <a:xfrm>
            <a:off x="2773364" y="2357438"/>
            <a:ext cx="1587" cy="1439862"/>
          </a:xfrm>
          <a:prstGeom prst="bentConnector3">
            <a:avLst>
              <a:gd name="adj1" fmla="val 62099505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20485" name="直接连接符 9"/>
          <p:cNvCxnSpPr>
            <a:cxnSpLocks noChangeShapeType="1"/>
          </p:cNvCxnSpPr>
          <p:nvPr/>
        </p:nvCxnSpPr>
        <p:spPr bwMode="auto">
          <a:xfrm>
            <a:off x="3783014" y="3087689"/>
            <a:ext cx="5578475" cy="15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204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3379788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1992313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90"/>
          <p:cNvGrpSpPr>
            <a:grpSpLocks/>
          </p:cNvGrpSpPr>
          <p:nvPr/>
        </p:nvGrpSpPr>
        <p:grpSpPr bwMode="auto">
          <a:xfrm>
            <a:off x="6811963" y="2708276"/>
            <a:ext cx="1339850" cy="784225"/>
            <a:chOff x="4932363" y="3338513"/>
            <a:chExt cx="1339464" cy="784234"/>
          </a:xfrm>
        </p:grpSpPr>
        <p:pic>
          <p:nvPicPr>
            <p:cNvPr id="20557" name="Picture 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32363" y="3338513"/>
              <a:ext cx="1339464" cy="784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083132" y="3565529"/>
              <a:ext cx="991902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</a:p>
          </p:txBody>
        </p:sp>
      </p:grpSp>
      <p:pic>
        <p:nvPicPr>
          <p:cNvPr id="20489" name="Picture 10" descr="black_ser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64625" y="2713039"/>
            <a:ext cx="8509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641476" y="4000500"/>
            <a:ext cx="153352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192.168.100.2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1677988" y="2601914"/>
            <a:ext cx="1497012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192.168.100.3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8747125" y="3416300"/>
            <a:ext cx="152558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155.34.2.3</a:t>
            </a:r>
          </a:p>
        </p:txBody>
      </p:sp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8215314" y="275907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6" name="Group 20"/>
          <p:cNvGraphicFramePr>
            <a:graphicFrameLocks noGrp="1"/>
          </p:cNvGraphicFramePr>
          <p:nvPr/>
        </p:nvGraphicFramePr>
        <p:xfrm>
          <a:off x="3087689" y="4122738"/>
          <a:ext cx="1657387" cy="670560"/>
        </p:xfrm>
        <a:graphic>
          <a:graphicData uri="http://schemas.openxmlformats.org/drawingml/2006/table">
            <a:tbl>
              <a:tblPr/>
              <a:tblGrid>
                <a:gridCol w="165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192.168.100.2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Group 28"/>
          <p:cNvGraphicFramePr>
            <a:graphicFrameLocks noGrp="1"/>
          </p:cNvGraphicFramePr>
          <p:nvPr/>
        </p:nvGraphicFramePr>
        <p:xfrm>
          <a:off x="5694363" y="3684588"/>
          <a:ext cx="1584362" cy="670560"/>
        </p:xfrm>
        <a:graphic>
          <a:graphicData uri="http://schemas.openxmlformats.org/drawingml/2006/table">
            <a:tbl>
              <a:tblPr/>
              <a:tblGrid>
                <a:gridCol w="158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SimSun" pitchFamily="2" charset="-122"/>
                          <a:cs typeface="+mn-cs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36"/>
          <p:cNvGraphicFramePr>
            <a:graphicFrameLocks noGrp="1"/>
          </p:cNvGraphicFramePr>
          <p:nvPr/>
        </p:nvGraphicFramePr>
        <p:xfrm>
          <a:off x="7907338" y="1857375"/>
          <a:ext cx="1689124" cy="670560"/>
        </p:xfrm>
        <a:graphic>
          <a:graphicData uri="http://schemas.openxmlformats.org/drawingml/2006/table">
            <a:tbl>
              <a:tblPr/>
              <a:tblGrid>
                <a:gridCol w="1689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Group 44"/>
          <p:cNvGraphicFramePr>
            <a:graphicFrameLocks noGrp="1"/>
          </p:cNvGraphicFramePr>
          <p:nvPr/>
        </p:nvGraphicFramePr>
        <p:xfrm>
          <a:off x="3817938" y="1846263"/>
          <a:ext cx="1706558" cy="670560"/>
        </p:xfrm>
        <a:graphic>
          <a:graphicData uri="http://schemas.openxmlformats.org/drawingml/2006/table">
            <a:tbl>
              <a:tblPr/>
              <a:tblGrid>
                <a:gridCol w="1706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192.168.100.2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80"/>
          <p:cNvGrpSpPr>
            <a:grpSpLocks/>
          </p:cNvGrpSpPr>
          <p:nvPr/>
        </p:nvGrpSpPr>
        <p:grpSpPr bwMode="auto">
          <a:xfrm>
            <a:off x="4814888" y="2730501"/>
            <a:ext cx="1230312" cy="684213"/>
            <a:chOff x="2073" y="1720"/>
            <a:chExt cx="775" cy="431"/>
          </a:xfrm>
        </p:grpSpPr>
        <p:pic>
          <p:nvPicPr>
            <p:cNvPr id="20555" name="Picture 6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073" y="1720"/>
              <a:ext cx="775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52"/>
            <p:cNvSpPr txBox="1">
              <a:spLocks noChangeArrowheads="1"/>
            </p:cNvSpPr>
            <p:nvPr/>
          </p:nvSpPr>
          <p:spPr bwMode="auto">
            <a:xfrm>
              <a:off x="2200" y="1939"/>
              <a:ext cx="545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NAT</a:t>
              </a:r>
            </a:p>
          </p:txBody>
        </p:sp>
      </p:grpSp>
      <p:sp>
        <p:nvSpPr>
          <p:cNvPr id="23" name="Text Box 53"/>
          <p:cNvSpPr txBox="1">
            <a:spLocks noChangeArrowheads="1"/>
          </p:cNvSpPr>
          <p:nvPr/>
        </p:nvSpPr>
        <p:spPr bwMode="auto">
          <a:xfrm>
            <a:off x="6748464" y="4560889"/>
            <a:ext cx="124618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</a:t>
            </a:r>
            <a:r>
              <a: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转换表</a:t>
            </a:r>
          </a:p>
        </p:txBody>
      </p:sp>
      <p:graphicFrame>
        <p:nvGraphicFramePr>
          <p:cNvPr id="24" name="Group 54"/>
          <p:cNvGraphicFramePr>
            <a:graphicFrameLocks noGrp="1"/>
          </p:cNvGraphicFramePr>
          <p:nvPr/>
        </p:nvGraphicFramePr>
        <p:xfrm>
          <a:off x="4343400" y="4879975"/>
          <a:ext cx="6134182" cy="1005840"/>
        </p:xfrm>
        <a:graphic>
          <a:graphicData uri="http://schemas.openxmlformats.org/drawingml/2006/table">
            <a:tbl>
              <a:tblPr/>
              <a:tblGrid>
                <a:gridCol w="669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1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协议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内部用局部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内部用全局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外部用全局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192.168.100.2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155.34.2.3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192.168.100.3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61.159.62.132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155.34.2.3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AutoShape 18"/>
          <p:cNvSpPr>
            <a:spLocks noChangeArrowheads="1"/>
          </p:cNvSpPr>
          <p:nvPr/>
        </p:nvSpPr>
        <p:spPr bwMode="auto">
          <a:xfrm flipH="1">
            <a:off x="3321050" y="3830639"/>
            <a:ext cx="750888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AutoShape 18"/>
          <p:cNvSpPr>
            <a:spLocks noChangeArrowheads="1"/>
          </p:cNvSpPr>
          <p:nvPr/>
        </p:nvSpPr>
        <p:spPr bwMode="auto">
          <a:xfrm flipH="1">
            <a:off x="6118225" y="3319464"/>
            <a:ext cx="750888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AutoShape 18"/>
          <p:cNvSpPr>
            <a:spLocks noChangeArrowheads="1"/>
          </p:cNvSpPr>
          <p:nvPr/>
        </p:nvSpPr>
        <p:spPr bwMode="auto">
          <a:xfrm>
            <a:off x="3963989" y="261302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AutoShape 4"/>
          <p:cNvSpPr>
            <a:spLocks noChangeArrowheads="1"/>
          </p:cNvSpPr>
          <p:nvPr/>
        </p:nvSpPr>
        <p:spPr bwMode="auto">
          <a:xfrm>
            <a:off x="4124325" y="3648075"/>
            <a:ext cx="1525588" cy="374650"/>
          </a:xfrm>
          <a:prstGeom prst="wedgeRoundRectCallout">
            <a:avLst>
              <a:gd name="adj1" fmla="val -6950"/>
              <a:gd name="adj2" fmla="val -18528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+mj-lt"/>
                <a:ea typeface="宋体" pitchFamily="2" charset="-122"/>
                <a:cs typeface="Times New Roman" pitchFamily="18" charset="0"/>
              </a:rPr>
              <a:t>192.168.100.1</a:t>
            </a:r>
          </a:p>
        </p:txBody>
      </p:sp>
      <p:sp>
        <p:nvSpPr>
          <p:cNvPr id="20554" name="AutoShape 4"/>
          <p:cNvSpPr>
            <a:spLocks noChangeArrowheads="1"/>
          </p:cNvSpPr>
          <p:nvPr/>
        </p:nvSpPr>
        <p:spPr bwMode="auto">
          <a:xfrm>
            <a:off x="5848350" y="2214563"/>
            <a:ext cx="1525588" cy="374650"/>
          </a:xfrm>
          <a:prstGeom prst="wedgeRoundRectCallout">
            <a:avLst>
              <a:gd name="adj1" fmla="val -32824"/>
              <a:gd name="adj2" fmla="val 16237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ea typeface="宋体" charset="-122"/>
                <a:cs typeface="Arial" charset="0"/>
              </a:rPr>
              <a:t>61.159.62.130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06" name="直接连接符 33"/>
          <p:cNvCxnSpPr>
            <a:cxnSpLocks noChangeShapeType="1"/>
          </p:cNvCxnSpPr>
          <p:nvPr/>
        </p:nvCxnSpPr>
        <p:spPr bwMode="auto">
          <a:xfrm flipV="1">
            <a:off x="4241800" y="5286375"/>
            <a:ext cx="4643438" cy="38100"/>
          </a:xfrm>
          <a:prstGeom prst="line">
            <a:avLst/>
          </a:prstGeom>
          <a:noFill/>
          <a:ln w="25400" algn="ctr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310188" y="5114925"/>
            <a:ext cx="900112" cy="528638"/>
            <a:chOff x="2381" y="2931"/>
            <a:chExt cx="567" cy="333"/>
          </a:xfrm>
        </p:grpSpPr>
        <p:pic>
          <p:nvPicPr>
            <p:cNvPr id="21538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381" y="2931"/>
              <a:ext cx="567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39" name="Text Box 52"/>
            <p:cNvSpPr txBox="1">
              <a:spLocks noChangeArrowheads="1"/>
            </p:cNvSpPr>
            <p:nvPr/>
          </p:nvSpPr>
          <p:spPr bwMode="auto">
            <a:xfrm>
              <a:off x="2422" y="3072"/>
              <a:ext cx="512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400" b="1">
                  <a:solidFill>
                    <a:schemeClr val="bg1"/>
                  </a:solidFill>
                  <a:cs typeface="Arial" charset="0"/>
                </a:rPr>
                <a:t>NAT</a:t>
              </a:r>
            </a:p>
          </p:txBody>
        </p:sp>
      </p:grpSp>
      <p:sp>
        <p:nvSpPr>
          <p:cNvPr id="2150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42875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建立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端口映射关系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配置实例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</p:txBody>
      </p:sp>
      <p:sp>
        <p:nvSpPr>
          <p:cNvPr id="2150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NAT</a:t>
            </a:r>
            <a:r>
              <a:rPr lang="zh-CN"/>
              <a:t>端口映射</a:t>
            </a:r>
            <a:endParaRPr lang="zh-CN" altLang="en-US"/>
          </a:p>
        </p:txBody>
      </p:sp>
      <p:sp>
        <p:nvSpPr>
          <p:cNvPr id="21510" name="AutoShape 8"/>
          <p:cNvSpPr>
            <a:spLocks noChangeArrowheads="1"/>
          </p:cNvSpPr>
          <p:nvPr/>
        </p:nvSpPr>
        <p:spPr bwMode="auto">
          <a:xfrm>
            <a:off x="2138364" y="1785939"/>
            <a:ext cx="7743825" cy="71437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Router(config)#ip nat inside source static </a:t>
            </a:r>
            <a:r>
              <a:rPr lang="en-US" altLang="zh-CN" b="1" i="1">
                <a:solidFill>
                  <a:schemeClr val="tx2"/>
                </a:solidFill>
              </a:rPr>
              <a:t>protocol local-ip UDP/TCP-port global-ip UDP/TCP-port</a:t>
            </a:r>
            <a:r>
              <a:rPr lang="en-US" altLang="zh-CN" b="1">
                <a:solidFill>
                  <a:schemeClr val="tx2"/>
                </a:solidFill>
              </a:rPr>
              <a:t> [extendable]</a:t>
            </a:r>
            <a:endParaRPr lang="zh-CN" altLang="zh-CN" b="1">
              <a:solidFill>
                <a:schemeClr val="tx2"/>
              </a:solidFill>
            </a:endParaRPr>
          </a:p>
        </p:txBody>
      </p:sp>
      <p:sp>
        <p:nvSpPr>
          <p:cNvPr id="21511" name="AutoShape 8"/>
          <p:cNvSpPr>
            <a:spLocks noChangeArrowheads="1"/>
          </p:cNvSpPr>
          <p:nvPr/>
        </p:nvSpPr>
        <p:spPr bwMode="auto">
          <a:xfrm>
            <a:off x="2138364" y="3286126"/>
            <a:ext cx="7672387" cy="71437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Router(config)#ip nat inside source static tcp 192.168.100.2 80 61.159.62.131 8080 extendable</a:t>
            </a:r>
            <a:endParaRPr lang="zh-CN" altLang="en-US" b="1">
              <a:solidFill>
                <a:schemeClr val="tx2"/>
              </a:solidFill>
            </a:endParaRPr>
          </a:p>
        </p:txBody>
      </p:sp>
      <p:grpSp>
        <p:nvGrpSpPr>
          <p:cNvPr id="3" name="组合 90"/>
          <p:cNvGrpSpPr>
            <a:grpSpLocks/>
          </p:cNvGrpSpPr>
          <p:nvPr/>
        </p:nvGrpSpPr>
        <p:grpSpPr bwMode="auto">
          <a:xfrm>
            <a:off x="6738938" y="4927601"/>
            <a:ext cx="1339850" cy="784225"/>
            <a:chOff x="4860946" y="3338513"/>
            <a:chExt cx="1339464" cy="784234"/>
          </a:xfrm>
        </p:grpSpPr>
        <p:pic>
          <p:nvPicPr>
            <p:cNvPr id="21536" name="Picture 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860946" y="3338513"/>
              <a:ext cx="1339464" cy="784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5083132" y="3565529"/>
              <a:ext cx="991901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</a:p>
          </p:txBody>
        </p:sp>
      </p:grpSp>
      <p:sp>
        <p:nvSpPr>
          <p:cNvPr id="21513" name="Rectangle 27"/>
          <p:cNvSpPr>
            <a:spLocks noChangeArrowheads="1"/>
          </p:cNvSpPr>
          <p:nvPr/>
        </p:nvSpPr>
        <p:spPr bwMode="auto">
          <a:xfrm>
            <a:off x="2381250" y="5267325"/>
            <a:ext cx="1316038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chemeClr val="tx2"/>
                </a:solidFill>
              </a:rPr>
              <a:t>192.168.100.2</a:t>
            </a:r>
            <a:endParaRPr lang="zh-CN" altLang="en-US" sz="1400" b="1">
              <a:solidFill>
                <a:schemeClr val="tx2"/>
              </a:solidFill>
            </a:endParaRPr>
          </a:p>
        </p:txBody>
      </p:sp>
      <p:pic>
        <p:nvPicPr>
          <p:cNvPr id="21514" name="Picture 31" descr="电脑图标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810626" y="4929189"/>
            <a:ext cx="5762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5" name="Picture 40" descr="web_server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38564" y="5072064"/>
            <a:ext cx="503237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46"/>
          <p:cNvSpPr>
            <a:spLocks noChangeArrowheads="1"/>
          </p:cNvSpPr>
          <p:nvPr/>
        </p:nvSpPr>
        <p:spPr bwMode="auto">
          <a:xfrm>
            <a:off x="5953125" y="4572000"/>
            <a:ext cx="1836738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b="1">
                <a:solidFill>
                  <a:schemeClr val="tx2"/>
                </a:solidFill>
              </a:rPr>
              <a:t>61.159.62.131</a:t>
            </a:r>
            <a:r>
              <a:rPr lang="en-US" altLang="zh-CN" sz="1400" b="1"/>
              <a:t> </a:t>
            </a:r>
            <a:r>
              <a:rPr lang="en-US" altLang="zh-CN" sz="1400" b="1">
                <a:solidFill>
                  <a:srgbClr val="FF3300"/>
                </a:solidFill>
              </a:rPr>
              <a:t>8080</a:t>
            </a:r>
            <a:endParaRPr lang="zh-CN" altLang="en-US" sz="1400" b="1">
              <a:solidFill>
                <a:srgbClr val="FF3300"/>
              </a:solidFill>
            </a:endParaRPr>
          </a:p>
        </p:txBody>
      </p:sp>
      <p:cxnSp>
        <p:nvCxnSpPr>
          <p:cNvPr id="38" name="直接箭头连接符 37"/>
          <p:cNvCxnSpPr>
            <a:cxnSpLocks noChangeShapeType="1"/>
          </p:cNvCxnSpPr>
          <p:nvPr/>
        </p:nvCxnSpPr>
        <p:spPr bwMode="auto">
          <a:xfrm rot="10800000">
            <a:off x="6453189" y="5072064"/>
            <a:ext cx="1285875" cy="1587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prstDash val="lgDash"/>
            <a:round/>
            <a:headEnd/>
            <a:tailEnd type="arrow" w="med" len="med"/>
          </a:ln>
        </p:spPr>
      </p:cxnSp>
      <p:sp>
        <p:nvSpPr>
          <p:cNvPr id="42" name="Rectangle 46"/>
          <p:cNvSpPr>
            <a:spLocks noChangeArrowheads="1"/>
          </p:cNvSpPr>
          <p:nvPr/>
        </p:nvSpPr>
        <p:spPr bwMode="auto">
          <a:xfrm>
            <a:off x="4024313" y="4572000"/>
            <a:ext cx="17145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 b="1">
                <a:solidFill>
                  <a:schemeClr val="tx2"/>
                </a:solidFill>
              </a:rPr>
              <a:t>192.168.100.2  </a:t>
            </a:r>
            <a:r>
              <a:rPr lang="en-US" altLang="zh-CN" sz="1400" b="1">
                <a:solidFill>
                  <a:srgbClr val="FF3300"/>
                </a:solidFill>
              </a:rPr>
              <a:t>80</a:t>
            </a:r>
            <a:endParaRPr lang="zh-CN" altLang="en-US" sz="1400" b="1">
              <a:solidFill>
                <a:srgbClr val="FF3300"/>
              </a:solidFill>
            </a:endParaRPr>
          </a:p>
        </p:txBody>
      </p:sp>
      <p:graphicFrame>
        <p:nvGraphicFramePr>
          <p:cNvPr id="43" name="Group 54"/>
          <p:cNvGraphicFramePr>
            <a:graphicFrameLocks noGrp="1"/>
          </p:cNvGraphicFramePr>
          <p:nvPr/>
        </p:nvGraphicFramePr>
        <p:xfrm>
          <a:off x="2660650" y="5786438"/>
          <a:ext cx="6507190" cy="670560"/>
        </p:xfrm>
        <a:graphic>
          <a:graphicData uri="http://schemas.openxmlformats.org/drawingml/2006/table">
            <a:tbl>
              <a:tblPr/>
              <a:tblGrid>
                <a:gridCol w="62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协议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内部用局部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内部用全局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外部用全局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192.168.100.2:80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61.159.62.131:8080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155.34.2.3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将内部地址</a:t>
            </a:r>
            <a:r>
              <a:rPr lang="en-US" altLang="zh-CN">
                <a:cs typeface="Arial" charset="0"/>
              </a:rPr>
              <a:t>192.168.100.2</a:t>
            </a:r>
            <a:r>
              <a:rPr lang="zh-CN" altLang="en-US">
                <a:cs typeface="Arial" charset="0"/>
              </a:rPr>
              <a:t>～</a:t>
            </a:r>
            <a:r>
              <a:rPr lang="en-US" altLang="zh-CN">
                <a:cs typeface="Arial" charset="0"/>
              </a:rPr>
              <a:t>192.168.100.254</a:t>
            </a:r>
            <a:r>
              <a:rPr lang="zh-CN" altLang="en-US">
                <a:cs typeface="Arial" charset="0"/>
              </a:rPr>
              <a:t>转换为合法地址</a:t>
            </a:r>
            <a:r>
              <a:rPr lang="en-US" altLang="zh-CN">
                <a:cs typeface="Arial" charset="0"/>
              </a:rPr>
              <a:t>61.159.62.131</a:t>
            </a:r>
            <a:r>
              <a:rPr lang="zh-CN" altLang="en-US">
                <a:cs typeface="Arial" charset="0"/>
              </a:rPr>
              <a:t>～</a:t>
            </a:r>
            <a:r>
              <a:rPr lang="en-US" altLang="zh-CN">
                <a:cs typeface="Arial" charset="0"/>
              </a:rPr>
              <a:t>61.159.62.190</a:t>
            </a:r>
            <a:r>
              <a:rPr lang="zh-CN" altLang="en-US">
                <a:cs typeface="Arial" charset="0"/>
              </a:rPr>
              <a:t>，以便访问</a:t>
            </a:r>
            <a:r>
              <a:rPr lang="en-US" altLang="zh-CN">
                <a:cs typeface="Arial" charset="0"/>
              </a:rPr>
              <a:t>Internet</a:t>
            </a:r>
            <a:endParaRPr lang="zh-CN" altLang="en-US">
              <a:cs typeface="Arial" charset="0"/>
            </a:endParaRP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253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en-US" altLang="zh-CN"/>
              <a:t>3-1</a:t>
            </a:r>
            <a:endParaRPr lang="zh-CN" altLang="en-US"/>
          </a:p>
        </p:txBody>
      </p:sp>
      <p:grpSp>
        <p:nvGrpSpPr>
          <p:cNvPr id="2" name="组合 65"/>
          <p:cNvGrpSpPr>
            <a:grpSpLocks/>
          </p:cNvGrpSpPr>
          <p:nvPr/>
        </p:nvGrpSpPr>
        <p:grpSpPr bwMode="auto">
          <a:xfrm>
            <a:off x="3759201" y="2286000"/>
            <a:ext cx="4790469" cy="4373978"/>
            <a:chOff x="2162142" y="899665"/>
            <a:chExt cx="4993043" cy="4591162"/>
          </a:xfrm>
        </p:grpSpPr>
        <p:cxnSp>
          <p:nvCxnSpPr>
            <p:cNvPr id="22535" name="直接连接符 38"/>
            <p:cNvCxnSpPr>
              <a:cxnSpLocks noChangeShapeType="1"/>
            </p:cNvCxnSpPr>
            <p:nvPr/>
          </p:nvCxnSpPr>
          <p:spPr bwMode="auto">
            <a:xfrm rot="5400000">
              <a:off x="3787764" y="2331367"/>
              <a:ext cx="1716111" cy="1588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22536" name="Picture 9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24305" y="1985287"/>
              <a:ext cx="1206463" cy="65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537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87792" y="3117190"/>
              <a:ext cx="1277954" cy="511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538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71681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539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86149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540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959494" y="4500475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541" name="Picture 3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878253" y="899665"/>
              <a:ext cx="1496380" cy="720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2542" name="直接连接符 39"/>
            <p:cNvCxnSpPr>
              <a:cxnSpLocks noChangeShapeType="1"/>
            </p:cNvCxnSpPr>
            <p:nvPr/>
          </p:nvCxnSpPr>
          <p:spPr bwMode="auto">
            <a:xfrm rot="5400000">
              <a:off x="3197879" y="3085562"/>
              <a:ext cx="886081" cy="1971701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2543" name="直接连接符 43"/>
            <p:cNvCxnSpPr>
              <a:cxnSpLocks noChangeShapeType="1"/>
            </p:cNvCxnSpPr>
            <p:nvPr/>
          </p:nvCxnSpPr>
          <p:spPr bwMode="auto">
            <a:xfrm rot="5400000">
              <a:off x="3855113" y="3742796"/>
              <a:ext cx="886081" cy="657233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2544" name="直接连接符 46"/>
            <p:cNvCxnSpPr>
              <a:cxnSpLocks noChangeShapeType="1"/>
            </p:cNvCxnSpPr>
            <p:nvPr/>
          </p:nvCxnSpPr>
          <p:spPr bwMode="auto">
            <a:xfrm rot="16200000" flipH="1">
              <a:off x="5048774" y="3206367"/>
              <a:ext cx="872103" cy="1716112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198544" y="5135463"/>
              <a:ext cx="4856340" cy="3553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192.168.100.2</a:t>
              </a:r>
              <a:r>
                <a:rPr lang="zh-CN" altLang="en-US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～</a:t>
              </a:r>
              <a:r>
                <a:rPr lang="en-US" altLang="zh-CN" sz="1600" b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192.168.100.254/24</a:t>
              </a:r>
              <a:endPara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4425676" y="4478931"/>
              <a:ext cx="1461039" cy="58150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3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………</a:t>
              </a:r>
            </a:p>
          </p:txBody>
        </p:sp>
        <p:sp>
          <p:nvSpPr>
            <p:cNvPr id="17" name="Rectangle 2"/>
            <p:cNvSpPr>
              <a:spLocks noChangeArrowheads="1"/>
            </p:cNvSpPr>
            <p:nvPr/>
          </p:nvSpPr>
          <p:spPr bwMode="auto">
            <a:xfrm>
              <a:off x="2162142" y="3017565"/>
              <a:ext cx="4819938" cy="2409506"/>
            </a:xfrm>
            <a:prstGeom prst="rect">
              <a:avLst/>
            </a:prstGeom>
            <a:noFill/>
            <a:ln w="19050" algn="ctr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198544" y="3054224"/>
              <a:ext cx="1169824" cy="3553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内部网络</a:t>
              </a:r>
            </a:p>
          </p:txBody>
        </p:sp>
        <p:sp>
          <p:nvSpPr>
            <p:cNvPr id="19" name="AutoShape 4"/>
            <p:cNvSpPr>
              <a:spLocks noChangeArrowheads="1"/>
            </p:cNvSpPr>
            <p:nvPr/>
          </p:nvSpPr>
          <p:spPr bwMode="auto">
            <a:xfrm>
              <a:off x="2249838" y="2396025"/>
              <a:ext cx="1763055" cy="428913"/>
            </a:xfrm>
            <a:prstGeom prst="wedgeRoundRectCallout">
              <a:avLst>
                <a:gd name="adj1" fmla="val 82552"/>
                <a:gd name="adj2" fmla="val 1875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>
                <a:defRPr/>
              </a:pPr>
              <a:r>
                <a:rPr lang="en-US" altLang="zh-CN" b="1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192.168.100.1</a:t>
              </a:r>
              <a:endParaRPr lang="en-US" altLang="zh-CN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endParaRPr>
            </a:p>
          </p:txBody>
        </p:sp>
        <p:sp>
          <p:nvSpPr>
            <p:cNvPr id="20" name="AutoShape 4"/>
            <p:cNvSpPr>
              <a:spLocks noChangeArrowheads="1"/>
            </p:cNvSpPr>
            <p:nvPr/>
          </p:nvSpPr>
          <p:spPr bwMode="auto">
            <a:xfrm>
              <a:off x="2249838" y="1649179"/>
              <a:ext cx="1763055" cy="428913"/>
            </a:xfrm>
            <a:prstGeom prst="wedgeRoundRectCallout">
              <a:avLst>
                <a:gd name="adj1" fmla="val 82552"/>
                <a:gd name="adj2" fmla="val 1875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61.159.62.130</a:t>
              </a:r>
            </a:p>
          </p:txBody>
        </p:sp>
        <p:sp>
          <p:nvSpPr>
            <p:cNvPr id="22551" name="AutoShape 4"/>
            <p:cNvSpPr>
              <a:spLocks noChangeArrowheads="1"/>
            </p:cNvSpPr>
            <p:nvPr/>
          </p:nvSpPr>
          <p:spPr bwMode="auto">
            <a:xfrm>
              <a:off x="5448312" y="2416087"/>
              <a:ext cx="1703651" cy="428913"/>
            </a:xfrm>
            <a:prstGeom prst="wedgeRoundRectCallout">
              <a:avLst>
                <a:gd name="adj1" fmla="val -95190"/>
                <a:gd name="adj2" fmla="val 1258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NAT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内部端口</a:t>
              </a:r>
            </a:p>
          </p:txBody>
        </p:sp>
        <p:sp>
          <p:nvSpPr>
            <p:cNvPr id="22552" name="AutoShape 4"/>
            <p:cNvSpPr>
              <a:spLocks noChangeArrowheads="1"/>
            </p:cNvSpPr>
            <p:nvPr/>
          </p:nvSpPr>
          <p:spPr bwMode="auto">
            <a:xfrm>
              <a:off x="5451534" y="1651776"/>
              <a:ext cx="1703651" cy="428913"/>
            </a:xfrm>
            <a:prstGeom prst="wedgeRoundRectCallout">
              <a:avLst>
                <a:gd name="adj1" fmla="val -95190"/>
                <a:gd name="adj2" fmla="val 1258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NAT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外部端口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4023601" y="1077962"/>
              <a:ext cx="1279029" cy="3876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  <a:endPara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5310189" y="2928939"/>
            <a:ext cx="109378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F0/0</a:t>
            </a:r>
            <a:endParaRPr lang="zh-CN" altLang="en-US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5881689" y="4000500"/>
            <a:ext cx="109378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F1/0</a:t>
            </a:r>
            <a:endParaRPr lang="zh-CN" altLang="en-US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设置外部端口的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地址：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设置内部端口的</a:t>
            </a:r>
            <a:r>
              <a:rPr lang="en-US" altLang="en-US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地址：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</p:txBody>
      </p:sp>
      <p:sp>
        <p:nvSpPr>
          <p:cNvPr id="2355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en-US" altLang="zh-CN"/>
              <a:t>3-2</a:t>
            </a:r>
            <a:endParaRPr lang="zh-CN" altLang="en-US"/>
          </a:p>
        </p:txBody>
      </p:sp>
      <p:grpSp>
        <p:nvGrpSpPr>
          <p:cNvPr id="3" name="组合 9"/>
          <p:cNvGrpSpPr>
            <a:grpSpLocks/>
          </p:cNvGrpSpPr>
          <p:nvPr/>
        </p:nvGrpSpPr>
        <p:grpSpPr bwMode="auto">
          <a:xfrm>
            <a:off x="1738313" y="1143000"/>
            <a:ext cx="8501062" cy="5143500"/>
            <a:chOff x="214282" y="1142984"/>
            <a:chExt cx="8501122" cy="5143536"/>
          </a:xfrm>
        </p:grpSpPr>
        <p:sp>
          <p:nvSpPr>
            <p:cNvPr id="9" name="内容占位符 1"/>
            <p:cNvSpPr txBox="1">
              <a:spLocks/>
            </p:cNvSpPr>
            <p:nvPr/>
          </p:nvSpPr>
          <p:spPr bwMode="auto">
            <a:xfrm>
              <a:off x="214282" y="1142984"/>
              <a:ext cx="8501122" cy="5143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en-US" altLang="en-US" sz="2800" b="1" dirty="0" err="1">
                  <a:solidFill>
                    <a:schemeClr val="tx2"/>
                  </a:solidFill>
                  <a:cs typeface="Arial" charset="0"/>
                </a:rPr>
                <a:t>定义访问控制列表</a:t>
              </a:r>
              <a:r>
                <a:rPr lang="en-US" altLang="en-US" sz="2800" b="1" dirty="0">
                  <a:solidFill>
                    <a:schemeClr val="tx2"/>
                  </a:solidFill>
                  <a:cs typeface="Arial" charset="0"/>
                </a:rPr>
                <a:t> </a:t>
              </a: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</a:endParaRPr>
            </a:p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zh-CN" altLang="en-US" sz="2800" b="1" dirty="0">
                  <a:solidFill>
                    <a:schemeClr val="tx2"/>
                  </a:solidFill>
                  <a:cs typeface="Arial" charset="0"/>
                </a:rPr>
                <a:t>定义合法</a:t>
              </a:r>
              <a:r>
                <a:rPr lang="en-US" altLang="zh-CN" sz="2800" b="1" dirty="0">
                  <a:solidFill>
                    <a:schemeClr val="tx2"/>
                  </a:solidFill>
                  <a:cs typeface="Arial" charset="0"/>
                </a:rPr>
                <a:t>IP</a:t>
              </a:r>
              <a:r>
                <a:rPr lang="zh-CN" altLang="en-US" sz="2800" b="1" dirty="0">
                  <a:solidFill>
                    <a:schemeClr val="tx2"/>
                  </a:solidFill>
                  <a:cs typeface="Arial" charset="0"/>
                </a:rPr>
                <a:t>地址池</a:t>
              </a:r>
              <a:endParaRPr lang="en-US" altLang="zh-CN" sz="2800" b="1" dirty="0">
                <a:solidFill>
                  <a:schemeClr val="tx2"/>
                </a:solidFill>
                <a:cs typeface="Arial" charset="0"/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</a:endParaRPr>
            </a:p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zh-CN" altLang="en-US" sz="2800" b="1" dirty="0">
                  <a:solidFill>
                    <a:schemeClr val="tx2"/>
                  </a:solidFill>
                  <a:cs typeface="Arial" charset="0"/>
                </a:rPr>
                <a:t>实现网络地址转换</a:t>
              </a:r>
              <a:endParaRPr lang="en-US" altLang="zh-CN" sz="2800" b="1" dirty="0">
                <a:solidFill>
                  <a:schemeClr val="tx2"/>
                </a:solidFill>
                <a:cs typeface="Arial" charset="0"/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  <a:cs typeface="Arial" charset="0"/>
              </a:endParaRPr>
            </a:p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zh-CN" altLang="en-US" sz="2800" b="1" dirty="0">
                  <a:solidFill>
                    <a:schemeClr val="tx2"/>
                  </a:solidFill>
                  <a:cs typeface="Arial" charset="0"/>
                </a:rPr>
                <a:t>在内部和外部端口上启用</a:t>
              </a:r>
              <a:r>
                <a:rPr lang="en-US" altLang="zh-CN" sz="2800" b="1" dirty="0">
                  <a:solidFill>
                    <a:schemeClr val="tx2"/>
                  </a:solidFill>
                  <a:cs typeface="Arial" charset="0"/>
                </a:rPr>
                <a:t>NAT</a:t>
              </a:r>
              <a:r>
                <a:rPr lang="zh-CN" altLang="en-US" sz="2800" b="1" dirty="0">
                  <a:solidFill>
                    <a:schemeClr val="tx2"/>
                  </a:solidFill>
                  <a:cs typeface="Arial" charset="0"/>
                </a:rPr>
                <a:t>，以及配置默认路由</a:t>
              </a:r>
              <a:endParaRPr lang="en-US" altLang="zh-CN" sz="2800" b="1" dirty="0">
                <a:solidFill>
                  <a:schemeClr val="tx2"/>
                </a:solidFill>
                <a:cs typeface="Arial" charset="0"/>
              </a:endParaRPr>
            </a:p>
            <a:p>
              <a:pPr marL="800100" lvl="1" indent="-342900" eaLnBrk="0" hangingPunct="0">
                <a:spcBef>
                  <a:spcPts val="672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/>
              </a:pPr>
              <a:r>
                <a:rPr lang="zh-CN" altLang="en-US" sz="2400" b="1" dirty="0">
                  <a:solidFill>
                    <a:schemeClr val="tx2"/>
                  </a:solidFill>
                  <a:latin typeface="+mn-ea"/>
                  <a:cs typeface="Arial" charset="0"/>
                </a:rPr>
                <a:t>与静态</a:t>
              </a:r>
              <a:r>
                <a:rPr lang="en-US" altLang="zh-CN" sz="2400" b="1" dirty="0">
                  <a:solidFill>
                    <a:schemeClr val="tx2"/>
                  </a:solidFill>
                  <a:latin typeface="+mn-ea"/>
                  <a:cs typeface="Arial" charset="0"/>
                </a:rPr>
                <a:t>NAT</a:t>
              </a:r>
              <a:r>
                <a:rPr lang="zh-CN" altLang="en-US" sz="2400" b="1" dirty="0">
                  <a:solidFill>
                    <a:schemeClr val="tx2"/>
                  </a:solidFill>
                  <a:latin typeface="+mn-ea"/>
                  <a:cs typeface="Arial" charset="0"/>
                </a:rPr>
                <a:t>配置相同</a:t>
              </a:r>
              <a:endParaRPr lang="en-US" altLang="zh-CN" sz="2400" b="1" dirty="0">
                <a:solidFill>
                  <a:schemeClr val="tx2"/>
                </a:solidFill>
                <a:latin typeface="+mn-ea"/>
                <a:cs typeface="Arial" charset="0"/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zh-CN" altLang="en-US" sz="2800" b="1" kern="0" dirty="0">
                <a:solidFill>
                  <a:schemeClr val="tx2"/>
                </a:solidFill>
                <a:cs typeface="Arial" charset="0"/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</a:endParaRPr>
            </a:p>
          </p:txBody>
        </p:sp>
        <p:sp>
          <p:nvSpPr>
            <p:cNvPr id="6" name="AutoShape 8"/>
            <p:cNvSpPr>
              <a:spLocks noChangeArrowheads="1"/>
            </p:cNvSpPr>
            <p:nvPr/>
          </p:nvSpPr>
          <p:spPr bwMode="auto">
            <a:xfrm>
              <a:off x="500034" y="1674801"/>
              <a:ext cx="7601004" cy="396878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lvl="1"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cs typeface="Arial" charset="0"/>
                </a:rPr>
                <a:t>Router(</a:t>
              </a:r>
              <a:r>
                <a:rPr lang="en-US" altLang="zh-CN" sz="1600" b="1" dirty="0" err="1">
                  <a:solidFill>
                    <a:schemeClr val="tx2"/>
                  </a:solidFill>
                  <a:cs typeface="Arial" charset="0"/>
                </a:rPr>
                <a:t>config</a:t>
              </a:r>
              <a:r>
                <a:rPr lang="en-US" altLang="zh-CN" sz="1600" b="1" dirty="0">
                  <a:solidFill>
                    <a:schemeClr val="tx2"/>
                  </a:solidFill>
                  <a:cs typeface="Arial" charset="0"/>
                </a:rPr>
                <a:t>)#access-list 1 </a:t>
              </a:r>
              <a:r>
                <a:rPr lang="en-US" altLang="zh-CN" sz="1600" b="1">
                  <a:solidFill>
                    <a:schemeClr val="tx2"/>
                  </a:solidFill>
                  <a:cs typeface="Arial" charset="0"/>
                </a:rPr>
                <a:t>permit 192.168.100.0 </a:t>
              </a:r>
              <a:r>
                <a:rPr lang="en-US" altLang="zh-CN" sz="1600" b="1" dirty="0">
                  <a:solidFill>
                    <a:schemeClr val="tx2"/>
                  </a:solidFill>
                  <a:cs typeface="Arial" charset="0"/>
                </a:rPr>
                <a:t>0.0.0.255</a:t>
              </a:r>
              <a:endParaRPr lang="zh-CN" altLang="en-US" sz="1600" b="1" dirty="0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23561" name="AutoShape 8"/>
            <p:cNvSpPr>
              <a:spLocks noChangeArrowheads="1"/>
            </p:cNvSpPr>
            <p:nvPr/>
          </p:nvSpPr>
          <p:spPr bwMode="auto">
            <a:xfrm>
              <a:off x="500034" y="2643181"/>
              <a:ext cx="7600948" cy="571503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lvl="1"/>
              <a:r>
                <a:rPr lang="en-US" altLang="zh-CN" sz="1600" b="1">
                  <a:solidFill>
                    <a:schemeClr val="tx2"/>
                  </a:solidFill>
                  <a:cs typeface="Arial" charset="0"/>
                </a:rPr>
                <a:t>Router(config)#ip nat pool test0 61.159.62.131 61.159.62.190 netmask 255.255.255.192</a:t>
              </a:r>
              <a:endParaRPr lang="zh-CN" altLang="en-US" sz="1600" b="1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8" name="AutoShape 8"/>
            <p:cNvSpPr>
              <a:spLocks noChangeArrowheads="1"/>
            </p:cNvSpPr>
            <p:nvPr/>
          </p:nvSpPr>
          <p:spPr bwMode="auto">
            <a:xfrm>
              <a:off x="500034" y="3817941"/>
              <a:ext cx="7601004" cy="396878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pPr lvl="1"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cs typeface="Arial" charset="0"/>
                </a:rPr>
                <a:t>Router(</a:t>
              </a:r>
              <a:r>
                <a:rPr lang="en-US" altLang="zh-CN" sz="1600" b="1" dirty="0" err="1">
                  <a:solidFill>
                    <a:schemeClr val="tx2"/>
                  </a:solidFill>
                  <a:cs typeface="Arial" charset="0"/>
                </a:rPr>
                <a:t>config</a:t>
              </a:r>
              <a:r>
                <a:rPr lang="en-US" altLang="zh-CN" sz="1600" b="1" dirty="0">
                  <a:solidFill>
                    <a:schemeClr val="tx2"/>
                  </a:solidFill>
                  <a:cs typeface="Arial" charset="0"/>
                </a:rPr>
                <a:t>)#</a:t>
              </a:r>
              <a:r>
                <a:rPr lang="en-US" altLang="zh-CN" sz="1600" b="1" dirty="0" err="1">
                  <a:solidFill>
                    <a:schemeClr val="tx2"/>
                  </a:solidFill>
                  <a:cs typeface="Arial" charset="0"/>
                </a:rPr>
                <a:t>ip</a:t>
              </a:r>
              <a:r>
                <a:rPr lang="en-US" altLang="zh-CN" sz="1600" b="1" dirty="0">
                  <a:solidFill>
                    <a:schemeClr val="tx2"/>
                  </a:solidFill>
                  <a:cs typeface="Arial" charset="0"/>
                </a:rPr>
                <a:t> </a:t>
              </a:r>
              <a:r>
                <a:rPr lang="en-US" altLang="zh-CN" sz="1600" b="1" dirty="0" err="1">
                  <a:solidFill>
                    <a:schemeClr val="tx2"/>
                  </a:solidFill>
                  <a:cs typeface="Arial" charset="0"/>
                </a:rPr>
                <a:t>nat</a:t>
              </a:r>
              <a:r>
                <a:rPr lang="en-US" altLang="zh-CN" sz="1600" b="1" dirty="0">
                  <a:solidFill>
                    <a:schemeClr val="tx2"/>
                  </a:solidFill>
                  <a:cs typeface="Arial" charset="0"/>
                </a:rPr>
                <a:t> inside source list 1 pool  test0</a:t>
              </a:r>
              <a:endParaRPr lang="zh-CN" altLang="en-US" sz="1600" b="1" dirty="0">
                <a:solidFill>
                  <a:schemeClr val="tx2"/>
                </a:solidFill>
                <a:cs typeface="Arial" charset="0"/>
              </a:endParaRPr>
            </a:p>
          </p:txBody>
        </p:sp>
      </p:grp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1995489" y="1714501"/>
            <a:ext cx="7672387" cy="10001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Router(config)#interface FastEthernet 0/0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Router(config-if)#ip address 61.159.62.130 255.255.255.192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Router(config-if)#no shut</a:t>
            </a:r>
          </a:p>
          <a:p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12" name="AutoShape 8"/>
          <p:cNvSpPr>
            <a:spLocks noChangeArrowheads="1"/>
          </p:cNvSpPr>
          <p:nvPr/>
        </p:nvSpPr>
        <p:spPr bwMode="auto">
          <a:xfrm>
            <a:off x="2024064" y="3214689"/>
            <a:ext cx="7672387" cy="10001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Router(config)#interface FastEthernet 1/0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Router(config-if)#ip address 192.168.100.1 255.255.255.0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Router(config-if)#no shut</a:t>
            </a:r>
          </a:p>
          <a:p>
            <a:endParaRPr lang="zh-CN" altLang="en-US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457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en-US" altLang="zh-CN"/>
              <a:t>3-3</a:t>
            </a:r>
            <a:endParaRPr lang="zh-CN" altLang="en-US"/>
          </a:p>
        </p:txBody>
      </p:sp>
      <p:cxnSp>
        <p:nvCxnSpPr>
          <p:cNvPr id="24580" name="AutoShape 4"/>
          <p:cNvCxnSpPr>
            <a:cxnSpLocks noChangeShapeType="1"/>
          </p:cNvCxnSpPr>
          <p:nvPr/>
        </p:nvCxnSpPr>
        <p:spPr bwMode="auto">
          <a:xfrm>
            <a:off x="2773364" y="2357438"/>
            <a:ext cx="1587" cy="1439862"/>
          </a:xfrm>
          <a:prstGeom prst="bentConnector3">
            <a:avLst>
              <a:gd name="adj1" fmla="val 62099505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24581" name="直接连接符 9"/>
          <p:cNvCxnSpPr>
            <a:cxnSpLocks noChangeShapeType="1"/>
          </p:cNvCxnSpPr>
          <p:nvPr/>
        </p:nvCxnSpPr>
        <p:spPr bwMode="auto">
          <a:xfrm>
            <a:off x="3783014" y="3087689"/>
            <a:ext cx="5578475" cy="15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245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3379788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1992313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90"/>
          <p:cNvGrpSpPr>
            <a:grpSpLocks/>
          </p:cNvGrpSpPr>
          <p:nvPr/>
        </p:nvGrpSpPr>
        <p:grpSpPr bwMode="auto">
          <a:xfrm>
            <a:off x="6811963" y="2708276"/>
            <a:ext cx="1339850" cy="784225"/>
            <a:chOff x="4932363" y="3338513"/>
            <a:chExt cx="1339464" cy="784234"/>
          </a:xfrm>
        </p:grpSpPr>
        <p:pic>
          <p:nvPicPr>
            <p:cNvPr id="24653" name="Picture 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32363" y="3338513"/>
              <a:ext cx="1339464" cy="784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083132" y="3565529"/>
              <a:ext cx="991902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</a:p>
          </p:txBody>
        </p:sp>
      </p:grpSp>
      <p:pic>
        <p:nvPicPr>
          <p:cNvPr id="24585" name="Picture 10" descr="black_ser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64625" y="2713039"/>
            <a:ext cx="8509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641476" y="4000500"/>
            <a:ext cx="153352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192.168.100.2</a:t>
            </a:r>
            <a:endParaRPr lang="en-US" altLang="zh-CN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1677988" y="2601914"/>
            <a:ext cx="1497012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192.168.100.3</a:t>
            </a:r>
            <a:endParaRPr lang="en-US" altLang="zh-CN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8747125" y="3416300"/>
            <a:ext cx="152558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155.34.2.3</a:t>
            </a:r>
          </a:p>
        </p:txBody>
      </p:sp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8215314" y="275907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6" name="Group 20"/>
          <p:cNvGraphicFramePr>
            <a:graphicFrameLocks noGrp="1"/>
          </p:cNvGraphicFramePr>
          <p:nvPr/>
        </p:nvGraphicFramePr>
        <p:xfrm>
          <a:off x="3087689" y="4122738"/>
          <a:ext cx="1657387" cy="670560"/>
        </p:xfrm>
        <a:graphic>
          <a:graphicData uri="http://schemas.openxmlformats.org/drawingml/2006/table">
            <a:tbl>
              <a:tblPr/>
              <a:tblGrid>
                <a:gridCol w="165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192.168.100.2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ea typeface="SimSun" pitchFamily="2" charset="-122"/>
                        <a:cs typeface="Arial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Group 28"/>
          <p:cNvGraphicFramePr>
            <a:graphicFrameLocks noGrp="1"/>
          </p:cNvGraphicFramePr>
          <p:nvPr/>
        </p:nvGraphicFramePr>
        <p:xfrm>
          <a:off x="5694363" y="3684588"/>
          <a:ext cx="1584362" cy="670560"/>
        </p:xfrm>
        <a:graphic>
          <a:graphicData uri="http://schemas.openxmlformats.org/drawingml/2006/table">
            <a:tbl>
              <a:tblPr/>
              <a:tblGrid>
                <a:gridCol w="158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SimSun" pitchFamily="2" charset="-122"/>
                          <a:cs typeface="+mn-cs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36"/>
          <p:cNvGraphicFramePr>
            <a:graphicFrameLocks noGrp="1"/>
          </p:cNvGraphicFramePr>
          <p:nvPr/>
        </p:nvGraphicFramePr>
        <p:xfrm>
          <a:off x="7881938" y="1857375"/>
          <a:ext cx="1832000" cy="670560"/>
        </p:xfrm>
        <a:graphic>
          <a:graphicData uri="http://schemas.openxmlformats.org/drawingml/2006/table">
            <a:tbl>
              <a:tblPr/>
              <a:tblGrid>
                <a:gridCol w="18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Group 44"/>
          <p:cNvGraphicFramePr>
            <a:graphicFrameLocks noGrp="1"/>
          </p:cNvGraphicFramePr>
          <p:nvPr/>
        </p:nvGraphicFramePr>
        <p:xfrm>
          <a:off x="3817938" y="1846263"/>
          <a:ext cx="1706558" cy="670560"/>
        </p:xfrm>
        <a:graphic>
          <a:graphicData uri="http://schemas.openxmlformats.org/drawingml/2006/table">
            <a:tbl>
              <a:tblPr/>
              <a:tblGrid>
                <a:gridCol w="1706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192.168.100.2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SimSun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组合 89"/>
          <p:cNvGrpSpPr>
            <a:grpSpLocks/>
          </p:cNvGrpSpPr>
          <p:nvPr/>
        </p:nvGrpSpPr>
        <p:grpSpPr bwMode="auto">
          <a:xfrm>
            <a:off x="4814888" y="2730500"/>
            <a:ext cx="1230312" cy="685800"/>
            <a:chOff x="3348038" y="3400425"/>
            <a:chExt cx="1230698" cy="685809"/>
          </a:xfrm>
        </p:grpSpPr>
        <p:pic>
          <p:nvPicPr>
            <p:cNvPr id="24651" name="Picture 6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348038" y="3400425"/>
              <a:ext cx="1230698" cy="670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Text Box 52"/>
            <p:cNvSpPr txBox="1">
              <a:spLocks noChangeArrowheads="1"/>
            </p:cNvSpPr>
            <p:nvPr/>
          </p:nvSpPr>
          <p:spPr bwMode="auto">
            <a:xfrm>
              <a:off x="3644993" y="3748093"/>
              <a:ext cx="598676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NAT</a:t>
              </a:r>
            </a:p>
          </p:txBody>
        </p:sp>
      </p:grpSp>
      <p:sp>
        <p:nvSpPr>
          <p:cNvPr id="23" name="Text Box 53"/>
          <p:cNvSpPr txBox="1">
            <a:spLocks noChangeArrowheads="1"/>
          </p:cNvSpPr>
          <p:nvPr/>
        </p:nvSpPr>
        <p:spPr bwMode="auto">
          <a:xfrm>
            <a:off x="6748464" y="4560889"/>
            <a:ext cx="124618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</a:t>
            </a:r>
            <a:r>
              <a: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转换表</a:t>
            </a:r>
          </a:p>
        </p:txBody>
      </p:sp>
      <p:graphicFrame>
        <p:nvGraphicFramePr>
          <p:cNvPr id="24" name="Group 54"/>
          <p:cNvGraphicFramePr>
            <a:graphicFrameLocks noGrp="1"/>
          </p:cNvGraphicFramePr>
          <p:nvPr/>
        </p:nvGraphicFramePr>
        <p:xfrm>
          <a:off x="4343400" y="4879975"/>
          <a:ext cx="6134182" cy="1005840"/>
        </p:xfrm>
        <a:graphic>
          <a:graphicData uri="http://schemas.openxmlformats.org/drawingml/2006/table">
            <a:tbl>
              <a:tblPr/>
              <a:tblGrid>
                <a:gridCol w="669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1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协议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内部用局部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内部用全局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外部用全局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192.168.100.2</a:t>
                      </a:r>
                      <a:endParaRPr kumimoji="0" lang="en-US" altLang="zh-CN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155.34.2.3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192.168.100.3</a:t>
                      </a:r>
                      <a:endParaRPr kumimoji="0" lang="en-US" altLang="zh-CN" sz="1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61.159.62.132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155.34.2.3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AutoShape 18"/>
          <p:cNvSpPr>
            <a:spLocks noChangeArrowheads="1"/>
          </p:cNvSpPr>
          <p:nvPr/>
        </p:nvSpPr>
        <p:spPr bwMode="auto">
          <a:xfrm flipH="1">
            <a:off x="3321050" y="3830639"/>
            <a:ext cx="750888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AutoShape 18"/>
          <p:cNvSpPr>
            <a:spLocks noChangeArrowheads="1"/>
          </p:cNvSpPr>
          <p:nvPr/>
        </p:nvSpPr>
        <p:spPr bwMode="auto">
          <a:xfrm flipH="1">
            <a:off x="6118225" y="3319464"/>
            <a:ext cx="750888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AutoShape 18"/>
          <p:cNvSpPr>
            <a:spLocks noChangeArrowheads="1"/>
          </p:cNvSpPr>
          <p:nvPr/>
        </p:nvSpPr>
        <p:spPr bwMode="auto">
          <a:xfrm>
            <a:off x="3963989" y="261302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AutoShape 4"/>
          <p:cNvSpPr>
            <a:spLocks noChangeArrowheads="1"/>
          </p:cNvSpPr>
          <p:nvPr/>
        </p:nvSpPr>
        <p:spPr bwMode="auto">
          <a:xfrm>
            <a:off x="4024299" y="3643315"/>
            <a:ext cx="1524857" cy="374571"/>
          </a:xfrm>
          <a:prstGeom prst="wedgeRoundRectCallout">
            <a:avLst>
              <a:gd name="adj1" fmla="val -6950"/>
              <a:gd name="adj2" fmla="val -18528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>
              <a:defRPr/>
            </a:pPr>
            <a:r>
              <a:rPr lang="en-US" altLang="zh-CN" sz="1600" b="1">
                <a:solidFill>
                  <a:schemeClr val="tx2"/>
                </a:solidFill>
                <a:latin typeface="+mj-lt"/>
                <a:ea typeface="宋体" pitchFamily="2" charset="-122"/>
                <a:cs typeface="Times New Roman" pitchFamily="18" charset="0"/>
              </a:rPr>
              <a:t>192.168.100.1</a:t>
            </a:r>
            <a:endParaRPr lang="en-US" altLang="zh-CN" sz="1600" b="1" dirty="0">
              <a:solidFill>
                <a:schemeClr val="tx2"/>
              </a:solidFill>
              <a:latin typeface="+mj-lt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4650" name="AutoShape 4"/>
          <p:cNvSpPr>
            <a:spLocks noChangeArrowheads="1"/>
          </p:cNvSpPr>
          <p:nvPr/>
        </p:nvSpPr>
        <p:spPr bwMode="auto">
          <a:xfrm>
            <a:off x="5848350" y="2214563"/>
            <a:ext cx="1525588" cy="374650"/>
          </a:xfrm>
          <a:prstGeom prst="wedgeRoundRectCallout">
            <a:avLst>
              <a:gd name="adj1" fmla="val -32824"/>
              <a:gd name="adj2" fmla="val 16237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ea typeface="宋体" charset="-122"/>
                <a:cs typeface="Arial" charset="0"/>
              </a:rPr>
              <a:t>61.159.62.130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07156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将内部网络地址</a:t>
            </a:r>
            <a:r>
              <a:rPr lang="en-US" altLang="zh-CN">
                <a:cs typeface="Arial" charset="0"/>
              </a:rPr>
              <a:t>10.1.1.1</a:t>
            </a:r>
            <a:r>
              <a:rPr lang="zh-CN" altLang="en-US">
                <a:cs typeface="Arial" charset="0"/>
              </a:rPr>
              <a:t>～</a:t>
            </a:r>
            <a:r>
              <a:rPr lang="en-US" altLang="zh-CN">
                <a:cs typeface="Arial" charset="0"/>
              </a:rPr>
              <a:t>10.1.1.254</a:t>
            </a:r>
            <a:r>
              <a:rPr lang="zh-CN" altLang="en-US">
                <a:cs typeface="Arial" charset="0"/>
              </a:rPr>
              <a:t>转换为合法的地址</a:t>
            </a:r>
            <a:r>
              <a:rPr lang="en-US" altLang="zh-CN">
                <a:cs typeface="Arial" charset="0"/>
              </a:rPr>
              <a:t>61.159.62.131/29</a:t>
            </a:r>
            <a:r>
              <a:rPr lang="zh-CN" altLang="en-US">
                <a:cs typeface="Arial" charset="0"/>
              </a:rPr>
              <a:t>，以便访问</a:t>
            </a:r>
            <a:r>
              <a:rPr lang="en-US" altLang="zh-CN">
                <a:cs typeface="Arial" charset="0"/>
              </a:rPr>
              <a:t>Internet</a:t>
            </a:r>
            <a:endParaRPr lang="zh-CN" altLang="en-US">
              <a:cs typeface="Arial" charset="0"/>
            </a:endParaRP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560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</a:t>
            </a:r>
            <a:r>
              <a:rPr lang="zh-CN" altLang="en-US"/>
              <a:t>配置</a:t>
            </a:r>
            <a:r>
              <a:rPr lang="en-US" altLang="zh-CN"/>
              <a:t>5-1</a:t>
            </a:r>
            <a:endParaRPr lang="zh-CN" altLang="en-US"/>
          </a:p>
        </p:txBody>
      </p:sp>
      <p:grpSp>
        <p:nvGrpSpPr>
          <p:cNvPr id="2" name="组合 65"/>
          <p:cNvGrpSpPr>
            <a:grpSpLocks/>
          </p:cNvGrpSpPr>
          <p:nvPr/>
        </p:nvGrpSpPr>
        <p:grpSpPr bwMode="auto">
          <a:xfrm>
            <a:off x="3759201" y="2357438"/>
            <a:ext cx="4790469" cy="4307304"/>
            <a:chOff x="2162142" y="899665"/>
            <a:chExt cx="4993043" cy="4596531"/>
          </a:xfrm>
        </p:grpSpPr>
        <p:cxnSp>
          <p:nvCxnSpPr>
            <p:cNvPr id="25607" name="直接连接符 38"/>
            <p:cNvCxnSpPr>
              <a:cxnSpLocks noChangeShapeType="1"/>
            </p:cNvCxnSpPr>
            <p:nvPr/>
          </p:nvCxnSpPr>
          <p:spPr bwMode="auto">
            <a:xfrm rot="5400000">
              <a:off x="3787764" y="2331367"/>
              <a:ext cx="1716111" cy="1588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25608" name="Picture 9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24305" y="1985287"/>
              <a:ext cx="1206463" cy="65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9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87792" y="3117190"/>
              <a:ext cx="1277954" cy="511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10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71681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11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86149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12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959494" y="4500475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13" name="Picture 3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878253" y="899665"/>
              <a:ext cx="1496380" cy="720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5614" name="直接连接符 39"/>
            <p:cNvCxnSpPr>
              <a:cxnSpLocks noChangeShapeType="1"/>
            </p:cNvCxnSpPr>
            <p:nvPr/>
          </p:nvCxnSpPr>
          <p:spPr bwMode="auto">
            <a:xfrm rot="5400000">
              <a:off x="3197879" y="3085562"/>
              <a:ext cx="886081" cy="1971701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5615" name="直接连接符 43"/>
            <p:cNvCxnSpPr>
              <a:cxnSpLocks noChangeShapeType="1"/>
            </p:cNvCxnSpPr>
            <p:nvPr/>
          </p:nvCxnSpPr>
          <p:spPr bwMode="auto">
            <a:xfrm rot="5400000">
              <a:off x="3855113" y="3742796"/>
              <a:ext cx="886081" cy="657233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5616" name="直接连接符 46"/>
            <p:cNvCxnSpPr>
              <a:cxnSpLocks noChangeShapeType="1"/>
            </p:cNvCxnSpPr>
            <p:nvPr/>
          </p:nvCxnSpPr>
          <p:spPr bwMode="auto">
            <a:xfrm rot="16200000" flipH="1">
              <a:off x="5048774" y="3206367"/>
              <a:ext cx="872103" cy="1716112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198544" y="5134909"/>
              <a:ext cx="4856340" cy="3612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10.1.1.2</a:t>
              </a: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～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10.1.1.254/24</a:t>
              </a: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4425676" y="4477599"/>
              <a:ext cx="1461039" cy="591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3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………</a:t>
              </a:r>
            </a:p>
          </p:txBody>
        </p:sp>
        <p:sp>
          <p:nvSpPr>
            <p:cNvPr id="17" name="Rectangle 2"/>
            <p:cNvSpPr>
              <a:spLocks noChangeArrowheads="1"/>
            </p:cNvSpPr>
            <p:nvPr/>
          </p:nvSpPr>
          <p:spPr bwMode="auto">
            <a:xfrm>
              <a:off x="2162142" y="3017287"/>
              <a:ext cx="4819938" cy="2410700"/>
            </a:xfrm>
            <a:prstGeom prst="rect">
              <a:avLst/>
            </a:prstGeom>
            <a:noFill/>
            <a:ln w="19050" algn="ctr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198544" y="3054557"/>
              <a:ext cx="1133422" cy="3608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内部网络</a:t>
              </a:r>
            </a:p>
          </p:txBody>
        </p:sp>
        <p:sp>
          <p:nvSpPr>
            <p:cNvPr id="19" name="AutoShape 4"/>
            <p:cNvSpPr>
              <a:spLocks noChangeArrowheads="1"/>
            </p:cNvSpPr>
            <p:nvPr/>
          </p:nvSpPr>
          <p:spPr bwMode="auto">
            <a:xfrm>
              <a:off x="2249838" y="2383355"/>
              <a:ext cx="1700960" cy="436061"/>
            </a:xfrm>
            <a:prstGeom prst="wedgeRoundRectCallout">
              <a:avLst>
                <a:gd name="adj1" fmla="val 82552"/>
                <a:gd name="adj2" fmla="val 1875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anchor="ctr"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10.1.1.1</a:t>
              </a:r>
            </a:p>
          </p:txBody>
        </p:sp>
        <p:sp>
          <p:nvSpPr>
            <p:cNvPr id="20" name="AutoShape 4"/>
            <p:cNvSpPr>
              <a:spLocks noChangeArrowheads="1"/>
            </p:cNvSpPr>
            <p:nvPr/>
          </p:nvSpPr>
          <p:spPr bwMode="auto">
            <a:xfrm>
              <a:off x="2249838" y="1646423"/>
              <a:ext cx="1763055" cy="436061"/>
            </a:xfrm>
            <a:prstGeom prst="wedgeRoundRectCallout">
              <a:avLst>
                <a:gd name="adj1" fmla="val 82552"/>
                <a:gd name="adj2" fmla="val 18754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61.159.62.130</a:t>
              </a:r>
            </a:p>
          </p:txBody>
        </p:sp>
        <p:sp>
          <p:nvSpPr>
            <p:cNvPr id="25623" name="AutoShape 4"/>
            <p:cNvSpPr>
              <a:spLocks noChangeArrowheads="1"/>
            </p:cNvSpPr>
            <p:nvPr/>
          </p:nvSpPr>
          <p:spPr bwMode="auto">
            <a:xfrm>
              <a:off x="5448312" y="2412513"/>
              <a:ext cx="1703651" cy="436061"/>
            </a:xfrm>
            <a:prstGeom prst="wedgeRoundRectCallout">
              <a:avLst>
                <a:gd name="adj1" fmla="val -95190"/>
                <a:gd name="adj2" fmla="val 1258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NAT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内部端口</a:t>
              </a:r>
            </a:p>
          </p:txBody>
        </p:sp>
        <p:sp>
          <p:nvSpPr>
            <p:cNvPr id="25624" name="AutoShape 4"/>
            <p:cNvSpPr>
              <a:spLocks noChangeArrowheads="1"/>
            </p:cNvSpPr>
            <p:nvPr/>
          </p:nvSpPr>
          <p:spPr bwMode="auto">
            <a:xfrm>
              <a:off x="5451534" y="1648202"/>
              <a:ext cx="1703651" cy="436061"/>
            </a:xfrm>
            <a:prstGeom prst="wedgeRoundRectCallout">
              <a:avLst>
                <a:gd name="adj1" fmla="val -95190"/>
                <a:gd name="adj2" fmla="val 12588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 anchorCtr="1">
              <a:spAutoFit/>
            </a:bodyPr>
            <a:lstStyle/>
            <a:p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NAT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  <a:cs typeface="Arial" charset="0"/>
                </a:rPr>
                <a:t>外部端口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4023601" y="1077545"/>
              <a:ext cx="1279029" cy="3941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  <a:endPara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5359400" y="3000375"/>
            <a:ext cx="109378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F0/0</a:t>
            </a:r>
            <a:endParaRPr lang="zh-CN" altLang="en-US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5881689" y="4019550"/>
            <a:ext cx="109378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F1/0</a:t>
            </a:r>
            <a:endParaRPr lang="zh-CN" altLang="en-US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42875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设置外部端口的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地址：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设置内部端口的</a:t>
            </a:r>
            <a:r>
              <a:rPr lang="en-US" altLang="en-US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地址：</a:t>
            </a:r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662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</a:t>
            </a:r>
            <a:r>
              <a:rPr lang="zh-CN" altLang="en-US"/>
              <a:t>配置</a:t>
            </a:r>
            <a:r>
              <a:rPr lang="en-US" altLang="zh-CN"/>
              <a:t>5-2</a:t>
            </a:r>
            <a:endParaRPr lang="zh-CN" altLang="en-US"/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2095500" y="1643063"/>
            <a:ext cx="7886700" cy="85725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lvl="1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 </a:t>
            </a:r>
            <a:endParaRPr lang="zh-CN" altLang="en-US" sz="1600" b="1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>
            <a:off x="2095500" y="3286125"/>
            <a:ext cx="7886700" cy="85725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lvl="1"/>
            <a:endParaRPr lang="zh-CN" altLang="en-US" sz="1600" b="1">
              <a:solidFill>
                <a:schemeClr val="tx2"/>
              </a:solidFill>
              <a:cs typeface="Arial" charset="0"/>
            </a:endParaRPr>
          </a:p>
        </p:txBody>
      </p:sp>
      <p:grpSp>
        <p:nvGrpSpPr>
          <p:cNvPr id="3" name="组合 9"/>
          <p:cNvGrpSpPr>
            <a:grpSpLocks/>
          </p:cNvGrpSpPr>
          <p:nvPr/>
        </p:nvGrpSpPr>
        <p:grpSpPr bwMode="auto">
          <a:xfrm>
            <a:off x="1738313" y="1143001"/>
            <a:ext cx="8501062" cy="3000375"/>
            <a:chOff x="214282" y="1142984"/>
            <a:chExt cx="8501122" cy="3000396"/>
          </a:xfrm>
        </p:grpSpPr>
        <p:sp>
          <p:nvSpPr>
            <p:cNvPr id="6" name="内容占位符 1"/>
            <p:cNvSpPr txBox="1">
              <a:spLocks/>
            </p:cNvSpPr>
            <p:nvPr/>
          </p:nvSpPr>
          <p:spPr bwMode="auto">
            <a:xfrm>
              <a:off x="214282" y="1142984"/>
              <a:ext cx="8501122" cy="1428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定义访问控制列表：</a:t>
              </a: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defRPr/>
              </a:pPr>
              <a:endParaRPr lang="en-US" altLang="zh-CN" sz="2800" b="1" kern="0" dirty="0">
                <a:solidFill>
                  <a:schemeClr val="tx2"/>
                </a:solidFill>
                <a:cs typeface="Arial" charset="0"/>
              </a:endParaRPr>
            </a:p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定义合法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IP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地址池：</a:t>
              </a:r>
              <a:endParaRPr lang="en-US" altLang="zh-CN" sz="2800" b="1" dirty="0">
                <a:solidFill>
                  <a:schemeClr val="tx2"/>
                </a:solidFill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  <a:cs typeface="Arial" charset="0"/>
              </a:endParaRPr>
            </a:p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实现网络地址转换：</a:t>
              </a:r>
              <a:endParaRPr lang="en-US" altLang="zh-CN" sz="2800" b="1" dirty="0">
                <a:solidFill>
                  <a:schemeClr val="tx2"/>
                </a:solidFill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</a:endParaRPr>
            </a:p>
            <a:p>
              <a:pPr marL="342900" indent="-342900" eaLnBrk="0" hangingPunct="0">
                <a:spcBef>
                  <a:spcPts val="675"/>
                </a:spcBef>
                <a:buClr>
                  <a:schemeClr val="hlink"/>
                </a:buClr>
                <a:buBlip>
                  <a:blip r:embed="rId2"/>
                </a:buBlip>
                <a:defRPr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在内部和外部端口上启用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NAT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，以及配置默认路由</a:t>
              </a:r>
            </a:p>
            <a:p>
              <a:pPr marL="800100" lvl="1" indent="-342900" eaLnBrk="0" hangingPunct="0">
                <a:spcBef>
                  <a:spcPts val="672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/>
              </a:pPr>
              <a:r>
                <a:rPr lang="zh-CN" altLang="en-US" sz="2800" b="1" kern="0" dirty="0">
                  <a:solidFill>
                    <a:schemeClr val="tx2"/>
                  </a:solidFill>
                </a:rPr>
                <a:t>与静态</a:t>
              </a:r>
              <a:r>
                <a:rPr lang="en-US" altLang="zh-CN" sz="2800" b="1" kern="0" dirty="0">
                  <a:solidFill>
                    <a:schemeClr val="tx2"/>
                  </a:solidFill>
                </a:rPr>
                <a:t>NAT</a:t>
              </a:r>
              <a:r>
                <a:rPr lang="zh-CN" altLang="en-US" sz="2800" b="1" kern="0" dirty="0">
                  <a:solidFill>
                    <a:schemeClr val="tx2"/>
                  </a:solidFill>
                </a:rPr>
                <a:t>配置相同</a:t>
              </a: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en-US" altLang="zh-CN" sz="2800" b="1" kern="0" dirty="0">
                <a:solidFill>
                  <a:schemeClr val="tx2"/>
                </a:solidFill>
              </a:endParaRPr>
            </a:p>
            <a:p>
              <a:pPr marL="342900" indent="-342900" eaLnBrk="0" hangingPunct="0">
                <a:spcBef>
                  <a:spcPts val="672"/>
                </a:spcBef>
                <a:buClr>
                  <a:schemeClr val="hlink"/>
                </a:buClr>
                <a:buFont typeface="Wingdings" pitchFamily="2" charset="2"/>
                <a:buChar char="v"/>
                <a:defRPr/>
              </a:pPr>
              <a:endParaRPr lang="zh-CN" altLang="en-US" sz="2800" b="1" kern="0" dirty="0">
                <a:solidFill>
                  <a:schemeClr val="tx2"/>
                </a:solidFill>
              </a:endParaRPr>
            </a:p>
          </p:txBody>
        </p:sp>
        <p:sp>
          <p:nvSpPr>
            <p:cNvPr id="26635" name="AutoShape 8"/>
            <p:cNvSpPr>
              <a:spLocks noChangeArrowheads="1"/>
            </p:cNvSpPr>
            <p:nvPr/>
          </p:nvSpPr>
          <p:spPr bwMode="auto">
            <a:xfrm>
              <a:off x="571472" y="1714488"/>
              <a:ext cx="7886700" cy="428628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fr-FR" altLang="zh-CN" b="1">
                  <a:solidFill>
                    <a:schemeClr val="tx2"/>
                  </a:solidFill>
                </a:rPr>
                <a:t>Router(config)#access-list 1 permit 10.1.1.0 0.0.0.255</a:t>
              </a:r>
              <a:endParaRPr lang="zh-CN" altLang="zh-CN" b="1">
                <a:solidFill>
                  <a:schemeClr val="tx2"/>
                </a:solidFill>
              </a:endParaRPr>
            </a:p>
          </p:txBody>
        </p:sp>
        <p:sp>
          <p:nvSpPr>
            <p:cNvPr id="26636" name="AutoShape 8"/>
            <p:cNvSpPr>
              <a:spLocks noChangeArrowheads="1"/>
            </p:cNvSpPr>
            <p:nvPr/>
          </p:nvSpPr>
          <p:spPr bwMode="auto">
            <a:xfrm>
              <a:off x="571472" y="2643182"/>
              <a:ext cx="7886700" cy="642942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Router(config)#ip nat pool onlyone 61.159.62.131 61.159.62.131 netmask 255.255.255.248</a:t>
              </a:r>
              <a:endParaRPr lang="zh-CN" altLang="zh-CN" b="1">
                <a:solidFill>
                  <a:schemeClr val="tx2"/>
                </a:solidFill>
              </a:endParaRPr>
            </a:p>
          </p:txBody>
        </p:sp>
        <p:sp>
          <p:nvSpPr>
            <p:cNvPr id="26637" name="AutoShape 8"/>
            <p:cNvSpPr>
              <a:spLocks noChangeArrowheads="1"/>
            </p:cNvSpPr>
            <p:nvPr/>
          </p:nvSpPr>
          <p:spPr bwMode="auto">
            <a:xfrm>
              <a:off x="571472" y="3714752"/>
              <a:ext cx="7886700" cy="428628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altLang="zh-CN" b="1">
                  <a:solidFill>
                    <a:schemeClr val="tx2"/>
                  </a:solidFill>
                </a:rPr>
                <a:t>Router(config)#ip nat inside source list 1 pool onlyone overload</a:t>
              </a:r>
              <a:endParaRPr lang="zh-CN" altLang="zh-CN" b="1">
                <a:solidFill>
                  <a:schemeClr val="tx2"/>
                </a:solidFill>
              </a:endParaRPr>
            </a:p>
          </p:txBody>
        </p:sp>
      </p:grp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8882063" y="3000375"/>
            <a:ext cx="1606550" cy="374650"/>
          </a:xfrm>
          <a:prstGeom prst="wedgeRoundRectCallout">
            <a:avLst>
              <a:gd name="adj1" fmla="val -48509"/>
              <a:gd name="adj2" fmla="val 15594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黑体" pitchFamily="2" charset="-122"/>
                <a:cs typeface="Times New Roman" pitchFamily="18" charset="0"/>
              </a:rPr>
              <a:t>进行端口复用</a:t>
            </a:r>
            <a:endParaRPr lang="en-US" altLang="zh-CN" sz="1600" b="1">
              <a:solidFill>
                <a:schemeClr val="tx2"/>
              </a:solidFill>
              <a:latin typeface="黑体" pitchFamily="2" charset="-122"/>
              <a:cs typeface="Times New Roman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66876" y="1643063"/>
            <a:ext cx="6786563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Router(config)#interface FastEthernet 0/0</a:t>
            </a:r>
          </a:p>
          <a:p>
            <a:pPr lvl="1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Router(config-if)#ip address  61.159.62.130 255.255.255.192</a:t>
            </a:r>
          </a:p>
          <a:p>
            <a:pPr lvl="1"/>
            <a:r>
              <a:rPr lang="en-US" altLang="zh-CN" sz="1600" b="1">
                <a:solidFill>
                  <a:schemeClr val="tx2"/>
                </a:solidFill>
              </a:rPr>
              <a:t>Router(config-if)#no shu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666875" y="3286126"/>
            <a:ext cx="65722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Router(config)#interface FastEthernet 1/0</a:t>
            </a:r>
          </a:p>
          <a:p>
            <a:pPr lvl="1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Router(config-if)#ip address  10.1.1.1 255.255.255.0</a:t>
            </a:r>
          </a:p>
          <a:p>
            <a:pPr lvl="1"/>
            <a:r>
              <a:rPr lang="en-US" altLang="zh-CN" sz="1600" b="1">
                <a:solidFill>
                  <a:schemeClr val="tx2"/>
                </a:solidFill>
              </a:rPr>
              <a:t>Router(config-if)#no shu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5" grpId="0" animBg="1"/>
      <p:bldP spid="11" grpId="0" animBg="1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785813"/>
          </a:xfrm>
        </p:spPr>
        <p:txBody>
          <a:bodyPr/>
          <a:lstStyle/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765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</a:t>
            </a:r>
            <a:r>
              <a:rPr lang="zh-CN" altLang="en-US"/>
              <a:t>配置</a:t>
            </a:r>
            <a:r>
              <a:rPr lang="en-US" altLang="zh-CN"/>
              <a:t>5-3</a:t>
            </a:r>
            <a:endParaRPr lang="zh-CN" altLang="en-US"/>
          </a:p>
        </p:txBody>
      </p:sp>
      <p:cxnSp>
        <p:nvCxnSpPr>
          <p:cNvPr id="27652" name="AutoShape 4"/>
          <p:cNvCxnSpPr>
            <a:cxnSpLocks noChangeShapeType="1"/>
          </p:cNvCxnSpPr>
          <p:nvPr/>
        </p:nvCxnSpPr>
        <p:spPr bwMode="auto">
          <a:xfrm>
            <a:off x="2773364" y="2357438"/>
            <a:ext cx="1587" cy="1439862"/>
          </a:xfrm>
          <a:prstGeom prst="bentConnector3">
            <a:avLst>
              <a:gd name="adj1" fmla="val 62099505"/>
            </a:avLst>
          </a:prstGeom>
          <a:noFill/>
          <a:ln w="38100">
            <a:solidFill>
              <a:schemeClr val="tx2"/>
            </a:solidFill>
            <a:miter lim="800000"/>
            <a:headEnd/>
            <a:tailEnd/>
          </a:ln>
        </p:spPr>
      </p:cxnSp>
      <p:cxnSp>
        <p:nvCxnSpPr>
          <p:cNvPr id="27653" name="直接连接符 9"/>
          <p:cNvCxnSpPr>
            <a:cxnSpLocks noChangeShapeType="1"/>
          </p:cNvCxnSpPr>
          <p:nvPr/>
        </p:nvCxnSpPr>
        <p:spPr bwMode="auto">
          <a:xfrm>
            <a:off x="3783014" y="3087689"/>
            <a:ext cx="5578475" cy="15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276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3379788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4" y="1992313"/>
            <a:ext cx="790575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90"/>
          <p:cNvGrpSpPr>
            <a:grpSpLocks/>
          </p:cNvGrpSpPr>
          <p:nvPr/>
        </p:nvGrpSpPr>
        <p:grpSpPr bwMode="auto">
          <a:xfrm>
            <a:off x="6811963" y="2708276"/>
            <a:ext cx="1339850" cy="784225"/>
            <a:chOff x="4932363" y="3338513"/>
            <a:chExt cx="1339464" cy="784234"/>
          </a:xfrm>
        </p:grpSpPr>
        <p:pic>
          <p:nvPicPr>
            <p:cNvPr id="27725" name="Picture 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32363" y="3338513"/>
              <a:ext cx="1339464" cy="784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5083132" y="3565529"/>
              <a:ext cx="991902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</a:p>
          </p:txBody>
        </p:sp>
      </p:grpSp>
      <p:pic>
        <p:nvPicPr>
          <p:cNvPr id="27657" name="Picture 10" descr="black_ser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64625" y="2713039"/>
            <a:ext cx="8509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641476" y="4000500"/>
            <a:ext cx="153352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10.1.1.2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677988" y="2601914"/>
            <a:ext cx="1497012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10.1.1.3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8747125" y="3416300"/>
            <a:ext cx="152558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155.34.2.3</a:t>
            </a:r>
          </a:p>
        </p:txBody>
      </p:sp>
      <p:sp>
        <p:nvSpPr>
          <p:cNvPr id="16" name="AutoShape 18"/>
          <p:cNvSpPr>
            <a:spLocks noChangeArrowheads="1"/>
          </p:cNvSpPr>
          <p:nvPr/>
        </p:nvSpPr>
        <p:spPr bwMode="auto">
          <a:xfrm>
            <a:off x="8215314" y="275907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7" name="Group 20"/>
          <p:cNvGraphicFramePr>
            <a:graphicFrameLocks noGrp="1"/>
          </p:cNvGraphicFramePr>
          <p:nvPr/>
        </p:nvGraphicFramePr>
        <p:xfrm>
          <a:off x="3087688" y="4122738"/>
          <a:ext cx="1109692" cy="670560"/>
        </p:xfrm>
        <a:graphic>
          <a:graphicData uri="http://schemas.openxmlformats.org/drawingml/2006/table">
            <a:tbl>
              <a:tblPr/>
              <a:tblGrid>
                <a:gridCol w="1109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SimSun" pitchFamily="2" charset="-122"/>
                          <a:cs typeface="Arial" pitchFamily="34" charset="0"/>
                        </a:rPr>
                        <a:t>10.1.1.2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8"/>
          <p:cNvGraphicFramePr>
            <a:graphicFrameLocks noGrp="1"/>
          </p:cNvGraphicFramePr>
          <p:nvPr/>
        </p:nvGraphicFramePr>
        <p:xfrm>
          <a:off x="5694363" y="3684588"/>
          <a:ext cx="1584362" cy="670560"/>
        </p:xfrm>
        <a:graphic>
          <a:graphicData uri="http://schemas.openxmlformats.org/drawingml/2006/table">
            <a:tbl>
              <a:tblPr/>
              <a:tblGrid>
                <a:gridCol w="158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SA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SimSun" pitchFamily="2" charset="-122"/>
                          <a:cs typeface="+mn-cs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Group 36"/>
          <p:cNvGraphicFramePr>
            <a:graphicFrameLocks noGrp="1"/>
          </p:cNvGraphicFramePr>
          <p:nvPr/>
        </p:nvGraphicFramePr>
        <p:xfrm>
          <a:off x="7907338" y="2014538"/>
          <a:ext cx="1832000" cy="670560"/>
        </p:xfrm>
        <a:graphic>
          <a:graphicData uri="http://schemas.openxmlformats.org/drawingml/2006/table">
            <a:tbl>
              <a:tblPr/>
              <a:tblGrid>
                <a:gridCol w="18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61.159.62.131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Group 44"/>
          <p:cNvGraphicFramePr>
            <a:graphicFrameLocks noGrp="1"/>
          </p:cNvGraphicFramePr>
          <p:nvPr/>
        </p:nvGraphicFramePr>
        <p:xfrm>
          <a:off x="3817939" y="1846263"/>
          <a:ext cx="1036667" cy="670560"/>
        </p:xfrm>
        <a:graphic>
          <a:graphicData uri="http://schemas.openxmlformats.org/drawingml/2006/table">
            <a:tbl>
              <a:tblPr/>
              <a:tblGrid>
                <a:gridCol w="1036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DA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SimSun" pitchFamily="2" charset="-122"/>
                        </a:rPr>
                        <a:t>10.1.1.2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组合 89"/>
          <p:cNvGrpSpPr>
            <a:grpSpLocks/>
          </p:cNvGrpSpPr>
          <p:nvPr/>
        </p:nvGrpSpPr>
        <p:grpSpPr bwMode="auto">
          <a:xfrm>
            <a:off x="4814888" y="2730500"/>
            <a:ext cx="1230312" cy="685800"/>
            <a:chOff x="3348038" y="3400425"/>
            <a:chExt cx="1230698" cy="685809"/>
          </a:xfrm>
        </p:grpSpPr>
        <p:pic>
          <p:nvPicPr>
            <p:cNvPr id="27723" name="Picture 6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348038" y="3400425"/>
              <a:ext cx="1230698" cy="670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 Box 52"/>
            <p:cNvSpPr txBox="1">
              <a:spLocks noChangeArrowheads="1"/>
            </p:cNvSpPr>
            <p:nvPr/>
          </p:nvSpPr>
          <p:spPr bwMode="auto">
            <a:xfrm>
              <a:off x="3644993" y="3748093"/>
              <a:ext cx="598676" cy="33814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NAT</a:t>
              </a:r>
            </a:p>
          </p:txBody>
        </p:sp>
      </p:grpSp>
      <p:sp>
        <p:nvSpPr>
          <p:cNvPr id="24" name="Text Box 53"/>
          <p:cNvSpPr txBox="1">
            <a:spLocks noChangeArrowheads="1"/>
          </p:cNvSpPr>
          <p:nvPr/>
        </p:nvSpPr>
        <p:spPr bwMode="auto">
          <a:xfrm>
            <a:off x="6748464" y="4560889"/>
            <a:ext cx="124618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</a:t>
            </a:r>
            <a:r>
              <a: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转换表</a:t>
            </a:r>
          </a:p>
        </p:txBody>
      </p:sp>
      <p:graphicFrame>
        <p:nvGraphicFramePr>
          <p:cNvPr id="25" name="Group 54"/>
          <p:cNvGraphicFramePr>
            <a:graphicFrameLocks noGrp="1"/>
          </p:cNvGraphicFramePr>
          <p:nvPr/>
        </p:nvGraphicFramePr>
        <p:xfrm>
          <a:off x="3978275" y="4879975"/>
          <a:ext cx="6507190" cy="1005840"/>
        </p:xfrm>
        <a:graphic>
          <a:graphicData uri="http://schemas.openxmlformats.org/drawingml/2006/table">
            <a:tbl>
              <a:tblPr/>
              <a:tblGrid>
                <a:gridCol w="62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协议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内部用局部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内部用全局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外部用全局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IP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地址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10.1.1.2:1028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61.159.62.131:1028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155.34.2.3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TCP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10.1.1.2:11212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61.159.62.131:11212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155.34.2.3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AutoShape 18"/>
          <p:cNvSpPr>
            <a:spLocks noChangeArrowheads="1"/>
          </p:cNvSpPr>
          <p:nvPr/>
        </p:nvSpPr>
        <p:spPr bwMode="auto">
          <a:xfrm flipH="1">
            <a:off x="3321050" y="3830639"/>
            <a:ext cx="750888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AutoShape 18"/>
          <p:cNvSpPr>
            <a:spLocks noChangeArrowheads="1"/>
          </p:cNvSpPr>
          <p:nvPr/>
        </p:nvSpPr>
        <p:spPr bwMode="auto">
          <a:xfrm flipH="1">
            <a:off x="6118225" y="3319464"/>
            <a:ext cx="750888" cy="255587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AutoShape 18"/>
          <p:cNvSpPr>
            <a:spLocks noChangeArrowheads="1"/>
          </p:cNvSpPr>
          <p:nvPr/>
        </p:nvSpPr>
        <p:spPr bwMode="auto">
          <a:xfrm>
            <a:off x="3963989" y="2613025"/>
            <a:ext cx="750887" cy="255588"/>
          </a:xfrm>
          <a:prstGeom prst="leftArrow">
            <a:avLst>
              <a:gd name="adj1" fmla="val 50000"/>
              <a:gd name="adj2" fmla="val 87088"/>
            </a:avLst>
          </a:prstGeom>
          <a:gradFill rotWithShape="1">
            <a:gsLst>
              <a:gs pos="0">
                <a:srgbClr val="3399FF">
                  <a:gamma/>
                  <a:tint val="0"/>
                  <a:invGamma/>
                </a:srgbClr>
              </a:gs>
              <a:gs pos="100000">
                <a:srgbClr val="3399FF"/>
              </a:gs>
            </a:gsLst>
            <a:lin ang="5400000" scaled="1"/>
          </a:gra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AutoShape 4"/>
          <p:cNvSpPr>
            <a:spLocks noChangeArrowheads="1"/>
          </p:cNvSpPr>
          <p:nvPr/>
        </p:nvSpPr>
        <p:spPr bwMode="auto">
          <a:xfrm>
            <a:off x="4233863" y="3648075"/>
            <a:ext cx="1204912" cy="374650"/>
          </a:xfrm>
          <a:prstGeom prst="wedgeRoundRectCallout">
            <a:avLst>
              <a:gd name="adj1" fmla="val -6950"/>
              <a:gd name="adj2" fmla="val -18528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+mj-lt"/>
                <a:ea typeface="宋体" pitchFamily="2" charset="-122"/>
                <a:cs typeface="Times New Roman" pitchFamily="18" charset="0"/>
              </a:rPr>
              <a:t>10.1.1.1</a:t>
            </a:r>
          </a:p>
        </p:txBody>
      </p:sp>
      <p:sp>
        <p:nvSpPr>
          <p:cNvPr id="30" name="AutoShape 4"/>
          <p:cNvSpPr>
            <a:spLocks noChangeArrowheads="1"/>
          </p:cNvSpPr>
          <p:nvPr/>
        </p:nvSpPr>
        <p:spPr bwMode="auto">
          <a:xfrm>
            <a:off x="5848350" y="2219325"/>
            <a:ext cx="1676400" cy="374650"/>
          </a:xfrm>
          <a:prstGeom prst="wedgeRoundRectCallout">
            <a:avLst>
              <a:gd name="adj1" fmla="val -33792"/>
              <a:gd name="adj2" fmla="val 16228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 scaled="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+mj-lt"/>
                <a:ea typeface="宋体" pitchFamily="2" charset="-122"/>
                <a:cs typeface="Times New Roman" pitchFamily="18" charset="0"/>
              </a:rPr>
              <a:t>61.159.62.130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复用路由器外部接口地址</a:t>
            </a:r>
          </a:p>
        </p:txBody>
      </p:sp>
      <p:sp>
        <p:nvSpPr>
          <p:cNvPr id="2867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</a:t>
            </a:r>
            <a:r>
              <a:rPr lang="zh-CN" altLang="en-US"/>
              <a:t>配置</a:t>
            </a:r>
            <a:r>
              <a:rPr lang="en-US" altLang="zh-CN"/>
              <a:t>5-4</a:t>
            </a:r>
            <a:endParaRPr lang="zh-CN" altLang="en-US"/>
          </a:p>
        </p:txBody>
      </p:sp>
      <p:grpSp>
        <p:nvGrpSpPr>
          <p:cNvPr id="2" name="组合 65"/>
          <p:cNvGrpSpPr>
            <a:grpSpLocks/>
          </p:cNvGrpSpPr>
          <p:nvPr/>
        </p:nvGrpSpPr>
        <p:grpSpPr bwMode="auto">
          <a:xfrm>
            <a:off x="3738564" y="2071688"/>
            <a:ext cx="4694237" cy="4307304"/>
            <a:chOff x="2162142" y="899665"/>
            <a:chExt cx="4892742" cy="4596531"/>
          </a:xfrm>
        </p:grpSpPr>
        <p:cxnSp>
          <p:nvCxnSpPr>
            <p:cNvPr id="28677" name="直接连接符 38"/>
            <p:cNvCxnSpPr>
              <a:cxnSpLocks noChangeShapeType="1"/>
            </p:cNvCxnSpPr>
            <p:nvPr/>
          </p:nvCxnSpPr>
          <p:spPr bwMode="auto">
            <a:xfrm rot="5400000">
              <a:off x="3787764" y="2331367"/>
              <a:ext cx="1716111" cy="1588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28678" name="Picture 9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24305" y="1985287"/>
              <a:ext cx="1206463" cy="657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79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87792" y="3117190"/>
              <a:ext cx="1277954" cy="511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0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71681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1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86149" y="4514453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2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959494" y="4500475"/>
              <a:ext cx="766773" cy="671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3" name="Picture 3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878253" y="899665"/>
              <a:ext cx="1496380" cy="720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8684" name="直接连接符 39"/>
            <p:cNvCxnSpPr>
              <a:cxnSpLocks noChangeShapeType="1"/>
            </p:cNvCxnSpPr>
            <p:nvPr/>
          </p:nvCxnSpPr>
          <p:spPr bwMode="auto">
            <a:xfrm rot="5400000">
              <a:off x="3197879" y="3085562"/>
              <a:ext cx="886081" cy="1971701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8685" name="直接连接符 43"/>
            <p:cNvCxnSpPr>
              <a:cxnSpLocks noChangeShapeType="1"/>
            </p:cNvCxnSpPr>
            <p:nvPr/>
          </p:nvCxnSpPr>
          <p:spPr bwMode="auto">
            <a:xfrm rot="5400000">
              <a:off x="3855113" y="3742796"/>
              <a:ext cx="886081" cy="657233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8686" name="直接连接符 46"/>
            <p:cNvCxnSpPr>
              <a:cxnSpLocks noChangeShapeType="1"/>
            </p:cNvCxnSpPr>
            <p:nvPr/>
          </p:nvCxnSpPr>
          <p:spPr bwMode="auto">
            <a:xfrm rot="16200000" flipH="1">
              <a:off x="5048774" y="3206367"/>
              <a:ext cx="872103" cy="1716112"/>
            </a:xfrm>
            <a:prstGeom prst="lin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198544" y="5134909"/>
              <a:ext cx="4856340" cy="3612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10.1.1.2</a:t>
              </a: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～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10.1.1.254/24</a:t>
              </a: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4425677" y="4477599"/>
              <a:ext cx="1461038" cy="591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3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………</a:t>
              </a:r>
            </a:p>
          </p:txBody>
        </p:sp>
        <p:sp>
          <p:nvSpPr>
            <p:cNvPr id="17" name="Rectangle 2"/>
            <p:cNvSpPr>
              <a:spLocks noChangeArrowheads="1"/>
            </p:cNvSpPr>
            <p:nvPr/>
          </p:nvSpPr>
          <p:spPr bwMode="auto">
            <a:xfrm>
              <a:off x="2162142" y="3017287"/>
              <a:ext cx="4819938" cy="2410700"/>
            </a:xfrm>
            <a:prstGeom prst="rect">
              <a:avLst/>
            </a:prstGeom>
            <a:noFill/>
            <a:ln w="19050" algn="ctr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198544" y="3054557"/>
              <a:ext cx="1133421" cy="3608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内部网络</a:t>
              </a:r>
            </a:p>
          </p:txBody>
        </p:sp>
        <p:sp>
          <p:nvSpPr>
            <p:cNvPr id="19" name="AutoShape 4"/>
            <p:cNvSpPr>
              <a:spLocks noChangeArrowheads="1"/>
            </p:cNvSpPr>
            <p:nvPr/>
          </p:nvSpPr>
          <p:spPr bwMode="auto">
            <a:xfrm>
              <a:off x="5363852" y="1509540"/>
              <a:ext cx="1042417" cy="435383"/>
            </a:xfrm>
            <a:prstGeom prst="wedgeRoundRectCallout">
              <a:avLst>
                <a:gd name="adj1" fmla="val -107718"/>
                <a:gd name="adj2" fmla="val 42957"/>
                <a:gd name="adj3" fmla="val 16667"/>
              </a:avLst>
            </a:prstGeom>
            <a:gradFill rotWithShape="1">
              <a:gsLst>
                <a:gs pos="0">
                  <a:srgbClr val="FFFF99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C000"/>
              </a:solidFill>
              <a:round/>
              <a:headEnd/>
              <a:tailEnd/>
            </a:ln>
          </p:spPr>
          <p:txBody>
            <a:bodyPr anchor="ctr" anchorCtr="1"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动态</a:t>
              </a:r>
              <a:r>
                <a:rPr lang="en-US" altLang="zh-CN" b="1" dirty="0">
                  <a:solidFill>
                    <a:schemeClr val="tx2"/>
                  </a:solidFill>
                  <a:latin typeface="+mj-lt"/>
                  <a:ea typeface="楷体_GB2312" pitchFamily="49" charset="-122"/>
                  <a:cs typeface="Arial" pitchFamily="34" charset="0"/>
                </a:rPr>
                <a:t>IP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4023601" y="1077545"/>
              <a:ext cx="1279030" cy="3941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Internet</a:t>
              </a:r>
              <a:endPara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16"/>
            <p:cNvSpPr txBox="1">
              <a:spLocks noChangeArrowheads="1"/>
            </p:cNvSpPr>
            <p:nvPr/>
          </p:nvSpPr>
          <p:spPr bwMode="auto">
            <a:xfrm>
              <a:off x="3576851" y="1662009"/>
              <a:ext cx="1133422" cy="3608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F0/0</a:t>
              </a:r>
              <a:endPara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 Box 16"/>
            <p:cNvSpPr txBox="1">
              <a:spLocks noChangeArrowheads="1"/>
            </p:cNvSpPr>
            <p:nvPr/>
          </p:nvSpPr>
          <p:spPr bwMode="auto">
            <a:xfrm>
              <a:off x="4619268" y="2576823"/>
              <a:ext cx="1133421" cy="36084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F1/0</a:t>
              </a:r>
              <a:endParaRPr lang="zh-CN" altLang="en-US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定义内部访问列表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err="1"/>
              <a:t>定义合法的IP地址池</a:t>
            </a:r>
            <a:endParaRPr lang="en-US" dirty="0"/>
          </a:p>
          <a:p>
            <a:pPr lvl="1">
              <a:defRPr/>
            </a:pPr>
            <a:r>
              <a:rPr lang="en-US" dirty="0" err="1"/>
              <a:t>由于直接使用外部接口地址，所以不再定义IP地址池</a:t>
            </a:r>
            <a:endParaRPr lang="en-US" dirty="0"/>
          </a:p>
          <a:p>
            <a:pPr>
              <a:defRPr/>
            </a:pPr>
            <a:r>
              <a:rPr lang="en-US" dirty="0" err="1"/>
              <a:t>设置复用动态IP地址转换</a:t>
            </a:r>
            <a:endParaRPr lang="en-US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在内部和外部端口上启用</a:t>
            </a:r>
            <a:r>
              <a:rPr lang="en-US" altLang="zh-CN" dirty="0"/>
              <a:t>NAT</a:t>
            </a:r>
            <a:r>
              <a:rPr lang="zh-CN" altLang="en-US" dirty="0"/>
              <a:t>，以及配置默认路由</a:t>
            </a:r>
          </a:p>
          <a:p>
            <a:pPr marL="800100" lvl="1" indent="-342900">
              <a:spcBef>
                <a:spcPts val="672"/>
              </a:spcBef>
              <a:buSzPct val="50000"/>
              <a:buFont typeface="Wingdings" pitchFamily="2" charset="2"/>
              <a:buChar char="n"/>
              <a:defRPr/>
            </a:pPr>
            <a:r>
              <a:rPr lang="zh-CN" altLang="en-US" sz="2800" dirty="0"/>
              <a:t>与静态</a:t>
            </a:r>
            <a:r>
              <a:rPr lang="en-US" altLang="zh-CN" sz="2800" dirty="0"/>
              <a:t>NAT</a:t>
            </a:r>
            <a:r>
              <a:rPr lang="zh-CN" altLang="en-US" sz="2800" dirty="0"/>
              <a:t>配置相同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2969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PAT</a:t>
            </a:r>
            <a:r>
              <a:rPr lang="zh-CN" altLang="en-US"/>
              <a:t>配置</a:t>
            </a:r>
            <a:r>
              <a:rPr lang="en-US" altLang="zh-CN"/>
              <a:t>5-5</a:t>
            </a:r>
            <a:endParaRPr lang="zh-CN" altLang="en-US"/>
          </a:p>
        </p:txBody>
      </p:sp>
      <p:sp>
        <p:nvSpPr>
          <p:cNvPr id="29700" name="AutoShape 8"/>
          <p:cNvSpPr>
            <a:spLocks noChangeArrowheads="1"/>
          </p:cNvSpPr>
          <p:nvPr/>
        </p:nvSpPr>
        <p:spPr bwMode="auto">
          <a:xfrm>
            <a:off x="2095500" y="1714501"/>
            <a:ext cx="8072438" cy="4286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r>
              <a:rPr lang="fr-FR" altLang="zh-CN" b="1">
                <a:solidFill>
                  <a:schemeClr val="tx2"/>
                </a:solidFill>
              </a:rPr>
              <a:t>Router(config)#access-list 1 permit 10.1.1.0 0.0.0.255</a:t>
            </a:r>
            <a:endParaRPr lang="zh-CN" altLang="zh-CN" b="1">
              <a:solidFill>
                <a:schemeClr val="tx2"/>
              </a:solidFill>
            </a:endParaRPr>
          </a:p>
        </p:txBody>
      </p:sp>
      <p:sp>
        <p:nvSpPr>
          <p:cNvPr id="29701" name="AutoShape 8"/>
          <p:cNvSpPr>
            <a:spLocks noChangeArrowheads="1"/>
          </p:cNvSpPr>
          <p:nvPr/>
        </p:nvSpPr>
        <p:spPr bwMode="auto">
          <a:xfrm>
            <a:off x="2166938" y="3714750"/>
            <a:ext cx="7929562" cy="85725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altLang="zh-CN" b="1">
                <a:solidFill>
                  <a:schemeClr val="tx2"/>
                </a:solidFill>
              </a:rPr>
              <a:t>Router(config)#ip nat inside source list 1 interface FastEthernet 0/0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               overload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7881939" y="3143250"/>
            <a:ext cx="1500187" cy="407988"/>
          </a:xfrm>
          <a:prstGeom prst="wedgeRoundRectCallout">
            <a:avLst>
              <a:gd name="adj1" fmla="val 40033"/>
              <a:gd name="adj2" fmla="val 13643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tx2"/>
                </a:solidFill>
                <a:latin typeface="+mj-lt"/>
                <a:ea typeface="楷体_GB2312" pitchFamily="49" charset="-122"/>
                <a:cs typeface="Arial" pitchFamily="34" charset="0"/>
              </a:rPr>
              <a:t>外部接口</a:t>
            </a:r>
            <a:endParaRPr lang="en-US" altLang="zh-CN" b="1" dirty="0">
              <a:solidFill>
                <a:schemeClr val="tx2"/>
              </a:solidFill>
              <a:latin typeface="+mj-lt"/>
              <a:ea typeface="楷体_GB2312" pitchFamily="49" charset="-122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  <a:spcAft>
                <a:spcPct val="25000"/>
              </a:spcAft>
            </a:pPr>
            <a:r>
              <a:rPr lang="zh-CN" altLang="en-US"/>
              <a:t>请思考：</a:t>
            </a: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企业为什么会在网络边界配置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呢？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静态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、动态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、</a:t>
            </a:r>
            <a:r>
              <a:rPr lang="en-US" altLang="zh-CN">
                <a:cs typeface="Arial" charset="0"/>
              </a:rPr>
              <a:t>PAT</a:t>
            </a:r>
            <a:r>
              <a:rPr lang="zh-CN" altLang="en-US">
                <a:cs typeface="Arial" charset="0"/>
              </a:rPr>
              <a:t>各有何区别？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什么情况下会使用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端口映射？</a:t>
            </a:r>
          </a:p>
          <a:p>
            <a:pPr>
              <a:spcBef>
                <a:spcPts val="675"/>
              </a:spcBef>
              <a:spcAft>
                <a:spcPct val="25000"/>
              </a:spcAft>
              <a:buNone/>
            </a:pPr>
            <a:endParaRPr lang="zh-CN" altLang="en-US" sz="3200">
              <a:solidFill>
                <a:srgbClr val="003399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验证</a:t>
            </a:r>
            <a:r>
              <a:rPr lang="en-US" altLang="zh-CN"/>
              <a:t>NAT</a:t>
            </a:r>
            <a:r>
              <a:rPr lang="zh-CN" altLang="en-US"/>
              <a:t>的配置</a:t>
            </a:r>
          </a:p>
        </p:txBody>
      </p:sp>
      <p:sp>
        <p:nvSpPr>
          <p:cNvPr id="4" name="AutoShape 8"/>
          <p:cNvSpPr>
            <a:spLocks noChangeArrowheads="1"/>
          </p:cNvSpPr>
          <p:nvPr/>
        </p:nvSpPr>
        <p:spPr bwMode="auto">
          <a:xfrm>
            <a:off x="2000250" y="3001964"/>
            <a:ext cx="7886700" cy="4540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  <p:sp>
        <p:nvSpPr>
          <p:cNvPr id="31748" name="AutoShape 8"/>
          <p:cNvSpPr>
            <a:spLocks noChangeArrowheads="1"/>
          </p:cNvSpPr>
          <p:nvPr/>
        </p:nvSpPr>
        <p:spPr bwMode="auto">
          <a:xfrm>
            <a:off x="2000250" y="1671639"/>
            <a:ext cx="7886700" cy="4540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  <p:sp>
        <p:nvSpPr>
          <p:cNvPr id="6" name="内容占位符 10"/>
          <p:cNvSpPr txBox="1">
            <a:spLocks/>
          </p:cNvSpPr>
          <p:nvPr/>
        </p:nvSpPr>
        <p:spPr bwMode="auto">
          <a:xfrm>
            <a:off x="1738313" y="1143001"/>
            <a:ext cx="8229600" cy="138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5"/>
              </a:spcBef>
              <a:buClr>
                <a:schemeClr val="hlink"/>
              </a:buClr>
              <a:buBlip>
                <a:blip r:embed="rId2"/>
              </a:buBlip>
              <a:defRPr/>
            </a:pPr>
            <a:r>
              <a:rPr lang="zh-CN" altLang="en-US" sz="2800" b="1" dirty="0">
                <a:solidFill>
                  <a:schemeClr val="tx2"/>
                </a:solidFill>
                <a:cs typeface="Arial" charset="0"/>
              </a:rPr>
              <a:t>查看</a:t>
            </a:r>
            <a:r>
              <a:rPr lang="en-US" altLang="zh-CN" sz="2800" b="1" dirty="0">
                <a:solidFill>
                  <a:schemeClr val="tx2"/>
                </a:solidFill>
                <a:cs typeface="Arial" charset="0"/>
              </a:rPr>
              <a:t>NAT</a:t>
            </a:r>
            <a:r>
              <a:rPr lang="zh-CN" altLang="en-US" sz="2800" b="1" dirty="0">
                <a:solidFill>
                  <a:schemeClr val="tx2"/>
                </a:solidFill>
                <a:cs typeface="Arial" charset="0"/>
              </a:rPr>
              <a:t>转换条目</a:t>
            </a:r>
            <a:endParaRPr lang="en-US" altLang="zh-CN" sz="2800" b="1" dirty="0">
              <a:solidFill>
                <a:schemeClr val="tx2"/>
              </a:solidFill>
              <a:cs typeface="Arial" charset="0"/>
            </a:endParaRPr>
          </a:p>
          <a:p>
            <a:pPr marL="742950" lvl="1" indent="-285750" eaLnBrk="0" hangingPunct="0">
              <a:lnSpc>
                <a:spcPts val="3000"/>
              </a:lnSpc>
              <a:spcBef>
                <a:spcPts val="472"/>
              </a:spcBef>
              <a:buClr>
                <a:schemeClr val="accent1"/>
              </a:buClr>
              <a:defRPr/>
            </a:pPr>
            <a:r>
              <a:rPr lang="en-US" altLang="zh-CN" sz="2400" b="1" kern="0" dirty="0">
                <a:solidFill>
                  <a:schemeClr val="tx2"/>
                </a:solidFill>
                <a:cs typeface="Arial" charset="0"/>
              </a:rPr>
              <a:t>Router# show </a:t>
            </a:r>
            <a:r>
              <a:rPr lang="en-US" altLang="zh-CN" sz="2400" b="1" kern="0" dirty="0" err="1">
                <a:solidFill>
                  <a:schemeClr val="tx2"/>
                </a:solidFill>
                <a:cs typeface="Arial" charset="0"/>
              </a:rPr>
              <a:t>ip</a:t>
            </a:r>
            <a:r>
              <a:rPr lang="en-US" altLang="zh-CN" sz="2400" b="1" kern="0" dirty="0">
                <a:solidFill>
                  <a:schemeClr val="tx2"/>
                </a:solidFill>
                <a:cs typeface="Arial" charset="0"/>
              </a:rPr>
              <a:t> </a:t>
            </a:r>
            <a:r>
              <a:rPr lang="en-US" altLang="zh-CN" sz="2400" b="1" kern="0" dirty="0" err="1">
                <a:solidFill>
                  <a:schemeClr val="tx2"/>
                </a:solidFill>
                <a:cs typeface="Arial" charset="0"/>
              </a:rPr>
              <a:t>nat</a:t>
            </a:r>
            <a:r>
              <a:rPr lang="en-US" altLang="zh-CN" sz="2400" b="1" kern="0" dirty="0">
                <a:solidFill>
                  <a:schemeClr val="tx2"/>
                </a:solidFill>
                <a:cs typeface="Arial" charset="0"/>
              </a:rPr>
              <a:t> translations [verbose]</a:t>
            </a:r>
          </a:p>
          <a:p>
            <a:pPr marL="742950" lvl="1" indent="-285750" eaLnBrk="0" hangingPunct="0">
              <a:lnSpc>
                <a:spcPts val="3000"/>
              </a:lnSpc>
              <a:spcBef>
                <a:spcPts val="472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en-US" altLang="zh-CN" sz="2000" b="1" kern="0" dirty="0">
                <a:solidFill>
                  <a:schemeClr val="tx2"/>
                </a:solidFill>
                <a:cs typeface="Arial" charset="0"/>
              </a:rPr>
              <a:t>verbose</a:t>
            </a:r>
            <a:r>
              <a:rPr lang="zh-CN" altLang="en-US" sz="2000" b="1" kern="0" dirty="0">
                <a:solidFill>
                  <a:schemeClr val="tx2"/>
                </a:solidFill>
                <a:cs typeface="Arial" charset="0"/>
              </a:rPr>
              <a:t>：显示详细的</a:t>
            </a:r>
            <a:r>
              <a:rPr lang="en-US" altLang="zh-CN" sz="2000" b="1" kern="0" dirty="0">
                <a:solidFill>
                  <a:schemeClr val="tx2"/>
                </a:solidFill>
                <a:cs typeface="Arial" charset="0"/>
              </a:rPr>
              <a:t>NAT</a:t>
            </a:r>
            <a:r>
              <a:rPr lang="zh-CN" altLang="en-US" sz="2000" b="1" kern="0" dirty="0">
                <a:solidFill>
                  <a:schemeClr val="tx2"/>
                </a:solidFill>
                <a:cs typeface="Arial" charset="0"/>
              </a:rPr>
              <a:t>转换条目信息</a:t>
            </a:r>
            <a:endParaRPr lang="en-US" altLang="zh-CN" sz="2000" b="1" kern="0" dirty="0">
              <a:solidFill>
                <a:schemeClr val="tx2"/>
              </a:solidFill>
              <a:cs typeface="Arial" charset="0"/>
            </a:endParaRPr>
          </a:p>
        </p:txBody>
      </p:sp>
      <p:grpSp>
        <p:nvGrpSpPr>
          <p:cNvPr id="3" name="组合 14"/>
          <p:cNvGrpSpPr>
            <a:grpSpLocks/>
          </p:cNvGrpSpPr>
          <p:nvPr/>
        </p:nvGrpSpPr>
        <p:grpSpPr bwMode="auto">
          <a:xfrm>
            <a:off x="1452562" y="2532064"/>
            <a:ext cx="8739188" cy="2719387"/>
            <a:chOff x="153927" y="2333610"/>
            <a:chExt cx="8739893" cy="2719989"/>
          </a:xfrm>
        </p:grpSpPr>
        <p:sp>
          <p:nvSpPr>
            <p:cNvPr id="31769" name="AutoShape 8"/>
            <p:cNvSpPr>
              <a:spLocks noChangeArrowheads="1"/>
            </p:cNvSpPr>
            <p:nvPr/>
          </p:nvSpPr>
          <p:spPr bwMode="auto">
            <a:xfrm>
              <a:off x="409518" y="2353599"/>
              <a:ext cx="8352000" cy="2700000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/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53927" y="2333610"/>
              <a:ext cx="8739893" cy="2677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 anchor="ctr">
              <a:spAutoFit/>
            </a:bodyPr>
            <a:lstStyle/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Router#show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nat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translations 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Pro      Inside global          Inside local             Outside local            Outside global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icmp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207.35.18.2:6002    192.168.1.3: 6002    207.35.14.83: 6002    207.35.14.83: 6002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icmp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207.35.18.2:15488   192.168.1.3: 15488  207.35.14.83: 15488   207.35.14.83: 15488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icmp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207.35.18.2:14225   192.168.1.2:14225   207.35.14.83:14225    207.35.14.83:14225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icmp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207.35.18.2:14481   192.168.1.2:14481   207.35.14.83:14481    207.35.14.83:14481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---            207.35.18.6               192.168.2.2                      ---                            ---</a:t>
              </a:r>
            </a:p>
          </p:txBody>
        </p:sp>
      </p:grpSp>
      <p:grpSp>
        <p:nvGrpSpPr>
          <p:cNvPr id="5" name="组合 26"/>
          <p:cNvGrpSpPr>
            <a:grpSpLocks/>
          </p:cNvGrpSpPr>
          <p:nvPr/>
        </p:nvGrpSpPr>
        <p:grpSpPr bwMode="auto">
          <a:xfrm>
            <a:off x="1525588" y="2459038"/>
            <a:ext cx="8566150" cy="3740150"/>
            <a:chOff x="226953" y="2260584"/>
            <a:chExt cx="8566769" cy="3739998"/>
          </a:xfrm>
        </p:grpSpPr>
        <p:sp>
          <p:nvSpPr>
            <p:cNvPr id="31767" name="AutoShape 8"/>
            <p:cNvSpPr>
              <a:spLocks noChangeArrowheads="1"/>
            </p:cNvSpPr>
            <p:nvPr/>
          </p:nvSpPr>
          <p:spPr bwMode="auto">
            <a:xfrm>
              <a:off x="409518" y="2360906"/>
              <a:ext cx="8352000" cy="3636000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26953" y="2260584"/>
              <a:ext cx="8566769" cy="3739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 anchor="ctr">
              <a:spAutoFit/>
            </a:bodyPr>
            <a:lstStyle/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Router#show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nat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translations verbose 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Pro   Inside global         Inside local       Outside local         Outside global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Icmp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 207.35.18.2:31634  192.168.1.2:31634  207.35.14.83:31634   207.35.14.83:31634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   create 00:00:14, use 00:00:14 timeout:60000, left 00:00:45, Map-Id(In): 1, 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   flags: 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extended,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use_count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: 0, entry-id: 36,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lc_entries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: 0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---    207.35.18.6        192.168.2.2            ---                   ---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   create 00:34:40, use 00:27:57 timeout:0, 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   flags: 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static,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use_count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: 0, entry-id: 1, </a:t>
              </a:r>
              <a:r>
                <a:rPr lang="en-US" altLang="zh-CN" sz="16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lc_entries</a:t>
              </a:r>
              <a:r>
                <a:rPr lang="en-US" altLang="zh-CN" sz="16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: 0</a:t>
              </a:r>
            </a:p>
          </p:txBody>
        </p:sp>
      </p:grpSp>
      <p:sp>
        <p:nvSpPr>
          <p:cNvPr id="13" name="内容占位符 10"/>
          <p:cNvSpPr txBox="1">
            <a:spLocks/>
          </p:cNvSpPr>
          <p:nvPr/>
        </p:nvSpPr>
        <p:spPr bwMode="auto">
          <a:xfrm>
            <a:off x="1758950" y="1143001"/>
            <a:ext cx="8229600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00100" lvl="1" indent="-342900" eaLnBrk="0" hangingPunct="0">
              <a:spcBef>
                <a:spcPct val="20000"/>
              </a:spcBef>
              <a:buClr>
                <a:schemeClr val="tx1"/>
              </a:buClr>
              <a:defRPr/>
            </a:pPr>
            <a:endParaRPr lang="en-US" altLang="zh-CN" sz="2400" b="1" kern="0" dirty="0"/>
          </a:p>
          <a:p>
            <a:pPr marL="1257300" lvl="2" indent="-342900" eaLnBrk="0" hangingPunct="0">
              <a:spcBef>
                <a:spcPct val="20000"/>
              </a:spcBef>
              <a:buClr>
                <a:schemeClr val="tx1"/>
              </a:buClr>
              <a:buBlip>
                <a:blip r:embed="rId3"/>
              </a:buBlip>
              <a:defRPr/>
            </a:pPr>
            <a:endParaRPr lang="en-US" altLang="zh-CN" sz="2000" b="1" kern="0" dirty="0"/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defRPr/>
            </a:pPr>
            <a:endParaRPr lang="zh-CN" altLang="en-US" sz="2800" b="1" kern="0" dirty="0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6016626" y="5662613"/>
            <a:ext cx="1643063" cy="374650"/>
          </a:xfrm>
          <a:prstGeom prst="wedgeRoundRectCallout">
            <a:avLst>
              <a:gd name="adj1" fmla="val -39463"/>
              <a:gd name="adj2" fmla="val -17800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静态</a:t>
            </a:r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NAT</a:t>
            </a: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条目</a:t>
            </a:r>
            <a:endParaRPr lang="en-US" altLang="zh-CN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5" name="圆角矩形 14"/>
          <p:cNvSpPr>
            <a:spLocks noChangeArrowheads="1"/>
          </p:cNvSpPr>
          <p:nvPr/>
        </p:nvSpPr>
        <p:spPr bwMode="auto">
          <a:xfrm>
            <a:off x="1744664" y="3335338"/>
            <a:ext cx="8288337" cy="146050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6" name="圆角矩形 15"/>
          <p:cNvSpPr>
            <a:spLocks noChangeArrowheads="1"/>
          </p:cNvSpPr>
          <p:nvPr/>
        </p:nvSpPr>
        <p:spPr bwMode="auto">
          <a:xfrm>
            <a:off x="1744664" y="4868863"/>
            <a:ext cx="8288337" cy="29210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17" name="AutoShape 4"/>
          <p:cNvSpPr>
            <a:spLocks noChangeArrowheads="1"/>
          </p:cNvSpPr>
          <p:nvPr/>
        </p:nvSpPr>
        <p:spPr bwMode="auto">
          <a:xfrm>
            <a:off x="8207376" y="5270500"/>
            <a:ext cx="1643063" cy="374650"/>
          </a:xfrm>
          <a:prstGeom prst="wedgeRoundRectCallout">
            <a:avLst>
              <a:gd name="adj1" fmla="val -39463"/>
              <a:gd name="adj2" fmla="val -17800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en-US" altLang="zh-CN" sz="1600" b="1">
                <a:solidFill>
                  <a:schemeClr val="tx2"/>
                </a:solidFill>
                <a:ea typeface="楷体_GB2312" pitchFamily="49" charset="-122"/>
                <a:cs typeface="Arial" charset="0"/>
              </a:rPr>
              <a:t>PAT</a:t>
            </a:r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动态条目</a:t>
            </a:r>
            <a:endParaRPr lang="en-US" altLang="zh-CN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8" name="AutoShape 4"/>
          <p:cNvSpPr>
            <a:spLocks noChangeArrowheads="1"/>
          </p:cNvSpPr>
          <p:nvPr/>
        </p:nvSpPr>
        <p:spPr bwMode="auto">
          <a:xfrm>
            <a:off x="1635126" y="2349500"/>
            <a:ext cx="766763" cy="374650"/>
          </a:xfrm>
          <a:prstGeom prst="wedgeRoundRectCallout">
            <a:avLst>
              <a:gd name="adj1" fmla="val -9204"/>
              <a:gd name="adj2" fmla="val 13899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协议</a:t>
            </a:r>
            <a:endParaRPr lang="en-US" altLang="zh-CN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9" name="AutoShape 4"/>
          <p:cNvSpPr>
            <a:spLocks noChangeArrowheads="1"/>
          </p:cNvSpPr>
          <p:nvPr/>
        </p:nvSpPr>
        <p:spPr bwMode="auto">
          <a:xfrm>
            <a:off x="2547939" y="2349500"/>
            <a:ext cx="1533525" cy="374650"/>
          </a:xfrm>
          <a:prstGeom prst="wedgeRoundRectCallout">
            <a:avLst>
              <a:gd name="adj1" fmla="val -12764"/>
              <a:gd name="adj2" fmla="val 12806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内部全局地址</a:t>
            </a:r>
            <a:endParaRPr lang="en-US" altLang="zh-CN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0" name="AutoShape 4"/>
          <p:cNvSpPr>
            <a:spLocks noChangeArrowheads="1"/>
          </p:cNvSpPr>
          <p:nvPr/>
        </p:nvSpPr>
        <p:spPr bwMode="auto">
          <a:xfrm>
            <a:off x="4227514" y="2362200"/>
            <a:ext cx="1533525" cy="374650"/>
          </a:xfrm>
          <a:prstGeom prst="wedgeRoundRectCallout">
            <a:avLst>
              <a:gd name="adj1" fmla="val -12764"/>
              <a:gd name="adj2" fmla="val 12806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内部局部地址</a:t>
            </a:r>
            <a:endParaRPr lang="en-US" altLang="zh-CN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1" name="AutoShape 4"/>
          <p:cNvSpPr>
            <a:spLocks noChangeArrowheads="1"/>
          </p:cNvSpPr>
          <p:nvPr/>
        </p:nvSpPr>
        <p:spPr bwMode="auto">
          <a:xfrm>
            <a:off x="6272214" y="2386013"/>
            <a:ext cx="1533525" cy="374650"/>
          </a:xfrm>
          <a:prstGeom prst="wedgeRoundRectCallout">
            <a:avLst>
              <a:gd name="adj1" fmla="val -12764"/>
              <a:gd name="adj2" fmla="val 12806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外部局部地址</a:t>
            </a:r>
            <a:endParaRPr lang="en-US" altLang="zh-CN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2" name="AutoShape 4"/>
          <p:cNvSpPr>
            <a:spLocks noChangeArrowheads="1"/>
          </p:cNvSpPr>
          <p:nvPr/>
        </p:nvSpPr>
        <p:spPr bwMode="auto">
          <a:xfrm>
            <a:off x="8316914" y="2428875"/>
            <a:ext cx="1533525" cy="374650"/>
          </a:xfrm>
          <a:prstGeom prst="wedgeRoundRectCallout">
            <a:avLst>
              <a:gd name="adj1" fmla="val -12764"/>
              <a:gd name="adj2" fmla="val 12806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16200000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16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外部全局地址</a:t>
            </a:r>
            <a:endParaRPr lang="en-US" altLang="zh-CN" sz="1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7294564" y="4211638"/>
            <a:ext cx="2555875" cy="1022350"/>
          </a:xfrm>
          <a:prstGeom prst="wedgeRoundRectCallout">
            <a:avLst>
              <a:gd name="adj1" fmla="val -86454"/>
              <a:gd name="adj2" fmla="val -7173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NAT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转换条目的创建时间、使用时间、超时时间值</a:t>
            </a:r>
            <a:endParaRPr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4" name="圆角矩形 23"/>
          <p:cNvSpPr>
            <a:spLocks noChangeArrowheads="1"/>
          </p:cNvSpPr>
          <p:nvPr/>
        </p:nvSpPr>
        <p:spPr bwMode="auto">
          <a:xfrm>
            <a:off x="1963738" y="3627439"/>
            <a:ext cx="4418012" cy="36512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25" name="圆角矩形 24"/>
          <p:cNvSpPr>
            <a:spLocks noChangeArrowheads="1"/>
          </p:cNvSpPr>
          <p:nvPr/>
        </p:nvSpPr>
        <p:spPr bwMode="auto">
          <a:xfrm>
            <a:off x="1963739" y="5087939"/>
            <a:ext cx="4162425" cy="36512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 anchorCtr="1"/>
          <a:lstStyle/>
          <a:p>
            <a:endParaRPr lang="zh-CN" altLang="en-US"/>
          </a:p>
        </p:txBody>
      </p:sp>
      <p:sp>
        <p:nvSpPr>
          <p:cNvPr id="26" name="AutoShape 4"/>
          <p:cNvSpPr>
            <a:spLocks noChangeArrowheads="1"/>
          </p:cNvSpPr>
          <p:nvPr/>
        </p:nvSpPr>
        <p:spPr bwMode="auto">
          <a:xfrm>
            <a:off x="6491289" y="5564189"/>
            <a:ext cx="2555875" cy="407987"/>
          </a:xfrm>
          <a:prstGeom prst="wedgeRoundRectCallout">
            <a:avLst>
              <a:gd name="adj1" fmla="val -64023"/>
              <a:gd name="adj2" fmla="val -8241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静态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NAT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条目永远存在</a:t>
            </a:r>
            <a:endParaRPr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2500313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查看</a:t>
            </a:r>
            <a:r>
              <a:rPr lang="en-US" altLang="zh-CN"/>
              <a:t>NAT</a:t>
            </a:r>
            <a:r>
              <a:rPr lang="zh-CN" altLang="en-US"/>
              <a:t>统计信息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Router#show ip nat statistics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335756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默认情况下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UDP</a:t>
            </a:r>
            <a:r>
              <a:rPr lang="zh-CN" altLang="en-US">
                <a:cs typeface="Arial" charset="0"/>
              </a:rPr>
              <a:t>超时值：</a:t>
            </a:r>
            <a:r>
              <a:rPr lang="en-US" altLang="zh-CN">
                <a:cs typeface="Arial" charset="0"/>
              </a:rPr>
              <a:t>5</a:t>
            </a:r>
            <a:r>
              <a:rPr lang="zh-CN" altLang="en-US">
                <a:cs typeface="Arial" charset="0"/>
              </a:rPr>
              <a:t>分钟</a:t>
            </a: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DNS</a:t>
            </a:r>
            <a:r>
              <a:rPr lang="zh-CN" altLang="en-US">
                <a:cs typeface="Arial" charset="0"/>
              </a:rPr>
              <a:t>超时值：</a:t>
            </a:r>
            <a:r>
              <a:rPr lang="en-US" altLang="zh-CN">
                <a:cs typeface="Arial" charset="0"/>
              </a:rPr>
              <a:t>1</a:t>
            </a:r>
            <a:r>
              <a:rPr lang="zh-CN" altLang="en-US">
                <a:cs typeface="Arial" charset="0"/>
              </a:rPr>
              <a:t>分钟</a:t>
            </a: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TCP</a:t>
            </a:r>
            <a:r>
              <a:rPr lang="zh-CN" altLang="en-US">
                <a:cs typeface="Arial" charset="0"/>
              </a:rPr>
              <a:t>超时值：</a:t>
            </a:r>
            <a:r>
              <a:rPr lang="en-US" altLang="zh-CN">
                <a:cs typeface="Arial" charset="0"/>
              </a:rPr>
              <a:t>24</a:t>
            </a:r>
            <a:r>
              <a:rPr lang="zh-CN" altLang="en-US">
                <a:cs typeface="Arial" charset="0"/>
              </a:rPr>
              <a:t>小时</a:t>
            </a: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更改超时时间配置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277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NAT</a:t>
            </a:r>
            <a:r>
              <a:rPr lang="zh-CN" altLang="en-US"/>
              <a:t>转换条目超时时间</a:t>
            </a:r>
          </a:p>
        </p:txBody>
      </p:sp>
      <p:sp>
        <p:nvSpPr>
          <p:cNvPr id="32772" name="AutoShape 8"/>
          <p:cNvSpPr>
            <a:spLocks noChangeArrowheads="1"/>
          </p:cNvSpPr>
          <p:nvPr/>
        </p:nvSpPr>
        <p:spPr bwMode="auto">
          <a:xfrm>
            <a:off x="2225675" y="3519488"/>
            <a:ext cx="7886700" cy="766762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lvl="1"/>
            <a:r>
              <a:rPr lang="en-US" altLang="zh-CN" sz="2000" b="1">
                <a:solidFill>
                  <a:schemeClr val="tx2"/>
                </a:solidFill>
                <a:cs typeface="Arial" charset="0"/>
              </a:rPr>
              <a:t>Router(config)#ip nat translation { dns-timeout | icmp-timeout | tcp-timeout | udp-timeout }  { </a:t>
            </a:r>
            <a:r>
              <a:rPr lang="en-US" altLang="zh-CN" sz="2000" b="1" i="1">
                <a:solidFill>
                  <a:schemeClr val="tx2"/>
                </a:solidFill>
                <a:cs typeface="Arial" charset="0"/>
              </a:rPr>
              <a:t>seconds </a:t>
            </a:r>
            <a:r>
              <a:rPr lang="en-US" altLang="zh-CN" sz="2000" b="1">
                <a:solidFill>
                  <a:schemeClr val="tx2"/>
                </a:solidFill>
                <a:cs typeface="Arial" charset="0"/>
              </a:rPr>
              <a:t>| never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8"/>
          <p:cNvSpPr>
            <a:spLocks noChangeArrowheads="1"/>
          </p:cNvSpPr>
          <p:nvPr/>
        </p:nvSpPr>
        <p:spPr bwMode="auto">
          <a:xfrm>
            <a:off x="2095500" y="3571875"/>
            <a:ext cx="7886700" cy="43815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  <p:sp>
        <p:nvSpPr>
          <p:cNvPr id="33795" name="AutoShape 8"/>
          <p:cNvSpPr>
            <a:spLocks noChangeArrowheads="1"/>
          </p:cNvSpPr>
          <p:nvPr/>
        </p:nvSpPr>
        <p:spPr bwMode="auto">
          <a:xfrm>
            <a:off x="2095500" y="2643188"/>
            <a:ext cx="7886700" cy="46355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  <p:sp>
        <p:nvSpPr>
          <p:cNvPr id="33796" name="AutoShape 8"/>
          <p:cNvSpPr>
            <a:spLocks noChangeArrowheads="1"/>
          </p:cNvSpPr>
          <p:nvPr/>
        </p:nvSpPr>
        <p:spPr bwMode="auto">
          <a:xfrm>
            <a:off x="2095500" y="1643063"/>
            <a:ext cx="7886700" cy="43180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  <p:sp>
        <p:nvSpPr>
          <p:cNvPr id="33797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清除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转换表中的所有条目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  <a:buNone/>
            </a:pPr>
            <a:r>
              <a:rPr lang="en-US" altLang="en-US" sz="2000">
                <a:cs typeface="Arial" charset="0"/>
              </a:rPr>
              <a:t>R</a:t>
            </a:r>
            <a:r>
              <a:rPr lang="en-US" altLang="zh-CN" sz="2000">
                <a:cs typeface="Arial" charset="0"/>
              </a:rPr>
              <a:t>outer#</a:t>
            </a:r>
            <a:r>
              <a:rPr lang="en-US" altLang="en-US" sz="2000">
                <a:cs typeface="Arial" charset="0"/>
              </a:rPr>
              <a:t>clear ip nat translation *</a:t>
            </a:r>
            <a:endParaRPr lang="en-US" altLang="zh-CN" sz="1200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清除包含内部转换的转换条目</a:t>
            </a:r>
          </a:p>
          <a:p>
            <a:pPr lvl="1">
              <a:spcBef>
                <a:spcPts val="475"/>
              </a:spcBef>
              <a:buNone/>
            </a:pPr>
            <a:r>
              <a:rPr lang="en-US" altLang="en-US" sz="2000">
                <a:cs typeface="Arial" charset="0"/>
              </a:rPr>
              <a:t>R</a:t>
            </a:r>
            <a:r>
              <a:rPr lang="en-US" altLang="zh-CN" sz="2000">
                <a:cs typeface="Arial" charset="0"/>
              </a:rPr>
              <a:t>outer#</a:t>
            </a:r>
            <a:r>
              <a:rPr lang="en-US" altLang="en-US" sz="2000">
                <a:cs typeface="Arial" charset="0"/>
              </a:rPr>
              <a:t>clear ip nat translation inside </a:t>
            </a:r>
            <a:r>
              <a:rPr lang="en-US" altLang="en-US" sz="2000" i="1">
                <a:cs typeface="Arial" charset="0"/>
              </a:rPr>
              <a:t>local-ip global-ip</a:t>
            </a:r>
            <a:endParaRPr lang="en-US" altLang="zh-CN" sz="1200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清除包含外部转换的转换条目</a:t>
            </a:r>
          </a:p>
          <a:p>
            <a:pPr lvl="1">
              <a:spcBef>
                <a:spcPts val="475"/>
              </a:spcBef>
              <a:buNone/>
            </a:pPr>
            <a:r>
              <a:rPr lang="en-US" altLang="en-US" sz="2000">
                <a:cs typeface="Arial" charset="0"/>
              </a:rPr>
              <a:t>R</a:t>
            </a:r>
            <a:r>
              <a:rPr lang="en-US" altLang="zh-CN" sz="2000">
                <a:cs typeface="Arial" charset="0"/>
              </a:rPr>
              <a:t>outer#</a:t>
            </a:r>
            <a:r>
              <a:rPr lang="en-US" altLang="en-US" sz="2000">
                <a:cs typeface="Arial" charset="0"/>
              </a:rPr>
              <a:t>clear ip nat translation outside </a:t>
            </a:r>
            <a:r>
              <a:rPr lang="en-US" altLang="en-US" sz="2000" i="1">
                <a:cs typeface="Arial" charset="0"/>
              </a:rPr>
              <a:t>local-ip global-i</a:t>
            </a:r>
            <a:r>
              <a:rPr lang="en-US" altLang="zh-CN" sz="2000" i="1">
                <a:cs typeface="Arial" charset="0"/>
              </a:rPr>
              <a:t>p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379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清除</a:t>
            </a:r>
            <a:r>
              <a:rPr lang="en-US" altLang="zh-CN"/>
              <a:t>NAT</a:t>
            </a:r>
            <a:r>
              <a:rPr lang="zh-CN" altLang="en-US"/>
              <a:t>转换条目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3467100" y="4815960"/>
            <a:ext cx="4819650" cy="578882"/>
          </a:xfrm>
          <a:prstGeom prst="wedgeRoundRectCallout">
            <a:avLst>
              <a:gd name="adj1" fmla="val -24509"/>
              <a:gd name="adj2" fmla="val -5124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静态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NAT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条目不会被清除</a:t>
            </a:r>
            <a:endParaRPr lang="en-US" altLang="zh-CN" sz="2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>
                <a:cs typeface="Arial" charset="0"/>
              </a:rPr>
              <a:t>常见问题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ACL</a:t>
            </a:r>
            <a:r>
              <a:rPr lang="zh-CN" altLang="en-US">
                <a:cs typeface="Arial" charset="0"/>
              </a:rPr>
              <a:t>阻止转换后的流量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进行地址转换的</a:t>
            </a:r>
            <a:r>
              <a:rPr lang="en-US" altLang="zh-CN">
                <a:cs typeface="Arial" charset="0"/>
              </a:rPr>
              <a:t>ACL</a:t>
            </a:r>
            <a:r>
              <a:rPr lang="zh-CN" altLang="en-US">
                <a:cs typeface="Arial" charset="0"/>
              </a:rPr>
              <a:t>不全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overload</a:t>
            </a:r>
            <a:r>
              <a:rPr lang="zh-CN" altLang="en-US">
                <a:cs typeface="Arial" charset="0"/>
              </a:rPr>
              <a:t>参数漏配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不对称路由问题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动态地址池</a:t>
            </a:r>
            <a:r>
              <a:rPr lang="en-US" altLang="zh-CN">
                <a:cs typeface="Arial" charset="0"/>
              </a:rPr>
              <a:t>IP</a:t>
            </a:r>
            <a:r>
              <a:rPr lang="zh-CN" altLang="en-US">
                <a:cs typeface="Arial" charset="0"/>
              </a:rPr>
              <a:t>地址范围配置错误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动态地址池与静态转换地址重叠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en-US" altLang="zh-CN">
                <a:cs typeface="Arial" charset="0"/>
              </a:rPr>
              <a:t>Inside</a:t>
            </a:r>
            <a:r>
              <a:rPr lang="zh-CN" altLang="en-US">
                <a:cs typeface="Arial" charset="0"/>
              </a:rPr>
              <a:t>和</a:t>
            </a:r>
            <a:r>
              <a:rPr lang="en-US" altLang="zh-CN">
                <a:cs typeface="Arial" charset="0"/>
              </a:rPr>
              <a:t>outside</a:t>
            </a:r>
            <a:r>
              <a:rPr lang="zh-CN" altLang="en-US">
                <a:cs typeface="Arial" charset="0"/>
              </a:rPr>
              <a:t>接口配置错误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481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NAT</a:t>
            </a:r>
            <a:r>
              <a:rPr lang="zh-CN"/>
              <a:t>的故障处理</a:t>
            </a:r>
            <a:r>
              <a:rPr lang="en-US" altLang="zh-CN"/>
              <a:t>2-1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785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故障的排除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检查物理设备和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配置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通过</a:t>
            </a:r>
            <a:r>
              <a:rPr lang="en-US" altLang="zh-CN">
                <a:cs typeface="Arial" charset="0"/>
              </a:rPr>
              <a:t>show</a:t>
            </a:r>
            <a:r>
              <a:rPr lang="zh-CN" altLang="en-US">
                <a:cs typeface="Arial" charset="0"/>
              </a:rPr>
              <a:t>命令查看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的各种信息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通过</a:t>
            </a:r>
            <a:r>
              <a:rPr lang="en-US" altLang="zh-CN">
                <a:cs typeface="Arial" charset="0"/>
              </a:rPr>
              <a:t>debug ip nat</a:t>
            </a:r>
            <a:r>
              <a:rPr lang="zh-CN" altLang="en-US">
                <a:cs typeface="Arial" charset="0"/>
              </a:rPr>
              <a:t>命令跟踪</a:t>
            </a:r>
            <a:r>
              <a:rPr lang="en-US" altLang="zh-CN">
                <a:cs typeface="Arial" charset="0"/>
              </a:rPr>
              <a:t>NAT</a:t>
            </a:r>
            <a:r>
              <a:rPr lang="zh-CN" altLang="en-US">
                <a:cs typeface="Arial" charset="0"/>
              </a:rPr>
              <a:t>操作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584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NAT</a:t>
            </a:r>
            <a:r>
              <a:rPr lang="zh-CN" altLang="en-US"/>
              <a:t>故障处理</a:t>
            </a:r>
            <a:r>
              <a:rPr lang="en-US" altLang="zh-CN"/>
              <a:t>2-2</a:t>
            </a:r>
            <a:endParaRPr lang="zh-CN" altLang="en-US"/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1830389" y="2928938"/>
            <a:ext cx="8455025" cy="2133600"/>
            <a:chOff x="305771" y="2844792"/>
            <a:chExt cx="8355685" cy="2133292"/>
          </a:xfrm>
        </p:grpSpPr>
        <p:sp>
          <p:nvSpPr>
            <p:cNvPr id="35846" name="AutoShape 8"/>
            <p:cNvSpPr>
              <a:spLocks noChangeArrowheads="1"/>
            </p:cNvSpPr>
            <p:nvPr/>
          </p:nvSpPr>
          <p:spPr bwMode="auto">
            <a:xfrm>
              <a:off x="482544" y="2890522"/>
              <a:ext cx="8142399" cy="2087562"/>
            </a:xfrm>
            <a:prstGeom prst="roundRect">
              <a:avLst>
                <a:gd name="adj" fmla="val 5477"/>
              </a:avLst>
            </a:prstGeom>
            <a:gradFill rotWithShape="1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>
                <a:solidFill>
                  <a:schemeClr val="tx2"/>
                </a:solidFill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05771" y="2844792"/>
              <a:ext cx="8355685" cy="2119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 anchor="ctr">
              <a:spAutoFit/>
            </a:bodyPr>
            <a:lstStyle/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R1#debug </a:t>
              </a:r>
              <a:r>
                <a:rPr lang="en-US" altLang="zh-CN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</a:t>
              </a: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zh-CN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nat</a:t>
              </a: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IP NAT debugging is on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*Mar  1 00:03:56.875: NAT: s=192.168.4.2-&gt;145.52.23.2, d=1.1.1.1 [52225]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*Mar  1 00:03:57.667: NAT*: s=192.168.4.2-&gt;145.52.23.2, d=1.1.1.1 [52481]</a:t>
              </a:r>
            </a:p>
            <a:p>
              <a:pPr indent="266700" eaLnBrk="0" hangingPunct="0">
                <a:lnSpc>
                  <a:spcPct val="150000"/>
                </a:lnSpc>
                <a:defRPr/>
              </a:pPr>
              <a:r>
                <a:rPr lang="en-US" altLang="zh-CN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*Mar  1 00:03:57.811: NAT*: s=1.1.1.1, d=145.52.23.2-&gt;192.168.4.2 [52481]</a:t>
              </a:r>
            </a:p>
          </p:txBody>
        </p:sp>
      </p:grp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809751" y="5063849"/>
            <a:ext cx="8607425" cy="1464231"/>
          </a:xfrm>
          <a:prstGeom prst="wedgeRoundRectCallout">
            <a:avLst>
              <a:gd name="adj1" fmla="val -17838"/>
              <a:gd name="adj2" fmla="val -4912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pPr eaLnBrk="0" hangingPunct="0"/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s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＝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192.168.4.2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表示源地址是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192.168.4.2</a:t>
            </a:r>
            <a:endParaRPr lang="zh-CN" altLang="en-US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0" hangingPunct="0"/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d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＝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1.1.1.1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表示目的地址是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1.1.1.1</a:t>
            </a:r>
            <a:endParaRPr lang="zh-CN" altLang="en-US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0" hangingPunct="0"/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192.168.4.2-&gt;145.52.23.2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表示将地址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192.168.4.2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转换为 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145.52.23.2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本章总结</a:t>
            </a:r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 flipV="1">
            <a:off x="4238625" y="5357814"/>
            <a:ext cx="431800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 rot="16200000" flipH="1">
            <a:off x="5453063" y="785813"/>
            <a:ext cx="1588" cy="24304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2" name="Line 25"/>
          <p:cNvSpPr>
            <a:spLocks noChangeShapeType="1"/>
          </p:cNvSpPr>
          <p:nvPr/>
        </p:nvSpPr>
        <p:spPr bwMode="auto">
          <a:xfrm flipV="1">
            <a:off x="6680201" y="3795714"/>
            <a:ext cx="360363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3" name="Line 25"/>
          <p:cNvSpPr>
            <a:spLocks noChangeShapeType="1"/>
          </p:cNvSpPr>
          <p:nvPr/>
        </p:nvSpPr>
        <p:spPr bwMode="auto">
          <a:xfrm flipV="1">
            <a:off x="6648450" y="2225675"/>
            <a:ext cx="431800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6656389" y="1285875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>
            <a:off x="6664326" y="2714625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 flipV="1">
            <a:off x="6678613" y="3306764"/>
            <a:ext cx="349250" cy="31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9" name="Line 25"/>
          <p:cNvSpPr>
            <a:spLocks noChangeShapeType="1"/>
          </p:cNvSpPr>
          <p:nvPr/>
        </p:nvSpPr>
        <p:spPr bwMode="auto">
          <a:xfrm flipV="1">
            <a:off x="6667501" y="4246563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1" name="Line 8"/>
          <p:cNvSpPr>
            <a:spLocks noChangeShapeType="1"/>
          </p:cNvSpPr>
          <p:nvPr/>
        </p:nvSpPr>
        <p:spPr bwMode="auto">
          <a:xfrm>
            <a:off x="4238626" y="4000500"/>
            <a:ext cx="24288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2" name="Line 10"/>
          <p:cNvSpPr>
            <a:spLocks noChangeShapeType="1"/>
          </p:cNvSpPr>
          <p:nvPr/>
        </p:nvSpPr>
        <p:spPr bwMode="auto">
          <a:xfrm>
            <a:off x="3806825" y="3632200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4" name="AutoShape 5"/>
          <p:cNvSpPr>
            <a:spLocks noChangeArrowheads="1"/>
          </p:cNvSpPr>
          <p:nvPr/>
        </p:nvSpPr>
        <p:spPr bwMode="auto">
          <a:xfrm>
            <a:off x="4492626" y="3840248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的配置</a:t>
            </a:r>
          </a:p>
        </p:txBody>
      </p:sp>
      <p:sp>
        <p:nvSpPr>
          <p:cNvPr id="45" name="AutoShape 11"/>
          <p:cNvSpPr>
            <a:spLocks noChangeArrowheads="1"/>
          </p:cNvSpPr>
          <p:nvPr/>
        </p:nvSpPr>
        <p:spPr bwMode="auto">
          <a:xfrm>
            <a:off x="6988175" y="2028842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实现方法的工作过程</a:t>
            </a:r>
          </a:p>
        </p:txBody>
      </p:sp>
      <p:sp>
        <p:nvSpPr>
          <p:cNvPr id="46" name="AutoShape 18"/>
          <p:cNvSpPr>
            <a:spLocks noChangeArrowheads="1"/>
          </p:cNvSpPr>
          <p:nvPr/>
        </p:nvSpPr>
        <p:spPr bwMode="auto">
          <a:xfrm>
            <a:off x="6988175" y="2500307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的特性</a:t>
            </a:r>
          </a:p>
        </p:txBody>
      </p:sp>
      <p:sp>
        <p:nvSpPr>
          <p:cNvPr id="47" name="AutoShape 27"/>
          <p:cNvSpPr>
            <a:spLocks noChangeArrowheads="1"/>
          </p:cNvSpPr>
          <p:nvPr/>
        </p:nvSpPr>
        <p:spPr bwMode="auto">
          <a:xfrm>
            <a:off x="6992422" y="3593205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动态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endParaRPr lang="zh-CN" altLang="en-US" sz="1600" b="1" dirty="0">
              <a:solidFill>
                <a:srgbClr val="00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48" name="AutoShape 28"/>
          <p:cNvSpPr>
            <a:spLocks noChangeArrowheads="1"/>
          </p:cNvSpPr>
          <p:nvPr/>
        </p:nvSpPr>
        <p:spPr bwMode="auto">
          <a:xfrm>
            <a:off x="6988175" y="3143249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静态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NAT</a:t>
            </a:r>
            <a:endParaRPr lang="zh-CN" altLang="en-US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51" name="AutoShape 4"/>
          <p:cNvSpPr>
            <a:spLocks noChangeArrowheads="1"/>
          </p:cNvSpPr>
          <p:nvPr/>
        </p:nvSpPr>
        <p:spPr bwMode="auto">
          <a:xfrm>
            <a:off x="1820848" y="3436738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网络地址转换（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2" name="AutoShape 27"/>
          <p:cNvSpPr>
            <a:spLocks noChangeArrowheads="1"/>
          </p:cNvSpPr>
          <p:nvPr/>
        </p:nvSpPr>
        <p:spPr bwMode="auto">
          <a:xfrm>
            <a:off x="6992421" y="4047230"/>
            <a:ext cx="2675480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PAT</a:t>
            </a:r>
            <a:endParaRPr lang="zh-CN" altLang="en-US" sz="1600" b="1" dirty="0">
              <a:solidFill>
                <a:srgbClr val="FF0000"/>
              </a:solidFill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53" name="Line 36"/>
          <p:cNvSpPr>
            <a:spLocks noChangeShapeType="1"/>
          </p:cNvSpPr>
          <p:nvPr/>
        </p:nvSpPr>
        <p:spPr bwMode="auto">
          <a:xfrm>
            <a:off x="4238625" y="2000251"/>
            <a:ext cx="0" cy="335756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54" name="Line 37"/>
          <p:cNvSpPr>
            <a:spLocks noChangeShapeType="1"/>
          </p:cNvSpPr>
          <p:nvPr/>
        </p:nvSpPr>
        <p:spPr bwMode="auto">
          <a:xfrm>
            <a:off x="6667500" y="3298825"/>
            <a:ext cx="0" cy="142875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55" name="AutoShape 11"/>
          <p:cNvSpPr>
            <a:spLocks noChangeArrowheads="1"/>
          </p:cNvSpPr>
          <p:nvPr/>
        </p:nvSpPr>
        <p:spPr bwMode="auto">
          <a:xfrm>
            <a:off x="6988175" y="1122364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的概念与实现方式</a:t>
            </a:r>
          </a:p>
        </p:txBody>
      </p:sp>
      <p:sp>
        <p:nvSpPr>
          <p:cNvPr id="56" name="AutoShape 5"/>
          <p:cNvSpPr>
            <a:spLocks noChangeArrowheads="1"/>
          </p:cNvSpPr>
          <p:nvPr/>
        </p:nvSpPr>
        <p:spPr bwMode="auto">
          <a:xfrm>
            <a:off x="4485201" y="5154271"/>
            <a:ext cx="2000263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的故障处理</a:t>
            </a:r>
          </a:p>
        </p:txBody>
      </p:sp>
      <p:sp>
        <p:nvSpPr>
          <p:cNvPr id="57" name="AutoShape 5"/>
          <p:cNvSpPr>
            <a:spLocks noChangeArrowheads="1"/>
          </p:cNvSpPr>
          <p:nvPr/>
        </p:nvSpPr>
        <p:spPr bwMode="auto">
          <a:xfrm>
            <a:off x="4481514" y="1857364"/>
            <a:ext cx="1971675" cy="37465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概述</a:t>
            </a:r>
          </a:p>
        </p:txBody>
      </p:sp>
      <p:sp>
        <p:nvSpPr>
          <p:cNvPr id="58" name="Line 16"/>
          <p:cNvSpPr>
            <a:spLocks noChangeShapeType="1"/>
          </p:cNvSpPr>
          <p:nvPr/>
        </p:nvSpPr>
        <p:spPr bwMode="auto">
          <a:xfrm>
            <a:off x="6667501" y="4711700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59" name="AutoShape 18"/>
          <p:cNvSpPr>
            <a:spLocks noChangeArrowheads="1"/>
          </p:cNvSpPr>
          <p:nvPr/>
        </p:nvSpPr>
        <p:spPr bwMode="auto">
          <a:xfrm>
            <a:off x="6992042" y="4557038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验证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的配置</a:t>
            </a:r>
          </a:p>
        </p:txBody>
      </p:sp>
      <p:sp>
        <p:nvSpPr>
          <p:cNvPr id="60" name="Line 25"/>
          <p:cNvSpPr>
            <a:spLocks noChangeShapeType="1"/>
          </p:cNvSpPr>
          <p:nvPr/>
        </p:nvSpPr>
        <p:spPr bwMode="auto">
          <a:xfrm flipV="1">
            <a:off x="6664325" y="1714500"/>
            <a:ext cx="431800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6988175" y="1571626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NAT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的术语与转换表</a:t>
            </a:r>
          </a:p>
        </p:txBody>
      </p:sp>
      <p:cxnSp>
        <p:nvCxnSpPr>
          <p:cNvPr id="62" name="直接连接符 61"/>
          <p:cNvCxnSpPr/>
          <p:nvPr/>
        </p:nvCxnSpPr>
        <p:spPr bwMode="auto">
          <a:xfrm rot="5400000">
            <a:off x="5953125" y="2000250"/>
            <a:ext cx="142875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4286264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预习作业</a:t>
            </a:r>
            <a:endParaRPr lang="en-US" altLang="zh-CN" dirty="0"/>
          </a:p>
          <a:p>
            <a:pPr lvl="1">
              <a:spcBef>
                <a:spcPts val="475"/>
              </a:spcBef>
            </a:pPr>
            <a:r>
              <a:rPr lang="zh-CN" altLang="en-US" dirty="0"/>
              <a:t>预习目标</a:t>
            </a:r>
            <a:endParaRPr lang="en-US" altLang="zh-CN" dirty="0"/>
          </a:p>
          <a:p>
            <a:pPr lvl="2"/>
            <a:r>
              <a:rPr lang="zh-CN" altLang="en-US"/>
              <a:t>理解动态路由的基本概念和原理</a:t>
            </a:r>
          </a:p>
          <a:p>
            <a:pPr lvl="2"/>
            <a:r>
              <a:rPr lang="zh-CN" altLang="en-US"/>
              <a:t>理解距离矢量路由协议和链路状态路由协议</a:t>
            </a:r>
          </a:p>
          <a:p>
            <a:pPr lvl="2"/>
            <a:r>
              <a:rPr lang="zh-CN" altLang="en-US"/>
              <a:t>了解有类路由和无类路由</a:t>
            </a:r>
          </a:p>
          <a:p>
            <a:pPr lvl="2"/>
            <a:r>
              <a:rPr lang="zh-CN" altLang="en-US"/>
              <a:t>掌握</a:t>
            </a:r>
            <a:r>
              <a:rPr lang="en-US" altLang="zh-CN"/>
              <a:t>RIP</a:t>
            </a:r>
            <a:r>
              <a:rPr lang="zh-CN" altLang="en-US"/>
              <a:t>协议的基本配置</a:t>
            </a:r>
            <a:endParaRPr lang="en-US" altLang="zh-CN"/>
          </a:p>
          <a:p>
            <a:pPr lvl="2">
              <a:spcBef>
                <a:spcPct val="0"/>
              </a:spcBef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lvl="1">
              <a:spcBef>
                <a:spcPts val="475"/>
              </a:spcBef>
            </a:pPr>
            <a:r>
              <a:rPr lang="zh-CN" altLang="en-US" dirty="0"/>
              <a:t>预习下一章学生用书，完成预习作业</a:t>
            </a:r>
            <a:endParaRPr lang="en-US" altLang="zh-CN" dirty="0"/>
          </a:p>
          <a:p>
            <a:pPr lvl="2">
              <a:spcBef>
                <a:spcPts val="675"/>
              </a:spcBef>
            </a:pPr>
            <a:r>
              <a:rPr lang="zh-CN" altLang="en-US"/>
              <a:t>动态路由协议的度量有哪些？</a:t>
            </a:r>
            <a:endParaRPr lang="en-US" altLang="zh-CN" dirty="0"/>
          </a:p>
          <a:p>
            <a:pPr lvl="2">
              <a:spcBef>
                <a:spcPts val="675"/>
              </a:spcBef>
            </a:pPr>
            <a:endParaRPr lang="zh-CN" altLang="en-US" dirty="0"/>
          </a:p>
          <a:p>
            <a:pPr>
              <a:spcBef>
                <a:spcPts val="675"/>
              </a:spcBef>
            </a:pPr>
            <a:endParaRPr lang="zh-CN" altLang="en-US" dirty="0"/>
          </a:p>
        </p:txBody>
      </p:sp>
      <p:sp>
        <p:nvSpPr>
          <p:cNvPr id="57347" name="标题 2"/>
          <p:cNvSpPr>
            <a:spLocks noGrp="1"/>
          </p:cNvSpPr>
          <p:nvPr>
            <p:ph type="title"/>
          </p:nvPr>
        </p:nvSpPr>
        <p:spPr>
          <a:xfrm>
            <a:off x="1752600" y="146051"/>
            <a:ext cx="8763000" cy="639763"/>
          </a:xfrm>
        </p:spPr>
        <p:txBody>
          <a:bodyPr/>
          <a:lstStyle/>
          <a:p>
            <a:r>
              <a:rPr lang="zh-CN" altLang="en-US"/>
              <a:t>作业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4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  <a:defRPr/>
            </a:pPr>
            <a:r>
              <a:rPr lang="zh-CN" altLang="en-US" dirty="0"/>
              <a:t>需求描述</a:t>
            </a:r>
            <a:endParaRPr lang="en-US" altLang="zh-CN" dirty="0"/>
          </a:p>
          <a:p>
            <a:pPr lvl="1">
              <a:spcBef>
                <a:spcPts val="475"/>
              </a:spcBef>
              <a:defRPr/>
            </a:pPr>
            <a:r>
              <a:rPr lang="zh-CN" altLang="en-US" dirty="0"/>
              <a:t>要求公司内部服务器</a:t>
            </a:r>
            <a:r>
              <a:rPr lang="en-US" dirty="0"/>
              <a:t>192.168.2.2</a:t>
            </a:r>
            <a:r>
              <a:rPr lang="zh-CN" altLang="en-US" dirty="0"/>
              <a:t>采用静态</a:t>
            </a:r>
            <a:r>
              <a:rPr lang="en-US" dirty="0"/>
              <a:t>NAT</a:t>
            </a:r>
            <a:r>
              <a:rPr lang="zh-CN" altLang="en-US" dirty="0"/>
              <a:t>转换为</a:t>
            </a:r>
            <a:r>
              <a:rPr lang="en-US" dirty="0"/>
              <a:t>145.52.23.6</a:t>
            </a:r>
          </a:p>
          <a:p>
            <a:pPr lvl="1">
              <a:spcBef>
                <a:spcPts val="475"/>
              </a:spcBef>
              <a:defRPr/>
            </a:pPr>
            <a:r>
              <a:rPr lang="zh-CN" altLang="en-US" dirty="0"/>
              <a:t>将内部网络地址</a:t>
            </a:r>
            <a:r>
              <a:rPr lang="en-US" dirty="0"/>
              <a:t>192.168.3.0/24</a:t>
            </a:r>
            <a:r>
              <a:rPr lang="zh-CN" altLang="en-US" dirty="0"/>
              <a:t>和</a:t>
            </a:r>
            <a:r>
              <a:rPr lang="en-US" dirty="0"/>
              <a:t>192.168.4.0/24</a:t>
            </a:r>
            <a:r>
              <a:rPr lang="zh-CN" altLang="en-US" dirty="0"/>
              <a:t>采用</a:t>
            </a:r>
            <a:r>
              <a:rPr lang="en-US" dirty="0"/>
              <a:t>PAT</a:t>
            </a:r>
            <a:r>
              <a:rPr lang="zh-CN" altLang="en-US" dirty="0"/>
              <a:t>转换为合法的外部地址</a:t>
            </a:r>
            <a:r>
              <a:rPr lang="en-US" dirty="0"/>
              <a:t>145.52.23.1</a:t>
            </a:r>
            <a:r>
              <a:rPr lang="zh-CN" altLang="en-US" dirty="0"/>
              <a:t>～</a:t>
            </a:r>
            <a:r>
              <a:rPr lang="en-US" dirty="0"/>
              <a:t>145.52.23.5</a:t>
            </a:r>
            <a:endParaRPr lang="en-US" altLang="zh-CN" dirty="0">
              <a:latin typeface="+mn-ea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实验：</a:t>
            </a:r>
            <a:r>
              <a:rPr lang="zh-CN"/>
              <a:t>配置</a:t>
            </a:r>
            <a:r>
              <a:rPr lang="en-US" altLang="zh-CN"/>
              <a:t>NAT</a:t>
            </a:r>
            <a:r>
              <a:rPr lang="zh-CN"/>
              <a:t>实现网络访问</a:t>
            </a:r>
            <a:r>
              <a:rPr lang="en-US" altLang="zh-CN"/>
              <a:t>4-1</a:t>
            </a:r>
            <a:endParaRPr lang="en-US" altLang="zh-CN">
              <a:latin typeface="黑体" pitchFamily="2" charset="-122"/>
            </a:endParaRPr>
          </a:p>
        </p:txBody>
      </p:sp>
      <p:grpSp>
        <p:nvGrpSpPr>
          <p:cNvPr id="2" name="组合 63"/>
          <p:cNvGrpSpPr>
            <a:grpSpLocks/>
          </p:cNvGrpSpPr>
          <p:nvPr/>
        </p:nvGrpSpPr>
        <p:grpSpPr bwMode="auto">
          <a:xfrm>
            <a:off x="2667000" y="3500439"/>
            <a:ext cx="7132638" cy="2928937"/>
            <a:chOff x="446031" y="2473620"/>
            <a:chExt cx="8375054" cy="3523056"/>
          </a:xfrm>
        </p:grpSpPr>
        <p:cxnSp>
          <p:nvCxnSpPr>
            <p:cNvPr id="38917" name="AutoShape 5"/>
            <p:cNvCxnSpPr>
              <a:cxnSpLocks noChangeShapeType="1"/>
            </p:cNvCxnSpPr>
            <p:nvPr/>
          </p:nvCxnSpPr>
          <p:spPr bwMode="auto">
            <a:xfrm flipH="1">
              <a:off x="4789317" y="3966325"/>
              <a:ext cx="2592000" cy="2536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</p:cxnSp>
        <p:pic>
          <p:nvPicPr>
            <p:cNvPr id="38918" name="Picture 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85388" y="2473620"/>
              <a:ext cx="1695832" cy="1023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919" name="Picture 8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2544" y="3869946"/>
              <a:ext cx="1226886" cy="770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920" name="Picture 9" descr="black_server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92083" y="2473620"/>
              <a:ext cx="634004" cy="634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组合 60"/>
            <p:cNvGrpSpPr>
              <a:grpSpLocks/>
            </p:cNvGrpSpPr>
            <p:nvPr/>
          </p:nvGrpSpPr>
          <p:grpSpPr bwMode="auto">
            <a:xfrm>
              <a:off x="7156554" y="3504758"/>
              <a:ext cx="1664531" cy="1001157"/>
              <a:chOff x="7047015" y="2938563"/>
              <a:chExt cx="1664531" cy="1001157"/>
            </a:xfrm>
          </p:grpSpPr>
          <p:pic>
            <p:nvPicPr>
              <p:cNvPr id="38947" name="Picture 3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7047015" y="2938563"/>
                <a:ext cx="1664531" cy="1001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8948" name="Text Box 10"/>
              <p:cNvSpPr txBox="1">
                <a:spLocks noChangeArrowheads="1"/>
              </p:cNvSpPr>
              <p:nvPr/>
            </p:nvSpPr>
            <p:spPr bwMode="auto">
              <a:xfrm>
                <a:off x="7242351" y="3244588"/>
                <a:ext cx="1163514" cy="40722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Ctr="1">
                <a:spAutoFit/>
              </a:bodyPr>
              <a:lstStyle/>
              <a:p>
                <a:r>
                  <a:rPr lang="en-US" altLang="zh-CN" sz="1600" b="1">
                    <a:solidFill>
                      <a:schemeClr val="tx2"/>
                    </a:solidFill>
                    <a:ea typeface="宋体" charset="-122"/>
                    <a:cs typeface="Arial" charset="0"/>
                  </a:rPr>
                  <a:t>Internet</a:t>
                </a:r>
              </a:p>
            </p:txBody>
          </p:sp>
        </p:grpSp>
        <p:pic>
          <p:nvPicPr>
            <p:cNvPr id="38922" name="Picture 11" descr="black_server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77934" y="3130854"/>
              <a:ext cx="634004" cy="634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923" name="Picture 1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2544" y="3650771"/>
              <a:ext cx="575419" cy="54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924" name="Text Box 13"/>
            <p:cNvSpPr txBox="1">
              <a:spLocks noChangeArrowheads="1"/>
            </p:cNvSpPr>
            <p:nvPr/>
          </p:nvSpPr>
          <p:spPr bwMode="auto">
            <a:xfrm>
              <a:off x="1030239" y="2755787"/>
              <a:ext cx="1264908" cy="4072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zh-CN" altLang="en-US" sz="1600" b="1">
                  <a:solidFill>
                    <a:schemeClr val="tx2"/>
                  </a:solidFill>
                  <a:latin typeface="黑体" pitchFamily="2" charset="-122"/>
                  <a:cs typeface="Arial" charset="0"/>
                </a:rPr>
                <a:t>服务器区</a:t>
              </a:r>
            </a:p>
          </p:txBody>
        </p:sp>
        <p:sp>
          <p:nvSpPr>
            <p:cNvPr id="38925" name="Text Box 14"/>
            <p:cNvSpPr txBox="1">
              <a:spLocks noChangeArrowheads="1"/>
            </p:cNvSpPr>
            <p:nvPr/>
          </p:nvSpPr>
          <p:spPr bwMode="auto">
            <a:xfrm>
              <a:off x="1547319" y="5137394"/>
              <a:ext cx="1163513" cy="4072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ea typeface="宋体" charset="-122"/>
                  <a:cs typeface="Arial" charset="0"/>
                </a:rPr>
                <a:t>VLAN3</a:t>
              </a:r>
            </a:p>
          </p:txBody>
        </p:sp>
        <p:cxnSp>
          <p:nvCxnSpPr>
            <p:cNvPr id="38926" name="AutoShape 15"/>
            <p:cNvCxnSpPr>
              <a:cxnSpLocks noChangeShapeType="1"/>
            </p:cNvCxnSpPr>
            <p:nvPr/>
          </p:nvCxnSpPr>
          <p:spPr bwMode="auto">
            <a:xfrm>
              <a:off x="2388780" y="2998431"/>
              <a:ext cx="1941724" cy="654001"/>
            </a:xfrm>
            <a:prstGeom prst="bentConnector2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</p:spPr>
        </p:cxnSp>
        <p:cxnSp>
          <p:nvCxnSpPr>
            <p:cNvPr id="38927" name="AutoShape 16"/>
            <p:cNvCxnSpPr>
              <a:cxnSpLocks noChangeShapeType="1"/>
            </p:cNvCxnSpPr>
            <p:nvPr/>
          </p:nvCxnSpPr>
          <p:spPr bwMode="auto">
            <a:xfrm flipV="1">
              <a:off x="3810851" y="4237506"/>
              <a:ext cx="519653" cy="643862"/>
            </a:xfrm>
            <a:prstGeom prst="bentConnector2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</p:spPr>
        </p:cxnSp>
        <p:pic>
          <p:nvPicPr>
            <p:cNvPr id="38928" name="Picture 2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139778" y="4308005"/>
              <a:ext cx="575419" cy="54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929" name="Picture 25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2544" y="5035572"/>
              <a:ext cx="1226886" cy="770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930" name="Picture 26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46031" y="5038265"/>
              <a:ext cx="575419" cy="545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931" name="Picture 2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139778" y="5451674"/>
              <a:ext cx="575419" cy="545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38932" name="AutoShape 28"/>
            <p:cNvCxnSpPr>
              <a:cxnSpLocks noChangeShapeType="1"/>
            </p:cNvCxnSpPr>
            <p:nvPr/>
          </p:nvCxnSpPr>
          <p:spPr bwMode="auto">
            <a:xfrm>
              <a:off x="1709430" y="4255249"/>
              <a:ext cx="1642607" cy="441071"/>
            </a:xfrm>
            <a:prstGeom prst="bentConnector2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</p:spPr>
        </p:cxnSp>
        <p:cxnSp>
          <p:nvCxnSpPr>
            <p:cNvPr id="38933" name="AutoShape 29"/>
            <p:cNvCxnSpPr>
              <a:cxnSpLocks noChangeShapeType="1"/>
            </p:cNvCxnSpPr>
            <p:nvPr/>
          </p:nvCxnSpPr>
          <p:spPr bwMode="auto">
            <a:xfrm flipV="1">
              <a:off x="1709430" y="5063879"/>
              <a:ext cx="1642607" cy="418256"/>
            </a:xfrm>
            <a:prstGeom prst="bentConnector2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</p:spPr>
        </p:cxnSp>
        <p:sp>
          <p:nvSpPr>
            <p:cNvPr id="38934" name="Text Box 30"/>
            <p:cNvSpPr txBox="1">
              <a:spLocks noChangeArrowheads="1"/>
            </p:cNvSpPr>
            <p:nvPr/>
          </p:nvSpPr>
          <p:spPr bwMode="auto">
            <a:xfrm>
              <a:off x="1433126" y="3848471"/>
              <a:ext cx="1163514" cy="4072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ea typeface="宋体" charset="-122"/>
                  <a:cs typeface="Arial" charset="0"/>
                </a:rPr>
                <a:t>VLAN4</a:t>
              </a:r>
            </a:p>
          </p:txBody>
        </p:sp>
        <p:sp>
          <p:nvSpPr>
            <p:cNvPr id="38935" name="Text Box 31"/>
            <p:cNvSpPr txBox="1">
              <a:spLocks noChangeArrowheads="1"/>
            </p:cNvSpPr>
            <p:nvPr/>
          </p:nvSpPr>
          <p:spPr bwMode="auto">
            <a:xfrm>
              <a:off x="2218372" y="2564707"/>
              <a:ext cx="1163513" cy="4072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ea typeface="宋体" charset="-122"/>
                  <a:cs typeface="Arial" charset="0"/>
                </a:rPr>
                <a:t>VLAN2</a:t>
              </a:r>
            </a:p>
          </p:txBody>
        </p:sp>
        <p:grpSp>
          <p:nvGrpSpPr>
            <p:cNvPr id="4" name="组合 59"/>
            <p:cNvGrpSpPr>
              <a:grpSpLocks/>
            </p:cNvGrpSpPr>
            <p:nvPr/>
          </p:nvGrpSpPr>
          <p:grpSpPr bwMode="auto">
            <a:xfrm>
              <a:off x="5740416" y="3677348"/>
              <a:ext cx="920164" cy="686692"/>
              <a:chOff x="5667390" y="3163473"/>
              <a:chExt cx="920164" cy="686692"/>
            </a:xfrm>
          </p:grpSpPr>
          <p:pic>
            <p:nvPicPr>
              <p:cNvPr id="38945" name="Picture 2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667390" y="3163473"/>
                <a:ext cx="920164" cy="6866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8946" name="Text Box 36"/>
              <p:cNvSpPr txBox="1">
                <a:spLocks noChangeArrowheads="1"/>
              </p:cNvSpPr>
              <p:nvPr/>
            </p:nvSpPr>
            <p:spPr bwMode="auto">
              <a:xfrm>
                <a:off x="5741425" y="3442940"/>
                <a:ext cx="769556" cy="40722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Ctr="1">
                <a:spAutoFit/>
              </a:bodyPr>
              <a:lstStyle/>
              <a:p>
                <a:r>
                  <a:rPr lang="en-US" altLang="zh-CN" sz="1600" b="1">
                    <a:solidFill>
                      <a:schemeClr val="bg1"/>
                    </a:solidFill>
                    <a:ea typeface="宋体" charset="-122"/>
                    <a:cs typeface="Arial" charset="0"/>
                  </a:rPr>
                  <a:t>NAT</a:t>
                </a:r>
              </a:p>
            </p:txBody>
          </p:sp>
        </p:grpSp>
        <p:grpSp>
          <p:nvGrpSpPr>
            <p:cNvPr id="5" name="组合 57"/>
            <p:cNvGrpSpPr>
              <a:grpSpLocks/>
            </p:cNvGrpSpPr>
            <p:nvPr/>
          </p:nvGrpSpPr>
          <p:grpSpPr bwMode="auto">
            <a:xfrm>
              <a:off x="2974338" y="2826056"/>
              <a:ext cx="1130266" cy="592550"/>
              <a:chOff x="2974338" y="2174864"/>
              <a:chExt cx="1130266" cy="592550"/>
            </a:xfrm>
          </p:grpSpPr>
          <p:pic>
            <p:nvPicPr>
              <p:cNvPr id="38943" name="Picture 22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974338" y="2174864"/>
                <a:ext cx="1130266" cy="5068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8944" name="Text Box 37"/>
              <p:cNvSpPr txBox="1">
                <a:spLocks noChangeArrowheads="1"/>
              </p:cNvSpPr>
              <p:nvPr/>
            </p:nvSpPr>
            <p:spPr bwMode="auto">
              <a:xfrm>
                <a:off x="3090943" y="2360186"/>
                <a:ext cx="738209" cy="40722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anchorCtr="1">
                <a:spAutoFit/>
              </a:bodyPr>
              <a:lstStyle/>
              <a:p>
                <a:r>
                  <a:rPr lang="en-US" altLang="zh-CN" sz="1600" b="1">
                    <a:solidFill>
                      <a:schemeClr val="bg1"/>
                    </a:solidFill>
                    <a:ea typeface="宋体" charset="-122"/>
                    <a:cs typeface="Arial" charset="0"/>
                  </a:rPr>
                  <a:t>SW2</a:t>
                </a:r>
              </a:p>
            </p:txBody>
          </p:sp>
        </p:grpSp>
        <p:grpSp>
          <p:nvGrpSpPr>
            <p:cNvPr id="6" name="组合 58"/>
            <p:cNvGrpSpPr>
              <a:grpSpLocks/>
            </p:cNvGrpSpPr>
            <p:nvPr/>
          </p:nvGrpSpPr>
          <p:grpSpPr bwMode="auto">
            <a:xfrm>
              <a:off x="2890687" y="4696319"/>
              <a:ext cx="1130265" cy="876417"/>
              <a:chOff x="2890687" y="4365009"/>
              <a:chExt cx="1130265" cy="876417"/>
            </a:xfrm>
          </p:grpSpPr>
          <p:pic>
            <p:nvPicPr>
              <p:cNvPr id="38941" name="Picture 23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890687" y="4365009"/>
                <a:ext cx="1130265" cy="5270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8942" name="Text Box 38"/>
              <p:cNvSpPr txBox="1">
                <a:spLocks noChangeArrowheads="1"/>
              </p:cNvSpPr>
              <p:nvPr/>
            </p:nvSpPr>
            <p:spPr bwMode="auto">
              <a:xfrm>
                <a:off x="3038454" y="4538038"/>
                <a:ext cx="628698" cy="7033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anchorCtr="1">
                <a:spAutoFit/>
              </a:bodyPr>
              <a:lstStyle/>
              <a:p>
                <a:r>
                  <a:rPr lang="en-US" altLang="zh-CN" sz="1600" b="1">
                    <a:solidFill>
                      <a:schemeClr val="bg1"/>
                    </a:solidFill>
                    <a:ea typeface="宋体" charset="-122"/>
                    <a:cs typeface="Arial" charset="0"/>
                  </a:rPr>
                  <a:t>SW3</a:t>
                </a:r>
              </a:p>
            </p:txBody>
          </p:sp>
        </p:grpSp>
        <p:sp>
          <p:nvSpPr>
            <p:cNvPr id="38939" name="Text Box 39"/>
            <p:cNvSpPr txBox="1">
              <a:spLocks noChangeArrowheads="1"/>
            </p:cNvSpPr>
            <p:nvPr/>
          </p:nvSpPr>
          <p:spPr bwMode="auto">
            <a:xfrm>
              <a:off x="3214122" y="3794129"/>
              <a:ext cx="738209" cy="4072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r>
                <a:rPr lang="en-US" altLang="zh-CN" sz="1600" b="1">
                  <a:solidFill>
                    <a:schemeClr val="tx2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  <p:pic>
          <p:nvPicPr>
            <p:cNvPr id="38940" name="Picture 4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869154" y="3515115"/>
              <a:ext cx="920164" cy="904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内容占位符 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3929074"/>
          </a:xfrm>
        </p:spPr>
        <p:txBody>
          <a:bodyPr/>
          <a:lstStyle/>
          <a:p>
            <a:pPr>
              <a:spcBef>
                <a:spcPts val="475"/>
              </a:spcBef>
            </a:pPr>
            <a:r>
              <a:rPr lang="zh-CN" altLang="en-US"/>
              <a:t>实现思路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配置设备的接口地址和静态路由，实现网络互通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配置静态</a:t>
            </a:r>
            <a:r>
              <a:rPr lang="en-US" altLang="zh-CN"/>
              <a:t>NAT</a:t>
            </a:r>
            <a:r>
              <a:rPr lang="zh-CN" altLang="en-US"/>
              <a:t>，使外网可以访问公司的服务器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配置</a:t>
            </a:r>
            <a:r>
              <a:rPr lang="en-US" altLang="zh-CN"/>
              <a:t>PAT</a:t>
            </a:r>
            <a:r>
              <a:rPr lang="zh-CN" altLang="en-US"/>
              <a:t>，实现公司内网能够访问</a:t>
            </a:r>
            <a:r>
              <a:rPr lang="en-US" altLang="zh-CN"/>
              <a:t>Internet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验证配置的正确性</a:t>
            </a:r>
            <a:endParaRPr lang="en-US" altLang="zh-CN"/>
          </a:p>
          <a:p>
            <a:pPr>
              <a:spcBef>
                <a:spcPts val="475"/>
              </a:spcBef>
            </a:pPr>
            <a:r>
              <a:rPr lang="zh-CN" altLang="en-US"/>
              <a:t>学员练习（阶段一）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搭建实验环境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配置设备的接口地址和静态路由，实现网络互通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实验：</a:t>
            </a:r>
            <a:r>
              <a:rPr lang="zh-CN"/>
              <a:t>配置</a:t>
            </a:r>
            <a:r>
              <a:rPr lang="en-US" altLang="zh-CN"/>
              <a:t>NAT</a:t>
            </a:r>
            <a:r>
              <a:rPr lang="zh-CN"/>
              <a:t>实现网络访问</a:t>
            </a:r>
            <a:r>
              <a:rPr lang="en-US" altLang="zh-CN"/>
              <a:t>4-2</a:t>
            </a:r>
            <a:endParaRPr lang="en-US" altLang="zh-CN">
              <a:latin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内容占位符 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3000380"/>
          </a:xfrm>
        </p:spPr>
        <p:txBody>
          <a:bodyPr/>
          <a:lstStyle/>
          <a:p>
            <a:pPr>
              <a:spcBef>
                <a:spcPts val="475"/>
              </a:spcBef>
            </a:pPr>
            <a:r>
              <a:rPr lang="zh-CN" altLang="en-US"/>
              <a:t>学员练习（阶段二）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配置静态</a:t>
            </a:r>
            <a:r>
              <a:rPr lang="en-US" altLang="zh-CN"/>
              <a:t>NAT</a:t>
            </a:r>
            <a:r>
              <a:rPr lang="zh-CN" altLang="en-US"/>
              <a:t>，使外网可以访问公司的服务器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配置</a:t>
            </a:r>
            <a:r>
              <a:rPr lang="en-US" altLang="zh-CN"/>
              <a:t>PAT</a:t>
            </a:r>
            <a:r>
              <a:rPr lang="zh-CN" altLang="en-US"/>
              <a:t>，实现公司内网能够访问</a:t>
            </a:r>
            <a:r>
              <a:rPr lang="en-US" altLang="zh-CN"/>
              <a:t>Internet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验证配置的正确性</a:t>
            </a:r>
            <a:endParaRPr lang="en-US" altLang="zh-CN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实验：</a:t>
            </a:r>
            <a:r>
              <a:rPr lang="zh-CN"/>
              <a:t>配置</a:t>
            </a:r>
            <a:r>
              <a:rPr lang="en-US" altLang="zh-CN"/>
              <a:t>NAT</a:t>
            </a:r>
            <a:r>
              <a:rPr lang="zh-CN"/>
              <a:t>实现网络访问</a:t>
            </a:r>
            <a:r>
              <a:rPr lang="en-US" altLang="zh-CN"/>
              <a:t>4-3</a:t>
            </a:r>
            <a:endParaRPr lang="en-US" altLang="zh-CN">
              <a:latin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内容占位符 5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442914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学员答辩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讲解实验思路、步骤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实施过程中的问题分析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每人或每组控制在</a:t>
            </a:r>
            <a:r>
              <a:rPr lang="en-US" altLang="zh-CN">
                <a:cs typeface="Arial" charset="0"/>
              </a:rPr>
              <a:t>10</a:t>
            </a:r>
            <a:r>
              <a:rPr lang="zh-CN" altLang="en-US">
                <a:cs typeface="Arial" charset="0"/>
              </a:rPr>
              <a:t>分钟内</a:t>
            </a:r>
            <a:endParaRPr lang="en-US" altLang="zh-CN">
              <a:cs typeface="Arial" charset="0"/>
            </a:endParaRPr>
          </a:p>
          <a:p>
            <a:pPr>
              <a:spcBef>
                <a:spcPts val="675"/>
              </a:spcBef>
            </a:pPr>
            <a:r>
              <a:rPr lang="zh-CN" altLang="en-US"/>
              <a:t>教员点评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解决技术难点</a:t>
            </a:r>
            <a:endParaRPr lang="en-US" altLang="zh-CN">
              <a:cs typeface="Arial" charset="0"/>
            </a:endParaRPr>
          </a:p>
          <a:p>
            <a:pPr lvl="1">
              <a:spcBef>
                <a:spcPts val="475"/>
              </a:spcBef>
            </a:pPr>
            <a:r>
              <a:rPr lang="zh-CN" altLang="en-US">
                <a:cs typeface="Arial" charset="0"/>
              </a:rPr>
              <a:t>点评学员表现</a:t>
            </a:r>
            <a:endParaRPr lang="zh-CN" alt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实验：</a:t>
            </a:r>
            <a:r>
              <a:rPr lang="zh-CN"/>
              <a:t>配置</a:t>
            </a:r>
            <a:r>
              <a:rPr lang="en-US" altLang="zh-CN"/>
              <a:t>NAT</a:t>
            </a:r>
            <a:r>
              <a:rPr lang="zh-CN"/>
              <a:t>实现网络访问</a:t>
            </a:r>
            <a:r>
              <a:rPr lang="en-US" altLang="zh-CN"/>
              <a:t>4-4</a:t>
            </a:r>
            <a:endParaRPr lang="en-US" altLang="zh-CN">
              <a:latin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6616</TotalTime>
  <Words>2320</Words>
  <Application>Microsoft Office PowerPoint</Application>
  <PresentationFormat>宽屏</PresentationFormat>
  <Paragraphs>554</Paragraphs>
  <Slides>34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DejaVu Sans</vt:lpstr>
      <vt:lpstr>Myriad Pro</vt:lpstr>
      <vt:lpstr>黑体</vt:lpstr>
      <vt:lpstr>楷体_GB2312</vt:lpstr>
      <vt:lpstr>Arial</vt:lpstr>
      <vt:lpstr>Symbol</vt:lpstr>
      <vt:lpstr>Times New Roman</vt:lpstr>
      <vt:lpstr>Wingdings</vt:lpstr>
      <vt:lpstr>Office Theme</vt:lpstr>
      <vt:lpstr>目标</vt:lpstr>
      <vt:lpstr>本章结构</vt:lpstr>
      <vt:lpstr>NAT概述</vt:lpstr>
      <vt:lpstr>NAT的术语与转换表</vt:lpstr>
      <vt:lpstr> NAT实现方法的工作过程2-1</vt:lpstr>
      <vt:lpstr>NAT实现方法的工作过程2-2</vt:lpstr>
      <vt:lpstr>NAT的特性</vt:lpstr>
      <vt:lpstr>NAT的配置</vt:lpstr>
      <vt:lpstr>静态NAT配置4-1</vt:lpstr>
      <vt:lpstr>静态NAT配置4-2</vt:lpstr>
      <vt:lpstr>静态NAT配置4-3</vt:lpstr>
      <vt:lpstr>静态NAT配置4-4</vt:lpstr>
      <vt:lpstr>NAT端口映射</vt:lpstr>
      <vt:lpstr>动态NAT配置3-1</vt:lpstr>
      <vt:lpstr>动态NAT配置3-2</vt:lpstr>
      <vt:lpstr>动态NAT配置3-3</vt:lpstr>
      <vt:lpstr>PAT配置5-1</vt:lpstr>
      <vt:lpstr>PAT配置5-2</vt:lpstr>
      <vt:lpstr>PAT配置5-3</vt:lpstr>
      <vt:lpstr>PAT配置5-4</vt:lpstr>
      <vt:lpstr>PAT配置5-5</vt:lpstr>
      <vt:lpstr>小结</vt:lpstr>
      <vt:lpstr>验证NAT的配置</vt:lpstr>
      <vt:lpstr>NAT转换条目超时时间</vt:lpstr>
      <vt:lpstr>清除NAT转换条目</vt:lpstr>
      <vt:lpstr>NAT的故障处理2-1</vt:lpstr>
      <vt:lpstr>NAT故障处理2-2</vt:lpstr>
      <vt:lpstr>本章总结</vt:lpstr>
      <vt:lpstr>作业</vt:lpstr>
      <vt:lpstr>实验：配置NAT实现网络访问4-1</vt:lpstr>
      <vt:lpstr>实验：配置NAT实现网络访问4-2</vt:lpstr>
      <vt:lpstr>实验：配置NAT实现网络访问4-3</vt:lpstr>
      <vt:lpstr>实验：配置NAT实现网络访问4-4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Jason Chen</cp:lastModifiedBy>
  <cp:revision>171</cp:revision>
  <dcterms:created xsi:type="dcterms:W3CDTF">2019-12-12T13:30:13Z</dcterms:created>
  <dcterms:modified xsi:type="dcterms:W3CDTF">2021-10-14T11:20:45Z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