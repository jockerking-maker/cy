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26"/>
  </p:notesMasterIdLst>
  <p:sldIdLst>
    <p:sldId id="526" r:id="rId2"/>
    <p:sldId id="527" r:id="rId3"/>
    <p:sldId id="528" r:id="rId4"/>
    <p:sldId id="529" r:id="rId5"/>
    <p:sldId id="530" r:id="rId6"/>
    <p:sldId id="531" r:id="rId7"/>
    <p:sldId id="532" r:id="rId8"/>
    <p:sldId id="533" r:id="rId9"/>
    <p:sldId id="534" r:id="rId10"/>
    <p:sldId id="535" r:id="rId11"/>
    <p:sldId id="536" r:id="rId12"/>
    <p:sldId id="537" r:id="rId13"/>
    <p:sldId id="538" r:id="rId14"/>
    <p:sldId id="539" r:id="rId15"/>
    <p:sldId id="540" r:id="rId16"/>
    <p:sldId id="541" r:id="rId17"/>
    <p:sldId id="542" r:id="rId18"/>
    <p:sldId id="543" r:id="rId19"/>
    <p:sldId id="544" r:id="rId20"/>
    <p:sldId id="546" r:id="rId21"/>
    <p:sldId id="547" r:id="rId22"/>
    <p:sldId id="548" r:id="rId23"/>
    <p:sldId id="549" r:id="rId24"/>
    <p:sldId id="29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776B"/>
    <a:srgbClr val="E44C3C"/>
    <a:srgbClr val="BC291A"/>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0" autoAdjust="0"/>
    <p:restoredTop sz="95232" autoAdjust="0"/>
  </p:normalViewPr>
  <p:slideViewPr>
    <p:cSldViewPr snapToGrid="0">
      <p:cViewPr varScale="1">
        <p:scale>
          <a:sx n="66" d="100"/>
          <a:sy n="66" d="100"/>
        </p:scale>
        <p:origin x="608" y="5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76680" y="726440"/>
            <a:ext cx="6704640" cy="3771360"/>
          </a:xfrm>
          <a:prstGeom prst="rect">
            <a:avLst/>
          </a:prstGeom>
        </p:spPr>
        <p:txBody>
          <a:bodyPr lIns="0" tIns="0" rIns="0" bIns="0" anchor="ctr"/>
          <a:lstStyle/>
          <a:p>
            <a:r>
              <a:rPr lang="en-US" sz="1800" b="0" strike="noStrike" spc="-1">
                <a:solidFill>
                  <a:srgbClr val="000000"/>
                </a:solidFill>
                <a:latin typeface="Arial"/>
              </a:rPr>
              <a:t>Click to move the slide</a:t>
            </a:r>
          </a:p>
        </p:txBody>
      </p:sp>
      <p:sp>
        <p:nvSpPr>
          <p:cNvPr id="215"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216"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&lt;header&gt;</a:t>
            </a:r>
          </a:p>
        </p:txBody>
      </p:sp>
      <p:sp>
        <p:nvSpPr>
          <p:cNvPr id="217"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&lt;date/time&gt;</a:t>
            </a:r>
          </a:p>
        </p:txBody>
      </p:sp>
      <p:sp>
        <p:nvSpPr>
          <p:cNvPr id="218"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&lt;footer&gt;</a:t>
            </a:r>
          </a:p>
        </p:txBody>
      </p:sp>
      <p:sp>
        <p:nvSpPr>
          <p:cNvPr id="219" name="PlaceHolder 6"/>
          <p:cNvSpPr>
            <a:spLocks noGrp="1"/>
          </p:cNvSpPr>
          <p:nvPr>
            <p:ph type="sldNum"/>
          </p:nvPr>
        </p:nvSpPr>
        <p:spPr>
          <a:xfrm>
            <a:off x="4399200" y="9555480"/>
            <a:ext cx="3372840" cy="502560"/>
          </a:xfrm>
          <a:prstGeom prst="rect">
            <a:avLst/>
          </a:prstGeom>
        </p:spPr>
        <p:txBody>
          <a:bodyPr lIns="0" tIns="0" rIns="0" bIns="0" anchor="b"/>
          <a:lstStyle/>
          <a:p>
            <a:pPr algn="r"/>
            <a:fld id="{1435F71D-641E-4ECC-830F-6558CD869574}"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512153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77788" y="727075"/>
            <a:ext cx="6702425" cy="3770313"/>
          </a:xfrm>
          <a:ln/>
        </p:spPr>
      </p:sp>
      <p:sp>
        <p:nvSpPr>
          <p:cNvPr id="35843" name="备注占位符 2"/>
          <p:cNvSpPr>
            <a:spLocks noGrp="1"/>
          </p:cNvSpPr>
          <p:nvPr>
            <p:ph type="body" idx="1"/>
          </p:nvPr>
        </p:nvSpPr>
        <p:spPr>
          <a:noFill/>
          <a:ln/>
        </p:spPr>
        <p:txBody>
          <a:bodyPr/>
          <a:lstStyle/>
          <a:p>
            <a:endParaRPr lang="zh-CN" altLang="en-US">
              <a:ea typeface="宋体" charset="-122"/>
            </a:endParaRPr>
          </a:p>
        </p:txBody>
      </p:sp>
      <p:sp>
        <p:nvSpPr>
          <p:cNvPr id="41988" name="灯片编号占位符 3"/>
          <p:cNvSpPr>
            <a:spLocks noGrp="1"/>
          </p:cNvSpPr>
          <p:nvPr>
            <p:ph type="sldNum" sz="quarter" idx="5"/>
          </p:nvPr>
        </p:nvSpPr>
        <p:spPr/>
        <p:txBody>
          <a:bodyPr/>
          <a:lstStyle/>
          <a:p>
            <a:pPr>
              <a:defRPr/>
            </a:pPr>
            <a:fld id="{4CFF6255-7B9B-4B5F-8507-36C7DE03FF3B}" type="slidenum">
              <a:rPr lang="en-US" altLang="zh-CN" smtClean="0"/>
              <a:pPr>
                <a:defRPr/>
              </a:pPr>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xfrm>
            <a:off x="77788" y="727075"/>
            <a:ext cx="6702425" cy="3770313"/>
          </a:xfrm>
          <a:ln/>
        </p:spPr>
      </p:sp>
      <p:sp>
        <p:nvSpPr>
          <p:cNvPr id="36867" name="备注占位符 2"/>
          <p:cNvSpPr>
            <a:spLocks noGrp="1"/>
          </p:cNvSpPr>
          <p:nvPr>
            <p:ph type="body" idx="1"/>
          </p:nvPr>
        </p:nvSpPr>
        <p:spPr>
          <a:noFill/>
          <a:ln/>
        </p:spPr>
        <p:txBody>
          <a:bodyPr/>
          <a:lstStyle/>
          <a:p>
            <a:r>
              <a:rPr lang="zh-CN" altLang="en-US">
                <a:ea typeface="宋体" charset="-122"/>
              </a:rPr>
              <a:t>有些企业的网络对于稳定要求很高（例如，服务类企业、证券等等），一旦网络出现故障（即使很短的时间）就会造成无法估量的损失。所以网络的稳定对于大多数企业都是必要的，那么如何加强企业网络的稳定性呢？由此引出</a:t>
            </a:r>
            <a:r>
              <a:rPr lang="en-US" altLang="zh-CN">
                <a:ea typeface="宋体" charset="-122"/>
              </a:rPr>
              <a:t>hsrp,</a:t>
            </a:r>
            <a:r>
              <a:rPr lang="zh-CN" altLang="en-US">
                <a:ea typeface="宋体" charset="-122"/>
              </a:rPr>
              <a:t>然后对</a:t>
            </a:r>
            <a:r>
              <a:rPr lang="en-US" altLang="zh-CN">
                <a:ea typeface="宋体" charset="-122"/>
              </a:rPr>
              <a:t>HSRP</a:t>
            </a:r>
            <a:r>
              <a:rPr lang="zh-CN" altLang="en-US">
                <a:ea typeface="宋体" charset="-122"/>
              </a:rPr>
              <a:t>进行简介</a:t>
            </a:r>
            <a:r>
              <a:rPr lang="en-US" altLang="zh-CN">
                <a:ea typeface="宋体" charset="-122"/>
              </a:rPr>
              <a:t>P</a:t>
            </a:r>
          </a:p>
          <a:p>
            <a:r>
              <a:rPr lang="zh-CN" altLang="en-US">
                <a:ea typeface="宋体" charset="-122"/>
              </a:rPr>
              <a:t>描述</a:t>
            </a:r>
            <a:r>
              <a:rPr lang="en-US" altLang="zh-CN">
                <a:ea typeface="宋体" charset="-122"/>
              </a:rPr>
              <a:t>HSRP</a:t>
            </a:r>
            <a:r>
              <a:rPr lang="zh-CN" altLang="en-US">
                <a:ea typeface="宋体" charset="-122"/>
              </a:rPr>
              <a:t>的工作过程，使学员能够清晰了解</a:t>
            </a:r>
            <a:r>
              <a:rPr lang="en-US" altLang="zh-CN">
                <a:ea typeface="宋体" charset="-122"/>
              </a:rPr>
              <a:t>HSRP</a:t>
            </a:r>
            <a:r>
              <a:rPr lang="zh-CN" altLang="en-US">
                <a:ea typeface="宋体" charset="-122"/>
              </a:rPr>
              <a:t>是如何实现设备级的冗余</a:t>
            </a:r>
          </a:p>
          <a:p>
            <a:r>
              <a:rPr lang="zh-CN" altLang="en-US" b="1">
                <a:ea typeface="宋体" charset="-122"/>
              </a:rPr>
              <a:t>举例</a:t>
            </a:r>
            <a:endParaRPr lang="zh-CN" altLang="en-US">
              <a:ea typeface="宋体" charset="-122"/>
            </a:endParaRPr>
          </a:p>
          <a:p>
            <a:r>
              <a:rPr lang="zh-CN" altLang="en-US">
                <a:ea typeface="宋体" charset="-122"/>
              </a:rPr>
              <a:t>在前面学习路由的时候，教员举过到邮局寄信的例子，当人们把信交给邮局，并不关心到底是哪个邮递员送信，</a:t>
            </a:r>
            <a:r>
              <a:rPr lang="en-US" altLang="zh-CN">
                <a:ea typeface="宋体" charset="-122"/>
              </a:rPr>
              <a:t>HSRP</a:t>
            </a:r>
            <a:r>
              <a:rPr lang="zh-CN" altLang="en-US">
                <a:ea typeface="宋体" charset="-122"/>
              </a:rPr>
              <a:t>正像是邮局内部的工作人员管理机制，正常状况下，应该是某个邮递员送信，而这个邮递员生病或有事请假时，邮局自然会安排其他的邮递员接替他的工作，这中间的交接工作，顾客是不知道的。同样的，配置了</a:t>
            </a:r>
            <a:r>
              <a:rPr lang="en-US" altLang="zh-CN">
                <a:ea typeface="宋体" charset="-122"/>
              </a:rPr>
              <a:t>HSRP</a:t>
            </a:r>
            <a:r>
              <a:rPr lang="zh-CN" altLang="en-US">
                <a:ea typeface="宋体" charset="-122"/>
              </a:rPr>
              <a:t>的多台路由器以一个统一的虚拟路由器的面貌出现在网内工作站面前，网内的工作站根本不需要知道具体是哪一台真实的路由器正在进行数据包转发工作。</a:t>
            </a:r>
            <a:endParaRPr lang="en-US" altLang="zh-CN">
              <a:ea typeface="宋体" charset="-122"/>
            </a:endParaRPr>
          </a:p>
          <a:p>
            <a:endParaRPr lang="en-US" altLang="zh-CN">
              <a:ea typeface="宋体" charset="-122"/>
            </a:endParaRPr>
          </a:p>
          <a:p>
            <a:r>
              <a:rPr lang="zh-CN" altLang="en-US">
                <a:ea typeface="宋体" charset="-122"/>
              </a:rPr>
              <a:t>注意啦：此时可以有学员提问两台核心交换机时如果当网络故障后由员工手动配置</a:t>
            </a:r>
            <a:r>
              <a:rPr lang="en-US" altLang="zh-CN">
                <a:ea typeface="宋体" charset="-122"/>
              </a:rPr>
              <a:t>IP</a:t>
            </a:r>
            <a:r>
              <a:rPr lang="zh-CN" altLang="en-US">
                <a:ea typeface="宋体" charset="-122"/>
              </a:rPr>
              <a:t>地址的网管就行了吗？这时由于有些企业的员工呢对于配置</a:t>
            </a:r>
            <a:r>
              <a:rPr lang="en-US" altLang="zh-CN">
                <a:ea typeface="宋体" charset="-122"/>
              </a:rPr>
              <a:t>IP</a:t>
            </a:r>
            <a:r>
              <a:rPr lang="zh-CN" altLang="en-US">
                <a:ea typeface="宋体" charset="-122"/>
              </a:rPr>
              <a:t>地址等操作不清楚，另外手工配置会耽误时间，可能造成业务的终端等情况。所以使用</a:t>
            </a:r>
            <a:r>
              <a:rPr lang="en-US" altLang="zh-CN">
                <a:ea typeface="宋体" charset="-122"/>
              </a:rPr>
              <a:t>HSRP</a:t>
            </a:r>
            <a:r>
              <a:rPr lang="zh-CN" altLang="en-US">
                <a:ea typeface="宋体" charset="-122"/>
              </a:rPr>
              <a:t>自动切换速度快客户端基本感觉不到。</a:t>
            </a:r>
          </a:p>
          <a:p>
            <a:endParaRPr lang="zh-CN" altLang="en-US">
              <a:ea typeface="宋体" charset="-122"/>
            </a:endParaRPr>
          </a:p>
        </p:txBody>
      </p:sp>
      <p:sp>
        <p:nvSpPr>
          <p:cNvPr id="4" name="灯片编号占位符 3"/>
          <p:cNvSpPr>
            <a:spLocks noGrp="1"/>
          </p:cNvSpPr>
          <p:nvPr>
            <p:ph type="sldNum" sz="quarter" idx="5"/>
          </p:nvPr>
        </p:nvSpPr>
        <p:spPr/>
        <p:txBody>
          <a:bodyPr/>
          <a:lstStyle/>
          <a:p>
            <a:pPr>
              <a:defRPr/>
            </a:pPr>
            <a:fld id="{2CF84DFC-5C8C-40E3-93DB-D0F423459458}" type="slidenum">
              <a:rPr lang="zh-CN" altLang="en-US" smtClean="0"/>
              <a:pPr>
                <a:defRPr/>
              </a:pPr>
              <a:t>3</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77788" y="727075"/>
            <a:ext cx="6702425" cy="3770313"/>
          </a:xfrm>
          <a:ln/>
        </p:spPr>
      </p:sp>
      <p:sp>
        <p:nvSpPr>
          <p:cNvPr id="37891" name="备注占位符 2"/>
          <p:cNvSpPr>
            <a:spLocks noGrp="1"/>
          </p:cNvSpPr>
          <p:nvPr>
            <p:ph type="body" idx="1"/>
          </p:nvPr>
        </p:nvSpPr>
        <p:spPr>
          <a:noFill/>
          <a:ln/>
        </p:spPr>
        <p:txBody>
          <a:bodyPr/>
          <a:lstStyle/>
          <a:p>
            <a:r>
              <a:rPr lang="zh-CN" altLang="en-US">
                <a:ea typeface="宋体" charset="-122"/>
              </a:rPr>
              <a:t>教员演示该案例，讲解注意事项</a:t>
            </a:r>
          </a:p>
        </p:txBody>
      </p:sp>
      <p:sp>
        <p:nvSpPr>
          <p:cNvPr id="4" name="灯片编号占位符 3"/>
          <p:cNvSpPr>
            <a:spLocks noGrp="1"/>
          </p:cNvSpPr>
          <p:nvPr>
            <p:ph type="sldNum" sz="quarter" idx="5"/>
          </p:nvPr>
        </p:nvSpPr>
        <p:spPr/>
        <p:txBody>
          <a:bodyPr/>
          <a:lstStyle/>
          <a:p>
            <a:pPr>
              <a:defRPr/>
            </a:pPr>
            <a:fld id="{ABD0CDBE-958F-4C90-A740-32E0E34F46CC}" type="slidenum">
              <a:rPr lang="zh-CN" altLang="en-US" smtClean="0"/>
              <a:pPr>
                <a:defRPr/>
              </a:pPr>
              <a:t>18</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77788" y="727075"/>
            <a:ext cx="6702425" cy="3770313"/>
          </a:xfrm>
          <a:ln/>
        </p:spPr>
      </p:sp>
      <p:sp>
        <p:nvSpPr>
          <p:cNvPr id="38915" name="备注占位符 2"/>
          <p:cNvSpPr>
            <a:spLocks noGrp="1"/>
          </p:cNvSpPr>
          <p:nvPr>
            <p:ph type="body" idx="1"/>
          </p:nvPr>
        </p:nvSpPr>
        <p:spPr>
          <a:noFill/>
          <a:ln/>
        </p:spPr>
        <p:txBody>
          <a:bodyPr/>
          <a:lstStyle/>
          <a:p>
            <a:r>
              <a:rPr lang="zh-CN" altLang="en-US">
                <a:ea typeface="宋体" charset="-122"/>
              </a:rPr>
              <a:t>教员讲解故障问题原因</a:t>
            </a:r>
          </a:p>
        </p:txBody>
      </p:sp>
      <p:sp>
        <p:nvSpPr>
          <p:cNvPr id="4" name="灯片编号占位符 3"/>
          <p:cNvSpPr>
            <a:spLocks noGrp="1"/>
          </p:cNvSpPr>
          <p:nvPr>
            <p:ph type="sldNum" sz="quarter" idx="5"/>
          </p:nvPr>
        </p:nvSpPr>
        <p:spPr/>
        <p:txBody>
          <a:bodyPr/>
          <a:lstStyle/>
          <a:p>
            <a:pPr>
              <a:defRPr/>
            </a:pPr>
            <a:fld id="{C37AEF18-F334-4C42-ADC0-32D9B5FCC715}" type="slidenum">
              <a:rPr lang="zh-CN" altLang="en-US" smtClean="0"/>
              <a:pPr>
                <a:defRPr/>
              </a:pPr>
              <a:t>19</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p:txBody>
          <a:bodyPr/>
          <a:lstStyle/>
          <a:p>
            <a:pPr>
              <a:defRPr/>
            </a:pPr>
            <a:fld id="{86F48F8C-8535-4CFD-BCF1-70192D01ED3F}" type="slidenum">
              <a:rPr lang="en-US" altLang="zh-CN" smtClean="0"/>
              <a:pPr>
                <a:defRPr/>
              </a:pPr>
              <a:t>20</a:t>
            </a:fld>
            <a:endParaRPr lang="en-US" altLang="zh-CN"/>
          </a:p>
        </p:txBody>
      </p:sp>
      <p:sp>
        <p:nvSpPr>
          <p:cNvPr id="4096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385E43A-29F6-462A-B568-D404D12B00E4}" type="slidenum">
              <a:rPr lang="en-US" altLang="zh-CN" sz="1200">
                <a:ea typeface="宋体" charset="-122"/>
              </a:rPr>
              <a:pPr algn="r"/>
              <a:t>20</a:t>
            </a:fld>
            <a:endParaRPr lang="en-US" altLang="zh-CN" sz="1200">
              <a:ea typeface="宋体" charset="-122"/>
            </a:endParaRPr>
          </a:p>
        </p:txBody>
      </p:sp>
      <p:sp>
        <p:nvSpPr>
          <p:cNvPr id="40964" name="Rectangle 2"/>
          <p:cNvSpPr>
            <a:spLocks noGrp="1" noRot="1" noChangeAspect="1" noChangeArrowheads="1" noTextEdit="1"/>
          </p:cNvSpPr>
          <p:nvPr>
            <p:ph type="sldImg"/>
          </p:nvPr>
        </p:nvSpPr>
        <p:spPr>
          <a:xfrm>
            <a:off x="77788" y="727075"/>
            <a:ext cx="6702425" cy="3770313"/>
          </a:xfrm>
          <a:ln/>
        </p:spPr>
      </p:sp>
      <p:sp>
        <p:nvSpPr>
          <p:cNvPr id="40965" name="Rectangle 3"/>
          <p:cNvSpPr>
            <a:spLocks noGrp="1" noChangeArrowheads="1"/>
          </p:cNvSpPr>
          <p:nvPr>
            <p:ph type="body" idx="1"/>
          </p:nvPr>
        </p:nvSpPr>
        <p:spPr>
          <a:noFill/>
          <a:ln/>
        </p:spPr>
        <p:txBody>
          <a:bodyPr/>
          <a:lstStyle/>
          <a:p>
            <a:pPr eaLnBrk="1" hangingPunct="1"/>
            <a:endParaRPr lang="en-US" altLang="zh-CN">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p:txBody>
          <a:bodyPr/>
          <a:lstStyle/>
          <a:p>
            <a:pPr>
              <a:defRPr/>
            </a:pPr>
            <a:fld id="{38030AFF-4808-439E-99FB-C2A99E96F327}" type="slidenum">
              <a:rPr lang="en-US" altLang="zh-CN" smtClean="0"/>
              <a:pPr>
                <a:defRPr/>
              </a:pPr>
              <a:t>21</a:t>
            </a:fld>
            <a:endParaRPr lang="en-US" altLang="zh-CN"/>
          </a:p>
        </p:txBody>
      </p:sp>
      <p:sp>
        <p:nvSpPr>
          <p:cNvPr id="4198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5D63CB2-EA0A-49A9-A107-8A2A4AD4F853}" type="slidenum">
              <a:rPr lang="en-US" altLang="zh-CN" sz="1200">
                <a:ea typeface="宋体" charset="-122"/>
              </a:rPr>
              <a:pPr algn="r"/>
              <a:t>21</a:t>
            </a:fld>
            <a:endParaRPr lang="en-US" altLang="zh-CN" sz="1200">
              <a:ea typeface="宋体" charset="-122"/>
            </a:endParaRPr>
          </a:p>
        </p:txBody>
      </p:sp>
      <p:sp>
        <p:nvSpPr>
          <p:cNvPr id="41988" name="Rectangle 2"/>
          <p:cNvSpPr>
            <a:spLocks noGrp="1" noRot="1" noChangeAspect="1" noChangeArrowheads="1" noTextEdit="1"/>
          </p:cNvSpPr>
          <p:nvPr>
            <p:ph type="sldImg"/>
          </p:nvPr>
        </p:nvSpPr>
        <p:spPr>
          <a:xfrm>
            <a:off x="77788" y="727075"/>
            <a:ext cx="6702425" cy="3770313"/>
          </a:xfrm>
          <a:ln/>
        </p:spPr>
      </p:sp>
      <p:sp>
        <p:nvSpPr>
          <p:cNvPr id="41989" name="Rectangle 3"/>
          <p:cNvSpPr>
            <a:spLocks noGrp="1" noChangeArrowheads="1"/>
          </p:cNvSpPr>
          <p:nvPr>
            <p:ph type="body" idx="1"/>
          </p:nvPr>
        </p:nvSpPr>
        <p:spPr>
          <a:noFill/>
          <a:ln/>
        </p:spPr>
        <p:txBody>
          <a:bodyPr/>
          <a:lstStyle/>
          <a:p>
            <a:pPr eaLnBrk="1" hangingPunct="1"/>
            <a:endParaRPr lang="zh-CN" altLang="zh-CN">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p:txBody>
          <a:bodyPr/>
          <a:lstStyle/>
          <a:p>
            <a:pPr>
              <a:defRPr/>
            </a:pPr>
            <a:fld id="{86F48F8C-8535-4CFD-BCF1-70192D01ED3F}" type="slidenum">
              <a:rPr lang="en-US" altLang="zh-CN" smtClean="0"/>
              <a:pPr>
                <a:defRPr/>
              </a:pPr>
              <a:t>22</a:t>
            </a:fld>
            <a:endParaRPr lang="en-US" altLang="zh-CN"/>
          </a:p>
        </p:txBody>
      </p:sp>
      <p:sp>
        <p:nvSpPr>
          <p:cNvPr id="4096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385E43A-29F6-462A-B568-D404D12B00E4}" type="slidenum">
              <a:rPr lang="en-US" altLang="zh-CN" sz="1200">
                <a:ea typeface="宋体" charset="-122"/>
              </a:rPr>
              <a:pPr algn="r"/>
              <a:t>22</a:t>
            </a:fld>
            <a:endParaRPr lang="en-US" altLang="zh-CN" sz="1200">
              <a:ea typeface="宋体" charset="-122"/>
            </a:endParaRPr>
          </a:p>
        </p:txBody>
      </p:sp>
      <p:sp>
        <p:nvSpPr>
          <p:cNvPr id="40964" name="Rectangle 2"/>
          <p:cNvSpPr>
            <a:spLocks noGrp="1" noRot="1" noChangeAspect="1" noChangeArrowheads="1" noTextEdit="1"/>
          </p:cNvSpPr>
          <p:nvPr>
            <p:ph type="sldImg"/>
          </p:nvPr>
        </p:nvSpPr>
        <p:spPr>
          <a:xfrm>
            <a:off x="77788" y="727075"/>
            <a:ext cx="6702425" cy="3770313"/>
          </a:xfrm>
          <a:ln/>
        </p:spPr>
      </p:sp>
      <p:sp>
        <p:nvSpPr>
          <p:cNvPr id="40965" name="Rectangle 3"/>
          <p:cNvSpPr>
            <a:spLocks noGrp="1" noChangeArrowheads="1"/>
          </p:cNvSpPr>
          <p:nvPr>
            <p:ph type="body" idx="1"/>
          </p:nvPr>
        </p:nvSpPr>
        <p:spPr>
          <a:noFill/>
          <a:ln/>
        </p:spPr>
        <p:txBody>
          <a:bodyPr/>
          <a:lstStyle/>
          <a:p>
            <a:pPr eaLnBrk="1" hangingPunct="1"/>
            <a:endParaRPr lang="en-US"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p:txBody>
          <a:bodyPr/>
          <a:lstStyle/>
          <a:p>
            <a:pPr>
              <a:defRPr/>
            </a:pPr>
            <a:fld id="{38030AFF-4808-439E-99FB-C2A99E96F327}" type="slidenum">
              <a:rPr lang="en-US" altLang="zh-CN" smtClean="0"/>
              <a:pPr>
                <a:defRPr/>
              </a:pPr>
              <a:t>23</a:t>
            </a:fld>
            <a:endParaRPr lang="en-US" altLang="zh-CN"/>
          </a:p>
        </p:txBody>
      </p:sp>
      <p:sp>
        <p:nvSpPr>
          <p:cNvPr id="4198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5D63CB2-EA0A-49A9-A107-8A2A4AD4F853}" type="slidenum">
              <a:rPr lang="en-US" altLang="zh-CN" sz="1200">
                <a:ea typeface="宋体" charset="-122"/>
              </a:rPr>
              <a:pPr algn="r"/>
              <a:t>23</a:t>
            </a:fld>
            <a:endParaRPr lang="en-US" altLang="zh-CN" sz="1200">
              <a:ea typeface="宋体" charset="-122"/>
            </a:endParaRPr>
          </a:p>
        </p:txBody>
      </p:sp>
      <p:sp>
        <p:nvSpPr>
          <p:cNvPr id="41988" name="Rectangle 2"/>
          <p:cNvSpPr>
            <a:spLocks noGrp="1" noRot="1" noChangeAspect="1" noChangeArrowheads="1" noTextEdit="1"/>
          </p:cNvSpPr>
          <p:nvPr>
            <p:ph type="sldImg"/>
          </p:nvPr>
        </p:nvSpPr>
        <p:spPr>
          <a:xfrm>
            <a:off x="77788" y="727075"/>
            <a:ext cx="6702425" cy="3770313"/>
          </a:xfrm>
          <a:ln/>
        </p:spPr>
      </p:sp>
      <p:sp>
        <p:nvSpPr>
          <p:cNvPr id="41989" name="Rectangle 3"/>
          <p:cNvSpPr>
            <a:spLocks noGrp="1" noChangeArrowheads="1"/>
          </p:cNvSpPr>
          <p:nvPr>
            <p:ph type="body" idx="1"/>
          </p:nvPr>
        </p:nvSpPr>
        <p:spPr>
          <a:noFill/>
          <a:ln/>
        </p:spPr>
        <p:txBody>
          <a:bodyPr/>
          <a:lstStyle/>
          <a:p>
            <a:pPr eaLnBrk="1" hangingPunct="1"/>
            <a:endParaRPr lang="zh-CN"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33400" y="763588"/>
            <a:ext cx="6704013" cy="37719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p:nvPr>
        </p:nvSpPr>
        <p:spPr/>
        <p:txBody>
          <a:bodyPr/>
          <a:lstStyle/>
          <a:p>
            <a:pPr algn="r"/>
            <a:fld id="{1435F71D-641E-4ECC-830F-6558CD869574}" type="slidenum">
              <a:rPr lang="en-US" sz="1400" b="0" strike="noStrike" spc="-1" smtClean="0">
                <a:latin typeface="Times New Roman"/>
              </a:rPr>
              <a:t>24</a:t>
            </a:fld>
            <a:endParaRPr lang="en-US" sz="1400" b="0" strike="noStrike" spc="-1">
              <a:latin typeface="Times New Roman"/>
            </a:endParaRPr>
          </a:p>
        </p:txBody>
      </p:sp>
    </p:spTree>
    <p:extLst>
      <p:ext uri="{BB962C8B-B14F-4D97-AF65-F5344CB8AC3E}">
        <p14:creationId xmlns:p14="http://schemas.microsoft.com/office/powerpoint/2010/main" val="4272068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4AA452-31F6-42F1-88E2-2BEAFFB3D008}" type="datetimeFigureOut">
              <a:rPr lang="zh-CN" altLang="en-US" smtClean="0"/>
              <a:t>2021/10/14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9A76C8-063D-4826-91C2-CB3A25A9B564}" type="slidenum">
              <a:rPr lang="zh-CN" altLang="en-US" smtClean="0"/>
              <a:t>‹#›</a:t>
            </a:fld>
            <a:endParaRPr lang="zh-CN" altLang="en-US"/>
          </a:p>
        </p:txBody>
      </p:sp>
    </p:spTree>
    <p:extLst>
      <p:ext uri="{BB962C8B-B14F-4D97-AF65-F5344CB8AC3E}">
        <p14:creationId xmlns:p14="http://schemas.microsoft.com/office/powerpoint/2010/main" val="224761374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2520" y="6760080"/>
            <a:ext cx="12186720" cy="121320"/>
          </a:xfrm>
          <a:prstGeom prst="rect">
            <a:avLst/>
          </a:prstGeom>
          <a:gradFill rotWithShape="0">
            <a:gsLst>
              <a:gs pos="0">
                <a:srgbClr val="007BF7"/>
              </a:gs>
              <a:gs pos="100000">
                <a:srgbClr val="0BB3E8"/>
              </a:gs>
            </a:gsLst>
            <a:lin ang="3600000"/>
          </a:gradFill>
          <a:ln w="12600">
            <a:noFill/>
          </a:ln>
        </p:spPr>
        <p:style>
          <a:lnRef idx="0">
            <a:scrgbClr r="0" g="0" b="0"/>
          </a:lnRef>
          <a:fillRef idx="0">
            <a:scrgbClr r="0" g="0" b="0"/>
          </a:fillRef>
          <a:effectRef idx="0">
            <a:scrgbClr r="0" g="0" b="0"/>
          </a:effectRef>
          <a:fontRef idx="minor"/>
        </p:style>
      </p:sp>
      <p:sp>
        <p:nvSpPr>
          <p:cNvPr id="43" name="CustomShape 2"/>
          <p:cNvSpPr/>
          <p:nvPr/>
        </p:nvSpPr>
        <p:spPr>
          <a:xfrm>
            <a:off x="334440" y="6515640"/>
            <a:ext cx="672840" cy="204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spcBef>
                <a:spcPts val="666"/>
              </a:spcBef>
            </a:pPr>
            <a:fld id="{BE2697B1-93DF-4FA3-9179-2157CC991DBC}" type="slidenum">
              <a:rPr lang="en-US" sz="1340" b="0" strike="noStrike" spc="-1">
                <a:solidFill>
                  <a:srgbClr val="5A5A5A"/>
                </a:solidFill>
                <a:latin typeface="Myriad Pro"/>
                <a:ea typeface="微软雅黑"/>
              </a:rPr>
              <a:t>‹#›</a:t>
            </a:fld>
            <a:endParaRPr lang="en-US" sz="1340" b="0" strike="noStrike" spc="-1">
              <a:latin typeface="Arial"/>
            </a:endParaRPr>
          </a:p>
        </p:txBody>
      </p:sp>
      <p:sp>
        <p:nvSpPr>
          <p:cNvPr id="44" name="CustomShape 3"/>
          <p:cNvSpPr/>
          <p:nvPr/>
        </p:nvSpPr>
        <p:spPr>
          <a:xfrm>
            <a:off x="0" y="165240"/>
            <a:ext cx="670680" cy="286920"/>
          </a:xfrm>
          <a:prstGeom prst="rect">
            <a:avLst/>
          </a:prstGeom>
          <a:solidFill>
            <a:schemeClr val="accent1">
              <a:lumMod val="75000"/>
            </a:schemeClr>
          </a:solidFill>
          <a:ln w="9360">
            <a:noFill/>
          </a:ln>
        </p:spPr>
        <p:style>
          <a:lnRef idx="0">
            <a:scrgbClr r="0" g="0" b="0"/>
          </a:lnRef>
          <a:fillRef idx="0">
            <a:scrgbClr r="0" g="0" b="0"/>
          </a:fillRef>
          <a:effectRef idx="0">
            <a:scrgbClr r="0" g="0" b="0"/>
          </a:effectRef>
          <a:fontRef idx="minor"/>
        </p:style>
      </p:sp>
      <p:sp>
        <p:nvSpPr>
          <p:cNvPr id="45" name="PlaceHolder 4"/>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3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3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wmf"/><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13.xml"/><Relationship Id="rId5" Type="http://schemas.openxmlformats.org/officeDocument/2006/relationships/image" Target="../media/image4.wmf"/><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wmf"/><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6.wmf"/><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13.xml"/><Relationship Id="rId5" Type="http://schemas.openxmlformats.org/officeDocument/2006/relationships/image" Target="../media/image3.wmf"/><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7.wmf"/><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6.wmf"/><Relationship Id="rId4" Type="http://schemas.openxmlformats.org/officeDocument/2006/relationships/image" Target="../media/image1.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1.wmf"/><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wmf"/><Relationship Id="rId4" Type="http://schemas.openxmlformats.org/officeDocument/2006/relationships/image" Target="../media/image3.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idx="1"/>
          </p:nvPr>
        </p:nvSpPr>
        <p:spPr>
          <a:xfrm>
            <a:off x="1738313" y="1143000"/>
            <a:ext cx="8501062" cy="5143500"/>
          </a:xfrm>
        </p:spPr>
        <p:txBody>
          <a:bodyPr/>
          <a:lstStyle/>
          <a:p>
            <a:pPr>
              <a:spcBef>
                <a:spcPts val="675"/>
              </a:spcBef>
            </a:pPr>
            <a:r>
              <a:rPr lang="zh-CN" altLang="en-US" dirty="0"/>
              <a:t>理解</a:t>
            </a:r>
            <a:r>
              <a:rPr lang="en-US" altLang="zh-CN" dirty="0"/>
              <a:t>HSRP</a:t>
            </a:r>
            <a:r>
              <a:rPr lang="zh-CN" altLang="en-US" dirty="0"/>
              <a:t>的工作原理</a:t>
            </a:r>
          </a:p>
          <a:p>
            <a:pPr>
              <a:spcBef>
                <a:spcPts val="675"/>
              </a:spcBef>
            </a:pPr>
            <a:r>
              <a:rPr lang="zh-CN" altLang="en-US" dirty="0"/>
              <a:t>掌握</a:t>
            </a:r>
            <a:r>
              <a:rPr lang="en-US" altLang="zh-CN" dirty="0"/>
              <a:t>HSRP</a:t>
            </a:r>
            <a:r>
              <a:rPr lang="zh-CN" altLang="en-US" dirty="0"/>
              <a:t>的术语和参数的作用</a:t>
            </a:r>
          </a:p>
          <a:p>
            <a:pPr>
              <a:spcBef>
                <a:spcPts val="675"/>
              </a:spcBef>
            </a:pPr>
            <a:r>
              <a:rPr lang="zh-CN" altLang="en-US" dirty="0"/>
              <a:t>会</a:t>
            </a:r>
            <a:r>
              <a:rPr lang="en-US" altLang="zh-CN" dirty="0"/>
              <a:t>HSRP</a:t>
            </a:r>
            <a:r>
              <a:rPr lang="zh-CN" altLang="en-US" dirty="0"/>
              <a:t>的配置和排错</a:t>
            </a:r>
          </a:p>
        </p:txBody>
      </p:sp>
      <p:sp>
        <p:nvSpPr>
          <p:cNvPr id="9219" name="Rectangle 2"/>
          <p:cNvSpPr>
            <a:spLocks noGrp="1" noChangeArrowheads="1"/>
          </p:cNvSpPr>
          <p:nvPr>
            <p:ph type="title"/>
          </p:nvPr>
        </p:nvSpPr>
        <p:spPr/>
        <p:txBody>
          <a:bodyPr/>
          <a:lstStyle/>
          <a:p>
            <a:pPr eaLnBrk="1" hangingPunct="1"/>
            <a:r>
              <a:rPr lang="zh-CN" altLang="en-US" dirty="0"/>
              <a:t>目标</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5"/>
          <p:cNvSpPr>
            <a:spLocks noChangeShapeType="1"/>
          </p:cNvSpPr>
          <p:nvPr/>
        </p:nvSpPr>
        <p:spPr bwMode="auto">
          <a:xfrm flipV="1">
            <a:off x="6680201" y="4581525"/>
            <a:ext cx="360363" cy="1588"/>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3" name="Line 25"/>
          <p:cNvSpPr>
            <a:spLocks noChangeShapeType="1"/>
          </p:cNvSpPr>
          <p:nvPr/>
        </p:nvSpPr>
        <p:spPr bwMode="auto">
          <a:xfrm flipV="1">
            <a:off x="6674576" y="2643189"/>
            <a:ext cx="431800" cy="15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4" name="Line 16"/>
          <p:cNvSpPr>
            <a:spLocks noChangeShapeType="1"/>
          </p:cNvSpPr>
          <p:nvPr/>
        </p:nvSpPr>
        <p:spPr bwMode="auto">
          <a:xfrm>
            <a:off x="6656389" y="1714500"/>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5" name="Line 16"/>
          <p:cNvSpPr>
            <a:spLocks noChangeShapeType="1"/>
          </p:cNvSpPr>
          <p:nvPr/>
        </p:nvSpPr>
        <p:spPr bwMode="auto">
          <a:xfrm>
            <a:off x="6664326" y="3143250"/>
            <a:ext cx="360363"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6" name="Line 26"/>
          <p:cNvSpPr>
            <a:spLocks noChangeShapeType="1"/>
          </p:cNvSpPr>
          <p:nvPr/>
        </p:nvSpPr>
        <p:spPr bwMode="auto">
          <a:xfrm flipV="1">
            <a:off x="6678613" y="4092576"/>
            <a:ext cx="349250" cy="3175"/>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7" name="Line 25"/>
          <p:cNvSpPr>
            <a:spLocks noChangeShapeType="1"/>
          </p:cNvSpPr>
          <p:nvPr/>
        </p:nvSpPr>
        <p:spPr bwMode="auto">
          <a:xfrm flipV="1">
            <a:off x="6667501" y="5019312"/>
            <a:ext cx="360363"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298" name="Line 8"/>
          <p:cNvSpPr>
            <a:spLocks noChangeShapeType="1"/>
          </p:cNvSpPr>
          <p:nvPr/>
        </p:nvSpPr>
        <p:spPr bwMode="auto">
          <a:xfrm>
            <a:off x="4238626" y="4572000"/>
            <a:ext cx="24288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00" name="Line 10"/>
          <p:cNvSpPr>
            <a:spLocks noChangeShapeType="1"/>
          </p:cNvSpPr>
          <p:nvPr/>
        </p:nvSpPr>
        <p:spPr bwMode="auto">
          <a:xfrm>
            <a:off x="3806825" y="3632200"/>
            <a:ext cx="431800"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0250" name="Rectangle 2"/>
          <p:cNvSpPr>
            <a:spLocks noGrp="1" noChangeArrowheads="1"/>
          </p:cNvSpPr>
          <p:nvPr>
            <p:ph type="title"/>
          </p:nvPr>
        </p:nvSpPr>
        <p:spPr/>
        <p:txBody>
          <a:bodyPr/>
          <a:lstStyle/>
          <a:p>
            <a:pPr eaLnBrk="1" hangingPunct="1"/>
            <a:r>
              <a:rPr lang="zh-CN" altLang="en-US"/>
              <a:t>本章结构</a:t>
            </a:r>
          </a:p>
        </p:txBody>
      </p:sp>
      <p:sp>
        <p:nvSpPr>
          <p:cNvPr id="12303" name="AutoShape 5"/>
          <p:cNvSpPr>
            <a:spLocks noChangeArrowheads="1"/>
          </p:cNvSpPr>
          <p:nvPr/>
        </p:nvSpPr>
        <p:spPr bwMode="auto">
          <a:xfrm>
            <a:off x="4492626" y="4282212"/>
            <a:ext cx="1971675" cy="646986"/>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的配置及应用</a:t>
            </a:r>
          </a:p>
        </p:txBody>
      </p:sp>
      <p:sp>
        <p:nvSpPr>
          <p:cNvPr id="12305" name="AutoShape 11"/>
          <p:cNvSpPr>
            <a:spLocks noChangeArrowheads="1"/>
          </p:cNvSpPr>
          <p:nvPr/>
        </p:nvSpPr>
        <p:spPr bwMode="auto">
          <a:xfrm>
            <a:off x="6988175" y="2478091"/>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的计时器</a:t>
            </a:r>
          </a:p>
        </p:txBody>
      </p:sp>
      <p:sp>
        <p:nvSpPr>
          <p:cNvPr id="12308" name="AutoShape 18"/>
          <p:cNvSpPr>
            <a:spLocks noChangeArrowheads="1"/>
          </p:cNvSpPr>
          <p:nvPr/>
        </p:nvSpPr>
        <p:spPr bwMode="auto">
          <a:xfrm>
            <a:off x="6988175" y="2924100"/>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与</a:t>
            </a:r>
            <a:r>
              <a:rPr lang="en-US" altLang="zh-CN" sz="1600" b="1" dirty="0">
                <a:solidFill>
                  <a:srgbClr val="000000"/>
                </a:solidFill>
                <a:latin typeface="Arial" pitchFamily="34" charset="0"/>
                <a:ea typeface="楷体_GB2312" pitchFamily="49" charset="-122"/>
              </a:rPr>
              <a:t>VRRP</a:t>
            </a:r>
            <a:r>
              <a:rPr lang="zh-CN" altLang="en-US" sz="1600" b="1" dirty="0">
                <a:solidFill>
                  <a:srgbClr val="000000"/>
                </a:solidFill>
                <a:latin typeface="Arial" pitchFamily="34" charset="0"/>
                <a:ea typeface="楷体_GB2312" pitchFamily="49" charset="-122"/>
              </a:rPr>
              <a:t>的区别</a:t>
            </a:r>
          </a:p>
        </p:txBody>
      </p:sp>
      <p:sp>
        <p:nvSpPr>
          <p:cNvPr id="12309" name="AutoShape 27"/>
          <p:cNvSpPr>
            <a:spLocks noChangeArrowheads="1"/>
          </p:cNvSpPr>
          <p:nvPr/>
        </p:nvSpPr>
        <p:spPr bwMode="auto">
          <a:xfrm>
            <a:off x="6992422" y="4379023"/>
            <a:ext cx="2675479"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的应用案例</a:t>
            </a:r>
          </a:p>
        </p:txBody>
      </p:sp>
      <p:sp>
        <p:nvSpPr>
          <p:cNvPr id="12310" name="AutoShape 28"/>
          <p:cNvSpPr>
            <a:spLocks noChangeArrowheads="1"/>
          </p:cNvSpPr>
          <p:nvPr/>
        </p:nvSpPr>
        <p:spPr bwMode="auto">
          <a:xfrm>
            <a:off x="6988175" y="3929067"/>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FF0000"/>
                </a:solidFill>
                <a:latin typeface="Arial" pitchFamily="34" charset="0"/>
                <a:ea typeface="楷体_GB2312" pitchFamily="49" charset="-122"/>
              </a:rPr>
              <a:t>HSRP</a:t>
            </a:r>
            <a:r>
              <a:rPr lang="zh-CN" altLang="en-US" sz="1600" b="1" dirty="0">
                <a:solidFill>
                  <a:srgbClr val="FF0000"/>
                </a:solidFill>
                <a:latin typeface="Arial" pitchFamily="34" charset="0"/>
                <a:ea typeface="楷体_GB2312" pitchFamily="49" charset="-122"/>
              </a:rPr>
              <a:t>的配置</a:t>
            </a:r>
          </a:p>
        </p:txBody>
      </p:sp>
      <p:sp>
        <p:nvSpPr>
          <p:cNvPr id="12311" name="AutoShape 4"/>
          <p:cNvSpPr>
            <a:spLocks noChangeArrowheads="1"/>
          </p:cNvSpPr>
          <p:nvPr/>
        </p:nvSpPr>
        <p:spPr bwMode="auto">
          <a:xfrm>
            <a:off x="1820848" y="3357562"/>
            <a:ext cx="2132012" cy="646986"/>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热备份路由选择协议（</a:t>
            </a: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a:t>
            </a:r>
          </a:p>
        </p:txBody>
      </p:sp>
      <p:sp>
        <p:nvSpPr>
          <p:cNvPr id="12312" name="AutoShape 27"/>
          <p:cNvSpPr>
            <a:spLocks noChangeArrowheads="1"/>
          </p:cNvSpPr>
          <p:nvPr/>
        </p:nvSpPr>
        <p:spPr bwMode="auto">
          <a:xfrm>
            <a:off x="6992421" y="4833048"/>
            <a:ext cx="2675480"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FF0000"/>
                </a:solidFill>
                <a:latin typeface="Arial" pitchFamily="34" charset="0"/>
                <a:ea typeface="楷体_GB2312" pitchFamily="49" charset="-122"/>
              </a:rPr>
              <a:t>HSRP</a:t>
            </a:r>
            <a:r>
              <a:rPr lang="zh-CN" altLang="en-US" sz="1600" b="1" dirty="0">
                <a:solidFill>
                  <a:srgbClr val="FF0000"/>
                </a:solidFill>
                <a:latin typeface="Arial" pitchFamily="34" charset="0"/>
                <a:ea typeface="楷体_GB2312" pitchFamily="49" charset="-122"/>
              </a:rPr>
              <a:t>故障排查</a:t>
            </a:r>
          </a:p>
        </p:txBody>
      </p:sp>
      <p:sp>
        <p:nvSpPr>
          <p:cNvPr id="12314" name="Line 36"/>
          <p:cNvSpPr>
            <a:spLocks noChangeShapeType="1"/>
          </p:cNvSpPr>
          <p:nvPr/>
        </p:nvSpPr>
        <p:spPr bwMode="auto">
          <a:xfrm flipH="1">
            <a:off x="4238625" y="2428876"/>
            <a:ext cx="0" cy="2143125"/>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15" name="Line 37"/>
          <p:cNvSpPr>
            <a:spLocks noChangeShapeType="1"/>
          </p:cNvSpPr>
          <p:nvPr/>
        </p:nvSpPr>
        <p:spPr bwMode="auto">
          <a:xfrm flipH="1">
            <a:off x="6667500" y="4085002"/>
            <a:ext cx="0" cy="928687"/>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sp>
        <p:nvSpPr>
          <p:cNvPr id="12317" name="AutoShape 11"/>
          <p:cNvSpPr>
            <a:spLocks noChangeArrowheads="1"/>
          </p:cNvSpPr>
          <p:nvPr/>
        </p:nvSpPr>
        <p:spPr bwMode="auto">
          <a:xfrm>
            <a:off x="6988175" y="1571613"/>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000000"/>
                </a:solidFill>
                <a:latin typeface="Arial" pitchFamily="34" charset="0"/>
                <a:ea typeface="楷体_GB2312" pitchFamily="49" charset="-122"/>
              </a:rPr>
              <a:t>HSRP</a:t>
            </a:r>
            <a:r>
              <a:rPr lang="zh-CN" altLang="en-US" sz="1600" b="1" dirty="0">
                <a:solidFill>
                  <a:srgbClr val="000000"/>
                </a:solidFill>
                <a:latin typeface="Arial" pitchFamily="34" charset="0"/>
                <a:ea typeface="楷体_GB2312" pitchFamily="49" charset="-122"/>
              </a:rPr>
              <a:t>的相关概念</a:t>
            </a:r>
          </a:p>
        </p:txBody>
      </p:sp>
      <p:cxnSp>
        <p:nvCxnSpPr>
          <p:cNvPr id="37" name="直接连接符 36"/>
          <p:cNvCxnSpPr/>
          <p:nvPr/>
        </p:nvCxnSpPr>
        <p:spPr bwMode="auto">
          <a:xfrm>
            <a:off x="4238626" y="2427289"/>
            <a:ext cx="2428875" cy="1587"/>
          </a:xfrm>
          <a:prstGeom prst="lin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12320" name="AutoShape 5"/>
          <p:cNvSpPr>
            <a:spLocks noChangeArrowheads="1"/>
          </p:cNvSpPr>
          <p:nvPr/>
        </p:nvSpPr>
        <p:spPr bwMode="auto">
          <a:xfrm>
            <a:off x="4481514" y="2143116"/>
            <a:ext cx="1971675" cy="646986"/>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latin typeface="Arial" pitchFamily="34" charset="0"/>
                <a:ea typeface="楷体_GB2312" pitchFamily="49" charset="-122"/>
              </a:rPr>
              <a:t>热备份路由选择协议原理</a:t>
            </a:r>
          </a:p>
        </p:txBody>
      </p:sp>
      <p:sp>
        <p:nvSpPr>
          <p:cNvPr id="38" name="Line 16"/>
          <p:cNvSpPr>
            <a:spLocks noChangeShapeType="1"/>
          </p:cNvSpPr>
          <p:nvPr/>
        </p:nvSpPr>
        <p:spPr bwMode="auto">
          <a:xfrm>
            <a:off x="6667501" y="2214563"/>
            <a:ext cx="358775" cy="0"/>
          </a:xfrm>
          <a:prstGeom prst="line">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latin typeface="Arial" pitchFamily="34" charset="0"/>
            </a:endParaRPr>
          </a:p>
        </p:txBody>
      </p:sp>
      <p:cxnSp>
        <p:nvCxnSpPr>
          <p:cNvPr id="49" name="直接连接符 48"/>
          <p:cNvCxnSpPr/>
          <p:nvPr/>
        </p:nvCxnSpPr>
        <p:spPr bwMode="auto">
          <a:xfrm rot="5400000">
            <a:off x="5953919" y="2428081"/>
            <a:ext cx="1428750" cy="1588"/>
          </a:xfrm>
          <a:prstGeom prst="line">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12318" name="AutoShape 11"/>
          <p:cNvSpPr>
            <a:spLocks noChangeArrowheads="1"/>
          </p:cNvSpPr>
          <p:nvPr/>
        </p:nvSpPr>
        <p:spPr bwMode="auto">
          <a:xfrm>
            <a:off x="6988175" y="2020875"/>
            <a:ext cx="2700338" cy="374571"/>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en-US" altLang="zh-CN" sz="1600" b="1" dirty="0">
                <a:solidFill>
                  <a:srgbClr val="FF0000"/>
                </a:solidFill>
                <a:latin typeface="Arial" pitchFamily="34" charset="0"/>
                <a:ea typeface="楷体_GB2312" pitchFamily="49" charset="-122"/>
              </a:rPr>
              <a:t>HSRP</a:t>
            </a:r>
            <a:r>
              <a:rPr lang="zh-CN" altLang="en-US" sz="1600" b="1" dirty="0">
                <a:solidFill>
                  <a:srgbClr val="FF0000"/>
                </a:solidFill>
                <a:latin typeface="Arial" pitchFamily="34" charset="0"/>
                <a:ea typeface="楷体_GB2312" pitchFamily="49" charset="-122"/>
              </a:rPr>
              <a:t>的状态</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12311"/>
                                        </p:tgtEl>
                                        <p:attrNameLst>
                                          <p:attrName>style.visibility</p:attrName>
                                        </p:attrNameLst>
                                      </p:cBhvr>
                                      <p:to>
                                        <p:strVal val="visible"/>
                                      </p:to>
                                    </p:set>
                                    <p:animEffect transition="in" filter="randombar(vertical)">
                                      <p:cBhvr>
                                        <p:cTn id="7" dur="500"/>
                                        <p:tgtEl>
                                          <p:spTgt spid="12311"/>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12320"/>
                                        </p:tgtEl>
                                        <p:attrNameLst>
                                          <p:attrName>style.visibility</p:attrName>
                                        </p:attrNameLst>
                                      </p:cBhvr>
                                      <p:to>
                                        <p:strVal val="visible"/>
                                      </p:to>
                                    </p:set>
                                    <p:animEffect transition="in" filter="barn(inHorizontal)">
                                      <p:cBhvr>
                                        <p:cTn id="11" dur="500"/>
                                        <p:tgtEl>
                                          <p:spTgt spid="12320"/>
                                        </p:tgtEl>
                                      </p:cBhvr>
                                    </p:animEffect>
                                  </p:childTnLst>
                                </p:cTn>
                              </p:par>
                              <p:par>
                                <p:cTn id="12" presetID="16" presetClass="entr" presetSubtype="26" fill="hold" grpId="0" nodeType="withEffect">
                                  <p:stCondLst>
                                    <p:cond delay="0"/>
                                  </p:stCondLst>
                                  <p:childTnLst>
                                    <p:set>
                                      <p:cBhvr>
                                        <p:cTn id="13" dur="1" fill="hold">
                                          <p:stCondLst>
                                            <p:cond delay="0"/>
                                          </p:stCondLst>
                                        </p:cTn>
                                        <p:tgtEl>
                                          <p:spTgt spid="12303"/>
                                        </p:tgtEl>
                                        <p:attrNameLst>
                                          <p:attrName>style.visibility</p:attrName>
                                        </p:attrNameLst>
                                      </p:cBhvr>
                                      <p:to>
                                        <p:strVal val="visible"/>
                                      </p:to>
                                    </p:set>
                                    <p:animEffect transition="in" filter="barn(inHorizontal)">
                                      <p:cBhvr>
                                        <p:cTn id="14" dur="500"/>
                                        <p:tgtEl>
                                          <p:spTgt spid="12303"/>
                                        </p:tgtEl>
                                      </p:cBhvr>
                                    </p:animEffect>
                                  </p:childTnLst>
                                </p:cTn>
                              </p:par>
                            </p:childTnLst>
                          </p:cTn>
                        </p:par>
                        <p:par>
                          <p:cTn id="15" fill="hold">
                            <p:stCondLst>
                              <p:cond delay="1000"/>
                            </p:stCondLst>
                            <p:childTnLst>
                              <p:par>
                                <p:cTn id="16" presetID="8" presetClass="entr" presetSubtype="32" fill="hold" grpId="0" nodeType="afterEffect">
                                  <p:stCondLst>
                                    <p:cond delay="0"/>
                                  </p:stCondLst>
                                  <p:childTnLst>
                                    <p:set>
                                      <p:cBhvr>
                                        <p:cTn id="17" dur="1" fill="hold">
                                          <p:stCondLst>
                                            <p:cond delay="0"/>
                                          </p:stCondLst>
                                        </p:cTn>
                                        <p:tgtEl>
                                          <p:spTgt spid="12317"/>
                                        </p:tgtEl>
                                        <p:attrNameLst>
                                          <p:attrName>style.visibility</p:attrName>
                                        </p:attrNameLst>
                                      </p:cBhvr>
                                      <p:to>
                                        <p:strVal val="visible"/>
                                      </p:to>
                                    </p:set>
                                    <p:animEffect transition="in" filter="diamond(out)">
                                      <p:cBhvr>
                                        <p:cTn id="18" dur="500"/>
                                        <p:tgtEl>
                                          <p:spTgt spid="12317"/>
                                        </p:tgtEl>
                                      </p:cBhvr>
                                    </p:animEffect>
                                  </p:childTnLst>
                                </p:cTn>
                              </p:par>
                              <p:par>
                                <p:cTn id="19" presetID="8" presetClass="entr" presetSubtype="32" fill="hold" grpId="0" nodeType="withEffect">
                                  <p:stCondLst>
                                    <p:cond delay="0"/>
                                  </p:stCondLst>
                                  <p:childTnLst>
                                    <p:set>
                                      <p:cBhvr>
                                        <p:cTn id="20" dur="1" fill="hold">
                                          <p:stCondLst>
                                            <p:cond delay="0"/>
                                          </p:stCondLst>
                                        </p:cTn>
                                        <p:tgtEl>
                                          <p:spTgt spid="12318"/>
                                        </p:tgtEl>
                                        <p:attrNameLst>
                                          <p:attrName>style.visibility</p:attrName>
                                        </p:attrNameLst>
                                      </p:cBhvr>
                                      <p:to>
                                        <p:strVal val="visible"/>
                                      </p:to>
                                    </p:set>
                                    <p:animEffect transition="in" filter="diamond(out)">
                                      <p:cBhvr>
                                        <p:cTn id="21" dur="500"/>
                                        <p:tgtEl>
                                          <p:spTgt spid="12318"/>
                                        </p:tgtEl>
                                      </p:cBhvr>
                                    </p:animEffect>
                                  </p:childTnLst>
                                </p:cTn>
                              </p:par>
                              <p:par>
                                <p:cTn id="22" presetID="8" presetClass="entr" presetSubtype="32" fill="hold" grpId="0" nodeType="withEffect">
                                  <p:stCondLst>
                                    <p:cond delay="0"/>
                                  </p:stCondLst>
                                  <p:childTnLst>
                                    <p:set>
                                      <p:cBhvr>
                                        <p:cTn id="23" dur="1" fill="hold">
                                          <p:stCondLst>
                                            <p:cond delay="0"/>
                                          </p:stCondLst>
                                        </p:cTn>
                                        <p:tgtEl>
                                          <p:spTgt spid="12305"/>
                                        </p:tgtEl>
                                        <p:attrNameLst>
                                          <p:attrName>style.visibility</p:attrName>
                                        </p:attrNameLst>
                                      </p:cBhvr>
                                      <p:to>
                                        <p:strVal val="visible"/>
                                      </p:to>
                                    </p:set>
                                    <p:animEffect transition="in" filter="diamond(out)">
                                      <p:cBhvr>
                                        <p:cTn id="24" dur="500"/>
                                        <p:tgtEl>
                                          <p:spTgt spid="12305"/>
                                        </p:tgtEl>
                                      </p:cBhvr>
                                    </p:animEffect>
                                  </p:childTnLst>
                                </p:cTn>
                              </p:par>
                              <p:par>
                                <p:cTn id="25" presetID="8" presetClass="entr" presetSubtype="32" fill="hold" grpId="0" nodeType="withEffect">
                                  <p:stCondLst>
                                    <p:cond delay="0"/>
                                  </p:stCondLst>
                                  <p:childTnLst>
                                    <p:set>
                                      <p:cBhvr>
                                        <p:cTn id="26" dur="1" fill="hold">
                                          <p:stCondLst>
                                            <p:cond delay="0"/>
                                          </p:stCondLst>
                                        </p:cTn>
                                        <p:tgtEl>
                                          <p:spTgt spid="12308"/>
                                        </p:tgtEl>
                                        <p:attrNameLst>
                                          <p:attrName>style.visibility</p:attrName>
                                        </p:attrNameLst>
                                      </p:cBhvr>
                                      <p:to>
                                        <p:strVal val="visible"/>
                                      </p:to>
                                    </p:set>
                                    <p:animEffect transition="in" filter="diamond(out)">
                                      <p:cBhvr>
                                        <p:cTn id="27" dur="500"/>
                                        <p:tgtEl>
                                          <p:spTgt spid="12308"/>
                                        </p:tgtEl>
                                      </p:cBhvr>
                                    </p:animEffect>
                                  </p:childTnLst>
                                </p:cTn>
                              </p:par>
                              <p:par>
                                <p:cTn id="28" presetID="8" presetClass="entr" presetSubtype="32" fill="hold" grpId="0" nodeType="withEffect">
                                  <p:stCondLst>
                                    <p:cond delay="0"/>
                                  </p:stCondLst>
                                  <p:childTnLst>
                                    <p:set>
                                      <p:cBhvr>
                                        <p:cTn id="29" dur="1" fill="hold">
                                          <p:stCondLst>
                                            <p:cond delay="0"/>
                                          </p:stCondLst>
                                        </p:cTn>
                                        <p:tgtEl>
                                          <p:spTgt spid="12310"/>
                                        </p:tgtEl>
                                        <p:attrNameLst>
                                          <p:attrName>style.visibility</p:attrName>
                                        </p:attrNameLst>
                                      </p:cBhvr>
                                      <p:to>
                                        <p:strVal val="visible"/>
                                      </p:to>
                                    </p:set>
                                    <p:animEffect transition="in" filter="diamond(out)">
                                      <p:cBhvr>
                                        <p:cTn id="30" dur="500"/>
                                        <p:tgtEl>
                                          <p:spTgt spid="12310"/>
                                        </p:tgtEl>
                                      </p:cBhvr>
                                    </p:animEffect>
                                  </p:childTnLst>
                                </p:cTn>
                              </p:par>
                              <p:par>
                                <p:cTn id="31" presetID="8" presetClass="entr" presetSubtype="32" fill="hold" grpId="0" nodeType="withEffect">
                                  <p:stCondLst>
                                    <p:cond delay="0"/>
                                  </p:stCondLst>
                                  <p:childTnLst>
                                    <p:set>
                                      <p:cBhvr>
                                        <p:cTn id="32" dur="1" fill="hold">
                                          <p:stCondLst>
                                            <p:cond delay="0"/>
                                          </p:stCondLst>
                                        </p:cTn>
                                        <p:tgtEl>
                                          <p:spTgt spid="12309"/>
                                        </p:tgtEl>
                                        <p:attrNameLst>
                                          <p:attrName>style.visibility</p:attrName>
                                        </p:attrNameLst>
                                      </p:cBhvr>
                                      <p:to>
                                        <p:strVal val="visible"/>
                                      </p:to>
                                    </p:set>
                                    <p:animEffect transition="in" filter="diamond(out)">
                                      <p:cBhvr>
                                        <p:cTn id="33" dur="500"/>
                                        <p:tgtEl>
                                          <p:spTgt spid="12309"/>
                                        </p:tgtEl>
                                      </p:cBhvr>
                                    </p:animEffect>
                                  </p:childTnLst>
                                </p:cTn>
                              </p:par>
                              <p:par>
                                <p:cTn id="34" presetID="8" presetClass="entr" presetSubtype="32" fill="hold" grpId="0" nodeType="withEffect">
                                  <p:stCondLst>
                                    <p:cond delay="0"/>
                                  </p:stCondLst>
                                  <p:childTnLst>
                                    <p:set>
                                      <p:cBhvr>
                                        <p:cTn id="35" dur="1" fill="hold">
                                          <p:stCondLst>
                                            <p:cond delay="0"/>
                                          </p:stCondLst>
                                        </p:cTn>
                                        <p:tgtEl>
                                          <p:spTgt spid="12312"/>
                                        </p:tgtEl>
                                        <p:attrNameLst>
                                          <p:attrName>style.visibility</p:attrName>
                                        </p:attrNameLst>
                                      </p:cBhvr>
                                      <p:to>
                                        <p:strVal val="visible"/>
                                      </p:to>
                                    </p:set>
                                    <p:animEffect transition="in" filter="diamond(out)">
                                      <p:cBhvr>
                                        <p:cTn id="36" dur="500"/>
                                        <p:tgtEl>
                                          <p:spTgt spid="12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3" grpId="0" animBg="1"/>
      <p:bldP spid="12305" grpId="0" animBg="1"/>
      <p:bldP spid="12308" grpId="0" animBg="1"/>
      <p:bldP spid="12309" grpId="0" animBg="1"/>
      <p:bldP spid="12310" grpId="0" animBg="1"/>
      <p:bldP spid="12311" grpId="0" animBg="1"/>
      <p:bldP spid="12312" grpId="0" animBg="1"/>
      <p:bldP spid="12317" grpId="0" animBg="1"/>
      <p:bldP spid="12320" grpId="0" animBg="1"/>
      <p:bldP spid="123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1"/>
          <p:cNvSpPr>
            <a:spLocks noGrp="1"/>
          </p:cNvSpPr>
          <p:nvPr>
            <p:ph idx="1"/>
          </p:nvPr>
        </p:nvSpPr>
        <p:spPr>
          <a:xfrm>
            <a:off x="1738313" y="1143001"/>
            <a:ext cx="8501062" cy="1285875"/>
          </a:xfrm>
        </p:spPr>
        <p:txBody>
          <a:bodyPr/>
          <a:lstStyle/>
          <a:p>
            <a:pPr>
              <a:spcBef>
                <a:spcPts val="675"/>
              </a:spcBef>
            </a:pPr>
            <a:r>
              <a:rPr lang="zh-CN" altLang="en-US"/>
              <a:t>热备份路由选择协议</a:t>
            </a:r>
            <a:endParaRPr lang="en-US" altLang="zh-CN"/>
          </a:p>
          <a:p>
            <a:pPr lvl="1">
              <a:spcBef>
                <a:spcPts val="475"/>
              </a:spcBef>
            </a:pPr>
            <a:r>
              <a:rPr lang="en-US" altLang="zh-CN"/>
              <a:t>HSRP</a:t>
            </a:r>
            <a:r>
              <a:rPr lang="zh-CN" altLang="en-US"/>
              <a:t>（</a:t>
            </a:r>
            <a:r>
              <a:rPr lang="en-US" altLang="zh-CN"/>
              <a:t>Hot Standby Routing Protocol</a:t>
            </a:r>
            <a:r>
              <a:rPr lang="zh-CN" altLang="en-US"/>
              <a:t>）</a:t>
            </a:r>
          </a:p>
          <a:p>
            <a:pPr lvl="1">
              <a:spcBef>
                <a:spcPts val="475"/>
              </a:spcBef>
            </a:pPr>
            <a:r>
              <a:rPr lang="en-US" altLang="zh-CN"/>
              <a:t>Cisco</a:t>
            </a:r>
            <a:r>
              <a:rPr lang="zh-CN" altLang="en-US"/>
              <a:t>私有协议</a:t>
            </a:r>
            <a:endParaRPr lang="en-US" altLang="zh-CN"/>
          </a:p>
          <a:p>
            <a:pPr>
              <a:spcBef>
                <a:spcPts val="675"/>
              </a:spcBef>
            </a:pPr>
            <a:endParaRPr lang="zh-CN" altLang="en-US"/>
          </a:p>
        </p:txBody>
      </p:sp>
      <p:sp>
        <p:nvSpPr>
          <p:cNvPr id="11267" name="标题 2"/>
          <p:cNvSpPr>
            <a:spLocks noGrp="1"/>
          </p:cNvSpPr>
          <p:nvPr>
            <p:ph type="title"/>
          </p:nvPr>
        </p:nvSpPr>
        <p:spPr/>
        <p:txBody>
          <a:bodyPr/>
          <a:lstStyle/>
          <a:p>
            <a:r>
              <a:rPr lang="en-US" altLang="zh-CN"/>
              <a:t>HSRP</a:t>
            </a:r>
            <a:r>
              <a:rPr lang="zh-CN" altLang="en-US"/>
              <a:t>的相关概念</a:t>
            </a:r>
            <a:r>
              <a:rPr lang="en-US" altLang="zh-CN"/>
              <a:t>5-1</a:t>
            </a:r>
            <a:endParaRPr lang="zh-CN" altLang="en-US"/>
          </a:p>
        </p:txBody>
      </p:sp>
      <p:cxnSp>
        <p:nvCxnSpPr>
          <p:cNvPr id="11268" name="直接连接符 37"/>
          <p:cNvCxnSpPr>
            <a:cxnSpLocks noChangeShapeType="1"/>
          </p:cNvCxnSpPr>
          <p:nvPr/>
        </p:nvCxnSpPr>
        <p:spPr bwMode="auto">
          <a:xfrm rot="10800000">
            <a:off x="3582988" y="4679950"/>
            <a:ext cx="1168400" cy="1588"/>
          </a:xfrm>
          <a:prstGeom prst="line">
            <a:avLst/>
          </a:prstGeom>
          <a:noFill/>
          <a:ln w="44450" algn="ctr">
            <a:solidFill>
              <a:srgbClr val="FF3300"/>
            </a:solidFill>
            <a:round/>
            <a:headEnd/>
            <a:tailEnd/>
          </a:ln>
        </p:spPr>
      </p:cxnSp>
      <p:cxnSp>
        <p:nvCxnSpPr>
          <p:cNvPr id="11269" name="直接连接符 98"/>
          <p:cNvCxnSpPr>
            <a:cxnSpLocks noChangeShapeType="1"/>
          </p:cNvCxnSpPr>
          <p:nvPr/>
        </p:nvCxnSpPr>
        <p:spPr bwMode="auto">
          <a:xfrm rot="10800000">
            <a:off x="5710239" y="3371851"/>
            <a:ext cx="2117725" cy="3175"/>
          </a:xfrm>
          <a:prstGeom prst="line">
            <a:avLst/>
          </a:prstGeom>
          <a:noFill/>
          <a:ln w="44450" algn="ctr">
            <a:solidFill>
              <a:srgbClr val="FF3300"/>
            </a:solidFill>
            <a:round/>
            <a:headEnd/>
            <a:tailEnd/>
          </a:ln>
        </p:spPr>
      </p:cxnSp>
      <p:cxnSp>
        <p:nvCxnSpPr>
          <p:cNvPr id="11270" name="直接连接符 98"/>
          <p:cNvCxnSpPr>
            <a:cxnSpLocks noChangeShapeType="1"/>
          </p:cNvCxnSpPr>
          <p:nvPr/>
        </p:nvCxnSpPr>
        <p:spPr bwMode="auto">
          <a:xfrm rot="10800000">
            <a:off x="5810251" y="6032501"/>
            <a:ext cx="2117725" cy="3175"/>
          </a:xfrm>
          <a:prstGeom prst="line">
            <a:avLst/>
          </a:prstGeom>
          <a:noFill/>
          <a:ln w="44450" algn="ctr">
            <a:solidFill>
              <a:srgbClr val="FF3300"/>
            </a:solidFill>
            <a:round/>
            <a:headEnd/>
            <a:tailEnd/>
          </a:ln>
        </p:spPr>
      </p:cxnSp>
      <p:pic>
        <p:nvPicPr>
          <p:cNvPr id="11271" name="Picture 12"/>
          <p:cNvPicPr>
            <a:picLocks noChangeAspect="1" noChangeArrowheads="1"/>
          </p:cNvPicPr>
          <p:nvPr/>
        </p:nvPicPr>
        <p:blipFill>
          <a:blip r:embed="rId3"/>
          <a:srcRect/>
          <a:stretch>
            <a:fillRect/>
          </a:stretch>
        </p:blipFill>
        <p:spPr bwMode="auto">
          <a:xfrm>
            <a:off x="5189538" y="2994026"/>
            <a:ext cx="863600" cy="733425"/>
          </a:xfrm>
          <a:prstGeom prst="rect">
            <a:avLst/>
          </a:prstGeom>
          <a:noFill/>
          <a:ln w="9525">
            <a:noFill/>
            <a:miter lim="800000"/>
            <a:headEnd/>
            <a:tailEnd/>
          </a:ln>
        </p:spPr>
      </p:pic>
      <p:pic>
        <p:nvPicPr>
          <p:cNvPr id="11272" name="Picture 12"/>
          <p:cNvPicPr>
            <a:picLocks noChangeAspect="1" noChangeArrowheads="1"/>
          </p:cNvPicPr>
          <p:nvPr/>
        </p:nvPicPr>
        <p:blipFill>
          <a:blip r:embed="rId3"/>
          <a:srcRect/>
          <a:stretch>
            <a:fillRect/>
          </a:stretch>
        </p:blipFill>
        <p:spPr bwMode="auto">
          <a:xfrm>
            <a:off x="5189538" y="5670551"/>
            <a:ext cx="863600" cy="733425"/>
          </a:xfrm>
          <a:prstGeom prst="rect">
            <a:avLst/>
          </a:prstGeom>
          <a:noFill/>
          <a:ln w="9525">
            <a:noFill/>
            <a:miter lim="800000"/>
            <a:headEnd/>
            <a:tailEnd/>
          </a:ln>
        </p:spPr>
      </p:pic>
      <p:cxnSp>
        <p:nvCxnSpPr>
          <p:cNvPr id="11273" name="直接连接符 167"/>
          <p:cNvCxnSpPr>
            <a:cxnSpLocks noChangeShapeType="1"/>
          </p:cNvCxnSpPr>
          <p:nvPr/>
        </p:nvCxnSpPr>
        <p:spPr bwMode="auto">
          <a:xfrm rot="5400000">
            <a:off x="3371057" y="4682332"/>
            <a:ext cx="2698750" cy="36513"/>
          </a:xfrm>
          <a:prstGeom prst="line">
            <a:avLst/>
          </a:prstGeom>
          <a:noFill/>
          <a:ln w="44450" algn="ctr">
            <a:solidFill>
              <a:srgbClr val="FF3300"/>
            </a:solidFill>
            <a:round/>
            <a:headEnd/>
            <a:tailEnd/>
          </a:ln>
        </p:spPr>
      </p:cxnSp>
      <p:pic>
        <p:nvPicPr>
          <p:cNvPr id="11274" name="Picture 26"/>
          <p:cNvPicPr>
            <a:picLocks noChangeAspect="1" noChangeArrowheads="1"/>
          </p:cNvPicPr>
          <p:nvPr/>
        </p:nvPicPr>
        <p:blipFill>
          <a:blip r:embed="rId4"/>
          <a:srcRect/>
          <a:stretch>
            <a:fillRect/>
          </a:stretch>
        </p:blipFill>
        <p:spPr bwMode="auto">
          <a:xfrm>
            <a:off x="3267076" y="4351338"/>
            <a:ext cx="684213" cy="647700"/>
          </a:xfrm>
          <a:prstGeom prst="rect">
            <a:avLst/>
          </a:prstGeom>
          <a:noFill/>
          <a:ln w="9525">
            <a:noFill/>
            <a:miter lim="800000"/>
            <a:headEnd/>
            <a:tailEnd/>
          </a:ln>
        </p:spPr>
      </p:pic>
      <p:pic>
        <p:nvPicPr>
          <p:cNvPr id="11275" name="Picture 12"/>
          <p:cNvPicPr>
            <a:picLocks noChangeAspect="1" noChangeArrowheads="1"/>
          </p:cNvPicPr>
          <p:nvPr/>
        </p:nvPicPr>
        <p:blipFill>
          <a:blip r:embed="rId3">
            <a:lum bright="70000" contrast="-70000"/>
          </a:blip>
          <a:srcRect/>
          <a:stretch>
            <a:fillRect/>
          </a:stretch>
        </p:blipFill>
        <p:spPr bwMode="auto">
          <a:xfrm>
            <a:off x="6261100" y="4413251"/>
            <a:ext cx="654050" cy="555625"/>
          </a:xfrm>
          <a:prstGeom prst="rect">
            <a:avLst/>
          </a:prstGeom>
          <a:noFill/>
          <a:ln w="9525">
            <a:noFill/>
            <a:miter lim="800000"/>
            <a:headEnd/>
            <a:tailEnd/>
          </a:ln>
        </p:spPr>
      </p:pic>
      <p:sp>
        <p:nvSpPr>
          <p:cNvPr id="11276" name="Text Box 15"/>
          <p:cNvSpPr txBox="1">
            <a:spLocks noChangeArrowheads="1"/>
          </p:cNvSpPr>
          <p:nvPr/>
        </p:nvSpPr>
        <p:spPr bwMode="auto">
          <a:xfrm>
            <a:off x="7015164" y="4275139"/>
            <a:ext cx="3438525" cy="923925"/>
          </a:xfrm>
          <a:prstGeom prst="rect">
            <a:avLst/>
          </a:prstGeom>
          <a:noFill/>
          <a:ln w="9525">
            <a:noFill/>
            <a:miter lim="800000"/>
            <a:headEnd/>
            <a:tailEnd/>
          </a:ln>
        </p:spPr>
        <p:txBody>
          <a:bodyPr>
            <a:spAutoFit/>
          </a:bodyPr>
          <a:lstStyle/>
          <a:p>
            <a:r>
              <a:rPr lang="en-US" altLang="zh-CN" b="1">
                <a:solidFill>
                  <a:schemeClr val="tx2"/>
                </a:solidFill>
                <a:latin typeface="楷体_GB2312" pitchFamily="49" charset="-122"/>
                <a:ea typeface="楷体_GB2312" pitchFamily="49" charset="-122"/>
                <a:cs typeface="Arial" charset="0"/>
              </a:rPr>
              <a:t>HSRP</a:t>
            </a:r>
            <a:r>
              <a:rPr lang="zh-CN" altLang="en-US" b="1">
                <a:solidFill>
                  <a:schemeClr val="tx2"/>
                </a:solidFill>
                <a:latin typeface="楷体_GB2312" pitchFamily="49" charset="-122"/>
                <a:ea typeface="楷体_GB2312" pitchFamily="49" charset="-122"/>
                <a:cs typeface="Arial" charset="0"/>
              </a:rPr>
              <a:t>虚拟路由器</a:t>
            </a:r>
          </a:p>
          <a:p>
            <a:r>
              <a:rPr lang="zh-CN" altLang="en-US" b="1">
                <a:solidFill>
                  <a:schemeClr val="tx2"/>
                </a:solidFill>
                <a:latin typeface="楷体_GB2312" pitchFamily="49" charset="-122"/>
                <a:ea typeface="楷体_GB2312" pitchFamily="49" charset="-122"/>
                <a:cs typeface="Arial" charset="0"/>
              </a:rPr>
              <a:t>虚拟</a:t>
            </a:r>
            <a:r>
              <a:rPr lang="en-US" altLang="zh-CN" b="1">
                <a:solidFill>
                  <a:schemeClr val="tx2"/>
                </a:solidFill>
                <a:latin typeface="楷体_GB2312" pitchFamily="49" charset="-122"/>
                <a:ea typeface="楷体_GB2312" pitchFamily="49" charset="-122"/>
                <a:cs typeface="Arial" charset="0"/>
              </a:rPr>
              <a:t>IP:1.1.1.1/24</a:t>
            </a:r>
          </a:p>
          <a:p>
            <a:r>
              <a:rPr lang="zh-CN" altLang="en-US" b="1">
                <a:solidFill>
                  <a:schemeClr val="tx2"/>
                </a:solidFill>
                <a:latin typeface="楷体_GB2312" pitchFamily="49" charset="-122"/>
                <a:ea typeface="楷体_GB2312" pitchFamily="49" charset="-122"/>
                <a:cs typeface="Arial" charset="0"/>
              </a:rPr>
              <a:t>虚拟</a:t>
            </a:r>
            <a:r>
              <a:rPr lang="en-US" altLang="zh-CN" b="1">
                <a:solidFill>
                  <a:schemeClr val="tx2"/>
                </a:solidFill>
                <a:latin typeface="楷体_GB2312" pitchFamily="49" charset="-122"/>
                <a:ea typeface="楷体_GB2312" pitchFamily="49" charset="-122"/>
                <a:cs typeface="Arial" charset="0"/>
              </a:rPr>
              <a:t>MAC: 0000.0c07.ac00</a:t>
            </a:r>
          </a:p>
        </p:txBody>
      </p:sp>
      <p:sp>
        <p:nvSpPr>
          <p:cNvPr id="11277" name="Text Box 49"/>
          <p:cNvSpPr txBox="1">
            <a:spLocks noChangeArrowheads="1"/>
          </p:cNvSpPr>
          <p:nvPr/>
        </p:nvSpPr>
        <p:spPr bwMode="auto">
          <a:xfrm>
            <a:off x="2049464" y="4932363"/>
            <a:ext cx="2922587" cy="723900"/>
          </a:xfrm>
          <a:prstGeom prst="rect">
            <a:avLst/>
          </a:prstGeom>
          <a:noFill/>
          <a:ln w="9525">
            <a:noFill/>
            <a:miter lim="800000"/>
            <a:headEnd/>
            <a:tailEnd/>
          </a:ln>
        </p:spPr>
        <p:txBody>
          <a:bodyPr>
            <a:spAutoFit/>
          </a:bodyPr>
          <a:lstStyle/>
          <a:p>
            <a:r>
              <a:rPr lang="zh-CN" altLang="en-US" b="1">
                <a:solidFill>
                  <a:schemeClr val="tx2"/>
                </a:solidFill>
                <a:latin typeface="楷体_GB2312" pitchFamily="49" charset="-122"/>
                <a:ea typeface="楷体_GB2312" pitchFamily="49" charset="-122"/>
                <a:cs typeface="Arial" charset="0"/>
              </a:rPr>
              <a:t>主机</a:t>
            </a:r>
            <a:r>
              <a:rPr lang="en-US" altLang="zh-CN" b="1">
                <a:solidFill>
                  <a:schemeClr val="tx2"/>
                </a:solidFill>
                <a:latin typeface="楷体_GB2312" pitchFamily="49" charset="-122"/>
                <a:ea typeface="楷体_GB2312" pitchFamily="49" charset="-122"/>
                <a:cs typeface="Arial" charset="0"/>
              </a:rPr>
              <a:t>IP</a:t>
            </a:r>
            <a:r>
              <a:rPr lang="zh-CN" altLang="en-US" b="1">
                <a:solidFill>
                  <a:schemeClr val="tx2"/>
                </a:solidFill>
                <a:latin typeface="楷体_GB2312" pitchFamily="49" charset="-122"/>
                <a:ea typeface="楷体_GB2312" pitchFamily="49" charset="-122"/>
                <a:cs typeface="Arial" charset="0"/>
              </a:rPr>
              <a:t>：</a:t>
            </a:r>
            <a:r>
              <a:rPr lang="en-US" altLang="zh-CN" b="1">
                <a:solidFill>
                  <a:schemeClr val="tx2"/>
                </a:solidFill>
                <a:latin typeface="楷体_GB2312" pitchFamily="49" charset="-122"/>
                <a:ea typeface="楷体_GB2312" pitchFamily="49" charset="-122"/>
                <a:cs typeface="Arial" charset="0"/>
              </a:rPr>
              <a:t>1.1.1.10</a:t>
            </a:r>
          </a:p>
          <a:p>
            <a:endParaRPr lang="en-US" altLang="zh-CN" sz="500" b="1">
              <a:solidFill>
                <a:schemeClr val="tx2"/>
              </a:solidFill>
              <a:latin typeface="楷体_GB2312" pitchFamily="49" charset="-122"/>
              <a:ea typeface="楷体_GB2312" pitchFamily="49" charset="-122"/>
              <a:cs typeface="Arial" charset="0"/>
            </a:endParaRPr>
          </a:p>
          <a:p>
            <a:r>
              <a:rPr lang="zh-CN" altLang="en-US" b="1">
                <a:solidFill>
                  <a:schemeClr val="tx2"/>
                </a:solidFill>
                <a:latin typeface="楷体_GB2312" pitchFamily="49" charset="-122"/>
                <a:ea typeface="楷体_GB2312" pitchFamily="49" charset="-122"/>
                <a:cs typeface="Arial" charset="0"/>
              </a:rPr>
              <a:t>缺省网关：</a:t>
            </a:r>
            <a:r>
              <a:rPr lang="en-US" altLang="zh-CN" b="1">
                <a:solidFill>
                  <a:schemeClr val="tx2"/>
                </a:solidFill>
                <a:latin typeface="楷体_GB2312" pitchFamily="49" charset="-122"/>
                <a:ea typeface="楷体_GB2312" pitchFamily="49" charset="-122"/>
                <a:cs typeface="Arial" charset="0"/>
              </a:rPr>
              <a:t>1.1.1.1/24</a:t>
            </a:r>
          </a:p>
        </p:txBody>
      </p:sp>
      <p:cxnSp>
        <p:nvCxnSpPr>
          <p:cNvPr id="11278" name="直接连接符 98"/>
          <p:cNvCxnSpPr>
            <a:cxnSpLocks noChangeShapeType="1"/>
          </p:cNvCxnSpPr>
          <p:nvPr/>
        </p:nvCxnSpPr>
        <p:spPr bwMode="auto">
          <a:xfrm rot="10800000">
            <a:off x="4727576" y="3371850"/>
            <a:ext cx="474663" cy="0"/>
          </a:xfrm>
          <a:prstGeom prst="line">
            <a:avLst/>
          </a:prstGeom>
          <a:noFill/>
          <a:ln w="44450" algn="ctr">
            <a:solidFill>
              <a:srgbClr val="FF3300"/>
            </a:solidFill>
            <a:round/>
            <a:headEnd/>
            <a:tailEnd/>
          </a:ln>
        </p:spPr>
      </p:cxnSp>
      <p:cxnSp>
        <p:nvCxnSpPr>
          <p:cNvPr id="11279" name="直接连接符 98"/>
          <p:cNvCxnSpPr>
            <a:cxnSpLocks noChangeShapeType="1"/>
          </p:cNvCxnSpPr>
          <p:nvPr/>
        </p:nvCxnSpPr>
        <p:spPr bwMode="auto">
          <a:xfrm rot="10800000">
            <a:off x="4724401" y="6035675"/>
            <a:ext cx="474663" cy="0"/>
          </a:xfrm>
          <a:prstGeom prst="line">
            <a:avLst/>
          </a:prstGeom>
          <a:noFill/>
          <a:ln w="44450" algn="ctr">
            <a:solidFill>
              <a:srgbClr val="FF3300"/>
            </a:solidFill>
            <a:round/>
            <a:headEnd/>
            <a:tailEnd/>
          </a:ln>
        </p:spPr>
      </p:cxnSp>
      <p:pic>
        <p:nvPicPr>
          <p:cNvPr id="11280" name="Picture 6"/>
          <p:cNvPicPr>
            <a:picLocks noChangeArrowheads="1"/>
          </p:cNvPicPr>
          <p:nvPr/>
        </p:nvPicPr>
        <p:blipFill>
          <a:blip r:embed="rId5"/>
          <a:srcRect/>
          <a:stretch>
            <a:fillRect/>
          </a:stretch>
        </p:blipFill>
        <p:spPr bwMode="auto">
          <a:xfrm>
            <a:off x="7818439" y="3033714"/>
            <a:ext cx="1423987" cy="657225"/>
          </a:xfrm>
          <a:prstGeom prst="rect">
            <a:avLst/>
          </a:prstGeom>
          <a:noFill/>
          <a:ln w="9525">
            <a:noFill/>
            <a:miter lim="800000"/>
            <a:headEnd/>
            <a:tailEnd/>
          </a:ln>
        </p:spPr>
      </p:pic>
      <p:sp>
        <p:nvSpPr>
          <p:cNvPr id="11281" name="Text Box 49"/>
          <p:cNvSpPr txBox="1">
            <a:spLocks noChangeArrowheads="1"/>
          </p:cNvSpPr>
          <p:nvPr/>
        </p:nvSpPr>
        <p:spPr bwMode="auto">
          <a:xfrm>
            <a:off x="7964488" y="3143250"/>
            <a:ext cx="1350962" cy="369888"/>
          </a:xfrm>
          <a:prstGeom prst="rect">
            <a:avLst/>
          </a:prstGeom>
          <a:noFill/>
          <a:ln w="9525">
            <a:noFill/>
            <a:miter lim="800000"/>
            <a:headEnd/>
            <a:tailEnd/>
          </a:ln>
        </p:spPr>
        <p:txBody>
          <a:bodyPr>
            <a:spAutoFit/>
          </a:bodyPr>
          <a:lstStyle/>
          <a:p>
            <a:r>
              <a:rPr lang="en-US" altLang="zh-CN" b="1">
                <a:solidFill>
                  <a:schemeClr val="tx2"/>
                </a:solidFill>
                <a:latin typeface="楷体_GB2312" pitchFamily="49" charset="-122"/>
                <a:ea typeface="楷体_GB2312" pitchFamily="49" charset="-122"/>
                <a:cs typeface="Arial" charset="0"/>
              </a:rPr>
              <a:t>Internet</a:t>
            </a:r>
          </a:p>
        </p:txBody>
      </p:sp>
      <p:sp>
        <p:nvSpPr>
          <p:cNvPr id="11282" name="TextBox 31"/>
          <p:cNvSpPr txBox="1">
            <a:spLocks noChangeArrowheads="1"/>
          </p:cNvSpPr>
          <p:nvPr/>
        </p:nvSpPr>
        <p:spPr bwMode="auto">
          <a:xfrm>
            <a:off x="5986463" y="2994025"/>
            <a:ext cx="1050288" cy="369332"/>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Arial" charset="0"/>
              </a:rPr>
              <a:t>路由器</a:t>
            </a:r>
            <a:r>
              <a:rPr lang="en-US" altLang="zh-CN" b="1">
                <a:solidFill>
                  <a:schemeClr val="tx2"/>
                </a:solidFill>
                <a:latin typeface="楷体_GB2312" pitchFamily="49" charset="-122"/>
                <a:ea typeface="楷体_GB2312" pitchFamily="49" charset="-122"/>
                <a:cs typeface="Arial" charset="0"/>
              </a:rPr>
              <a:t>A</a:t>
            </a:r>
            <a:endParaRPr lang="zh-CN" altLang="en-US" b="1">
              <a:latin typeface="楷体_GB2312" pitchFamily="49" charset="-122"/>
              <a:ea typeface="楷体_GB2312" pitchFamily="49" charset="-122"/>
              <a:cs typeface="Arial" charset="0"/>
            </a:endParaRPr>
          </a:p>
        </p:txBody>
      </p:sp>
      <p:sp>
        <p:nvSpPr>
          <p:cNvPr id="11283" name="TextBox 32"/>
          <p:cNvSpPr txBox="1">
            <a:spLocks noChangeArrowheads="1"/>
          </p:cNvSpPr>
          <p:nvPr/>
        </p:nvSpPr>
        <p:spPr bwMode="auto">
          <a:xfrm>
            <a:off x="5956301" y="6059488"/>
            <a:ext cx="1034257" cy="369332"/>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Arial" charset="0"/>
              </a:rPr>
              <a:t>路由器</a:t>
            </a:r>
            <a:r>
              <a:rPr lang="en-US" altLang="zh-CN" b="1">
                <a:solidFill>
                  <a:schemeClr val="tx2"/>
                </a:solidFill>
                <a:latin typeface="楷体_GB2312" pitchFamily="49" charset="-122"/>
                <a:ea typeface="楷体_GB2312" pitchFamily="49" charset="-122"/>
                <a:cs typeface="Arial" charset="0"/>
              </a:rPr>
              <a:t>B</a:t>
            </a:r>
            <a:endParaRPr lang="zh-CN" altLang="en-US" b="1">
              <a:latin typeface="楷体_GB2312" pitchFamily="49" charset="-122"/>
              <a:ea typeface="楷体_GB2312" pitchFamily="49" charset="-122"/>
              <a:cs typeface="Arial" charset="0"/>
            </a:endParaRPr>
          </a:p>
        </p:txBody>
      </p:sp>
      <p:pic>
        <p:nvPicPr>
          <p:cNvPr id="11284" name="Picture 6"/>
          <p:cNvPicPr>
            <a:picLocks noChangeArrowheads="1"/>
          </p:cNvPicPr>
          <p:nvPr/>
        </p:nvPicPr>
        <p:blipFill>
          <a:blip r:embed="rId5"/>
          <a:srcRect/>
          <a:stretch>
            <a:fillRect/>
          </a:stretch>
        </p:blipFill>
        <p:spPr bwMode="auto">
          <a:xfrm>
            <a:off x="7818439" y="5699126"/>
            <a:ext cx="1423987" cy="657225"/>
          </a:xfrm>
          <a:prstGeom prst="rect">
            <a:avLst/>
          </a:prstGeom>
          <a:noFill/>
          <a:ln w="9525">
            <a:noFill/>
            <a:miter lim="800000"/>
            <a:headEnd/>
            <a:tailEnd/>
          </a:ln>
        </p:spPr>
      </p:pic>
      <p:sp>
        <p:nvSpPr>
          <p:cNvPr id="11285" name="Text Box 49"/>
          <p:cNvSpPr txBox="1">
            <a:spLocks noChangeArrowheads="1"/>
          </p:cNvSpPr>
          <p:nvPr/>
        </p:nvSpPr>
        <p:spPr bwMode="auto">
          <a:xfrm>
            <a:off x="7964488" y="5840414"/>
            <a:ext cx="1350962" cy="369887"/>
          </a:xfrm>
          <a:prstGeom prst="rect">
            <a:avLst/>
          </a:prstGeom>
          <a:noFill/>
          <a:ln w="9525">
            <a:noFill/>
            <a:miter lim="800000"/>
            <a:headEnd/>
            <a:tailEnd/>
          </a:ln>
        </p:spPr>
        <p:txBody>
          <a:bodyPr>
            <a:spAutoFit/>
          </a:bodyPr>
          <a:lstStyle/>
          <a:p>
            <a:r>
              <a:rPr lang="en-US" altLang="zh-CN" b="1">
                <a:solidFill>
                  <a:schemeClr val="tx2"/>
                </a:solidFill>
                <a:latin typeface="楷体_GB2312" pitchFamily="49" charset="-122"/>
                <a:ea typeface="楷体_GB2312" pitchFamily="49" charset="-122"/>
                <a:cs typeface="Arial" charset="0"/>
              </a:rPr>
              <a:t>Internet</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1"/>
          <p:cNvSpPr>
            <a:spLocks noGrp="1"/>
          </p:cNvSpPr>
          <p:nvPr>
            <p:ph idx="1"/>
          </p:nvPr>
        </p:nvSpPr>
        <p:spPr>
          <a:xfrm>
            <a:off x="1738313" y="1143000"/>
            <a:ext cx="8501062" cy="571500"/>
          </a:xfrm>
        </p:spPr>
        <p:txBody>
          <a:bodyPr>
            <a:normAutofit fontScale="25000" lnSpcReduction="20000"/>
          </a:bodyPr>
          <a:lstStyle/>
          <a:p>
            <a:pPr>
              <a:spcBef>
                <a:spcPts val="675"/>
              </a:spcBef>
            </a:pPr>
            <a:r>
              <a:rPr lang="en-US" altLang="zh-CN"/>
              <a:t>HSRP</a:t>
            </a:r>
            <a:r>
              <a:rPr lang="zh-CN" altLang="en-US"/>
              <a:t>组成员</a:t>
            </a:r>
            <a:endParaRPr lang="en-US" altLang="zh-CN"/>
          </a:p>
          <a:p>
            <a:pPr lvl="1">
              <a:spcBef>
                <a:spcPts val="675"/>
              </a:spcBef>
            </a:pPr>
            <a:r>
              <a:rPr lang="zh-CN" altLang="en-US"/>
              <a:t>活跃路由器</a:t>
            </a:r>
          </a:p>
          <a:p>
            <a:pPr lvl="1">
              <a:spcBef>
                <a:spcPts val="675"/>
              </a:spcBef>
            </a:pPr>
            <a:r>
              <a:rPr lang="zh-CN" altLang="en-US"/>
              <a:t>备份路由器</a:t>
            </a:r>
          </a:p>
          <a:p>
            <a:pPr lvl="1">
              <a:spcBef>
                <a:spcPts val="675"/>
              </a:spcBef>
            </a:pPr>
            <a:r>
              <a:rPr lang="zh-CN" altLang="en-US"/>
              <a:t>虚拟路由器</a:t>
            </a:r>
          </a:p>
          <a:p>
            <a:pPr lvl="1">
              <a:spcBef>
                <a:spcPts val="675"/>
              </a:spcBef>
            </a:pPr>
            <a:r>
              <a:rPr lang="zh-CN" altLang="en-US"/>
              <a:t>其他路由器</a:t>
            </a:r>
          </a:p>
          <a:p>
            <a:pPr>
              <a:spcBef>
                <a:spcPts val="675"/>
              </a:spcBef>
            </a:pPr>
            <a:endParaRPr lang="zh-CN" altLang="en-US"/>
          </a:p>
        </p:txBody>
      </p:sp>
      <p:sp>
        <p:nvSpPr>
          <p:cNvPr id="12291" name="标题 2"/>
          <p:cNvSpPr>
            <a:spLocks noGrp="1"/>
          </p:cNvSpPr>
          <p:nvPr>
            <p:ph type="title"/>
          </p:nvPr>
        </p:nvSpPr>
        <p:spPr/>
        <p:txBody>
          <a:bodyPr/>
          <a:lstStyle/>
          <a:p>
            <a:r>
              <a:rPr lang="en-US" altLang="zh-CN"/>
              <a:t>HSRP</a:t>
            </a:r>
            <a:r>
              <a:rPr lang="zh-CN" altLang="en-US"/>
              <a:t>的相关概念</a:t>
            </a:r>
            <a:r>
              <a:rPr lang="en-US" altLang="zh-CN"/>
              <a:t>5-2</a:t>
            </a:r>
            <a:endParaRPr lang="zh-CN" altLang="en-US"/>
          </a:p>
        </p:txBody>
      </p:sp>
      <p:pic>
        <p:nvPicPr>
          <p:cNvPr id="12292" name="Picture 12"/>
          <p:cNvPicPr>
            <a:picLocks noChangeAspect="1" noChangeArrowheads="1"/>
          </p:cNvPicPr>
          <p:nvPr/>
        </p:nvPicPr>
        <p:blipFill>
          <a:blip r:embed="rId2"/>
          <a:srcRect/>
          <a:stretch>
            <a:fillRect/>
          </a:stretch>
        </p:blipFill>
        <p:spPr bwMode="auto">
          <a:xfrm>
            <a:off x="6224588" y="3333751"/>
            <a:ext cx="627062" cy="531813"/>
          </a:xfrm>
          <a:prstGeom prst="rect">
            <a:avLst/>
          </a:prstGeom>
          <a:noFill/>
          <a:ln w="9525">
            <a:noFill/>
            <a:miter lim="800000"/>
            <a:headEnd/>
            <a:tailEnd/>
          </a:ln>
        </p:spPr>
      </p:pic>
      <p:pic>
        <p:nvPicPr>
          <p:cNvPr id="12293" name="Picture 12"/>
          <p:cNvPicPr>
            <a:picLocks noChangeAspect="1" noChangeArrowheads="1"/>
          </p:cNvPicPr>
          <p:nvPr/>
        </p:nvPicPr>
        <p:blipFill>
          <a:blip r:embed="rId2"/>
          <a:srcRect/>
          <a:stretch>
            <a:fillRect/>
          </a:stretch>
        </p:blipFill>
        <p:spPr bwMode="auto">
          <a:xfrm>
            <a:off x="7970838" y="3333751"/>
            <a:ext cx="627062" cy="531813"/>
          </a:xfrm>
          <a:prstGeom prst="rect">
            <a:avLst/>
          </a:prstGeom>
          <a:noFill/>
          <a:ln w="9525">
            <a:noFill/>
            <a:miter lim="800000"/>
            <a:headEnd/>
            <a:tailEnd/>
          </a:ln>
        </p:spPr>
      </p:pic>
      <p:cxnSp>
        <p:nvCxnSpPr>
          <p:cNvPr id="12294" name="直接连接符 98"/>
          <p:cNvCxnSpPr>
            <a:cxnSpLocks noChangeShapeType="1"/>
          </p:cNvCxnSpPr>
          <p:nvPr/>
        </p:nvCxnSpPr>
        <p:spPr bwMode="auto">
          <a:xfrm rot="10800000">
            <a:off x="6851650" y="3598864"/>
            <a:ext cx="1119188" cy="1587"/>
          </a:xfrm>
          <a:prstGeom prst="line">
            <a:avLst/>
          </a:prstGeom>
          <a:noFill/>
          <a:ln w="25400" algn="ctr">
            <a:solidFill>
              <a:schemeClr val="tx2"/>
            </a:solidFill>
            <a:round/>
            <a:headEnd/>
            <a:tailEnd/>
          </a:ln>
        </p:spPr>
      </p:cxnSp>
      <p:cxnSp>
        <p:nvCxnSpPr>
          <p:cNvPr id="12295" name="直接连接符 167"/>
          <p:cNvCxnSpPr>
            <a:cxnSpLocks noChangeShapeType="1"/>
          </p:cNvCxnSpPr>
          <p:nvPr/>
        </p:nvCxnSpPr>
        <p:spPr bwMode="auto">
          <a:xfrm rot="16200000" flipV="1">
            <a:off x="7656513" y="2705100"/>
            <a:ext cx="730250" cy="527050"/>
          </a:xfrm>
          <a:prstGeom prst="line">
            <a:avLst/>
          </a:prstGeom>
          <a:noFill/>
          <a:ln w="25400" algn="ctr">
            <a:solidFill>
              <a:schemeClr val="tx2"/>
            </a:solidFill>
            <a:round/>
            <a:headEnd/>
            <a:tailEnd/>
          </a:ln>
        </p:spPr>
      </p:cxnSp>
      <p:cxnSp>
        <p:nvCxnSpPr>
          <p:cNvPr id="12296" name="直接连接符 98"/>
          <p:cNvCxnSpPr>
            <a:cxnSpLocks noChangeShapeType="1"/>
          </p:cNvCxnSpPr>
          <p:nvPr/>
        </p:nvCxnSpPr>
        <p:spPr bwMode="auto">
          <a:xfrm rot="16200000" flipH="1">
            <a:off x="7206457" y="4955382"/>
            <a:ext cx="261937" cy="0"/>
          </a:xfrm>
          <a:prstGeom prst="line">
            <a:avLst/>
          </a:prstGeom>
          <a:noFill/>
          <a:ln w="25400" algn="ctr">
            <a:solidFill>
              <a:schemeClr val="tx2"/>
            </a:solidFill>
            <a:round/>
            <a:headEnd/>
            <a:tailEnd/>
          </a:ln>
        </p:spPr>
      </p:cxnSp>
      <p:pic>
        <p:nvPicPr>
          <p:cNvPr id="12297" name="Picture 26"/>
          <p:cNvPicPr>
            <a:picLocks noChangeAspect="1" noChangeArrowheads="1"/>
          </p:cNvPicPr>
          <p:nvPr/>
        </p:nvPicPr>
        <p:blipFill>
          <a:blip r:embed="rId3"/>
          <a:srcRect/>
          <a:stretch>
            <a:fillRect/>
          </a:stretch>
        </p:blipFill>
        <p:spPr bwMode="auto">
          <a:xfrm>
            <a:off x="7118350" y="5086350"/>
            <a:ext cx="438150" cy="414338"/>
          </a:xfrm>
          <a:prstGeom prst="rect">
            <a:avLst/>
          </a:prstGeom>
          <a:noFill/>
          <a:ln w="9525">
            <a:noFill/>
            <a:miter lim="800000"/>
            <a:headEnd/>
            <a:tailEnd/>
          </a:ln>
        </p:spPr>
      </p:pic>
      <p:pic>
        <p:nvPicPr>
          <p:cNvPr id="12298" name="Picture 12"/>
          <p:cNvPicPr>
            <a:picLocks noChangeAspect="1" noChangeArrowheads="1"/>
          </p:cNvPicPr>
          <p:nvPr/>
        </p:nvPicPr>
        <p:blipFill>
          <a:blip r:embed="rId2">
            <a:lum bright="70000" contrast="-70000"/>
          </a:blip>
          <a:srcRect/>
          <a:stretch>
            <a:fillRect/>
          </a:stretch>
        </p:blipFill>
        <p:spPr bwMode="auto">
          <a:xfrm>
            <a:off x="7210426" y="3078164"/>
            <a:ext cx="474663" cy="403225"/>
          </a:xfrm>
          <a:prstGeom prst="rect">
            <a:avLst/>
          </a:prstGeom>
          <a:noFill/>
          <a:ln w="9525">
            <a:noFill/>
            <a:miter lim="800000"/>
            <a:headEnd/>
            <a:tailEnd/>
          </a:ln>
        </p:spPr>
      </p:pic>
      <p:cxnSp>
        <p:nvCxnSpPr>
          <p:cNvPr id="12299" name="直接连接符 98"/>
          <p:cNvCxnSpPr>
            <a:cxnSpLocks noChangeShapeType="1"/>
          </p:cNvCxnSpPr>
          <p:nvPr/>
        </p:nvCxnSpPr>
        <p:spPr bwMode="auto">
          <a:xfrm rot="5400000" flipH="1" flipV="1">
            <a:off x="7648576" y="3865563"/>
            <a:ext cx="636587" cy="636588"/>
          </a:xfrm>
          <a:prstGeom prst="line">
            <a:avLst/>
          </a:prstGeom>
          <a:noFill/>
          <a:ln w="25400" algn="ctr">
            <a:solidFill>
              <a:schemeClr val="tx2"/>
            </a:solidFill>
            <a:round/>
            <a:headEnd/>
            <a:tailEnd/>
          </a:ln>
        </p:spPr>
      </p:cxnSp>
      <p:cxnSp>
        <p:nvCxnSpPr>
          <p:cNvPr id="12300" name="直接连接符 98"/>
          <p:cNvCxnSpPr>
            <a:cxnSpLocks noChangeShapeType="1"/>
          </p:cNvCxnSpPr>
          <p:nvPr/>
        </p:nvCxnSpPr>
        <p:spPr bwMode="auto">
          <a:xfrm rot="5400000">
            <a:off x="6453982" y="2650332"/>
            <a:ext cx="766762" cy="600075"/>
          </a:xfrm>
          <a:prstGeom prst="line">
            <a:avLst/>
          </a:prstGeom>
          <a:noFill/>
          <a:ln w="25400" algn="ctr">
            <a:solidFill>
              <a:schemeClr val="tx2"/>
            </a:solidFill>
            <a:round/>
            <a:headEnd/>
            <a:tailEnd/>
          </a:ln>
        </p:spPr>
      </p:cxnSp>
      <p:pic>
        <p:nvPicPr>
          <p:cNvPr id="12301" name="Picture 6"/>
          <p:cNvPicPr>
            <a:picLocks noChangeArrowheads="1"/>
          </p:cNvPicPr>
          <p:nvPr/>
        </p:nvPicPr>
        <p:blipFill>
          <a:blip r:embed="rId4"/>
          <a:srcRect/>
          <a:stretch>
            <a:fillRect/>
          </a:stretch>
        </p:blipFill>
        <p:spPr bwMode="auto">
          <a:xfrm>
            <a:off x="6310314" y="1785938"/>
            <a:ext cx="2103437" cy="838200"/>
          </a:xfrm>
          <a:prstGeom prst="rect">
            <a:avLst/>
          </a:prstGeom>
          <a:noFill/>
          <a:ln w="9525">
            <a:noFill/>
            <a:miter lim="800000"/>
            <a:headEnd/>
            <a:tailEnd/>
          </a:ln>
        </p:spPr>
      </p:pic>
      <p:sp>
        <p:nvSpPr>
          <p:cNvPr id="14" name="Text Box 49"/>
          <p:cNvSpPr txBox="1">
            <a:spLocks noChangeArrowheads="1"/>
          </p:cNvSpPr>
          <p:nvPr/>
        </p:nvSpPr>
        <p:spPr bwMode="auto">
          <a:xfrm>
            <a:off x="6953251" y="2000250"/>
            <a:ext cx="1285875" cy="400050"/>
          </a:xfrm>
          <a:prstGeom prst="rect">
            <a:avLst/>
          </a:prstGeom>
          <a:noFill/>
          <a:ln w="9525">
            <a:noFill/>
            <a:miter lim="800000"/>
            <a:headEnd/>
            <a:tailEnd/>
          </a:ln>
          <a:effectLst/>
        </p:spPr>
        <p:txBody>
          <a:bodyPr>
            <a:spAutoFit/>
          </a:bodyPr>
          <a:lstStyle/>
          <a:p>
            <a:pPr>
              <a:defRPr/>
            </a:pPr>
            <a:r>
              <a:rPr lang="en-US" altLang="zh-CN" sz="2000" b="1" dirty="0">
                <a:solidFill>
                  <a:schemeClr val="tx2"/>
                </a:solidFill>
                <a:cs typeface="Times New Roman" pitchFamily="18" charset="0"/>
              </a:rPr>
              <a:t>Internet</a:t>
            </a:r>
          </a:p>
        </p:txBody>
      </p:sp>
      <p:pic>
        <p:nvPicPr>
          <p:cNvPr id="12303" name="Picture 10"/>
          <p:cNvPicPr>
            <a:picLocks noChangeAspect="1" noChangeArrowheads="1"/>
          </p:cNvPicPr>
          <p:nvPr/>
        </p:nvPicPr>
        <p:blipFill>
          <a:blip r:embed="rId5"/>
          <a:srcRect/>
          <a:stretch>
            <a:fillRect/>
          </a:stretch>
        </p:blipFill>
        <p:spPr bwMode="auto">
          <a:xfrm>
            <a:off x="6918325" y="4465639"/>
            <a:ext cx="838200" cy="358775"/>
          </a:xfrm>
          <a:prstGeom prst="rect">
            <a:avLst/>
          </a:prstGeom>
          <a:noFill/>
          <a:ln w="9525">
            <a:noFill/>
            <a:miter lim="800000"/>
            <a:headEnd/>
            <a:tailEnd/>
          </a:ln>
        </p:spPr>
      </p:pic>
      <p:cxnSp>
        <p:nvCxnSpPr>
          <p:cNvPr id="12304" name="直接连接符 98"/>
          <p:cNvCxnSpPr>
            <a:cxnSpLocks noChangeShapeType="1"/>
          </p:cNvCxnSpPr>
          <p:nvPr/>
        </p:nvCxnSpPr>
        <p:spPr bwMode="auto">
          <a:xfrm rot="16200000" flipV="1">
            <a:off x="6515894" y="3845719"/>
            <a:ext cx="636588" cy="635000"/>
          </a:xfrm>
          <a:prstGeom prst="line">
            <a:avLst/>
          </a:prstGeom>
          <a:noFill/>
          <a:ln w="25400" algn="ctr">
            <a:solidFill>
              <a:schemeClr val="tx2"/>
            </a:solidFill>
            <a:round/>
            <a:headEnd/>
            <a:tailEnd/>
          </a:ln>
        </p:spPr>
      </p:cxnSp>
      <p:sp>
        <p:nvSpPr>
          <p:cNvPr id="20" name="AutoShape 52"/>
          <p:cNvSpPr>
            <a:spLocks noChangeArrowheads="1"/>
          </p:cNvSpPr>
          <p:nvPr/>
        </p:nvSpPr>
        <p:spPr bwMode="auto">
          <a:xfrm>
            <a:off x="8024814" y="2571751"/>
            <a:ext cx="1571625" cy="474663"/>
          </a:xfrm>
          <a:prstGeom prst="wedgeRoundRectCallout">
            <a:avLst>
              <a:gd name="adj1" fmla="val -75627"/>
              <a:gd name="adj2" fmla="val 64937"/>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虚拟路由器</a:t>
            </a:r>
          </a:p>
        </p:txBody>
      </p:sp>
      <p:sp>
        <p:nvSpPr>
          <p:cNvPr id="21" name="AutoShape 52"/>
          <p:cNvSpPr>
            <a:spLocks noChangeArrowheads="1"/>
          </p:cNvSpPr>
          <p:nvPr/>
        </p:nvSpPr>
        <p:spPr bwMode="auto">
          <a:xfrm>
            <a:off x="4310064" y="3643313"/>
            <a:ext cx="1571625" cy="474662"/>
          </a:xfrm>
          <a:prstGeom prst="wedgeRoundRectCallout">
            <a:avLst>
              <a:gd name="adj1" fmla="val 68441"/>
              <a:gd name="adj2" fmla="val -56611"/>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活跃路由器</a:t>
            </a:r>
          </a:p>
        </p:txBody>
      </p:sp>
      <p:sp>
        <p:nvSpPr>
          <p:cNvPr id="22" name="AutoShape 52"/>
          <p:cNvSpPr>
            <a:spLocks noChangeArrowheads="1"/>
          </p:cNvSpPr>
          <p:nvPr/>
        </p:nvSpPr>
        <p:spPr bwMode="auto">
          <a:xfrm>
            <a:off x="8739189" y="3786188"/>
            <a:ext cx="1571625" cy="474662"/>
          </a:xfrm>
          <a:prstGeom prst="wedgeRoundRectCallout">
            <a:avLst>
              <a:gd name="adj1" fmla="val -56233"/>
              <a:gd name="adj2" fmla="val -88718"/>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备份路由器</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1"/>
          <p:cNvSpPr>
            <a:spLocks noGrp="1"/>
          </p:cNvSpPr>
          <p:nvPr>
            <p:ph idx="1"/>
          </p:nvPr>
        </p:nvSpPr>
        <p:spPr>
          <a:xfrm>
            <a:off x="1738313" y="1143000"/>
            <a:ext cx="8501062" cy="1214438"/>
          </a:xfrm>
        </p:spPr>
        <p:txBody>
          <a:bodyPr/>
          <a:lstStyle/>
          <a:p>
            <a:pPr>
              <a:spcBef>
                <a:spcPts val="675"/>
              </a:spcBef>
            </a:pPr>
            <a:r>
              <a:rPr lang="en-US" altLang="zh-CN"/>
              <a:t>HSRP</a:t>
            </a:r>
            <a:r>
              <a:rPr lang="zh-CN" altLang="en-US"/>
              <a:t>原理</a:t>
            </a:r>
          </a:p>
        </p:txBody>
      </p:sp>
      <p:sp>
        <p:nvSpPr>
          <p:cNvPr id="13315" name="标题 2"/>
          <p:cNvSpPr>
            <a:spLocks noGrp="1"/>
          </p:cNvSpPr>
          <p:nvPr>
            <p:ph type="title"/>
          </p:nvPr>
        </p:nvSpPr>
        <p:spPr/>
        <p:txBody>
          <a:bodyPr/>
          <a:lstStyle/>
          <a:p>
            <a:r>
              <a:rPr lang="en-US" altLang="zh-CN"/>
              <a:t>HSRP</a:t>
            </a:r>
            <a:r>
              <a:rPr lang="zh-CN" altLang="en-US"/>
              <a:t>的相关概念</a:t>
            </a:r>
            <a:r>
              <a:rPr lang="en-US" altLang="zh-CN"/>
              <a:t>5-3</a:t>
            </a:r>
            <a:endParaRPr lang="zh-CN" altLang="en-US"/>
          </a:p>
        </p:txBody>
      </p:sp>
      <p:cxnSp>
        <p:nvCxnSpPr>
          <p:cNvPr id="13316" name="直接连接符 47"/>
          <p:cNvCxnSpPr>
            <a:cxnSpLocks noChangeShapeType="1"/>
          </p:cNvCxnSpPr>
          <p:nvPr/>
        </p:nvCxnSpPr>
        <p:spPr bwMode="auto">
          <a:xfrm rot="5400000">
            <a:off x="3515520" y="2953545"/>
            <a:ext cx="1476375" cy="1587"/>
          </a:xfrm>
          <a:prstGeom prst="line">
            <a:avLst/>
          </a:prstGeom>
          <a:noFill/>
          <a:ln w="44450" algn="ctr">
            <a:solidFill>
              <a:srgbClr val="FF3300"/>
            </a:solidFill>
            <a:round/>
            <a:headEnd/>
            <a:tailEnd/>
          </a:ln>
        </p:spPr>
      </p:cxnSp>
      <p:cxnSp>
        <p:nvCxnSpPr>
          <p:cNvPr id="13317" name="直接连接符 48"/>
          <p:cNvCxnSpPr>
            <a:cxnSpLocks noChangeShapeType="1"/>
          </p:cNvCxnSpPr>
          <p:nvPr/>
        </p:nvCxnSpPr>
        <p:spPr bwMode="auto">
          <a:xfrm rot="5400000">
            <a:off x="7347745" y="2969420"/>
            <a:ext cx="1476375" cy="1587"/>
          </a:xfrm>
          <a:prstGeom prst="line">
            <a:avLst/>
          </a:prstGeom>
          <a:noFill/>
          <a:ln w="44450" algn="ctr">
            <a:solidFill>
              <a:srgbClr val="FF3300"/>
            </a:solidFill>
            <a:round/>
            <a:headEnd/>
            <a:tailEnd/>
          </a:ln>
        </p:spPr>
      </p:cxnSp>
      <p:sp>
        <p:nvSpPr>
          <p:cNvPr id="6" name="AutoShape 66"/>
          <p:cNvSpPr>
            <a:spLocks noChangeArrowheads="1"/>
          </p:cNvSpPr>
          <p:nvPr/>
        </p:nvSpPr>
        <p:spPr bwMode="auto">
          <a:xfrm>
            <a:off x="6954838" y="5591175"/>
            <a:ext cx="1752600" cy="730250"/>
          </a:xfrm>
          <a:prstGeom prst="wedgeRoundRectCallout">
            <a:avLst>
              <a:gd name="adj1" fmla="val -69463"/>
              <a:gd name="adj2" fmla="val 43898"/>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anchor="ctr" anchorCtr="1"/>
          <a:lstStyle/>
          <a:p>
            <a:r>
              <a:rPr lang="zh-CN" altLang="en-US" b="1">
                <a:solidFill>
                  <a:schemeClr val="tx2"/>
                </a:solidFill>
                <a:latin typeface="楷体_GB2312" pitchFamily="49" charset="-122"/>
                <a:ea typeface="楷体_GB2312" pitchFamily="49" charset="-122"/>
                <a:cs typeface="Times New Roman" pitchFamily="18" charset="0"/>
              </a:rPr>
              <a:t>我需要到达</a:t>
            </a:r>
          </a:p>
          <a:p>
            <a:r>
              <a:rPr lang="en-US" altLang="zh-CN" b="1">
                <a:solidFill>
                  <a:schemeClr val="tx2"/>
                </a:solidFill>
                <a:latin typeface="楷体_GB2312" pitchFamily="49" charset="-122"/>
                <a:ea typeface="楷体_GB2312" pitchFamily="49" charset="-122"/>
                <a:cs typeface="Times New Roman" pitchFamily="18" charset="0"/>
              </a:rPr>
              <a:t>172.16.3.127</a:t>
            </a:r>
          </a:p>
        </p:txBody>
      </p:sp>
      <p:sp>
        <p:nvSpPr>
          <p:cNvPr id="13319" name="Line 10"/>
          <p:cNvSpPr>
            <a:spLocks noChangeShapeType="1"/>
          </p:cNvSpPr>
          <p:nvPr/>
        </p:nvSpPr>
        <p:spPr bwMode="auto">
          <a:xfrm>
            <a:off x="4783138" y="2449513"/>
            <a:ext cx="0" cy="0"/>
          </a:xfrm>
          <a:prstGeom prst="line">
            <a:avLst/>
          </a:prstGeom>
          <a:noFill/>
          <a:ln w="9525">
            <a:solidFill>
              <a:schemeClr val="tx1"/>
            </a:solidFill>
            <a:round/>
            <a:headEnd/>
            <a:tailEnd/>
          </a:ln>
        </p:spPr>
        <p:txBody>
          <a:bodyPr/>
          <a:lstStyle/>
          <a:p>
            <a:endParaRPr lang="zh-CN" altLang="en-US"/>
          </a:p>
        </p:txBody>
      </p:sp>
      <p:sp>
        <p:nvSpPr>
          <p:cNvPr id="13320" name="Text Box 24"/>
          <p:cNvSpPr txBox="1">
            <a:spLocks noChangeArrowheads="1"/>
          </p:cNvSpPr>
          <p:nvPr/>
        </p:nvSpPr>
        <p:spPr bwMode="auto">
          <a:xfrm>
            <a:off x="1989139" y="3419475"/>
            <a:ext cx="2000869" cy="1477328"/>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A</a:t>
            </a:r>
          </a:p>
          <a:p>
            <a:r>
              <a:rPr lang="zh-CN" altLang="en-US" b="1">
                <a:solidFill>
                  <a:schemeClr val="tx2"/>
                </a:solidFill>
                <a:latin typeface="楷体_GB2312" pitchFamily="49" charset="-122"/>
                <a:ea typeface="楷体_GB2312" pitchFamily="49" charset="-122"/>
                <a:cs typeface="Times New Roman" pitchFamily="18" charset="0"/>
              </a:rPr>
              <a:t>优先级</a:t>
            </a:r>
            <a:r>
              <a:rPr lang="en-US" altLang="zh-CN" b="1">
                <a:solidFill>
                  <a:schemeClr val="tx2"/>
                </a:solidFill>
                <a:latin typeface="楷体_GB2312" pitchFamily="49" charset="-122"/>
                <a:ea typeface="楷体_GB2312" pitchFamily="49" charset="-122"/>
                <a:cs typeface="Times New Roman" pitchFamily="18" charset="0"/>
              </a:rPr>
              <a:t>200</a:t>
            </a:r>
          </a:p>
          <a:p>
            <a:r>
              <a:rPr lang="zh-CN" altLang="en-US" b="1">
                <a:solidFill>
                  <a:schemeClr val="tx2"/>
                </a:solidFill>
                <a:latin typeface="楷体_GB2312" pitchFamily="49" charset="-122"/>
                <a:ea typeface="楷体_GB2312" pitchFamily="49" charset="-122"/>
                <a:cs typeface="Times New Roman" pitchFamily="18" charset="0"/>
              </a:rPr>
              <a:t>（活跃路由器）</a:t>
            </a:r>
          </a:p>
          <a:p>
            <a:r>
              <a:rPr lang="en-US" altLang="zh-CN" b="1">
                <a:solidFill>
                  <a:schemeClr val="tx2"/>
                </a:solidFill>
                <a:latin typeface="楷体_GB2312" pitchFamily="49" charset="-122"/>
                <a:ea typeface="楷体_GB2312" pitchFamily="49" charset="-122"/>
                <a:cs typeface="Times New Roman" pitchFamily="18" charset="0"/>
              </a:rPr>
              <a:t>172.16.10.82</a:t>
            </a:r>
          </a:p>
          <a:p>
            <a:r>
              <a:rPr lang="en-US" altLang="zh-CN" b="1">
                <a:solidFill>
                  <a:schemeClr val="tx2"/>
                </a:solidFill>
                <a:latin typeface="楷体_GB2312" pitchFamily="49" charset="-122"/>
                <a:ea typeface="楷体_GB2312" pitchFamily="49" charset="-122"/>
                <a:cs typeface="Times New Roman" pitchFamily="18" charset="0"/>
              </a:rPr>
              <a:t>0010.f6b3.d000</a:t>
            </a:r>
          </a:p>
        </p:txBody>
      </p:sp>
      <p:sp>
        <p:nvSpPr>
          <p:cNvPr id="13321" name="Text Box 26"/>
          <p:cNvSpPr txBox="1">
            <a:spLocks noChangeArrowheads="1"/>
          </p:cNvSpPr>
          <p:nvPr/>
        </p:nvSpPr>
        <p:spPr bwMode="auto">
          <a:xfrm>
            <a:off x="8631239" y="3414713"/>
            <a:ext cx="2039341" cy="1477328"/>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B</a:t>
            </a:r>
          </a:p>
          <a:p>
            <a:r>
              <a:rPr lang="zh-CN" altLang="en-US" b="1">
                <a:solidFill>
                  <a:schemeClr val="tx2"/>
                </a:solidFill>
                <a:latin typeface="楷体_GB2312" pitchFamily="49" charset="-122"/>
                <a:ea typeface="楷体_GB2312" pitchFamily="49" charset="-122"/>
                <a:cs typeface="Times New Roman" pitchFamily="18" charset="0"/>
              </a:rPr>
              <a:t>优先级</a:t>
            </a:r>
            <a:r>
              <a:rPr lang="en-US" altLang="zh-CN" b="1">
                <a:solidFill>
                  <a:schemeClr val="tx2"/>
                </a:solidFill>
                <a:latin typeface="楷体_GB2312" pitchFamily="49" charset="-122"/>
                <a:ea typeface="楷体_GB2312" pitchFamily="49" charset="-122"/>
                <a:cs typeface="Times New Roman" pitchFamily="18" charset="0"/>
              </a:rPr>
              <a:t>150</a:t>
            </a:r>
          </a:p>
          <a:p>
            <a:r>
              <a:rPr lang="zh-CN" altLang="en-US" b="1">
                <a:solidFill>
                  <a:schemeClr val="tx2"/>
                </a:solidFill>
                <a:latin typeface="楷体_GB2312" pitchFamily="49" charset="-122"/>
                <a:ea typeface="楷体_GB2312" pitchFamily="49" charset="-122"/>
                <a:cs typeface="Times New Roman" pitchFamily="18" charset="0"/>
              </a:rPr>
              <a:t>（备份路由器）</a:t>
            </a:r>
          </a:p>
          <a:p>
            <a:r>
              <a:rPr lang="en-US" altLang="zh-CN" b="1">
                <a:solidFill>
                  <a:schemeClr val="tx2"/>
                </a:solidFill>
                <a:latin typeface="楷体_GB2312" pitchFamily="49" charset="-122"/>
                <a:ea typeface="楷体_GB2312" pitchFamily="49" charset="-122"/>
                <a:cs typeface="Times New Roman" pitchFamily="18" charset="0"/>
              </a:rPr>
              <a:t>172.16.10.169</a:t>
            </a:r>
          </a:p>
          <a:p>
            <a:r>
              <a:rPr lang="en-US" altLang="zh-CN" b="1">
                <a:solidFill>
                  <a:schemeClr val="tx2"/>
                </a:solidFill>
                <a:latin typeface="楷体_GB2312" pitchFamily="49" charset="-122"/>
                <a:ea typeface="楷体_GB2312" pitchFamily="49" charset="-122"/>
                <a:cs typeface="Times New Roman" pitchFamily="18" charset="0"/>
              </a:rPr>
              <a:t>0010.0b79.5800</a:t>
            </a:r>
          </a:p>
        </p:txBody>
      </p:sp>
      <p:sp>
        <p:nvSpPr>
          <p:cNvPr id="13322" name="Text Box 30"/>
          <p:cNvSpPr txBox="1">
            <a:spLocks noChangeArrowheads="1"/>
          </p:cNvSpPr>
          <p:nvPr/>
        </p:nvSpPr>
        <p:spPr bwMode="auto">
          <a:xfrm>
            <a:off x="5384800" y="2665414"/>
            <a:ext cx="1808508" cy="646331"/>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虚拟路由器</a:t>
            </a:r>
          </a:p>
          <a:p>
            <a:r>
              <a:rPr lang="en-US" altLang="zh-CN" b="1">
                <a:solidFill>
                  <a:schemeClr val="tx2"/>
                </a:solidFill>
                <a:latin typeface="楷体_GB2312" pitchFamily="49" charset="-122"/>
                <a:ea typeface="楷体_GB2312" pitchFamily="49" charset="-122"/>
                <a:cs typeface="Times New Roman" pitchFamily="18" charset="0"/>
              </a:rPr>
              <a:t>172.16.10.110</a:t>
            </a:r>
          </a:p>
        </p:txBody>
      </p:sp>
      <p:sp>
        <p:nvSpPr>
          <p:cNvPr id="13323" name="Text Box 31"/>
          <p:cNvSpPr txBox="1">
            <a:spLocks noChangeArrowheads="1"/>
          </p:cNvSpPr>
          <p:nvPr/>
        </p:nvSpPr>
        <p:spPr bwMode="auto">
          <a:xfrm>
            <a:off x="5384801" y="3760788"/>
            <a:ext cx="1920719" cy="369332"/>
          </a:xfrm>
          <a:prstGeom prst="rect">
            <a:avLst/>
          </a:prstGeom>
          <a:noFill/>
          <a:ln w="9525">
            <a:noFill/>
            <a:miter lim="800000"/>
            <a:headEnd/>
            <a:tailEnd/>
          </a:ln>
        </p:spPr>
        <p:txBody>
          <a:bodyPr wrap="none">
            <a:spAutoFit/>
          </a:bodyPr>
          <a:lstStyle/>
          <a:p>
            <a:r>
              <a:rPr lang="en-US" altLang="zh-CN" b="1">
                <a:solidFill>
                  <a:schemeClr val="tx2"/>
                </a:solidFill>
                <a:latin typeface="楷体_GB2312" pitchFamily="49" charset="-122"/>
                <a:ea typeface="楷体_GB2312" pitchFamily="49" charset="-122"/>
                <a:cs typeface="Times New Roman" pitchFamily="18" charset="0"/>
              </a:rPr>
              <a:t>0000.0c07.ac2f</a:t>
            </a:r>
          </a:p>
        </p:txBody>
      </p:sp>
      <p:cxnSp>
        <p:nvCxnSpPr>
          <p:cNvPr id="13324" name="直接连接符 98"/>
          <p:cNvCxnSpPr>
            <a:cxnSpLocks noChangeShapeType="1"/>
          </p:cNvCxnSpPr>
          <p:nvPr/>
        </p:nvCxnSpPr>
        <p:spPr bwMode="auto">
          <a:xfrm rot="5400000">
            <a:off x="5676107" y="5109369"/>
            <a:ext cx="474662" cy="0"/>
          </a:xfrm>
          <a:prstGeom prst="line">
            <a:avLst/>
          </a:prstGeom>
          <a:noFill/>
          <a:ln w="15875" algn="ctr">
            <a:solidFill>
              <a:schemeClr val="tx2"/>
            </a:solidFill>
            <a:round/>
            <a:headEnd/>
            <a:tailEnd/>
          </a:ln>
        </p:spPr>
      </p:cxnSp>
      <p:pic>
        <p:nvPicPr>
          <p:cNvPr id="13325" name="Picture 12"/>
          <p:cNvPicPr>
            <a:picLocks noChangeAspect="1" noChangeArrowheads="1"/>
          </p:cNvPicPr>
          <p:nvPr/>
        </p:nvPicPr>
        <p:blipFill>
          <a:blip r:embed="rId2">
            <a:lum bright="70000" contrast="-70000"/>
          </a:blip>
          <a:srcRect/>
          <a:stretch>
            <a:fillRect/>
          </a:stretch>
        </p:blipFill>
        <p:spPr bwMode="auto">
          <a:xfrm>
            <a:off x="5891214" y="3216275"/>
            <a:ext cx="771525" cy="654050"/>
          </a:xfrm>
          <a:prstGeom prst="rect">
            <a:avLst/>
          </a:prstGeom>
          <a:noFill/>
          <a:ln w="9525">
            <a:noFill/>
            <a:miter lim="800000"/>
            <a:headEnd/>
            <a:tailEnd/>
          </a:ln>
        </p:spPr>
      </p:pic>
      <p:grpSp>
        <p:nvGrpSpPr>
          <p:cNvPr id="2" name="组合 41"/>
          <p:cNvGrpSpPr>
            <a:grpSpLocks/>
          </p:cNvGrpSpPr>
          <p:nvPr/>
        </p:nvGrpSpPr>
        <p:grpSpPr bwMode="auto">
          <a:xfrm>
            <a:off x="3486150" y="1428750"/>
            <a:ext cx="5257800" cy="933450"/>
            <a:chOff x="1906551" y="1128681"/>
            <a:chExt cx="4746690" cy="933453"/>
          </a:xfrm>
        </p:grpSpPr>
        <p:pic>
          <p:nvPicPr>
            <p:cNvPr id="13344" name="Picture 6"/>
            <p:cNvPicPr>
              <a:picLocks noChangeArrowheads="1"/>
            </p:cNvPicPr>
            <p:nvPr/>
          </p:nvPicPr>
          <p:blipFill>
            <a:blip r:embed="rId3"/>
            <a:srcRect/>
            <a:stretch>
              <a:fillRect/>
            </a:stretch>
          </p:blipFill>
          <p:spPr bwMode="auto">
            <a:xfrm>
              <a:off x="1906551" y="1347759"/>
              <a:ext cx="4746690" cy="714375"/>
            </a:xfrm>
            <a:prstGeom prst="rect">
              <a:avLst/>
            </a:prstGeom>
            <a:noFill/>
            <a:ln w="9525">
              <a:noFill/>
              <a:miter lim="800000"/>
              <a:headEnd/>
              <a:tailEnd/>
            </a:ln>
          </p:spPr>
        </p:pic>
        <p:sp>
          <p:nvSpPr>
            <p:cNvPr id="14369" name="Text Box 49"/>
            <p:cNvSpPr txBox="1">
              <a:spLocks noChangeArrowheads="1"/>
            </p:cNvSpPr>
            <p:nvPr/>
          </p:nvSpPr>
          <p:spPr bwMode="auto">
            <a:xfrm>
              <a:off x="5082476" y="1603346"/>
              <a:ext cx="1205304" cy="369888"/>
            </a:xfrm>
            <a:prstGeom prst="rect">
              <a:avLst/>
            </a:prstGeom>
            <a:noFill/>
            <a:ln w="9525">
              <a:noFill/>
              <a:miter lim="800000"/>
              <a:headEnd/>
              <a:tailEnd/>
            </a:ln>
          </p:spPr>
          <p:txBody>
            <a:bodyPr>
              <a:spAutoFit/>
            </a:bodyPr>
            <a:lstStyle/>
            <a:p>
              <a:pPr>
                <a:defRPr/>
              </a:pPr>
              <a:r>
                <a:rPr lang="en-US" altLang="zh-CN" b="1" dirty="0">
                  <a:solidFill>
                    <a:schemeClr val="tx2"/>
                  </a:solidFill>
                  <a:ea typeface="楷体_GB2312" pitchFamily="49" charset="-122"/>
                  <a:cs typeface="Times New Roman" pitchFamily="18" charset="0"/>
                </a:rPr>
                <a:t>Internet</a:t>
              </a:r>
            </a:p>
          </p:txBody>
        </p:sp>
        <p:pic>
          <p:nvPicPr>
            <p:cNvPr id="13346" name="Picture 20" descr="black_server"/>
            <p:cNvPicPr>
              <a:picLocks noChangeAspect="1" noChangeArrowheads="1"/>
            </p:cNvPicPr>
            <p:nvPr/>
          </p:nvPicPr>
          <p:blipFill>
            <a:blip r:embed="rId4"/>
            <a:srcRect/>
            <a:stretch>
              <a:fillRect/>
            </a:stretch>
          </p:blipFill>
          <p:spPr bwMode="auto">
            <a:xfrm>
              <a:off x="2709837" y="1128681"/>
              <a:ext cx="615351" cy="657234"/>
            </a:xfrm>
            <a:prstGeom prst="rect">
              <a:avLst/>
            </a:prstGeom>
            <a:noFill/>
            <a:ln w="9525">
              <a:noFill/>
              <a:miter lim="800000"/>
              <a:headEnd/>
              <a:tailEnd/>
            </a:ln>
          </p:spPr>
        </p:pic>
        <p:sp>
          <p:nvSpPr>
            <p:cNvPr id="13347" name="Text Box 20"/>
            <p:cNvSpPr txBox="1">
              <a:spLocks noChangeArrowheads="1"/>
            </p:cNvSpPr>
            <p:nvPr/>
          </p:nvSpPr>
          <p:spPr bwMode="auto">
            <a:xfrm>
              <a:off x="3276122" y="1477924"/>
              <a:ext cx="1760499" cy="365125"/>
            </a:xfrm>
            <a:prstGeom prst="rect">
              <a:avLst/>
            </a:prstGeom>
            <a:noFill/>
            <a:ln w="6350" algn="ctr">
              <a:noFill/>
              <a:miter lim="800000"/>
              <a:headEnd/>
              <a:tailEnd/>
            </a:ln>
            <a:effectLst>
              <a:prstShdw prst="shdw17" dist="17961" dir="2700000">
                <a:srgbClr val="8A7B99"/>
              </a:prstShdw>
            </a:effectLst>
          </p:spPr>
          <p:txBody>
            <a:bodyPr anchor="ctr"/>
            <a:lstStyle/>
            <a:p>
              <a:r>
                <a:rPr lang="en-US" altLang="zh-CN" b="1">
                  <a:solidFill>
                    <a:schemeClr val="tx2"/>
                  </a:solidFill>
                  <a:latin typeface="楷体_GB2312" pitchFamily="49" charset="-122"/>
                  <a:ea typeface="楷体_GB2312" pitchFamily="49" charset="-122"/>
                  <a:cs typeface="Times New Roman" pitchFamily="18" charset="0"/>
                </a:rPr>
                <a:t>172.16.3.127</a:t>
              </a:r>
            </a:p>
          </p:txBody>
        </p:sp>
      </p:grpSp>
      <p:cxnSp>
        <p:nvCxnSpPr>
          <p:cNvPr id="13327" name="直接连接符 43"/>
          <p:cNvCxnSpPr>
            <a:cxnSpLocks noChangeShapeType="1"/>
          </p:cNvCxnSpPr>
          <p:nvPr/>
        </p:nvCxnSpPr>
        <p:spPr bwMode="auto">
          <a:xfrm>
            <a:off x="4252913" y="5116514"/>
            <a:ext cx="3816350" cy="1587"/>
          </a:xfrm>
          <a:prstGeom prst="line">
            <a:avLst/>
          </a:prstGeom>
          <a:noFill/>
          <a:ln w="44450" algn="ctr">
            <a:solidFill>
              <a:srgbClr val="FF3300"/>
            </a:solidFill>
            <a:round/>
            <a:headEnd/>
            <a:tailEnd/>
          </a:ln>
        </p:spPr>
      </p:cxnSp>
      <p:cxnSp>
        <p:nvCxnSpPr>
          <p:cNvPr id="13328" name="直接连接符 44"/>
          <p:cNvCxnSpPr>
            <a:cxnSpLocks noChangeShapeType="1"/>
          </p:cNvCxnSpPr>
          <p:nvPr/>
        </p:nvCxnSpPr>
        <p:spPr bwMode="auto">
          <a:xfrm rot="5400000">
            <a:off x="7680326" y="4745039"/>
            <a:ext cx="792163" cy="1587"/>
          </a:xfrm>
          <a:prstGeom prst="line">
            <a:avLst/>
          </a:prstGeom>
          <a:noFill/>
          <a:ln w="44450" algn="ctr">
            <a:solidFill>
              <a:srgbClr val="FF3300"/>
            </a:solidFill>
            <a:round/>
            <a:headEnd/>
            <a:tailEnd/>
          </a:ln>
        </p:spPr>
      </p:cxnSp>
      <p:cxnSp>
        <p:nvCxnSpPr>
          <p:cNvPr id="13329" name="直接连接符 45"/>
          <p:cNvCxnSpPr>
            <a:cxnSpLocks noChangeShapeType="1"/>
          </p:cNvCxnSpPr>
          <p:nvPr/>
        </p:nvCxnSpPr>
        <p:spPr bwMode="auto">
          <a:xfrm rot="5400000">
            <a:off x="3857626" y="4745039"/>
            <a:ext cx="792163" cy="1587"/>
          </a:xfrm>
          <a:prstGeom prst="line">
            <a:avLst/>
          </a:prstGeom>
          <a:noFill/>
          <a:ln w="44450" algn="ctr">
            <a:solidFill>
              <a:srgbClr val="FF3300"/>
            </a:solidFill>
            <a:round/>
            <a:headEnd/>
            <a:tailEnd/>
          </a:ln>
        </p:spPr>
      </p:cxnSp>
      <p:pic>
        <p:nvPicPr>
          <p:cNvPr id="13330" name="Picture 4"/>
          <p:cNvPicPr>
            <a:picLocks noChangeAspect="1" noChangeArrowheads="1"/>
          </p:cNvPicPr>
          <p:nvPr/>
        </p:nvPicPr>
        <p:blipFill>
          <a:blip r:embed="rId5"/>
          <a:srcRect/>
          <a:stretch>
            <a:fillRect/>
          </a:stretch>
        </p:blipFill>
        <p:spPr bwMode="auto">
          <a:xfrm>
            <a:off x="5603876" y="4824413"/>
            <a:ext cx="1185863" cy="525462"/>
          </a:xfrm>
          <a:prstGeom prst="rect">
            <a:avLst/>
          </a:prstGeom>
          <a:noFill/>
          <a:ln w="9525">
            <a:noFill/>
            <a:miter lim="800000"/>
            <a:headEnd/>
            <a:tailEnd/>
          </a:ln>
        </p:spPr>
      </p:pic>
      <p:cxnSp>
        <p:nvCxnSpPr>
          <p:cNvPr id="13331" name="直接连接符 46"/>
          <p:cNvCxnSpPr>
            <a:cxnSpLocks noChangeShapeType="1"/>
          </p:cNvCxnSpPr>
          <p:nvPr/>
        </p:nvCxnSpPr>
        <p:spPr bwMode="auto">
          <a:xfrm rot="5400000">
            <a:off x="5800726" y="5694364"/>
            <a:ext cx="792163" cy="1587"/>
          </a:xfrm>
          <a:prstGeom prst="line">
            <a:avLst/>
          </a:prstGeom>
          <a:noFill/>
          <a:ln w="44450" algn="ctr">
            <a:solidFill>
              <a:srgbClr val="FF3300"/>
            </a:solidFill>
            <a:round/>
            <a:headEnd/>
            <a:tailEnd/>
          </a:ln>
        </p:spPr>
      </p:cxnSp>
      <p:pic>
        <p:nvPicPr>
          <p:cNvPr id="13332" name="Picture 12"/>
          <p:cNvPicPr>
            <a:picLocks noChangeAspect="1" noChangeArrowheads="1"/>
          </p:cNvPicPr>
          <p:nvPr/>
        </p:nvPicPr>
        <p:blipFill>
          <a:blip r:embed="rId2"/>
          <a:srcRect/>
          <a:stretch>
            <a:fillRect/>
          </a:stretch>
        </p:blipFill>
        <p:spPr bwMode="auto">
          <a:xfrm>
            <a:off x="7578726" y="3656013"/>
            <a:ext cx="1019175" cy="863600"/>
          </a:xfrm>
          <a:prstGeom prst="rect">
            <a:avLst/>
          </a:prstGeom>
          <a:noFill/>
          <a:ln w="9525">
            <a:noFill/>
            <a:miter lim="800000"/>
            <a:headEnd/>
            <a:tailEnd/>
          </a:ln>
        </p:spPr>
      </p:pic>
      <p:pic>
        <p:nvPicPr>
          <p:cNvPr id="13333" name="Picture 12"/>
          <p:cNvPicPr>
            <a:picLocks noChangeAspect="1" noChangeArrowheads="1"/>
          </p:cNvPicPr>
          <p:nvPr/>
        </p:nvPicPr>
        <p:blipFill>
          <a:blip r:embed="rId2"/>
          <a:srcRect/>
          <a:stretch>
            <a:fillRect/>
          </a:stretch>
        </p:blipFill>
        <p:spPr bwMode="auto">
          <a:xfrm>
            <a:off x="3749676" y="3656013"/>
            <a:ext cx="1019175" cy="863600"/>
          </a:xfrm>
          <a:prstGeom prst="rect">
            <a:avLst/>
          </a:prstGeom>
          <a:noFill/>
          <a:ln w="9525">
            <a:noFill/>
            <a:miter lim="800000"/>
            <a:headEnd/>
            <a:tailEnd/>
          </a:ln>
        </p:spPr>
      </p:pic>
      <p:pic>
        <p:nvPicPr>
          <p:cNvPr id="13334" name="Picture 26"/>
          <p:cNvPicPr>
            <a:picLocks noChangeAspect="1" noChangeArrowheads="1"/>
          </p:cNvPicPr>
          <p:nvPr/>
        </p:nvPicPr>
        <p:blipFill>
          <a:blip r:embed="rId6"/>
          <a:srcRect/>
          <a:stretch>
            <a:fillRect/>
          </a:stretch>
        </p:blipFill>
        <p:spPr bwMode="auto">
          <a:xfrm>
            <a:off x="5848350" y="5976938"/>
            <a:ext cx="712788" cy="673100"/>
          </a:xfrm>
          <a:prstGeom prst="rect">
            <a:avLst/>
          </a:prstGeom>
          <a:noFill/>
          <a:ln w="9525">
            <a:noFill/>
            <a:miter lim="800000"/>
            <a:headEnd/>
            <a:tailEnd/>
          </a:ln>
        </p:spPr>
      </p:pic>
      <p:grpSp>
        <p:nvGrpSpPr>
          <p:cNvPr id="3" name="组合 141"/>
          <p:cNvGrpSpPr>
            <a:grpSpLocks/>
          </p:cNvGrpSpPr>
          <p:nvPr/>
        </p:nvGrpSpPr>
        <p:grpSpPr bwMode="auto">
          <a:xfrm rot="5400000" flipV="1">
            <a:off x="3431382" y="3418682"/>
            <a:ext cx="3505200" cy="1570037"/>
            <a:chOff x="6208899" y="1676372"/>
            <a:chExt cx="1941375" cy="585800"/>
          </a:xfrm>
        </p:grpSpPr>
        <p:cxnSp>
          <p:nvCxnSpPr>
            <p:cNvPr id="13341" name="直接连接符 136"/>
            <p:cNvCxnSpPr>
              <a:cxnSpLocks noChangeShapeType="1"/>
            </p:cNvCxnSpPr>
            <p:nvPr/>
          </p:nvCxnSpPr>
          <p:spPr bwMode="auto">
            <a:xfrm>
              <a:off x="6208899" y="1676372"/>
              <a:ext cx="1395704" cy="1588"/>
            </a:xfrm>
            <a:prstGeom prst="line">
              <a:avLst/>
            </a:prstGeom>
            <a:noFill/>
            <a:ln w="44450" algn="ctr">
              <a:solidFill>
                <a:srgbClr val="7030A0"/>
              </a:solidFill>
              <a:prstDash val="dash"/>
              <a:round/>
              <a:headEnd type="triangle" w="med" len="lg"/>
              <a:tailEnd type="none" w="lg" len="med"/>
            </a:ln>
          </p:spPr>
        </p:cxnSp>
        <p:cxnSp>
          <p:nvCxnSpPr>
            <p:cNvPr id="13342" name="直接连接符 138"/>
            <p:cNvCxnSpPr>
              <a:cxnSpLocks noChangeShapeType="1"/>
            </p:cNvCxnSpPr>
            <p:nvPr/>
          </p:nvCxnSpPr>
          <p:spPr bwMode="auto">
            <a:xfrm rot="5400000">
              <a:off x="7311269" y="1967686"/>
              <a:ext cx="584208" cy="1588"/>
            </a:xfrm>
            <a:prstGeom prst="line">
              <a:avLst/>
            </a:prstGeom>
            <a:noFill/>
            <a:ln w="44450" algn="ctr">
              <a:solidFill>
                <a:srgbClr val="7030A0"/>
              </a:solidFill>
              <a:prstDash val="dash"/>
              <a:round/>
              <a:headEnd/>
              <a:tailEnd/>
            </a:ln>
          </p:spPr>
        </p:cxnSp>
        <p:cxnSp>
          <p:nvCxnSpPr>
            <p:cNvPr id="13343" name="直接连接符 140"/>
            <p:cNvCxnSpPr>
              <a:cxnSpLocks noChangeShapeType="1"/>
            </p:cNvCxnSpPr>
            <p:nvPr/>
          </p:nvCxnSpPr>
          <p:spPr bwMode="auto">
            <a:xfrm>
              <a:off x="7602579" y="2260584"/>
              <a:ext cx="547695" cy="1588"/>
            </a:xfrm>
            <a:prstGeom prst="line">
              <a:avLst/>
            </a:prstGeom>
            <a:noFill/>
            <a:ln w="44450" algn="ctr">
              <a:solidFill>
                <a:srgbClr val="7030A0"/>
              </a:solidFill>
              <a:prstDash val="dash"/>
              <a:round/>
              <a:headEnd/>
              <a:tailEnd/>
            </a:ln>
          </p:spPr>
        </p:cxnSp>
      </p:grpSp>
      <p:sp>
        <p:nvSpPr>
          <p:cNvPr id="31" name="AutoShape 66"/>
          <p:cNvSpPr>
            <a:spLocks noChangeArrowheads="1"/>
          </p:cNvSpPr>
          <p:nvPr/>
        </p:nvSpPr>
        <p:spPr bwMode="auto">
          <a:xfrm>
            <a:off x="1952626" y="5226050"/>
            <a:ext cx="1971675" cy="730250"/>
          </a:xfrm>
          <a:prstGeom prst="wedgeRoundRectCallout">
            <a:avLst>
              <a:gd name="adj1" fmla="val 61051"/>
              <a:gd name="adj2" fmla="val -83106"/>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anchor="ctr" anchorCtr="1"/>
          <a:lstStyle/>
          <a:p>
            <a:r>
              <a:rPr lang="zh-CN" altLang="en-US" b="1">
                <a:solidFill>
                  <a:schemeClr val="tx2"/>
                </a:solidFill>
                <a:latin typeface="楷体_GB2312" pitchFamily="49" charset="-122"/>
                <a:ea typeface="楷体_GB2312" pitchFamily="49" charset="-122"/>
                <a:cs typeface="Times New Roman" pitchFamily="18" charset="0"/>
              </a:rPr>
              <a:t>使用</a:t>
            </a:r>
            <a:r>
              <a:rPr lang="en-US" altLang="zh-CN" b="1">
                <a:solidFill>
                  <a:schemeClr val="tx2"/>
                </a:solidFill>
                <a:latin typeface="楷体_GB2312" pitchFamily="49" charset="-122"/>
                <a:ea typeface="楷体_GB2312" pitchFamily="49" charset="-122"/>
                <a:cs typeface="Times New Roman" pitchFamily="18" charset="0"/>
              </a:rPr>
              <a:t>MAC</a:t>
            </a:r>
            <a:r>
              <a:rPr lang="zh-CN" altLang="en-US" b="1">
                <a:solidFill>
                  <a:schemeClr val="tx2"/>
                </a:solidFill>
                <a:latin typeface="楷体_GB2312" pitchFamily="49" charset="-122"/>
                <a:ea typeface="楷体_GB2312" pitchFamily="49" charset="-122"/>
                <a:cs typeface="Times New Roman" pitchFamily="18" charset="0"/>
              </a:rPr>
              <a:t>地址</a:t>
            </a:r>
          </a:p>
          <a:p>
            <a:r>
              <a:rPr lang="en-US" altLang="zh-CN" b="1">
                <a:solidFill>
                  <a:schemeClr val="tx2"/>
                </a:solidFill>
                <a:latin typeface="楷体_GB2312" pitchFamily="49" charset="-122"/>
                <a:ea typeface="楷体_GB2312" pitchFamily="49" charset="-122"/>
                <a:cs typeface="Times New Roman" pitchFamily="18" charset="0"/>
              </a:rPr>
              <a:t>0000.0c07.ac2f</a:t>
            </a:r>
          </a:p>
        </p:txBody>
      </p:sp>
      <p:grpSp>
        <p:nvGrpSpPr>
          <p:cNvPr id="4" name="组合 141"/>
          <p:cNvGrpSpPr>
            <a:grpSpLocks/>
          </p:cNvGrpSpPr>
          <p:nvPr/>
        </p:nvGrpSpPr>
        <p:grpSpPr bwMode="auto">
          <a:xfrm rot="5400000" flipV="1">
            <a:off x="4285456" y="4280694"/>
            <a:ext cx="1468438" cy="1898650"/>
            <a:chOff x="6208899" y="1676372"/>
            <a:chExt cx="1369081" cy="708411"/>
          </a:xfrm>
        </p:grpSpPr>
        <p:cxnSp>
          <p:nvCxnSpPr>
            <p:cNvPr id="13338" name="直接连接符 136"/>
            <p:cNvCxnSpPr>
              <a:cxnSpLocks noChangeShapeType="1"/>
            </p:cNvCxnSpPr>
            <p:nvPr/>
          </p:nvCxnSpPr>
          <p:spPr bwMode="auto">
            <a:xfrm>
              <a:off x="6208899" y="1676372"/>
              <a:ext cx="839525" cy="1588"/>
            </a:xfrm>
            <a:prstGeom prst="line">
              <a:avLst/>
            </a:prstGeom>
            <a:noFill/>
            <a:ln w="44450" algn="ctr">
              <a:solidFill>
                <a:srgbClr val="FF9900"/>
              </a:solidFill>
              <a:prstDash val="dash"/>
              <a:round/>
              <a:headEnd/>
              <a:tailEnd/>
            </a:ln>
          </p:spPr>
        </p:cxnSp>
        <p:cxnSp>
          <p:nvCxnSpPr>
            <p:cNvPr id="13339" name="直接连接符 138"/>
            <p:cNvCxnSpPr>
              <a:cxnSpLocks noChangeShapeType="1"/>
            </p:cNvCxnSpPr>
            <p:nvPr/>
          </p:nvCxnSpPr>
          <p:spPr bwMode="auto">
            <a:xfrm rot="5400000">
              <a:off x="6710365" y="2024811"/>
              <a:ext cx="698457" cy="1588"/>
            </a:xfrm>
            <a:prstGeom prst="line">
              <a:avLst/>
            </a:prstGeom>
            <a:noFill/>
            <a:ln w="44450" algn="ctr">
              <a:solidFill>
                <a:srgbClr val="FF9900"/>
              </a:solidFill>
              <a:prstDash val="dash"/>
              <a:round/>
              <a:headEnd/>
              <a:tailEnd/>
            </a:ln>
          </p:spPr>
        </p:cxnSp>
        <p:cxnSp>
          <p:nvCxnSpPr>
            <p:cNvPr id="13340" name="直接连接符 140"/>
            <p:cNvCxnSpPr>
              <a:cxnSpLocks noChangeShapeType="1"/>
            </p:cNvCxnSpPr>
            <p:nvPr/>
          </p:nvCxnSpPr>
          <p:spPr bwMode="auto">
            <a:xfrm>
              <a:off x="7074265" y="2383195"/>
              <a:ext cx="503715" cy="1588"/>
            </a:xfrm>
            <a:prstGeom prst="line">
              <a:avLst/>
            </a:prstGeom>
            <a:noFill/>
            <a:ln w="44450" algn="ctr">
              <a:solidFill>
                <a:srgbClr val="FF9900"/>
              </a:solidFill>
              <a:prstDash val="dash"/>
              <a:round/>
              <a:headEnd/>
              <a:tailEnd type="triangle" w="med" len="lg"/>
            </a:ln>
          </p:spPr>
        </p:cxn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10"/>
          <p:cNvSpPr txBox="1">
            <a:spLocks noChangeArrowheads="1"/>
          </p:cNvSpPr>
          <p:nvPr/>
        </p:nvSpPr>
        <p:spPr bwMode="auto">
          <a:xfrm>
            <a:off x="6942138" y="3810000"/>
            <a:ext cx="1905000" cy="482600"/>
          </a:xfrm>
          <a:prstGeom prst="rect">
            <a:avLst/>
          </a:prstGeom>
          <a:gradFill rotWithShape="1">
            <a:gsLst>
              <a:gs pos="0">
                <a:srgbClr val="CCECFF"/>
              </a:gs>
              <a:gs pos="100000">
                <a:srgbClr val="FFFFFF"/>
              </a:gs>
            </a:gsLst>
            <a:lin ang="5400000" scaled="1"/>
          </a:gradFill>
          <a:ln w="12700" algn="ctr">
            <a:solidFill>
              <a:srgbClr val="FF0000"/>
            </a:solidFill>
            <a:miter lim="800000"/>
            <a:headEnd/>
            <a:tailEnd/>
          </a:ln>
        </p:spPr>
        <p:txBody>
          <a:bodyPr anchor="ctr"/>
          <a:lstStyle/>
          <a:p>
            <a:r>
              <a:rPr lang="en-US" altLang="zh-CN" sz="2400" b="1">
                <a:solidFill>
                  <a:schemeClr val="tx2"/>
                </a:solidFill>
                <a:ea typeface="楷体_GB2312" pitchFamily="49" charset="-122"/>
              </a:rPr>
              <a:t>2f</a:t>
            </a:r>
          </a:p>
        </p:txBody>
      </p:sp>
      <p:sp>
        <p:nvSpPr>
          <p:cNvPr id="2" name="内容占位符 1"/>
          <p:cNvSpPr>
            <a:spLocks noGrp="1"/>
          </p:cNvSpPr>
          <p:nvPr>
            <p:ph idx="1"/>
          </p:nvPr>
        </p:nvSpPr>
        <p:spPr>
          <a:xfrm>
            <a:off x="1738313" y="1143000"/>
            <a:ext cx="8501062" cy="928688"/>
          </a:xfrm>
        </p:spPr>
        <p:txBody>
          <a:bodyPr/>
          <a:lstStyle/>
          <a:p>
            <a:pPr>
              <a:spcBef>
                <a:spcPts val="675"/>
              </a:spcBef>
            </a:pPr>
            <a:r>
              <a:rPr lang="en-US" altLang="zh-CN"/>
              <a:t>HSRP</a:t>
            </a:r>
            <a:r>
              <a:rPr lang="zh-CN" altLang="en-US"/>
              <a:t>虚拟</a:t>
            </a:r>
            <a:r>
              <a:rPr lang="en-US" altLang="zh-CN"/>
              <a:t>MAC</a:t>
            </a:r>
            <a:r>
              <a:rPr lang="zh-CN" altLang="en-US"/>
              <a:t>地址</a:t>
            </a:r>
          </a:p>
        </p:txBody>
      </p:sp>
      <p:sp>
        <p:nvSpPr>
          <p:cNvPr id="14340" name="标题 2"/>
          <p:cNvSpPr>
            <a:spLocks noGrp="1"/>
          </p:cNvSpPr>
          <p:nvPr>
            <p:ph type="title"/>
          </p:nvPr>
        </p:nvSpPr>
        <p:spPr/>
        <p:txBody>
          <a:bodyPr/>
          <a:lstStyle/>
          <a:p>
            <a:r>
              <a:rPr lang="en-US" altLang="zh-CN"/>
              <a:t>HSRP</a:t>
            </a:r>
            <a:r>
              <a:rPr lang="zh-CN" altLang="en-US"/>
              <a:t>的相关概念</a:t>
            </a:r>
            <a:r>
              <a:rPr lang="en-US" altLang="zh-CN"/>
              <a:t>5-4</a:t>
            </a:r>
            <a:endParaRPr lang="zh-CN" altLang="en-US"/>
          </a:p>
        </p:txBody>
      </p:sp>
      <p:sp>
        <p:nvSpPr>
          <p:cNvPr id="4" name="矩形 3"/>
          <p:cNvSpPr/>
          <p:nvPr/>
        </p:nvSpPr>
        <p:spPr bwMode="auto">
          <a:xfrm>
            <a:off x="3675063" y="1911350"/>
            <a:ext cx="5002212" cy="1752600"/>
          </a:xfrm>
          <a:prstGeom prst="rect">
            <a:avLst/>
          </a:prstGeom>
          <a:solidFill>
            <a:schemeClr val="bg2">
              <a:alpha val="50000"/>
            </a:schemeClr>
          </a:solidFill>
          <a:ln w="9525" cap="flat" cmpd="sng" algn="ctr">
            <a:solidFill>
              <a:schemeClr val="bg2"/>
            </a:solidFill>
            <a:prstDash val="solid"/>
            <a:round/>
            <a:headEnd type="none" w="med" len="med"/>
            <a:tailEnd type="none" w="med" len="med"/>
          </a:ln>
          <a:effectLst/>
        </p:spPr>
        <p:txBody>
          <a:bodyPr wrap="none" anchor="ctr" anchorCtr="1"/>
          <a:lstStyle/>
          <a:p>
            <a:pPr>
              <a:defRPr/>
            </a:pPr>
            <a:endParaRPr lang="zh-CN" altLang="en-US" b="1">
              <a:solidFill>
                <a:schemeClr val="tx2"/>
              </a:solidFill>
              <a:effectLst>
                <a:outerShdw blurRad="38100" dist="38100" dir="2700000" algn="tl">
                  <a:srgbClr val="000000">
                    <a:alpha val="43137"/>
                  </a:srgbClr>
                </a:outerShdw>
              </a:effectLst>
              <a:latin typeface="楷体_GB2312" pitchFamily="49" charset="-122"/>
              <a:ea typeface="楷体_GB2312" pitchFamily="49" charset="-122"/>
            </a:endParaRPr>
          </a:p>
        </p:txBody>
      </p:sp>
      <p:cxnSp>
        <p:nvCxnSpPr>
          <p:cNvPr id="5" name="直接连接符 92"/>
          <p:cNvCxnSpPr>
            <a:cxnSpLocks noChangeShapeType="1"/>
          </p:cNvCxnSpPr>
          <p:nvPr/>
        </p:nvCxnSpPr>
        <p:spPr bwMode="auto">
          <a:xfrm>
            <a:off x="4770439" y="2495550"/>
            <a:ext cx="2771775" cy="1588"/>
          </a:xfrm>
          <a:prstGeom prst="line">
            <a:avLst/>
          </a:prstGeom>
          <a:noFill/>
          <a:ln w="44450" algn="ctr">
            <a:solidFill>
              <a:schemeClr val="tx2"/>
            </a:solidFill>
            <a:round/>
            <a:headEnd/>
            <a:tailEnd/>
          </a:ln>
        </p:spPr>
      </p:cxnSp>
      <p:sp>
        <p:nvSpPr>
          <p:cNvPr id="6" name="Text Box 24"/>
          <p:cNvSpPr txBox="1">
            <a:spLocks noChangeArrowheads="1"/>
          </p:cNvSpPr>
          <p:nvPr/>
        </p:nvSpPr>
        <p:spPr bwMode="auto">
          <a:xfrm>
            <a:off x="1885951" y="1728788"/>
            <a:ext cx="2000869" cy="1477328"/>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A</a:t>
            </a:r>
          </a:p>
          <a:p>
            <a:r>
              <a:rPr lang="zh-CN" altLang="en-US" b="1">
                <a:solidFill>
                  <a:schemeClr val="tx2"/>
                </a:solidFill>
                <a:latin typeface="楷体_GB2312" pitchFamily="49" charset="-122"/>
                <a:ea typeface="楷体_GB2312" pitchFamily="49" charset="-122"/>
                <a:cs typeface="Times New Roman" pitchFamily="18" charset="0"/>
              </a:rPr>
              <a:t>优先级</a:t>
            </a:r>
            <a:r>
              <a:rPr lang="en-US" altLang="zh-CN" b="1">
                <a:solidFill>
                  <a:schemeClr val="tx2"/>
                </a:solidFill>
                <a:latin typeface="楷体_GB2312" pitchFamily="49" charset="-122"/>
                <a:ea typeface="楷体_GB2312" pitchFamily="49" charset="-122"/>
                <a:cs typeface="Times New Roman" pitchFamily="18" charset="0"/>
              </a:rPr>
              <a:t>200</a:t>
            </a:r>
          </a:p>
          <a:p>
            <a:r>
              <a:rPr lang="zh-CN" altLang="en-US" b="1">
                <a:solidFill>
                  <a:schemeClr val="tx2"/>
                </a:solidFill>
                <a:latin typeface="楷体_GB2312" pitchFamily="49" charset="-122"/>
                <a:ea typeface="楷体_GB2312" pitchFamily="49" charset="-122"/>
                <a:cs typeface="Times New Roman" pitchFamily="18" charset="0"/>
              </a:rPr>
              <a:t>（活跃路由器）</a:t>
            </a:r>
          </a:p>
          <a:p>
            <a:r>
              <a:rPr lang="en-US" altLang="zh-CN" b="1">
                <a:solidFill>
                  <a:schemeClr val="tx2"/>
                </a:solidFill>
                <a:latin typeface="楷体_GB2312" pitchFamily="49" charset="-122"/>
                <a:ea typeface="楷体_GB2312" pitchFamily="49" charset="-122"/>
                <a:cs typeface="Times New Roman" pitchFamily="18" charset="0"/>
              </a:rPr>
              <a:t>172.16.10.82</a:t>
            </a:r>
          </a:p>
          <a:p>
            <a:r>
              <a:rPr lang="en-US" altLang="zh-CN" b="1">
                <a:solidFill>
                  <a:schemeClr val="tx2"/>
                </a:solidFill>
                <a:latin typeface="楷体_GB2312" pitchFamily="49" charset="-122"/>
                <a:ea typeface="楷体_GB2312" pitchFamily="49" charset="-122"/>
                <a:cs typeface="Times New Roman" pitchFamily="18" charset="0"/>
              </a:rPr>
              <a:t>0010.f6b3.d000</a:t>
            </a:r>
          </a:p>
        </p:txBody>
      </p:sp>
      <p:sp>
        <p:nvSpPr>
          <p:cNvPr id="7" name="Text Box 26"/>
          <p:cNvSpPr txBox="1">
            <a:spLocks noChangeArrowheads="1"/>
          </p:cNvSpPr>
          <p:nvPr/>
        </p:nvSpPr>
        <p:spPr bwMode="auto">
          <a:xfrm>
            <a:off x="8631239" y="1728788"/>
            <a:ext cx="2039341" cy="1477328"/>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B</a:t>
            </a:r>
          </a:p>
          <a:p>
            <a:r>
              <a:rPr lang="zh-CN" altLang="en-US" b="1">
                <a:solidFill>
                  <a:schemeClr val="tx2"/>
                </a:solidFill>
                <a:latin typeface="楷体_GB2312" pitchFamily="49" charset="-122"/>
                <a:ea typeface="楷体_GB2312" pitchFamily="49" charset="-122"/>
                <a:cs typeface="Times New Roman" pitchFamily="18" charset="0"/>
              </a:rPr>
              <a:t>优先级</a:t>
            </a:r>
            <a:r>
              <a:rPr lang="en-US" altLang="zh-CN" b="1">
                <a:solidFill>
                  <a:schemeClr val="tx2"/>
                </a:solidFill>
                <a:latin typeface="楷体_GB2312" pitchFamily="49" charset="-122"/>
                <a:ea typeface="楷体_GB2312" pitchFamily="49" charset="-122"/>
                <a:cs typeface="Times New Roman" pitchFamily="18" charset="0"/>
              </a:rPr>
              <a:t>150</a:t>
            </a:r>
          </a:p>
          <a:p>
            <a:r>
              <a:rPr lang="zh-CN" altLang="en-US" b="1">
                <a:solidFill>
                  <a:schemeClr val="tx2"/>
                </a:solidFill>
                <a:latin typeface="楷体_GB2312" pitchFamily="49" charset="-122"/>
                <a:ea typeface="楷体_GB2312" pitchFamily="49" charset="-122"/>
                <a:cs typeface="Times New Roman" pitchFamily="18" charset="0"/>
              </a:rPr>
              <a:t>（备份路由器）</a:t>
            </a:r>
          </a:p>
          <a:p>
            <a:r>
              <a:rPr lang="en-US" altLang="zh-CN" b="1">
                <a:solidFill>
                  <a:schemeClr val="tx2"/>
                </a:solidFill>
                <a:latin typeface="楷体_GB2312" pitchFamily="49" charset="-122"/>
                <a:ea typeface="楷体_GB2312" pitchFamily="49" charset="-122"/>
                <a:cs typeface="Times New Roman" pitchFamily="18" charset="0"/>
              </a:rPr>
              <a:t>172.16.10.169</a:t>
            </a:r>
          </a:p>
          <a:p>
            <a:r>
              <a:rPr lang="en-US" altLang="zh-CN" b="1">
                <a:solidFill>
                  <a:schemeClr val="tx2"/>
                </a:solidFill>
                <a:latin typeface="楷体_GB2312" pitchFamily="49" charset="-122"/>
                <a:ea typeface="楷体_GB2312" pitchFamily="49" charset="-122"/>
                <a:cs typeface="Times New Roman" pitchFamily="18" charset="0"/>
              </a:rPr>
              <a:t>0010.0b79.5800</a:t>
            </a:r>
          </a:p>
        </p:txBody>
      </p:sp>
      <p:sp>
        <p:nvSpPr>
          <p:cNvPr id="8" name="Text Box 30"/>
          <p:cNvSpPr txBox="1">
            <a:spLocks noChangeArrowheads="1"/>
          </p:cNvSpPr>
          <p:nvPr/>
        </p:nvSpPr>
        <p:spPr bwMode="auto">
          <a:xfrm>
            <a:off x="5437188" y="1885951"/>
            <a:ext cx="1808508" cy="646331"/>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虚拟路由器</a:t>
            </a:r>
          </a:p>
          <a:p>
            <a:r>
              <a:rPr lang="en-US" altLang="zh-CN" b="1">
                <a:solidFill>
                  <a:schemeClr val="tx2"/>
                </a:solidFill>
                <a:latin typeface="楷体_GB2312" pitchFamily="49" charset="-122"/>
                <a:ea typeface="楷体_GB2312" pitchFamily="49" charset="-122"/>
                <a:cs typeface="Times New Roman" pitchFamily="18" charset="0"/>
              </a:rPr>
              <a:t>172.16.10.110</a:t>
            </a:r>
          </a:p>
        </p:txBody>
      </p:sp>
      <p:sp>
        <p:nvSpPr>
          <p:cNvPr id="9" name="Text Box 31"/>
          <p:cNvSpPr txBox="1">
            <a:spLocks noChangeArrowheads="1"/>
          </p:cNvSpPr>
          <p:nvPr/>
        </p:nvSpPr>
        <p:spPr bwMode="auto">
          <a:xfrm>
            <a:off x="5354639" y="3108325"/>
            <a:ext cx="1920719" cy="369332"/>
          </a:xfrm>
          <a:prstGeom prst="rect">
            <a:avLst/>
          </a:prstGeom>
          <a:noFill/>
          <a:ln w="9525">
            <a:noFill/>
            <a:miter lim="800000"/>
            <a:headEnd/>
            <a:tailEnd/>
          </a:ln>
        </p:spPr>
        <p:txBody>
          <a:bodyPr wrap="none">
            <a:spAutoFit/>
          </a:bodyPr>
          <a:lstStyle/>
          <a:p>
            <a:r>
              <a:rPr lang="en-US" altLang="zh-CN" b="1">
                <a:solidFill>
                  <a:schemeClr val="tx2"/>
                </a:solidFill>
                <a:latin typeface="楷体_GB2312" pitchFamily="49" charset="-122"/>
                <a:ea typeface="楷体_GB2312" pitchFamily="49" charset="-122"/>
                <a:cs typeface="Times New Roman" pitchFamily="18" charset="0"/>
              </a:rPr>
              <a:t>0000.0c07.ac2f</a:t>
            </a:r>
          </a:p>
        </p:txBody>
      </p:sp>
      <p:sp>
        <p:nvSpPr>
          <p:cNvPr id="10" name="Text Box 12"/>
          <p:cNvSpPr txBox="1">
            <a:spLocks noChangeArrowheads="1"/>
          </p:cNvSpPr>
          <p:nvPr/>
        </p:nvSpPr>
        <p:spPr bwMode="auto">
          <a:xfrm>
            <a:off x="5646738" y="3367088"/>
            <a:ext cx="1343638" cy="369332"/>
          </a:xfrm>
          <a:prstGeom prst="rect">
            <a:avLst/>
          </a:prstGeom>
          <a:noFill/>
          <a:ln w="9525">
            <a:noFill/>
            <a:miter lim="800000"/>
            <a:headEnd/>
            <a:tailEnd/>
          </a:ln>
        </p:spPr>
        <p:txBody>
          <a:bodyPr wrap="none">
            <a:spAutoFit/>
          </a:bodyPr>
          <a:lstStyle/>
          <a:p>
            <a:r>
              <a:rPr lang="en-US" altLang="zh-CN" b="1">
                <a:solidFill>
                  <a:schemeClr val="tx2"/>
                </a:solidFill>
                <a:latin typeface="楷体_GB2312" pitchFamily="49" charset="-122"/>
                <a:ea typeface="楷体_GB2312" pitchFamily="49" charset="-122"/>
                <a:cs typeface="Times New Roman" pitchFamily="18" charset="0"/>
              </a:rPr>
              <a:t>HSRP</a:t>
            </a:r>
            <a:r>
              <a:rPr lang="zh-CN" altLang="en-US" b="1">
                <a:solidFill>
                  <a:schemeClr val="tx2"/>
                </a:solidFill>
                <a:latin typeface="楷体_GB2312" pitchFamily="49" charset="-122"/>
                <a:ea typeface="楷体_GB2312" pitchFamily="49" charset="-122"/>
                <a:cs typeface="Times New Roman" pitchFamily="18" charset="0"/>
              </a:rPr>
              <a:t>组</a:t>
            </a:r>
            <a:r>
              <a:rPr lang="en-US" altLang="zh-CN" b="1">
                <a:solidFill>
                  <a:schemeClr val="tx2"/>
                </a:solidFill>
                <a:latin typeface="楷体_GB2312" pitchFamily="49" charset="-122"/>
                <a:ea typeface="楷体_GB2312" pitchFamily="49" charset="-122"/>
                <a:cs typeface="Times New Roman" pitchFamily="18" charset="0"/>
              </a:rPr>
              <a:t>47</a:t>
            </a:r>
          </a:p>
        </p:txBody>
      </p:sp>
      <p:pic>
        <p:nvPicPr>
          <p:cNvPr id="11" name="Picture 12"/>
          <p:cNvPicPr>
            <a:picLocks noChangeAspect="1" noChangeArrowheads="1"/>
          </p:cNvPicPr>
          <p:nvPr/>
        </p:nvPicPr>
        <p:blipFill>
          <a:blip r:embed="rId2">
            <a:lum bright="70000" contrast="-70000"/>
          </a:blip>
          <a:srcRect/>
          <a:stretch>
            <a:fillRect/>
          </a:stretch>
        </p:blipFill>
        <p:spPr bwMode="auto">
          <a:xfrm>
            <a:off x="5889626" y="2566988"/>
            <a:ext cx="771525" cy="654050"/>
          </a:xfrm>
          <a:prstGeom prst="rect">
            <a:avLst/>
          </a:prstGeom>
          <a:noFill/>
          <a:ln w="9525">
            <a:noFill/>
            <a:miter lim="800000"/>
            <a:headEnd/>
            <a:tailEnd/>
          </a:ln>
        </p:spPr>
      </p:pic>
      <p:pic>
        <p:nvPicPr>
          <p:cNvPr id="12" name="Picture 12"/>
          <p:cNvPicPr>
            <a:picLocks noChangeAspect="1" noChangeArrowheads="1"/>
          </p:cNvPicPr>
          <p:nvPr/>
        </p:nvPicPr>
        <p:blipFill>
          <a:blip r:embed="rId2"/>
          <a:srcRect/>
          <a:stretch>
            <a:fillRect/>
          </a:stretch>
        </p:blipFill>
        <p:spPr bwMode="auto">
          <a:xfrm>
            <a:off x="7577139" y="2058989"/>
            <a:ext cx="1019175" cy="865187"/>
          </a:xfrm>
          <a:prstGeom prst="rect">
            <a:avLst/>
          </a:prstGeom>
          <a:noFill/>
          <a:ln w="9525">
            <a:noFill/>
            <a:miter lim="800000"/>
            <a:headEnd/>
            <a:tailEnd/>
          </a:ln>
        </p:spPr>
      </p:pic>
      <p:pic>
        <p:nvPicPr>
          <p:cNvPr id="13" name="Picture 12"/>
          <p:cNvPicPr>
            <a:picLocks noChangeAspect="1" noChangeArrowheads="1"/>
          </p:cNvPicPr>
          <p:nvPr/>
        </p:nvPicPr>
        <p:blipFill>
          <a:blip r:embed="rId2"/>
          <a:srcRect/>
          <a:stretch>
            <a:fillRect/>
          </a:stretch>
        </p:blipFill>
        <p:spPr bwMode="auto">
          <a:xfrm>
            <a:off x="3748089" y="2058989"/>
            <a:ext cx="1019175" cy="865187"/>
          </a:xfrm>
          <a:prstGeom prst="rect">
            <a:avLst/>
          </a:prstGeom>
          <a:noFill/>
          <a:ln w="9525">
            <a:noFill/>
            <a:miter lim="800000"/>
            <a:headEnd/>
            <a:tailEnd/>
          </a:ln>
        </p:spPr>
      </p:pic>
      <p:cxnSp>
        <p:nvCxnSpPr>
          <p:cNvPr id="14" name="直接连接符 92"/>
          <p:cNvCxnSpPr>
            <a:cxnSpLocks noChangeShapeType="1"/>
          </p:cNvCxnSpPr>
          <p:nvPr/>
        </p:nvCxnSpPr>
        <p:spPr bwMode="auto">
          <a:xfrm rot="5400000">
            <a:off x="3701257" y="3820319"/>
            <a:ext cx="1044575" cy="1588"/>
          </a:xfrm>
          <a:prstGeom prst="line">
            <a:avLst/>
          </a:prstGeom>
          <a:noFill/>
          <a:ln w="44450" algn="ctr">
            <a:solidFill>
              <a:schemeClr val="tx2"/>
            </a:solidFill>
            <a:round/>
            <a:headEnd/>
            <a:tailEnd/>
          </a:ln>
        </p:spPr>
      </p:cxnSp>
      <p:pic>
        <p:nvPicPr>
          <p:cNvPr id="15" name="Picture 26"/>
          <p:cNvPicPr>
            <a:picLocks noChangeAspect="1" noChangeArrowheads="1"/>
          </p:cNvPicPr>
          <p:nvPr/>
        </p:nvPicPr>
        <p:blipFill>
          <a:blip r:embed="rId3"/>
          <a:srcRect/>
          <a:stretch>
            <a:fillRect/>
          </a:stretch>
        </p:blipFill>
        <p:spPr bwMode="auto">
          <a:xfrm>
            <a:off x="3854451" y="3919539"/>
            <a:ext cx="733425" cy="693737"/>
          </a:xfrm>
          <a:prstGeom prst="rect">
            <a:avLst/>
          </a:prstGeom>
          <a:noFill/>
          <a:ln w="9525">
            <a:noFill/>
            <a:miter lim="800000"/>
            <a:headEnd/>
            <a:tailEnd/>
          </a:ln>
        </p:spPr>
      </p:pic>
      <p:sp>
        <p:nvSpPr>
          <p:cNvPr id="16" name="Rectangle 37"/>
          <p:cNvSpPr>
            <a:spLocks noChangeArrowheads="1"/>
          </p:cNvSpPr>
          <p:nvPr/>
        </p:nvSpPr>
        <p:spPr bwMode="auto">
          <a:xfrm>
            <a:off x="1666875" y="4714875"/>
            <a:ext cx="8713788" cy="1631950"/>
          </a:xfrm>
          <a:prstGeom prst="rect">
            <a:avLst/>
          </a:prstGeom>
          <a:solidFill>
            <a:schemeClr val="bg1"/>
          </a:solidFill>
          <a:ln w="12700">
            <a:solidFill>
              <a:schemeClr val="tx2"/>
            </a:solidFill>
            <a:miter lim="800000"/>
            <a:headEnd/>
            <a:tailEnd/>
          </a:ln>
        </p:spPr>
        <p:txBody>
          <a:bodyPr wrap="none" anchor="ctr">
            <a:spAutoFit/>
          </a:bodyPr>
          <a:lstStyle/>
          <a:p>
            <a:pPr indent="266700" eaLnBrk="0" hangingPunct="0"/>
            <a:r>
              <a:rPr lang="en-US" altLang="zh-CN" sz="2000" b="1">
                <a:solidFill>
                  <a:schemeClr val="tx2"/>
                </a:solidFill>
                <a:cs typeface="Arial" charset="0"/>
              </a:rPr>
              <a:t>Switch#show ip arp</a:t>
            </a:r>
          </a:p>
          <a:p>
            <a:pPr indent="266700" eaLnBrk="0" hangingPunct="0"/>
            <a:r>
              <a:rPr lang="en-US" altLang="zh-CN" sz="2000" b="1">
                <a:solidFill>
                  <a:schemeClr val="tx2"/>
                </a:solidFill>
                <a:cs typeface="Arial" charset="0"/>
              </a:rPr>
              <a:t>Protocol  Address         Age (min)  Hardware Addr   Type   Interface</a:t>
            </a:r>
          </a:p>
          <a:p>
            <a:pPr indent="266700" eaLnBrk="0" hangingPunct="0"/>
            <a:r>
              <a:rPr lang="en-US" altLang="zh-CN" sz="2000" b="1">
                <a:solidFill>
                  <a:schemeClr val="tx2"/>
                </a:solidFill>
                <a:cs typeface="Arial" charset="0"/>
              </a:rPr>
              <a:t>Internet  172.16.10.82         -        0010.f6b3.d000      ARPA    Vlan10</a:t>
            </a:r>
          </a:p>
          <a:p>
            <a:pPr indent="266700" eaLnBrk="0" hangingPunct="0"/>
            <a:r>
              <a:rPr lang="en-US" altLang="zh-CN" sz="2000" b="1">
                <a:solidFill>
                  <a:schemeClr val="tx2"/>
                </a:solidFill>
                <a:cs typeface="Arial" charset="0"/>
              </a:rPr>
              <a:t>Internet  172.16.10.169       -        0010.0b79.5800     ARPA    Vlan10</a:t>
            </a:r>
          </a:p>
          <a:p>
            <a:pPr indent="266700" eaLnBrk="0" hangingPunct="0"/>
            <a:r>
              <a:rPr lang="en-US" altLang="zh-CN" sz="2000" b="1">
                <a:solidFill>
                  <a:schemeClr val="tx2"/>
                </a:solidFill>
                <a:cs typeface="Arial" charset="0"/>
              </a:rPr>
              <a:t>Internet  172.16.10.110       -        0000.0c07.ac2f      ARPA    Vlan10</a:t>
            </a:r>
          </a:p>
        </p:txBody>
      </p:sp>
      <p:sp>
        <p:nvSpPr>
          <p:cNvPr id="17" name="AutoShape 66"/>
          <p:cNvSpPr>
            <a:spLocks noChangeArrowheads="1"/>
          </p:cNvSpPr>
          <p:nvPr/>
        </p:nvSpPr>
        <p:spPr bwMode="auto">
          <a:xfrm>
            <a:off x="7983539" y="4714875"/>
            <a:ext cx="1971675" cy="730250"/>
          </a:xfrm>
          <a:prstGeom prst="wedgeRoundRectCallout">
            <a:avLst>
              <a:gd name="adj1" fmla="val -59523"/>
              <a:gd name="adj2" fmla="val 115449"/>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anchor="ctr" anchorCtr="1"/>
          <a:lstStyle/>
          <a:p>
            <a:r>
              <a:rPr lang="zh-CN" altLang="en-US" b="1">
                <a:solidFill>
                  <a:schemeClr val="tx2"/>
                </a:solidFill>
                <a:latin typeface="楷体_GB2312" pitchFamily="49" charset="-122"/>
                <a:ea typeface="楷体_GB2312" pitchFamily="49" charset="-122"/>
                <a:cs typeface="Times New Roman" pitchFamily="18" charset="0"/>
              </a:rPr>
              <a:t>虚拟</a:t>
            </a:r>
            <a:r>
              <a:rPr lang="en-US" altLang="zh-CN" b="1">
                <a:solidFill>
                  <a:schemeClr val="tx2"/>
                </a:solidFill>
                <a:latin typeface="楷体_GB2312" pitchFamily="49" charset="-122"/>
                <a:ea typeface="楷体_GB2312" pitchFamily="49" charset="-122"/>
                <a:cs typeface="Times New Roman" pitchFamily="18" charset="0"/>
              </a:rPr>
              <a:t>IP</a:t>
            </a:r>
            <a:r>
              <a:rPr lang="zh-CN" altLang="en-US" b="1">
                <a:solidFill>
                  <a:schemeClr val="tx2"/>
                </a:solidFill>
                <a:latin typeface="楷体_GB2312" pitchFamily="49" charset="-122"/>
                <a:ea typeface="楷体_GB2312" pitchFamily="49" charset="-122"/>
                <a:cs typeface="Times New Roman" pitchFamily="18" charset="0"/>
              </a:rPr>
              <a:t>地址和</a:t>
            </a:r>
            <a:r>
              <a:rPr lang="en-US" altLang="zh-CN" b="1">
                <a:solidFill>
                  <a:schemeClr val="tx2"/>
                </a:solidFill>
                <a:latin typeface="楷体_GB2312" pitchFamily="49" charset="-122"/>
                <a:ea typeface="楷体_GB2312" pitchFamily="49" charset="-122"/>
                <a:cs typeface="Times New Roman" pitchFamily="18" charset="0"/>
              </a:rPr>
              <a:t>MAC</a:t>
            </a:r>
            <a:r>
              <a:rPr lang="zh-CN" altLang="en-US" b="1">
                <a:solidFill>
                  <a:schemeClr val="tx2"/>
                </a:solidFill>
                <a:latin typeface="楷体_GB2312" pitchFamily="49" charset="-122"/>
                <a:ea typeface="楷体_GB2312" pitchFamily="49" charset="-122"/>
                <a:cs typeface="Times New Roman" pitchFamily="18" charset="0"/>
              </a:rPr>
              <a:t>地址</a:t>
            </a:r>
          </a:p>
        </p:txBody>
      </p:sp>
      <p:sp>
        <p:nvSpPr>
          <p:cNvPr id="18" name="圆角矩形 17"/>
          <p:cNvSpPr>
            <a:spLocks noChangeArrowheads="1"/>
          </p:cNvSpPr>
          <p:nvPr/>
        </p:nvSpPr>
        <p:spPr bwMode="auto">
          <a:xfrm>
            <a:off x="1885951" y="5962650"/>
            <a:ext cx="7991475" cy="323850"/>
          </a:xfrm>
          <a:prstGeom prst="roundRect">
            <a:avLst>
              <a:gd name="adj" fmla="val 16667"/>
            </a:avLst>
          </a:prstGeom>
          <a:noFill/>
          <a:ln w="34925" algn="ctr">
            <a:solidFill>
              <a:srgbClr val="FF3300"/>
            </a:solidFill>
            <a:round/>
            <a:headEnd/>
            <a:tailEnd/>
          </a:ln>
        </p:spPr>
        <p:txBody>
          <a:bodyPr wrap="none" anchor="ctr" anchorCtr="1"/>
          <a:lstStyle/>
          <a:p>
            <a:endParaRPr lang="zh-CN" altLang="en-US">
              <a:solidFill>
                <a:schemeClr val="tx2"/>
              </a:solidFill>
            </a:endParaRPr>
          </a:p>
        </p:txBody>
      </p:sp>
      <p:sp>
        <p:nvSpPr>
          <p:cNvPr id="19" name="AutoShape 4"/>
          <p:cNvSpPr>
            <a:spLocks noChangeArrowheads="1"/>
          </p:cNvSpPr>
          <p:nvPr/>
        </p:nvSpPr>
        <p:spPr bwMode="auto">
          <a:xfrm>
            <a:off x="2543175" y="2860676"/>
            <a:ext cx="1252538" cy="442913"/>
          </a:xfrm>
          <a:prstGeom prst="wedgeRoundRectCallout">
            <a:avLst>
              <a:gd name="adj1" fmla="val 60019"/>
              <a:gd name="adj2" fmla="val 167014"/>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sz="2000" b="1">
                <a:solidFill>
                  <a:schemeClr val="tx2"/>
                </a:solidFill>
                <a:latin typeface="楷体_GB2312" pitchFamily="49" charset="-122"/>
                <a:ea typeface="楷体_GB2312" pitchFamily="49" charset="-122"/>
              </a:rPr>
              <a:t>厂商编码</a:t>
            </a:r>
          </a:p>
        </p:txBody>
      </p:sp>
      <p:sp>
        <p:nvSpPr>
          <p:cNvPr id="20" name="AutoShape 5"/>
          <p:cNvSpPr>
            <a:spLocks noChangeArrowheads="1"/>
          </p:cNvSpPr>
          <p:nvPr/>
        </p:nvSpPr>
        <p:spPr bwMode="auto">
          <a:xfrm>
            <a:off x="8823326" y="2929057"/>
            <a:ext cx="1450251" cy="442674"/>
          </a:xfrm>
          <a:prstGeom prst="wedgeRoundRectCallout">
            <a:avLst>
              <a:gd name="adj1" fmla="val -93556"/>
              <a:gd name="adj2" fmla="val 147634"/>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en-US" altLang="zh-CN" sz="2000" b="1">
                <a:solidFill>
                  <a:schemeClr val="tx2"/>
                </a:solidFill>
                <a:latin typeface="楷体_GB2312" pitchFamily="49" charset="-122"/>
                <a:ea typeface="楷体_GB2312" pitchFamily="49" charset="-122"/>
              </a:rPr>
              <a:t>HSRP</a:t>
            </a:r>
            <a:r>
              <a:rPr lang="zh-CN" altLang="en-US" sz="2000" b="1">
                <a:solidFill>
                  <a:schemeClr val="tx2"/>
                </a:solidFill>
                <a:latin typeface="楷体_GB2312" pitchFamily="49" charset="-122"/>
                <a:ea typeface="楷体_GB2312" pitchFamily="49" charset="-122"/>
              </a:rPr>
              <a:t>组号</a:t>
            </a:r>
          </a:p>
        </p:txBody>
      </p:sp>
      <p:sp>
        <p:nvSpPr>
          <p:cNvPr id="21" name="AutoShape 6"/>
          <p:cNvSpPr>
            <a:spLocks noChangeArrowheads="1"/>
          </p:cNvSpPr>
          <p:nvPr/>
        </p:nvSpPr>
        <p:spPr bwMode="auto">
          <a:xfrm>
            <a:off x="5573713" y="2897307"/>
            <a:ext cx="3149030" cy="442674"/>
          </a:xfrm>
          <a:prstGeom prst="wedgeRoundRectCallout">
            <a:avLst>
              <a:gd name="adj1" fmla="val -41884"/>
              <a:gd name="adj2" fmla="val 144662"/>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sz="2000" b="1">
                <a:solidFill>
                  <a:schemeClr val="tx2"/>
                </a:solidFill>
                <a:latin typeface="楷体_GB2312" pitchFamily="49" charset="-122"/>
                <a:ea typeface="楷体_GB2312" pitchFamily="49" charset="-122"/>
              </a:rPr>
              <a:t>众所周知的虚拟</a:t>
            </a:r>
            <a:r>
              <a:rPr lang="en-US" altLang="zh-CN" sz="2000" b="1">
                <a:solidFill>
                  <a:schemeClr val="tx2"/>
                </a:solidFill>
                <a:latin typeface="楷体_GB2312" pitchFamily="49" charset="-122"/>
                <a:ea typeface="楷体_GB2312" pitchFamily="49" charset="-122"/>
              </a:rPr>
              <a:t>MAC</a:t>
            </a:r>
            <a:r>
              <a:rPr lang="zh-CN" altLang="en-US" sz="2000" b="1">
                <a:solidFill>
                  <a:schemeClr val="tx2"/>
                </a:solidFill>
                <a:latin typeface="楷体_GB2312" pitchFamily="49" charset="-122"/>
                <a:ea typeface="楷体_GB2312" pitchFamily="49" charset="-122"/>
              </a:rPr>
              <a:t>地址</a:t>
            </a:r>
          </a:p>
        </p:txBody>
      </p:sp>
      <p:sp>
        <p:nvSpPr>
          <p:cNvPr id="22" name="Text Box 7"/>
          <p:cNvSpPr txBox="1">
            <a:spLocks noChangeArrowheads="1"/>
          </p:cNvSpPr>
          <p:nvPr/>
        </p:nvSpPr>
        <p:spPr bwMode="auto">
          <a:xfrm>
            <a:off x="4164013" y="3648076"/>
            <a:ext cx="184150" cy="384175"/>
          </a:xfrm>
          <a:prstGeom prst="rect">
            <a:avLst/>
          </a:prstGeom>
          <a:noFill/>
          <a:ln w="9525" algn="ctr">
            <a:noFill/>
            <a:miter lim="800000"/>
            <a:headEnd/>
            <a:tailEnd/>
          </a:ln>
        </p:spPr>
        <p:txBody>
          <a:bodyPr wrap="none">
            <a:spAutoFit/>
          </a:bodyPr>
          <a:lstStyle/>
          <a:p>
            <a:pPr marL="342900" indent="-342900">
              <a:lnSpc>
                <a:spcPct val="80000"/>
              </a:lnSpc>
              <a:spcBef>
                <a:spcPct val="20000"/>
              </a:spcBef>
            </a:pPr>
            <a:endParaRPr lang="zh-CN" altLang="en-US" sz="2400" b="1">
              <a:solidFill>
                <a:schemeClr val="tx2"/>
              </a:solidFill>
              <a:ea typeface="楷体_GB2312" pitchFamily="49" charset="-122"/>
            </a:endParaRPr>
          </a:p>
        </p:txBody>
      </p:sp>
      <p:sp>
        <p:nvSpPr>
          <p:cNvPr id="23" name="Text Box 8"/>
          <p:cNvSpPr txBox="1">
            <a:spLocks noChangeArrowheads="1"/>
          </p:cNvSpPr>
          <p:nvPr/>
        </p:nvSpPr>
        <p:spPr bwMode="auto">
          <a:xfrm>
            <a:off x="3132138" y="3810000"/>
            <a:ext cx="1905000" cy="482600"/>
          </a:xfrm>
          <a:prstGeom prst="rect">
            <a:avLst/>
          </a:prstGeom>
          <a:gradFill rotWithShape="1">
            <a:gsLst>
              <a:gs pos="0">
                <a:srgbClr val="CCECFF"/>
              </a:gs>
              <a:gs pos="100000">
                <a:srgbClr val="FFFFFF"/>
              </a:gs>
            </a:gsLst>
            <a:lin ang="5400000" scaled="1"/>
          </a:gradFill>
          <a:ln w="12700" algn="ctr">
            <a:solidFill>
              <a:srgbClr val="FF0000"/>
            </a:solidFill>
            <a:miter lim="800000"/>
            <a:headEnd/>
            <a:tailEnd/>
          </a:ln>
        </p:spPr>
        <p:txBody>
          <a:bodyPr anchor="ctr"/>
          <a:lstStyle/>
          <a:p>
            <a:r>
              <a:rPr lang="en-US" altLang="zh-CN" sz="2400" b="1">
                <a:solidFill>
                  <a:schemeClr val="tx2"/>
                </a:solidFill>
                <a:ea typeface="楷体_GB2312" pitchFamily="49" charset="-122"/>
              </a:rPr>
              <a:t>0000.0c</a:t>
            </a:r>
            <a:endParaRPr lang="zh-CN" altLang="en-US" sz="2400" b="1">
              <a:solidFill>
                <a:schemeClr val="tx2"/>
              </a:solidFill>
              <a:ea typeface="楷体_GB2312" pitchFamily="49" charset="-122"/>
            </a:endParaRPr>
          </a:p>
        </p:txBody>
      </p:sp>
      <p:sp>
        <p:nvSpPr>
          <p:cNvPr id="24" name="Text Box 9"/>
          <p:cNvSpPr txBox="1">
            <a:spLocks noChangeArrowheads="1"/>
          </p:cNvSpPr>
          <p:nvPr/>
        </p:nvSpPr>
        <p:spPr bwMode="auto">
          <a:xfrm>
            <a:off x="5037138" y="3810000"/>
            <a:ext cx="1905000" cy="482600"/>
          </a:xfrm>
          <a:prstGeom prst="rect">
            <a:avLst/>
          </a:prstGeom>
          <a:gradFill rotWithShape="1">
            <a:gsLst>
              <a:gs pos="0">
                <a:srgbClr val="CCECFF"/>
              </a:gs>
              <a:gs pos="100000">
                <a:srgbClr val="FFFFFF"/>
              </a:gs>
            </a:gsLst>
            <a:lin ang="5400000" scaled="1"/>
          </a:gradFill>
          <a:ln w="12700" algn="ctr">
            <a:solidFill>
              <a:srgbClr val="FF0000"/>
            </a:solidFill>
            <a:miter lim="800000"/>
            <a:headEnd/>
            <a:tailEnd/>
          </a:ln>
        </p:spPr>
        <p:txBody>
          <a:bodyPr anchor="ctr"/>
          <a:lstStyle/>
          <a:p>
            <a:r>
              <a:rPr lang="en-US" altLang="zh-CN" sz="2400" b="1">
                <a:solidFill>
                  <a:schemeClr val="tx2"/>
                </a:solidFill>
                <a:ea typeface="楷体_GB2312" pitchFamily="49" charset="-122"/>
              </a:rPr>
              <a:t>07.ac</a:t>
            </a:r>
            <a:endParaRPr lang="zh-CN" altLang="en-US" sz="2400" b="1">
              <a:solidFill>
                <a:schemeClr val="tx2"/>
              </a:solidFill>
              <a:ea typeface="楷体_GB2312" pitchFamily="49" charset="-122"/>
            </a:endParaRPr>
          </a:p>
        </p:txBody>
      </p:sp>
      <p:sp>
        <p:nvSpPr>
          <p:cNvPr id="26" name="内容占位符 1"/>
          <p:cNvSpPr txBox="1">
            <a:spLocks/>
          </p:cNvSpPr>
          <p:nvPr/>
        </p:nvSpPr>
        <p:spPr bwMode="auto">
          <a:xfrm>
            <a:off x="1738313" y="1143000"/>
            <a:ext cx="8501062" cy="928688"/>
          </a:xfrm>
          <a:prstGeom prst="rect">
            <a:avLst/>
          </a:prstGeom>
          <a:noFill/>
          <a:ln w="9525">
            <a:noFill/>
            <a:miter lim="800000"/>
            <a:headEnd/>
            <a:tailEnd/>
          </a:ln>
        </p:spPr>
        <p:txBody>
          <a:bodyPr/>
          <a:lstStyle/>
          <a:p>
            <a:pPr marL="342900" indent="-342900" eaLnBrk="0" hangingPunct="0">
              <a:spcBef>
                <a:spcPts val="672"/>
              </a:spcBef>
              <a:buClr>
                <a:schemeClr val="hlink"/>
              </a:buClr>
              <a:buFont typeface="Wingdings" pitchFamily="2" charset="2"/>
              <a:buChar char="v"/>
              <a:defRPr/>
            </a:pPr>
            <a:r>
              <a:rPr lang="en-US" altLang="zh-CN" sz="2800" b="1" kern="0" dirty="0">
                <a:solidFill>
                  <a:schemeClr val="tx2"/>
                </a:solidFill>
              </a:rPr>
              <a:t>HSRP</a:t>
            </a:r>
            <a:r>
              <a:rPr lang="zh-CN" altLang="en-US" sz="2800" b="1" kern="0" dirty="0">
                <a:solidFill>
                  <a:schemeClr val="tx2"/>
                </a:solidFill>
              </a:rPr>
              <a:t>虚拟</a:t>
            </a:r>
            <a:r>
              <a:rPr lang="en-US" altLang="zh-CN" sz="2800" b="1" kern="0" dirty="0">
                <a:solidFill>
                  <a:schemeClr val="tx2"/>
                </a:solidFill>
              </a:rPr>
              <a:t>MAC</a:t>
            </a:r>
            <a:r>
              <a:rPr lang="zh-CN" altLang="en-US" sz="2800" b="1" kern="0" dirty="0">
                <a:solidFill>
                  <a:schemeClr val="tx2"/>
                </a:solidFill>
              </a:rPr>
              <a:t>地址格式</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500"/>
                                        <p:tgtEl>
                                          <p:spTgt spid="8"/>
                                        </p:tgtEl>
                                      </p:cBhvr>
                                    </p:animEffect>
                                    <p:set>
                                      <p:cBhvr>
                                        <p:cTn id="31" dur="1" fill="hold">
                                          <p:stCondLst>
                                            <p:cond delay="499"/>
                                          </p:stCondLst>
                                        </p:cTn>
                                        <p:tgtEl>
                                          <p:spTgt spid="8"/>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12"/>
                                        </p:tgtEl>
                                      </p:cBhvr>
                                    </p:animEffect>
                                    <p:set>
                                      <p:cBhvr>
                                        <p:cTn id="43" dur="1" fill="hold">
                                          <p:stCondLst>
                                            <p:cond delay="499"/>
                                          </p:stCondLst>
                                        </p:cTn>
                                        <p:tgtEl>
                                          <p:spTgt spid="12"/>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5"/>
                                        </p:tgtEl>
                                      </p:cBhvr>
                                    </p:animEffect>
                                    <p:set>
                                      <p:cBhvr>
                                        <p:cTn id="52" dur="1" fill="hold">
                                          <p:stCondLst>
                                            <p:cond delay="499"/>
                                          </p:stCondLst>
                                        </p:cTn>
                                        <p:tgtEl>
                                          <p:spTgt spid="15"/>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18"/>
                                        </p:tgtEl>
                                      </p:cBhvr>
                                    </p:animEffect>
                                    <p:set>
                                      <p:cBhvr>
                                        <p:cTn id="61" dur="1" fill="hold">
                                          <p:stCondLst>
                                            <p:cond delay="499"/>
                                          </p:stCondLst>
                                        </p:cTn>
                                        <p:tgtEl>
                                          <p:spTgt spid="18"/>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dissolve">
                                      <p:cBhvr>
                                        <p:cTn id="64" dur="500"/>
                                        <p:tgtEl>
                                          <p:spTgt spid="19"/>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dissolve">
                                      <p:cBhvr>
                                        <p:cTn id="67" dur="500"/>
                                        <p:tgtEl>
                                          <p:spTgt spid="2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dissolve">
                                      <p:cBhvr>
                                        <p:cTn id="70" dur="500"/>
                                        <p:tgtEl>
                                          <p:spTgt spid="21"/>
                                        </p:tgtEl>
                                      </p:cBhvr>
                                    </p:animEffect>
                                  </p:childTnLst>
                                </p:cTn>
                              </p:par>
                              <p:par>
                                <p:cTn id="71" presetID="9" presetClass="entr" presetSubtype="0" fill="hold" grpId="0" nodeType="withEffect" nodePh="1">
                                  <p:stCondLst>
                                    <p:cond delay="0"/>
                                  </p:stCondLst>
                                  <p:endCondLst>
                                    <p:cond evt="begin" delay="0">
                                      <p:tn val="71"/>
                                    </p:cond>
                                  </p:endCondLst>
                                  <p:childTnLst>
                                    <p:set>
                                      <p:cBhvr>
                                        <p:cTn id="72" dur="1" fill="hold">
                                          <p:stCondLst>
                                            <p:cond delay="0"/>
                                          </p:stCondLst>
                                        </p:cTn>
                                        <p:tgtEl>
                                          <p:spTgt spid="22"/>
                                        </p:tgtEl>
                                        <p:attrNameLst>
                                          <p:attrName>style.visibility</p:attrName>
                                        </p:attrNameLst>
                                      </p:cBhvr>
                                      <p:to>
                                        <p:strVal val="visible"/>
                                      </p:to>
                                    </p:set>
                                    <p:animEffect transition="in" filter="dissolve">
                                      <p:cBhvr>
                                        <p:cTn id="73" dur="500"/>
                                        <p:tgtEl>
                                          <p:spTgt spid="22"/>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dissolve">
                                      <p:cBhvr>
                                        <p:cTn id="76" dur="500"/>
                                        <p:tgtEl>
                                          <p:spTgt spid="23"/>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dissolve">
                                      <p:cBhvr>
                                        <p:cTn id="79" dur="500"/>
                                        <p:tgtEl>
                                          <p:spTgt spid="24"/>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dissolve">
                                      <p:cBhvr>
                                        <p:cTn id="82" dur="500"/>
                                        <p:tgtEl>
                                          <p:spTgt spid="25"/>
                                        </p:tgtEl>
                                      </p:cBhvr>
                                    </p:animEffect>
                                  </p:childTnLst>
                                </p:cTn>
                              </p:par>
                              <p:par>
                                <p:cTn id="83" presetID="1" presetClass="exit" presetSubtype="0" fill="hold" grpId="0" nodeType="withEffect">
                                  <p:stCondLst>
                                    <p:cond delay="0"/>
                                  </p:stCondLst>
                                  <p:childTnLst>
                                    <p:set>
                                      <p:cBhvr>
                                        <p:cTn id="84" dur="1" fill="hold">
                                          <p:stCondLst>
                                            <p:cond delay="0"/>
                                          </p:stCondLst>
                                        </p:cTn>
                                        <p:tgtEl>
                                          <p:spTgt spid="2">
                                            <p:txEl>
                                              <p:pRg st="0" end="0"/>
                                            </p:txEl>
                                          </p:spTgt>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 grpId="0" build="p"/>
      <p:bldP spid="4" grpId="0" animBg="1"/>
      <p:bldP spid="6" grpId="0"/>
      <p:bldP spid="7" grpId="0"/>
      <p:bldP spid="8" grpId="0"/>
      <p:bldP spid="9" grpId="0"/>
      <p:bldP spid="10" grpId="0"/>
      <p:bldP spid="16" grpId="0" animBg="1"/>
      <p:bldP spid="17" grpId="0" animBg="1"/>
      <p:bldP spid="17" grpId="1" animBg="1"/>
      <p:bldP spid="18" grpId="0" animBg="1"/>
      <p:bldP spid="18" grpId="1" animBg="1"/>
      <p:bldP spid="19" grpId="0" animBg="1"/>
      <p:bldP spid="20" grpId="0" animBg="1"/>
      <p:bldP spid="21" grpId="0" animBg="1"/>
      <p:bldP spid="22" grpId="0"/>
      <p:bldP spid="23" grpId="0" animBg="1"/>
      <p:bldP spid="24" grpId="0" animBg="1"/>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1"/>
          <p:cNvSpPr>
            <a:spLocks noGrp="1"/>
          </p:cNvSpPr>
          <p:nvPr>
            <p:ph idx="1"/>
          </p:nvPr>
        </p:nvSpPr>
        <p:spPr>
          <a:xfrm>
            <a:off x="1738313" y="1143001"/>
            <a:ext cx="8501062" cy="1357313"/>
          </a:xfrm>
        </p:spPr>
        <p:txBody>
          <a:bodyPr>
            <a:normAutofit fontScale="77500" lnSpcReduction="20000"/>
          </a:bodyPr>
          <a:lstStyle/>
          <a:p>
            <a:pPr>
              <a:spcBef>
                <a:spcPts val="675"/>
              </a:spcBef>
            </a:pPr>
            <a:r>
              <a:rPr lang="en-US" altLang="zh-CN"/>
              <a:t>HSRP</a:t>
            </a:r>
            <a:r>
              <a:rPr lang="zh-CN" altLang="en-US"/>
              <a:t>消息</a:t>
            </a:r>
          </a:p>
          <a:p>
            <a:pPr lvl="1">
              <a:spcBef>
                <a:spcPts val="475"/>
              </a:spcBef>
            </a:pPr>
            <a:r>
              <a:rPr lang="en-US" altLang="zh-CN"/>
              <a:t>HSRP</a:t>
            </a:r>
            <a:r>
              <a:rPr lang="zh-CN" altLang="en-US"/>
              <a:t>中的所有路由器都发送或接收</a:t>
            </a:r>
            <a:r>
              <a:rPr lang="en-US" altLang="zh-CN"/>
              <a:t>HSRP</a:t>
            </a:r>
            <a:r>
              <a:rPr lang="zh-CN" altLang="en-US"/>
              <a:t>消息</a:t>
            </a:r>
          </a:p>
          <a:p>
            <a:pPr lvl="1">
              <a:spcBef>
                <a:spcPts val="475"/>
              </a:spcBef>
            </a:pPr>
            <a:r>
              <a:rPr lang="en-US" altLang="zh-CN"/>
              <a:t>UDP</a:t>
            </a:r>
            <a:r>
              <a:rPr lang="zh-CN" altLang="en-US"/>
              <a:t>端口号</a:t>
            </a:r>
            <a:r>
              <a:rPr lang="en-US" altLang="zh-CN"/>
              <a:t>1985</a:t>
            </a:r>
          </a:p>
          <a:p>
            <a:pPr lvl="1">
              <a:spcBef>
                <a:spcPts val="475"/>
              </a:spcBef>
            </a:pPr>
            <a:r>
              <a:rPr lang="zh-CN" altLang="en-US"/>
              <a:t>使用组播发送</a:t>
            </a:r>
            <a:r>
              <a:rPr lang="en-US" altLang="zh-CN"/>
              <a:t>HSRP</a:t>
            </a:r>
            <a:r>
              <a:rPr lang="zh-CN" altLang="en-US"/>
              <a:t>消息，组播地址</a:t>
            </a:r>
            <a:r>
              <a:rPr lang="en-US" altLang="zh-CN"/>
              <a:t>224.0.0.2</a:t>
            </a:r>
          </a:p>
          <a:p>
            <a:pPr lvl="1">
              <a:spcBef>
                <a:spcPts val="475"/>
              </a:spcBef>
            </a:pPr>
            <a:r>
              <a:rPr lang="en-US" altLang="zh-CN"/>
              <a:t>TTL=1</a:t>
            </a:r>
          </a:p>
          <a:p>
            <a:pPr lvl="1">
              <a:spcBef>
                <a:spcPts val="475"/>
              </a:spcBef>
            </a:pPr>
            <a:endParaRPr lang="zh-CN" altLang="en-US"/>
          </a:p>
        </p:txBody>
      </p:sp>
      <p:sp>
        <p:nvSpPr>
          <p:cNvPr id="15363" name="标题 2"/>
          <p:cNvSpPr>
            <a:spLocks noGrp="1"/>
          </p:cNvSpPr>
          <p:nvPr>
            <p:ph type="title"/>
          </p:nvPr>
        </p:nvSpPr>
        <p:spPr/>
        <p:txBody>
          <a:bodyPr/>
          <a:lstStyle/>
          <a:p>
            <a:r>
              <a:rPr lang="en-US" altLang="zh-CN"/>
              <a:t>HSRP</a:t>
            </a:r>
            <a:r>
              <a:rPr lang="zh-CN" altLang="en-US"/>
              <a:t>的相关概念</a:t>
            </a:r>
            <a:r>
              <a:rPr lang="en-US" altLang="zh-CN"/>
              <a:t>5-5</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1"/>
          <p:cNvSpPr>
            <a:spLocks noGrp="1"/>
          </p:cNvSpPr>
          <p:nvPr>
            <p:ph idx="1"/>
          </p:nvPr>
        </p:nvSpPr>
        <p:spPr>
          <a:xfrm>
            <a:off x="1738313" y="1143000"/>
            <a:ext cx="8501062" cy="5143500"/>
          </a:xfrm>
        </p:spPr>
        <p:txBody>
          <a:bodyPr/>
          <a:lstStyle/>
          <a:p>
            <a:pPr>
              <a:spcBef>
                <a:spcPts val="675"/>
              </a:spcBef>
            </a:pPr>
            <a:r>
              <a:rPr lang="en-US" altLang="zh-CN"/>
              <a:t>HSRP</a:t>
            </a:r>
            <a:r>
              <a:rPr lang="zh-CN" altLang="en-US"/>
              <a:t>状态</a:t>
            </a:r>
          </a:p>
          <a:p>
            <a:pPr lvl="1">
              <a:spcBef>
                <a:spcPts val="475"/>
              </a:spcBef>
            </a:pPr>
            <a:r>
              <a:rPr lang="zh-CN" altLang="en-US"/>
              <a:t>初始状态</a:t>
            </a:r>
          </a:p>
          <a:p>
            <a:pPr lvl="1">
              <a:spcBef>
                <a:spcPts val="475"/>
              </a:spcBef>
            </a:pPr>
            <a:r>
              <a:rPr lang="zh-CN" altLang="en-US"/>
              <a:t>学习状态</a:t>
            </a:r>
          </a:p>
          <a:p>
            <a:pPr lvl="1">
              <a:spcBef>
                <a:spcPts val="475"/>
              </a:spcBef>
            </a:pPr>
            <a:r>
              <a:rPr lang="zh-CN" altLang="en-US"/>
              <a:t>监听状态</a:t>
            </a:r>
          </a:p>
          <a:p>
            <a:pPr lvl="1">
              <a:spcBef>
                <a:spcPts val="475"/>
              </a:spcBef>
            </a:pPr>
            <a:r>
              <a:rPr lang="zh-CN" altLang="en-US"/>
              <a:t>发言状态</a:t>
            </a:r>
          </a:p>
          <a:p>
            <a:pPr lvl="1">
              <a:spcBef>
                <a:spcPts val="475"/>
              </a:spcBef>
            </a:pPr>
            <a:r>
              <a:rPr lang="zh-CN" altLang="en-US"/>
              <a:t>备份状态</a:t>
            </a:r>
          </a:p>
          <a:p>
            <a:pPr lvl="1">
              <a:spcBef>
                <a:spcPts val="475"/>
              </a:spcBef>
            </a:pPr>
            <a:r>
              <a:rPr lang="zh-CN" altLang="en-US"/>
              <a:t>活跃状态</a:t>
            </a:r>
            <a:endParaRPr lang="en-US" altLang="zh-CN"/>
          </a:p>
          <a:p>
            <a:pPr lvl="1">
              <a:spcBef>
                <a:spcPts val="475"/>
              </a:spcBef>
            </a:pPr>
            <a:endParaRPr lang="en-US" altLang="zh-CN" sz="1000"/>
          </a:p>
          <a:p>
            <a:pPr>
              <a:spcBef>
                <a:spcPts val="675"/>
              </a:spcBef>
            </a:pPr>
            <a:r>
              <a:rPr lang="en-US" altLang="zh-CN"/>
              <a:t>HSRP</a:t>
            </a:r>
            <a:r>
              <a:rPr lang="zh-CN" altLang="en-US"/>
              <a:t>计时器</a:t>
            </a:r>
            <a:endParaRPr lang="en-US" altLang="zh-CN"/>
          </a:p>
          <a:p>
            <a:pPr lvl="1">
              <a:spcBef>
                <a:spcPts val="475"/>
              </a:spcBef>
            </a:pPr>
            <a:r>
              <a:rPr lang="en-US" altLang="zh-CN"/>
              <a:t>Hello</a:t>
            </a:r>
            <a:r>
              <a:rPr lang="zh-CN" altLang="en-US"/>
              <a:t>间隔（默认</a:t>
            </a:r>
            <a:r>
              <a:rPr lang="en-US" altLang="zh-CN"/>
              <a:t>3s</a:t>
            </a:r>
            <a:r>
              <a:rPr lang="zh-CN" altLang="en-US"/>
              <a:t>）</a:t>
            </a:r>
            <a:endParaRPr lang="en-US" altLang="zh-CN"/>
          </a:p>
          <a:p>
            <a:pPr lvl="1">
              <a:spcBef>
                <a:spcPts val="475"/>
              </a:spcBef>
            </a:pPr>
            <a:r>
              <a:rPr lang="zh-CN" altLang="en-US"/>
              <a:t>保持时间（默认</a:t>
            </a:r>
            <a:r>
              <a:rPr lang="en-US" altLang="zh-CN"/>
              <a:t>10s</a:t>
            </a:r>
            <a:r>
              <a:rPr lang="zh-CN" altLang="en-US"/>
              <a:t>）</a:t>
            </a:r>
          </a:p>
          <a:p>
            <a:pPr>
              <a:spcBef>
                <a:spcPts val="675"/>
              </a:spcBef>
            </a:pPr>
            <a:endParaRPr lang="zh-CN" altLang="en-US"/>
          </a:p>
        </p:txBody>
      </p:sp>
      <p:sp>
        <p:nvSpPr>
          <p:cNvPr id="16387" name="标题 2"/>
          <p:cNvSpPr>
            <a:spLocks noGrp="1"/>
          </p:cNvSpPr>
          <p:nvPr>
            <p:ph type="title"/>
          </p:nvPr>
        </p:nvSpPr>
        <p:spPr/>
        <p:txBody>
          <a:bodyPr/>
          <a:lstStyle/>
          <a:p>
            <a:r>
              <a:rPr lang="en-US" altLang="zh-CN"/>
              <a:t>HSRP</a:t>
            </a:r>
            <a:r>
              <a:rPr lang="zh-CN" altLang="en-US"/>
              <a:t>状态与计时器</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1"/>
          <p:cNvSpPr>
            <a:spLocks noGrp="1"/>
          </p:cNvSpPr>
          <p:nvPr>
            <p:ph idx="1"/>
          </p:nvPr>
        </p:nvSpPr>
        <p:spPr>
          <a:xfrm>
            <a:off x="1738313" y="1143000"/>
            <a:ext cx="8501062" cy="5143500"/>
          </a:xfrm>
        </p:spPr>
        <p:txBody>
          <a:bodyPr/>
          <a:lstStyle/>
          <a:p>
            <a:pPr>
              <a:spcBef>
                <a:spcPts val="675"/>
              </a:spcBef>
            </a:pPr>
            <a:r>
              <a:rPr lang="zh-CN" altLang="en-US"/>
              <a:t>热备份路由协议</a:t>
            </a:r>
            <a:r>
              <a:rPr lang="en-US" altLang="zh-CN"/>
              <a:t>HSRP</a:t>
            </a:r>
          </a:p>
          <a:p>
            <a:pPr lvl="1">
              <a:spcBef>
                <a:spcPts val="475"/>
              </a:spcBef>
            </a:pPr>
            <a:r>
              <a:rPr lang="en-US" altLang="zh-CN"/>
              <a:t>Cisco</a:t>
            </a:r>
            <a:r>
              <a:rPr lang="zh-CN" altLang="en-US"/>
              <a:t>私有协议</a:t>
            </a:r>
          </a:p>
          <a:p>
            <a:pPr lvl="1">
              <a:spcBef>
                <a:spcPts val="475"/>
              </a:spcBef>
            </a:pPr>
            <a:endParaRPr lang="zh-CN" altLang="en-US"/>
          </a:p>
          <a:p>
            <a:pPr>
              <a:spcBef>
                <a:spcPts val="675"/>
              </a:spcBef>
            </a:pPr>
            <a:r>
              <a:rPr lang="zh-CN" altLang="en-US"/>
              <a:t>虚拟路由冗余协议</a:t>
            </a:r>
            <a:r>
              <a:rPr lang="en-US" altLang="zh-CN"/>
              <a:t>VRRP</a:t>
            </a:r>
          </a:p>
          <a:p>
            <a:pPr lvl="1">
              <a:spcBef>
                <a:spcPts val="475"/>
              </a:spcBef>
            </a:pPr>
            <a:r>
              <a:rPr lang="en-US" altLang="zh-CN"/>
              <a:t>IETF</a:t>
            </a:r>
            <a:r>
              <a:rPr lang="zh-CN" altLang="en-US"/>
              <a:t>制定，</a:t>
            </a:r>
            <a:r>
              <a:rPr lang="en-US" altLang="zh-CN"/>
              <a:t>RFC 2338</a:t>
            </a:r>
            <a:endParaRPr lang="zh-CN" altLang="en-US"/>
          </a:p>
          <a:p>
            <a:pPr lvl="1">
              <a:spcBef>
                <a:spcPts val="475"/>
              </a:spcBef>
            </a:pPr>
            <a:r>
              <a:rPr lang="zh-CN" altLang="en-US"/>
              <a:t>实现原理和过程与</a:t>
            </a:r>
            <a:r>
              <a:rPr lang="en-US" altLang="zh-CN"/>
              <a:t>HSRP</a:t>
            </a:r>
            <a:r>
              <a:rPr lang="zh-CN" altLang="en-US"/>
              <a:t>基本相同</a:t>
            </a:r>
          </a:p>
          <a:p>
            <a:pPr lvl="1">
              <a:spcBef>
                <a:spcPts val="475"/>
              </a:spcBef>
            </a:pPr>
            <a:r>
              <a:rPr lang="zh-CN" altLang="en-US"/>
              <a:t>在协议细节上与</a:t>
            </a:r>
            <a:r>
              <a:rPr lang="en-US" altLang="zh-CN"/>
              <a:t>HSRP</a:t>
            </a:r>
            <a:r>
              <a:rPr lang="zh-CN" altLang="en-US"/>
              <a:t>有所区别</a:t>
            </a:r>
          </a:p>
          <a:p>
            <a:pPr>
              <a:spcBef>
                <a:spcPts val="675"/>
              </a:spcBef>
            </a:pPr>
            <a:endParaRPr lang="zh-CN" altLang="en-US"/>
          </a:p>
        </p:txBody>
      </p:sp>
      <p:sp>
        <p:nvSpPr>
          <p:cNvPr id="17411" name="标题 2"/>
          <p:cNvSpPr>
            <a:spLocks noGrp="1"/>
          </p:cNvSpPr>
          <p:nvPr>
            <p:ph type="title"/>
          </p:nvPr>
        </p:nvSpPr>
        <p:spPr/>
        <p:txBody>
          <a:bodyPr/>
          <a:lstStyle/>
          <a:p>
            <a:r>
              <a:rPr lang="en-US" altLang="zh-CN"/>
              <a:t>HSRP</a:t>
            </a:r>
            <a:r>
              <a:rPr lang="zh-CN" altLang="en-US"/>
              <a:t>与</a:t>
            </a:r>
            <a:r>
              <a:rPr lang="en-US" altLang="zh-CN"/>
              <a:t>VRRP</a:t>
            </a:r>
            <a:r>
              <a:rPr lang="zh-CN" altLang="en-US"/>
              <a:t>的区别</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a:xfrm>
            <a:off x="1738313" y="1143000"/>
            <a:ext cx="8501062" cy="5143500"/>
          </a:xfrm>
        </p:spPr>
        <p:txBody>
          <a:bodyPr/>
          <a:lstStyle/>
          <a:p>
            <a:pPr>
              <a:spcBef>
                <a:spcPts val="675"/>
              </a:spcBef>
              <a:spcAft>
                <a:spcPct val="25000"/>
              </a:spcAft>
            </a:pPr>
            <a:r>
              <a:rPr lang="zh-CN" altLang="en-US"/>
              <a:t>请思考：</a:t>
            </a:r>
          </a:p>
          <a:p>
            <a:pPr lvl="1">
              <a:spcBef>
                <a:spcPts val="475"/>
              </a:spcBef>
              <a:spcAft>
                <a:spcPct val="25000"/>
              </a:spcAft>
            </a:pPr>
            <a:r>
              <a:rPr lang="zh-CN" altLang="en-US"/>
              <a:t>简述</a:t>
            </a:r>
            <a:r>
              <a:rPr lang="en-US" altLang="zh-CN"/>
              <a:t>HSRP</a:t>
            </a:r>
            <a:r>
              <a:rPr lang="zh-CN" altLang="en-US"/>
              <a:t>中路由器的角色有哪些？</a:t>
            </a:r>
          </a:p>
          <a:p>
            <a:pPr lvl="1">
              <a:spcBef>
                <a:spcPts val="475"/>
              </a:spcBef>
              <a:spcAft>
                <a:spcPct val="25000"/>
              </a:spcAft>
            </a:pPr>
            <a:r>
              <a:rPr lang="zh-CN" altLang="en-US"/>
              <a:t>简述为什么</a:t>
            </a:r>
            <a:r>
              <a:rPr lang="en-US" altLang="zh-CN"/>
              <a:t>HSRP</a:t>
            </a:r>
            <a:r>
              <a:rPr lang="zh-CN" altLang="en-US"/>
              <a:t>的报文</a:t>
            </a:r>
            <a:r>
              <a:rPr lang="en-US" altLang="zh-CN"/>
              <a:t>TTL=1</a:t>
            </a:r>
            <a:r>
              <a:rPr lang="zh-CN" altLang="en-US"/>
              <a:t>？</a:t>
            </a:r>
            <a:endParaRPr lang="en-US" altLang="zh-CN"/>
          </a:p>
          <a:p>
            <a:pPr lvl="1">
              <a:spcBef>
                <a:spcPts val="475"/>
              </a:spcBef>
              <a:spcAft>
                <a:spcPct val="25000"/>
              </a:spcAft>
            </a:pPr>
            <a:r>
              <a:rPr lang="zh-CN" altLang="en-US"/>
              <a:t>简述</a:t>
            </a:r>
            <a:r>
              <a:rPr lang="en-US" altLang="zh-CN"/>
              <a:t>HSRP</a:t>
            </a:r>
            <a:r>
              <a:rPr lang="zh-CN" altLang="en-US"/>
              <a:t>与</a:t>
            </a:r>
            <a:r>
              <a:rPr lang="en-US" altLang="zh-CN"/>
              <a:t>VRRP</a:t>
            </a:r>
            <a:r>
              <a:rPr lang="zh-CN" altLang="en-US"/>
              <a:t>的区别？</a:t>
            </a:r>
          </a:p>
          <a:p>
            <a:pPr>
              <a:spcBef>
                <a:spcPts val="675"/>
              </a:spcBef>
              <a:spcAft>
                <a:spcPct val="25000"/>
              </a:spcAft>
              <a:buNone/>
            </a:pPr>
            <a:endParaRPr lang="zh-CN" altLang="en-US" sz="3200">
              <a:solidFill>
                <a:srgbClr val="003399"/>
              </a:solidFill>
            </a:endParaRPr>
          </a:p>
        </p:txBody>
      </p:sp>
      <p:sp>
        <p:nvSpPr>
          <p:cNvPr id="18435" name="Rectangle 2"/>
          <p:cNvSpPr>
            <a:spLocks noGrp="1" noChangeArrowheads="1"/>
          </p:cNvSpPr>
          <p:nvPr>
            <p:ph type="title"/>
          </p:nvPr>
        </p:nvSpPr>
        <p:spPr/>
        <p:txBody>
          <a:bodyPr/>
          <a:lstStyle/>
          <a:p>
            <a:pPr eaLnBrk="1" hangingPunct="1"/>
            <a:r>
              <a:rPr lang="zh-CN" altLang="en-US"/>
              <a:t>小结</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8"/>
          <p:cNvSpPr>
            <a:spLocks noChangeArrowheads="1"/>
          </p:cNvSpPr>
          <p:nvPr/>
        </p:nvSpPr>
        <p:spPr bwMode="auto">
          <a:xfrm>
            <a:off x="2166938" y="1643063"/>
            <a:ext cx="8064500" cy="43180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19459" name="AutoShape 8"/>
          <p:cNvSpPr>
            <a:spLocks noChangeArrowheads="1"/>
          </p:cNvSpPr>
          <p:nvPr/>
        </p:nvSpPr>
        <p:spPr bwMode="auto">
          <a:xfrm>
            <a:off x="2166938" y="3490913"/>
            <a:ext cx="8064500" cy="43815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19460" name="内容占位符 1"/>
          <p:cNvSpPr>
            <a:spLocks noGrp="1"/>
          </p:cNvSpPr>
          <p:nvPr>
            <p:ph idx="1"/>
          </p:nvPr>
        </p:nvSpPr>
        <p:spPr>
          <a:xfrm>
            <a:off x="1738314" y="1143001"/>
            <a:ext cx="8429625" cy="714375"/>
          </a:xfrm>
        </p:spPr>
        <p:txBody>
          <a:bodyPr>
            <a:normAutofit fontScale="25000" lnSpcReduction="20000"/>
          </a:bodyPr>
          <a:lstStyle/>
          <a:p>
            <a:pPr>
              <a:spcBef>
                <a:spcPts val="675"/>
              </a:spcBef>
            </a:pPr>
            <a:r>
              <a:rPr lang="zh-CN" altLang="en-US"/>
              <a:t>配置为</a:t>
            </a:r>
            <a:r>
              <a:rPr lang="en-US" altLang="zh-CN"/>
              <a:t>HSRP</a:t>
            </a:r>
            <a:r>
              <a:rPr lang="zh-CN" altLang="en-US"/>
              <a:t>的成员</a:t>
            </a:r>
            <a:endParaRPr lang="en-US" altLang="zh-CN"/>
          </a:p>
          <a:p>
            <a:pPr lvl="1">
              <a:spcBef>
                <a:spcPts val="475"/>
              </a:spcBef>
              <a:buNone/>
            </a:pPr>
            <a:r>
              <a:rPr lang="en-US" altLang="zh-CN" sz="2000"/>
              <a:t>Switch(config-if)#standby </a:t>
            </a:r>
            <a:r>
              <a:rPr lang="en-US" altLang="zh-CN" sz="2000" i="1"/>
              <a:t>group-number</a:t>
            </a:r>
            <a:r>
              <a:rPr lang="en-US" altLang="zh-CN" sz="2000"/>
              <a:t> ip </a:t>
            </a:r>
            <a:r>
              <a:rPr lang="en-US" altLang="zh-CN" sz="2000" i="1"/>
              <a:t>virtual-ip-address</a:t>
            </a:r>
          </a:p>
          <a:p>
            <a:pPr lvl="1">
              <a:spcBef>
                <a:spcPts val="475"/>
              </a:spcBef>
            </a:pPr>
            <a:endParaRPr lang="en-US" altLang="zh-CN"/>
          </a:p>
          <a:p>
            <a:pPr lvl="1">
              <a:spcBef>
                <a:spcPts val="475"/>
              </a:spcBef>
            </a:pPr>
            <a:endParaRPr lang="zh-CN" altLang="en-US"/>
          </a:p>
          <a:p>
            <a:pPr>
              <a:spcBef>
                <a:spcPts val="675"/>
              </a:spcBef>
            </a:pPr>
            <a:r>
              <a:rPr lang="zh-CN" altLang="en-US"/>
              <a:t>配置</a:t>
            </a:r>
            <a:r>
              <a:rPr lang="en-US" altLang="zh-CN"/>
              <a:t>HSRP</a:t>
            </a:r>
            <a:r>
              <a:rPr lang="zh-CN" altLang="en-US"/>
              <a:t>的优先级</a:t>
            </a:r>
          </a:p>
          <a:p>
            <a:pPr lvl="1">
              <a:spcBef>
                <a:spcPts val="475"/>
              </a:spcBef>
              <a:buNone/>
            </a:pPr>
            <a:r>
              <a:rPr lang="en-US" altLang="zh-CN" sz="2000"/>
              <a:t>Switch(config-if)#standby  </a:t>
            </a:r>
            <a:r>
              <a:rPr lang="en-US" altLang="zh-CN" sz="2000" i="1"/>
              <a:t>group-number</a:t>
            </a:r>
            <a:r>
              <a:rPr lang="en-US" altLang="zh-CN" sz="2000"/>
              <a:t>  priority  </a:t>
            </a:r>
            <a:r>
              <a:rPr lang="en-US" altLang="zh-CN" sz="2000" i="1"/>
              <a:t>priority-value</a:t>
            </a:r>
            <a:r>
              <a:rPr lang="en-US" altLang="zh-CN" sz="2000"/>
              <a:t> </a:t>
            </a:r>
            <a:endParaRPr lang="zh-CN" altLang="en-US" sz="2000"/>
          </a:p>
        </p:txBody>
      </p:sp>
      <p:sp>
        <p:nvSpPr>
          <p:cNvPr id="19461" name="标题 2"/>
          <p:cNvSpPr>
            <a:spLocks noGrp="1"/>
          </p:cNvSpPr>
          <p:nvPr>
            <p:ph type="title"/>
          </p:nvPr>
        </p:nvSpPr>
        <p:spPr/>
        <p:txBody>
          <a:bodyPr/>
          <a:lstStyle/>
          <a:p>
            <a:r>
              <a:rPr lang="en-US" altLang="zh-CN"/>
              <a:t>HSRP</a:t>
            </a:r>
            <a:r>
              <a:rPr lang="zh-CN" altLang="en-US"/>
              <a:t>的配置</a:t>
            </a:r>
            <a:r>
              <a:rPr lang="en-US" altLang="zh-CN"/>
              <a:t>4-1</a:t>
            </a:r>
            <a:endParaRPr lang="zh-CN" altLang="en-US"/>
          </a:p>
        </p:txBody>
      </p:sp>
      <p:sp>
        <p:nvSpPr>
          <p:cNvPr id="19462" name="AutoShape 66"/>
          <p:cNvSpPr>
            <a:spLocks noChangeArrowheads="1"/>
          </p:cNvSpPr>
          <p:nvPr/>
        </p:nvSpPr>
        <p:spPr bwMode="auto">
          <a:xfrm>
            <a:off x="6315075" y="2500313"/>
            <a:ext cx="1752600" cy="438150"/>
          </a:xfrm>
          <a:prstGeom prst="wedgeRoundRectCallout">
            <a:avLst>
              <a:gd name="adj1" fmla="val -39028"/>
              <a:gd name="adj2" fmla="val -138708"/>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anchor="ctr" anchorCtr="1"/>
          <a:lstStyle/>
          <a:p>
            <a:r>
              <a:rPr lang="en-US" altLang="zh-CN" b="1">
                <a:solidFill>
                  <a:schemeClr val="tx2"/>
                </a:solidFill>
                <a:latin typeface="楷体_GB2312" pitchFamily="49" charset="-122"/>
                <a:ea typeface="楷体_GB2312" pitchFamily="49" charset="-122"/>
                <a:cs typeface="Times New Roman" pitchFamily="18" charset="0"/>
              </a:rPr>
              <a:t>HSRP</a:t>
            </a:r>
            <a:r>
              <a:rPr lang="zh-CN" altLang="en-US" b="1">
                <a:solidFill>
                  <a:schemeClr val="tx2"/>
                </a:solidFill>
                <a:latin typeface="楷体_GB2312" pitchFamily="49" charset="-122"/>
                <a:ea typeface="楷体_GB2312" pitchFamily="49" charset="-122"/>
                <a:cs typeface="Times New Roman" pitchFamily="18" charset="0"/>
              </a:rPr>
              <a:t>备份组号</a:t>
            </a:r>
            <a:endParaRPr lang="en-US" altLang="zh-CN" b="1">
              <a:solidFill>
                <a:schemeClr val="tx2"/>
              </a:solidFill>
              <a:latin typeface="楷体_GB2312" pitchFamily="49" charset="-122"/>
              <a:ea typeface="楷体_GB2312" pitchFamily="49" charset="-122"/>
              <a:cs typeface="Times New Roman" pitchFamily="18" charset="0"/>
            </a:endParaRPr>
          </a:p>
        </p:txBody>
      </p:sp>
      <p:sp>
        <p:nvSpPr>
          <p:cNvPr id="19463" name="AutoShape 66"/>
          <p:cNvSpPr>
            <a:spLocks noChangeArrowheads="1"/>
          </p:cNvSpPr>
          <p:nvPr/>
        </p:nvSpPr>
        <p:spPr bwMode="auto">
          <a:xfrm>
            <a:off x="8220075" y="2500313"/>
            <a:ext cx="2268538" cy="438150"/>
          </a:xfrm>
          <a:prstGeom prst="wedgeRoundRectCallout">
            <a:avLst>
              <a:gd name="adj1" fmla="val -36282"/>
              <a:gd name="adj2" fmla="val -135870"/>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anchor="ctr" anchorCtr="1"/>
          <a:lstStyle/>
          <a:p>
            <a:r>
              <a:rPr lang="zh-CN" altLang="en-US" b="1">
                <a:solidFill>
                  <a:schemeClr val="tx2"/>
                </a:solidFill>
                <a:latin typeface="楷体_GB2312" pitchFamily="49" charset="-122"/>
                <a:ea typeface="楷体_GB2312" pitchFamily="49" charset="-122"/>
                <a:cs typeface="Times New Roman" pitchFamily="18" charset="0"/>
              </a:rPr>
              <a:t>备份组虚拟</a:t>
            </a:r>
            <a:r>
              <a:rPr lang="en-US" altLang="zh-CN" b="1">
                <a:solidFill>
                  <a:schemeClr val="tx2"/>
                </a:solidFill>
                <a:latin typeface="楷体_GB2312" pitchFamily="49" charset="-122"/>
                <a:ea typeface="楷体_GB2312" pitchFamily="49" charset="-122"/>
                <a:cs typeface="Times New Roman" pitchFamily="18" charset="0"/>
              </a:rPr>
              <a:t>IP</a:t>
            </a:r>
            <a:r>
              <a:rPr lang="zh-CN" altLang="en-US" b="1">
                <a:solidFill>
                  <a:schemeClr val="tx2"/>
                </a:solidFill>
                <a:latin typeface="楷体_GB2312" pitchFamily="49" charset="-122"/>
                <a:ea typeface="楷体_GB2312" pitchFamily="49" charset="-122"/>
                <a:cs typeface="Times New Roman" pitchFamily="18" charset="0"/>
              </a:rPr>
              <a:t>地址</a:t>
            </a:r>
            <a:endParaRPr lang="en-US" altLang="zh-CN" b="1">
              <a:solidFill>
                <a:schemeClr val="tx2"/>
              </a:solidFill>
              <a:latin typeface="楷体_GB2312" pitchFamily="49" charset="-122"/>
              <a:ea typeface="楷体_GB2312" pitchFamily="49" charset="-122"/>
              <a:cs typeface="Times New Roman" pitchFamily="18" charset="0"/>
            </a:endParaRPr>
          </a:p>
        </p:txBody>
      </p:sp>
      <p:sp>
        <p:nvSpPr>
          <p:cNvPr id="19464" name="AutoShape 66"/>
          <p:cNvSpPr>
            <a:spLocks noChangeArrowheads="1"/>
          </p:cNvSpPr>
          <p:nvPr/>
        </p:nvSpPr>
        <p:spPr bwMode="auto">
          <a:xfrm>
            <a:off x="7464425" y="4419600"/>
            <a:ext cx="2692400" cy="438150"/>
          </a:xfrm>
          <a:prstGeom prst="wedgeRoundRectCallout">
            <a:avLst>
              <a:gd name="adj1" fmla="val -824"/>
              <a:gd name="adj2" fmla="val -153259"/>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anchor="ctr" anchorCtr="1"/>
          <a:lstStyle/>
          <a:p>
            <a:r>
              <a:rPr lang="zh-CN" altLang="en-US" b="1">
                <a:solidFill>
                  <a:schemeClr val="tx2"/>
                </a:solidFill>
                <a:latin typeface="楷体_GB2312" pitchFamily="49" charset="-122"/>
                <a:ea typeface="楷体_GB2312" pitchFamily="49" charset="-122"/>
                <a:cs typeface="Times New Roman" pitchFamily="18" charset="0"/>
              </a:rPr>
              <a:t>范围</a:t>
            </a:r>
            <a:r>
              <a:rPr lang="en-US" altLang="zh-CN" b="1">
                <a:solidFill>
                  <a:schemeClr val="tx2"/>
                </a:solidFill>
                <a:latin typeface="楷体_GB2312" pitchFamily="49" charset="-122"/>
                <a:ea typeface="楷体_GB2312" pitchFamily="49" charset="-122"/>
                <a:cs typeface="Times New Roman" pitchFamily="18" charset="0"/>
              </a:rPr>
              <a:t>0</a:t>
            </a:r>
            <a:r>
              <a:rPr lang="zh-CN" altLang="en-US" b="1">
                <a:solidFill>
                  <a:schemeClr val="tx2"/>
                </a:solidFill>
                <a:latin typeface="楷体_GB2312" pitchFamily="49" charset="-122"/>
                <a:ea typeface="楷体_GB2312" pitchFamily="49" charset="-122"/>
                <a:cs typeface="Times New Roman" pitchFamily="18" charset="0"/>
              </a:rPr>
              <a:t>～</a:t>
            </a:r>
            <a:r>
              <a:rPr lang="en-US" altLang="zh-CN" b="1">
                <a:solidFill>
                  <a:schemeClr val="tx2"/>
                </a:solidFill>
                <a:latin typeface="楷体_GB2312" pitchFamily="49" charset="-122"/>
                <a:ea typeface="楷体_GB2312" pitchFamily="49" charset="-122"/>
                <a:cs typeface="Times New Roman" pitchFamily="18" charset="0"/>
              </a:rPr>
              <a:t>255</a:t>
            </a:r>
            <a:r>
              <a:rPr lang="zh-CN" altLang="en-US" b="1">
                <a:solidFill>
                  <a:schemeClr val="tx2"/>
                </a:solidFill>
                <a:latin typeface="楷体_GB2312" pitchFamily="49" charset="-122"/>
                <a:ea typeface="楷体_GB2312" pitchFamily="49" charset="-122"/>
                <a:cs typeface="Times New Roman" pitchFamily="18" charset="0"/>
              </a:rPr>
              <a:t>，默认</a:t>
            </a:r>
            <a:r>
              <a:rPr lang="en-US" altLang="zh-CN" b="1">
                <a:solidFill>
                  <a:schemeClr val="tx2"/>
                </a:solidFill>
                <a:latin typeface="楷体_GB2312" pitchFamily="49" charset="-122"/>
                <a:ea typeface="楷体_GB2312" pitchFamily="49" charset="-122"/>
                <a:cs typeface="Times New Roman" pitchFamily="18" charset="0"/>
              </a:rPr>
              <a:t>100</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8"/>
          <p:cNvSpPr>
            <a:spLocks noChangeArrowheads="1"/>
          </p:cNvSpPr>
          <p:nvPr/>
        </p:nvSpPr>
        <p:spPr bwMode="auto">
          <a:xfrm>
            <a:off x="2166939" y="2571750"/>
            <a:ext cx="8072437" cy="43180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0483" name="AutoShape 8"/>
          <p:cNvSpPr>
            <a:spLocks noChangeArrowheads="1"/>
          </p:cNvSpPr>
          <p:nvPr/>
        </p:nvSpPr>
        <p:spPr bwMode="auto">
          <a:xfrm>
            <a:off x="2166939" y="4429126"/>
            <a:ext cx="8072437" cy="500063"/>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0484" name="内容占位符 1"/>
          <p:cNvSpPr>
            <a:spLocks noGrp="1"/>
          </p:cNvSpPr>
          <p:nvPr>
            <p:ph idx="1"/>
          </p:nvPr>
        </p:nvSpPr>
        <p:spPr>
          <a:xfrm>
            <a:off x="1738313" y="1143000"/>
            <a:ext cx="8786812" cy="5143500"/>
          </a:xfrm>
        </p:spPr>
        <p:txBody>
          <a:bodyPr/>
          <a:lstStyle/>
          <a:p>
            <a:pPr>
              <a:spcBef>
                <a:spcPts val="675"/>
              </a:spcBef>
            </a:pPr>
            <a:r>
              <a:rPr lang="en-US" altLang="zh-CN"/>
              <a:t>HSRP</a:t>
            </a:r>
            <a:r>
              <a:rPr lang="zh-CN" altLang="en-US"/>
              <a:t>占先权</a:t>
            </a:r>
            <a:r>
              <a:rPr lang="en-US" altLang="zh-CN"/>
              <a:t>	</a:t>
            </a:r>
          </a:p>
          <a:p>
            <a:pPr lvl="1">
              <a:spcBef>
                <a:spcPts val="475"/>
              </a:spcBef>
            </a:pPr>
            <a:r>
              <a:rPr lang="zh-CN" altLang="en-US"/>
              <a:t>优先级高的路由器重新获得转发权，恢复成为活跃路由器</a:t>
            </a:r>
            <a:endParaRPr lang="en-US" altLang="zh-CN"/>
          </a:p>
          <a:p>
            <a:pPr lvl="1">
              <a:spcBef>
                <a:spcPts val="475"/>
              </a:spcBef>
            </a:pPr>
            <a:r>
              <a:rPr lang="en-US" altLang="zh-CN"/>
              <a:t>HSRP</a:t>
            </a:r>
            <a:r>
              <a:rPr lang="zh-CN" altLang="en-US"/>
              <a:t>占先权配置</a:t>
            </a:r>
            <a:endParaRPr lang="en-US" altLang="zh-CN"/>
          </a:p>
          <a:p>
            <a:pPr lvl="1">
              <a:spcBef>
                <a:spcPts val="475"/>
              </a:spcBef>
              <a:buNone/>
            </a:pPr>
            <a:r>
              <a:rPr lang="en-US" altLang="zh-CN" sz="2000"/>
              <a:t>Switch(config-if)#standby </a:t>
            </a:r>
            <a:r>
              <a:rPr lang="en-US" altLang="zh-CN" sz="2000" i="1"/>
              <a:t>group-number</a:t>
            </a:r>
            <a:r>
              <a:rPr lang="en-US" altLang="zh-CN" sz="2000"/>
              <a:t> preempt</a:t>
            </a:r>
          </a:p>
          <a:p>
            <a:pPr>
              <a:spcBef>
                <a:spcPts val="675"/>
              </a:spcBef>
            </a:pPr>
            <a:endParaRPr lang="en-US" altLang="zh-CN"/>
          </a:p>
          <a:p>
            <a:pPr>
              <a:spcBef>
                <a:spcPts val="675"/>
              </a:spcBef>
            </a:pPr>
            <a:r>
              <a:rPr lang="en-US" altLang="zh-CN"/>
              <a:t>HSRP</a:t>
            </a:r>
            <a:r>
              <a:rPr lang="zh-CN" altLang="en-US"/>
              <a:t>计时器配置</a:t>
            </a:r>
            <a:endParaRPr lang="en-US" altLang="zh-CN"/>
          </a:p>
          <a:p>
            <a:pPr lvl="1">
              <a:spcBef>
                <a:spcPts val="475"/>
              </a:spcBef>
            </a:pPr>
            <a:r>
              <a:rPr lang="zh-CN" altLang="en-US"/>
              <a:t>配置</a:t>
            </a:r>
            <a:r>
              <a:rPr lang="en-US" altLang="zh-CN"/>
              <a:t>Hello</a:t>
            </a:r>
            <a:r>
              <a:rPr lang="zh-CN" altLang="en-US"/>
              <a:t>间隔和保持时间</a:t>
            </a:r>
            <a:endParaRPr lang="en-US" altLang="zh-CN"/>
          </a:p>
          <a:p>
            <a:pPr lvl="1">
              <a:spcBef>
                <a:spcPts val="475"/>
              </a:spcBef>
              <a:buNone/>
            </a:pPr>
            <a:r>
              <a:rPr lang="en-US" altLang="zh-CN" sz="2000"/>
              <a:t>Switch(config-if)#standby group-number times </a:t>
            </a:r>
            <a:r>
              <a:rPr lang="en-US" altLang="zh-CN" sz="2000" i="1"/>
              <a:t>hellotime holdtime</a:t>
            </a:r>
          </a:p>
          <a:p>
            <a:pPr>
              <a:spcBef>
                <a:spcPts val="675"/>
              </a:spcBef>
            </a:pPr>
            <a:endParaRPr lang="zh-CN" altLang="en-US"/>
          </a:p>
        </p:txBody>
      </p:sp>
      <p:sp>
        <p:nvSpPr>
          <p:cNvPr id="20485" name="标题 2"/>
          <p:cNvSpPr>
            <a:spLocks noGrp="1"/>
          </p:cNvSpPr>
          <p:nvPr>
            <p:ph type="title"/>
          </p:nvPr>
        </p:nvSpPr>
        <p:spPr/>
        <p:txBody>
          <a:bodyPr/>
          <a:lstStyle/>
          <a:p>
            <a:r>
              <a:rPr lang="en-US" altLang="zh-CN"/>
              <a:t>HSRP</a:t>
            </a:r>
            <a:r>
              <a:rPr lang="zh-CN" altLang="en-US"/>
              <a:t>的配置</a:t>
            </a:r>
            <a:r>
              <a:rPr lang="en-US" altLang="zh-CN"/>
              <a:t>4-2</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8"/>
          <p:cNvSpPr>
            <a:spLocks noChangeArrowheads="1"/>
          </p:cNvSpPr>
          <p:nvPr/>
        </p:nvSpPr>
        <p:spPr bwMode="auto">
          <a:xfrm>
            <a:off x="2166910" y="1714489"/>
            <a:ext cx="7886700" cy="696913"/>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1507" name="内容占位符 1"/>
          <p:cNvSpPr>
            <a:spLocks noGrp="1"/>
          </p:cNvSpPr>
          <p:nvPr>
            <p:ph idx="1"/>
          </p:nvPr>
        </p:nvSpPr>
        <p:spPr>
          <a:xfrm>
            <a:off x="1738313" y="1143000"/>
            <a:ext cx="8501062" cy="1714500"/>
          </a:xfrm>
        </p:spPr>
        <p:txBody>
          <a:bodyPr/>
          <a:lstStyle/>
          <a:p>
            <a:pPr>
              <a:spcBef>
                <a:spcPts val="675"/>
              </a:spcBef>
            </a:pPr>
            <a:r>
              <a:rPr lang="en-US" altLang="zh-CN"/>
              <a:t>HSRP</a:t>
            </a:r>
            <a:r>
              <a:rPr lang="zh-CN" altLang="en-US"/>
              <a:t>端口跟踪</a:t>
            </a:r>
            <a:endParaRPr lang="en-US" altLang="zh-CN"/>
          </a:p>
          <a:p>
            <a:pPr lvl="1">
              <a:spcBef>
                <a:spcPts val="475"/>
              </a:spcBef>
            </a:pPr>
            <a:r>
              <a:rPr lang="zh-CN" altLang="en-US"/>
              <a:t>跟踪端口不可用时，</a:t>
            </a:r>
            <a:r>
              <a:rPr lang="en-US" altLang="zh-CN"/>
              <a:t>HSRP</a:t>
            </a:r>
            <a:r>
              <a:rPr lang="zh-CN" altLang="en-US"/>
              <a:t>优先级降低</a:t>
            </a:r>
            <a:endParaRPr lang="en-US" altLang="zh-CN"/>
          </a:p>
          <a:p>
            <a:pPr lvl="1">
              <a:spcBef>
                <a:spcPts val="475"/>
              </a:spcBef>
            </a:pPr>
            <a:r>
              <a:rPr lang="zh-CN" altLang="en-US"/>
              <a:t>活跃路由器可以根据线路情况自动调整</a:t>
            </a:r>
          </a:p>
          <a:p>
            <a:pPr>
              <a:spcBef>
                <a:spcPts val="675"/>
              </a:spcBef>
            </a:pPr>
            <a:endParaRPr lang="zh-CN" altLang="en-US"/>
          </a:p>
        </p:txBody>
      </p:sp>
      <p:sp>
        <p:nvSpPr>
          <p:cNvPr id="21508" name="标题 2"/>
          <p:cNvSpPr>
            <a:spLocks noGrp="1"/>
          </p:cNvSpPr>
          <p:nvPr>
            <p:ph type="title"/>
          </p:nvPr>
        </p:nvSpPr>
        <p:spPr/>
        <p:txBody>
          <a:bodyPr/>
          <a:lstStyle/>
          <a:p>
            <a:r>
              <a:rPr lang="en-US" altLang="zh-CN"/>
              <a:t>HSRP</a:t>
            </a:r>
            <a:r>
              <a:rPr lang="zh-CN" altLang="en-US"/>
              <a:t>的配置</a:t>
            </a:r>
            <a:r>
              <a:rPr lang="en-US" altLang="zh-CN"/>
              <a:t>4-3</a:t>
            </a:r>
            <a:endParaRPr lang="zh-CN" altLang="en-US"/>
          </a:p>
        </p:txBody>
      </p:sp>
      <p:sp>
        <p:nvSpPr>
          <p:cNvPr id="21509" name="Line 10"/>
          <p:cNvSpPr>
            <a:spLocks noChangeShapeType="1"/>
          </p:cNvSpPr>
          <p:nvPr/>
        </p:nvSpPr>
        <p:spPr bwMode="auto">
          <a:xfrm>
            <a:off x="5122863" y="2428875"/>
            <a:ext cx="0" cy="0"/>
          </a:xfrm>
          <a:prstGeom prst="line">
            <a:avLst/>
          </a:prstGeom>
          <a:noFill/>
          <a:ln w="9525">
            <a:solidFill>
              <a:schemeClr val="tx1"/>
            </a:solidFill>
            <a:round/>
            <a:headEnd/>
            <a:tailEnd/>
          </a:ln>
        </p:spPr>
        <p:txBody>
          <a:bodyPr/>
          <a:lstStyle/>
          <a:p>
            <a:endParaRPr lang="zh-CN" altLang="en-US"/>
          </a:p>
        </p:txBody>
      </p:sp>
      <p:sp>
        <p:nvSpPr>
          <p:cNvPr id="5" name="Text Box 24"/>
          <p:cNvSpPr txBox="1">
            <a:spLocks noChangeArrowheads="1"/>
          </p:cNvSpPr>
          <p:nvPr/>
        </p:nvSpPr>
        <p:spPr bwMode="auto">
          <a:xfrm>
            <a:off x="4154488" y="3027363"/>
            <a:ext cx="1346200" cy="646112"/>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A</a:t>
            </a:r>
          </a:p>
          <a:p>
            <a:r>
              <a:rPr lang="zh-CN" altLang="en-US" b="1">
                <a:solidFill>
                  <a:schemeClr val="tx2"/>
                </a:solidFill>
                <a:latin typeface="楷体_GB2312" pitchFamily="49" charset="-122"/>
                <a:ea typeface="楷体_GB2312" pitchFamily="49" charset="-122"/>
                <a:cs typeface="Times New Roman" pitchFamily="18" charset="0"/>
              </a:rPr>
              <a:t>活跃路由器</a:t>
            </a:r>
          </a:p>
        </p:txBody>
      </p:sp>
      <p:sp>
        <p:nvSpPr>
          <p:cNvPr id="6" name="Text Box 26"/>
          <p:cNvSpPr txBox="1">
            <a:spLocks noChangeArrowheads="1"/>
          </p:cNvSpPr>
          <p:nvPr/>
        </p:nvSpPr>
        <p:spPr bwMode="auto">
          <a:xfrm>
            <a:off x="4157663" y="5508626"/>
            <a:ext cx="1346200" cy="646113"/>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B</a:t>
            </a:r>
          </a:p>
          <a:p>
            <a:r>
              <a:rPr lang="zh-CN" altLang="en-US" b="1">
                <a:solidFill>
                  <a:schemeClr val="tx2"/>
                </a:solidFill>
                <a:latin typeface="楷体_GB2312" pitchFamily="49" charset="-122"/>
                <a:ea typeface="楷体_GB2312" pitchFamily="49" charset="-122"/>
                <a:cs typeface="Times New Roman" pitchFamily="18" charset="0"/>
              </a:rPr>
              <a:t>备份路由器</a:t>
            </a:r>
          </a:p>
        </p:txBody>
      </p:sp>
      <p:sp>
        <p:nvSpPr>
          <p:cNvPr id="7" name="Text Box 30"/>
          <p:cNvSpPr txBox="1">
            <a:spLocks noChangeArrowheads="1"/>
          </p:cNvSpPr>
          <p:nvPr/>
        </p:nvSpPr>
        <p:spPr bwMode="auto">
          <a:xfrm>
            <a:off x="5505450" y="4657725"/>
            <a:ext cx="1346200" cy="368300"/>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虚拟路由器</a:t>
            </a:r>
          </a:p>
        </p:txBody>
      </p:sp>
      <p:pic>
        <p:nvPicPr>
          <p:cNvPr id="8" name="Picture 12"/>
          <p:cNvPicPr>
            <a:picLocks noChangeAspect="1" noChangeArrowheads="1"/>
          </p:cNvPicPr>
          <p:nvPr/>
        </p:nvPicPr>
        <p:blipFill>
          <a:blip r:embed="rId2">
            <a:lum bright="70000" contrast="-70000"/>
          </a:blip>
          <a:srcRect/>
          <a:stretch>
            <a:fillRect/>
          </a:stretch>
        </p:blipFill>
        <p:spPr bwMode="auto">
          <a:xfrm>
            <a:off x="5797551" y="4073526"/>
            <a:ext cx="773113" cy="657225"/>
          </a:xfrm>
          <a:prstGeom prst="rect">
            <a:avLst/>
          </a:prstGeom>
          <a:noFill/>
          <a:ln w="9525">
            <a:noFill/>
            <a:miter lim="800000"/>
            <a:headEnd/>
            <a:tailEnd/>
          </a:ln>
        </p:spPr>
      </p:pic>
      <p:grpSp>
        <p:nvGrpSpPr>
          <p:cNvPr id="2" name="组合 68"/>
          <p:cNvGrpSpPr>
            <a:grpSpLocks/>
          </p:cNvGrpSpPr>
          <p:nvPr/>
        </p:nvGrpSpPr>
        <p:grpSpPr bwMode="auto">
          <a:xfrm rot="5400000">
            <a:off x="4220369" y="1878807"/>
            <a:ext cx="3106738" cy="5451475"/>
            <a:chOff x="2928862" y="158545"/>
            <a:chExt cx="3492053" cy="6126631"/>
          </a:xfrm>
        </p:grpSpPr>
        <p:cxnSp>
          <p:nvCxnSpPr>
            <p:cNvPr id="21535" name="直接连接符 34"/>
            <p:cNvCxnSpPr>
              <a:cxnSpLocks noChangeShapeType="1"/>
            </p:cNvCxnSpPr>
            <p:nvPr/>
          </p:nvCxnSpPr>
          <p:spPr bwMode="auto">
            <a:xfrm rot="5400000">
              <a:off x="522626" y="2592352"/>
              <a:ext cx="4814060" cy="1588"/>
            </a:xfrm>
            <a:prstGeom prst="line">
              <a:avLst/>
            </a:prstGeom>
            <a:noFill/>
            <a:ln w="44450" algn="ctr">
              <a:solidFill>
                <a:srgbClr val="FF3300"/>
              </a:solidFill>
              <a:round/>
              <a:headEnd/>
              <a:tailEnd/>
            </a:ln>
          </p:spPr>
        </p:cxnSp>
        <p:cxnSp>
          <p:nvCxnSpPr>
            <p:cNvPr id="21536" name="直接连接符 35"/>
            <p:cNvCxnSpPr>
              <a:cxnSpLocks noChangeShapeType="1"/>
            </p:cNvCxnSpPr>
            <p:nvPr/>
          </p:nvCxnSpPr>
          <p:spPr bwMode="auto">
            <a:xfrm rot="5400000">
              <a:off x="3969541" y="2585008"/>
              <a:ext cx="4854514" cy="1588"/>
            </a:xfrm>
            <a:prstGeom prst="line">
              <a:avLst/>
            </a:prstGeom>
            <a:noFill/>
            <a:ln w="44450" algn="ctr">
              <a:solidFill>
                <a:srgbClr val="FF3300"/>
              </a:solidFill>
              <a:round/>
              <a:headEnd/>
              <a:tailEnd/>
            </a:ln>
          </p:spPr>
        </p:cxnSp>
        <p:cxnSp>
          <p:nvCxnSpPr>
            <p:cNvPr id="21537" name="直接连接符 49"/>
            <p:cNvCxnSpPr>
              <a:cxnSpLocks noChangeShapeType="1"/>
            </p:cNvCxnSpPr>
            <p:nvPr/>
          </p:nvCxnSpPr>
          <p:spPr bwMode="auto">
            <a:xfrm>
              <a:off x="2928915" y="4996383"/>
              <a:ext cx="3492000" cy="1588"/>
            </a:xfrm>
            <a:prstGeom prst="line">
              <a:avLst/>
            </a:prstGeom>
            <a:noFill/>
            <a:ln w="44450" algn="ctr">
              <a:solidFill>
                <a:srgbClr val="FF3300"/>
              </a:solidFill>
              <a:round/>
              <a:headEnd/>
              <a:tailEnd/>
            </a:ln>
          </p:spPr>
        </p:cxnSp>
        <p:cxnSp>
          <p:nvCxnSpPr>
            <p:cNvPr id="21538" name="直接连接符 53"/>
            <p:cNvCxnSpPr>
              <a:cxnSpLocks noChangeShapeType="1"/>
            </p:cNvCxnSpPr>
            <p:nvPr/>
          </p:nvCxnSpPr>
          <p:spPr bwMode="auto">
            <a:xfrm rot="5400000">
              <a:off x="4070732" y="5738248"/>
              <a:ext cx="1092268" cy="1588"/>
            </a:xfrm>
            <a:prstGeom prst="line">
              <a:avLst/>
            </a:prstGeom>
            <a:noFill/>
            <a:ln w="44450" algn="ctr">
              <a:solidFill>
                <a:srgbClr val="FF3300"/>
              </a:solidFill>
              <a:round/>
              <a:headEnd/>
              <a:tailEnd/>
            </a:ln>
          </p:spPr>
        </p:cxnSp>
      </p:grpSp>
      <p:pic>
        <p:nvPicPr>
          <p:cNvPr id="14" name="Picture 12"/>
          <p:cNvPicPr>
            <a:picLocks noChangeAspect="1" noChangeArrowheads="1"/>
          </p:cNvPicPr>
          <p:nvPr/>
        </p:nvPicPr>
        <p:blipFill>
          <a:blip r:embed="rId2"/>
          <a:srcRect/>
          <a:stretch>
            <a:fillRect/>
          </a:stretch>
        </p:blipFill>
        <p:spPr bwMode="auto">
          <a:xfrm>
            <a:off x="5468939" y="5772150"/>
            <a:ext cx="852487" cy="723900"/>
          </a:xfrm>
          <a:prstGeom prst="rect">
            <a:avLst/>
          </a:prstGeom>
          <a:noFill/>
          <a:ln w="9525">
            <a:noFill/>
            <a:miter lim="800000"/>
            <a:headEnd/>
            <a:tailEnd/>
          </a:ln>
        </p:spPr>
      </p:pic>
      <p:pic>
        <p:nvPicPr>
          <p:cNvPr id="15" name="Picture 12"/>
          <p:cNvPicPr>
            <a:picLocks noChangeAspect="1" noChangeArrowheads="1"/>
          </p:cNvPicPr>
          <p:nvPr/>
        </p:nvPicPr>
        <p:blipFill>
          <a:blip r:embed="rId2"/>
          <a:srcRect/>
          <a:stretch>
            <a:fillRect/>
          </a:stretch>
        </p:blipFill>
        <p:spPr bwMode="auto">
          <a:xfrm>
            <a:off x="5468939" y="2698750"/>
            <a:ext cx="852487" cy="723900"/>
          </a:xfrm>
          <a:prstGeom prst="rect">
            <a:avLst/>
          </a:prstGeom>
          <a:noFill/>
          <a:ln w="9525">
            <a:noFill/>
            <a:miter lim="800000"/>
            <a:headEnd/>
            <a:tailEnd/>
          </a:ln>
        </p:spPr>
      </p:pic>
      <p:pic>
        <p:nvPicPr>
          <p:cNvPr id="16" name="Picture 26"/>
          <p:cNvPicPr>
            <a:picLocks noChangeAspect="1" noChangeArrowheads="1"/>
          </p:cNvPicPr>
          <p:nvPr/>
        </p:nvPicPr>
        <p:blipFill>
          <a:blip r:embed="rId3"/>
          <a:srcRect/>
          <a:stretch>
            <a:fillRect/>
          </a:stretch>
        </p:blipFill>
        <p:spPr bwMode="auto">
          <a:xfrm>
            <a:off x="2452688" y="4268788"/>
            <a:ext cx="595312" cy="563562"/>
          </a:xfrm>
          <a:prstGeom prst="rect">
            <a:avLst/>
          </a:prstGeom>
          <a:noFill/>
          <a:ln w="9525">
            <a:noFill/>
            <a:miter lim="800000"/>
            <a:headEnd/>
            <a:tailEnd/>
          </a:ln>
        </p:spPr>
      </p:pic>
      <p:grpSp>
        <p:nvGrpSpPr>
          <p:cNvPr id="3" name="组合 141"/>
          <p:cNvGrpSpPr>
            <a:grpSpLocks/>
          </p:cNvGrpSpPr>
          <p:nvPr/>
        </p:nvGrpSpPr>
        <p:grpSpPr bwMode="auto">
          <a:xfrm rot="10800000" flipV="1">
            <a:off x="3095625" y="2771775"/>
            <a:ext cx="5062538" cy="1570038"/>
            <a:chOff x="5346550" y="1676372"/>
            <a:chExt cx="2803724" cy="585800"/>
          </a:xfrm>
        </p:grpSpPr>
        <p:cxnSp>
          <p:nvCxnSpPr>
            <p:cNvPr id="21532" name="直接连接符 136"/>
            <p:cNvCxnSpPr>
              <a:cxnSpLocks noChangeShapeType="1"/>
            </p:cNvCxnSpPr>
            <p:nvPr/>
          </p:nvCxnSpPr>
          <p:spPr bwMode="auto">
            <a:xfrm>
              <a:off x="5346550" y="1676372"/>
              <a:ext cx="2253066" cy="1588"/>
            </a:xfrm>
            <a:prstGeom prst="line">
              <a:avLst/>
            </a:prstGeom>
            <a:noFill/>
            <a:ln w="44450" algn="ctr">
              <a:solidFill>
                <a:srgbClr val="7030A0"/>
              </a:solidFill>
              <a:prstDash val="dash"/>
              <a:round/>
              <a:headEnd type="triangle" w="med" len="lg"/>
              <a:tailEnd type="none" w="lg" len="med"/>
            </a:ln>
          </p:spPr>
        </p:cxnSp>
        <p:cxnSp>
          <p:nvCxnSpPr>
            <p:cNvPr id="21533" name="直接连接符 138"/>
            <p:cNvCxnSpPr>
              <a:cxnSpLocks noChangeShapeType="1"/>
            </p:cNvCxnSpPr>
            <p:nvPr/>
          </p:nvCxnSpPr>
          <p:spPr bwMode="auto">
            <a:xfrm rot="5400000">
              <a:off x="7311269" y="1967686"/>
              <a:ext cx="584208" cy="1588"/>
            </a:xfrm>
            <a:prstGeom prst="line">
              <a:avLst/>
            </a:prstGeom>
            <a:noFill/>
            <a:ln w="44450" algn="ctr">
              <a:solidFill>
                <a:srgbClr val="7030A0"/>
              </a:solidFill>
              <a:prstDash val="dash"/>
              <a:round/>
              <a:headEnd/>
              <a:tailEnd/>
            </a:ln>
          </p:spPr>
        </p:cxnSp>
        <p:cxnSp>
          <p:nvCxnSpPr>
            <p:cNvPr id="21534" name="直接连接符 140"/>
            <p:cNvCxnSpPr>
              <a:cxnSpLocks noChangeShapeType="1"/>
            </p:cNvCxnSpPr>
            <p:nvPr/>
          </p:nvCxnSpPr>
          <p:spPr bwMode="auto">
            <a:xfrm>
              <a:off x="7602579" y="2260584"/>
              <a:ext cx="547695" cy="1588"/>
            </a:xfrm>
            <a:prstGeom prst="line">
              <a:avLst/>
            </a:prstGeom>
            <a:noFill/>
            <a:ln w="44450" algn="ctr">
              <a:solidFill>
                <a:srgbClr val="7030A0"/>
              </a:solidFill>
              <a:prstDash val="dash"/>
              <a:round/>
              <a:headEnd/>
              <a:tailEnd/>
            </a:ln>
          </p:spPr>
        </p:cxnSp>
      </p:grpSp>
      <p:pic>
        <p:nvPicPr>
          <p:cNvPr id="21" name="Picture 4"/>
          <p:cNvPicPr>
            <a:picLocks noChangeAspect="1" noChangeArrowheads="1"/>
          </p:cNvPicPr>
          <p:nvPr/>
        </p:nvPicPr>
        <p:blipFill>
          <a:blip r:embed="rId4"/>
          <a:srcRect/>
          <a:stretch>
            <a:fillRect/>
          </a:stretch>
        </p:blipFill>
        <p:spPr bwMode="auto">
          <a:xfrm>
            <a:off x="3708401" y="4329114"/>
            <a:ext cx="993775" cy="439737"/>
          </a:xfrm>
          <a:prstGeom prst="rect">
            <a:avLst/>
          </a:prstGeom>
          <a:noFill/>
          <a:ln w="9525">
            <a:noFill/>
            <a:miter lim="800000"/>
            <a:headEnd/>
            <a:tailEnd/>
          </a:ln>
        </p:spPr>
      </p:pic>
      <p:grpSp>
        <p:nvGrpSpPr>
          <p:cNvPr id="4" name="组合 44"/>
          <p:cNvGrpSpPr>
            <a:grpSpLocks/>
          </p:cNvGrpSpPr>
          <p:nvPr/>
        </p:nvGrpSpPr>
        <p:grpSpPr bwMode="auto">
          <a:xfrm>
            <a:off x="8061325" y="2795588"/>
            <a:ext cx="1022350" cy="3651250"/>
            <a:chOff x="1906551" y="1347759"/>
            <a:chExt cx="4746690" cy="714375"/>
          </a:xfrm>
        </p:grpSpPr>
        <p:pic>
          <p:nvPicPr>
            <p:cNvPr id="21530" name="Picture 6"/>
            <p:cNvPicPr>
              <a:picLocks noChangeArrowheads="1"/>
            </p:cNvPicPr>
            <p:nvPr/>
          </p:nvPicPr>
          <p:blipFill>
            <a:blip r:embed="rId5"/>
            <a:srcRect/>
            <a:stretch>
              <a:fillRect/>
            </a:stretch>
          </p:blipFill>
          <p:spPr bwMode="auto">
            <a:xfrm>
              <a:off x="1906551" y="1347759"/>
              <a:ext cx="4746690" cy="714375"/>
            </a:xfrm>
            <a:prstGeom prst="rect">
              <a:avLst/>
            </a:prstGeom>
            <a:noFill/>
            <a:ln w="9525">
              <a:noFill/>
              <a:miter lim="800000"/>
              <a:headEnd/>
              <a:tailEnd/>
            </a:ln>
          </p:spPr>
        </p:pic>
        <p:sp>
          <p:nvSpPr>
            <p:cNvPr id="21531" name="Text Box 49"/>
            <p:cNvSpPr txBox="1">
              <a:spLocks noChangeArrowheads="1"/>
            </p:cNvSpPr>
            <p:nvPr/>
          </p:nvSpPr>
          <p:spPr bwMode="auto">
            <a:xfrm>
              <a:off x="3262748" y="1619222"/>
              <a:ext cx="1204926" cy="180652"/>
            </a:xfrm>
            <a:prstGeom prst="rect">
              <a:avLst/>
            </a:prstGeom>
            <a:noFill/>
            <a:ln w="9525">
              <a:noFill/>
              <a:miter lim="800000"/>
              <a:headEnd/>
              <a:tailEnd/>
            </a:ln>
          </p:spPr>
          <p:txBody>
            <a:bodyPr>
              <a:spAutoFit/>
            </a:bodyPr>
            <a:lstStyle/>
            <a:p>
              <a:r>
                <a:rPr lang="zh-CN" altLang="en-US" b="1">
                  <a:solidFill>
                    <a:schemeClr val="tx2"/>
                  </a:solidFill>
                  <a:latin typeface="楷体_GB2312" pitchFamily="49" charset="-122"/>
                  <a:ea typeface="楷体_GB2312" pitchFamily="49" charset="-122"/>
                  <a:cs typeface="Times New Roman" pitchFamily="18" charset="0"/>
                </a:rPr>
                <a:t>互联网</a:t>
              </a:r>
              <a:endParaRPr lang="en-US" altLang="zh-CN" b="1">
                <a:solidFill>
                  <a:schemeClr val="tx2"/>
                </a:solidFill>
                <a:latin typeface="楷体_GB2312" pitchFamily="49" charset="-122"/>
                <a:ea typeface="楷体_GB2312" pitchFamily="49" charset="-122"/>
                <a:cs typeface="Times New Roman" pitchFamily="18" charset="0"/>
              </a:endParaRPr>
            </a:p>
          </p:txBody>
        </p:sp>
      </p:grpSp>
      <p:sp>
        <p:nvSpPr>
          <p:cNvPr id="25" name="AutoShape 105"/>
          <p:cNvSpPr>
            <a:spLocks noChangeArrowheads="1"/>
          </p:cNvSpPr>
          <p:nvPr/>
        </p:nvSpPr>
        <p:spPr bwMode="auto">
          <a:xfrm rot="1783369">
            <a:off x="7212013" y="2805114"/>
            <a:ext cx="576262" cy="554037"/>
          </a:xfrm>
          <a:prstGeom prst="irregularSeal2">
            <a:avLst/>
          </a:prstGeom>
          <a:solidFill>
            <a:srgbClr val="FF0000"/>
          </a:solidFill>
          <a:ln w="25400" algn="ctr">
            <a:solidFill>
              <a:schemeClr val="tx1"/>
            </a:solidFill>
            <a:miter lim="800000"/>
            <a:headEnd/>
            <a:tailEnd/>
          </a:ln>
        </p:spPr>
        <p:txBody>
          <a:bodyPr wrap="none" anchor="ctr"/>
          <a:lstStyle/>
          <a:p>
            <a:endParaRPr lang="zh-CN" altLang="en-US"/>
          </a:p>
        </p:txBody>
      </p:sp>
      <p:grpSp>
        <p:nvGrpSpPr>
          <p:cNvPr id="9" name="组合 141"/>
          <p:cNvGrpSpPr>
            <a:grpSpLocks/>
          </p:cNvGrpSpPr>
          <p:nvPr/>
        </p:nvGrpSpPr>
        <p:grpSpPr bwMode="auto">
          <a:xfrm rot="10800000">
            <a:off x="3095625" y="4779964"/>
            <a:ext cx="5062538" cy="1570037"/>
            <a:chOff x="5346550" y="1676372"/>
            <a:chExt cx="2803724" cy="585800"/>
          </a:xfrm>
        </p:grpSpPr>
        <p:cxnSp>
          <p:nvCxnSpPr>
            <p:cNvPr id="21527" name="直接连接符 136"/>
            <p:cNvCxnSpPr>
              <a:cxnSpLocks noChangeShapeType="1"/>
            </p:cNvCxnSpPr>
            <p:nvPr/>
          </p:nvCxnSpPr>
          <p:spPr bwMode="auto">
            <a:xfrm>
              <a:off x="5346550" y="1676372"/>
              <a:ext cx="2253066" cy="1588"/>
            </a:xfrm>
            <a:prstGeom prst="line">
              <a:avLst/>
            </a:prstGeom>
            <a:noFill/>
            <a:ln w="44450" algn="ctr">
              <a:solidFill>
                <a:srgbClr val="FF9933"/>
              </a:solidFill>
              <a:prstDash val="dash"/>
              <a:round/>
              <a:headEnd type="triangle" w="med" len="lg"/>
              <a:tailEnd type="none" w="lg" len="med"/>
            </a:ln>
          </p:spPr>
        </p:cxnSp>
        <p:cxnSp>
          <p:nvCxnSpPr>
            <p:cNvPr id="21528" name="直接连接符 138"/>
            <p:cNvCxnSpPr>
              <a:cxnSpLocks noChangeShapeType="1"/>
            </p:cNvCxnSpPr>
            <p:nvPr/>
          </p:nvCxnSpPr>
          <p:spPr bwMode="auto">
            <a:xfrm rot="5400000">
              <a:off x="7311269" y="1967686"/>
              <a:ext cx="584208" cy="1588"/>
            </a:xfrm>
            <a:prstGeom prst="line">
              <a:avLst/>
            </a:prstGeom>
            <a:noFill/>
            <a:ln w="44450" algn="ctr">
              <a:solidFill>
                <a:srgbClr val="FF9933"/>
              </a:solidFill>
              <a:prstDash val="dash"/>
              <a:round/>
              <a:headEnd/>
              <a:tailEnd/>
            </a:ln>
          </p:spPr>
        </p:cxnSp>
        <p:cxnSp>
          <p:nvCxnSpPr>
            <p:cNvPr id="21529" name="直接连接符 140"/>
            <p:cNvCxnSpPr>
              <a:cxnSpLocks noChangeShapeType="1"/>
            </p:cNvCxnSpPr>
            <p:nvPr/>
          </p:nvCxnSpPr>
          <p:spPr bwMode="auto">
            <a:xfrm>
              <a:off x="7602579" y="2260584"/>
              <a:ext cx="547695" cy="1588"/>
            </a:xfrm>
            <a:prstGeom prst="line">
              <a:avLst/>
            </a:prstGeom>
            <a:noFill/>
            <a:ln w="44450" algn="ctr">
              <a:solidFill>
                <a:srgbClr val="FF9933"/>
              </a:solidFill>
              <a:prstDash val="dash"/>
              <a:round/>
              <a:headEnd/>
              <a:tailEnd/>
            </a:ln>
          </p:spPr>
        </p:cxnSp>
      </p:grpSp>
      <p:sp>
        <p:nvSpPr>
          <p:cNvPr id="30" name="Text Box 26"/>
          <p:cNvSpPr txBox="1">
            <a:spLocks noChangeArrowheads="1"/>
          </p:cNvSpPr>
          <p:nvPr/>
        </p:nvSpPr>
        <p:spPr bwMode="auto">
          <a:xfrm>
            <a:off x="4154488" y="5508626"/>
            <a:ext cx="1346200" cy="646113"/>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B</a:t>
            </a:r>
          </a:p>
          <a:p>
            <a:r>
              <a:rPr lang="zh-CN" altLang="en-US" b="1">
                <a:solidFill>
                  <a:srgbClr val="FF0000"/>
                </a:solidFill>
                <a:latin typeface="楷体_GB2312" pitchFamily="49" charset="-122"/>
                <a:ea typeface="楷体_GB2312" pitchFamily="49" charset="-122"/>
                <a:cs typeface="Times New Roman" pitchFamily="18" charset="0"/>
              </a:rPr>
              <a:t>活跃路由器</a:t>
            </a:r>
          </a:p>
        </p:txBody>
      </p:sp>
      <p:sp>
        <p:nvSpPr>
          <p:cNvPr id="31" name="Text Box 24"/>
          <p:cNvSpPr txBox="1">
            <a:spLocks noChangeArrowheads="1"/>
          </p:cNvSpPr>
          <p:nvPr/>
        </p:nvSpPr>
        <p:spPr bwMode="auto">
          <a:xfrm>
            <a:off x="4157663" y="3025776"/>
            <a:ext cx="1346200" cy="646113"/>
          </a:xfrm>
          <a:prstGeom prst="rect">
            <a:avLst/>
          </a:prstGeom>
          <a:noFill/>
          <a:ln w="9525">
            <a:noFill/>
            <a:miter lim="800000"/>
            <a:headEnd/>
            <a:tailEnd/>
          </a:ln>
        </p:spPr>
        <p:txBody>
          <a:bodyPr wrap="none">
            <a:spAutoFit/>
          </a:bodyPr>
          <a:lstStyle/>
          <a:p>
            <a:r>
              <a:rPr lang="zh-CN" altLang="en-US" b="1">
                <a:solidFill>
                  <a:schemeClr val="tx2"/>
                </a:solidFill>
                <a:latin typeface="楷体_GB2312" pitchFamily="49" charset="-122"/>
                <a:ea typeface="楷体_GB2312" pitchFamily="49" charset="-122"/>
                <a:cs typeface="Times New Roman" pitchFamily="18" charset="0"/>
              </a:rPr>
              <a:t>路由器</a:t>
            </a:r>
            <a:r>
              <a:rPr lang="en-US" altLang="zh-CN" b="1">
                <a:solidFill>
                  <a:schemeClr val="tx2"/>
                </a:solidFill>
                <a:latin typeface="楷体_GB2312" pitchFamily="49" charset="-122"/>
                <a:ea typeface="楷体_GB2312" pitchFamily="49" charset="-122"/>
                <a:cs typeface="Times New Roman" pitchFamily="18" charset="0"/>
              </a:rPr>
              <a:t>A</a:t>
            </a:r>
          </a:p>
          <a:p>
            <a:r>
              <a:rPr lang="zh-CN" altLang="en-US" b="1">
                <a:solidFill>
                  <a:srgbClr val="FF0000"/>
                </a:solidFill>
                <a:latin typeface="楷体_GB2312" pitchFamily="49" charset="-122"/>
                <a:ea typeface="楷体_GB2312" pitchFamily="49" charset="-122"/>
                <a:cs typeface="Times New Roman" pitchFamily="18" charset="0"/>
              </a:rPr>
              <a:t>备份路由器</a:t>
            </a:r>
          </a:p>
        </p:txBody>
      </p:sp>
      <p:sp>
        <p:nvSpPr>
          <p:cNvPr id="33" name="矩形 32"/>
          <p:cNvSpPr>
            <a:spLocks noChangeArrowheads="1"/>
          </p:cNvSpPr>
          <p:nvPr/>
        </p:nvSpPr>
        <p:spPr bwMode="auto">
          <a:xfrm>
            <a:off x="1238216" y="1714489"/>
            <a:ext cx="8572500" cy="708025"/>
          </a:xfrm>
          <a:prstGeom prst="rect">
            <a:avLst/>
          </a:prstGeom>
          <a:noFill/>
          <a:ln w="9525">
            <a:noFill/>
            <a:miter lim="800000"/>
            <a:headEnd/>
            <a:tailEnd/>
          </a:ln>
        </p:spPr>
        <p:txBody>
          <a:bodyPr>
            <a:spAutoFit/>
          </a:bodyPr>
          <a:lstStyle/>
          <a:p>
            <a:pPr marL="1200150" lvl="2" indent="-285750" eaLnBrk="0" hangingPunct="0">
              <a:spcBef>
                <a:spcPct val="20000"/>
              </a:spcBef>
              <a:buClr>
                <a:schemeClr val="tx1"/>
              </a:buClr>
            </a:pPr>
            <a:r>
              <a:rPr lang="en-US" altLang="zh-CN" sz="2000" b="1">
                <a:solidFill>
                  <a:schemeClr val="tx2"/>
                </a:solidFill>
                <a:cs typeface="Arial" charset="0"/>
              </a:rPr>
              <a:t>Switch(config-if)#standby </a:t>
            </a:r>
            <a:r>
              <a:rPr lang="en-US" altLang="zh-CN" sz="2000" b="1" i="1">
                <a:solidFill>
                  <a:schemeClr val="tx2"/>
                </a:solidFill>
                <a:cs typeface="Arial" charset="0"/>
              </a:rPr>
              <a:t>group-number</a:t>
            </a:r>
            <a:r>
              <a:rPr lang="en-US" altLang="zh-CN" sz="2000" b="1">
                <a:solidFill>
                  <a:schemeClr val="tx2"/>
                </a:solidFill>
                <a:cs typeface="Arial" charset="0"/>
              </a:rPr>
              <a:t> track</a:t>
            </a:r>
            <a:r>
              <a:rPr lang="en-US" altLang="zh-CN" sz="2000" b="1" i="1">
                <a:solidFill>
                  <a:schemeClr val="tx2"/>
                </a:solidFill>
                <a:cs typeface="Arial" charset="0"/>
              </a:rPr>
              <a:t> type mod/num interface-priority</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9"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fmla="#ppt_w*sin(2.5*pi*$)">
                                          <p:val>
                                            <p:fltVal val="0"/>
                                          </p:val>
                                        </p:tav>
                                        <p:tav tm="100000">
                                          <p:val>
                                            <p:fltVal val="1"/>
                                          </p:val>
                                        </p:tav>
                                      </p:tavLst>
                                    </p:anim>
                                    <p:anim calcmode="lin" valueType="num">
                                      <p:cBhvr>
                                        <p:cTn id="13" dur="500" fill="hold"/>
                                        <p:tgtEl>
                                          <p:spTgt spid="25"/>
                                        </p:tgtEl>
                                        <p:attrNameLst>
                                          <p:attrName>ppt_h</p:attrName>
                                        </p:attrNameLst>
                                      </p:cBhvr>
                                      <p:tavLst>
                                        <p:tav tm="0">
                                          <p:val>
                                            <p:strVal val="#ppt_h"/>
                                          </p:val>
                                        </p:tav>
                                        <p:tav tm="100000">
                                          <p:val>
                                            <p:strVal val="#ppt_h"/>
                                          </p:val>
                                        </p:tav>
                                      </p:tavLst>
                                    </p:anim>
                                  </p:childTnLst>
                                </p:cTn>
                              </p:par>
                              <p:par>
                                <p:cTn id="14" presetID="10" presetClass="exit" presetSubtype="0" fill="hold" grpId="0" nodeType="withEffect">
                                  <p:stCondLst>
                                    <p:cond delay="0"/>
                                  </p:stCondLst>
                                  <p:childTnLst>
                                    <p:animEffect transition="out" filter="fade">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21507">
                                            <p:txEl>
                                              <p:pRg st="1" end="1"/>
                                            </p:txEl>
                                          </p:spTgt>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21507">
                                            <p:txEl>
                                              <p:pRg st="2" end="2"/>
                                            </p:txEl>
                                          </p:spTgt>
                                        </p:tgtEl>
                                        <p:attrNameLst>
                                          <p:attrName>style.visibility</p:attrName>
                                        </p:attrNameLst>
                                      </p:cBhvr>
                                      <p:to>
                                        <p:strVal val="hidden"/>
                                      </p:to>
                                    </p:set>
                                  </p:childTnLst>
                                </p:cTn>
                              </p:par>
                              <p:par>
                                <p:cTn id="40" presetID="1"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 grpId="0"/>
      <p:bldP spid="6" grpId="0"/>
      <p:bldP spid="25" grpId="0" animBg="1"/>
      <p:bldP spid="30" grpId="0"/>
      <p:bldP spid="31" grpId="0"/>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8"/>
          <p:cNvSpPr>
            <a:spLocks noChangeArrowheads="1"/>
          </p:cNvSpPr>
          <p:nvPr/>
        </p:nvSpPr>
        <p:spPr bwMode="auto">
          <a:xfrm>
            <a:off x="2225675" y="3425825"/>
            <a:ext cx="7886700" cy="43180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2531" name="AutoShape 8"/>
          <p:cNvSpPr>
            <a:spLocks noChangeArrowheads="1"/>
          </p:cNvSpPr>
          <p:nvPr/>
        </p:nvSpPr>
        <p:spPr bwMode="auto">
          <a:xfrm>
            <a:off x="2225675" y="2122488"/>
            <a:ext cx="7886700" cy="431800"/>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2532" name="内容占位符 1"/>
          <p:cNvSpPr>
            <a:spLocks noGrp="1"/>
          </p:cNvSpPr>
          <p:nvPr>
            <p:ph idx="1"/>
          </p:nvPr>
        </p:nvSpPr>
        <p:spPr>
          <a:xfrm>
            <a:off x="1738313" y="1143000"/>
            <a:ext cx="8501062" cy="5143500"/>
          </a:xfrm>
        </p:spPr>
        <p:txBody>
          <a:bodyPr/>
          <a:lstStyle/>
          <a:p>
            <a:pPr>
              <a:spcBef>
                <a:spcPts val="675"/>
              </a:spcBef>
            </a:pPr>
            <a:r>
              <a:rPr lang="zh-CN" altLang="en-US"/>
              <a:t>查看</a:t>
            </a:r>
            <a:r>
              <a:rPr lang="en-US" altLang="zh-CN"/>
              <a:t>HSRP</a:t>
            </a:r>
            <a:r>
              <a:rPr lang="zh-CN" altLang="en-US"/>
              <a:t>的状态</a:t>
            </a:r>
            <a:endParaRPr lang="en-US" altLang="zh-CN"/>
          </a:p>
          <a:p>
            <a:pPr lvl="1">
              <a:spcBef>
                <a:spcPts val="475"/>
              </a:spcBef>
            </a:pPr>
            <a:r>
              <a:rPr lang="zh-CN" altLang="en-US"/>
              <a:t>查看</a:t>
            </a:r>
            <a:r>
              <a:rPr lang="en-US" altLang="zh-CN"/>
              <a:t>HSRP</a:t>
            </a:r>
            <a:r>
              <a:rPr lang="zh-CN" altLang="en-US"/>
              <a:t>摘要信息</a:t>
            </a:r>
            <a:endParaRPr lang="en-US" altLang="zh-CN"/>
          </a:p>
          <a:p>
            <a:pPr lvl="1">
              <a:spcBef>
                <a:spcPts val="475"/>
              </a:spcBef>
              <a:buNone/>
            </a:pPr>
            <a:r>
              <a:rPr lang="en-US" altLang="zh-CN" sz="2000"/>
              <a:t>Switch#show standby [</a:t>
            </a:r>
            <a:r>
              <a:rPr lang="en-US" altLang="zh-CN" sz="2000" i="1"/>
              <a:t>type mod/num</a:t>
            </a:r>
            <a:r>
              <a:rPr lang="en-US" altLang="zh-CN" sz="2000"/>
              <a:t>] [</a:t>
            </a:r>
            <a:r>
              <a:rPr lang="en-US" altLang="zh-CN" sz="2000" i="1"/>
              <a:t>group-number</a:t>
            </a:r>
            <a:r>
              <a:rPr lang="en-US" altLang="zh-CN" sz="2000"/>
              <a:t>] brief</a:t>
            </a:r>
          </a:p>
          <a:p>
            <a:pPr lvl="1">
              <a:spcBef>
                <a:spcPts val="475"/>
              </a:spcBef>
              <a:buNone/>
            </a:pPr>
            <a:endParaRPr lang="en-US" altLang="zh-CN"/>
          </a:p>
          <a:p>
            <a:pPr lvl="1">
              <a:spcBef>
                <a:spcPts val="475"/>
              </a:spcBef>
            </a:pPr>
            <a:r>
              <a:rPr lang="zh-CN" altLang="en-US"/>
              <a:t>查看</a:t>
            </a:r>
            <a:r>
              <a:rPr lang="en-US" altLang="zh-CN"/>
              <a:t>HSRP</a:t>
            </a:r>
            <a:r>
              <a:rPr lang="zh-CN" altLang="en-US"/>
              <a:t>详细信息</a:t>
            </a:r>
            <a:endParaRPr lang="en-US" altLang="zh-CN"/>
          </a:p>
          <a:p>
            <a:pPr lvl="1">
              <a:spcBef>
                <a:spcPts val="475"/>
              </a:spcBef>
              <a:buNone/>
            </a:pPr>
            <a:r>
              <a:rPr lang="en-US" altLang="zh-CN" sz="2000"/>
              <a:t>Switch#show standby</a:t>
            </a:r>
            <a:endParaRPr lang="zh-CN" altLang="en-US" sz="2000"/>
          </a:p>
          <a:p>
            <a:pPr>
              <a:spcBef>
                <a:spcPts val="675"/>
              </a:spcBef>
            </a:pPr>
            <a:endParaRPr lang="zh-CN" altLang="en-US"/>
          </a:p>
        </p:txBody>
      </p:sp>
      <p:sp>
        <p:nvSpPr>
          <p:cNvPr id="22533" name="标题 2"/>
          <p:cNvSpPr>
            <a:spLocks noGrp="1"/>
          </p:cNvSpPr>
          <p:nvPr>
            <p:ph type="title"/>
          </p:nvPr>
        </p:nvSpPr>
        <p:spPr/>
        <p:txBody>
          <a:bodyPr/>
          <a:lstStyle/>
          <a:p>
            <a:r>
              <a:rPr lang="en-US" altLang="zh-CN"/>
              <a:t>HSRP</a:t>
            </a:r>
            <a:r>
              <a:rPr lang="zh-CN" altLang="en-US"/>
              <a:t>的配置</a:t>
            </a:r>
            <a:r>
              <a:rPr lang="en-US" altLang="zh-CN"/>
              <a:t>4-4</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1"/>
          <p:cNvSpPr>
            <a:spLocks noGrp="1"/>
          </p:cNvSpPr>
          <p:nvPr>
            <p:ph idx="1"/>
          </p:nvPr>
        </p:nvSpPr>
        <p:spPr>
          <a:xfrm>
            <a:off x="1738313" y="1143001"/>
            <a:ext cx="8501062" cy="1857375"/>
          </a:xfrm>
        </p:spPr>
        <p:txBody>
          <a:bodyPr/>
          <a:lstStyle/>
          <a:p>
            <a:pPr>
              <a:spcBef>
                <a:spcPts val="675"/>
              </a:spcBef>
            </a:pPr>
            <a:endParaRPr lang="zh-CN" altLang="en-US"/>
          </a:p>
        </p:txBody>
      </p:sp>
      <p:sp>
        <p:nvSpPr>
          <p:cNvPr id="23555" name="标题 2"/>
          <p:cNvSpPr>
            <a:spLocks noGrp="1"/>
          </p:cNvSpPr>
          <p:nvPr>
            <p:ph type="title"/>
          </p:nvPr>
        </p:nvSpPr>
        <p:spPr/>
        <p:txBody>
          <a:bodyPr/>
          <a:lstStyle/>
          <a:p>
            <a:r>
              <a:rPr lang="en-US" altLang="zh-CN"/>
              <a:t>HSRP</a:t>
            </a:r>
            <a:r>
              <a:rPr lang="zh-CN" altLang="en-US"/>
              <a:t>的配置案例</a:t>
            </a:r>
            <a:r>
              <a:rPr lang="en-US" altLang="zh-CN"/>
              <a:t>3-1</a:t>
            </a:r>
            <a:endParaRPr lang="zh-CN" altLang="en-US"/>
          </a:p>
        </p:txBody>
      </p:sp>
      <p:grpSp>
        <p:nvGrpSpPr>
          <p:cNvPr id="2" name="组合 73"/>
          <p:cNvGrpSpPr>
            <a:grpSpLocks/>
          </p:cNvGrpSpPr>
          <p:nvPr/>
        </p:nvGrpSpPr>
        <p:grpSpPr bwMode="auto">
          <a:xfrm>
            <a:off x="1809751" y="1214438"/>
            <a:ext cx="8273357" cy="5266312"/>
            <a:chOff x="357388" y="1201707"/>
            <a:chExt cx="8273319" cy="5266398"/>
          </a:xfrm>
        </p:grpSpPr>
        <p:cxnSp>
          <p:nvCxnSpPr>
            <p:cNvPr id="23557" name="直接连接符 43"/>
            <p:cNvCxnSpPr>
              <a:cxnSpLocks noChangeShapeType="1"/>
            </p:cNvCxnSpPr>
            <p:nvPr/>
          </p:nvCxnSpPr>
          <p:spPr bwMode="auto">
            <a:xfrm>
              <a:off x="2654326" y="2041506"/>
              <a:ext cx="3816350" cy="1588"/>
            </a:xfrm>
            <a:prstGeom prst="line">
              <a:avLst/>
            </a:prstGeom>
            <a:noFill/>
            <a:ln w="44450" algn="ctr">
              <a:solidFill>
                <a:srgbClr val="FF3300"/>
              </a:solidFill>
              <a:round/>
              <a:headEnd/>
              <a:tailEnd/>
            </a:ln>
          </p:spPr>
        </p:cxnSp>
        <p:sp>
          <p:nvSpPr>
            <p:cNvPr id="6" name="Text Box 33"/>
            <p:cNvSpPr txBox="1">
              <a:spLocks noChangeArrowheads="1"/>
            </p:cNvSpPr>
            <p:nvPr/>
          </p:nvSpPr>
          <p:spPr bwMode="auto">
            <a:xfrm>
              <a:off x="3086289" y="3465519"/>
              <a:ext cx="708845"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F0/24</a:t>
              </a:r>
            </a:p>
          </p:txBody>
        </p:sp>
        <p:sp>
          <p:nvSpPr>
            <p:cNvPr id="7" name="Text Box 33"/>
            <p:cNvSpPr txBox="1">
              <a:spLocks noChangeArrowheads="1"/>
            </p:cNvSpPr>
            <p:nvPr/>
          </p:nvSpPr>
          <p:spPr bwMode="auto">
            <a:xfrm>
              <a:off x="5277029" y="3465519"/>
              <a:ext cx="708845"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F0/24</a:t>
              </a:r>
            </a:p>
          </p:txBody>
        </p:sp>
        <p:sp>
          <p:nvSpPr>
            <p:cNvPr id="8" name="Text Box 33"/>
            <p:cNvSpPr txBox="1">
              <a:spLocks noChangeArrowheads="1"/>
            </p:cNvSpPr>
            <p:nvPr/>
          </p:nvSpPr>
          <p:spPr bwMode="auto">
            <a:xfrm>
              <a:off x="2575116" y="4159267"/>
              <a:ext cx="708845"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F0/23</a:t>
              </a:r>
            </a:p>
          </p:txBody>
        </p:sp>
        <p:sp>
          <p:nvSpPr>
            <p:cNvPr id="9" name="Text Box 33"/>
            <p:cNvSpPr txBox="1">
              <a:spLocks noChangeArrowheads="1"/>
            </p:cNvSpPr>
            <p:nvPr/>
          </p:nvSpPr>
          <p:spPr bwMode="auto">
            <a:xfrm>
              <a:off x="3305363" y="4487886"/>
              <a:ext cx="708845"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F0/23</a:t>
              </a:r>
            </a:p>
          </p:txBody>
        </p:sp>
        <p:sp>
          <p:nvSpPr>
            <p:cNvPr id="10" name="Text Box 33"/>
            <p:cNvSpPr txBox="1">
              <a:spLocks noChangeArrowheads="1"/>
            </p:cNvSpPr>
            <p:nvPr/>
          </p:nvSpPr>
          <p:spPr bwMode="auto">
            <a:xfrm>
              <a:off x="5057955" y="4487886"/>
              <a:ext cx="708845"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F0/24</a:t>
              </a:r>
            </a:p>
          </p:txBody>
        </p:sp>
        <p:sp>
          <p:nvSpPr>
            <p:cNvPr id="11" name="Text Box 33"/>
            <p:cNvSpPr txBox="1">
              <a:spLocks noChangeArrowheads="1"/>
            </p:cNvSpPr>
            <p:nvPr/>
          </p:nvSpPr>
          <p:spPr bwMode="auto">
            <a:xfrm>
              <a:off x="3929247" y="5007006"/>
              <a:ext cx="595032"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tx2"/>
                  </a:solidFill>
                  <a:latin typeface="+mj-lt"/>
                  <a:cs typeface="Times New Roman" pitchFamily="18" charset="0"/>
                </a:rPr>
                <a:t>F0/1</a:t>
              </a:r>
            </a:p>
          </p:txBody>
        </p:sp>
        <p:pic>
          <p:nvPicPr>
            <p:cNvPr id="23564" name="Picture 10"/>
            <p:cNvPicPr>
              <a:picLocks noChangeArrowheads="1"/>
            </p:cNvPicPr>
            <p:nvPr/>
          </p:nvPicPr>
          <p:blipFill>
            <a:blip r:embed="rId2"/>
            <a:srcRect/>
            <a:stretch>
              <a:fillRect/>
            </a:stretch>
          </p:blipFill>
          <p:spPr bwMode="auto">
            <a:xfrm>
              <a:off x="4206870" y="1676376"/>
              <a:ext cx="912825" cy="590650"/>
            </a:xfrm>
            <a:prstGeom prst="rect">
              <a:avLst/>
            </a:prstGeom>
            <a:noFill/>
            <a:ln w="9525">
              <a:noFill/>
              <a:miter lim="800000"/>
              <a:headEnd/>
              <a:tailEnd/>
            </a:ln>
          </p:spPr>
        </p:pic>
        <p:sp>
          <p:nvSpPr>
            <p:cNvPr id="13" name="Text Box 33"/>
            <p:cNvSpPr txBox="1">
              <a:spLocks noChangeArrowheads="1"/>
            </p:cNvSpPr>
            <p:nvPr/>
          </p:nvSpPr>
          <p:spPr bwMode="auto">
            <a:xfrm>
              <a:off x="2600516" y="3025774"/>
              <a:ext cx="595032"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tx2"/>
                  </a:solidFill>
                  <a:latin typeface="+mj-lt"/>
                  <a:cs typeface="Times New Roman" pitchFamily="18" charset="0"/>
                </a:rPr>
                <a:t>F0/1</a:t>
              </a:r>
            </a:p>
          </p:txBody>
        </p:sp>
        <p:sp>
          <p:nvSpPr>
            <p:cNvPr id="14" name="Text Box 33"/>
            <p:cNvSpPr txBox="1">
              <a:spLocks noChangeArrowheads="1"/>
            </p:cNvSpPr>
            <p:nvPr/>
          </p:nvSpPr>
          <p:spPr bwMode="auto">
            <a:xfrm>
              <a:off x="5875513" y="3024187"/>
              <a:ext cx="595032"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tx2"/>
                  </a:solidFill>
                  <a:latin typeface="+mj-lt"/>
                  <a:cs typeface="Times New Roman" pitchFamily="18" charset="0"/>
                </a:rPr>
                <a:t>F0/1</a:t>
              </a:r>
            </a:p>
          </p:txBody>
        </p:sp>
        <p:sp>
          <p:nvSpPr>
            <p:cNvPr id="15" name="Text Box 33"/>
            <p:cNvSpPr txBox="1">
              <a:spLocks noChangeArrowheads="1"/>
            </p:cNvSpPr>
            <p:nvPr/>
          </p:nvSpPr>
          <p:spPr bwMode="auto">
            <a:xfrm>
              <a:off x="3622861" y="1708127"/>
              <a:ext cx="595032"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tx2"/>
                  </a:solidFill>
                  <a:latin typeface="+mj-lt"/>
                  <a:cs typeface="Times New Roman" pitchFamily="18" charset="0"/>
                </a:rPr>
                <a:t>F0/0</a:t>
              </a:r>
            </a:p>
          </p:txBody>
        </p:sp>
        <p:sp>
          <p:nvSpPr>
            <p:cNvPr id="16" name="Text Box 33"/>
            <p:cNvSpPr txBox="1">
              <a:spLocks noChangeArrowheads="1"/>
            </p:cNvSpPr>
            <p:nvPr/>
          </p:nvSpPr>
          <p:spPr bwMode="auto">
            <a:xfrm>
              <a:off x="5015092" y="1744641"/>
              <a:ext cx="595032"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F0/1</a:t>
              </a:r>
            </a:p>
          </p:txBody>
        </p:sp>
        <p:grpSp>
          <p:nvGrpSpPr>
            <p:cNvPr id="3" name="组合 128"/>
            <p:cNvGrpSpPr>
              <a:grpSpLocks/>
            </p:cNvGrpSpPr>
            <p:nvPr/>
          </p:nvGrpSpPr>
          <p:grpSpPr bwMode="auto">
            <a:xfrm>
              <a:off x="6105546" y="1201707"/>
              <a:ext cx="1752624" cy="839799"/>
              <a:chOff x="2694622" y="1608768"/>
              <a:chExt cx="1898677" cy="715181"/>
            </a:xfrm>
          </p:grpSpPr>
          <p:pic>
            <p:nvPicPr>
              <p:cNvPr id="23591" name="Picture 6"/>
              <p:cNvPicPr>
                <a:picLocks noChangeArrowheads="1"/>
              </p:cNvPicPr>
              <p:nvPr/>
            </p:nvPicPr>
            <p:blipFill>
              <a:blip r:embed="rId3"/>
              <a:srcRect/>
              <a:stretch>
                <a:fillRect/>
              </a:stretch>
            </p:blipFill>
            <p:spPr bwMode="auto">
              <a:xfrm>
                <a:off x="2694622" y="1608768"/>
                <a:ext cx="1898677" cy="715181"/>
              </a:xfrm>
              <a:prstGeom prst="rect">
                <a:avLst/>
              </a:prstGeom>
              <a:noFill/>
              <a:ln w="9525">
                <a:noFill/>
                <a:miter lim="800000"/>
                <a:headEnd/>
                <a:tailEnd/>
              </a:ln>
            </p:spPr>
          </p:pic>
          <p:sp>
            <p:nvSpPr>
              <p:cNvPr id="40" name="Text Box 49"/>
              <p:cNvSpPr txBox="1">
                <a:spLocks noChangeArrowheads="1"/>
              </p:cNvSpPr>
              <p:nvPr/>
            </p:nvSpPr>
            <p:spPr bwMode="auto">
              <a:xfrm>
                <a:off x="3209004" y="1795338"/>
                <a:ext cx="1107541" cy="287966"/>
              </a:xfrm>
              <a:prstGeom prst="rect">
                <a:avLst/>
              </a:prstGeom>
              <a:noFill/>
              <a:ln w="9525">
                <a:noFill/>
                <a:miter lim="800000"/>
                <a:headEnd/>
                <a:tailEnd/>
              </a:ln>
            </p:spPr>
            <p:txBody>
              <a:bodyPr>
                <a:spAutoFit/>
              </a:bodyPr>
              <a:lstStyle/>
              <a:p>
                <a:pPr>
                  <a:defRPr/>
                </a:pPr>
                <a:r>
                  <a:rPr lang="en-US" altLang="zh-CN" sz="1600" b="1">
                    <a:solidFill>
                      <a:schemeClr val="tx2"/>
                    </a:solidFill>
                    <a:latin typeface="+mj-lt"/>
                    <a:cs typeface="Times New Roman" pitchFamily="18" charset="0"/>
                  </a:rPr>
                  <a:t>Internet</a:t>
                </a:r>
              </a:p>
            </p:txBody>
          </p:sp>
        </p:grpSp>
        <p:sp>
          <p:nvSpPr>
            <p:cNvPr id="18" name="Text Box 33"/>
            <p:cNvSpPr txBox="1">
              <a:spLocks noChangeArrowheads="1"/>
            </p:cNvSpPr>
            <p:nvPr/>
          </p:nvSpPr>
          <p:spPr bwMode="auto">
            <a:xfrm>
              <a:off x="4540432" y="1311246"/>
              <a:ext cx="595032" cy="338560"/>
            </a:xfrm>
            <a:prstGeom prst="rect">
              <a:avLst/>
            </a:prstGeom>
            <a:noFill/>
            <a:ln w="9525" algn="ctr">
              <a:noFill/>
              <a:miter lim="800000"/>
              <a:headEnd/>
              <a:tailEnd/>
            </a:ln>
          </p:spPr>
          <p:txBody>
            <a:bodyPr wrap="none" anchorCtr="1">
              <a:spAutoFit/>
            </a:bodyPr>
            <a:lstStyle/>
            <a:p>
              <a:pPr>
                <a:defRPr/>
              </a:pPr>
              <a:r>
                <a:rPr lang="en-US" altLang="zh-CN" sz="1600" b="1">
                  <a:solidFill>
                    <a:schemeClr val="tx2"/>
                  </a:solidFill>
                  <a:latin typeface="+mj-lt"/>
                  <a:cs typeface="Times New Roman" pitchFamily="18" charset="0"/>
                </a:rPr>
                <a:t>F1/0</a:t>
              </a:r>
            </a:p>
          </p:txBody>
        </p:sp>
        <p:sp>
          <p:nvSpPr>
            <p:cNvPr id="19" name="Text Box 24"/>
            <p:cNvSpPr txBox="1">
              <a:spLocks noChangeArrowheads="1"/>
            </p:cNvSpPr>
            <p:nvPr/>
          </p:nvSpPr>
          <p:spPr bwMode="auto">
            <a:xfrm>
              <a:off x="357388" y="3429005"/>
              <a:ext cx="1701099" cy="584785"/>
            </a:xfrm>
            <a:prstGeom prst="rect">
              <a:avLst/>
            </a:prstGeom>
            <a:noFill/>
            <a:ln w="9525">
              <a:noFill/>
              <a:miter lim="800000"/>
              <a:headEnd/>
              <a:tailEnd/>
            </a:ln>
          </p:spPr>
          <p:txBody>
            <a:bodyPr wrap="none">
              <a:spAutoFit/>
            </a:bodyPr>
            <a:lstStyle/>
            <a:p>
              <a:pPr>
                <a:defRPr/>
              </a:pPr>
              <a:r>
                <a:rPr lang="en-US" altLang="zh-CN" sz="1600" b="1" dirty="0">
                  <a:solidFill>
                    <a:schemeClr val="tx2"/>
                  </a:solidFill>
                  <a:latin typeface="+mj-lt"/>
                  <a:cs typeface="Times New Roman" pitchFamily="18" charset="0"/>
                </a:rPr>
                <a:t>SW1  </a:t>
              </a:r>
              <a:r>
                <a:rPr lang="zh-CN" altLang="en-US" sz="1600" b="1" dirty="0">
                  <a:solidFill>
                    <a:schemeClr val="tx2"/>
                  </a:solidFill>
                  <a:latin typeface="+mj-lt"/>
                  <a:cs typeface="Times New Roman" pitchFamily="18" charset="0"/>
                </a:rPr>
                <a:t>优先级</a:t>
              </a:r>
              <a:r>
                <a:rPr lang="en-US" altLang="zh-CN" sz="1600" b="1" dirty="0">
                  <a:solidFill>
                    <a:schemeClr val="tx2"/>
                  </a:solidFill>
                  <a:latin typeface="+mj-lt"/>
                  <a:cs typeface="Times New Roman" pitchFamily="18" charset="0"/>
                </a:rPr>
                <a:t>200</a:t>
              </a:r>
            </a:p>
            <a:p>
              <a:pPr>
                <a:defRPr/>
              </a:pPr>
              <a:r>
                <a:rPr lang="en-US" altLang="zh-CN" sz="1600" b="1" dirty="0">
                  <a:solidFill>
                    <a:schemeClr val="tx2"/>
                  </a:solidFill>
                  <a:latin typeface="+mj-lt"/>
                  <a:cs typeface="Times New Roman" pitchFamily="18" charset="0"/>
                </a:rPr>
                <a:t>192.168.1.1/24</a:t>
              </a:r>
            </a:p>
          </p:txBody>
        </p:sp>
        <p:sp>
          <p:nvSpPr>
            <p:cNvPr id="20" name="Text Box 26"/>
            <p:cNvSpPr txBox="1">
              <a:spLocks noChangeArrowheads="1"/>
            </p:cNvSpPr>
            <p:nvPr/>
          </p:nvSpPr>
          <p:spPr bwMode="auto">
            <a:xfrm>
              <a:off x="6929608" y="3392493"/>
              <a:ext cx="1701099" cy="584785"/>
            </a:xfrm>
            <a:prstGeom prst="rect">
              <a:avLst/>
            </a:prstGeom>
            <a:noFill/>
            <a:ln w="9525">
              <a:noFill/>
              <a:miter lim="800000"/>
              <a:headEnd/>
              <a:tailEnd/>
            </a:ln>
          </p:spPr>
          <p:txBody>
            <a:bodyPr wrap="none">
              <a:spAutoFit/>
            </a:bodyPr>
            <a:lstStyle/>
            <a:p>
              <a:pPr>
                <a:defRPr/>
              </a:pPr>
              <a:r>
                <a:rPr lang="en-US" altLang="zh-CN" sz="1600" b="1" dirty="0">
                  <a:solidFill>
                    <a:schemeClr val="tx2"/>
                  </a:solidFill>
                  <a:latin typeface="+mj-lt"/>
                  <a:cs typeface="Times New Roman" pitchFamily="18" charset="0"/>
                </a:rPr>
                <a:t>SW2  </a:t>
              </a:r>
              <a:r>
                <a:rPr lang="zh-CN" altLang="en-US" sz="1600" b="1" dirty="0">
                  <a:solidFill>
                    <a:schemeClr val="tx2"/>
                  </a:solidFill>
                  <a:latin typeface="+mj-lt"/>
                  <a:cs typeface="Times New Roman" pitchFamily="18" charset="0"/>
                </a:rPr>
                <a:t>优先级</a:t>
              </a:r>
              <a:r>
                <a:rPr lang="en-US" altLang="zh-CN" sz="1600" b="1" dirty="0">
                  <a:solidFill>
                    <a:schemeClr val="tx2"/>
                  </a:solidFill>
                  <a:latin typeface="+mj-lt"/>
                  <a:cs typeface="Times New Roman" pitchFamily="18" charset="0"/>
                </a:rPr>
                <a:t>150</a:t>
              </a:r>
            </a:p>
            <a:p>
              <a:pPr>
                <a:defRPr/>
              </a:pPr>
              <a:r>
                <a:rPr lang="en-US" altLang="zh-CN" sz="1600" b="1" dirty="0">
                  <a:solidFill>
                    <a:schemeClr val="tx2"/>
                  </a:solidFill>
                  <a:latin typeface="+mj-lt"/>
                  <a:cs typeface="Times New Roman" pitchFamily="18" charset="0"/>
                </a:rPr>
                <a:t>192.168.1.2/24</a:t>
              </a:r>
            </a:p>
          </p:txBody>
        </p:sp>
        <p:sp>
          <p:nvSpPr>
            <p:cNvPr id="21" name="Text Box 30"/>
            <p:cNvSpPr txBox="1">
              <a:spLocks noChangeArrowheads="1"/>
            </p:cNvSpPr>
            <p:nvPr/>
          </p:nvSpPr>
          <p:spPr bwMode="auto">
            <a:xfrm>
              <a:off x="3878447" y="2406639"/>
              <a:ext cx="1495915" cy="584785"/>
            </a:xfrm>
            <a:prstGeom prst="rect">
              <a:avLst/>
            </a:prstGeom>
            <a:noFill/>
            <a:ln w="9525">
              <a:noFill/>
              <a:miter lim="800000"/>
              <a:headEnd/>
              <a:tailEnd/>
            </a:ln>
          </p:spPr>
          <p:txBody>
            <a:bodyPr wrap="none">
              <a:spAutoFit/>
            </a:bodyPr>
            <a:lstStyle/>
            <a:p>
              <a:pPr>
                <a:defRPr/>
              </a:pPr>
              <a:r>
                <a:rPr lang="zh-CN" altLang="en-US" sz="1600" b="1" dirty="0">
                  <a:solidFill>
                    <a:schemeClr val="tx2"/>
                  </a:solidFill>
                  <a:latin typeface="+mj-lt"/>
                  <a:cs typeface="Times New Roman" pitchFamily="18" charset="0"/>
                </a:rPr>
                <a:t>虚拟路由器</a:t>
              </a:r>
            </a:p>
            <a:p>
              <a:pPr>
                <a:defRPr/>
              </a:pPr>
              <a:r>
                <a:rPr lang="en-US" altLang="zh-CN" sz="1600" b="1" dirty="0">
                  <a:solidFill>
                    <a:schemeClr val="tx2"/>
                  </a:solidFill>
                  <a:latin typeface="+mj-lt"/>
                  <a:cs typeface="Times New Roman" pitchFamily="18" charset="0"/>
                </a:rPr>
                <a:t>192.168.1.254</a:t>
              </a:r>
            </a:p>
          </p:txBody>
        </p:sp>
        <p:cxnSp>
          <p:nvCxnSpPr>
            <p:cNvPr id="23574" name="直接连接符 98"/>
            <p:cNvCxnSpPr>
              <a:cxnSpLocks noChangeShapeType="1"/>
            </p:cNvCxnSpPr>
            <p:nvPr/>
          </p:nvCxnSpPr>
          <p:spPr bwMode="auto">
            <a:xfrm rot="5400000">
              <a:off x="4067586" y="4809372"/>
              <a:ext cx="474663" cy="0"/>
            </a:xfrm>
            <a:prstGeom prst="line">
              <a:avLst/>
            </a:prstGeom>
            <a:noFill/>
            <a:ln w="15875" algn="ctr">
              <a:solidFill>
                <a:schemeClr val="tx2"/>
              </a:solidFill>
              <a:round/>
              <a:headEnd/>
              <a:tailEnd/>
            </a:ln>
          </p:spPr>
        </p:cxnSp>
        <p:pic>
          <p:nvPicPr>
            <p:cNvPr id="23575" name="Picture 12"/>
            <p:cNvPicPr>
              <a:picLocks noChangeAspect="1" noChangeArrowheads="1"/>
            </p:cNvPicPr>
            <p:nvPr/>
          </p:nvPicPr>
          <p:blipFill>
            <a:blip r:embed="rId4">
              <a:lum bright="70000" contrast="-70000"/>
            </a:blip>
            <a:srcRect/>
            <a:stretch>
              <a:fillRect/>
            </a:stretch>
          </p:blipFill>
          <p:spPr bwMode="auto">
            <a:xfrm>
              <a:off x="4243205" y="2916278"/>
              <a:ext cx="771525" cy="654050"/>
            </a:xfrm>
            <a:prstGeom prst="rect">
              <a:avLst/>
            </a:prstGeom>
            <a:noFill/>
            <a:ln w="9525">
              <a:noFill/>
              <a:miter lim="800000"/>
              <a:headEnd/>
              <a:tailEnd/>
            </a:ln>
          </p:spPr>
        </p:pic>
        <p:cxnSp>
          <p:nvCxnSpPr>
            <p:cNvPr id="23576" name="直接连接符 43"/>
            <p:cNvCxnSpPr>
              <a:cxnSpLocks noChangeShapeType="1"/>
            </p:cNvCxnSpPr>
            <p:nvPr/>
          </p:nvCxnSpPr>
          <p:spPr bwMode="auto">
            <a:xfrm>
              <a:off x="2644393" y="4816515"/>
              <a:ext cx="3816350" cy="1588"/>
            </a:xfrm>
            <a:prstGeom prst="line">
              <a:avLst/>
            </a:prstGeom>
            <a:noFill/>
            <a:ln w="44450" algn="ctr">
              <a:solidFill>
                <a:srgbClr val="FF3300"/>
              </a:solidFill>
              <a:round/>
              <a:headEnd/>
              <a:tailEnd/>
            </a:ln>
          </p:spPr>
        </p:cxnSp>
        <p:cxnSp>
          <p:nvCxnSpPr>
            <p:cNvPr id="23577" name="直接连接符 44"/>
            <p:cNvCxnSpPr>
              <a:cxnSpLocks noChangeShapeType="1"/>
            </p:cNvCxnSpPr>
            <p:nvPr/>
          </p:nvCxnSpPr>
          <p:spPr bwMode="auto">
            <a:xfrm rot="5400000">
              <a:off x="5063887" y="3431649"/>
              <a:ext cx="2808000" cy="1588"/>
            </a:xfrm>
            <a:prstGeom prst="line">
              <a:avLst/>
            </a:prstGeom>
            <a:noFill/>
            <a:ln w="44450" algn="ctr">
              <a:solidFill>
                <a:srgbClr val="FF3300"/>
              </a:solidFill>
              <a:round/>
              <a:headEnd/>
              <a:tailEnd/>
            </a:ln>
          </p:spPr>
        </p:cxnSp>
        <p:cxnSp>
          <p:nvCxnSpPr>
            <p:cNvPr id="23578" name="直接连接符 45"/>
            <p:cNvCxnSpPr>
              <a:cxnSpLocks noChangeShapeType="1"/>
            </p:cNvCxnSpPr>
            <p:nvPr/>
          </p:nvCxnSpPr>
          <p:spPr bwMode="auto">
            <a:xfrm rot="5400000">
              <a:off x="1241187" y="3431649"/>
              <a:ext cx="2808000" cy="1588"/>
            </a:xfrm>
            <a:prstGeom prst="line">
              <a:avLst/>
            </a:prstGeom>
            <a:noFill/>
            <a:ln w="44450" algn="ctr">
              <a:solidFill>
                <a:srgbClr val="FF3300"/>
              </a:solidFill>
              <a:round/>
              <a:headEnd/>
              <a:tailEnd/>
            </a:ln>
          </p:spPr>
        </p:cxnSp>
        <p:pic>
          <p:nvPicPr>
            <p:cNvPr id="23579" name="Picture 4"/>
            <p:cNvPicPr>
              <a:picLocks noChangeAspect="1" noChangeArrowheads="1"/>
            </p:cNvPicPr>
            <p:nvPr/>
          </p:nvPicPr>
          <p:blipFill>
            <a:blip r:embed="rId5"/>
            <a:srcRect/>
            <a:stretch>
              <a:fillRect/>
            </a:stretch>
          </p:blipFill>
          <p:spPr bwMode="auto">
            <a:xfrm>
              <a:off x="3995356" y="4524415"/>
              <a:ext cx="1185862" cy="525463"/>
            </a:xfrm>
            <a:prstGeom prst="rect">
              <a:avLst/>
            </a:prstGeom>
            <a:noFill/>
            <a:ln w="9525">
              <a:noFill/>
              <a:miter lim="800000"/>
              <a:headEnd/>
              <a:tailEnd/>
            </a:ln>
          </p:spPr>
        </p:pic>
        <p:cxnSp>
          <p:nvCxnSpPr>
            <p:cNvPr id="23580" name="直接连接符 46"/>
            <p:cNvCxnSpPr>
              <a:cxnSpLocks noChangeShapeType="1"/>
            </p:cNvCxnSpPr>
            <p:nvPr/>
          </p:nvCxnSpPr>
          <p:spPr bwMode="auto">
            <a:xfrm rot="5400000">
              <a:off x="4192206" y="5394365"/>
              <a:ext cx="792162" cy="1588"/>
            </a:xfrm>
            <a:prstGeom prst="line">
              <a:avLst/>
            </a:prstGeom>
            <a:noFill/>
            <a:ln w="44450" algn="ctr">
              <a:solidFill>
                <a:srgbClr val="FF3300"/>
              </a:solidFill>
              <a:round/>
              <a:headEnd/>
              <a:tailEnd/>
            </a:ln>
          </p:spPr>
        </p:cxnSp>
        <p:sp>
          <p:nvSpPr>
            <p:cNvPr id="29" name="Text Box 33"/>
            <p:cNvSpPr txBox="1">
              <a:spLocks noChangeArrowheads="1"/>
            </p:cNvSpPr>
            <p:nvPr/>
          </p:nvSpPr>
          <p:spPr bwMode="auto">
            <a:xfrm>
              <a:off x="4189596" y="4743477"/>
              <a:ext cx="628695"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bg1"/>
                  </a:solidFill>
                  <a:latin typeface="+mj-lt"/>
                  <a:cs typeface="Times New Roman" pitchFamily="18" charset="0"/>
                </a:rPr>
                <a:t>SW3</a:t>
              </a:r>
            </a:p>
          </p:txBody>
        </p:sp>
        <p:pic>
          <p:nvPicPr>
            <p:cNvPr id="23582" name="Picture 12"/>
            <p:cNvPicPr>
              <a:picLocks noChangeAspect="1" noChangeArrowheads="1"/>
            </p:cNvPicPr>
            <p:nvPr/>
          </p:nvPicPr>
          <p:blipFill>
            <a:blip r:embed="rId4"/>
            <a:srcRect/>
            <a:stretch>
              <a:fillRect/>
            </a:stretch>
          </p:blipFill>
          <p:spPr bwMode="auto">
            <a:xfrm>
              <a:off x="5970206" y="3356015"/>
              <a:ext cx="1019175" cy="863600"/>
            </a:xfrm>
            <a:prstGeom prst="rect">
              <a:avLst/>
            </a:prstGeom>
            <a:noFill/>
            <a:ln w="9525">
              <a:noFill/>
              <a:miter lim="800000"/>
              <a:headEnd/>
              <a:tailEnd/>
            </a:ln>
          </p:spPr>
        </p:pic>
        <p:pic>
          <p:nvPicPr>
            <p:cNvPr id="23583" name="Picture 12"/>
            <p:cNvPicPr>
              <a:picLocks noChangeAspect="1" noChangeArrowheads="1"/>
            </p:cNvPicPr>
            <p:nvPr/>
          </p:nvPicPr>
          <p:blipFill>
            <a:blip r:embed="rId4"/>
            <a:srcRect/>
            <a:stretch>
              <a:fillRect/>
            </a:stretch>
          </p:blipFill>
          <p:spPr bwMode="auto">
            <a:xfrm>
              <a:off x="2141156" y="3356015"/>
              <a:ext cx="1019175" cy="863600"/>
            </a:xfrm>
            <a:prstGeom prst="rect">
              <a:avLst/>
            </a:prstGeom>
            <a:noFill/>
            <a:ln w="9525">
              <a:noFill/>
              <a:miter lim="800000"/>
              <a:headEnd/>
              <a:tailEnd/>
            </a:ln>
          </p:spPr>
        </p:pic>
        <p:pic>
          <p:nvPicPr>
            <p:cNvPr id="23584" name="Picture 26"/>
            <p:cNvPicPr>
              <a:picLocks noChangeAspect="1" noChangeArrowheads="1"/>
            </p:cNvPicPr>
            <p:nvPr/>
          </p:nvPicPr>
          <p:blipFill>
            <a:blip r:embed="rId6"/>
            <a:srcRect/>
            <a:stretch>
              <a:fillRect/>
            </a:stretch>
          </p:blipFill>
          <p:spPr bwMode="auto">
            <a:xfrm>
              <a:off x="4239831" y="5437235"/>
              <a:ext cx="712787" cy="673100"/>
            </a:xfrm>
            <a:prstGeom prst="rect">
              <a:avLst/>
            </a:prstGeom>
            <a:noFill/>
            <a:ln w="9525">
              <a:noFill/>
              <a:miter lim="800000"/>
              <a:headEnd/>
              <a:tailEnd/>
            </a:ln>
          </p:spPr>
        </p:pic>
        <p:sp>
          <p:nvSpPr>
            <p:cNvPr id="33" name="Text Box 24"/>
            <p:cNvSpPr txBox="1">
              <a:spLocks noChangeArrowheads="1"/>
            </p:cNvSpPr>
            <p:nvPr/>
          </p:nvSpPr>
          <p:spPr bwMode="auto">
            <a:xfrm>
              <a:off x="3849872" y="5967460"/>
              <a:ext cx="468311" cy="339731"/>
            </a:xfrm>
            <a:prstGeom prst="rect">
              <a:avLst/>
            </a:prstGeom>
            <a:noFill/>
            <a:ln w="9525">
              <a:noFill/>
              <a:miter lim="800000"/>
              <a:headEnd/>
              <a:tailEnd/>
            </a:ln>
          </p:spPr>
          <p:txBody>
            <a:bodyPr wrap="none">
              <a:spAutoFit/>
            </a:bodyPr>
            <a:lstStyle/>
            <a:p>
              <a:pPr>
                <a:defRPr/>
              </a:pPr>
              <a:r>
                <a:rPr lang="en-US" altLang="zh-CN" sz="1600" b="1" dirty="0">
                  <a:solidFill>
                    <a:schemeClr val="tx2"/>
                  </a:solidFill>
                  <a:latin typeface="+mj-lt"/>
                  <a:cs typeface="Times New Roman" pitchFamily="18" charset="0"/>
                </a:rPr>
                <a:t>PC</a:t>
              </a:r>
            </a:p>
          </p:txBody>
        </p:sp>
        <p:sp>
          <p:nvSpPr>
            <p:cNvPr id="34" name="Text Box 24"/>
            <p:cNvSpPr txBox="1">
              <a:spLocks noChangeArrowheads="1"/>
            </p:cNvSpPr>
            <p:nvPr/>
          </p:nvSpPr>
          <p:spPr bwMode="auto">
            <a:xfrm>
              <a:off x="4997630" y="5883320"/>
              <a:ext cx="1667436" cy="584785"/>
            </a:xfrm>
            <a:prstGeom prst="rect">
              <a:avLst/>
            </a:prstGeom>
            <a:noFill/>
            <a:ln w="9525">
              <a:noFill/>
              <a:miter lim="800000"/>
              <a:headEnd/>
              <a:tailEnd/>
            </a:ln>
          </p:spPr>
          <p:txBody>
            <a:bodyPr wrap="none">
              <a:spAutoFit/>
            </a:bodyPr>
            <a:lstStyle/>
            <a:p>
              <a:pPr>
                <a:defRPr/>
              </a:pPr>
              <a:r>
                <a:rPr lang="en-US" altLang="zh-CN" sz="1600" b="1" dirty="0">
                  <a:solidFill>
                    <a:schemeClr val="tx2"/>
                  </a:solidFill>
                  <a:latin typeface="+mj-lt"/>
                  <a:cs typeface="Times New Roman" pitchFamily="18" charset="0"/>
                </a:rPr>
                <a:t>VLAN 2</a:t>
              </a:r>
            </a:p>
            <a:p>
              <a:pPr>
                <a:defRPr/>
              </a:pPr>
              <a:r>
                <a:rPr lang="en-US" altLang="zh-CN" sz="1600" b="1" dirty="0">
                  <a:solidFill>
                    <a:schemeClr val="tx2"/>
                  </a:solidFill>
                  <a:latin typeface="+mj-lt"/>
                  <a:cs typeface="Times New Roman" pitchFamily="18" charset="0"/>
                </a:rPr>
                <a:t>192.168.1.10/24</a:t>
              </a:r>
            </a:p>
          </p:txBody>
        </p:sp>
        <p:cxnSp>
          <p:nvCxnSpPr>
            <p:cNvPr id="23587" name="直接连接符 46"/>
            <p:cNvCxnSpPr>
              <a:cxnSpLocks noChangeShapeType="1"/>
            </p:cNvCxnSpPr>
            <p:nvPr/>
          </p:nvCxnSpPr>
          <p:spPr bwMode="auto">
            <a:xfrm>
              <a:off x="3160331" y="3787815"/>
              <a:ext cx="2809875" cy="1588"/>
            </a:xfrm>
            <a:prstGeom prst="line">
              <a:avLst/>
            </a:prstGeom>
            <a:noFill/>
            <a:ln w="44450" algn="ctr">
              <a:solidFill>
                <a:srgbClr val="FF3300"/>
              </a:solidFill>
              <a:round/>
              <a:headEnd/>
              <a:tailEnd/>
            </a:ln>
          </p:spPr>
        </p:cxnSp>
        <p:sp>
          <p:nvSpPr>
            <p:cNvPr id="36" name="Text Box 33"/>
            <p:cNvSpPr txBox="1">
              <a:spLocks noChangeArrowheads="1"/>
            </p:cNvSpPr>
            <p:nvPr/>
          </p:nvSpPr>
          <p:spPr bwMode="auto">
            <a:xfrm>
              <a:off x="5761213" y="4149742"/>
              <a:ext cx="708845" cy="33856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tx2"/>
                  </a:solidFill>
                  <a:latin typeface="+mj-lt"/>
                  <a:cs typeface="Times New Roman" pitchFamily="18" charset="0"/>
                </a:rPr>
                <a:t>F0/23</a:t>
              </a:r>
            </a:p>
          </p:txBody>
        </p:sp>
        <p:sp>
          <p:nvSpPr>
            <p:cNvPr id="37" name="Text Box 33"/>
            <p:cNvSpPr txBox="1">
              <a:spLocks noChangeArrowheads="1"/>
            </p:cNvSpPr>
            <p:nvPr/>
          </p:nvSpPr>
          <p:spPr bwMode="auto">
            <a:xfrm>
              <a:off x="4445182" y="1963719"/>
              <a:ext cx="454023" cy="338143"/>
            </a:xfrm>
            <a:prstGeom prst="rect">
              <a:avLst/>
            </a:prstGeom>
            <a:noFill/>
            <a:ln w="9525" algn="ctr">
              <a:noFill/>
              <a:miter lim="800000"/>
              <a:headEnd/>
              <a:tailEnd/>
            </a:ln>
          </p:spPr>
          <p:txBody>
            <a:bodyPr wrap="none" anchorCtr="1">
              <a:spAutoFit/>
            </a:bodyPr>
            <a:lstStyle/>
            <a:p>
              <a:pPr>
                <a:defRPr/>
              </a:pPr>
              <a:r>
                <a:rPr lang="en-US" altLang="zh-CN" sz="1600" b="1" dirty="0">
                  <a:solidFill>
                    <a:schemeClr val="bg1"/>
                  </a:solidFill>
                  <a:latin typeface="+mj-lt"/>
                  <a:cs typeface="Times New Roman" pitchFamily="18" charset="0"/>
                </a:rPr>
                <a:t>R1</a:t>
              </a:r>
            </a:p>
          </p:txBody>
        </p:sp>
        <p:cxnSp>
          <p:nvCxnSpPr>
            <p:cNvPr id="23590" name="形状 72"/>
            <p:cNvCxnSpPr>
              <a:cxnSpLocks noChangeShapeType="1"/>
            </p:cNvCxnSpPr>
            <p:nvPr/>
          </p:nvCxnSpPr>
          <p:spPr bwMode="auto">
            <a:xfrm rot="5400000" flipH="1" flipV="1">
              <a:off x="5357030" y="927861"/>
              <a:ext cx="54769" cy="1442263"/>
            </a:xfrm>
            <a:prstGeom prst="bentConnector2">
              <a:avLst/>
            </a:prstGeom>
            <a:noFill/>
            <a:ln w="44450" algn="ctr">
              <a:solidFill>
                <a:srgbClr val="FF3300"/>
              </a:solidFill>
              <a:round/>
              <a:headEnd/>
              <a:tailEnd/>
            </a:ln>
          </p:spPr>
        </p:cxn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8"/>
          <p:cNvSpPr>
            <a:spLocks noChangeArrowheads="1"/>
          </p:cNvSpPr>
          <p:nvPr/>
        </p:nvSpPr>
        <p:spPr bwMode="auto">
          <a:xfrm>
            <a:off x="2212976" y="1571625"/>
            <a:ext cx="7883525" cy="2071688"/>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4579" name="AutoShape 8"/>
          <p:cNvSpPr>
            <a:spLocks noChangeArrowheads="1"/>
          </p:cNvSpPr>
          <p:nvPr/>
        </p:nvSpPr>
        <p:spPr bwMode="auto">
          <a:xfrm>
            <a:off x="2228851" y="4378325"/>
            <a:ext cx="7883525" cy="1836738"/>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4580" name="内容占位符 1"/>
          <p:cNvSpPr>
            <a:spLocks noGrp="1"/>
          </p:cNvSpPr>
          <p:nvPr>
            <p:ph idx="1"/>
          </p:nvPr>
        </p:nvSpPr>
        <p:spPr>
          <a:xfrm>
            <a:off x="1738313" y="1143000"/>
            <a:ext cx="8501062" cy="3286132"/>
          </a:xfrm>
        </p:spPr>
        <p:txBody>
          <a:bodyPr/>
          <a:lstStyle/>
          <a:p>
            <a:pPr>
              <a:spcBef>
                <a:spcPts val="675"/>
              </a:spcBef>
            </a:pPr>
            <a:r>
              <a:rPr lang="en-US" altLang="zh-CN"/>
              <a:t>SW1</a:t>
            </a:r>
            <a:r>
              <a:rPr lang="zh-CN" altLang="en-US"/>
              <a:t>配置</a:t>
            </a:r>
            <a:endParaRPr lang="en-US" altLang="zh-CN"/>
          </a:p>
          <a:p>
            <a:pPr>
              <a:spcBef>
                <a:spcPts val="675"/>
              </a:spcBef>
            </a:pPr>
            <a:endParaRPr lang="en-US" altLang="zh-CN"/>
          </a:p>
          <a:p>
            <a:pPr>
              <a:spcBef>
                <a:spcPts val="675"/>
              </a:spcBef>
            </a:pPr>
            <a:endParaRPr lang="en-US" altLang="zh-CN"/>
          </a:p>
          <a:p>
            <a:pPr>
              <a:spcBef>
                <a:spcPts val="675"/>
              </a:spcBef>
            </a:pPr>
            <a:endParaRPr lang="en-US" altLang="zh-CN"/>
          </a:p>
          <a:p>
            <a:pPr>
              <a:spcBef>
                <a:spcPts val="675"/>
              </a:spcBef>
            </a:pPr>
            <a:endParaRPr lang="en-US" altLang="zh-CN"/>
          </a:p>
          <a:p>
            <a:pPr>
              <a:spcBef>
                <a:spcPts val="675"/>
              </a:spcBef>
            </a:pPr>
            <a:r>
              <a:rPr lang="en-US" altLang="zh-CN"/>
              <a:t>SW2</a:t>
            </a:r>
            <a:r>
              <a:rPr lang="zh-CN" altLang="en-US"/>
              <a:t>配置</a:t>
            </a:r>
          </a:p>
          <a:p>
            <a:pPr>
              <a:spcBef>
                <a:spcPts val="675"/>
              </a:spcBef>
            </a:pPr>
            <a:endParaRPr lang="zh-CN" altLang="en-US"/>
          </a:p>
        </p:txBody>
      </p:sp>
      <p:sp>
        <p:nvSpPr>
          <p:cNvPr id="24581" name="标题 2"/>
          <p:cNvSpPr>
            <a:spLocks noGrp="1"/>
          </p:cNvSpPr>
          <p:nvPr>
            <p:ph type="title"/>
          </p:nvPr>
        </p:nvSpPr>
        <p:spPr/>
        <p:txBody>
          <a:bodyPr/>
          <a:lstStyle/>
          <a:p>
            <a:r>
              <a:rPr lang="en-US" altLang="zh-CN"/>
              <a:t>HSRP</a:t>
            </a:r>
            <a:r>
              <a:rPr lang="zh-CN" altLang="en-US"/>
              <a:t>的配置案例</a:t>
            </a:r>
            <a:r>
              <a:rPr lang="en-US" altLang="zh-CN"/>
              <a:t>3-2</a:t>
            </a:r>
            <a:endParaRPr lang="zh-CN" altLang="en-US"/>
          </a:p>
        </p:txBody>
      </p:sp>
      <p:sp>
        <p:nvSpPr>
          <p:cNvPr id="24582" name="矩形 3"/>
          <p:cNvSpPr>
            <a:spLocks noChangeArrowheads="1"/>
          </p:cNvSpPr>
          <p:nvPr/>
        </p:nvSpPr>
        <p:spPr bwMode="auto">
          <a:xfrm>
            <a:off x="2238376" y="1611313"/>
            <a:ext cx="6143625" cy="2032000"/>
          </a:xfrm>
          <a:prstGeom prst="rect">
            <a:avLst/>
          </a:prstGeom>
          <a:noFill/>
          <a:ln w="9525">
            <a:noFill/>
            <a:miter lim="800000"/>
            <a:headEnd/>
            <a:tailEnd/>
          </a:ln>
        </p:spPr>
        <p:txBody>
          <a:bodyPr>
            <a:spAutoFit/>
          </a:bodyPr>
          <a:lstStyle/>
          <a:p>
            <a:r>
              <a:rPr lang="en-US" altLang="zh-CN" b="1">
                <a:solidFill>
                  <a:schemeClr val="tx2"/>
                </a:solidFill>
              </a:rPr>
              <a:t>SW1(config)#interface vlan 2</a:t>
            </a:r>
          </a:p>
          <a:p>
            <a:r>
              <a:rPr lang="en-US" altLang="zh-CN" b="1">
                <a:solidFill>
                  <a:schemeClr val="tx2"/>
                </a:solidFill>
              </a:rPr>
              <a:t>SW1(config-if)#ip address 192.168.1.1 255.255.255.0</a:t>
            </a:r>
          </a:p>
          <a:p>
            <a:r>
              <a:rPr lang="en-US" altLang="zh-CN" b="1">
                <a:solidFill>
                  <a:schemeClr val="tx2"/>
                </a:solidFill>
              </a:rPr>
              <a:t>SW1(config-if)#standby 10 ip 192.168.1.254</a:t>
            </a:r>
          </a:p>
          <a:p>
            <a:r>
              <a:rPr lang="en-US" altLang="zh-CN" b="1">
                <a:solidFill>
                  <a:schemeClr val="tx2"/>
                </a:solidFill>
              </a:rPr>
              <a:t>SW1(config-if)#standby 10 priority 200</a:t>
            </a:r>
          </a:p>
          <a:p>
            <a:r>
              <a:rPr lang="en-US" altLang="zh-CN" b="1">
                <a:solidFill>
                  <a:schemeClr val="tx2"/>
                </a:solidFill>
              </a:rPr>
              <a:t>SW1(config-if)#standby 10 preempt </a:t>
            </a:r>
          </a:p>
          <a:p>
            <a:r>
              <a:rPr lang="en-US" altLang="zh-CN" b="1">
                <a:solidFill>
                  <a:schemeClr val="tx2"/>
                </a:solidFill>
              </a:rPr>
              <a:t>SW1(config-if)#standby 10 timers 2 8</a:t>
            </a:r>
          </a:p>
          <a:p>
            <a:r>
              <a:rPr lang="en-US" altLang="zh-CN" b="1">
                <a:solidFill>
                  <a:schemeClr val="tx2"/>
                </a:solidFill>
              </a:rPr>
              <a:t>SW1(config-if)#standby 10 track fastEthernet 0/1 100</a:t>
            </a:r>
            <a:endParaRPr lang="zh-CN" altLang="en-US" b="1">
              <a:solidFill>
                <a:schemeClr val="tx2"/>
              </a:solidFill>
            </a:endParaRPr>
          </a:p>
        </p:txBody>
      </p:sp>
      <p:sp>
        <p:nvSpPr>
          <p:cNvPr id="24584" name="矩形 7"/>
          <p:cNvSpPr>
            <a:spLocks noChangeArrowheads="1"/>
          </p:cNvSpPr>
          <p:nvPr/>
        </p:nvSpPr>
        <p:spPr bwMode="auto">
          <a:xfrm>
            <a:off x="2238375" y="4429125"/>
            <a:ext cx="6572250" cy="1754188"/>
          </a:xfrm>
          <a:prstGeom prst="rect">
            <a:avLst/>
          </a:prstGeom>
          <a:noFill/>
          <a:ln w="9525">
            <a:noFill/>
            <a:miter lim="800000"/>
            <a:headEnd/>
            <a:tailEnd/>
          </a:ln>
        </p:spPr>
        <p:txBody>
          <a:bodyPr>
            <a:spAutoFit/>
          </a:bodyPr>
          <a:lstStyle/>
          <a:p>
            <a:r>
              <a:rPr lang="en-US" altLang="zh-CN" b="1">
                <a:solidFill>
                  <a:schemeClr val="tx2"/>
                </a:solidFill>
              </a:rPr>
              <a:t>SW2(config)#interface vlan 2</a:t>
            </a:r>
          </a:p>
          <a:p>
            <a:r>
              <a:rPr lang="en-US" altLang="zh-CN" b="1">
                <a:solidFill>
                  <a:schemeClr val="tx2"/>
                </a:solidFill>
              </a:rPr>
              <a:t>SW2(config-if)#ip address 192.168.1.2 255.255.255.0</a:t>
            </a:r>
          </a:p>
          <a:p>
            <a:r>
              <a:rPr lang="en-US" altLang="zh-CN" b="1">
                <a:solidFill>
                  <a:schemeClr val="tx2"/>
                </a:solidFill>
              </a:rPr>
              <a:t>SW2(config-if)#standby 10 ip 192.168.1.254</a:t>
            </a:r>
          </a:p>
          <a:p>
            <a:r>
              <a:rPr lang="en-US" altLang="zh-CN" b="1">
                <a:solidFill>
                  <a:schemeClr val="tx2"/>
                </a:solidFill>
              </a:rPr>
              <a:t>SW2(config-if)#standby 10 priority 150</a:t>
            </a:r>
          </a:p>
          <a:p>
            <a:r>
              <a:rPr lang="en-US" altLang="zh-CN" b="1">
                <a:solidFill>
                  <a:schemeClr val="tx2"/>
                </a:solidFill>
              </a:rPr>
              <a:t>SW2(config-if)#standby 10 preempt </a:t>
            </a:r>
          </a:p>
          <a:p>
            <a:r>
              <a:rPr lang="en-US" altLang="zh-CN" b="1">
                <a:solidFill>
                  <a:schemeClr val="tx2"/>
                </a:solidFill>
              </a:rPr>
              <a:t>SW2(config-if)#standby 10 timers 2 8</a:t>
            </a:r>
            <a:endParaRPr lang="zh-CN" altLang="en-US" b="1">
              <a:solidFill>
                <a:schemeClr val="tx2"/>
              </a:solidFill>
            </a:endParaRPr>
          </a:p>
        </p:txBody>
      </p:sp>
      <p:sp>
        <p:nvSpPr>
          <p:cNvPr id="16" name="AutoShape 52"/>
          <p:cNvSpPr>
            <a:spLocks noChangeArrowheads="1"/>
          </p:cNvSpPr>
          <p:nvPr/>
        </p:nvSpPr>
        <p:spPr bwMode="auto">
          <a:xfrm>
            <a:off x="8167689" y="1928814"/>
            <a:ext cx="2143125" cy="357187"/>
          </a:xfrm>
          <a:prstGeom prst="wedgeRoundRectCallout">
            <a:avLst>
              <a:gd name="adj1" fmla="val -101331"/>
              <a:gd name="adj2" fmla="val 66201"/>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配置虚拟</a:t>
            </a:r>
            <a:r>
              <a:rPr lang="en-US" altLang="zh-CN" sz="2000" b="1" dirty="0">
                <a:solidFill>
                  <a:srgbClr val="000000"/>
                </a:solidFill>
                <a:latin typeface="楷体_GB2312" pitchFamily="49" charset="-122"/>
                <a:ea typeface="楷体_GB2312" pitchFamily="49" charset="-122"/>
              </a:rPr>
              <a:t>IP</a:t>
            </a:r>
            <a:endParaRPr lang="zh-CN" altLang="en-US" sz="2000" b="1" dirty="0">
              <a:solidFill>
                <a:srgbClr val="000000"/>
              </a:solidFill>
              <a:latin typeface="楷体_GB2312" pitchFamily="49" charset="-122"/>
              <a:ea typeface="楷体_GB2312" pitchFamily="49" charset="-122"/>
            </a:endParaRPr>
          </a:p>
        </p:txBody>
      </p:sp>
      <p:sp>
        <p:nvSpPr>
          <p:cNvPr id="17" name="AutoShape 52"/>
          <p:cNvSpPr>
            <a:spLocks noChangeArrowheads="1"/>
          </p:cNvSpPr>
          <p:nvPr/>
        </p:nvSpPr>
        <p:spPr bwMode="auto">
          <a:xfrm>
            <a:off x="7453314" y="2428875"/>
            <a:ext cx="2143125" cy="357188"/>
          </a:xfrm>
          <a:prstGeom prst="wedgeRoundRectCallout">
            <a:avLst>
              <a:gd name="adj1" fmla="val -89649"/>
              <a:gd name="adj2" fmla="val 11344"/>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配置优先级</a:t>
            </a:r>
          </a:p>
        </p:txBody>
      </p:sp>
      <p:sp>
        <p:nvSpPr>
          <p:cNvPr id="20" name="AutoShape 52"/>
          <p:cNvSpPr>
            <a:spLocks noChangeArrowheads="1"/>
          </p:cNvSpPr>
          <p:nvPr/>
        </p:nvSpPr>
        <p:spPr bwMode="auto">
          <a:xfrm>
            <a:off x="7524751" y="2928939"/>
            <a:ext cx="2143125" cy="357187"/>
          </a:xfrm>
          <a:prstGeom prst="wedgeRoundRectCallout">
            <a:avLst>
              <a:gd name="adj1" fmla="val -105904"/>
              <a:gd name="adj2" fmla="val -49608"/>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配置占先权</a:t>
            </a:r>
          </a:p>
        </p:txBody>
      </p:sp>
      <p:sp>
        <p:nvSpPr>
          <p:cNvPr id="21" name="AutoShape 52"/>
          <p:cNvSpPr>
            <a:spLocks noChangeArrowheads="1"/>
          </p:cNvSpPr>
          <p:nvPr/>
        </p:nvSpPr>
        <p:spPr bwMode="auto">
          <a:xfrm>
            <a:off x="7739064" y="3643314"/>
            <a:ext cx="2143125" cy="357187"/>
          </a:xfrm>
          <a:prstGeom prst="wedgeRoundRectCallout">
            <a:avLst>
              <a:gd name="adj1" fmla="val -49015"/>
              <a:gd name="adj2" fmla="val -83131"/>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配置端口跟踪</a:t>
            </a:r>
          </a:p>
        </p:txBody>
      </p:sp>
      <p:sp>
        <p:nvSpPr>
          <p:cNvPr id="22" name="AutoShape 52"/>
          <p:cNvSpPr>
            <a:spLocks noChangeArrowheads="1"/>
          </p:cNvSpPr>
          <p:nvPr/>
        </p:nvSpPr>
        <p:spPr bwMode="auto">
          <a:xfrm>
            <a:off x="7239001" y="5357814"/>
            <a:ext cx="2143125" cy="357187"/>
          </a:xfrm>
          <a:prstGeom prst="wedgeRoundRectCallout">
            <a:avLst>
              <a:gd name="adj1" fmla="val -87110"/>
              <a:gd name="adj2" fmla="val 118011"/>
              <a:gd name="adj3" fmla="val 16667"/>
            </a:avLst>
          </a:prstGeom>
          <a:gradFill rotWithShape="1">
            <a:gsLst>
              <a:gs pos="0">
                <a:srgbClr val="FFFF99"/>
              </a:gs>
              <a:gs pos="100000">
                <a:srgbClr val="FFFFFF"/>
              </a:gs>
            </a:gsLst>
            <a:lin ang="5400000" scaled="0"/>
          </a:gradFill>
          <a:ln w="9525" algn="ctr">
            <a:solidFill>
              <a:srgbClr val="FF9900"/>
            </a:solidFill>
            <a:miter lim="800000"/>
            <a:headEnd/>
            <a:tailEnd/>
          </a:ln>
          <a:effectLst>
            <a:outerShdw dist="53882" dir="2700000" algn="ctr" rotWithShape="0">
              <a:schemeClr val="bg2">
                <a:alpha val="50000"/>
              </a:schemeClr>
            </a:outerShdw>
          </a:effectLst>
        </p:spPr>
        <p:txBody>
          <a:bodyPr anchor="ctr" anchorCtr="1"/>
          <a:lstStyle/>
          <a:p>
            <a:pPr algn="ctr">
              <a:defRPr/>
            </a:pPr>
            <a:r>
              <a:rPr lang="zh-CN" altLang="en-US" sz="2000" b="1" dirty="0">
                <a:solidFill>
                  <a:srgbClr val="000000"/>
                </a:solidFill>
                <a:latin typeface="楷体_GB2312" pitchFamily="49" charset="-122"/>
                <a:ea typeface="楷体_GB2312" pitchFamily="49" charset="-122"/>
              </a:rPr>
              <a:t>配置计时器</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8"/>
          <p:cNvSpPr>
            <a:spLocks noChangeArrowheads="1"/>
          </p:cNvSpPr>
          <p:nvPr/>
        </p:nvSpPr>
        <p:spPr bwMode="auto">
          <a:xfrm>
            <a:off x="1998664" y="1604964"/>
            <a:ext cx="7883525" cy="4967287"/>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25603" name="内容占位符 1"/>
          <p:cNvSpPr>
            <a:spLocks noGrp="1"/>
          </p:cNvSpPr>
          <p:nvPr>
            <p:ph idx="1"/>
          </p:nvPr>
        </p:nvSpPr>
        <p:spPr>
          <a:xfrm>
            <a:off x="1738313" y="1143001"/>
            <a:ext cx="8501062" cy="714375"/>
          </a:xfrm>
        </p:spPr>
        <p:txBody>
          <a:bodyPr/>
          <a:lstStyle/>
          <a:p>
            <a:pPr>
              <a:spcBef>
                <a:spcPts val="675"/>
              </a:spcBef>
            </a:pPr>
            <a:r>
              <a:rPr lang="zh-CN" altLang="en-US"/>
              <a:t>查看</a:t>
            </a:r>
            <a:r>
              <a:rPr lang="en-US" altLang="zh-CN"/>
              <a:t>HSRP</a:t>
            </a:r>
            <a:r>
              <a:rPr lang="zh-CN" altLang="en-US"/>
              <a:t>信息</a:t>
            </a:r>
          </a:p>
        </p:txBody>
      </p:sp>
      <p:sp>
        <p:nvSpPr>
          <p:cNvPr id="25604" name="标题 2"/>
          <p:cNvSpPr>
            <a:spLocks noGrp="1"/>
          </p:cNvSpPr>
          <p:nvPr>
            <p:ph type="title"/>
          </p:nvPr>
        </p:nvSpPr>
        <p:spPr/>
        <p:txBody>
          <a:bodyPr/>
          <a:lstStyle/>
          <a:p>
            <a:r>
              <a:rPr lang="en-US" altLang="zh-CN"/>
              <a:t>HSRP</a:t>
            </a:r>
            <a:r>
              <a:rPr lang="zh-CN" altLang="en-US"/>
              <a:t>的配置案例</a:t>
            </a:r>
            <a:r>
              <a:rPr lang="en-US" altLang="zh-CN"/>
              <a:t>3-3</a:t>
            </a:r>
            <a:endParaRPr lang="zh-CN" altLang="en-US"/>
          </a:p>
        </p:txBody>
      </p:sp>
      <p:sp>
        <p:nvSpPr>
          <p:cNvPr id="5" name="AutoShape 8"/>
          <p:cNvSpPr>
            <a:spLocks noChangeArrowheads="1"/>
          </p:cNvSpPr>
          <p:nvPr/>
        </p:nvSpPr>
        <p:spPr bwMode="auto">
          <a:xfrm>
            <a:off x="1998664" y="1639888"/>
            <a:ext cx="7883525" cy="1789112"/>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6" name="内容占位符 74"/>
          <p:cNvSpPr txBox="1">
            <a:spLocks/>
          </p:cNvSpPr>
          <p:nvPr/>
        </p:nvSpPr>
        <p:spPr bwMode="auto">
          <a:xfrm>
            <a:off x="1809750" y="1643064"/>
            <a:ext cx="7837488" cy="2155825"/>
          </a:xfrm>
          <a:prstGeom prst="rect">
            <a:avLst/>
          </a:prstGeom>
          <a:noFill/>
          <a:ln w="9525">
            <a:noFill/>
            <a:miter lim="800000"/>
            <a:headEnd/>
            <a:tailEnd/>
          </a:ln>
          <a:effectLst/>
        </p:spPr>
        <p:txBody>
          <a:bodyPr/>
          <a:lstStyle/>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SW1#show standby brief       </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P indicates configured to preempt.</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Interface   </a:t>
            </a:r>
            <a:r>
              <a:rPr lang="en-US" altLang="zh-CN" b="1" kern="0" dirty="0" err="1">
                <a:solidFill>
                  <a:schemeClr val="tx2"/>
                </a:solidFill>
                <a:latin typeface="Arial" pitchFamily="34" charset="0"/>
                <a:cs typeface="Arial" pitchFamily="34" charset="0"/>
              </a:rPr>
              <a:t>Grp</a:t>
            </a:r>
            <a:r>
              <a:rPr lang="en-US" altLang="zh-CN" b="1" kern="0" dirty="0">
                <a:solidFill>
                  <a:schemeClr val="tx2"/>
                </a:solidFill>
                <a:latin typeface="Arial" pitchFamily="34" charset="0"/>
                <a:cs typeface="Arial" pitchFamily="34" charset="0"/>
              </a:rPr>
              <a:t>  </a:t>
            </a:r>
            <a:r>
              <a:rPr lang="en-US" altLang="zh-CN" b="1" kern="0" dirty="0" err="1">
                <a:solidFill>
                  <a:schemeClr val="tx2"/>
                </a:solidFill>
                <a:latin typeface="Arial" pitchFamily="34" charset="0"/>
                <a:cs typeface="Arial" pitchFamily="34" charset="0"/>
              </a:rPr>
              <a:t>Pri</a:t>
            </a:r>
            <a:r>
              <a:rPr lang="en-US" altLang="zh-CN" b="1" kern="0" dirty="0">
                <a:solidFill>
                  <a:schemeClr val="tx2"/>
                </a:solidFill>
                <a:latin typeface="Arial" pitchFamily="34" charset="0"/>
                <a:cs typeface="Arial" pitchFamily="34" charset="0"/>
              </a:rPr>
              <a:t> P State   Active          Standby         Virtual IP</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Vl2            10   200 P Active  local          192.168.1.2    192.168.1.254</a:t>
            </a:r>
            <a:endParaRPr lang="zh-CN" altLang="en-US" b="1" kern="0" dirty="0">
              <a:solidFill>
                <a:schemeClr val="tx2"/>
              </a:solidFill>
              <a:latin typeface="Arial" pitchFamily="34" charset="0"/>
              <a:cs typeface="Arial" pitchFamily="34" charset="0"/>
            </a:endParaRPr>
          </a:p>
        </p:txBody>
      </p:sp>
      <p:sp>
        <p:nvSpPr>
          <p:cNvPr id="7" name="AutoShape 8"/>
          <p:cNvSpPr>
            <a:spLocks noChangeArrowheads="1"/>
          </p:cNvSpPr>
          <p:nvPr/>
        </p:nvSpPr>
        <p:spPr bwMode="auto">
          <a:xfrm>
            <a:off x="2024064" y="3714751"/>
            <a:ext cx="7883525" cy="1789113"/>
          </a:xfrm>
          <a:prstGeom prst="roundRect">
            <a:avLst>
              <a:gd name="adj" fmla="val 5477"/>
            </a:avLst>
          </a:prstGeom>
          <a:gradFill rotWithShape="1">
            <a:gsLst>
              <a:gs pos="0">
                <a:srgbClr val="CCFFFF"/>
              </a:gs>
              <a:gs pos="100000">
                <a:schemeClr val="bg1"/>
              </a:gs>
            </a:gsLst>
            <a:lin ang="5400000" scaled="1"/>
          </a:gradFill>
          <a:ln w="9525" algn="ctr">
            <a:solidFill>
              <a:srgbClr val="006666"/>
            </a:solidFill>
            <a:round/>
            <a:headEnd/>
            <a:tailEnd/>
          </a:ln>
        </p:spPr>
        <p:txBody>
          <a:bodyPr/>
          <a:lstStyle/>
          <a:p>
            <a:endParaRPr lang="zh-CN" altLang="zh-CN"/>
          </a:p>
        </p:txBody>
      </p:sp>
      <p:sp>
        <p:nvSpPr>
          <p:cNvPr id="8" name="内容占位符 74"/>
          <p:cNvSpPr txBox="1">
            <a:spLocks/>
          </p:cNvSpPr>
          <p:nvPr/>
        </p:nvSpPr>
        <p:spPr bwMode="auto">
          <a:xfrm>
            <a:off x="1835151" y="3717926"/>
            <a:ext cx="8118475" cy="2155825"/>
          </a:xfrm>
          <a:prstGeom prst="rect">
            <a:avLst/>
          </a:prstGeom>
          <a:noFill/>
          <a:ln w="9525">
            <a:noFill/>
            <a:miter lim="800000"/>
            <a:headEnd/>
            <a:tailEnd/>
          </a:ln>
          <a:effectLst/>
        </p:spPr>
        <p:txBody>
          <a:bodyPr/>
          <a:lstStyle/>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SW2#show standby brief       </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P indicates configured to preempt.</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Interface   </a:t>
            </a:r>
            <a:r>
              <a:rPr lang="en-US" altLang="zh-CN" b="1" kern="0" dirty="0" err="1">
                <a:solidFill>
                  <a:schemeClr val="tx2"/>
                </a:solidFill>
                <a:latin typeface="Arial" pitchFamily="34" charset="0"/>
                <a:cs typeface="Arial" pitchFamily="34" charset="0"/>
              </a:rPr>
              <a:t>Grp</a:t>
            </a:r>
            <a:r>
              <a:rPr lang="en-US" altLang="zh-CN" b="1" kern="0" dirty="0">
                <a:solidFill>
                  <a:schemeClr val="tx2"/>
                </a:solidFill>
                <a:latin typeface="Arial" pitchFamily="34" charset="0"/>
                <a:cs typeface="Arial" pitchFamily="34" charset="0"/>
              </a:rPr>
              <a:t>  </a:t>
            </a:r>
            <a:r>
              <a:rPr lang="en-US" altLang="zh-CN" b="1" kern="0" dirty="0" err="1">
                <a:solidFill>
                  <a:schemeClr val="tx2"/>
                </a:solidFill>
                <a:latin typeface="Arial" pitchFamily="34" charset="0"/>
                <a:cs typeface="Arial" pitchFamily="34" charset="0"/>
              </a:rPr>
              <a:t>Pri</a:t>
            </a:r>
            <a:r>
              <a:rPr lang="en-US" altLang="zh-CN" b="1" kern="0" dirty="0">
                <a:solidFill>
                  <a:schemeClr val="tx2"/>
                </a:solidFill>
                <a:latin typeface="Arial" pitchFamily="34" charset="0"/>
                <a:cs typeface="Arial" pitchFamily="34" charset="0"/>
              </a:rPr>
              <a:t> P  State      Active          Standby         Virtual IP</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Vl2            10   150 P Standby  192.168.1.1     local       192.168.1.254</a:t>
            </a:r>
            <a:endParaRPr lang="zh-CN" altLang="en-US" b="1" kern="0" dirty="0">
              <a:solidFill>
                <a:schemeClr val="tx2"/>
              </a:solidFill>
              <a:latin typeface="Arial" pitchFamily="34" charset="0"/>
              <a:cs typeface="Arial" pitchFamily="34" charset="0"/>
            </a:endParaRPr>
          </a:p>
        </p:txBody>
      </p:sp>
      <p:grpSp>
        <p:nvGrpSpPr>
          <p:cNvPr id="2" name="组合 16"/>
          <p:cNvGrpSpPr>
            <a:grpSpLocks/>
          </p:cNvGrpSpPr>
          <p:nvPr/>
        </p:nvGrpSpPr>
        <p:grpSpPr bwMode="auto">
          <a:xfrm>
            <a:off x="2024063" y="2000251"/>
            <a:ext cx="7745412" cy="3071813"/>
            <a:chOff x="500034" y="2000240"/>
            <a:chExt cx="7745457" cy="3071834"/>
          </a:xfrm>
        </p:grpSpPr>
        <p:sp>
          <p:nvSpPr>
            <p:cNvPr id="25617" name="AutoShape 33"/>
            <p:cNvSpPr>
              <a:spLocks noChangeArrowheads="1"/>
            </p:cNvSpPr>
            <p:nvPr/>
          </p:nvSpPr>
          <p:spPr bwMode="auto">
            <a:xfrm>
              <a:off x="500034" y="3929066"/>
              <a:ext cx="687387" cy="407988"/>
            </a:xfrm>
            <a:prstGeom prst="wedgeRoundRectCallout">
              <a:avLst>
                <a:gd name="adj1" fmla="val 19185"/>
                <a:gd name="adj2" fmla="val -201028"/>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接口</a:t>
              </a:r>
            </a:p>
          </p:txBody>
        </p:sp>
        <p:sp>
          <p:nvSpPr>
            <p:cNvPr id="25618" name="AutoShape 33"/>
            <p:cNvSpPr>
              <a:spLocks noChangeArrowheads="1"/>
            </p:cNvSpPr>
            <p:nvPr/>
          </p:nvSpPr>
          <p:spPr bwMode="auto">
            <a:xfrm>
              <a:off x="1422386" y="3949387"/>
              <a:ext cx="1326546" cy="408626"/>
            </a:xfrm>
            <a:prstGeom prst="wedgeRoundRectCallout">
              <a:avLst>
                <a:gd name="adj1" fmla="val 7741"/>
                <a:gd name="adj2" fmla="val -206926"/>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en-US" altLang="zh-CN" b="1">
                  <a:solidFill>
                    <a:schemeClr val="tx2"/>
                  </a:solidFill>
                  <a:latin typeface="楷体_GB2312" pitchFamily="49" charset="-122"/>
                  <a:ea typeface="楷体_GB2312" pitchFamily="49" charset="-122"/>
                </a:rPr>
                <a:t>HSRP</a:t>
              </a:r>
              <a:r>
                <a:rPr lang="zh-CN" altLang="en-US" b="1">
                  <a:solidFill>
                    <a:schemeClr val="tx2"/>
                  </a:solidFill>
                  <a:latin typeface="楷体_GB2312" pitchFamily="49" charset="-122"/>
                  <a:ea typeface="楷体_GB2312" pitchFamily="49" charset="-122"/>
                </a:rPr>
                <a:t>组号</a:t>
              </a:r>
            </a:p>
          </p:txBody>
        </p:sp>
        <p:sp>
          <p:nvSpPr>
            <p:cNvPr id="25619" name="AutoShape 33"/>
            <p:cNvSpPr>
              <a:spLocks noChangeArrowheads="1"/>
            </p:cNvSpPr>
            <p:nvPr/>
          </p:nvSpPr>
          <p:spPr bwMode="auto">
            <a:xfrm>
              <a:off x="2016125" y="4664087"/>
              <a:ext cx="1385888" cy="407987"/>
            </a:xfrm>
            <a:prstGeom prst="wedgeRoundRectCallout">
              <a:avLst>
                <a:gd name="adj1" fmla="val 2241"/>
                <a:gd name="adj2" fmla="val -390977"/>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本地优先级</a:t>
              </a:r>
            </a:p>
          </p:txBody>
        </p:sp>
        <p:sp>
          <p:nvSpPr>
            <p:cNvPr id="25620" name="AutoShape 33"/>
            <p:cNvSpPr>
              <a:spLocks noChangeArrowheads="1"/>
            </p:cNvSpPr>
            <p:nvPr/>
          </p:nvSpPr>
          <p:spPr bwMode="auto">
            <a:xfrm>
              <a:off x="3357554" y="3929066"/>
              <a:ext cx="1146175" cy="407988"/>
            </a:xfrm>
            <a:prstGeom prst="wedgeRoundRectCallout">
              <a:avLst>
                <a:gd name="adj1" fmla="val -42329"/>
                <a:gd name="adj2" fmla="val -189222"/>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本地状态</a:t>
              </a:r>
            </a:p>
          </p:txBody>
        </p:sp>
        <p:sp>
          <p:nvSpPr>
            <p:cNvPr id="25621" name="AutoShape 33"/>
            <p:cNvSpPr>
              <a:spLocks noChangeArrowheads="1"/>
            </p:cNvSpPr>
            <p:nvPr/>
          </p:nvSpPr>
          <p:spPr bwMode="auto">
            <a:xfrm>
              <a:off x="4857752" y="3857628"/>
              <a:ext cx="1639887" cy="714375"/>
            </a:xfrm>
            <a:prstGeom prst="wedgeRoundRectCallout">
              <a:avLst>
                <a:gd name="adj1" fmla="val -76208"/>
                <a:gd name="adj2" fmla="val -128278"/>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活跃路由器</a:t>
              </a:r>
              <a:endParaRPr lang="en-US" altLang="zh-CN" b="1">
                <a:solidFill>
                  <a:schemeClr val="tx2"/>
                </a:solidFill>
                <a:latin typeface="楷体_GB2312" pitchFamily="49" charset="-122"/>
                <a:ea typeface="楷体_GB2312" pitchFamily="49" charset="-122"/>
              </a:endParaRPr>
            </a:p>
            <a:p>
              <a:r>
                <a:rPr lang="zh-CN" altLang="en-US" b="1">
                  <a:solidFill>
                    <a:schemeClr val="tx2"/>
                  </a:solidFill>
                  <a:latin typeface="楷体_GB2312" pitchFamily="49" charset="-122"/>
                  <a:ea typeface="楷体_GB2312" pitchFamily="49" charset="-122"/>
                </a:rPr>
                <a:t>为本地路由器</a:t>
              </a:r>
            </a:p>
          </p:txBody>
        </p:sp>
        <p:sp>
          <p:nvSpPr>
            <p:cNvPr id="25622" name="AutoShape 33"/>
            <p:cNvSpPr>
              <a:spLocks noChangeArrowheads="1"/>
            </p:cNvSpPr>
            <p:nvPr/>
          </p:nvSpPr>
          <p:spPr bwMode="auto">
            <a:xfrm>
              <a:off x="6072198" y="2000240"/>
              <a:ext cx="1846263" cy="407988"/>
            </a:xfrm>
            <a:prstGeom prst="wedgeRoundRectCallout">
              <a:avLst>
                <a:gd name="adj1" fmla="val -75708"/>
                <a:gd name="adj2" fmla="val 120620"/>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备份路由器地址</a:t>
              </a:r>
            </a:p>
          </p:txBody>
        </p:sp>
        <p:sp>
          <p:nvSpPr>
            <p:cNvPr id="25623" name="AutoShape 33"/>
            <p:cNvSpPr>
              <a:spLocks noChangeArrowheads="1"/>
            </p:cNvSpPr>
            <p:nvPr/>
          </p:nvSpPr>
          <p:spPr bwMode="auto">
            <a:xfrm>
              <a:off x="6858016" y="3929066"/>
              <a:ext cx="1387475" cy="407987"/>
            </a:xfrm>
            <a:prstGeom prst="wedgeRoundRectCallout">
              <a:avLst>
                <a:gd name="adj1" fmla="val -21903"/>
                <a:gd name="adj2" fmla="val -203977"/>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虚拟</a:t>
              </a:r>
              <a:r>
                <a:rPr lang="en-US" altLang="zh-CN" b="1">
                  <a:solidFill>
                    <a:schemeClr val="tx2"/>
                  </a:solidFill>
                  <a:latin typeface="楷体_GB2312" pitchFamily="49" charset="-122"/>
                  <a:ea typeface="楷体_GB2312" pitchFamily="49" charset="-122"/>
                </a:rPr>
                <a:t>IP</a:t>
              </a:r>
              <a:r>
                <a:rPr lang="zh-CN" altLang="en-US" b="1">
                  <a:solidFill>
                    <a:schemeClr val="tx2"/>
                  </a:solidFill>
                  <a:latin typeface="楷体_GB2312" pitchFamily="49" charset="-122"/>
                  <a:ea typeface="楷体_GB2312" pitchFamily="49" charset="-122"/>
                </a:rPr>
                <a:t>地址</a:t>
              </a:r>
            </a:p>
          </p:txBody>
        </p:sp>
        <p:sp>
          <p:nvSpPr>
            <p:cNvPr id="25624" name="AutoShape 33"/>
            <p:cNvSpPr>
              <a:spLocks noChangeArrowheads="1"/>
            </p:cNvSpPr>
            <p:nvPr/>
          </p:nvSpPr>
          <p:spPr bwMode="auto">
            <a:xfrm>
              <a:off x="3000364" y="2071678"/>
              <a:ext cx="1517650" cy="407988"/>
            </a:xfrm>
            <a:prstGeom prst="wedgeRoundRectCallout">
              <a:avLst>
                <a:gd name="adj1" fmla="val -54116"/>
                <a:gd name="adj2" fmla="val 101343"/>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anchor="ctr" anchorCtr="1">
              <a:spAutoFit/>
            </a:bodyPr>
            <a:lstStyle/>
            <a:p>
              <a:r>
                <a:rPr lang="zh-CN" altLang="en-US" b="1">
                  <a:solidFill>
                    <a:schemeClr val="tx2"/>
                  </a:solidFill>
                  <a:latin typeface="楷体_GB2312" pitchFamily="49" charset="-122"/>
                  <a:ea typeface="楷体_GB2312" pitchFamily="49" charset="-122"/>
                </a:rPr>
                <a:t>占先权启用</a:t>
              </a:r>
            </a:p>
          </p:txBody>
        </p:sp>
      </p:grpSp>
      <p:sp>
        <p:nvSpPr>
          <p:cNvPr id="26" name="矩形 25"/>
          <p:cNvSpPr/>
          <p:nvPr/>
        </p:nvSpPr>
        <p:spPr>
          <a:xfrm>
            <a:off x="1738314" y="1643063"/>
            <a:ext cx="7858125" cy="5022850"/>
          </a:xfrm>
          <a:prstGeom prst="rect">
            <a:avLst/>
          </a:prstGeom>
        </p:spPr>
        <p:txBody>
          <a:bodyPr>
            <a:spAutoFit/>
          </a:bodyPr>
          <a:lstStyle/>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SW1#show standby </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Vlan2 - Group 10 </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State is Active</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2 state changes, last state change 01:53:25 </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Virtual IP address is 192.168.1.254</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Active virtual MAC address is 0000.0c07.ac0a</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Local virtual MAC address is 0000.0c07.ac0a (v1 default)</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Hello time 2 sec, hold time 8 sec</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Next hello sent in 0.608 </a:t>
            </a:r>
            <a:r>
              <a:rPr lang="en-US" altLang="zh-CN" b="1" kern="0" dirty="0" err="1">
                <a:solidFill>
                  <a:schemeClr val="tx2"/>
                </a:solidFill>
                <a:latin typeface="Arial" pitchFamily="34" charset="0"/>
                <a:cs typeface="Arial" pitchFamily="34" charset="0"/>
              </a:rPr>
              <a:t>secs</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Preemption enabled</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Active router is local</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Standby router is 192.168.1.2, priority 150 (expires in 8.192 sec) </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Priority 200 (configured 200)</a:t>
            </a: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Track interface FastEthernet0/1 state Up decrement 100</a:t>
            </a:r>
            <a:endParaRPr lang="zh-CN" altLang="en-US" b="1" kern="0" dirty="0">
              <a:solidFill>
                <a:schemeClr val="tx2"/>
              </a:solidFill>
              <a:latin typeface="Arial" pitchFamily="34" charset="0"/>
              <a:cs typeface="Arial" pitchFamily="34" charset="0"/>
            </a:endParaRPr>
          </a:p>
          <a:p>
            <a:pPr marL="742950" lvl="1" indent="-285750" eaLnBrk="0" hangingPunct="0">
              <a:spcBef>
                <a:spcPct val="20000"/>
              </a:spcBef>
              <a:buClr>
                <a:schemeClr val="tx1"/>
              </a:buClr>
              <a:defRPr/>
            </a:pPr>
            <a:r>
              <a:rPr lang="en-US" altLang="zh-CN" b="1" kern="0" dirty="0">
                <a:solidFill>
                  <a:schemeClr val="tx2"/>
                </a:solidFill>
                <a:latin typeface="Arial" pitchFamily="34" charset="0"/>
                <a:cs typeface="Arial" pitchFamily="34" charset="0"/>
              </a:rPr>
              <a:t>  Group name is "hsrp-Vl2-10" (default)</a:t>
            </a:r>
            <a:endParaRPr lang="zh-CN" altLang="en-US" b="1" kern="0" dirty="0">
              <a:solidFill>
                <a:schemeClr val="tx2"/>
              </a:solidFill>
              <a:latin typeface="Arial" pitchFamily="34" charset="0"/>
              <a:cs typeface="Arial" pitchFamily="34" charset="0"/>
            </a:endParaRPr>
          </a:p>
        </p:txBody>
      </p:sp>
      <p:sp>
        <p:nvSpPr>
          <p:cNvPr id="28" name="AutoShape 33"/>
          <p:cNvSpPr>
            <a:spLocks noChangeArrowheads="1"/>
          </p:cNvSpPr>
          <p:nvPr/>
        </p:nvSpPr>
        <p:spPr bwMode="auto">
          <a:xfrm>
            <a:off x="4524376" y="2092325"/>
            <a:ext cx="1846263" cy="407988"/>
          </a:xfrm>
          <a:prstGeom prst="wedgeRoundRectCallout">
            <a:avLst>
              <a:gd name="adj1" fmla="val -75764"/>
              <a:gd name="adj2" fmla="val 67505"/>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本地状态，活跃</a:t>
            </a:r>
          </a:p>
        </p:txBody>
      </p:sp>
      <p:sp>
        <p:nvSpPr>
          <p:cNvPr id="29" name="AutoShape 33"/>
          <p:cNvSpPr>
            <a:spLocks noChangeArrowheads="1"/>
          </p:cNvSpPr>
          <p:nvPr/>
        </p:nvSpPr>
        <p:spPr bwMode="auto">
          <a:xfrm>
            <a:off x="6738939" y="2928939"/>
            <a:ext cx="1387475" cy="407987"/>
          </a:xfrm>
          <a:prstGeom prst="wedgeRoundRectCallout">
            <a:avLst>
              <a:gd name="adj1" fmla="val -93866"/>
              <a:gd name="adj2" fmla="val -1741"/>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虚拟</a:t>
            </a:r>
            <a:r>
              <a:rPr lang="en-US" altLang="zh-CN" b="1">
                <a:solidFill>
                  <a:schemeClr val="tx2"/>
                </a:solidFill>
                <a:latin typeface="楷体_GB2312" pitchFamily="49" charset="-122"/>
                <a:ea typeface="楷体_GB2312" pitchFamily="49" charset="-122"/>
              </a:rPr>
              <a:t>IP</a:t>
            </a:r>
            <a:r>
              <a:rPr lang="zh-CN" altLang="en-US" b="1">
                <a:solidFill>
                  <a:schemeClr val="tx2"/>
                </a:solidFill>
                <a:latin typeface="楷体_GB2312" pitchFamily="49" charset="-122"/>
                <a:ea typeface="楷体_GB2312" pitchFamily="49" charset="-122"/>
              </a:rPr>
              <a:t>地址</a:t>
            </a:r>
          </a:p>
        </p:txBody>
      </p:sp>
      <p:sp>
        <p:nvSpPr>
          <p:cNvPr id="30" name="AutoShape 33"/>
          <p:cNvSpPr>
            <a:spLocks noChangeArrowheads="1"/>
          </p:cNvSpPr>
          <p:nvPr/>
        </p:nvSpPr>
        <p:spPr bwMode="auto">
          <a:xfrm>
            <a:off x="7745413" y="3949384"/>
            <a:ext cx="1702442" cy="408623"/>
          </a:xfrm>
          <a:prstGeom prst="wedgeRoundRectCallout">
            <a:avLst>
              <a:gd name="adj1" fmla="val -74153"/>
              <a:gd name="adj2" fmla="val -140065"/>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虚拟</a:t>
            </a:r>
            <a:r>
              <a:rPr lang="en-US" altLang="zh-CN" b="1">
                <a:solidFill>
                  <a:schemeClr val="tx2"/>
                </a:solidFill>
                <a:latin typeface="楷体_GB2312" pitchFamily="49" charset="-122"/>
                <a:ea typeface="楷体_GB2312" pitchFamily="49" charset="-122"/>
              </a:rPr>
              <a:t>MAC</a:t>
            </a:r>
            <a:r>
              <a:rPr lang="zh-CN" altLang="en-US" b="1">
                <a:solidFill>
                  <a:schemeClr val="tx2"/>
                </a:solidFill>
                <a:latin typeface="楷体_GB2312" pitchFamily="49" charset="-122"/>
                <a:ea typeface="楷体_GB2312" pitchFamily="49" charset="-122"/>
              </a:rPr>
              <a:t>地址</a:t>
            </a:r>
          </a:p>
        </p:txBody>
      </p:sp>
      <p:sp>
        <p:nvSpPr>
          <p:cNvPr id="31" name="AutoShape 33"/>
          <p:cNvSpPr>
            <a:spLocks noChangeArrowheads="1"/>
          </p:cNvSpPr>
          <p:nvPr/>
        </p:nvSpPr>
        <p:spPr bwMode="auto">
          <a:xfrm>
            <a:off x="7096126" y="4714875"/>
            <a:ext cx="1846263" cy="407988"/>
          </a:xfrm>
          <a:prstGeom prst="wedgeRoundRectCallout">
            <a:avLst>
              <a:gd name="adj1" fmla="val -59509"/>
              <a:gd name="adj2" fmla="val 88162"/>
              <a:gd name="adj3" fmla="val 16667"/>
            </a:avLst>
          </a:prstGeom>
          <a:gradFill rotWithShape="1">
            <a:gsLst>
              <a:gs pos="0">
                <a:srgbClr val="FFFF99"/>
              </a:gs>
              <a:gs pos="100000">
                <a:schemeClr val="bg1"/>
              </a:gs>
            </a:gsLst>
            <a:lin ang="16200000"/>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备份路由器信息</a:t>
            </a:r>
          </a:p>
        </p:txBody>
      </p:sp>
      <p:sp>
        <p:nvSpPr>
          <p:cNvPr id="32" name="AutoShape 33"/>
          <p:cNvSpPr>
            <a:spLocks noChangeArrowheads="1"/>
          </p:cNvSpPr>
          <p:nvPr/>
        </p:nvSpPr>
        <p:spPr bwMode="auto">
          <a:xfrm>
            <a:off x="7024689" y="6307139"/>
            <a:ext cx="1609725" cy="407987"/>
          </a:xfrm>
          <a:prstGeom prst="wedgeRoundRectCallout">
            <a:avLst>
              <a:gd name="adj1" fmla="val -35787"/>
              <a:gd name="adj2" fmla="val -72319"/>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端口跟踪配置</a:t>
            </a:r>
          </a:p>
        </p:txBody>
      </p:sp>
      <p:sp>
        <p:nvSpPr>
          <p:cNvPr id="33" name="AutoShape 33"/>
          <p:cNvSpPr>
            <a:spLocks noChangeArrowheads="1"/>
          </p:cNvSpPr>
          <p:nvPr/>
        </p:nvSpPr>
        <p:spPr bwMode="auto">
          <a:xfrm>
            <a:off x="4953000" y="4714875"/>
            <a:ext cx="1385888" cy="407988"/>
          </a:xfrm>
          <a:prstGeom prst="wedgeRoundRectCallout">
            <a:avLst>
              <a:gd name="adj1" fmla="val -69162"/>
              <a:gd name="adj2" fmla="val -38727"/>
              <a:gd name="adj3" fmla="val 16667"/>
            </a:avLst>
          </a:prstGeom>
          <a:gradFill rotWithShape="1">
            <a:gsLst>
              <a:gs pos="0">
                <a:srgbClr val="FFFF99"/>
              </a:gs>
              <a:gs pos="100000">
                <a:schemeClr val="bg1"/>
              </a:gs>
            </a:gsLst>
            <a:lin ang="5400000" scaled="1"/>
          </a:gradFill>
          <a:ln w="9525" algn="ctr">
            <a:solidFill>
              <a:srgbClr val="FFC000"/>
            </a:solidFill>
            <a:round/>
            <a:headEnd/>
            <a:tailEnd/>
          </a:ln>
        </p:spPr>
        <p:txBody>
          <a:bodyPr wrap="none" anchor="ctr" anchorCtr="1">
            <a:spAutoFit/>
          </a:bodyPr>
          <a:lstStyle/>
          <a:p>
            <a:r>
              <a:rPr lang="zh-CN" altLang="en-US" b="1">
                <a:solidFill>
                  <a:schemeClr val="tx2"/>
                </a:solidFill>
                <a:latin typeface="楷体_GB2312" pitchFamily="49" charset="-122"/>
                <a:ea typeface="楷体_GB2312" pitchFamily="49" charset="-122"/>
              </a:rPr>
              <a:t>占先权启用</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par>
                                <p:cTn id="12" presetID="1" presetClass="exit" presetSubtype="0" fill="hold" nodeType="withEffect">
                                  <p:stCondLst>
                                    <p:cond delay="0"/>
                                  </p:stCondLst>
                                  <p:childTnLst>
                                    <p:set>
                                      <p:cBhvr>
                                        <p:cTn id="13" dur="1" fill="hold">
                                          <p:stCondLst>
                                            <p:cond delay="0"/>
                                          </p:stCondLst>
                                        </p:cTn>
                                        <p:tgtEl>
                                          <p:spTgt spid="2"/>
                                        </p:tgtEl>
                                        <p:attrNameLst>
                                          <p:attrName>style.visibility</p:attrName>
                                        </p:attrNameLst>
                                      </p:cBhvr>
                                      <p:to>
                                        <p:strVal val="hidden"/>
                                      </p:to>
                                    </p:se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2"/>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 grpId="0" animBg="1"/>
      <p:bldP spid="6" grpId="0"/>
      <p:bldP spid="7" grpId="0" animBg="1"/>
      <p:bldP spid="7" grpId="1" animBg="1"/>
      <p:bldP spid="8" grpId="0"/>
      <p:bldP spid="8" grpId="1"/>
      <p:bldP spid="26" grpId="0"/>
      <p:bldP spid="28" grpId="0" animBg="1"/>
      <p:bldP spid="29" grpId="0" animBg="1"/>
      <p:bldP spid="30" grpId="0" animBg="1"/>
      <p:bldP spid="31"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1"/>
          <p:cNvSpPr>
            <a:spLocks noGrp="1"/>
          </p:cNvSpPr>
          <p:nvPr>
            <p:ph idx="1"/>
          </p:nvPr>
        </p:nvSpPr>
        <p:spPr>
          <a:xfrm>
            <a:off x="1738313" y="1143000"/>
            <a:ext cx="8501062" cy="857250"/>
          </a:xfrm>
        </p:spPr>
        <p:txBody>
          <a:bodyPr>
            <a:normAutofit fontScale="55000" lnSpcReduction="20000"/>
          </a:bodyPr>
          <a:lstStyle/>
          <a:p>
            <a:pPr>
              <a:spcBef>
                <a:spcPts val="675"/>
              </a:spcBef>
            </a:pPr>
            <a:r>
              <a:rPr lang="zh-CN" altLang="en-US"/>
              <a:t>需求描述</a:t>
            </a:r>
            <a:endParaRPr lang="en-US" altLang="zh-CN"/>
          </a:p>
          <a:p>
            <a:pPr lvl="1">
              <a:spcBef>
                <a:spcPts val="475"/>
              </a:spcBef>
            </a:pPr>
            <a:r>
              <a:rPr lang="zh-CN" altLang="en-US"/>
              <a:t>配置</a:t>
            </a:r>
            <a:r>
              <a:rPr lang="en-US" altLang="zh-CN"/>
              <a:t>HSRP</a:t>
            </a:r>
            <a:r>
              <a:rPr lang="zh-CN" altLang="en-US"/>
              <a:t>实现备份冗余</a:t>
            </a:r>
            <a:endParaRPr lang="en-US" altLang="zh-CN"/>
          </a:p>
          <a:p>
            <a:pPr lvl="1">
              <a:spcBef>
                <a:spcPts val="475"/>
              </a:spcBef>
            </a:pPr>
            <a:r>
              <a:rPr lang="zh-CN" altLang="en-US"/>
              <a:t>配置</a:t>
            </a:r>
            <a:r>
              <a:rPr lang="en-US" altLang="zh-CN"/>
              <a:t>HSRP</a:t>
            </a:r>
            <a:r>
              <a:rPr lang="zh-CN" altLang="en-US"/>
              <a:t>和</a:t>
            </a:r>
            <a:r>
              <a:rPr lang="en-US" altLang="zh-CN"/>
              <a:t>STP</a:t>
            </a:r>
            <a:r>
              <a:rPr lang="zh-CN" altLang="en-US"/>
              <a:t>实现流</a:t>
            </a:r>
            <a:endParaRPr lang="en-US" altLang="zh-CN"/>
          </a:p>
          <a:p>
            <a:pPr lvl="1">
              <a:spcBef>
                <a:spcPts val="475"/>
              </a:spcBef>
              <a:buNone/>
            </a:pPr>
            <a:r>
              <a:rPr lang="en-US" altLang="zh-CN"/>
              <a:t>   </a:t>
            </a:r>
            <a:r>
              <a:rPr lang="zh-CN" altLang="en-US"/>
              <a:t>量的负载均衡</a:t>
            </a:r>
          </a:p>
          <a:p>
            <a:pPr>
              <a:spcBef>
                <a:spcPts val="675"/>
              </a:spcBef>
            </a:pPr>
            <a:endParaRPr lang="zh-CN" altLang="en-US"/>
          </a:p>
        </p:txBody>
      </p:sp>
      <p:sp>
        <p:nvSpPr>
          <p:cNvPr id="26627" name="标题 2"/>
          <p:cNvSpPr>
            <a:spLocks noGrp="1"/>
          </p:cNvSpPr>
          <p:nvPr>
            <p:ph type="title"/>
          </p:nvPr>
        </p:nvSpPr>
        <p:spPr/>
        <p:txBody>
          <a:bodyPr/>
          <a:lstStyle/>
          <a:p>
            <a:r>
              <a:rPr lang="en-US" altLang="zh-CN"/>
              <a:t>HSRP</a:t>
            </a:r>
            <a:r>
              <a:rPr lang="zh-CN" altLang="en-US"/>
              <a:t>的应用案例</a:t>
            </a:r>
          </a:p>
        </p:txBody>
      </p:sp>
      <p:grpSp>
        <p:nvGrpSpPr>
          <p:cNvPr id="2" name="组合 39"/>
          <p:cNvGrpSpPr>
            <a:grpSpLocks/>
          </p:cNvGrpSpPr>
          <p:nvPr/>
        </p:nvGrpSpPr>
        <p:grpSpPr bwMode="auto">
          <a:xfrm>
            <a:off x="5524500" y="1308101"/>
            <a:ext cx="4756742" cy="4835525"/>
            <a:chOff x="4365625" y="1055655"/>
            <a:chExt cx="4756072" cy="4835525"/>
          </a:xfrm>
        </p:grpSpPr>
        <p:cxnSp>
          <p:nvCxnSpPr>
            <p:cNvPr id="26629" name="直接连接符 43"/>
            <p:cNvCxnSpPr>
              <a:cxnSpLocks noChangeShapeType="1"/>
            </p:cNvCxnSpPr>
            <p:nvPr/>
          </p:nvCxnSpPr>
          <p:spPr bwMode="auto">
            <a:xfrm>
              <a:off x="5011738" y="1420780"/>
              <a:ext cx="3384550" cy="1587"/>
            </a:xfrm>
            <a:prstGeom prst="line">
              <a:avLst/>
            </a:prstGeom>
            <a:noFill/>
            <a:ln w="44450" algn="ctr">
              <a:solidFill>
                <a:srgbClr val="FF3300"/>
              </a:solidFill>
              <a:round/>
              <a:headEnd/>
              <a:tailEnd/>
            </a:ln>
          </p:spPr>
        </p:cxnSp>
        <p:sp>
          <p:nvSpPr>
            <p:cNvPr id="6" name="Text Box 33"/>
            <p:cNvSpPr txBox="1">
              <a:spLocks noChangeArrowheads="1"/>
            </p:cNvSpPr>
            <p:nvPr/>
          </p:nvSpPr>
          <p:spPr bwMode="auto">
            <a:xfrm>
              <a:off x="5471957" y="2844768"/>
              <a:ext cx="774462"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F0/24</a:t>
              </a:r>
            </a:p>
          </p:txBody>
        </p:sp>
        <p:sp>
          <p:nvSpPr>
            <p:cNvPr id="7" name="Text Box 33"/>
            <p:cNvSpPr txBox="1">
              <a:spLocks noChangeArrowheads="1"/>
            </p:cNvSpPr>
            <p:nvPr/>
          </p:nvSpPr>
          <p:spPr bwMode="auto">
            <a:xfrm>
              <a:off x="7222723" y="2844768"/>
              <a:ext cx="774462"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F0/24</a:t>
              </a:r>
            </a:p>
          </p:txBody>
        </p:sp>
        <p:sp>
          <p:nvSpPr>
            <p:cNvPr id="8" name="Text Box 33"/>
            <p:cNvSpPr txBox="1">
              <a:spLocks noChangeArrowheads="1"/>
            </p:cNvSpPr>
            <p:nvPr/>
          </p:nvSpPr>
          <p:spPr bwMode="auto">
            <a:xfrm>
              <a:off x="4960854" y="3592480"/>
              <a:ext cx="774462"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tx2"/>
                  </a:solidFill>
                  <a:latin typeface="+mj-lt"/>
                  <a:cs typeface="Times New Roman" pitchFamily="18" charset="0"/>
                </a:rPr>
                <a:t>F0/23</a:t>
              </a:r>
            </a:p>
          </p:txBody>
        </p:sp>
        <p:sp>
          <p:nvSpPr>
            <p:cNvPr id="9" name="Text Box 33"/>
            <p:cNvSpPr txBox="1">
              <a:spLocks noChangeArrowheads="1"/>
            </p:cNvSpPr>
            <p:nvPr/>
          </p:nvSpPr>
          <p:spPr bwMode="auto">
            <a:xfrm>
              <a:off x="5486242" y="3867118"/>
              <a:ext cx="774462"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F0/23</a:t>
              </a:r>
            </a:p>
          </p:txBody>
        </p:sp>
        <p:sp>
          <p:nvSpPr>
            <p:cNvPr id="10" name="Text Box 33"/>
            <p:cNvSpPr txBox="1">
              <a:spLocks noChangeArrowheads="1"/>
            </p:cNvSpPr>
            <p:nvPr/>
          </p:nvSpPr>
          <p:spPr bwMode="auto">
            <a:xfrm>
              <a:off x="7263992" y="3867118"/>
              <a:ext cx="774462"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F0/24</a:t>
              </a:r>
            </a:p>
          </p:txBody>
        </p:sp>
        <p:sp>
          <p:nvSpPr>
            <p:cNvPr id="11" name="Text Box 33"/>
            <p:cNvSpPr txBox="1">
              <a:spLocks noChangeArrowheads="1"/>
            </p:cNvSpPr>
            <p:nvPr/>
          </p:nvSpPr>
          <p:spPr bwMode="auto">
            <a:xfrm>
              <a:off x="5730683" y="4378293"/>
              <a:ext cx="646240"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tx2"/>
                  </a:solidFill>
                  <a:latin typeface="+mj-lt"/>
                  <a:cs typeface="Times New Roman" pitchFamily="18" charset="0"/>
                </a:rPr>
                <a:t>F0/1</a:t>
              </a:r>
            </a:p>
          </p:txBody>
        </p:sp>
        <p:pic>
          <p:nvPicPr>
            <p:cNvPr id="26636" name="Picture 10"/>
            <p:cNvPicPr>
              <a:picLocks noChangeArrowheads="1"/>
            </p:cNvPicPr>
            <p:nvPr/>
          </p:nvPicPr>
          <p:blipFill>
            <a:blip r:embed="rId3"/>
            <a:srcRect/>
            <a:stretch>
              <a:fillRect/>
            </a:stretch>
          </p:blipFill>
          <p:spPr bwMode="auto">
            <a:xfrm>
              <a:off x="6388100" y="1055655"/>
              <a:ext cx="912813" cy="590550"/>
            </a:xfrm>
            <a:prstGeom prst="rect">
              <a:avLst/>
            </a:prstGeom>
            <a:noFill/>
            <a:ln w="9525">
              <a:noFill/>
              <a:miter lim="800000"/>
              <a:headEnd/>
              <a:tailEnd/>
            </a:ln>
          </p:spPr>
        </p:pic>
        <p:sp>
          <p:nvSpPr>
            <p:cNvPr id="13" name="Text Box 33"/>
            <p:cNvSpPr txBox="1">
              <a:spLocks noChangeArrowheads="1"/>
            </p:cNvSpPr>
            <p:nvPr/>
          </p:nvSpPr>
          <p:spPr bwMode="auto">
            <a:xfrm>
              <a:off x="5106884" y="2443130"/>
              <a:ext cx="646240"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F0/1</a:t>
              </a:r>
            </a:p>
          </p:txBody>
        </p:sp>
        <p:sp>
          <p:nvSpPr>
            <p:cNvPr id="14" name="Text Box 33"/>
            <p:cNvSpPr txBox="1">
              <a:spLocks noChangeArrowheads="1"/>
            </p:cNvSpPr>
            <p:nvPr/>
          </p:nvSpPr>
          <p:spPr bwMode="auto">
            <a:xfrm>
              <a:off x="7660811" y="2479643"/>
              <a:ext cx="646240"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F0/1</a:t>
              </a:r>
            </a:p>
          </p:txBody>
        </p:sp>
        <p:sp>
          <p:nvSpPr>
            <p:cNvPr id="15" name="Text Box 33"/>
            <p:cNvSpPr txBox="1">
              <a:spLocks noChangeArrowheads="1"/>
            </p:cNvSpPr>
            <p:nvPr/>
          </p:nvSpPr>
          <p:spPr bwMode="auto">
            <a:xfrm>
              <a:off x="5722747" y="1087405"/>
              <a:ext cx="646240"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tx2"/>
                  </a:solidFill>
                  <a:latin typeface="+mj-lt"/>
                  <a:cs typeface="Times New Roman" pitchFamily="18" charset="0"/>
                </a:rPr>
                <a:t>F0/0</a:t>
              </a:r>
            </a:p>
          </p:txBody>
        </p:sp>
        <p:sp>
          <p:nvSpPr>
            <p:cNvPr id="16" name="Text Box 33"/>
            <p:cNvSpPr txBox="1">
              <a:spLocks noChangeArrowheads="1"/>
            </p:cNvSpPr>
            <p:nvPr/>
          </p:nvSpPr>
          <p:spPr bwMode="auto">
            <a:xfrm>
              <a:off x="7195740" y="1092168"/>
              <a:ext cx="646240"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tx2"/>
                  </a:solidFill>
                  <a:latin typeface="+mj-lt"/>
                  <a:cs typeface="Times New Roman" pitchFamily="18" charset="0"/>
                </a:rPr>
                <a:t>F0/1</a:t>
              </a:r>
            </a:p>
          </p:txBody>
        </p:sp>
        <p:sp>
          <p:nvSpPr>
            <p:cNvPr id="17" name="Text Box 24"/>
            <p:cNvSpPr txBox="1">
              <a:spLocks noChangeArrowheads="1"/>
            </p:cNvSpPr>
            <p:nvPr/>
          </p:nvSpPr>
          <p:spPr bwMode="auto">
            <a:xfrm>
              <a:off x="4365625" y="3592480"/>
              <a:ext cx="684707" cy="369332"/>
            </a:xfrm>
            <a:prstGeom prst="rect">
              <a:avLst/>
            </a:prstGeom>
            <a:noFill/>
            <a:ln w="9525">
              <a:noFill/>
              <a:miter lim="800000"/>
              <a:headEnd/>
              <a:tailEnd/>
            </a:ln>
          </p:spPr>
          <p:txBody>
            <a:bodyPr wrap="none">
              <a:spAutoFit/>
            </a:bodyPr>
            <a:lstStyle/>
            <a:p>
              <a:pPr>
                <a:defRPr/>
              </a:pPr>
              <a:r>
                <a:rPr lang="en-US" altLang="zh-CN" b="1" dirty="0">
                  <a:solidFill>
                    <a:schemeClr val="tx2"/>
                  </a:solidFill>
                  <a:latin typeface="+mj-lt"/>
                  <a:cs typeface="Times New Roman" pitchFamily="18" charset="0"/>
                </a:rPr>
                <a:t>SW1</a:t>
              </a:r>
            </a:p>
          </p:txBody>
        </p:sp>
        <p:sp>
          <p:nvSpPr>
            <p:cNvPr id="18" name="Text Box 26"/>
            <p:cNvSpPr txBox="1">
              <a:spLocks noChangeArrowheads="1"/>
            </p:cNvSpPr>
            <p:nvPr/>
          </p:nvSpPr>
          <p:spPr bwMode="auto">
            <a:xfrm>
              <a:off x="8436990" y="3533743"/>
              <a:ext cx="684707" cy="369332"/>
            </a:xfrm>
            <a:prstGeom prst="rect">
              <a:avLst/>
            </a:prstGeom>
            <a:noFill/>
            <a:ln w="9525">
              <a:noFill/>
              <a:miter lim="800000"/>
              <a:headEnd/>
              <a:tailEnd/>
            </a:ln>
          </p:spPr>
          <p:txBody>
            <a:bodyPr wrap="none">
              <a:spAutoFit/>
            </a:bodyPr>
            <a:lstStyle/>
            <a:p>
              <a:pPr>
                <a:defRPr/>
              </a:pPr>
              <a:r>
                <a:rPr lang="en-US" altLang="zh-CN" b="1" dirty="0">
                  <a:solidFill>
                    <a:schemeClr val="tx2"/>
                  </a:solidFill>
                  <a:latin typeface="+mj-lt"/>
                  <a:cs typeface="Times New Roman" pitchFamily="18" charset="0"/>
                </a:rPr>
                <a:t>SW2</a:t>
              </a:r>
            </a:p>
          </p:txBody>
        </p:sp>
        <p:cxnSp>
          <p:nvCxnSpPr>
            <p:cNvPr id="26643" name="直接连接符 98"/>
            <p:cNvCxnSpPr>
              <a:cxnSpLocks noChangeShapeType="1"/>
            </p:cNvCxnSpPr>
            <p:nvPr/>
          </p:nvCxnSpPr>
          <p:spPr bwMode="auto">
            <a:xfrm rot="5400000">
              <a:off x="6249194" y="4188586"/>
              <a:ext cx="474662" cy="0"/>
            </a:xfrm>
            <a:prstGeom prst="line">
              <a:avLst/>
            </a:prstGeom>
            <a:noFill/>
            <a:ln w="15875" algn="ctr">
              <a:solidFill>
                <a:schemeClr val="tx2"/>
              </a:solidFill>
              <a:round/>
              <a:headEnd/>
              <a:tailEnd/>
            </a:ln>
          </p:spPr>
        </p:cxnSp>
        <p:cxnSp>
          <p:nvCxnSpPr>
            <p:cNvPr id="26644" name="直接连接符 43"/>
            <p:cNvCxnSpPr>
              <a:cxnSpLocks noChangeShapeType="1"/>
            </p:cNvCxnSpPr>
            <p:nvPr/>
          </p:nvCxnSpPr>
          <p:spPr bwMode="auto">
            <a:xfrm>
              <a:off x="5048250" y="4195730"/>
              <a:ext cx="3348038" cy="1587"/>
            </a:xfrm>
            <a:prstGeom prst="line">
              <a:avLst/>
            </a:prstGeom>
            <a:noFill/>
            <a:ln w="44450" algn="ctr">
              <a:solidFill>
                <a:srgbClr val="FF3300"/>
              </a:solidFill>
              <a:round/>
              <a:headEnd/>
              <a:tailEnd/>
            </a:ln>
          </p:spPr>
        </p:cxnSp>
        <p:cxnSp>
          <p:nvCxnSpPr>
            <p:cNvPr id="26645" name="直接连接符 44"/>
            <p:cNvCxnSpPr>
              <a:cxnSpLocks noChangeShapeType="1"/>
            </p:cNvCxnSpPr>
            <p:nvPr/>
          </p:nvCxnSpPr>
          <p:spPr bwMode="auto">
            <a:xfrm rot="5400000">
              <a:off x="7010400" y="2811430"/>
              <a:ext cx="2808287" cy="1588"/>
            </a:xfrm>
            <a:prstGeom prst="line">
              <a:avLst/>
            </a:prstGeom>
            <a:noFill/>
            <a:ln w="44450" algn="ctr">
              <a:solidFill>
                <a:srgbClr val="FF3300"/>
              </a:solidFill>
              <a:round/>
              <a:headEnd/>
              <a:tailEnd/>
            </a:ln>
          </p:spPr>
        </p:cxnSp>
        <p:cxnSp>
          <p:nvCxnSpPr>
            <p:cNvPr id="26646" name="直接连接符 45"/>
            <p:cNvCxnSpPr>
              <a:cxnSpLocks noChangeShapeType="1"/>
            </p:cNvCxnSpPr>
            <p:nvPr/>
          </p:nvCxnSpPr>
          <p:spPr bwMode="auto">
            <a:xfrm rot="5400000">
              <a:off x="3627438" y="2811430"/>
              <a:ext cx="2808287" cy="1587"/>
            </a:xfrm>
            <a:prstGeom prst="line">
              <a:avLst/>
            </a:prstGeom>
            <a:noFill/>
            <a:ln w="44450" algn="ctr">
              <a:solidFill>
                <a:srgbClr val="FF3300"/>
              </a:solidFill>
              <a:round/>
              <a:headEnd/>
              <a:tailEnd/>
            </a:ln>
          </p:spPr>
        </p:cxnSp>
        <p:pic>
          <p:nvPicPr>
            <p:cNvPr id="26647" name="Picture 4"/>
            <p:cNvPicPr>
              <a:picLocks noChangeAspect="1" noChangeArrowheads="1"/>
            </p:cNvPicPr>
            <p:nvPr/>
          </p:nvPicPr>
          <p:blipFill>
            <a:blip r:embed="rId4"/>
            <a:srcRect/>
            <a:stretch>
              <a:fillRect/>
            </a:stretch>
          </p:blipFill>
          <p:spPr bwMode="auto">
            <a:xfrm>
              <a:off x="6176963" y="3903630"/>
              <a:ext cx="1185862" cy="525462"/>
            </a:xfrm>
            <a:prstGeom prst="rect">
              <a:avLst/>
            </a:prstGeom>
            <a:noFill/>
            <a:ln w="9525">
              <a:noFill/>
              <a:miter lim="800000"/>
              <a:headEnd/>
              <a:tailEnd/>
            </a:ln>
          </p:spPr>
        </p:pic>
        <p:sp>
          <p:nvSpPr>
            <p:cNvPr id="24" name="Text Box 33"/>
            <p:cNvSpPr txBox="1">
              <a:spLocks noChangeArrowheads="1"/>
            </p:cNvSpPr>
            <p:nvPr/>
          </p:nvSpPr>
          <p:spPr bwMode="auto">
            <a:xfrm>
              <a:off x="6370356" y="4122705"/>
              <a:ext cx="684707"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accent3"/>
                  </a:solidFill>
                  <a:latin typeface="+mj-lt"/>
                  <a:cs typeface="Times New Roman" pitchFamily="18" charset="0"/>
                </a:rPr>
                <a:t>SW3</a:t>
              </a:r>
            </a:p>
          </p:txBody>
        </p:sp>
        <p:pic>
          <p:nvPicPr>
            <p:cNvPr id="26649" name="Picture 12"/>
            <p:cNvPicPr>
              <a:picLocks noChangeAspect="1" noChangeArrowheads="1"/>
            </p:cNvPicPr>
            <p:nvPr/>
          </p:nvPicPr>
          <p:blipFill>
            <a:blip r:embed="rId5"/>
            <a:srcRect/>
            <a:stretch>
              <a:fillRect/>
            </a:stretch>
          </p:blipFill>
          <p:spPr bwMode="auto">
            <a:xfrm>
              <a:off x="7916863" y="2735230"/>
              <a:ext cx="1019175" cy="863600"/>
            </a:xfrm>
            <a:prstGeom prst="rect">
              <a:avLst/>
            </a:prstGeom>
            <a:noFill/>
            <a:ln w="9525">
              <a:noFill/>
              <a:miter lim="800000"/>
              <a:headEnd/>
              <a:tailEnd/>
            </a:ln>
          </p:spPr>
        </p:pic>
        <p:pic>
          <p:nvPicPr>
            <p:cNvPr id="26650" name="Picture 12"/>
            <p:cNvPicPr>
              <a:picLocks noChangeAspect="1" noChangeArrowheads="1"/>
            </p:cNvPicPr>
            <p:nvPr/>
          </p:nvPicPr>
          <p:blipFill>
            <a:blip r:embed="rId5"/>
            <a:srcRect/>
            <a:stretch>
              <a:fillRect/>
            </a:stretch>
          </p:blipFill>
          <p:spPr bwMode="auto">
            <a:xfrm>
              <a:off x="4527550" y="2735230"/>
              <a:ext cx="1019175" cy="863600"/>
            </a:xfrm>
            <a:prstGeom prst="rect">
              <a:avLst/>
            </a:prstGeom>
            <a:noFill/>
            <a:ln w="9525">
              <a:noFill/>
              <a:miter lim="800000"/>
              <a:headEnd/>
              <a:tailEnd/>
            </a:ln>
          </p:spPr>
        </p:pic>
        <p:pic>
          <p:nvPicPr>
            <p:cNvPr id="26651" name="Picture 26"/>
            <p:cNvPicPr>
              <a:picLocks noChangeAspect="1" noChangeArrowheads="1"/>
            </p:cNvPicPr>
            <p:nvPr/>
          </p:nvPicPr>
          <p:blipFill>
            <a:blip r:embed="rId6"/>
            <a:srcRect/>
            <a:stretch>
              <a:fillRect/>
            </a:stretch>
          </p:blipFill>
          <p:spPr bwMode="auto">
            <a:xfrm>
              <a:off x="5475288" y="5218080"/>
              <a:ext cx="712787" cy="673100"/>
            </a:xfrm>
            <a:prstGeom prst="rect">
              <a:avLst/>
            </a:prstGeom>
            <a:noFill/>
            <a:ln w="9525">
              <a:noFill/>
              <a:miter lim="800000"/>
              <a:headEnd/>
              <a:tailEnd/>
            </a:ln>
          </p:spPr>
        </p:pic>
        <p:sp>
          <p:nvSpPr>
            <p:cNvPr id="28" name="Text Box 24"/>
            <p:cNvSpPr txBox="1">
              <a:spLocks noChangeArrowheads="1"/>
            </p:cNvSpPr>
            <p:nvPr/>
          </p:nvSpPr>
          <p:spPr bwMode="auto">
            <a:xfrm>
              <a:off x="4973552" y="5364130"/>
              <a:ext cx="633323" cy="369888"/>
            </a:xfrm>
            <a:prstGeom prst="rect">
              <a:avLst/>
            </a:prstGeom>
            <a:noFill/>
            <a:ln w="9525">
              <a:noFill/>
              <a:miter lim="800000"/>
              <a:headEnd/>
              <a:tailEnd/>
            </a:ln>
          </p:spPr>
          <p:txBody>
            <a:bodyPr wrap="none">
              <a:spAutoFit/>
            </a:bodyPr>
            <a:lstStyle/>
            <a:p>
              <a:pPr>
                <a:defRPr/>
              </a:pPr>
              <a:r>
                <a:rPr lang="en-US" altLang="zh-CN" b="1">
                  <a:solidFill>
                    <a:schemeClr val="tx2"/>
                  </a:solidFill>
                  <a:latin typeface="+mj-lt"/>
                  <a:cs typeface="Times New Roman" pitchFamily="18" charset="0"/>
                </a:rPr>
                <a:t>PC1</a:t>
              </a:r>
            </a:p>
          </p:txBody>
        </p:sp>
        <p:cxnSp>
          <p:nvCxnSpPr>
            <p:cNvPr id="26653" name="直接连接符 46"/>
            <p:cNvCxnSpPr>
              <a:cxnSpLocks noChangeShapeType="1"/>
            </p:cNvCxnSpPr>
            <p:nvPr/>
          </p:nvCxnSpPr>
          <p:spPr bwMode="auto">
            <a:xfrm>
              <a:off x="5546725" y="3167030"/>
              <a:ext cx="2370138" cy="1587"/>
            </a:xfrm>
            <a:prstGeom prst="line">
              <a:avLst/>
            </a:prstGeom>
            <a:noFill/>
            <a:ln w="44450" algn="ctr">
              <a:solidFill>
                <a:srgbClr val="FF3300"/>
              </a:solidFill>
              <a:round/>
              <a:headEnd/>
              <a:tailEnd/>
            </a:ln>
          </p:spPr>
        </p:cxnSp>
        <p:sp>
          <p:nvSpPr>
            <p:cNvPr id="30" name="Text Box 33"/>
            <p:cNvSpPr txBox="1">
              <a:spLocks noChangeArrowheads="1"/>
            </p:cNvSpPr>
            <p:nvPr/>
          </p:nvSpPr>
          <p:spPr bwMode="auto">
            <a:xfrm>
              <a:off x="7579860" y="3533743"/>
              <a:ext cx="774462" cy="369332"/>
            </a:xfrm>
            <a:prstGeom prst="rect">
              <a:avLst/>
            </a:prstGeom>
            <a:noFill/>
            <a:ln w="9525" algn="ctr">
              <a:noFill/>
              <a:miter lim="800000"/>
              <a:headEnd/>
              <a:tailEnd/>
            </a:ln>
          </p:spPr>
          <p:txBody>
            <a:bodyPr wrap="none" anchorCtr="1">
              <a:spAutoFit/>
            </a:bodyPr>
            <a:lstStyle/>
            <a:p>
              <a:pPr>
                <a:defRPr/>
              </a:pPr>
              <a:r>
                <a:rPr lang="en-US" altLang="zh-CN" b="1">
                  <a:solidFill>
                    <a:schemeClr val="tx2"/>
                  </a:solidFill>
                  <a:latin typeface="+mj-lt"/>
                  <a:cs typeface="Times New Roman" pitchFamily="18" charset="0"/>
                </a:rPr>
                <a:t>F0/23</a:t>
              </a:r>
            </a:p>
          </p:txBody>
        </p:sp>
        <p:sp>
          <p:nvSpPr>
            <p:cNvPr id="31" name="Text Box 33"/>
            <p:cNvSpPr txBox="1">
              <a:spLocks noChangeArrowheads="1"/>
            </p:cNvSpPr>
            <p:nvPr/>
          </p:nvSpPr>
          <p:spPr bwMode="auto">
            <a:xfrm>
              <a:off x="6587812" y="1330293"/>
              <a:ext cx="488881" cy="369887"/>
            </a:xfrm>
            <a:prstGeom prst="rect">
              <a:avLst/>
            </a:prstGeom>
            <a:noFill/>
            <a:ln w="9525" algn="ctr">
              <a:noFill/>
              <a:miter lim="800000"/>
              <a:headEnd/>
              <a:tailEnd/>
            </a:ln>
          </p:spPr>
          <p:txBody>
            <a:bodyPr wrap="none" anchorCtr="1">
              <a:spAutoFit/>
            </a:bodyPr>
            <a:lstStyle/>
            <a:p>
              <a:pPr>
                <a:defRPr/>
              </a:pPr>
              <a:r>
                <a:rPr lang="en-US" altLang="zh-CN" b="1" dirty="0">
                  <a:solidFill>
                    <a:schemeClr val="accent3"/>
                  </a:solidFill>
                  <a:latin typeface="+mj-lt"/>
                  <a:cs typeface="Times New Roman" pitchFamily="18" charset="0"/>
                </a:rPr>
                <a:t>R1</a:t>
              </a:r>
            </a:p>
          </p:txBody>
        </p:sp>
        <p:cxnSp>
          <p:nvCxnSpPr>
            <p:cNvPr id="26656" name="肘形连接符 81"/>
            <p:cNvCxnSpPr>
              <a:cxnSpLocks noChangeShapeType="1"/>
            </p:cNvCxnSpPr>
            <p:nvPr/>
          </p:nvCxnSpPr>
          <p:spPr bwMode="auto">
            <a:xfrm rot="5400000">
              <a:off x="5733256" y="4528311"/>
              <a:ext cx="788988" cy="590550"/>
            </a:xfrm>
            <a:prstGeom prst="bentConnector3">
              <a:avLst>
                <a:gd name="adj1" fmla="val 50000"/>
              </a:avLst>
            </a:prstGeom>
            <a:noFill/>
            <a:ln w="44450" algn="ctr">
              <a:solidFill>
                <a:srgbClr val="FF3300"/>
              </a:solidFill>
              <a:round/>
              <a:headEnd/>
              <a:tailEnd/>
            </a:ln>
          </p:spPr>
        </p:cxnSp>
        <p:pic>
          <p:nvPicPr>
            <p:cNvPr id="26657" name="Picture 26"/>
            <p:cNvPicPr>
              <a:picLocks noChangeAspect="1" noChangeArrowheads="1"/>
            </p:cNvPicPr>
            <p:nvPr/>
          </p:nvPicPr>
          <p:blipFill>
            <a:blip r:embed="rId6"/>
            <a:srcRect/>
            <a:stretch>
              <a:fillRect/>
            </a:stretch>
          </p:blipFill>
          <p:spPr bwMode="auto">
            <a:xfrm>
              <a:off x="7099300" y="5218080"/>
              <a:ext cx="712788" cy="673100"/>
            </a:xfrm>
            <a:prstGeom prst="rect">
              <a:avLst/>
            </a:prstGeom>
            <a:noFill/>
            <a:ln w="9525">
              <a:noFill/>
              <a:miter lim="800000"/>
              <a:headEnd/>
              <a:tailEnd/>
            </a:ln>
          </p:spPr>
        </p:pic>
        <p:cxnSp>
          <p:nvCxnSpPr>
            <p:cNvPr id="26658" name="肘形连接符 85"/>
            <p:cNvCxnSpPr>
              <a:cxnSpLocks noChangeShapeType="1"/>
            </p:cNvCxnSpPr>
            <p:nvPr/>
          </p:nvCxnSpPr>
          <p:spPr bwMode="auto">
            <a:xfrm rot="16200000" flipH="1">
              <a:off x="6809582" y="4571173"/>
              <a:ext cx="788988" cy="504825"/>
            </a:xfrm>
            <a:prstGeom prst="bentConnector3">
              <a:avLst>
                <a:gd name="adj1" fmla="val 50000"/>
              </a:avLst>
            </a:prstGeom>
            <a:noFill/>
            <a:ln w="44450" algn="ctr">
              <a:solidFill>
                <a:srgbClr val="FF3300"/>
              </a:solidFill>
              <a:round/>
              <a:headEnd/>
              <a:tailEnd/>
            </a:ln>
          </p:spPr>
        </p:cxnSp>
        <p:sp>
          <p:nvSpPr>
            <p:cNvPr id="35" name="Text Box 33"/>
            <p:cNvSpPr txBox="1">
              <a:spLocks noChangeArrowheads="1"/>
            </p:cNvSpPr>
            <p:nvPr/>
          </p:nvSpPr>
          <p:spPr bwMode="auto">
            <a:xfrm>
              <a:off x="6944950" y="4378293"/>
              <a:ext cx="646240" cy="369332"/>
            </a:xfrm>
            <a:prstGeom prst="rect">
              <a:avLst/>
            </a:prstGeom>
            <a:noFill/>
            <a:ln w="9525" algn="ctr">
              <a:noFill/>
              <a:miter lim="800000"/>
              <a:headEnd/>
              <a:tailEnd/>
            </a:ln>
          </p:spPr>
          <p:txBody>
            <a:bodyPr wrap="none" anchorCtr="1">
              <a:spAutoFit/>
            </a:bodyPr>
            <a:lstStyle/>
            <a:p>
              <a:pPr>
                <a:defRPr/>
              </a:pPr>
              <a:r>
                <a:rPr lang="en-US" altLang="zh-CN" b="1" dirty="0">
                  <a:solidFill>
                    <a:schemeClr val="tx2"/>
                  </a:solidFill>
                  <a:latin typeface="+mj-lt"/>
                  <a:cs typeface="Times New Roman" pitchFamily="18" charset="0"/>
                </a:rPr>
                <a:t>F0/2</a:t>
              </a:r>
            </a:p>
          </p:txBody>
        </p:sp>
        <p:sp>
          <p:nvSpPr>
            <p:cNvPr id="36" name="Text Box 24"/>
            <p:cNvSpPr txBox="1">
              <a:spLocks noChangeArrowheads="1"/>
            </p:cNvSpPr>
            <p:nvPr/>
          </p:nvSpPr>
          <p:spPr bwMode="auto">
            <a:xfrm>
              <a:off x="7738588" y="5340318"/>
              <a:ext cx="633323" cy="369887"/>
            </a:xfrm>
            <a:prstGeom prst="rect">
              <a:avLst/>
            </a:prstGeom>
            <a:noFill/>
            <a:ln w="9525">
              <a:noFill/>
              <a:miter lim="800000"/>
              <a:headEnd/>
              <a:tailEnd/>
            </a:ln>
          </p:spPr>
          <p:txBody>
            <a:bodyPr wrap="none">
              <a:spAutoFit/>
            </a:bodyPr>
            <a:lstStyle/>
            <a:p>
              <a:pPr>
                <a:defRPr/>
              </a:pPr>
              <a:r>
                <a:rPr lang="en-US" altLang="zh-CN" b="1">
                  <a:solidFill>
                    <a:schemeClr val="tx2"/>
                  </a:solidFill>
                  <a:latin typeface="+mj-lt"/>
                  <a:cs typeface="Times New Roman" pitchFamily="18" charset="0"/>
                </a:rPr>
                <a:t>PC2</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1"/>
          <p:cNvSpPr>
            <a:spLocks noGrp="1"/>
          </p:cNvSpPr>
          <p:nvPr>
            <p:ph idx="1"/>
          </p:nvPr>
        </p:nvSpPr>
        <p:spPr>
          <a:xfrm>
            <a:off x="1738313" y="1143001"/>
            <a:ext cx="8501062" cy="1571625"/>
          </a:xfrm>
        </p:spPr>
        <p:txBody>
          <a:bodyPr>
            <a:normAutofit fontScale="92500" lnSpcReduction="20000"/>
          </a:bodyPr>
          <a:lstStyle/>
          <a:p>
            <a:pPr>
              <a:spcBef>
                <a:spcPts val="675"/>
              </a:spcBef>
            </a:pPr>
            <a:r>
              <a:rPr lang="en-US" altLang="zh-CN"/>
              <a:t>HSRP</a:t>
            </a:r>
            <a:r>
              <a:rPr lang="zh-CN" altLang="en-US"/>
              <a:t>常见故障</a:t>
            </a:r>
          </a:p>
          <a:p>
            <a:pPr lvl="1">
              <a:spcBef>
                <a:spcPts val="475"/>
              </a:spcBef>
            </a:pPr>
            <a:r>
              <a:rPr lang="en-US" altLang="zh-CN"/>
              <a:t>HSRP</a:t>
            </a:r>
            <a:r>
              <a:rPr lang="zh-CN" altLang="en-US"/>
              <a:t>组中交换机都处于初始状态</a:t>
            </a:r>
          </a:p>
          <a:p>
            <a:pPr lvl="1">
              <a:spcBef>
                <a:spcPts val="475"/>
              </a:spcBef>
            </a:pPr>
            <a:r>
              <a:rPr lang="en-US" altLang="zh-CN"/>
              <a:t>HSRP</a:t>
            </a:r>
            <a:r>
              <a:rPr lang="zh-CN" altLang="en-US"/>
              <a:t>组中交换机都处于活跃状态</a:t>
            </a:r>
          </a:p>
          <a:p>
            <a:pPr lvl="1">
              <a:spcBef>
                <a:spcPts val="475"/>
              </a:spcBef>
            </a:pPr>
            <a:r>
              <a:rPr lang="zh-CN" altLang="en-US"/>
              <a:t>活跃设备上行链路故障，备份设备没有成为活跃状态</a:t>
            </a:r>
          </a:p>
          <a:p>
            <a:pPr lvl="1">
              <a:spcBef>
                <a:spcPts val="475"/>
              </a:spcBef>
            </a:pPr>
            <a:r>
              <a:rPr lang="zh-CN" altLang="en-US"/>
              <a:t>优先级高的路由器接入，没有成为活跃设备</a:t>
            </a:r>
          </a:p>
          <a:p>
            <a:pPr>
              <a:spcBef>
                <a:spcPts val="675"/>
              </a:spcBef>
            </a:pPr>
            <a:endParaRPr lang="zh-CN" altLang="en-US"/>
          </a:p>
          <a:p>
            <a:pPr>
              <a:spcBef>
                <a:spcPts val="675"/>
              </a:spcBef>
            </a:pPr>
            <a:endParaRPr lang="zh-CN" altLang="en-US"/>
          </a:p>
        </p:txBody>
      </p:sp>
      <p:sp>
        <p:nvSpPr>
          <p:cNvPr id="27651" name="标题 2"/>
          <p:cNvSpPr>
            <a:spLocks noGrp="1"/>
          </p:cNvSpPr>
          <p:nvPr>
            <p:ph type="title"/>
          </p:nvPr>
        </p:nvSpPr>
        <p:spPr/>
        <p:txBody>
          <a:bodyPr/>
          <a:lstStyle/>
          <a:p>
            <a:r>
              <a:rPr lang="en-US" altLang="zh-CN"/>
              <a:t>HSRP</a:t>
            </a:r>
            <a:r>
              <a:rPr lang="zh-CN" altLang="en-US"/>
              <a:t>故障排查</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4"/>
          <p:cNvSpPr>
            <a:spLocks noGrp="1"/>
          </p:cNvSpPr>
          <p:nvPr>
            <p:ph idx="1"/>
          </p:nvPr>
        </p:nvSpPr>
        <p:spPr>
          <a:xfrm>
            <a:off x="1738313" y="1143000"/>
            <a:ext cx="8501062" cy="1785938"/>
          </a:xfrm>
        </p:spPr>
        <p:txBody>
          <a:bodyPr/>
          <a:lstStyle/>
          <a:p>
            <a:pPr>
              <a:spcBef>
                <a:spcPts val="675"/>
              </a:spcBef>
            </a:pPr>
            <a:r>
              <a:rPr lang="zh-CN" altLang="en-US"/>
              <a:t>需求描述</a:t>
            </a:r>
            <a:endParaRPr lang="en-US" altLang="zh-CN"/>
          </a:p>
          <a:p>
            <a:pPr lvl="1">
              <a:spcBef>
                <a:spcPts val="475"/>
              </a:spcBef>
            </a:pPr>
            <a:r>
              <a:rPr lang="zh-CN" altLang="en-US"/>
              <a:t>搭建由两台核心交换机做热备份的公司网络</a:t>
            </a:r>
            <a:endParaRPr lang="en-US" altLang="zh-CN"/>
          </a:p>
          <a:p>
            <a:pPr lvl="1">
              <a:spcBef>
                <a:spcPts val="475"/>
              </a:spcBef>
            </a:pPr>
            <a:r>
              <a:rPr lang="zh-CN" altLang="en-US"/>
              <a:t>在网络中实现</a:t>
            </a:r>
            <a:r>
              <a:rPr lang="en-US" altLang="zh-CN"/>
              <a:t>VLAN</a:t>
            </a:r>
            <a:r>
              <a:rPr lang="zh-CN" altLang="en-US"/>
              <a:t>的负载均衡</a:t>
            </a:r>
            <a:endParaRPr lang="en-US" altLang="zh-CN"/>
          </a:p>
        </p:txBody>
      </p:sp>
      <p:sp>
        <p:nvSpPr>
          <p:cNvPr id="30723" name="Rectangle 2"/>
          <p:cNvSpPr>
            <a:spLocks noGrp="1" noChangeArrowheads="1"/>
          </p:cNvSpPr>
          <p:nvPr>
            <p:ph type="title"/>
          </p:nvPr>
        </p:nvSpPr>
        <p:spPr/>
        <p:txBody>
          <a:bodyPr/>
          <a:lstStyle/>
          <a:p>
            <a:pPr eaLnBrk="1" hangingPunct="1"/>
            <a:r>
              <a:rPr lang="zh-CN" altLang="en-US"/>
              <a:t>实验：</a:t>
            </a:r>
            <a:r>
              <a:rPr lang="zh-CN"/>
              <a:t>配置</a:t>
            </a:r>
            <a:r>
              <a:rPr lang="en-US" altLang="zh-CN"/>
              <a:t>HSRP2-1</a:t>
            </a:r>
            <a:endParaRPr lang="en-US" altLang="zh-CN">
              <a:latin typeface="黑体" pitchFamily="2" charset="-122"/>
            </a:endParaRPr>
          </a:p>
        </p:txBody>
      </p:sp>
      <p:pic>
        <p:nvPicPr>
          <p:cNvPr id="30724" name="Picture 12"/>
          <p:cNvPicPr>
            <a:picLocks noChangeAspect="1" noChangeArrowheads="1"/>
          </p:cNvPicPr>
          <p:nvPr/>
        </p:nvPicPr>
        <p:blipFill>
          <a:blip r:embed="rId3"/>
          <a:srcRect/>
          <a:stretch>
            <a:fillRect/>
          </a:stretch>
        </p:blipFill>
        <p:spPr bwMode="auto">
          <a:xfrm>
            <a:off x="4056063" y="2786063"/>
            <a:ext cx="836612" cy="709612"/>
          </a:xfrm>
          <a:prstGeom prst="rect">
            <a:avLst/>
          </a:prstGeom>
          <a:noFill/>
          <a:ln w="9525">
            <a:noFill/>
            <a:miter lim="800000"/>
            <a:headEnd/>
            <a:tailEnd/>
          </a:ln>
        </p:spPr>
      </p:pic>
      <p:pic>
        <p:nvPicPr>
          <p:cNvPr id="30725" name="Picture 12"/>
          <p:cNvPicPr>
            <a:picLocks noChangeAspect="1" noChangeArrowheads="1"/>
          </p:cNvPicPr>
          <p:nvPr/>
        </p:nvPicPr>
        <p:blipFill>
          <a:blip r:embed="rId3"/>
          <a:srcRect/>
          <a:stretch>
            <a:fillRect/>
          </a:stretch>
        </p:blipFill>
        <p:spPr bwMode="auto">
          <a:xfrm>
            <a:off x="7158038" y="2786063"/>
            <a:ext cx="836612" cy="709612"/>
          </a:xfrm>
          <a:prstGeom prst="rect">
            <a:avLst/>
          </a:prstGeom>
          <a:noFill/>
          <a:ln w="9525">
            <a:noFill/>
            <a:miter lim="800000"/>
            <a:headEnd/>
            <a:tailEnd/>
          </a:ln>
        </p:spPr>
      </p:pic>
      <p:sp>
        <p:nvSpPr>
          <p:cNvPr id="30726" name="Text Box 33"/>
          <p:cNvSpPr txBox="1">
            <a:spLocks noChangeArrowheads="1"/>
          </p:cNvSpPr>
          <p:nvPr/>
        </p:nvSpPr>
        <p:spPr bwMode="auto">
          <a:xfrm>
            <a:off x="4802188" y="2865439"/>
            <a:ext cx="70961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F0/15</a:t>
            </a:r>
          </a:p>
        </p:txBody>
      </p:sp>
      <p:sp>
        <p:nvSpPr>
          <p:cNvPr id="30727" name="Text Box 33"/>
          <p:cNvSpPr txBox="1">
            <a:spLocks noChangeArrowheads="1"/>
          </p:cNvSpPr>
          <p:nvPr/>
        </p:nvSpPr>
        <p:spPr bwMode="auto">
          <a:xfrm>
            <a:off x="6497638" y="2865439"/>
            <a:ext cx="70961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F0/15</a:t>
            </a:r>
          </a:p>
        </p:txBody>
      </p:sp>
      <p:sp>
        <p:nvSpPr>
          <p:cNvPr id="30728" name="Text Box 33"/>
          <p:cNvSpPr txBox="1">
            <a:spLocks noChangeArrowheads="1"/>
          </p:cNvSpPr>
          <p:nvPr/>
        </p:nvSpPr>
        <p:spPr bwMode="auto">
          <a:xfrm>
            <a:off x="7519988" y="3422650"/>
            <a:ext cx="7096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F0/14</a:t>
            </a:r>
          </a:p>
        </p:txBody>
      </p:sp>
      <p:sp>
        <p:nvSpPr>
          <p:cNvPr id="30729" name="Text Box 33"/>
          <p:cNvSpPr txBox="1">
            <a:spLocks noChangeArrowheads="1"/>
          </p:cNvSpPr>
          <p:nvPr/>
        </p:nvSpPr>
        <p:spPr bwMode="auto">
          <a:xfrm>
            <a:off x="3779838" y="3422650"/>
            <a:ext cx="7096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F0/14</a:t>
            </a:r>
          </a:p>
        </p:txBody>
      </p:sp>
      <p:sp>
        <p:nvSpPr>
          <p:cNvPr id="30730" name="Text Box 33"/>
          <p:cNvSpPr txBox="1">
            <a:spLocks noChangeArrowheads="1"/>
          </p:cNvSpPr>
          <p:nvPr/>
        </p:nvSpPr>
        <p:spPr bwMode="auto">
          <a:xfrm>
            <a:off x="3779838" y="4116389"/>
            <a:ext cx="70961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F0/14</a:t>
            </a:r>
          </a:p>
        </p:txBody>
      </p:sp>
      <p:sp>
        <p:nvSpPr>
          <p:cNvPr id="30731" name="Text Box 33"/>
          <p:cNvSpPr txBox="1">
            <a:spLocks noChangeArrowheads="1"/>
          </p:cNvSpPr>
          <p:nvPr/>
        </p:nvSpPr>
        <p:spPr bwMode="auto">
          <a:xfrm>
            <a:off x="6497638" y="3340100"/>
            <a:ext cx="7096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F0/13</a:t>
            </a:r>
          </a:p>
        </p:txBody>
      </p:sp>
      <p:sp>
        <p:nvSpPr>
          <p:cNvPr id="30732" name="Text Box 33"/>
          <p:cNvSpPr txBox="1">
            <a:spLocks noChangeArrowheads="1"/>
          </p:cNvSpPr>
          <p:nvPr/>
        </p:nvSpPr>
        <p:spPr bwMode="auto">
          <a:xfrm>
            <a:off x="4624388" y="4800600"/>
            <a:ext cx="5953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a:t>
            </a:r>
          </a:p>
        </p:txBody>
      </p:sp>
      <p:sp>
        <p:nvSpPr>
          <p:cNvPr id="30733" name="Text Box 33"/>
          <p:cNvSpPr txBox="1">
            <a:spLocks noChangeArrowheads="1"/>
          </p:cNvSpPr>
          <p:nvPr/>
        </p:nvSpPr>
        <p:spPr bwMode="auto">
          <a:xfrm>
            <a:off x="6607176" y="4800600"/>
            <a:ext cx="595313"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F0/0</a:t>
            </a:r>
          </a:p>
        </p:txBody>
      </p:sp>
      <p:sp>
        <p:nvSpPr>
          <p:cNvPr id="30734" name="Text Box 33"/>
          <p:cNvSpPr txBox="1">
            <a:spLocks noChangeArrowheads="1"/>
          </p:cNvSpPr>
          <p:nvPr/>
        </p:nvSpPr>
        <p:spPr bwMode="auto">
          <a:xfrm>
            <a:off x="3760788" y="5786439"/>
            <a:ext cx="58261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宋体" charset="-122"/>
                <a:cs typeface="Arial" charset="0"/>
              </a:rPr>
              <a:t>PC1</a:t>
            </a:r>
          </a:p>
        </p:txBody>
      </p:sp>
      <p:sp>
        <p:nvSpPr>
          <p:cNvPr id="30735" name="Text Box 33"/>
          <p:cNvSpPr txBox="1">
            <a:spLocks noChangeArrowheads="1"/>
          </p:cNvSpPr>
          <p:nvPr/>
        </p:nvSpPr>
        <p:spPr bwMode="auto">
          <a:xfrm>
            <a:off x="4416426" y="5786439"/>
            <a:ext cx="620713" cy="338137"/>
          </a:xfrm>
          <a:prstGeom prst="rect">
            <a:avLst/>
          </a:prstGeom>
          <a:noFill/>
          <a:ln w="9525" algn="ctr">
            <a:noFill/>
            <a:miter lim="800000"/>
            <a:headEnd/>
            <a:tailEnd/>
          </a:ln>
        </p:spPr>
        <p:txBody>
          <a:bodyPr anchorCtr="1">
            <a:spAutoFit/>
          </a:bodyPr>
          <a:lstStyle/>
          <a:p>
            <a:r>
              <a:rPr lang="en-US" altLang="zh-CN" sz="1600" b="1">
                <a:solidFill>
                  <a:schemeClr val="tx2"/>
                </a:solidFill>
                <a:ea typeface="宋体" charset="-122"/>
                <a:cs typeface="Arial" charset="0"/>
              </a:rPr>
              <a:t>PC2</a:t>
            </a:r>
          </a:p>
        </p:txBody>
      </p:sp>
      <p:sp>
        <p:nvSpPr>
          <p:cNvPr id="30736" name="Text Box 33"/>
          <p:cNvSpPr txBox="1">
            <a:spLocks noChangeArrowheads="1"/>
          </p:cNvSpPr>
          <p:nvPr/>
        </p:nvSpPr>
        <p:spPr bwMode="auto">
          <a:xfrm>
            <a:off x="2881313" y="5384800"/>
            <a:ext cx="90646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宋体" charset="-122"/>
                <a:cs typeface="Arial" charset="0"/>
              </a:rPr>
              <a:t>VLAN 2</a:t>
            </a:r>
          </a:p>
        </p:txBody>
      </p:sp>
      <p:sp>
        <p:nvSpPr>
          <p:cNvPr id="30737" name="Text Box 33"/>
          <p:cNvSpPr txBox="1">
            <a:spLocks noChangeArrowheads="1"/>
          </p:cNvSpPr>
          <p:nvPr/>
        </p:nvSpPr>
        <p:spPr bwMode="auto">
          <a:xfrm>
            <a:off x="4975226" y="5357814"/>
            <a:ext cx="906463"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宋体" charset="-122"/>
                <a:cs typeface="Arial" charset="0"/>
              </a:rPr>
              <a:t>VLAN 3</a:t>
            </a:r>
          </a:p>
        </p:txBody>
      </p:sp>
      <p:sp>
        <p:nvSpPr>
          <p:cNvPr id="30738" name="Text Box 33"/>
          <p:cNvSpPr txBox="1">
            <a:spLocks noChangeArrowheads="1"/>
          </p:cNvSpPr>
          <p:nvPr/>
        </p:nvSpPr>
        <p:spPr bwMode="auto">
          <a:xfrm>
            <a:off x="7877175" y="2974975"/>
            <a:ext cx="628650"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SW2</a:t>
            </a:r>
          </a:p>
        </p:txBody>
      </p:sp>
      <p:sp>
        <p:nvSpPr>
          <p:cNvPr id="30739" name="Text Box 33"/>
          <p:cNvSpPr txBox="1">
            <a:spLocks noChangeArrowheads="1"/>
          </p:cNvSpPr>
          <p:nvPr/>
        </p:nvSpPr>
        <p:spPr bwMode="auto">
          <a:xfrm>
            <a:off x="3505200" y="2984500"/>
            <a:ext cx="630238"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SW1</a:t>
            </a:r>
          </a:p>
        </p:txBody>
      </p:sp>
      <p:cxnSp>
        <p:nvCxnSpPr>
          <p:cNvPr id="30740" name="直接连接符 98"/>
          <p:cNvCxnSpPr>
            <a:cxnSpLocks noChangeShapeType="1"/>
          </p:cNvCxnSpPr>
          <p:nvPr/>
        </p:nvCxnSpPr>
        <p:spPr bwMode="auto">
          <a:xfrm rot="5400000" flipH="1" flipV="1">
            <a:off x="7117557" y="3950494"/>
            <a:ext cx="914400" cy="4763"/>
          </a:xfrm>
          <a:prstGeom prst="line">
            <a:avLst/>
          </a:prstGeom>
          <a:noFill/>
          <a:ln w="44450" algn="ctr">
            <a:solidFill>
              <a:schemeClr val="tx2"/>
            </a:solidFill>
            <a:round/>
            <a:headEnd/>
            <a:tailEnd/>
          </a:ln>
        </p:spPr>
      </p:cxnSp>
      <p:sp>
        <p:nvSpPr>
          <p:cNvPr id="30741" name="Text Box 33"/>
          <p:cNvSpPr txBox="1">
            <a:spLocks noChangeArrowheads="1"/>
          </p:cNvSpPr>
          <p:nvPr/>
        </p:nvSpPr>
        <p:spPr bwMode="auto">
          <a:xfrm>
            <a:off x="6789739" y="5749925"/>
            <a:ext cx="693737" cy="338138"/>
          </a:xfrm>
          <a:prstGeom prst="rect">
            <a:avLst/>
          </a:prstGeom>
          <a:noFill/>
          <a:ln w="9525" algn="ctr">
            <a:noFill/>
            <a:miter lim="800000"/>
            <a:headEnd/>
            <a:tailEnd/>
          </a:ln>
        </p:spPr>
        <p:txBody>
          <a:bodyPr anchorCtr="1">
            <a:spAutoFit/>
          </a:bodyPr>
          <a:lstStyle/>
          <a:p>
            <a:r>
              <a:rPr lang="en-US" altLang="zh-CN" sz="1600" b="1">
                <a:solidFill>
                  <a:schemeClr val="tx2"/>
                </a:solidFill>
                <a:ea typeface="宋体" charset="-122"/>
                <a:cs typeface="Arial" charset="0"/>
              </a:rPr>
              <a:t>PC3</a:t>
            </a:r>
          </a:p>
        </p:txBody>
      </p:sp>
      <p:sp>
        <p:nvSpPr>
          <p:cNvPr id="30742" name="Text Box 33"/>
          <p:cNvSpPr txBox="1">
            <a:spLocks noChangeArrowheads="1"/>
          </p:cNvSpPr>
          <p:nvPr/>
        </p:nvSpPr>
        <p:spPr bwMode="auto">
          <a:xfrm>
            <a:off x="7629525" y="5759450"/>
            <a:ext cx="693738" cy="338138"/>
          </a:xfrm>
          <a:prstGeom prst="rect">
            <a:avLst/>
          </a:prstGeom>
          <a:noFill/>
          <a:ln w="9525" algn="ctr">
            <a:noFill/>
            <a:miter lim="800000"/>
            <a:headEnd/>
            <a:tailEnd/>
          </a:ln>
        </p:spPr>
        <p:txBody>
          <a:bodyPr anchorCtr="1">
            <a:spAutoFit/>
          </a:bodyPr>
          <a:lstStyle/>
          <a:p>
            <a:r>
              <a:rPr lang="en-US" altLang="zh-CN" sz="1600" b="1">
                <a:solidFill>
                  <a:schemeClr val="tx2"/>
                </a:solidFill>
                <a:ea typeface="宋体" charset="-122"/>
                <a:cs typeface="Arial" charset="0"/>
              </a:rPr>
              <a:t>PC4</a:t>
            </a:r>
          </a:p>
        </p:txBody>
      </p:sp>
      <p:cxnSp>
        <p:nvCxnSpPr>
          <p:cNvPr id="30743" name="直接连接符 59"/>
          <p:cNvCxnSpPr>
            <a:cxnSpLocks noChangeShapeType="1"/>
          </p:cNvCxnSpPr>
          <p:nvPr/>
        </p:nvCxnSpPr>
        <p:spPr bwMode="auto">
          <a:xfrm rot="5400000">
            <a:off x="3691732" y="5096669"/>
            <a:ext cx="720725" cy="1588"/>
          </a:xfrm>
          <a:prstGeom prst="line">
            <a:avLst/>
          </a:prstGeom>
          <a:noFill/>
          <a:ln w="44450" algn="ctr">
            <a:solidFill>
              <a:schemeClr val="tx2"/>
            </a:solidFill>
            <a:round/>
            <a:headEnd/>
            <a:tailEnd/>
          </a:ln>
        </p:spPr>
      </p:cxnSp>
      <p:cxnSp>
        <p:nvCxnSpPr>
          <p:cNvPr id="30744" name="直接连接符 63"/>
          <p:cNvCxnSpPr>
            <a:cxnSpLocks noChangeShapeType="1"/>
          </p:cNvCxnSpPr>
          <p:nvPr/>
        </p:nvCxnSpPr>
        <p:spPr bwMode="auto">
          <a:xfrm rot="5400000">
            <a:off x="4312445" y="5096670"/>
            <a:ext cx="720725" cy="1587"/>
          </a:xfrm>
          <a:prstGeom prst="line">
            <a:avLst/>
          </a:prstGeom>
          <a:noFill/>
          <a:ln w="44450" algn="ctr">
            <a:solidFill>
              <a:schemeClr val="tx2"/>
            </a:solidFill>
            <a:round/>
            <a:headEnd/>
            <a:tailEnd/>
          </a:ln>
        </p:spPr>
      </p:cxnSp>
      <p:cxnSp>
        <p:nvCxnSpPr>
          <p:cNvPr id="30745" name="直接连接符 64"/>
          <p:cNvCxnSpPr>
            <a:cxnSpLocks noChangeShapeType="1"/>
          </p:cNvCxnSpPr>
          <p:nvPr/>
        </p:nvCxnSpPr>
        <p:spPr bwMode="auto">
          <a:xfrm rot="5400000">
            <a:off x="7489032" y="5060157"/>
            <a:ext cx="720725" cy="1588"/>
          </a:xfrm>
          <a:prstGeom prst="line">
            <a:avLst/>
          </a:prstGeom>
          <a:noFill/>
          <a:ln w="44450" algn="ctr">
            <a:solidFill>
              <a:schemeClr val="tx2"/>
            </a:solidFill>
            <a:round/>
            <a:headEnd/>
            <a:tailEnd/>
          </a:ln>
        </p:spPr>
      </p:cxnSp>
      <p:cxnSp>
        <p:nvCxnSpPr>
          <p:cNvPr id="30746" name="直接连接符 65"/>
          <p:cNvCxnSpPr>
            <a:cxnSpLocks noChangeShapeType="1"/>
          </p:cNvCxnSpPr>
          <p:nvPr/>
        </p:nvCxnSpPr>
        <p:spPr bwMode="auto">
          <a:xfrm rot="5400000">
            <a:off x="6795295" y="5106195"/>
            <a:ext cx="720725" cy="1587"/>
          </a:xfrm>
          <a:prstGeom prst="line">
            <a:avLst/>
          </a:prstGeom>
          <a:noFill/>
          <a:ln w="44450" algn="ctr">
            <a:solidFill>
              <a:schemeClr val="tx2"/>
            </a:solidFill>
            <a:round/>
            <a:headEnd/>
            <a:tailEnd/>
          </a:ln>
        </p:spPr>
      </p:cxnSp>
      <p:grpSp>
        <p:nvGrpSpPr>
          <p:cNvPr id="2" name="组合 67"/>
          <p:cNvGrpSpPr>
            <a:grpSpLocks/>
          </p:cNvGrpSpPr>
          <p:nvPr/>
        </p:nvGrpSpPr>
        <p:grpSpPr bwMode="auto">
          <a:xfrm>
            <a:off x="3925888" y="4410075"/>
            <a:ext cx="1092200" cy="509588"/>
            <a:chOff x="2027214" y="3502009"/>
            <a:chExt cx="819150" cy="382743"/>
          </a:xfrm>
        </p:grpSpPr>
        <p:pic>
          <p:nvPicPr>
            <p:cNvPr id="30767" name="Picture 10"/>
            <p:cNvPicPr>
              <a:picLocks noChangeAspect="1" noChangeArrowheads="1"/>
            </p:cNvPicPr>
            <p:nvPr/>
          </p:nvPicPr>
          <p:blipFill>
            <a:blip r:embed="rId4"/>
            <a:srcRect/>
            <a:stretch>
              <a:fillRect/>
            </a:stretch>
          </p:blipFill>
          <p:spPr bwMode="auto">
            <a:xfrm>
              <a:off x="2027214" y="3502009"/>
              <a:ext cx="819150" cy="350838"/>
            </a:xfrm>
            <a:prstGeom prst="rect">
              <a:avLst/>
            </a:prstGeom>
            <a:noFill/>
            <a:ln w="9525">
              <a:noFill/>
              <a:miter lim="800000"/>
              <a:headEnd/>
              <a:tailEnd/>
            </a:ln>
          </p:spPr>
        </p:pic>
        <p:sp>
          <p:nvSpPr>
            <p:cNvPr id="29" name="Text Box 33"/>
            <p:cNvSpPr txBox="1">
              <a:spLocks noChangeArrowheads="1"/>
            </p:cNvSpPr>
            <p:nvPr/>
          </p:nvSpPr>
          <p:spPr bwMode="auto">
            <a:xfrm>
              <a:off x="2121273" y="3630782"/>
              <a:ext cx="471488" cy="25397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accent3"/>
                  </a:solidFill>
                  <a:cs typeface="Arial" charset="0"/>
                </a:rPr>
                <a:t>SW3</a:t>
              </a:r>
            </a:p>
          </p:txBody>
        </p:sp>
      </p:grpSp>
      <p:grpSp>
        <p:nvGrpSpPr>
          <p:cNvPr id="3" name="组合 39"/>
          <p:cNvGrpSpPr>
            <a:grpSpLocks/>
          </p:cNvGrpSpPr>
          <p:nvPr/>
        </p:nvGrpSpPr>
        <p:grpSpPr bwMode="auto">
          <a:xfrm>
            <a:off x="7026275" y="4410075"/>
            <a:ext cx="1092200" cy="509588"/>
            <a:chOff x="2168488" y="3654409"/>
            <a:chExt cx="819150" cy="382653"/>
          </a:xfrm>
        </p:grpSpPr>
        <p:pic>
          <p:nvPicPr>
            <p:cNvPr id="30765" name="Picture 10"/>
            <p:cNvPicPr>
              <a:picLocks noChangeAspect="1" noChangeArrowheads="1"/>
            </p:cNvPicPr>
            <p:nvPr/>
          </p:nvPicPr>
          <p:blipFill>
            <a:blip r:embed="rId4"/>
            <a:srcRect/>
            <a:stretch>
              <a:fillRect/>
            </a:stretch>
          </p:blipFill>
          <p:spPr bwMode="auto">
            <a:xfrm>
              <a:off x="2168488" y="3654409"/>
              <a:ext cx="819150" cy="350838"/>
            </a:xfrm>
            <a:prstGeom prst="rect">
              <a:avLst/>
            </a:prstGeom>
            <a:noFill/>
            <a:ln w="9525">
              <a:noFill/>
              <a:miter lim="800000"/>
              <a:headEnd/>
              <a:tailEnd/>
            </a:ln>
          </p:spPr>
        </p:pic>
        <p:sp>
          <p:nvSpPr>
            <p:cNvPr id="32" name="Text Box 33"/>
            <p:cNvSpPr txBox="1">
              <a:spLocks noChangeArrowheads="1"/>
            </p:cNvSpPr>
            <p:nvPr/>
          </p:nvSpPr>
          <p:spPr bwMode="auto">
            <a:xfrm>
              <a:off x="2276835" y="3783152"/>
              <a:ext cx="471488" cy="253910"/>
            </a:xfrm>
            <a:prstGeom prst="rect">
              <a:avLst/>
            </a:prstGeom>
            <a:noFill/>
            <a:ln w="9525" algn="ctr">
              <a:noFill/>
              <a:miter lim="800000"/>
              <a:headEnd/>
              <a:tailEnd/>
            </a:ln>
          </p:spPr>
          <p:txBody>
            <a:bodyPr wrap="none" anchorCtr="1">
              <a:spAutoFit/>
            </a:bodyPr>
            <a:lstStyle/>
            <a:p>
              <a:pPr>
                <a:defRPr/>
              </a:pPr>
              <a:r>
                <a:rPr lang="en-US" altLang="zh-CN" sz="1600" b="1" dirty="0">
                  <a:solidFill>
                    <a:schemeClr val="accent3"/>
                  </a:solidFill>
                  <a:cs typeface="Arial" charset="0"/>
                </a:rPr>
                <a:t>SW4</a:t>
              </a:r>
            </a:p>
          </p:txBody>
        </p:sp>
      </p:grpSp>
      <p:sp>
        <p:nvSpPr>
          <p:cNvPr id="30749" name="Text Box 33"/>
          <p:cNvSpPr txBox="1">
            <a:spLocks noChangeArrowheads="1"/>
          </p:cNvSpPr>
          <p:nvPr/>
        </p:nvSpPr>
        <p:spPr bwMode="auto">
          <a:xfrm>
            <a:off x="5986463" y="5421314"/>
            <a:ext cx="90646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宋体" charset="-122"/>
                <a:cs typeface="Arial" charset="0"/>
              </a:rPr>
              <a:t>VLAN 2</a:t>
            </a:r>
          </a:p>
        </p:txBody>
      </p:sp>
      <p:sp>
        <p:nvSpPr>
          <p:cNvPr id="30750" name="Text Box 33"/>
          <p:cNvSpPr txBox="1">
            <a:spLocks noChangeArrowheads="1"/>
          </p:cNvSpPr>
          <p:nvPr/>
        </p:nvSpPr>
        <p:spPr bwMode="auto">
          <a:xfrm>
            <a:off x="8104188" y="5394325"/>
            <a:ext cx="90646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宋体" charset="-122"/>
                <a:cs typeface="Arial" charset="0"/>
              </a:rPr>
              <a:t>VLAN 4</a:t>
            </a:r>
          </a:p>
        </p:txBody>
      </p:sp>
      <p:sp>
        <p:nvSpPr>
          <p:cNvPr id="30751" name="Text Box 33"/>
          <p:cNvSpPr txBox="1">
            <a:spLocks noChangeArrowheads="1"/>
          </p:cNvSpPr>
          <p:nvPr/>
        </p:nvSpPr>
        <p:spPr bwMode="auto">
          <a:xfrm>
            <a:off x="7519988" y="4140200"/>
            <a:ext cx="709612" cy="338138"/>
          </a:xfrm>
          <a:prstGeom prst="rect">
            <a:avLst/>
          </a:prstGeom>
          <a:noFill/>
          <a:ln w="9525" algn="ctr">
            <a:noFill/>
            <a:miter lim="800000"/>
            <a:headEnd/>
            <a:tailEnd/>
          </a:ln>
        </p:spPr>
        <p:txBody>
          <a:bodyPr anchorCtr="1">
            <a:spAutoFit/>
          </a:bodyPr>
          <a:lstStyle/>
          <a:p>
            <a:r>
              <a:rPr lang="en-US" altLang="zh-CN" sz="1600" b="1">
                <a:solidFill>
                  <a:schemeClr val="tx2"/>
                </a:solidFill>
                <a:cs typeface="Arial" charset="0"/>
              </a:rPr>
              <a:t>F0/14</a:t>
            </a:r>
          </a:p>
        </p:txBody>
      </p:sp>
      <p:sp>
        <p:nvSpPr>
          <p:cNvPr id="30752" name="Text Box 33"/>
          <p:cNvSpPr txBox="1">
            <a:spLocks noChangeArrowheads="1"/>
          </p:cNvSpPr>
          <p:nvPr/>
        </p:nvSpPr>
        <p:spPr bwMode="auto">
          <a:xfrm>
            <a:off x="6534151" y="4225925"/>
            <a:ext cx="709613"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F0/15</a:t>
            </a:r>
          </a:p>
        </p:txBody>
      </p:sp>
      <p:sp>
        <p:nvSpPr>
          <p:cNvPr id="30753" name="Text Box 33"/>
          <p:cNvSpPr txBox="1">
            <a:spLocks noChangeArrowheads="1"/>
          </p:cNvSpPr>
          <p:nvPr/>
        </p:nvSpPr>
        <p:spPr bwMode="auto">
          <a:xfrm>
            <a:off x="4916488" y="4238625"/>
            <a:ext cx="7096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F0/15</a:t>
            </a:r>
          </a:p>
        </p:txBody>
      </p:sp>
      <p:sp>
        <p:nvSpPr>
          <p:cNvPr id="30754" name="Text Box 33"/>
          <p:cNvSpPr txBox="1">
            <a:spLocks noChangeArrowheads="1"/>
          </p:cNvSpPr>
          <p:nvPr/>
        </p:nvSpPr>
        <p:spPr bwMode="auto">
          <a:xfrm>
            <a:off x="4802188" y="3340100"/>
            <a:ext cx="7096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F0/13</a:t>
            </a:r>
          </a:p>
        </p:txBody>
      </p:sp>
      <p:sp>
        <p:nvSpPr>
          <p:cNvPr id="30755" name="Text Box 33"/>
          <p:cNvSpPr txBox="1">
            <a:spLocks noChangeArrowheads="1"/>
          </p:cNvSpPr>
          <p:nvPr/>
        </p:nvSpPr>
        <p:spPr bwMode="auto">
          <a:xfrm>
            <a:off x="3492501" y="4786314"/>
            <a:ext cx="595313" cy="339725"/>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F0/0</a:t>
            </a:r>
          </a:p>
        </p:txBody>
      </p:sp>
      <p:sp>
        <p:nvSpPr>
          <p:cNvPr id="30756" name="Text Box 33"/>
          <p:cNvSpPr txBox="1">
            <a:spLocks noChangeArrowheads="1"/>
          </p:cNvSpPr>
          <p:nvPr/>
        </p:nvSpPr>
        <p:spPr bwMode="auto">
          <a:xfrm>
            <a:off x="7799388" y="4773614"/>
            <a:ext cx="595312" cy="338137"/>
          </a:xfrm>
          <a:prstGeom prst="rect">
            <a:avLst/>
          </a:prstGeom>
          <a:noFill/>
          <a:ln w="9525" algn="ctr">
            <a:noFill/>
            <a:miter lim="800000"/>
            <a:headEnd/>
            <a:tailEnd/>
          </a:ln>
        </p:spPr>
        <p:txBody>
          <a:bodyPr wrap="none" anchorCtr="1">
            <a:spAutoFit/>
          </a:bodyPr>
          <a:lstStyle/>
          <a:p>
            <a:r>
              <a:rPr lang="en-US" altLang="zh-CN" sz="1600" b="1">
                <a:solidFill>
                  <a:schemeClr val="tx2"/>
                </a:solidFill>
                <a:cs typeface="Arial" charset="0"/>
              </a:rPr>
              <a:t>F0/1</a:t>
            </a:r>
          </a:p>
        </p:txBody>
      </p:sp>
      <p:cxnSp>
        <p:nvCxnSpPr>
          <p:cNvPr id="30757" name="直接连接符 98"/>
          <p:cNvCxnSpPr>
            <a:cxnSpLocks noChangeShapeType="1"/>
          </p:cNvCxnSpPr>
          <p:nvPr/>
        </p:nvCxnSpPr>
        <p:spPr bwMode="auto">
          <a:xfrm rot="5400000" flipH="1" flipV="1">
            <a:off x="4016376" y="3951288"/>
            <a:ext cx="914400" cy="3175"/>
          </a:xfrm>
          <a:prstGeom prst="line">
            <a:avLst/>
          </a:prstGeom>
          <a:noFill/>
          <a:ln w="44450" algn="ctr">
            <a:solidFill>
              <a:schemeClr val="tx2"/>
            </a:solidFill>
            <a:round/>
            <a:headEnd/>
            <a:tailEnd/>
          </a:ln>
        </p:spPr>
      </p:cxnSp>
      <p:cxnSp>
        <p:nvCxnSpPr>
          <p:cNvPr id="30758" name="直接连接符 98"/>
          <p:cNvCxnSpPr>
            <a:cxnSpLocks noChangeShapeType="1"/>
          </p:cNvCxnSpPr>
          <p:nvPr/>
        </p:nvCxnSpPr>
        <p:spPr bwMode="auto">
          <a:xfrm>
            <a:off x="4892676" y="3140075"/>
            <a:ext cx="2265363" cy="1588"/>
          </a:xfrm>
          <a:prstGeom prst="line">
            <a:avLst/>
          </a:prstGeom>
          <a:noFill/>
          <a:ln w="44450" algn="ctr">
            <a:solidFill>
              <a:schemeClr val="tx2"/>
            </a:solidFill>
            <a:round/>
            <a:headEnd/>
            <a:tailEnd/>
          </a:ln>
        </p:spPr>
      </p:cxnSp>
      <p:cxnSp>
        <p:nvCxnSpPr>
          <p:cNvPr id="30759" name="直接连接符 98"/>
          <p:cNvCxnSpPr>
            <a:cxnSpLocks noChangeShapeType="1"/>
          </p:cNvCxnSpPr>
          <p:nvPr/>
        </p:nvCxnSpPr>
        <p:spPr bwMode="auto">
          <a:xfrm rot="16200000" flipV="1">
            <a:off x="5566569" y="2404269"/>
            <a:ext cx="914400" cy="3097212"/>
          </a:xfrm>
          <a:prstGeom prst="line">
            <a:avLst/>
          </a:prstGeom>
          <a:noFill/>
          <a:ln w="44450" algn="ctr">
            <a:solidFill>
              <a:schemeClr val="tx2"/>
            </a:solidFill>
            <a:round/>
            <a:headEnd/>
            <a:tailEnd/>
          </a:ln>
        </p:spPr>
      </p:cxnSp>
      <p:cxnSp>
        <p:nvCxnSpPr>
          <p:cNvPr id="30760" name="直接连接符 98"/>
          <p:cNvCxnSpPr>
            <a:cxnSpLocks noChangeShapeType="1"/>
          </p:cNvCxnSpPr>
          <p:nvPr/>
        </p:nvCxnSpPr>
        <p:spPr bwMode="auto">
          <a:xfrm rot="5400000">
            <a:off x="5567363" y="2400300"/>
            <a:ext cx="914400" cy="3105150"/>
          </a:xfrm>
          <a:prstGeom prst="line">
            <a:avLst/>
          </a:prstGeom>
          <a:noFill/>
          <a:ln w="44450" algn="ctr">
            <a:solidFill>
              <a:schemeClr val="tx2"/>
            </a:solidFill>
            <a:round/>
            <a:headEnd/>
            <a:tailEnd/>
          </a:ln>
        </p:spPr>
      </p:cxnSp>
      <p:pic>
        <p:nvPicPr>
          <p:cNvPr id="30761" name="Picture 26"/>
          <p:cNvPicPr>
            <a:picLocks noChangeAspect="1" noChangeArrowheads="1"/>
          </p:cNvPicPr>
          <p:nvPr/>
        </p:nvPicPr>
        <p:blipFill>
          <a:blip r:embed="rId5"/>
          <a:srcRect/>
          <a:stretch>
            <a:fillRect/>
          </a:stretch>
        </p:blipFill>
        <p:spPr bwMode="auto">
          <a:xfrm>
            <a:off x="3722688" y="5297488"/>
            <a:ext cx="584200" cy="552450"/>
          </a:xfrm>
          <a:prstGeom prst="rect">
            <a:avLst/>
          </a:prstGeom>
          <a:noFill/>
          <a:ln w="9525">
            <a:noFill/>
            <a:miter lim="800000"/>
            <a:headEnd/>
            <a:tailEnd/>
          </a:ln>
        </p:spPr>
      </p:pic>
      <p:pic>
        <p:nvPicPr>
          <p:cNvPr id="30762" name="Picture 26"/>
          <p:cNvPicPr>
            <a:picLocks noChangeAspect="1" noChangeArrowheads="1"/>
          </p:cNvPicPr>
          <p:nvPr/>
        </p:nvPicPr>
        <p:blipFill>
          <a:blip r:embed="rId5"/>
          <a:srcRect/>
          <a:stretch>
            <a:fillRect/>
          </a:stretch>
        </p:blipFill>
        <p:spPr bwMode="auto">
          <a:xfrm>
            <a:off x="4416425" y="5248275"/>
            <a:ext cx="584200" cy="552450"/>
          </a:xfrm>
          <a:prstGeom prst="rect">
            <a:avLst/>
          </a:prstGeom>
          <a:noFill/>
          <a:ln w="9525">
            <a:noFill/>
            <a:miter lim="800000"/>
            <a:headEnd/>
            <a:tailEnd/>
          </a:ln>
        </p:spPr>
      </p:pic>
      <p:pic>
        <p:nvPicPr>
          <p:cNvPr id="30763" name="Picture 26"/>
          <p:cNvPicPr>
            <a:picLocks noChangeAspect="1" noChangeArrowheads="1"/>
          </p:cNvPicPr>
          <p:nvPr/>
        </p:nvPicPr>
        <p:blipFill>
          <a:blip r:embed="rId5"/>
          <a:srcRect/>
          <a:stretch>
            <a:fillRect/>
          </a:stretch>
        </p:blipFill>
        <p:spPr bwMode="auto">
          <a:xfrm>
            <a:off x="6826250" y="5284788"/>
            <a:ext cx="584200" cy="552450"/>
          </a:xfrm>
          <a:prstGeom prst="rect">
            <a:avLst/>
          </a:prstGeom>
          <a:noFill/>
          <a:ln w="9525">
            <a:noFill/>
            <a:miter lim="800000"/>
            <a:headEnd/>
            <a:tailEnd/>
          </a:ln>
        </p:spPr>
      </p:pic>
      <p:pic>
        <p:nvPicPr>
          <p:cNvPr id="30764" name="Picture 26"/>
          <p:cNvPicPr>
            <a:picLocks noChangeAspect="1" noChangeArrowheads="1"/>
          </p:cNvPicPr>
          <p:nvPr/>
        </p:nvPicPr>
        <p:blipFill>
          <a:blip r:embed="rId5"/>
          <a:srcRect/>
          <a:stretch>
            <a:fillRect/>
          </a:stretch>
        </p:blipFill>
        <p:spPr bwMode="auto">
          <a:xfrm>
            <a:off x="7593013" y="5272088"/>
            <a:ext cx="584200" cy="55245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5"/>
          <p:cNvSpPr>
            <a:spLocks noGrp="1"/>
          </p:cNvSpPr>
          <p:nvPr>
            <p:ph idx="1"/>
          </p:nvPr>
        </p:nvSpPr>
        <p:spPr>
          <a:xfrm>
            <a:off x="1738313" y="1143000"/>
            <a:ext cx="8501062" cy="3857636"/>
          </a:xfrm>
        </p:spPr>
        <p:txBody>
          <a:bodyPr/>
          <a:lstStyle/>
          <a:p>
            <a:pPr>
              <a:spcBef>
                <a:spcPts val="675"/>
              </a:spcBef>
            </a:pPr>
            <a:r>
              <a:rPr lang="zh-CN" altLang="en-US"/>
              <a:t>实现思路</a:t>
            </a:r>
            <a:endParaRPr lang="en-US" altLang="zh-CN"/>
          </a:p>
          <a:p>
            <a:pPr lvl="1">
              <a:spcBef>
                <a:spcPts val="475"/>
              </a:spcBef>
            </a:pPr>
            <a:r>
              <a:rPr lang="zh-CN" altLang="en-US"/>
              <a:t>配置交换机的基本信息</a:t>
            </a:r>
          </a:p>
          <a:p>
            <a:pPr lvl="1">
              <a:spcBef>
                <a:spcPts val="475"/>
              </a:spcBef>
            </a:pPr>
            <a:r>
              <a:rPr lang="en-US" altLang="zh-CN"/>
              <a:t>HSRP</a:t>
            </a:r>
            <a:r>
              <a:rPr lang="zh-CN" altLang="en-US"/>
              <a:t>的基本配置</a:t>
            </a:r>
          </a:p>
          <a:p>
            <a:pPr lvl="1">
              <a:spcBef>
                <a:spcPts val="475"/>
              </a:spcBef>
            </a:pPr>
            <a:r>
              <a:rPr lang="zh-CN" altLang="en-US"/>
              <a:t>配置</a:t>
            </a:r>
            <a:r>
              <a:rPr lang="en-US" altLang="zh-CN"/>
              <a:t>HSRP</a:t>
            </a:r>
            <a:r>
              <a:rPr lang="zh-CN" altLang="en-US"/>
              <a:t>的优先级</a:t>
            </a:r>
          </a:p>
          <a:p>
            <a:pPr lvl="1">
              <a:spcBef>
                <a:spcPts val="475"/>
              </a:spcBef>
            </a:pPr>
            <a:r>
              <a:rPr lang="zh-CN" altLang="en-US"/>
              <a:t>配置</a:t>
            </a:r>
            <a:r>
              <a:rPr lang="en-US" altLang="zh-CN"/>
              <a:t>HSRP</a:t>
            </a:r>
            <a:r>
              <a:rPr lang="zh-CN" altLang="en-US"/>
              <a:t>的占先权</a:t>
            </a:r>
          </a:p>
          <a:p>
            <a:pPr lvl="1">
              <a:spcBef>
                <a:spcPts val="475"/>
              </a:spcBef>
            </a:pPr>
            <a:r>
              <a:rPr lang="zh-CN" altLang="en-US"/>
              <a:t>配置</a:t>
            </a:r>
            <a:r>
              <a:rPr lang="en-US" altLang="zh-CN"/>
              <a:t>STP</a:t>
            </a:r>
            <a:r>
              <a:rPr lang="zh-CN" altLang="en-US"/>
              <a:t>（</a:t>
            </a:r>
            <a:r>
              <a:rPr lang="en-US" altLang="zh-CN"/>
              <a:t>PVST+</a:t>
            </a:r>
            <a:r>
              <a:rPr lang="zh-CN" altLang="en-US"/>
              <a:t>）实现</a:t>
            </a:r>
            <a:r>
              <a:rPr lang="en-US" altLang="zh-CN"/>
              <a:t>VLAN</a:t>
            </a:r>
            <a:r>
              <a:rPr lang="zh-CN" altLang="en-US"/>
              <a:t>负载均衡</a:t>
            </a:r>
          </a:p>
          <a:p>
            <a:pPr lvl="1">
              <a:spcBef>
                <a:spcPts val="475"/>
              </a:spcBef>
            </a:pPr>
            <a:r>
              <a:rPr lang="zh-CN" altLang="en-US"/>
              <a:t>验证</a:t>
            </a:r>
            <a:r>
              <a:rPr lang="en-US" altLang="zh-CN"/>
              <a:t>HSRP</a:t>
            </a:r>
          </a:p>
          <a:p>
            <a:pPr>
              <a:spcBef>
                <a:spcPts val="475"/>
              </a:spcBef>
            </a:pPr>
            <a:r>
              <a:rPr lang="zh-CN" altLang="en-US"/>
              <a:t>学员练习</a:t>
            </a:r>
            <a:endParaRPr lang="en-US" altLang="zh-CN"/>
          </a:p>
          <a:p>
            <a:pPr lvl="1">
              <a:spcBef>
                <a:spcPts val="475"/>
              </a:spcBef>
            </a:pPr>
            <a:endParaRPr lang="en-US" altLang="zh-CN"/>
          </a:p>
        </p:txBody>
      </p:sp>
      <p:sp>
        <p:nvSpPr>
          <p:cNvPr id="31747" name="Rectangle 2"/>
          <p:cNvSpPr>
            <a:spLocks noGrp="1" noChangeArrowheads="1"/>
          </p:cNvSpPr>
          <p:nvPr>
            <p:ph type="title"/>
          </p:nvPr>
        </p:nvSpPr>
        <p:spPr/>
        <p:txBody>
          <a:bodyPr/>
          <a:lstStyle/>
          <a:p>
            <a:pPr eaLnBrk="1" hangingPunct="1"/>
            <a:r>
              <a:rPr lang="zh-CN" altLang="en-US"/>
              <a:t>实验：</a:t>
            </a:r>
            <a:r>
              <a:rPr lang="zh-CN"/>
              <a:t>配置</a:t>
            </a:r>
            <a:r>
              <a:rPr lang="en-US" altLang="zh-CN"/>
              <a:t>HSRP2-2</a:t>
            </a:r>
            <a:endParaRPr lang="en-US" altLang="zh-CN">
              <a:latin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4"/>
          <p:cNvSpPr>
            <a:spLocks noGrp="1"/>
          </p:cNvSpPr>
          <p:nvPr>
            <p:ph idx="1"/>
          </p:nvPr>
        </p:nvSpPr>
        <p:spPr>
          <a:xfrm>
            <a:off x="1738313" y="1143000"/>
            <a:ext cx="8501062" cy="1071554"/>
          </a:xfrm>
        </p:spPr>
        <p:txBody>
          <a:bodyPr/>
          <a:lstStyle/>
          <a:p>
            <a:pPr>
              <a:spcBef>
                <a:spcPts val="675"/>
              </a:spcBef>
            </a:pPr>
            <a:r>
              <a:rPr lang="zh-CN" altLang="en-US"/>
              <a:t>需求描述</a:t>
            </a:r>
            <a:endParaRPr lang="en-US" altLang="zh-CN"/>
          </a:p>
          <a:p>
            <a:pPr lvl="1">
              <a:spcBef>
                <a:spcPts val="475"/>
              </a:spcBef>
            </a:pPr>
            <a:r>
              <a:rPr lang="zh-CN" altLang="en-US"/>
              <a:t>如果通过一台路由器连到</a:t>
            </a:r>
            <a:r>
              <a:rPr lang="en-US" altLang="zh-CN"/>
              <a:t>Internet</a:t>
            </a:r>
            <a:r>
              <a:rPr lang="zh-CN" altLang="en-US"/>
              <a:t>，该如何配置实现？</a:t>
            </a:r>
            <a:endParaRPr lang="en-US" altLang="zh-CN"/>
          </a:p>
          <a:p>
            <a:pPr lvl="1">
              <a:spcBef>
                <a:spcPts val="475"/>
              </a:spcBef>
              <a:buNone/>
            </a:pPr>
            <a:endParaRPr lang="en-US" altLang="zh-CN"/>
          </a:p>
          <a:p>
            <a:pPr lvl="1">
              <a:spcBef>
                <a:spcPts val="475"/>
              </a:spcBef>
            </a:pPr>
            <a:endParaRPr lang="en-US" altLang="zh-CN"/>
          </a:p>
        </p:txBody>
      </p:sp>
      <p:sp>
        <p:nvSpPr>
          <p:cNvPr id="30723" name="Rectangle 2"/>
          <p:cNvSpPr>
            <a:spLocks noGrp="1" noChangeArrowheads="1"/>
          </p:cNvSpPr>
          <p:nvPr>
            <p:ph type="title"/>
          </p:nvPr>
        </p:nvSpPr>
        <p:spPr/>
        <p:txBody>
          <a:bodyPr/>
          <a:lstStyle/>
          <a:p>
            <a:pPr eaLnBrk="1" hangingPunct="1"/>
            <a:r>
              <a:rPr lang="zh-CN" altLang="en-US"/>
              <a:t>扩展实验：</a:t>
            </a:r>
            <a:r>
              <a:rPr lang="zh-CN"/>
              <a:t>配置</a:t>
            </a:r>
            <a:r>
              <a:rPr lang="en-US" altLang="zh-CN"/>
              <a:t>HSRP2-1</a:t>
            </a:r>
            <a:endParaRPr lang="en-US" altLang="zh-CN">
              <a:latin typeface="黑体" pitchFamily="2" charset="-122"/>
            </a:endParaRPr>
          </a:p>
        </p:txBody>
      </p:sp>
      <p:grpSp>
        <p:nvGrpSpPr>
          <p:cNvPr id="49" name="组合 48"/>
          <p:cNvGrpSpPr/>
          <p:nvPr/>
        </p:nvGrpSpPr>
        <p:grpSpPr>
          <a:xfrm>
            <a:off x="2952728" y="2500307"/>
            <a:ext cx="6357938" cy="3017837"/>
            <a:chOff x="1428750" y="1214438"/>
            <a:chExt cx="6357938" cy="3017837"/>
          </a:xfrm>
        </p:grpSpPr>
        <p:cxnSp>
          <p:nvCxnSpPr>
            <p:cNvPr id="50" name="直接连接符 43"/>
            <p:cNvCxnSpPr>
              <a:cxnSpLocks noChangeShapeType="1"/>
            </p:cNvCxnSpPr>
            <p:nvPr/>
          </p:nvCxnSpPr>
          <p:spPr bwMode="auto">
            <a:xfrm>
              <a:off x="2582863" y="2054225"/>
              <a:ext cx="3816350" cy="1588"/>
            </a:xfrm>
            <a:prstGeom prst="line">
              <a:avLst/>
            </a:prstGeom>
            <a:noFill/>
            <a:ln w="44450" algn="ctr">
              <a:solidFill>
                <a:srgbClr val="FF3300"/>
              </a:solidFill>
              <a:round/>
              <a:headEnd/>
              <a:tailEnd/>
            </a:ln>
          </p:spPr>
        </p:cxnSp>
        <p:pic>
          <p:nvPicPr>
            <p:cNvPr id="51" name="Picture 10"/>
            <p:cNvPicPr>
              <a:picLocks noChangeArrowheads="1"/>
            </p:cNvPicPr>
            <p:nvPr/>
          </p:nvPicPr>
          <p:blipFill>
            <a:blip r:embed="rId3"/>
            <a:srcRect/>
            <a:stretch>
              <a:fillRect/>
            </a:stretch>
          </p:blipFill>
          <p:spPr bwMode="auto">
            <a:xfrm>
              <a:off x="4135438" y="1689100"/>
              <a:ext cx="912812" cy="590550"/>
            </a:xfrm>
            <a:prstGeom prst="rect">
              <a:avLst/>
            </a:prstGeom>
            <a:noFill/>
            <a:ln w="9525">
              <a:noFill/>
              <a:miter lim="800000"/>
              <a:headEnd/>
              <a:tailEnd/>
            </a:ln>
          </p:spPr>
        </p:pic>
        <p:sp>
          <p:nvSpPr>
            <p:cNvPr id="52" name="Text Box 33"/>
            <p:cNvSpPr txBox="1">
              <a:spLocks noChangeArrowheads="1"/>
            </p:cNvSpPr>
            <p:nvPr/>
          </p:nvSpPr>
          <p:spPr bwMode="auto">
            <a:xfrm>
              <a:off x="2528888" y="3038475"/>
              <a:ext cx="5953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F0/1</a:t>
              </a:r>
            </a:p>
          </p:txBody>
        </p:sp>
        <p:sp>
          <p:nvSpPr>
            <p:cNvPr id="53" name="Text Box 33"/>
            <p:cNvSpPr txBox="1">
              <a:spLocks noChangeArrowheads="1"/>
            </p:cNvSpPr>
            <p:nvPr/>
          </p:nvSpPr>
          <p:spPr bwMode="auto">
            <a:xfrm>
              <a:off x="5803900" y="3036888"/>
              <a:ext cx="595313"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F0/1</a:t>
              </a:r>
            </a:p>
          </p:txBody>
        </p:sp>
        <p:sp>
          <p:nvSpPr>
            <p:cNvPr id="54" name="Text Box 33"/>
            <p:cNvSpPr txBox="1">
              <a:spLocks noChangeArrowheads="1"/>
            </p:cNvSpPr>
            <p:nvPr/>
          </p:nvSpPr>
          <p:spPr bwMode="auto">
            <a:xfrm>
              <a:off x="3551238" y="1720850"/>
              <a:ext cx="5953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F0/0</a:t>
              </a:r>
            </a:p>
          </p:txBody>
        </p:sp>
        <p:sp>
          <p:nvSpPr>
            <p:cNvPr id="55" name="Text Box 33"/>
            <p:cNvSpPr txBox="1">
              <a:spLocks noChangeArrowheads="1"/>
            </p:cNvSpPr>
            <p:nvPr/>
          </p:nvSpPr>
          <p:spPr bwMode="auto">
            <a:xfrm>
              <a:off x="4943475" y="1757363"/>
              <a:ext cx="595313"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F0/1</a:t>
              </a:r>
            </a:p>
          </p:txBody>
        </p:sp>
        <p:grpSp>
          <p:nvGrpSpPr>
            <p:cNvPr id="56" name="组合 128"/>
            <p:cNvGrpSpPr>
              <a:grpSpLocks/>
            </p:cNvGrpSpPr>
            <p:nvPr/>
          </p:nvGrpSpPr>
          <p:grpSpPr bwMode="auto">
            <a:xfrm>
              <a:off x="6034088" y="1214438"/>
              <a:ext cx="1752600" cy="839787"/>
              <a:chOff x="2694622" y="1608768"/>
              <a:chExt cx="1898677" cy="715181"/>
            </a:xfrm>
          </p:grpSpPr>
          <p:pic>
            <p:nvPicPr>
              <p:cNvPr id="67" name="Picture 6"/>
              <p:cNvPicPr>
                <a:picLocks noChangeArrowheads="1"/>
              </p:cNvPicPr>
              <p:nvPr/>
            </p:nvPicPr>
            <p:blipFill>
              <a:blip r:embed="rId4"/>
              <a:srcRect/>
              <a:stretch>
                <a:fillRect/>
              </a:stretch>
            </p:blipFill>
            <p:spPr bwMode="auto">
              <a:xfrm>
                <a:off x="2694622" y="1608768"/>
                <a:ext cx="1898677" cy="715181"/>
              </a:xfrm>
              <a:prstGeom prst="rect">
                <a:avLst/>
              </a:prstGeom>
              <a:noFill/>
              <a:ln w="9525">
                <a:noFill/>
                <a:miter lim="800000"/>
                <a:headEnd/>
                <a:tailEnd/>
              </a:ln>
            </p:spPr>
          </p:pic>
          <p:sp>
            <p:nvSpPr>
              <p:cNvPr id="68" name="Text Box 49"/>
              <p:cNvSpPr txBox="1">
                <a:spLocks noChangeArrowheads="1"/>
              </p:cNvSpPr>
              <p:nvPr/>
            </p:nvSpPr>
            <p:spPr bwMode="auto">
              <a:xfrm>
                <a:off x="3209004" y="1795338"/>
                <a:ext cx="1107541" cy="314532"/>
              </a:xfrm>
              <a:prstGeom prst="rect">
                <a:avLst/>
              </a:prstGeom>
              <a:noFill/>
              <a:ln w="9525">
                <a:noFill/>
                <a:miter lim="800000"/>
                <a:headEnd/>
                <a:tailEnd/>
              </a:ln>
            </p:spPr>
            <p:txBody>
              <a:bodyPr>
                <a:spAutoFit/>
              </a:bodyPr>
              <a:lstStyle/>
              <a:p>
                <a:r>
                  <a:rPr lang="en-US" altLang="zh-CN" b="1">
                    <a:solidFill>
                      <a:schemeClr val="tx2"/>
                    </a:solidFill>
                    <a:ea typeface="黑体" pitchFamily="49" charset="-122"/>
                    <a:cs typeface="Arial" charset="0"/>
                  </a:rPr>
                  <a:t>Internet</a:t>
                </a:r>
              </a:p>
            </p:txBody>
          </p:sp>
        </p:grpSp>
        <p:sp>
          <p:nvSpPr>
            <p:cNvPr id="57" name="Text Box 33"/>
            <p:cNvSpPr txBox="1">
              <a:spLocks noChangeArrowheads="1"/>
            </p:cNvSpPr>
            <p:nvPr/>
          </p:nvSpPr>
          <p:spPr bwMode="auto">
            <a:xfrm>
              <a:off x="4468813" y="1323975"/>
              <a:ext cx="595312" cy="338138"/>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F1/0</a:t>
              </a:r>
            </a:p>
          </p:txBody>
        </p:sp>
        <p:sp>
          <p:nvSpPr>
            <p:cNvPr id="58" name="Text Box 24"/>
            <p:cNvSpPr txBox="1">
              <a:spLocks noChangeArrowheads="1"/>
            </p:cNvSpPr>
            <p:nvPr/>
          </p:nvSpPr>
          <p:spPr bwMode="auto">
            <a:xfrm>
              <a:off x="1428750" y="3643313"/>
              <a:ext cx="628650" cy="338137"/>
            </a:xfrm>
            <a:prstGeom prst="rect">
              <a:avLst/>
            </a:prstGeom>
            <a:noFill/>
            <a:ln w="9525">
              <a:noFill/>
              <a:miter lim="800000"/>
              <a:headEnd/>
              <a:tailEnd/>
            </a:ln>
          </p:spPr>
          <p:txBody>
            <a:bodyPr wrap="none">
              <a:spAutoFit/>
            </a:bodyPr>
            <a:lstStyle/>
            <a:p>
              <a:r>
                <a:rPr lang="en-US" altLang="zh-CN" sz="1600" b="1">
                  <a:solidFill>
                    <a:schemeClr val="tx2"/>
                  </a:solidFill>
                  <a:ea typeface="黑体" pitchFamily="49" charset="-122"/>
                  <a:cs typeface="Arial" charset="0"/>
                </a:rPr>
                <a:t>SW1</a:t>
              </a:r>
            </a:p>
          </p:txBody>
        </p:sp>
        <p:sp>
          <p:nvSpPr>
            <p:cNvPr id="59" name="Text Box 26"/>
            <p:cNvSpPr txBox="1">
              <a:spLocks noChangeArrowheads="1"/>
            </p:cNvSpPr>
            <p:nvPr/>
          </p:nvSpPr>
          <p:spPr bwMode="auto">
            <a:xfrm>
              <a:off x="6929438" y="3643313"/>
              <a:ext cx="628650" cy="338137"/>
            </a:xfrm>
            <a:prstGeom prst="rect">
              <a:avLst/>
            </a:prstGeom>
            <a:noFill/>
            <a:ln w="9525">
              <a:noFill/>
              <a:miter lim="800000"/>
              <a:headEnd/>
              <a:tailEnd/>
            </a:ln>
          </p:spPr>
          <p:txBody>
            <a:bodyPr wrap="none">
              <a:spAutoFit/>
            </a:bodyPr>
            <a:lstStyle/>
            <a:p>
              <a:r>
                <a:rPr lang="en-US" altLang="zh-CN" sz="1600" b="1">
                  <a:solidFill>
                    <a:schemeClr val="tx2"/>
                  </a:solidFill>
                  <a:ea typeface="黑体" pitchFamily="49" charset="-122"/>
                  <a:cs typeface="Arial" charset="0"/>
                </a:rPr>
                <a:t>SW2</a:t>
              </a:r>
            </a:p>
          </p:txBody>
        </p:sp>
        <p:cxnSp>
          <p:nvCxnSpPr>
            <p:cNvPr id="60" name="直接连接符 44"/>
            <p:cNvCxnSpPr>
              <a:cxnSpLocks noChangeShapeType="1"/>
            </p:cNvCxnSpPr>
            <p:nvPr/>
          </p:nvCxnSpPr>
          <p:spPr bwMode="auto">
            <a:xfrm rot="16200000" flipH="1">
              <a:off x="5434012" y="3005138"/>
              <a:ext cx="1958975" cy="31750"/>
            </a:xfrm>
            <a:prstGeom prst="line">
              <a:avLst/>
            </a:prstGeom>
            <a:noFill/>
            <a:ln w="44450" algn="ctr">
              <a:solidFill>
                <a:srgbClr val="FF3300"/>
              </a:solidFill>
              <a:round/>
              <a:headEnd/>
              <a:tailEnd/>
            </a:ln>
          </p:spPr>
        </p:cxnSp>
        <p:cxnSp>
          <p:nvCxnSpPr>
            <p:cNvPr id="61" name="直接连接符 45"/>
            <p:cNvCxnSpPr>
              <a:cxnSpLocks noChangeShapeType="1"/>
            </p:cNvCxnSpPr>
            <p:nvPr/>
          </p:nvCxnSpPr>
          <p:spPr bwMode="auto">
            <a:xfrm rot="5400000">
              <a:off x="1522413" y="3090862"/>
              <a:ext cx="2101850" cy="3175"/>
            </a:xfrm>
            <a:prstGeom prst="line">
              <a:avLst/>
            </a:prstGeom>
            <a:noFill/>
            <a:ln w="44450" algn="ctr">
              <a:solidFill>
                <a:srgbClr val="FF3300"/>
              </a:solidFill>
              <a:round/>
              <a:headEnd/>
              <a:tailEnd/>
            </a:ln>
          </p:spPr>
        </p:cxnSp>
        <p:pic>
          <p:nvPicPr>
            <p:cNvPr id="62" name="Picture 12"/>
            <p:cNvPicPr>
              <a:picLocks noChangeAspect="1" noChangeArrowheads="1"/>
            </p:cNvPicPr>
            <p:nvPr/>
          </p:nvPicPr>
          <p:blipFill>
            <a:blip r:embed="rId5"/>
            <a:srcRect/>
            <a:stretch>
              <a:fillRect/>
            </a:stretch>
          </p:blipFill>
          <p:spPr bwMode="auto">
            <a:xfrm>
              <a:off x="5899150" y="3368675"/>
              <a:ext cx="1019175" cy="863600"/>
            </a:xfrm>
            <a:prstGeom prst="rect">
              <a:avLst/>
            </a:prstGeom>
            <a:noFill/>
            <a:ln w="9525">
              <a:noFill/>
              <a:miter lim="800000"/>
              <a:headEnd/>
              <a:tailEnd/>
            </a:ln>
          </p:spPr>
        </p:pic>
        <p:pic>
          <p:nvPicPr>
            <p:cNvPr id="63" name="Picture 12"/>
            <p:cNvPicPr>
              <a:picLocks noChangeAspect="1" noChangeArrowheads="1"/>
            </p:cNvPicPr>
            <p:nvPr/>
          </p:nvPicPr>
          <p:blipFill>
            <a:blip r:embed="rId5"/>
            <a:srcRect/>
            <a:stretch>
              <a:fillRect/>
            </a:stretch>
          </p:blipFill>
          <p:spPr bwMode="auto">
            <a:xfrm>
              <a:off x="2070100" y="3368675"/>
              <a:ext cx="1019175" cy="863600"/>
            </a:xfrm>
            <a:prstGeom prst="rect">
              <a:avLst/>
            </a:prstGeom>
            <a:noFill/>
            <a:ln w="9525">
              <a:noFill/>
              <a:miter lim="800000"/>
              <a:headEnd/>
              <a:tailEnd/>
            </a:ln>
          </p:spPr>
        </p:pic>
        <p:cxnSp>
          <p:nvCxnSpPr>
            <p:cNvPr id="64" name="直接连接符 46"/>
            <p:cNvCxnSpPr>
              <a:cxnSpLocks noChangeShapeType="1"/>
            </p:cNvCxnSpPr>
            <p:nvPr/>
          </p:nvCxnSpPr>
          <p:spPr bwMode="auto">
            <a:xfrm>
              <a:off x="3089275" y="3800475"/>
              <a:ext cx="2809875" cy="1588"/>
            </a:xfrm>
            <a:prstGeom prst="line">
              <a:avLst/>
            </a:prstGeom>
            <a:noFill/>
            <a:ln w="44450" algn="ctr">
              <a:solidFill>
                <a:srgbClr val="FF3300"/>
              </a:solidFill>
              <a:round/>
              <a:headEnd/>
              <a:tailEnd/>
            </a:ln>
          </p:spPr>
        </p:cxnSp>
        <p:sp>
          <p:nvSpPr>
            <p:cNvPr id="65" name="Text Box 33"/>
            <p:cNvSpPr txBox="1">
              <a:spLocks noChangeArrowheads="1"/>
            </p:cNvSpPr>
            <p:nvPr/>
          </p:nvSpPr>
          <p:spPr bwMode="auto">
            <a:xfrm>
              <a:off x="4373563" y="1976438"/>
              <a:ext cx="454025" cy="338137"/>
            </a:xfrm>
            <a:prstGeom prst="rect">
              <a:avLst/>
            </a:prstGeom>
            <a:noFill/>
            <a:ln w="9525" algn="ctr">
              <a:noFill/>
              <a:miter lim="800000"/>
              <a:headEnd/>
              <a:tailEnd/>
            </a:ln>
          </p:spPr>
          <p:txBody>
            <a:bodyPr wrap="none" anchorCtr="1">
              <a:spAutoFit/>
            </a:bodyPr>
            <a:lstStyle/>
            <a:p>
              <a:r>
                <a:rPr lang="en-US" altLang="zh-CN" sz="1600" b="1">
                  <a:solidFill>
                    <a:schemeClr val="tx2"/>
                  </a:solidFill>
                  <a:ea typeface="黑体" pitchFamily="49" charset="-122"/>
                  <a:cs typeface="Arial" charset="0"/>
                </a:rPr>
                <a:t>R1</a:t>
              </a:r>
            </a:p>
          </p:txBody>
        </p:sp>
        <p:cxnSp>
          <p:nvCxnSpPr>
            <p:cNvPr id="66" name="形状 72"/>
            <p:cNvCxnSpPr>
              <a:cxnSpLocks noChangeShapeType="1"/>
            </p:cNvCxnSpPr>
            <p:nvPr/>
          </p:nvCxnSpPr>
          <p:spPr bwMode="auto">
            <a:xfrm rot="5400000" flipH="1" flipV="1">
              <a:off x="5285581" y="940594"/>
              <a:ext cx="53975" cy="1443038"/>
            </a:xfrm>
            <a:prstGeom prst="bentConnector2">
              <a:avLst/>
            </a:prstGeom>
            <a:noFill/>
            <a:ln w="44450" algn="ctr">
              <a:solidFill>
                <a:srgbClr val="FF3300"/>
              </a:solidFill>
              <a:round/>
              <a:headEnd/>
              <a:tailEnd/>
            </a:ln>
          </p:spPr>
        </p:cxn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5"/>
          <p:cNvSpPr>
            <a:spLocks noGrp="1"/>
          </p:cNvSpPr>
          <p:nvPr>
            <p:ph idx="1"/>
          </p:nvPr>
        </p:nvSpPr>
        <p:spPr>
          <a:xfrm>
            <a:off x="1738313" y="1143000"/>
            <a:ext cx="8501062" cy="2928942"/>
          </a:xfrm>
        </p:spPr>
        <p:txBody>
          <a:bodyPr/>
          <a:lstStyle/>
          <a:p>
            <a:pPr>
              <a:spcBef>
                <a:spcPts val="675"/>
              </a:spcBef>
            </a:pPr>
            <a:r>
              <a:rPr lang="zh-CN" altLang="en-US"/>
              <a:t>实现思路</a:t>
            </a:r>
            <a:endParaRPr lang="en-US" altLang="zh-CN"/>
          </a:p>
          <a:p>
            <a:pPr lvl="1">
              <a:spcBef>
                <a:spcPts val="475"/>
              </a:spcBef>
            </a:pPr>
            <a:r>
              <a:rPr lang="zh-CN" altLang="en-US"/>
              <a:t>配置浮动路由</a:t>
            </a:r>
          </a:p>
          <a:p>
            <a:pPr lvl="1">
              <a:spcBef>
                <a:spcPts val="475"/>
              </a:spcBef>
            </a:pPr>
            <a:r>
              <a:rPr lang="zh-CN" altLang="en-US"/>
              <a:t>分析</a:t>
            </a:r>
            <a:r>
              <a:rPr lang="en-US" altLang="zh-CN"/>
              <a:t>SW1</a:t>
            </a:r>
            <a:r>
              <a:rPr lang="zh-CN" altLang="en-US"/>
              <a:t>和</a:t>
            </a:r>
            <a:r>
              <a:rPr lang="en-US" altLang="zh-CN"/>
              <a:t>SW2</a:t>
            </a:r>
            <a:r>
              <a:rPr lang="zh-CN" altLang="en-US"/>
              <a:t>中间连线的作用及数据包走向</a:t>
            </a:r>
          </a:p>
          <a:p>
            <a:pPr>
              <a:spcBef>
                <a:spcPts val="475"/>
              </a:spcBef>
            </a:pPr>
            <a:endParaRPr lang="en-US" altLang="zh-CN"/>
          </a:p>
          <a:p>
            <a:pPr>
              <a:spcBef>
                <a:spcPts val="475"/>
              </a:spcBef>
            </a:pPr>
            <a:r>
              <a:rPr lang="zh-CN" altLang="en-US"/>
              <a:t>学员练习</a:t>
            </a:r>
            <a:endParaRPr lang="en-US" altLang="zh-CN"/>
          </a:p>
          <a:p>
            <a:pPr lvl="1">
              <a:spcBef>
                <a:spcPts val="475"/>
              </a:spcBef>
            </a:pPr>
            <a:endParaRPr lang="en-US" altLang="zh-CN"/>
          </a:p>
        </p:txBody>
      </p:sp>
      <p:sp>
        <p:nvSpPr>
          <p:cNvPr id="31747" name="Rectangle 2"/>
          <p:cNvSpPr>
            <a:spLocks noGrp="1" noChangeArrowheads="1"/>
          </p:cNvSpPr>
          <p:nvPr>
            <p:ph type="title"/>
          </p:nvPr>
        </p:nvSpPr>
        <p:spPr/>
        <p:txBody>
          <a:bodyPr/>
          <a:lstStyle/>
          <a:p>
            <a:pPr eaLnBrk="1" hangingPunct="1"/>
            <a:r>
              <a:rPr lang="zh-CN" altLang="en-US"/>
              <a:t>扩展实验：</a:t>
            </a:r>
            <a:r>
              <a:rPr lang="zh-CN"/>
              <a:t>配置</a:t>
            </a:r>
            <a:r>
              <a:rPr lang="en-US" altLang="zh-CN"/>
              <a:t>HSRP2-2</a:t>
            </a:r>
            <a:endParaRPr lang="en-US" altLang="zh-CN">
              <a:latin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35318-A86B-4409-944A-1726D62CC60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6435D2E-46A2-4568-AD7C-3760BC95CF9D}"/>
              </a:ext>
            </a:extLst>
          </p:cNvPr>
          <p:cNvSpPr>
            <a:spLocks noGrp="1"/>
          </p:cNvSpPr>
          <p:nvPr>
            <p:ph idx="1"/>
          </p:nvPr>
        </p:nvSpPr>
        <p:spPr>
          <a:xfrm>
            <a:off x="491146" y="2551193"/>
            <a:ext cx="10972440" cy="751405"/>
          </a:xfrm>
        </p:spPr>
        <p:txBody>
          <a:bodyPr>
            <a:normAutofit/>
          </a:bodyPr>
          <a:lstStyle/>
          <a:p>
            <a:pPr marL="0" indent="0" algn="ctr">
              <a:buNone/>
            </a:pPr>
            <a:r>
              <a:rPr lang="zh-CN" altLang="en-US" sz="4800" dirty="0"/>
              <a:t>谢谢</a:t>
            </a:r>
          </a:p>
        </p:txBody>
      </p:sp>
    </p:spTree>
    <p:extLst>
      <p:ext uri="{BB962C8B-B14F-4D97-AF65-F5344CB8AC3E}">
        <p14:creationId xmlns:p14="http://schemas.microsoft.com/office/powerpoint/2010/main" val="3404734476"/>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6615</TotalTime>
  <Words>1542</Words>
  <Application>Microsoft Office PowerPoint</Application>
  <PresentationFormat>宽屏</PresentationFormat>
  <Paragraphs>361</Paragraphs>
  <Slides>24</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Myriad Pro</vt:lpstr>
      <vt:lpstr>黑体</vt:lpstr>
      <vt:lpstr>楷体_GB2312</vt:lpstr>
      <vt:lpstr>Arial</vt:lpstr>
      <vt:lpstr>Symbol</vt:lpstr>
      <vt:lpstr>Times New Roman</vt:lpstr>
      <vt:lpstr>Wingdings</vt:lpstr>
      <vt:lpstr>Office Theme</vt:lpstr>
      <vt:lpstr>目标</vt:lpstr>
      <vt:lpstr>本章结构</vt:lpstr>
      <vt:lpstr>HSRP的相关概念5-1</vt:lpstr>
      <vt:lpstr>HSRP的相关概念5-2</vt:lpstr>
      <vt:lpstr>HSRP的相关概念5-3</vt:lpstr>
      <vt:lpstr>HSRP的相关概念5-4</vt:lpstr>
      <vt:lpstr>HSRP的相关概念5-5</vt:lpstr>
      <vt:lpstr>HSRP状态与计时器</vt:lpstr>
      <vt:lpstr>HSRP与VRRP的区别</vt:lpstr>
      <vt:lpstr>小结</vt:lpstr>
      <vt:lpstr>HSRP的配置4-1</vt:lpstr>
      <vt:lpstr>HSRP的配置4-2</vt:lpstr>
      <vt:lpstr>HSRP的配置4-3</vt:lpstr>
      <vt:lpstr>HSRP的配置4-4</vt:lpstr>
      <vt:lpstr>HSRP的配置案例3-1</vt:lpstr>
      <vt:lpstr>HSRP的配置案例3-2</vt:lpstr>
      <vt:lpstr>HSRP的配置案例3-3</vt:lpstr>
      <vt:lpstr>HSRP的应用案例</vt:lpstr>
      <vt:lpstr>HSRP故障排查</vt:lpstr>
      <vt:lpstr>实验：配置HSRP2-1</vt:lpstr>
      <vt:lpstr>实验：配置HSRP2-2</vt:lpstr>
      <vt:lpstr>扩展实验：配置HSRP2-1</vt:lpstr>
      <vt:lpstr>扩展实验：配置HSRP2-2</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cuiyongxin</dc:creator>
  <dc:description/>
  <cp:lastModifiedBy>Jason Chen</cp:lastModifiedBy>
  <cp:revision>170</cp:revision>
  <dcterms:created xsi:type="dcterms:W3CDTF">2019-12-12T13:30:13Z</dcterms:created>
  <dcterms:modified xsi:type="dcterms:W3CDTF">2021-10-14T05:33:29Z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2052-1.2.1.1575</vt:lpwstr>
  </property>
  <property fmtid="{D5CDD505-2E9C-101B-9397-08002B2CF9AE}" pid="6" name="LinksUpToDate">
    <vt:bool>false</vt:bool>
  </property>
  <property fmtid="{D5CDD505-2E9C-101B-9397-08002B2CF9AE}" pid="7" name="MMClips">
    <vt:i4>0</vt:i4>
  </property>
  <property fmtid="{D5CDD505-2E9C-101B-9397-08002B2CF9AE}" pid="8" name="Notes">
    <vt:i4>4</vt:i4>
  </property>
  <property fmtid="{D5CDD505-2E9C-101B-9397-08002B2CF9AE}" pid="9" name="PresentationFormat">
    <vt:lpwstr>宽屏</vt:lpwstr>
  </property>
  <property fmtid="{D5CDD505-2E9C-101B-9397-08002B2CF9AE}" pid="10" name="ScaleCrop">
    <vt:bool>false</vt:bool>
  </property>
  <property fmtid="{D5CDD505-2E9C-101B-9397-08002B2CF9AE}" pid="11" name="ShareDoc">
    <vt:bool>false</vt:bool>
  </property>
  <property fmtid="{D5CDD505-2E9C-101B-9397-08002B2CF9AE}" pid="12" name="Slides">
    <vt:i4>24</vt:i4>
  </property>
</Properties>
</file>