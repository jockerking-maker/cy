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37"/>
  </p:notesMasterIdLst>
  <p:sldIdLst>
    <p:sldId id="642" r:id="rId2"/>
    <p:sldId id="676" r:id="rId3"/>
    <p:sldId id="644" r:id="rId4"/>
    <p:sldId id="645" r:id="rId5"/>
    <p:sldId id="646" r:id="rId6"/>
    <p:sldId id="647" r:id="rId7"/>
    <p:sldId id="648" r:id="rId8"/>
    <p:sldId id="649" r:id="rId9"/>
    <p:sldId id="650" r:id="rId10"/>
    <p:sldId id="651" r:id="rId11"/>
    <p:sldId id="652" r:id="rId12"/>
    <p:sldId id="653" r:id="rId13"/>
    <p:sldId id="654" r:id="rId14"/>
    <p:sldId id="655" r:id="rId15"/>
    <p:sldId id="656" r:id="rId16"/>
    <p:sldId id="657" r:id="rId17"/>
    <p:sldId id="659" r:id="rId18"/>
    <p:sldId id="660" r:id="rId19"/>
    <p:sldId id="661" r:id="rId20"/>
    <p:sldId id="662" r:id="rId21"/>
    <p:sldId id="663" r:id="rId22"/>
    <p:sldId id="664" r:id="rId23"/>
    <p:sldId id="665" r:id="rId24"/>
    <p:sldId id="666" r:id="rId25"/>
    <p:sldId id="667" r:id="rId26"/>
    <p:sldId id="668" r:id="rId27"/>
    <p:sldId id="669" r:id="rId28"/>
    <p:sldId id="670" r:id="rId29"/>
    <p:sldId id="675" r:id="rId30"/>
    <p:sldId id="672" r:id="rId31"/>
    <p:sldId id="674" r:id="rId32"/>
    <p:sldId id="673" r:id="rId33"/>
    <p:sldId id="608" r:id="rId34"/>
    <p:sldId id="289" r:id="rId35"/>
    <p:sldId id="298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776B"/>
    <a:srgbClr val="E44C3C"/>
    <a:srgbClr val="BC291A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50" autoAdjust="0"/>
    <p:restoredTop sz="95232" autoAdjust="0"/>
  </p:normalViewPr>
  <p:slideViewPr>
    <p:cSldViewPr snapToGrid="0">
      <p:cViewPr varScale="1">
        <p:scale>
          <a:sx n="40" d="100"/>
          <a:sy n="40" d="100"/>
        </p:scale>
        <p:origin x="81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6680" y="726440"/>
            <a:ext cx="6704640" cy="37713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2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217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218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19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1435F71D-641E-4ECC-830F-6558CD869574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2153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73C6232-D118-495D-B844-E75860C4FA1C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讲解路由器、交换机的硬件组成，并明确各种储存器的作用。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对学员来说比较难讲解路由器的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startup-config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running-cinfig</a:t>
            </a:r>
            <a:r>
              <a:rPr lang="zh-CN" altLang="en-US">
                <a:ea typeface="宋体" charset="-122"/>
              </a:rPr>
              <a:t>等文件分别存储在什么位置；</a:t>
            </a:r>
            <a:endParaRPr lang="en-US" altLang="zh-CN">
              <a:ea typeface="宋体" charset="-122"/>
            </a:endParaRPr>
          </a:p>
          <a:p>
            <a:endParaRPr lang="en-US" altLang="zh-CN">
              <a:ea typeface="宋体" charset="-122"/>
            </a:endParaRPr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6950A8-E40E-4497-9420-5B051523FAD6}" type="slidenum">
              <a:rPr lang="en-US" altLang="zh-CN" smtClean="0">
                <a:latin typeface="Arial" pitchFamily="34" charset="0"/>
              </a:rPr>
              <a:pPr>
                <a:defRPr/>
              </a:pPr>
              <a:t>3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本页讲解路由器、交换机的启动过程。</a:t>
            </a:r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1</a:t>
            </a:r>
            <a:r>
              <a:rPr lang="zh-CN" altLang="en-US">
                <a:ea typeface="宋体" charset="-122"/>
              </a:rPr>
              <a:t>、加电自检</a:t>
            </a:r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2</a:t>
            </a:r>
            <a:r>
              <a:rPr lang="zh-CN" altLang="en-US">
                <a:ea typeface="宋体" charset="-122"/>
              </a:rPr>
              <a:t>、执行</a:t>
            </a:r>
            <a:r>
              <a:rPr lang="en-US" altLang="zh-CN">
                <a:ea typeface="宋体" charset="-122"/>
              </a:rPr>
              <a:t>ROM</a:t>
            </a:r>
            <a:r>
              <a:rPr lang="zh-CN" altLang="en-US">
                <a:ea typeface="宋体" charset="-122"/>
              </a:rPr>
              <a:t>中的自主引导程序</a:t>
            </a:r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3</a:t>
            </a:r>
            <a:r>
              <a:rPr lang="zh-CN" altLang="en-US">
                <a:ea typeface="宋体" charset="-122"/>
              </a:rPr>
              <a:t>、查找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镜像，需要说明：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镜像可以存放在很多地方（</a:t>
            </a:r>
            <a:r>
              <a:rPr lang="en-US" altLang="zh-CN">
                <a:ea typeface="宋体" charset="-122"/>
              </a:rPr>
              <a:t>flash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tftp server</a:t>
            </a:r>
            <a:r>
              <a:rPr lang="zh-CN" altLang="en-US">
                <a:ea typeface="宋体" charset="-122"/>
              </a:rPr>
              <a:t>等），根据配置寄存器的值决定装载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镜像的位置，另外也可以进行</a:t>
            </a:r>
            <a:r>
              <a:rPr lang="en-US" altLang="zh-CN">
                <a:ea typeface="宋体" charset="-122"/>
              </a:rPr>
              <a:t>mini-ios</a:t>
            </a:r>
            <a:r>
              <a:rPr lang="zh-CN" altLang="en-US">
                <a:ea typeface="宋体" charset="-122"/>
              </a:rPr>
              <a:t>。</a:t>
            </a:r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4</a:t>
            </a:r>
            <a:r>
              <a:rPr lang="zh-CN" altLang="en-US">
                <a:ea typeface="宋体" charset="-122"/>
              </a:rPr>
              <a:t>、找到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镜像，进行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镜像装载；</a:t>
            </a:r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5</a:t>
            </a:r>
            <a:r>
              <a:rPr lang="zh-CN" altLang="en-US">
                <a:ea typeface="宋体" charset="-122"/>
              </a:rPr>
              <a:t>、寻找配置，如果</a:t>
            </a:r>
            <a:r>
              <a:rPr lang="en-US" altLang="zh-CN">
                <a:ea typeface="宋体" charset="-122"/>
              </a:rPr>
              <a:t>NVRAM</a:t>
            </a:r>
            <a:r>
              <a:rPr lang="zh-CN" altLang="en-US">
                <a:ea typeface="宋体" charset="-122"/>
              </a:rPr>
              <a:t>中没有配置文件，则在</a:t>
            </a:r>
            <a:r>
              <a:rPr lang="en-US" altLang="zh-CN">
                <a:ea typeface="宋体" charset="-122"/>
              </a:rPr>
              <a:t>TFTP server</a:t>
            </a:r>
            <a:r>
              <a:rPr lang="zh-CN" altLang="en-US">
                <a:ea typeface="宋体" charset="-122"/>
              </a:rPr>
              <a:t>上进行查找如果也没有，最终进入</a:t>
            </a:r>
            <a:r>
              <a:rPr lang="en-US" altLang="zh-CN">
                <a:ea typeface="宋体" charset="-122"/>
              </a:rPr>
              <a:t>setup</a:t>
            </a:r>
            <a:r>
              <a:rPr lang="zh-CN" altLang="en-US">
                <a:ea typeface="宋体" charset="-122"/>
              </a:rPr>
              <a:t>模式，如果有配置文件则加载配置文件。</a:t>
            </a:r>
            <a:endParaRPr lang="en-US" altLang="zh-CN">
              <a:ea typeface="宋体" charset="-122"/>
            </a:endParaRPr>
          </a:p>
          <a:p>
            <a:endParaRPr lang="en-US" altLang="zh-CN">
              <a:ea typeface="宋体" charset="-122"/>
            </a:endParaRPr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5082C40-73CB-4373-8CB7-69B2072A7F89}" type="slidenum">
              <a:rPr lang="en-US" altLang="zh-CN" smtClean="0">
                <a:latin typeface="Arial" pitchFamily="34" charset="0"/>
              </a:rPr>
              <a:pPr>
                <a:defRPr/>
              </a:pPr>
              <a:t>4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32FEE0-3CF0-41E8-934E-CB433216188B}" type="slidenum">
              <a:rPr lang="zh-CN" altLang="en-US" smtClean="0">
                <a:latin typeface="Arial" pitchFamily="34" charset="0"/>
              </a:rPr>
              <a:pPr>
                <a:defRPr/>
              </a:pPr>
              <a:t>5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1725" y="300038"/>
            <a:ext cx="4705350" cy="3529012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2325" y="4052888"/>
            <a:ext cx="5237163" cy="4579937"/>
          </a:xfrm>
          <a:noFill/>
          <a:ln/>
        </p:spPr>
        <p:txBody>
          <a:bodyPr/>
          <a:lstStyle/>
          <a:p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6355E30-0735-4E84-B908-92F5774D19AC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无论是谁通过</a:t>
            </a:r>
            <a:r>
              <a:rPr lang="en-US" altLang="zh-CN">
                <a:ea typeface="宋体" charset="-122"/>
              </a:rPr>
              <a:t>console</a:t>
            </a:r>
            <a:r>
              <a:rPr lang="zh-CN" altLang="en-US">
                <a:ea typeface="宋体" charset="-122"/>
              </a:rPr>
              <a:t>口登陆设备都可以对设备进行配置，这样对设备安全造成一定的危害，那么应该如何解决的？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从本页开始讲解路由器和交换机的密码配置。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讲解</a:t>
            </a:r>
            <a:r>
              <a:rPr lang="en-US" altLang="zh-CN">
                <a:ea typeface="宋体" charset="-122"/>
              </a:rPr>
              <a:t>console</a:t>
            </a:r>
            <a:r>
              <a:rPr lang="zh-CN" altLang="en-US">
                <a:ea typeface="宋体" charset="-122"/>
              </a:rPr>
              <a:t>密码的配置，说明配置</a:t>
            </a:r>
            <a:r>
              <a:rPr lang="en-US" altLang="zh-CN">
                <a:ea typeface="宋体" charset="-122"/>
              </a:rPr>
              <a:t>Console</a:t>
            </a:r>
            <a:r>
              <a:rPr lang="zh-CN" altLang="en-US">
                <a:ea typeface="宋体" charset="-122"/>
              </a:rPr>
              <a:t>密码的作用。即通过</a:t>
            </a:r>
            <a:r>
              <a:rPr lang="en-US" altLang="zh-CN">
                <a:ea typeface="宋体" charset="-122"/>
              </a:rPr>
              <a:t>console</a:t>
            </a:r>
            <a:r>
              <a:rPr lang="zh-CN" altLang="en-US">
                <a:ea typeface="宋体" charset="-122"/>
              </a:rPr>
              <a:t>口登录设备时，进行密码验证。</a:t>
            </a:r>
            <a:endParaRPr lang="en-US" altLang="zh-CN">
              <a:ea typeface="宋体" charset="-122"/>
            </a:endParaRPr>
          </a:p>
          <a:p>
            <a:endParaRPr lang="en-US" altLang="zh-CN">
              <a:ea typeface="宋体" charset="-122"/>
            </a:endParaRPr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401E8A7-0F0D-4DA9-8B1D-B7D524FE6E0F}" type="slidenum">
              <a:rPr lang="en-US" altLang="zh-CN" smtClean="0">
                <a:latin typeface="Arial" pitchFamily="34" charset="0"/>
              </a:rPr>
              <a:pPr>
                <a:defRPr/>
              </a:pPr>
              <a:t>8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sz="1600">
                <a:ea typeface="宋体" charset="-122"/>
              </a:rPr>
              <a:t>本页讲解特权密码的配置。</a:t>
            </a:r>
            <a:endParaRPr lang="en-US" altLang="zh-CN" sz="1600">
              <a:ea typeface="宋体" charset="-122"/>
            </a:endParaRPr>
          </a:p>
          <a:p>
            <a:r>
              <a:rPr lang="zh-CN" altLang="en-US" sz="1600">
                <a:ea typeface="宋体" charset="-122"/>
              </a:rPr>
              <a:t>讲解特权密码的配置和作用，即进入特权模式需要进行密码验证。</a:t>
            </a:r>
            <a:endParaRPr lang="en-US" altLang="zh-CN" sz="1600">
              <a:ea typeface="宋体" charset="-122"/>
            </a:endParaRPr>
          </a:p>
          <a:p>
            <a:r>
              <a:rPr lang="zh-CN" altLang="en-US" sz="1600">
                <a:ea typeface="宋体" charset="-122"/>
              </a:rPr>
              <a:t>需要明确特权密码配置有两种形式，分别为</a:t>
            </a:r>
            <a:r>
              <a:rPr lang="en-US" altLang="zh-CN" sz="1600">
                <a:ea typeface="宋体" charset="-122"/>
              </a:rPr>
              <a:t>password</a:t>
            </a:r>
            <a:r>
              <a:rPr lang="zh-CN" altLang="en-US" sz="1600">
                <a:ea typeface="宋体" charset="-122"/>
              </a:rPr>
              <a:t>参数和</a:t>
            </a:r>
            <a:r>
              <a:rPr lang="en-US" altLang="zh-CN" sz="1600">
                <a:ea typeface="宋体" charset="-122"/>
              </a:rPr>
              <a:t>secret</a:t>
            </a:r>
            <a:r>
              <a:rPr lang="zh-CN" altLang="en-US" sz="1600">
                <a:ea typeface="宋体" charset="-122"/>
              </a:rPr>
              <a:t>参数，明确</a:t>
            </a:r>
            <a:r>
              <a:rPr lang="en-US" altLang="zh-CN" sz="1600">
                <a:ea typeface="宋体" charset="-122"/>
              </a:rPr>
              <a:t>password</a:t>
            </a:r>
            <a:r>
              <a:rPr lang="zh-CN" altLang="en-US" sz="1600">
                <a:ea typeface="宋体" charset="-122"/>
              </a:rPr>
              <a:t>为明文密码，而</a:t>
            </a:r>
            <a:r>
              <a:rPr lang="en-US" altLang="zh-CN" sz="1600">
                <a:ea typeface="宋体" charset="-122"/>
              </a:rPr>
              <a:t>secret</a:t>
            </a:r>
            <a:r>
              <a:rPr lang="zh-CN" altLang="en-US" sz="1600">
                <a:ea typeface="宋体" charset="-122"/>
              </a:rPr>
              <a:t>为密文密码。</a:t>
            </a:r>
            <a:endParaRPr lang="en-US" altLang="zh-CN" sz="1600">
              <a:ea typeface="宋体" charset="-122"/>
            </a:endParaRPr>
          </a:p>
          <a:p>
            <a:r>
              <a:rPr lang="zh-CN" altLang="en-US" sz="1600">
                <a:ea typeface="宋体" charset="-122"/>
              </a:rPr>
              <a:t>如果两个密码同时配置则</a:t>
            </a:r>
            <a:r>
              <a:rPr lang="en-US" altLang="zh-CN" sz="1600">
                <a:ea typeface="宋体" charset="-122"/>
              </a:rPr>
              <a:t>secret</a:t>
            </a:r>
            <a:r>
              <a:rPr lang="zh-CN" altLang="en-US" sz="1600">
                <a:ea typeface="宋体" charset="-122"/>
              </a:rPr>
              <a:t>密码生效，而</a:t>
            </a:r>
            <a:r>
              <a:rPr lang="en-US" altLang="zh-CN" sz="1600">
                <a:ea typeface="宋体" charset="-122"/>
              </a:rPr>
              <a:t>password</a:t>
            </a:r>
            <a:r>
              <a:rPr lang="zh-CN" altLang="en-US" sz="1600">
                <a:ea typeface="宋体" charset="-122"/>
              </a:rPr>
              <a:t>密码无效。</a:t>
            </a:r>
            <a:endParaRPr lang="en-US" altLang="zh-CN" sz="1600">
              <a:ea typeface="宋体" charset="-122"/>
            </a:endParaRPr>
          </a:p>
          <a:p>
            <a:endParaRPr lang="en-US" altLang="zh-CN" sz="1600">
              <a:ea typeface="宋体" charset="-122"/>
            </a:endParaRPr>
          </a:p>
          <a:p>
            <a:r>
              <a:rPr lang="zh-CN" altLang="en-US" sz="1600">
                <a:ea typeface="宋体" charset="-122"/>
              </a:rPr>
              <a:t>教员进行演示，并验证效果。</a:t>
            </a:r>
            <a:endParaRPr lang="en-US" altLang="zh-CN" sz="1600">
              <a:ea typeface="宋体" charset="-122"/>
            </a:endParaRPr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5F7753-FB48-4596-A3A2-9DAA6137A9E2}" type="slidenum">
              <a:rPr lang="en-US" altLang="zh-CN" smtClean="0">
                <a:latin typeface="Arial" pitchFamily="34" charset="0"/>
              </a:rPr>
              <a:pPr>
                <a:defRPr/>
              </a:pPr>
              <a:t>9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lvl="1"/>
            <a:r>
              <a:rPr lang="zh-CN" altLang="en-US" sz="1600">
                <a:ea typeface="宋体" charset="-122"/>
              </a:rPr>
              <a:t>对于明文密码，在非法人员获得配置文件后就会造成密码外泄，这样十分不安全。这时，我们可以使用</a:t>
            </a:r>
            <a:r>
              <a:rPr lang="en-US" altLang="zh-CN">
                <a:ea typeface="宋体" charset="-122"/>
                <a:cs typeface="Arial" charset="0"/>
              </a:rPr>
              <a:t>service password-encryption</a:t>
            </a:r>
            <a:r>
              <a:rPr lang="zh-CN" altLang="en-US" sz="1600">
                <a:ea typeface="宋体" charset="-122"/>
              </a:rPr>
              <a:t>命令将明文密码进行加密。</a:t>
            </a:r>
            <a:endParaRPr lang="en-US" altLang="zh-CN" sz="1600">
              <a:ea typeface="宋体" charset="-122"/>
            </a:endParaRPr>
          </a:p>
          <a:p>
            <a:pPr marL="0" lvl="1"/>
            <a:endParaRPr lang="en-US" altLang="zh-CN" sz="1600">
              <a:ea typeface="宋体" charset="-122"/>
            </a:endParaRPr>
          </a:p>
          <a:p>
            <a:pPr marL="0" lvl="1"/>
            <a:r>
              <a:rPr lang="zh-CN" altLang="en-US" sz="1600">
                <a:ea typeface="宋体" charset="-122"/>
              </a:rPr>
              <a:t>需要注意：这种加密方式，加密强度很小，已有工具可以破解。所以配置特权密码时应该使用</a:t>
            </a:r>
            <a:r>
              <a:rPr lang="en-US" altLang="zh-CN" sz="1600">
                <a:ea typeface="宋体" charset="-122"/>
              </a:rPr>
              <a:t>secret</a:t>
            </a:r>
            <a:r>
              <a:rPr lang="zh-CN" altLang="en-US" sz="1600">
                <a:ea typeface="宋体" charset="-122"/>
              </a:rPr>
              <a:t>参数。</a:t>
            </a:r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4BDFDBB-F4FE-4553-8888-F3B884981FDC}" type="slidenum">
              <a:rPr lang="en-US" altLang="zh-CN" smtClean="0">
                <a:latin typeface="Arial" pitchFamily="34" charset="0"/>
              </a:rPr>
              <a:pPr>
                <a:defRPr/>
              </a:pPr>
              <a:t>10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>
              <a:ea typeface="宋体" charset="-122"/>
            </a:endParaRPr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856278-2E33-43BF-813B-A2E64703899B}" type="slidenum">
              <a:rPr lang="en-US" altLang="zh-CN" smtClean="0">
                <a:latin typeface="Arial" pitchFamily="34" charset="0"/>
              </a:rPr>
              <a:pPr>
                <a:defRPr/>
              </a:pPr>
              <a:t>11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在实际的工作环境中有时可能出现，忘记密码的情况，这时应该如何恢复密码呢？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本页以</a:t>
            </a:r>
            <a:r>
              <a:rPr lang="en-US" altLang="zh-CN">
                <a:ea typeface="宋体" charset="-122"/>
              </a:rPr>
              <a:t>Cisoc2811</a:t>
            </a:r>
            <a:r>
              <a:rPr lang="zh-CN" altLang="en-US">
                <a:ea typeface="宋体" charset="-122"/>
              </a:rPr>
              <a:t>路由器为例进行路由器密码的恢复。教员进行演示。</a:t>
            </a:r>
            <a:endParaRPr lang="en-US" altLang="zh-CN">
              <a:ea typeface="宋体" charset="-122"/>
            </a:endParaRPr>
          </a:p>
          <a:p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需要注意明确其恢复密码的原理：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只要设备不加载启动文件就可以不需要密码进入设备进行配置。如果要使路由器在启动时绕过</a:t>
            </a:r>
            <a:r>
              <a:rPr lang="en-US" altLang="zh-CN">
                <a:ea typeface="宋体" charset="-122"/>
              </a:rPr>
              <a:t>startup-config</a:t>
            </a:r>
            <a:r>
              <a:rPr lang="zh-CN" altLang="en-US">
                <a:ea typeface="宋体" charset="-122"/>
              </a:rPr>
              <a:t>的配置，只有修改配置寄存器的值。正常情况下配置寄存器的值是</a:t>
            </a:r>
            <a:r>
              <a:rPr lang="en-US" altLang="zh-CN">
                <a:ea typeface="宋体" charset="-122"/>
              </a:rPr>
              <a:t>0x2102</a:t>
            </a:r>
            <a:r>
              <a:rPr lang="zh-CN" altLang="en-US">
                <a:ea typeface="宋体" charset="-122"/>
              </a:rPr>
              <a:t>（</a:t>
            </a:r>
            <a:r>
              <a:rPr lang="en-US" altLang="zh-CN">
                <a:ea typeface="宋体" charset="-122"/>
              </a:rPr>
              <a:t>0x</a:t>
            </a:r>
            <a:r>
              <a:rPr lang="zh-CN" altLang="en-US">
                <a:ea typeface="宋体" charset="-122"/>
              </a:rPr>
              <a:t>代表十六进制），把</a:t>
            </a:r>
            <a:r>
              <a:rPr lang="en-US" altLang="zh-CN">
                <a:ea typeface="宋体" charset="-122"/>
              </a:rPr>
              <a:t>2102</a:t>
            </a:r>
            <a:r>
              <a:rPr lang="zh-CN" altLang="en-US">
                <a:ea typeface="宋体" charset="-122"/>
              </a:rPr>
              <a:t>换算成十六进制为：</a:t>
            </a:r>
            <a:r>
              <a:rPr lang="en-US" altLang="zh-CN">
                <a:ea typeface="宋体" charset="-122"/>
              </a:rPr>
              <a:t>0010.0001.00</a:t>
            </a:r>
            <a:r>
              <a:rPr lang="en-US" altLang="zh-CN" b="1">
                <a:ea typeface="宋体" charset="-122"/>
              </a:rPr>
              <a:t>0</a:t>
            </a:r>
            <a:r>
              <a:rPr lang="en-US" altLang="zh-CN">
                <a:ea typeface="宋体" charset="-122"/>
              </a:rPr>
              <a:t>0.0010</a:t>
            </a:r>
            <a:r>
              <a:rPr lang="zh-CN" altLang="en-US">
                <a:ea typeface="宋体" charset="-122"/>
              </a:rPr>
              <a:t>，其中第</a:t>
            </a:r>
            <a:r>
              <a:rPr lang="en-US" altLang="zh-CN">
                <a:ea typeface="宋体" charset="-122"/>
              </a:rPr>
              <a:t>6</a:t>
            </a:r>
            <a:r>
              <a:rPr lang="zh-CN" altLang="en-US">
                <a:ea typeface="宋体" charset="-122"/>
              </a:rPr>
              <a:t>个比特位（从右边数）可以控制路由器启动时的顺序。如果该位为</a:t>
            </a:r>
            <a:r>
              <a:rPr lang="en-US" altLang="zh-CN">
                <a:ea typeface="宋体" charset="-122"/>
              </a:rPr>
              <a:t>0</a:t>
            </a:r>
            <a:r>
              <a:rPr lang="zh-CN" altLang="en-US">
                <a:ea typeface="宋体" charset="-122"/>
              </a:rPr>
              <a:t>，则表示在启动时运行</a:t>
            </a:r>
            <a:r>
              <a:rPr lang="en-US" altLang="zh-CN">
                <a:ea typeface="宋体" charset="-122"/>
              </a:rPr>
              <a:t>startup-confg</a:t>
            </a:r>
            <a:r>
              <a:rPr lang="zh-CN" altLang="en-US">
                <a:ea typeface="宋体" charset="-122"/>
              </a:rPr>
              <a:t>的配置；如果该位为</a:t>
            </a:r>
            <a:r>
              <a:rPr lang="en-US" altLang="zh-CN">
                <a:ea typeface="宋体" charset="-122"/>
              </a:rPr>
              <a:t>1</a:t>
            </a:r>
            <a:r>
              <a:rPr lang="zh-CN" altLang="en-US">
                <a:ea typeface="宋体" charset="-122"/>
              </a:rPr>
              <a:t>，则表示在启动时忽略</a:t>
            </a:r>
            <a:r>
              <a:rPr lang="en-US" altLang="zh-CN">
                <a:ea typeface="宋体" charset="-122"/>
              </a:rPr>
              <a:t>startup-config</a:t>
            </a:r>
            <a:r>
              <a:rPr lang="zh-CN" altLang="en-US">
                <a:ea typeface="宋体" charset="-122"/>
              </a:rPr>
              <a:t>的配置，而进入</a:t>
            </a:r>
            <a:r>
              <a:rPr lang="en-US" altLang="zh-CN">
                <a:ea typeface="宋体" charset="-122"/>
              </a:rPr>
              <a:t>Setup</a:t>
            </a:r>
            <a:r>
              <a:rPr lang="zh-CN" altLang="en-US">
                <a:ea typeface="宋体" charset="-122"/>
              </a:rPr>
              <a:t>模式。当该位为</a:t>
            </a:r>
            <a:r>
              <a:rPr lang="en-US" altLang="zh-CN">
                <a:ea typeface="宋体" charset="-122"/>
              </a:rPr>
              <a:t>1</a:t>
            </a:r>
            <a:r>
              <a:rPr lang="zh-CN" altLang="en-US">
                <a:ea typeface="宋体" charset="-122"/>
              </a:rPr>
              <a:t>时，配置寄存器的值应为</a:t>
            </a:r>
            <a:r>
              <a:rPr lang="en-US" altLang="zh-CN">
                <a:ea typeface="宋体" charset="-122"/>
              </a:rPr>
              <a:t>0x2142</a:t>
            </a:r>
            <a:r>
              <a:rPr lang="zh-CN" altLang="en-US">
                <a:ea typeface="宋体" charset="-122"/>
              </a:rPr>
              <a:t>。</a:t>
            </a:r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A68675-BC01-4B10-A388-B3C879D5173B}" type="slidenum">
              <a:rPr lang="en-US" altLang="zh-CN" smtClean="0">
                <a:latin typeface="Arial" pitchFamily="34" charset="0"/>
              </a:rPr>
              <a:pPr>
                <a:defRPr/>
              </a:pPr>
              <a:t>12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可以扩展说明：交换机按住</a:t>
            </a:r>
            <a:r>
              <a:rPr lang="en-US" altLang="zh-CN">
                <a:ea typeface="宋体" charset="-122"/>
              </a:rPr>
              <a:t>Mode</a:t>
            </a:r>
            <a:r>
              <a:rPr lang="zh-CN" altLang="en-US">
                <a:ea typeface="宋体" charset="-122"/>
              </a:rPr>
              <a:t>键</a:t>
            </a:r>
            <a:r>
              <a:rPr lang="en-US" altLang="zh-CN">
                <a:ea typeface="宋体" charset="-122"/>
              </a:rPr>
              <a:t>10s</a:t>
            </a:r>
            <a:r>
              <a:rPr lang="zh-CN" altLang="en-US">
                <a:ea typeface="宋体" charset="-122"/>
              </a:rPr>
              <a:t>，自动还原出厂设置。</a:t>
            </a:r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B3FFC66-8CB8-41F2-817A-BEC17C373C49}" type="slidenum">
              <a:rPr lang="en-US" altLang="zh-CN" smtClean="0">
                <a:latin typeface="Arial" pitchFamily="34" charset="0"/>
              </a:rPr>
              <a:pPr>
                <a:defRPr/>
              </a:pPr>
              <a:t>13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>
              <a:ea typeface="宋体" charset="-122"/>
            </a:endParaRPr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7D8857-582A-40DA-B908-507843CD9A35}" type="slidenum">
              <a:rPr lang="en-US" altLang="zh-CN" smtClean="0">
                <a:latin typeface="Arial" pitchFamily="34" charset="0"/>
              </a:rPr>
              <a:pPr>
                <a:defRPr/>
              </a:pPr>
              <a:t>14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对设备配置好以后，进行验证，通过</a:t>
            </a:r>
            <a:r>
              <a:rPr lang="en-US" altLang="zh-CN">
                <a:ea typeface="宋体" charset="-122"/>
              </a:rPr>
              <a:t>telnet</a:t>
            </a:r>
            <a:r>
              <a:rPr lang="zh-CN" altLang="en-US">
                <a:ea typeface="宋体" charset="-122"/>
              </a:rPr>
              <a:t>登陆设备但是发现没有配置特权密码无法进行特权模式。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然后配置特权密码后，再次进行验证。</a:t>
            </a:r>
            <a:endParaRPr lang="en-US" altLang="zh-CN">
              <a:ea typeface="宋体" charset="-122"/>
            </a:endParaRPr>
          </a:p>
          <a:p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需要注意：</a:t>
            </a:r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1</a:t>
            </a:r>
            <a:r>
              <a:rPr lang="zh-CN" altLang="en-US">
                <a:ea typeface="宋体" charset="-122"/>
              </a:rPr>
              <a:t>、远程管理必须配置登陆密码和特权密码</a:t>
            </a:r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2</a:t>
            </a:r>
            <a:r>
              <a:rPr lang="zh-CN" altLang="en-US">
                <a:ea typeface="宋体" charset="-122"/>
              </a:rPr>
              <a:t>、明确通过</a:t>
            </a:r>
            <a:r>
              <a:rPr lang="en-US" altLang="zh-CN">
                <a:ea typeface="宋体" charset="-122"/>
              </a:rPr>
              <a:t>console</a:t>
            </a:r>
            <a:r>
              <a:rPr lang="zh-CN" altLang="en-US">
                <a:ea typeface="宋体" charset="-122"/>
              </a:rPr>
              <a:t>接口登陆不需要配置特权密码</a:t>
            </a:r>
            <a:endParaRPr lang="en-US" altLang="zh-CN">
              <a:ea typeface="宋体" charset="-122"/>
            </a:endParaRPr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BCF9F0-210A-42F9-8FA3-9CFEB5693D8A}" type="slidenum">
              <a:rPr lang="en-US" altLang="zh-CN" smtClean="0">
                <a:latin typeface="Arial" pitchFamily="34" charset="0"/>
              </a:rPr>
              <a:pPr>
                <a:defRPr/>
              </a:pPr>
              <a:t>15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首先，讲解配置网关的作用和目的，这个网关河不同主机的网关基本相同。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然后，讲解配置命令，再给出拓扑图，说明主机和</a:t>
            </a:r>
            <a:r>
              <a:rPr lang="en-US" altLang="zh-CN">
                <a:ea typeface="宋体" charset="-122"/>
              </a:rPr>
              <a:t>SW2</a:t>
            </a:r>
            <a:r>
              <a:rPr lang="zh-CN" altLang="en-US">
                <a:ea typeface="宋体" charset="-122"/>
              </a:rPr>
              <a:t>不再同一网段，并且在</a:t>
            </a:r>
            <a:r>
              <a:rPr lang="en-US" altLang="zh-CN">
                <a:ea typeface="宋体" charset="-122"/>
              </a:rPr>
              <a:t>SW2</a:t>
            </a:r>
            <a:r>
              <a:rPr lang="zh-CN" altLang="en-US">
                <a:ea typeface="宋体" charset="-122"/>
              </a:rPr>
              <a:t>上没有路由，这时主机和</a:t>
            </a:r>
            <a:r>
              <a:rPr lang="en-US" altLang="zh-CN">
                <a:ea typeface="宋体" charset="-122"/>
              </a:rPr>
              <a:t>SW2</a:t>
            </a:r>
            <a:r>
              <a:rPr lang="zh-CN" altLang="en-US">
                <a:ea typeface="宋体" charset="-122"/>
              </a:rPr>
              <a:t>不通。所以这时就需要在</a:t>
            </a:r>
            <a:r>
              <a:rPr lang="en-US" altLang="zh-CN">
                <a:ea typeface="宋体" charset="-122"/>
              </a:rPr>
              <a:t>SW2</a:t>
            </a:r>
            <a:r>
              <a:rPr lang="zh-CN" altLang="en-US">
                <a:ea typeface="宋体" charset="-122"/>
              </a:rPr>
              <a:t>上配置默认网关。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最后，给出</a:t>
            </a:r>
            <a:r>
              <a:rPr lang="en-US" altLang="zh-CN">
                <a:ea typeface="宋体" charset="-122"/>
              </a:rPr>
              <a:t>SW2</a:t>
            </a:r>
            <a:r>
              <a:rPr lang="zh-CN" altLang="en-US">
                <a:ea typeface="宋体" charset="-122"/>
              </a:rPr>
              <a:t>上的配置，并进行演示。</a:t>
            </a:r>
            <a:endParaRPr lang="en-US" altLang="zh-CN">
              <a:ea typeface="宋体" charset="-122"/>
            </a:endParaRPr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3B2B61-8B5E-4ABA-AA22-71696901CDF6}" type="slidenum">
              <a:rPr lang="en-US" altLang="zh-CN" smtClean="0">
                <a:latin typeface="Arial" pitchFamily="34" charset="0"/>
              </a:rPr>
              <a:pPr>
                <a:defRPr/>
              </a:pPr>
              <a:t>16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E96C0D5-0D80-47A2-890C-82FAA0CCDB75}" type="slidenum">
              <a:rPr lang="en-US" altLang="zh-CN" smtClean="0">
                <a:latin typeface="Arial" pitchFamily="34" charset="0"/>
              </a:rPr>
              <a:pPr>
                <a:defRPr/>
              </a:pPr>
              <a:t>17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c2800nm-ipbase-mz.124-3i.bin</a:t>
            </a:r>
            <a:endParaRPr lang="zh-CN" altLang="en-US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>
                <a:ea typeface="宋体" charset="-122"/>
              </a:rPr>
              <a:t>1</a:t>
            </a:r>
            <a:r>
              <a:rPr lang="zh-CN" altLang="en-US">
                <a:ea typeface="宋体" charset="-122"/>
              </a:rPr>
              <a:t>）</a:t>
            </a:r>
            <a:r>
              <a:rPr lang="en-US" altLang="zh-CN">
                <a:ea typeface="宋体" charset="-122"/>
              </a:rPr>
              <a:t>c2800nm</a:t>
            </a:r>
            <a:r>
              <a:rPr lang="zh-CN" altLang="en-US">
                <a:ea typeface="宋体" charset="-122"/>
              </a:rPr>
              <a:t>表示硬件平台为</a:t>
            </a:r>
            <a:r>
              <a:rPr lang="en-US" altLang="zh-CN">
                <a:ea typeface="宋体" charset="-122"/>
              </a:rPr>
              <a:t>Cisco 2800</a:t>
            </a:r>
            <a:r>
              <a:rPr lang="zh-CN" altLang="en-US">
                <a:ea typeface="宋体" charset="-122"/>
              </a:rPr>
              <a:t>系列路由器。</a:t>
            </a:r>
            <a:endParaRPr lang="zh-CN" altLang="en-US" sz="1600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2</a:t>
            </a:r>
            <a:r>
              <a:rPr lang="zh-CN" altLang="en-US">
                <a:ea typeface="宋体" charset="-122"/>
              </a:rPr>
              <a:t>）</a:t>
            </a:r>
            <a:r>
              <a:rPr lang="en-US" altLang="zh-CN">
                <a:ea typeface="宋体" charset="-122"/>
              </a:rPr>
              <a:t>ipbase</a:t>
            </a:r>
            <a:r>
              <a:rPr lang="zh-CN" altLang="en-US">
                <a:ea typeface="宋体" charset="-122"/>
              </a:rPr>
              <a:t>表示加载了</a:t>
            </a:r>
            <a:r>
              <a:rPr lang="en-US" altLang="zh-CN">
                <a:ea typeface="宋体" charset="-122"/>
              </a:rPr>
              <a:t>ipbase</a:t>
            </a:r>
            <a:r>
              <a:rPr lang="zh-CN" altLang="en-US">
                <a:ea typeface="宋体" charset="-122"/>
              </a:rPr>
              <a:t>软件包的特性集。</a:t>
            </a:r>
            <a:endParaRPr lang="zh-CN" altLang="en-US" sz="1600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3</a:t>
            </a:r>
            <a:r>
              <a:rPr lang="zh-CN" altLang="en-US">
                <a:ea typeface="宋体" charset="-122"/>
              </a:rPr>
              <a:t>）</a:t>
            </a:r>
            <a:r>
              <a:rPr lang="en-US" altLang="zh-CN">
                <a:ea typeface="宋体" charset="-122"/>
              </a:rPr>
              <a:t>m</a:t>
            </a:r>
            <a:r>
              <a:rPr lang="zh-CN" altLang="en-US">
                <a:ea typeface="宋体" charset="-122"/>
              </a:rPr>
              <a:t>表示在</a:t>
            </a:r>
            <a:r>
              <a:rPr lang="en-US" altLang="zh-CN">
                <a:ea typeface="宋体" charset="-122"/>
              </a:rPr>
              <a:t>RAM</a:t>
            </a:r>
            <a:r>
              <a:rPr lang="zh-CN" altLang="en-US">
                <a:ea typeface="宋体" charset="-122"/>
              </a:rPr>
              <a:t>中运行，</a:t>
            </a:r>
            <a:r>
              <a:rPr lang="en-US" altLang="zh-CN">
                <a:ea typeface="宋体" charset="-122"/>
              </a:rPr>
              <a:t>z</a:t>
            </a:r>
            <a:r>
              <a:rPr lang="zh-CN" altLang="en-US">
                <a:ea typeface="宋体" charset="-122"/>
              </a:rPr>
              <a:t>表示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文件经过了</a:t>
            </a:r>
            <a:r>
              <a:rPr lang="en-US" altLang="zh-CN">
                <a:ea typeface="宋体" charset="-122"/>
              </a:rPr>
              <a:t>ZIP</a:t>
            </a:r>
            <a:r>
              <a:rPr lang="zh-CN" altLang="en-US">
                <a:ea typeface="宋体" charset="-122"/>
              </a:rPr>
              <a:t>格式的压缩。</a:t>
            </a:r>
            <a:endParaRPr lang="zh-CN" altLang="en-US" sz="1600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4</a:t>
            </a:r>
            <a:r>
              <a:rPr lang="zh-CN" altLang="en-US">
                <a:ea typeface="宋体" charset="-122"/>
              </a:rPr>
              <a:t>）</a:t>
            </a:r>
            <a:r>
              <a:rPr lang="en-US" altLang="zh-CN">
                <a:ea typeface="宋体" charset="-122"/>
              </a:rPr>
              <a:t>124-3i</a:t>
            </a:r>
            <a:r>
              <a:rPr lang="zh-CN" altLang="en-US">
                <a:ea typeface="宋体" charset="-122"/>
              </a:rPr>
              <a:t>表示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软件版本为</a:t>
            </a:r>
            <a:r>
              <a:rPr lang="en-US" altLang="zh-CN">
                <a:ea typeface="宋体" charset="-122"/>
              </a:rPr>
              <a:t>12.4(3i)</a:t>
            </a:r>
            <a:r>
              <a:rPr lang="zh-CN" altLang="en-US">
                <a:ea typeface="宋体" charset="-122"/>
              </a:rPr>
              <a:t>。</a:t>
            </a:r>
            <a:endParaRPr lang="zh-CN" altLang="en-US" sz="1600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5</a:t>
            </a:r>
            <a:r>
              <a:rPr lang="zh-CN" altLang="en-US">
                <a:ea typeface="宋体" charset="-122"/>
              </a:rPr>
              <a:t>）</a:t>
            </a:r>
            <a:r>
              <a:rPr lang="en-US" altLang="zh-CN">
                <a:ea typeface="宋体" charset="-122"/>
              </a:rPr>
              <a:t>.bin</a:t>
            </a:r>
            <a:r>
              <a:rPr lang="zh-CN" altLang="en-US">
                <a:ea typeface="宋体" charset="-122"/>
              </a:rPr>
              <a:t>表示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软件后缀。</a:t>
            </a:r>
            <a:endParaRPr lang="en-US" altLang="zh-CN">
              <a:ea typeface="宋体" charset="-122"/>
            </a:endParaRPr>
          </a:p>
          <a:p>
            <a:endParaRPr lang="en-US" altLang="zh-CN" sz="1600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IP Base</a:t>
            </a:r>
            <a:r>
              <a:rPr lang="zh-CN" altLang="en-US">
                <a:ea typeface="宋体" charset="-122"/>
              </a:rPr>
              <a:t>特性包包括的特性集为：</a:t>
            </a:r>
            <a:r>
              <a:rPr lang="en-US" altLang="zh-CN">
                <a:ea typeface="宋体" charset="-122"/>
              </a:rPr>
              <a:t>DSL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Ethernet switching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inter-vlan 802.1q routing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vlans trunking</a:t>
            </a:r>
            <a:r>
              <a:rPr lang="zh-CN" altLang="en-US">
                <a:ea typeface="宋体" charset="-122"/>
              </a:rPr>
              <a:t>；</a:t>
            </a:r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IP Voice</a:t>
            </a:r>
            <a:r>
              <a:rPr lang="zh-CN" altLang="en-US">
                <a:ea typeface="宋体" charset="-122"/>
              </a:rPr>
              <a:t>特性包包括的特性集为：包含</a:t>
            </a:r>
            <a:r>
              <a:rPr lang="en-US" altLang="zh-CN">
                <a:ea typeface="宋体" charset="-122"/>
              </a:rPr>
              <a:t>IP Base</a:t>
            </a:r>
            <a:r>
              <a:rPr lang="zh-CN" altLang="en-US">
                <a:ea typeface="宋体" charset="-122"/>
              </a:rPr>
              <a:t>特性集，支持所有语音接口和协议（</a:t>
            </a:r>
            <a:r>
              <a:rPr lang="en-US" altLang="zh-CN">
                <a:ea typeface="宋体" charset="-122"/>
              </a:rPr>
              <a:t>H.323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MGCP Signaling</a:t>
            </a:r>
            <a:r>
              <a:rPr lang="zh-CN" altLang="en-US">
                <a:ea typeface="宋体" charset="-122"/>
              </a:rPr>
              <a:t>等），思科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电话服务，</a:t>
            </a:r>
            <a:r>
              <a:rPr lang="en-US" altLang="zh-CN">
                <a:ea typeface="宋体" charset="-122"/>
              </a:rPr>
              <a:t>SRST</a:t>
            </a:r>
            <a:r>
              <a:rPr lang="zh-CN" altLang="en-US">
                <a:ea typeface="宋体" charset="-122"/>
              </a:rPr>
              <a:t>等</a:t>
            </a:r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Advanced Security</a:t>
            </a:r>
            <a:r>
              <a:rPr lang="zh-CN" altLang="en-US">
                <a:ea typeface="宋体" charset="-122"/>
              </a:rPr>
              <a:t>特性包包括的特性集为：支持安全与</a:t>
            </a:r>
            <a:r>
              <a:rPr lang="en-US" altLang="zh-CN">
                <a:ea typeface="宋体" charset="-122"/>
              </a:rPr>
              <a:t>VPN</a:t>
            </a:r>
            <a:r>
              <a:rPr lang="zh-CN" altLang="en-US">
                <a:ea typeface="宋体" charset="-122"/>
              </a:rPr>
              <a:t>，思科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防火墙、</a:t>
            </a:r>
            <a:r>
              <a:rPr lang="en-US" altLang="zh-CN">
                <a:ea typeface="宋体" charset="-122"/>
              </a:rPr>
              <a:t>IDS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SSHv1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Cisco Easy VPN Client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and Server</a:t>
            </a:r>
            <a:r>
              <a:rPr lang="zh-CN" altLang="en-US">
                <a:ea typeface="宋体" charset="-122"/>
              </a:rPr>
              <a:t>；支持</a:t>
            </a:r>
            <a:r>
              <a:rPr lang="en-US" altLang="zh-CN">
                <a:ea typeface="宋体" charset="-122"/>
              </a:rPr>
              <a:t>3DES</a:t>
            </a:r>
            <a:r>
              <a:rPr lang="zh-CN" altLang="en-US">
                <a:ea typeface="宋体" charset="-122"/>
              </a:rPr>
              <a:t>和</a:t>
            </a:r>
            <a:r>
              <a:rPr lang="en-US" altLang="zh-CN">
                <a:ea typeface="宋体" charset="-122"/>
              </a:rPr>
              <a:t>AES</a:t>
            </a:r>
            <a:r>
              <a:rPr lang="zh-CN" altLang="en-US">
                <a:ea typeface="宋体" charset="-122"/>
              </a:rPr>
              <a:t>，包含</a:t>
            </a:r>
            <a:r>
              <a:rPr lang="en-US" altLang="zh-CN">
                <a:ea typeface="宋体" charset="-122"/>
              </a:rPr>
              <a:t>IP Base</a:t>
            </a:r>
            <a:r>
              <a:rPr lang="zh-CN" altLang="en-US">
                <a:ea typeface="宋体" charset="-122"/>
              </a:rPr>
              <a:t>特性集；</a:t>
            </a:r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SP Services</a:t>
            </a:r>
            <a:r>
              <a:rPr lang="zh-CN" altLang="en-US">
                <a:ea typeface="宋体" charset="-122"/>
              </a:rPr>
              <a:t>特性包包括的特性集为：属于数据、语音、传输的集合，支持数据和语音在</a:t>
            </a:r>
            <a:r>
              <a:rPr lang="en-US" altLang="zh-CN">
                <a:ea typeface="宋体" charset="-122"/>
              </a:rPr>
              <a:t>IP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ATM</a:t>
            </a:r>
            <a:r>
              <a:rPr lang="zh-CN" altLang="en-US">
                <a:ea typeface="宋体" charset="-122"/>
              </a:rPr>
              <a:t>等网络上的所有服务。还提供一些高级的功能例如</a:t>
            </a:r>
            <a:r>
              <a:rPr lang="en-US" altLang="zh-CN">
                <a:ea typeface="宋体" charset="-122"/>
              </a:rPr>
              <a:t>MPLS</a:t>
            </a:r>
            <a:r>
              <a:rPr lang="zh-CN" altLang="en-US">
                <a:ea typeface="宋体" charset="-122"/>
              </a:rPr>
              <a:t>和</a:t>
            </a:r>
            <a:r>
              <a:rPr lang="en-US" altLang="zh-CN">
                <a:ea typeface="宋体" charset="-122"/>
              </a:rPr>
              <a:t>NetFlow</a:t>
            </a:r>
            <a:r>
              <a:rPr lang="zh-CN" altLang="en-US">
                <a:ea typeface="宋体" charset="-122"/>
              </a:rPr>
              <a:t>；</a:t>
            </a:r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Advanced IP Services</a:t>
            </a:r>
            <a:r>
              <a:rPr lang="zh-CN" altLang="en-US">
                <a:ea typeface="宋体" charset="-122"/>
              </a:rPr>
              <a:t>特性包包括的特性集为：支持数据、语音、</a:t>
            </a:r>
            <a:r>
              <a:rPr lang="en-US" altLang="zh-CN">
                <a:ea typeface="宋体" charset="-122"/>
              </a:rPr>
              <a:t>VPN</a:t>
            </a:r>
            <a:r>
              <a:rPr lang="zh-CN" altLang="en-US">
                <a:ea typeface="宋体" charset="-122"/>
              </a:rPr>
              <a:t>，支持所有</a:t>
            </a:r>
            <a:r>
              <a:rPr lang="en-US" altLang="zh-CN">
                <a:ea typeface="宋体" charset="-122"/>
              </a:rPr>
              <a:t>Advanced Services</a:t>
            </a:r>
            <a:r>
              <a:rPr lang="zh-CN" altLang="en-US">
                <a:ea typeface="宋体" charset="-122"/>
              </a:rPr>
              <a:t>特性，还支持</a:t>
            </a:r>
            <a:r>
              <a:rPr lang="en-US" altLang="zh-CN">
                <a:ea typeface="宋体" charset="-122"/>
              </a:rPr>
              <a:t>VPN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IDS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IPv6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IOS Firewall</a:t>
            </a:r>
            <a:r>
              <a:rPr lang="zh-CN" altLang="en-US">
                <a:ea typeface="宋体" charset="-122"/>
              </a:rPr>
              <a:t>等。</a:t>
            </a:r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Enterprise Base</a:t>
            </a:r>
            <a:r>
              <a:rPr lang="zh-CN" altLang="en-US">
                <a:ea typeface="宋体" charset="-122"/>
              </a:rPr>
              <a:t>特性包包括的特性集为：支持数据、多协议和</a:t>
            </a:r>
            <a:r>
              <a:rPr lang="en-US" altLang="zh-CN">
                <a:ea typeface="宋体" charset="-122"/>
              </a:rPr>
              <a:t>IBM</a:t>
            </a:r>
            <a:r>
              <a:rPr lang="zh-CN" altLang="en-US">
                <a:ea typeface="宋体" charset="-122"/>
              </a:rPr>
              <a:t>访问（例如：</a:t>
            </a:r>
            <a:r>
              <a:rPr lang="en-US" altLang="zh-CN">
                <a:ea typeface="宋体" charset="-122"/>
              </a:rPr>
              <a:t>Appletalk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Novell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IPX</a:t>
            </a:r>
            <a:r>
              <a:rPr lang="zh-CN" altLang="en-US">
                <a:ea typeface="宋体" charset="-122"/>
              </a:rPr>
              <a:t>等），全面支持</a:t>
            </a:r>
            <a:r>
              <a:rPr lang="en-US" altLang="zh-CN">
                <a:ea typeface="宋体" charset="-122"/>
              </a:rPr>
              <a:t>IP Base</a:t>
            </a:r>
            <a:r>
              <a:rPr lang="zh-CN" altLang="en-US">
                <a:ea typeface="宋体" charset="-122"/>
              </a:rPr>
              <a:t>特性。</a:t>
            </a:r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Enterprise Services</a:t>
            </a:r>
            <a:r>
              <a:rPr lang="zh-CN" altLang="en-US">
                <a:ea typeface="宋体" charset="-122"/>
              </a:rPr>
              <a:t>特性包包括的特性集为：支持</a:t>
            </a:r>
            <a:r>
              <a:rPr lang="en-US" altLang="zh-CN">
                <a:ea typeface="宋体" charset="-122"/>
              </a:rPr>
              <a:t>IPX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Apple Talk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DECnet and IBM services</a:t>
            </a:r>
            <a:r>
              <a:rPr lang="zh-CN" altLang="en-US">
                <a:ea typeface="宋体" charset="-122"/>
              </a:rPr>
              <a:t>等，支持</a:t>
            </a:r>
            <a:r>
              <a:rPr lang="en-US" altLang="zh-CN">
                <a:ea typeface="宋体" charset="-122"/>
              </a:rPr>
              <a:t>SP Services</a:t>
            </a:r>
            <a:r>
              <a:rPr lang="zh-CN" altLang="en-US">
                <a:ea typeface="宋体" charset="-122"/>
              </a:rPr>
              <a:t>特性，并增加支持多协议在</a:t>
            </a:r>
            <a:r>
              <a:rPr lang="en-US" altLang="zh-CN">
                <a:ea typeface="宋体" charset="-122"/>
              </a:rPr>
              <a:t>Enterprise Base</a:t>
            </a:r>
            <a:r>
              <a:rPr lang="zh-CN" altLang="en-US">
                <a:ea typeface="宋体" charset="-122"/>
              </a:rPr>
              <a:t>特性集中。</a:t>
            </a:r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Advanced Enterprise Services</a:t>
            </a:r>
            <a:r>
              <a:rPr lang="zh-CN" altLang="en-US">
                <a:ea typeface="宋体" charset="-122"/>
              </a:rPr>
              <a:t>特性包包括的特性集为：支持所有特性集，是功能最全面的特性集；</a:t>
            </a:r>
            <a:endParaRPr lang="en-US" altLang="zh-CN">
              <a:ea typeface="宋体" charset="-122"/>
            </a:endParaRPr>
          </a:p>
          <a:p>
            <a:endParaRPr lang="en-US" altLang="zh-CN">
              <a:ea typeface="宋体" charset="-122"/>
            </a:endParaRPr>
          </a:p>
          <a:p>
            <a:endParaRPr lang="en-US" altLang="zh-CN">
              <a:ea typeface="宋体" charset="-122"/>
            </a:endParaRPr>
          </a:p>
          <a:p>
            <a:endParaRPr lang="en-US" altLang="zh-CN">
              <a:ea typeface="宋体" charset="-122"/>
            </a:endParaRPr>
          </a:p>
          <a:p>
            <a:endParaRPr lang="zh-CN" altLang="en-US">
              <a:ea typeface="宋体" charset="-122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F71C3ED-5D1F-4286-9467-5BB4FCB7DBCA}" type="slidenum">
              <a:rPr lang="en-US" altLang="zh-CN" smtClean="0">
                <a:latin typeface="Arial" pitchFamily="34" charset="0"/>
              </a:rPr>
              <a:pPr>
                <a:defRPr/>
              </a:pPr>
              <a:t>18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在设备使用的过程中对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的备份、恢复和升级是网络管理员的重要工作内容。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本页讲解通过</a:t>
            </a:r>
            <a:r>
              <a:rPr lang="en-US" altLang="zh-CN">
                <a:ea typeface="宋体" charset="-122"/>
              </a:rPr>
              <a:t>TFTP</a:t>
            </a:r>
            <a:r>
              <a:rPr lang="zh-CN" altLang="en-US">
                <a:ea typeface="宋体" charset="-122"/>
              </a:rPr>
              <a:t>进行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升级。教员需要进行演示。</a:t>
            </a:r>
            <a:endParaRPr lang="en-US" altLang="zh-CN">
              <a:ea typeface="宋体" charset="-122"/>
            </a:endParaRPr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2DDA05-7037-4FFC-8C72-E3A035353E43}" type="slidenum">
              <a:rPr lang="en-US" altLang="zh-CN" smtClean="0">
                <a:latin typeface="Arial" pitchFamily="34" charset="0"/>
              </a:rPr>
              <a:pPr>
                <a:defRPr/>
              </a:pPr>
              <a:t>19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本页讲解通过</a:t>
            </a:r>
            <a:r>
              <a:rPr lang="en-US" altLang="zh-CN">
                <a:ea typeface="宋体" charset="-122"/>
              </a:rPr>
              <a:t>FTP</a:t>
            </a:r>
            <a:r>
              <a:rPr lang="zh-CN" altLang="en-US">
                <a:ea typeface="宋体" charset="-122"/>
              </a:rPr>
              <a:t>进行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升级。教员需要进行演示。</a:t>
            </a:r>
            <a:endParaRPr lang="en-US" altLang="zh-CN">
              <a:ea typeface="宋体" charset="-122"/>
            </a:endParaRPr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76A0A5-48CD-49F6-BBF3-F67798884538}" type="slidenum">
              <a:rPr lang="en-US" altLang="zh-CN" smtClean="0">
                <a:latin typeface="Arial" pitchFamily="34" charset="0"/>
              </a:rPr>
              <a:pPr>
                <a:defRPr/>
              </a:pPr>
              <a:t>20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lvl="2"/>
            <a:r>
              <a:rPr lang="zh-CN" altLang="en-US" b="1">
                <a:ea typeface="宋体" charset="-122"/>
              </a:rPr>
              <a:t>本部分内容通过视频，分别包括使用超级终端、</a:t>
            </a:r>
            <a:r>
              <a:rPr lang="en-US" altLang="zh-CN" b="1">
                <a:ea typeface="宋体" charset="-122"/>
              </a:rPr>
              <a:t>SCRT</a:t>
            </a:r>
            <a:r>
              <a:rPr lang="zh-CN" altLang="en-US" b="1">
                <a:ea typeface="宋体" charset="-122"/>
              </a:rPr>
              <a:t>软件和</a:t>
            </a:r>
            <a:r>
              <a:rPr lang="en-US" altLang="zh-CN" b="1">
                <a:ea typeface="宋体" charset="-122"/>
              </a:rPr>
              <a:t>TFTP</a:t>
            </a:r>
            <a:r>
              <a:rPr lang="zh-CN" altLang="en-US" b="1">
                <a:ea typeface="宋体" charset="-122"/>
              </a:rPr>
              <a:t>恢复</a:t>
            </a:r>
            <a:r>
              <a:rPr lang="en-US" altLang="zh-CN" b="1">
                <a:ea typeface="宋体" charset="-122"/>
              </a:rPr>
              <a:t>IOS</a:t>
            </a:r>
            <a:r>
              <a:rPr lang="zh-CN" altLang="en-US" b="1">
                <a:ea typeface="宋体" charset="-122"/>
              </a:rPr>
              <a:t>的过程，此处讲解完成后由于恢复时间较长不建议教员演示，可以播放视频，结合视频进行讲解！</a:t>
            </a:r>
            <a:endParaRPr lang="en-US" altLang="zh-CN" b="1">
              <a:ea typeface="宋体" charset="-122"/>
            </a:endParaRPr>
          </a:p>
          <a:p>
            <a:pPr marL="0" lvl="2"/>
            <a:endParaRPr lang="en-US" altLang="zh-CN" b="1">
              <a:ea typeface="宋体" charset="-122"/>
            </a:endParaRPr>
          </a:p>
          <a:p>
            <a:pPr marL="0" lvl="2"/>
            <a:r>
              <a:rPr lang="zh-CN" altLang="en-US" b="1">
                <a:ea typeface="宋体" charset="-122"/>
              </a:rPr>
              <a:t>补充知识：</a:t>
            </a:r>
            <a:endParaRPr lang="en-US" altLang="zh-CN" b="1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在学员上传和下载路由器的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时，有可能会使路由器的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丢失或损坏，路由器丢失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后，如果不关机，可以直接使用</a:t>
            </a:r>
            <a:r>
              <a:rPr lang="en-US" altLang="zh-CN">
                <a:ea typeface="宋体" charset="-122"/>
              </a:rPr>
              <a:t>TFTP</a:t>
            </a:r>
            <a:r>
              <a:rPr lang="zh-CN" altLang="en-US">
                <a:ea typeface="宋体" charset="-122"/>
              </a:rPr>
              <a:t>再重传一次，如果学员已经关机，路由器不能启动，有以下两种方法恢复路由器的</a:t>
            </a:r>
            <a:r>
              <a:rPr lang="en-US" altLang="zh-CN">
                <a:ea typeface="宋体" charset="-122"/>
              </a:rPr>
              <a:t>IOS</a:t>
            </a:r>
            <a:endParaRPr lang="zh-CN" altLang="en-US" sz="1600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方法一：在</a:t>
            </a:r>
            <a:r>
              <a:rPr lang="en-US" altLang="zh-CN">
                <a:ea typeface="宋体" charset="-122"/>
              </a:rPr>
              <a:t>ROMMON</a:t>
            </a:r>
            <a:r>
              <a:rPr lang="zh-CN" altLang="en-US">
                <a:ea typeface="宋体" charset="-122"/>
              </a:rPr>
              <a:t>状态下使用</a:t>
            </a:r>
            <a:r>
              <a:rPr lang="en-US" altLang="zh-CN">
                <a:ea typeface="宋体" charset="-122"/>
              </a:rPr>
              <a:t>TFTP</a:t>
            </a:r>
            <a:r>
              <a:rPr lang="zh-CN" altLang="en-US">
                <a:ea typeface="宋体" charset="-122"/>
              </a:rPr>
              <a:t>方法</a:t>
            </a:r>
            <a:endParaRPr lang="zh-CN" altLang="en-US" sz="1600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rommon1&gt;IP_address=172.15.1.2 </a:t>
            </a:r>
            <a:endParaRPr lang="zh-CN" altLang="en-US" sz="1600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rommon2&gt;IP_Subnet_mask=255.255.255.0 </a:t>
            </a:r>
            <a:endParaRPr lang="zh-CN" altLang="en-US" sz="1600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rommon3&gt;Default_gateway=172.15.1.1 </a:t>
            </a:r>
            <a:endParaRPr lang="zh-CN" altLang="en-US" sz="1600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rommon4&gt;Tftp_server=172.15.1.1(</a:t>
            </a:r>
            <a:r>
              <a:rPr lang="zh-CN" altLang="en-US">
                <a:ea typeface="宋体" charset="-122"/>
              </a:rPr>
              <a:t>存放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文件的主机的</a:t>
            </a:r>
            <a:r>
              <a:rPr lang="en-US" altLang="zh-CN">
                <a:ea typeface="宋体" charset="-122"/>
              </a:rPr>
              <a:t>IP</a:t>
            </a:r>
            <a:r>
              <a:rPr lang="zh-CN" altLang="en-US">
                <a:ea typeface="宋体" charset="-122"/>
              </a:rPr>
              <a:t>地址</a:t>
            </a:r>
            <a:r>
              <a:rPr lang="en-US" altLang="zh-CN">
                <a:ea typeface="宋体" charset="-122"/>
              </a:rPr>
              <a:t>) </a:t>
            </a:r>
            <a:endParaRPr lang="zh-CN" altLang="en-US" sz="1600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rommon5&gt;Tftp_file=c2600-I-mz.bin</a:t>
            </a:r>
            <a:r>
              <a:rPr lang="zh-CN" altLang="en-US">
                <a:ea typeface="宋体" charset="-122"/>
              </a:rPr>
              <a:t>（</a:t>
            </a:r>
            <a:r>
              <a:rPr lang="en-US" altLang="zh-CN">
                <a:ea typeface="宋体" charset="-122"/>
              </a:rPr>
              <a:t>IOS </a:t>
            </a:r>
            <a:r>
              <a:rPr lang="zh-CN" altLang="en-US">
                <a:ea typeface="宋体" charset="-122"/>
              </a:rPr>
              <a:t>文件名） </a:t>
            </a:r>
            <a:endParaRPr lang="zh-CN" altLang="en-US" sz="1600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rommon6&gt;tftpdnld</a:t>
            </a:r>
            <a:endParaRPr lang="zh-CN" altLang="en-US" sz="1600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计算机的以太网接口要与路由器的</a:t>
            </a:r>
            <a:r>
              <a:rPr lang="en-US" altLang="zh-CN">
                <a:ea typeface="宋体" charset="-122"/>
              </a:rPr>
              <a:t>f0/0</a:t>
            </a:r>
            <a:r>
              <a:rPr lang="zh-CN" altLang="en-US">
                <a:ea typeface="宋体" charset="-122"/>
              </a:rPr>
              <a:t>接口连接</a:t>
            </a:r>
            <a:endParaRPr lang="en-US" altLang="zh-CN">
              <a:ea typeface="宋体" charset="-122"/>
            </a:endParaRPr>
          </a:p>
          <a:p>
            <a:r>
              <a:rPr lang="zh-CN" altLang="en-US" sz="1600">
                <a:ea typeface="宋体" charset="-122"/>
              </a:rPr>
              <a:t>使用这种方式恢复</a:t>
            </a:r>
            <a:r>
              <a:rPr lang="en-US" altLang="zh-CN" sz="1600">
                <a:ea typeface="宋体" charset="-122"/>
              </a:rPr>
              <a:t>IOS</a:t>
            </a:r>
            <a:r>
              <a:rPr lang="zh-CN" altLang="en-US" sz="1600">
                <a:ea typeface="宋体" charset="-122"/>
              </a:rPr>
              <a:t>，</a:t>
            </a:r>
            <a:r>
              <a:rPr lang="en-US" altLang="zh-CN" sz="1600">
                <a:ea typeface="宋体" charset="-122"/>
              </a:rPr>
              <a:t>Flash</a:t>
            </a:r>
            <a:r>
              <a:rPr lang="zh-CN" altLang="en-US" sz="1600">
                <a:ea typeface="宋体" charset="-122"/>
              </a:rPr>
              <a:t>将被格式化</a:t>
            </a:r>
            <a:r>
              <a:rPr lang="en-US" altLang="zh-CN" sz="1600">
                <a:ea typeface="宋体" charset="-122"/>
              </a:rPr>
              <a:t>(</a:t>
            </a:r>
            <a:r>
              <a:rPr lang="zh-CN" altLang="en-US" sz="1600">
                <a:ea typeface="宋体" charset="-122"/>
              </a:rPr>
              <a:t>即所有文件都将被删除）。而使用</a:t>
            </a:r>
            <a:r>
              <a:rPr lang="en-US" altLang="zh-CN" sz="1600">
                <a:ea typeface="宋体" charset="-122"/>
              </a:rPr>
              <a:t>tftpdnld –r</a:t>
            </a:r>
            <a:r>
              <a:rPr lang="zh-CN" altLang="en-US" sz="1600">
                <a:ea typeface="宋体" charset="-122"/>
              </a:rPr>
              <a:t>命令恢复</a:t>
            </a:r>
            <a:r>
              <a:rPr lang="en-US" altLang="zh-CN" sz="1600">
                <a:ea typeface="宋体" charset="-122"/>
              </a:rPr>
              <a:t>IOS</a:t>
            </a:r>
            <a:r>
              <a:rPr lang="zh-CN" altLang="en-US" sz="1600">
                <a:ea typeface="宋体" charset="-122"/>
              </a:rPr>
              <a:t>是将</a:t>
            </a:r>
            <a:r>
              <a:rPr lang="en-US" altLang="zh-CN" sz="1600">
                <a:ea typeface="宋体" charset="-122"/>
              </a:rPr>
              <a:t>IOS</a:t>
            </a:r>
            <a:r>
              <a:rPr lang="zh-CN" altLang="en-US" sz="1600">
                <a:ea typeface="宋体" charset="-122"/>
              </a:rPr>
              <a:t>拷贝到</a:t>
            </a:r>
            <a:r>
              <a:rPr lang="en-US" altLang="zh-CN" sz="1600">
                <a:ea typeface="宋体" charset="-122"/>
              </a:rPr>
              <a:t>RAM</a:t>
            </a:r>
            <a:r>
              <a:rPr lang="zh-CN" altLang="en-US" sz="1600">
                <a:ea typeface="宋体" charset="-122"/>
              </a:rPr>
              <a:t>中而不是拷贝到</a:t>
            </a:r>
            <a:r>
              <a:rPr lang="en-US" altLang="zh-CN" sz="1600">
                <a:ea typeface="宋体" charset="-122"/>
              </a:rPr>
              <a:t>Flash</a:t>
            </a:r>
            <a:r>
              <a:rPr lang="zh-CN" altLang="en-US" sz="1600">
                <a:ea typeface="宋体" charset="-122"/>
              </a:rPr>
              <a:t>中，这样</a:t>
            </a:r>
            <a:r>
              <a:rPr lang="en-US" altLang="zh-CN" sz="1600">
                <a:ea typeface="宋体" charset="-122"/>
              </a:rPr>
              <a:t>Flash</a:t>
            </a:r>
            <a:r>
              <a:rPr lang="zh-CN" altLang="en-US" sz="1600">
                <a:ea typeface="宋体" charset="-122"/>
              </a:rPr>
              <a:t>中文件不会丢失，但是在恢复完成</a:t>
            </a:r>
            <a:r>
              <a:rPr lang="en-US" altLang="zh-CN" sz="1600">
                <a:ea typeface="宋体" charset="-122"/>
              </a:rPr>
              <a:t>IOS</a:t>
            </a:r>
            <a:r>
              <a:rPr lang="zh-CN" altLang="en-US" sz="1600">
                <a:ea typeface="宋体" charset="-122"/>
              </a:rPr>
              <a:t>后启动进入特权模式后在</a:t>
            </a:r>
            <a:r>
              <a:rPr lang="en-US" altLang="zh-CN" sz="1600">
                <a:ea typeface="宋体" charset="-122"/>
              </a:rPr>
              <a:t>Flash</a:t>
            </a:r>
            <a:r>
              <a:rPr lang="zh-CN" altLang="en-US" sz="1600">
                <a:ea typeface="宋体" charset="-122"/>
              </a:rPr>
              <a:t>中没有</a:t>
            </a:r>
            <a:r>
              <a:rPr lang="en-US" altLang="zh-CN" sz="1600">
                <a:ea typeface="宋体" charset="-122"/>
              </a:rPr>
              <a:t>IOS</a:t>
            </a:r>
            <a:r>
              <a:rPr lang="zh-CN" altLang="en-US" sz="1600">
                <a:ea typeface="宋体" charset="-122"/>
              </a:rPr>
              <a:t>，需要重新通过</a:t>
            </a:r>
            <a:r>
              <a:rPr lang="en-US" altLang="zh-CN" sz="1600">
                <a:ea typeface="宋体" charset="-122"/>
              </a:rPr>
              <a:t>tftp</a:t>
            </a:r>
            <a:r>
              <a:rPr lang="zh-CN" altLang="en-US" sz="1600">
                <a:ea typeface="宋体" charset="-122"/>
              </a:rPr>
              <a:t>或</a:t>
            </a:r>
            <a:r>
              <a:rPr lang="en-US" altLang="zh-CN" sz="1600">
                <a:ea typeface="宋体" charset="-122"/>
              </a:rPr>
              <a:t>ftp</a:t>
            </a:r>
            <a:r>
              <a:rPr lang="zh-CN" altLang="en-US" sz="1600">
                <a:ea typeface="宋体" charset="-122"/>
              </a:rPr>
              <a:t>进行拷贝，在拷贝前不能重启。</a:t>
            </a:r>
          </a:p>
          <a:p>
            <a:r>
              <a:rPr lang="zh-CN" altLang="en-US">
                <a:ea typeface="宋体" charset="-122"/>
              </a:rPr>
              <a:t>方法二：在</a:t>
            </a:r>
            <a:r>
              <a:rPr lang="en-US" altLang="zh-CN">
                <a:ea typeface="宋体" charset="-122"/>
              </a:rPr>
              <a:t>ROMMON</a:t>
            </a:r>
            <a:r>
              <a:rPr lang="zh-CN" altLang="en-US">
                <a:ea typeface="宋体" charset="-122"/>
              </a:rPr>
              <a:t>状态下使用</a:t>
            </a:r>
            <a:r>
              <a:rPr lang="en-US" altLang="zh-CN">
                <a:ea typeface="宋体" charset="-122"/>
              </a:rPr>
              <a:t>Xmodem</a:t>
            </a:r>
            <a:r>
              <a:rPr lang="zh-CN" altLang="en-US">
                <a:ea typeface="宋体" charset="-122"/>
              </a:rPr>
              <a:t>方式</a:t>
            </a:r>
            <a:endParaRPr lang="zh-CN" altLang="en-US" sz="1600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利用</a:t>
            </a:r>
            <a:r>
              <a:rPr lang="en-US" altLang="zh-CN">
                <a:ea typeface="宋体" charset="-122"/>
              </a:rPr>
              <a:t>Console</a:t>
            </a:r>
            <a:r>
              <a:rPr lang="zh-CN" altLang="en-US">
                <a:ea typeface="宋体" charset="-122"/>
              </a:rPr>
              <a:t>口传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（这种方法很慢）</a:t>
            </a:r>
            <a:endParaRPr lang="zh-CN" altLang="en-US" sz="1600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1</a:t>
            </a:r>
            <a:r>
              <a:rPr lang="zh-CN" altLang="en-US">
                <a:ea typeface="宋体" charset="-122"/>
              </a:rPr>
              <a:t>．在路由器上需要配置命令：</a:t>
            </a:r>
            <a:endParaRPr lang="zh-CN" altLang="en-US" sz="1600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Rommon&gt;confreg </a:t>
            </a:r>
            <a:endParaRPr lang="zh-CN" altLang="en-US" sz="1600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执行</a:t>
            </a:r>
            <a:r>
              <a:rPr lang="en-US" altLang="zh-CN">
                <a:ea typeface="宋体" charset="-122"/>
              </a:rPr>
              <a:t>confreg</a:t>
            </a:r>
            <a:r>
              <a:rPr lang="zh-CN" altLang="en-US">
                <a:ea typeface="宋体" charset="-122"/>
              </a:rPr>
              <a:t>命令后，路由器会进入如下所示的对话模式：</a:t>
            </a:r>
            <a:endParaRPr lang="zh-CN" altLang="en-US" sz="1600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change console baud rate? y/n [n]: y (</a:t>
            </a:r>
            <a:r>
              <a:rPr lang="zh-CN" altLang="en-US">
                <a:ea typeface="宋体" charset="-122"/>
              </a:rPr>
              <a:t>选择 </a:t>
            </a:r>
            <a:r>
              <a:rPr lang="en-US" altLang="zh-CN">
                <a:ea typeface="宋体" charset="-122"/>
              </a:rPr>
              <a:t>yes)</a:t>
            </a:r>
            <a:endParaRPr lang="zh-CN" altLang="en-US" sz="1600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enter rate: 0 = 9600, 1 = 4800, 2 = 1200, 3 = 2400</a:t>
            </a:r>
            <a:endParaRPr lang="zh-CN" altLang="en-US" sz="1600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4 = 19200, 5 = 38400, 6 = 57600, 7 = 115200 [0]: 7</a:t>
            </a:r>
            <a:endParaRPr lang="zh-CN" altLang="en-US" sz="1600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在改变</a:t>
            </a:r>
            <a:r>
              <a:rPr lang="en-US" altLang="zh-CN">
                <a:ea typeface="宋体" charset="-122"/>
              </a:rPr>
              <a:t>Console</a:t>
            </a:r>
            <a:r>
              <a:rPr lang="zh-CN" altLang="en-US">
                <a:ea typeface="宋体" charset="-122"/>
              </a:rPr>
              <a:t>口速率的对话中，将端口速率修改为</a:t>
            </a:r>
            <a:r>
              <a:rPr lang="en-US" altLang="zh-CN">
                <a:ea typeface="宋体" charset="-122"/>
              </a:rPr>
              <a:t>115 200b/s</a:t>
            </a:r>
            <a:endParaRPr lang="zh-CN" altLang="en-US" sz="1600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修改了端口速率之后，再在路由器上执行命令：</a:t>
            </a:r>
            <a:endParaRPr lang="zh-CN" altLang="en-US" sz="1600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xmodem –r                    -r</a:t>
            </a:r>
            <a:r>
              <a:rPr lang="zh-CN" altLang="en-US">
                <a:ea typeface="宋体" charset="-122"/>
              </a:rPr>
              <a:t>参数表示拷贝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到</a:t>
            </a:r>
            <a:r>
              <a:rPr lang="en-US" altLang="zh-CN">
                <a:ea typeface="宋体" charset="-122"/>
              </a:rPr>
              <a:t>RAM</a:t>
            </a:r>
            <a:r>
              <a:rPr lang="zh-CN" altLang="en-US">
                <a:ea typeface="宋体" charset="-122"/>
              </a:rPr>
              <a:t>中，完成后直接通过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启动</a:t>
            </a:r>
            <a:r>
              <a:rPr lang="en-US" altLang="zh-CN">
                <a:ea typeface="宋体" charset="-122"/>
              </a:rPr>
              <a:t>.</a:t>
            </a:r>
          </a:p>
          <a:p>
            <a:r>
              <a:rPr lang="zh-CN" altLang="en-US" sz="1600">
                <a:ea typeface="宋体" charset="-122"/>
              </a:rPr>
              <a:t>拷贝完成启动后在</a:t>
            </a:r>
            <a:r>
              <a:rPr lang="en-US" altLang="zh-CN" sz="1600">
                <a:ea typeface="宋体" charset="-122"/>
              </a:rPr>
              <a:t>flash</a:t>
            </a:r>
            <a:r>
              <a:rPr lang="zh-CN" altLang="en-US" sz="1600">
                <a:ea typeface="宋体" charset="-122"/>
              </a:rPr>
              <a:t>中是没有</a:t>
            </a:r>
            <a:r>
              <a:rPr lang="en-US" altLang="zh-CN" sz="1600">
                <a:ea typeface="宋体" charset="-122"/>
              </a:rPr>
              <a:t>IOS</a:t>
            </a:r>
            <a:r>
              <a:rPr lang="zh-CN" altLang="en-US" sz="1600">
                <a:ea typeface="宋体" charset="-122"/>
              </a:rPr>
              <a:t>的</a:t>
            </a:r>
            <a:r>
              <a:rPr lang="en-US" altLang="zh-CN" sz="1600">
                <a:ea typeface="宋体" charset="-122"/>
              </a:rPr>
              <a:t>,</a:t>
            </a:r>
            <a:r>
              <a:rPr lang="zh-CN" altLang="en-US" sz="1600">
                <a:ea typeface="宋体" charset="-122"/>
              </a:rPr>
              <a:t>需要再次使用</a:t>
            </a:r>
            <a:r>
              <a:rPr lang="en-US" altLang="zh-CN" sz="1600">
                <a:ea typeface="宋体" charset="-122"/>
              </a:rPr>
              <a:t>TFTP</a:t>
            </a:r>
            <a:r>
              <a:rPr lang="zh-CN" altLang="en-US" sz="1600">
                <a:ea typeface="宋体" charset="-122"/>
              </a:rPr>
              <a:t>拷贝</a:t>
            </a:r>
            <a:r>
              <a:rPr lang="en-US" altLang="zh-CN" sz="1600">
                <a:ea typeface="宋体" charset="-122"/>
              </a:rPr>
              <a:t>IOS</a:t>
            </a:r>
            <a:r>
              <a:rPr lang="zh-CN" altLang="en-US" sz="1600">
                <a:ea typeface="宋体" charset="-122"/>
              </a:rPr>
              <a:t>到</a:t>
            </a:r>
            <a:r>
              <a:rPr lang="en-US" altLang="zh-CN" sz="1600">
                <a:ea typeface="宋体" charset="-122"/>
              </a:rPr>
              <a:t>Flash</a:t>
            </a:r>
            <a:r>
              <a:rPr lang="zh-CN" altLang="en-US" sz="1600">
                <a:ea typeface="宋体" charset="-122"/>
              </a:rPr>
              <a:t>中</a:t>
            </a:r>
            <a:r>
              <a:rPr lang="en-US" altLang="zh-CN" sz="1600">
                <a:ea typeface="宋体" charset="-122"/>
              </a:rPr>
              <a:t>.</a:t>
            </a:r>
          </a:p>
          <a:p>
            <a:r>
              <a:rPr lang="zh-CN" altLang="en-US" sz="1600">
                <a:ea typeface="宋体" charset="-122"/>
              </a:rPr>
              <a:t>而使用</a:t>
            </a:r>
            <a:r>
              <a:rPr lang="en-US" altLang="zh-CN" sz="1600">
                <a:ea typeface="宋体" charset="-122"/>
              </a:rPr>
              <a:t>xmodem IOS</a:t>
            </a:r>
            <a:r>
              <a:rPr lang="zh-CN" altLang="en-US" sz="1600">
                <a:ea typeface="宋体" charset="-122"/>
              </a:rPr>
              <a:t>名称，可以将</a:t>
            </a:r>
            <a:r>
              <a:rPr lang="en-US" altLang="zh-CN" sz="1600">
                <a:ea typeface="宋体" charset="-122"/>
              </a:rPr>
              <a:t>IOS</a:t>
            </a:r>
            <a:r>
              <a:rPr lang="zh-CN" altLang="en-US" sz="1600">
                <a:ea typeface="宋体" charset="-122"/>
              </a:rPr>
              <a:t>拷贝到</a:t>
            </a:r>
            <a:r>
              <a:rPr lang="en-US" altLang="zh-CN" sz="1600">
                <a:ea typeface="宋体" charset="-122"/>
              </a:rPr>
              <a:t>flash</a:t>
            </a:r>
            <a:r>
              <a:rPr lang="zh-CN" altLang="en-US" sz="1600">
                <a:ea typeface="宋体" charset="-122"/>
              </a:rPr>
              <a:t>中，但是会格式化</a:t>
            </a:r>
            <a:r>
              <a:rPr lang="en-US" altLang="zh-CN" sz="1600">
                <a:ea typeface="宋体" charset="-122"/>
              </a:rPr>
              <a:t>Flash</a:t>
            </a:r>
            <a:r>
              <a:rPr lang="zh-CN" altLang="en-US" sz="1600">
                <a:ea typeface="宋体" charset="-122"/>
              </a:rPr>
              <a:t>。</a:t>
            </a:r>
          </a:p>
          <a:p>
            <a:r>
              <a:rPr lang="en-US" altLang="zh-CN">
                <a:ea typeface="宋体" charset="-122"/>
              </a:rPr>
              <a:t>2</a:t>
            </a:r>
            <a:r>
              <a:rPr lang="zh-CN" altLang="en-US">
                <a:ea typeface="宋体" charset="-122"/>
              </a:rPr>
              <a:t>．连接计算机的串口与路由器的</a:t>
            </a:r>
            <a:r>
              <a:rPr lang="en-US" altLang="zh-CN">
                <a:ea typeface="宋体" charset="-122"/>
              </a:rPr>
              <a:t>Console</a:t>
            </a:r>
            <a:r>
              <a:rPr lang="zh-CN" altLang="en-US">
                <a:ea typeface="宋体" charset="-122"/>
              </a:rPr>
              <a:t>口，打开超级终端，修改计算机串口的速率为</a:t>
            </a:r>
            <a:r>
              <a:rPr lang="en-US" altLang="zh-CN">
                <a:ea typeface="宋体" charset="-122"/>
              </a:rPr>
              <a:t>115200b/s</a:t>
            </a:r>
            <a:endParaRPr lang="zh-CN" altLang="en-US" sz="1600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之后在菜单中单击“传送”→“发送文件”命令，出现下面的对话框</a:t>
            </a:r>
            <a:endParaRPr lang="zh-CN" altLang="en-US" sz="1600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协议选择</a:t>
            </a:r>
            <a:r>
              <a:rPr lang="en-US" altLang="zh-CN">
                <a:ea typeface="宋体" charset="-122"/>
              </a:rPr>
              <a:t>Xmodem</a:t>
            </a:r>
            <a:r>
              <a:rPr lang="zh-CN" altLang="en-US">
                <a:ea typeface="宋体" charset="-122"/>
              </a:rPr>
              <a:t>，选择要传送到路由器的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，单击“发送”按钮</a:t>
            </a:r>
            <a:endParaRPr lang="en-US" altLang="zh-CN">
              <a:ea typeface="宋体" charset="-122"/>
            </a:endParaRPr>
          </a:p>
          <a:p>
            <a:endParaRPr lang="en-US" altLang="zh-CN">
              <a:ea typeface="宋体" charset="-122"/>
            </a:endParaRPr>
          </a:p>
          <a:p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交换机可以之直接将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拷贝到</a:t>
            </a:r>
            <a:r>
              <a:rPr lang="en-US" altLang="zh-CN">
                <a:ea typeface="宋体" charset="-122"/>
              </a:rPr>
              <a:t>flash</a:t>
            </a:r>
            <a:r>
              <a:rPr lang="zh-CN" altLang="en-US">
                <a:ea typeface="宋体" charset="-122"/>
              </a:rPr>
              <a:t>中，而不格式化</a:t>
            </a:r>
            <a:r>
              <a:rPr lang="en-US" altLang="zh-CN">
                <a:ea typeface="宋体" charset="-122"/>
              </a:rPr>
              <a:t>flash</a:t>
            </a:r>
            <a:r>
              <a:rPr lang="zh-CN" altLang="en-US">
                <a:ea typeface="宋体" charset="-122"/>
              </a:rPr>
              <a:t>。</a:t>
            </a:r>
            <a:endParaRPr lang="en-US" altLang="zh-CN">
              <a:ea typeface="宋体" charset="-122"/>
            </a:endParaRPr>
          </a:p>
          <a:p>
            <a:pPr marL="0" lvl="2"/>
            <a:endParaRPr lang="en-US" altLang="zh-CN">
              <a:ea typeface="宋体" charset="-122"/>
            </a:endParaRPr>
          </a:p>
          <a:p>
            <a:pPr marL="0" lvl="2"/>
            <a:endParaRPr lang="en-US" altLang="zh-CN">
              <a:ea typeface="宋体" charset="-122"/>
            </a:endParaRPr>
          </a:p>
          <a:p>
            <a:pPr marL="0" lvl="2"/>
            <a:r>
              <a:rPr lang="zh-CN" altLang="en-US">
                <a:ea typeface="宋体" charset="-122"/>
              </a:rPr>
              <a:t>可以观看视频。</a:t>
            </a:r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9A88B9-97A2-4116-8BF5-8C2EF4C03FF9}" type="slidenum">
              <a:rPr lang="en-US" altLang="zh-CN" smtClean="0">
                <a:latin typeface="Arial" pitchFamily="34" charset="0"/>
              </a:rPr>
              <a:pPr>
                <a:defRPr/>
              </a:pPr>
              <a:t>21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介绍各种型号设备！</a:t>
            </a:r>
            <a:endParaRPr lang="en-US" altLang="zh-CN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678B5E-BA08-4EA1-9FB9-CB03353F4050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介绍各种型号设备！</a:t>
            </a:r>
            <a:endParaRPr lang="en-US" altLang="zh-CN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1219630-5186-4C4B-BD11-974307CD79FD}" type="slidenum">
              <a:rPr lang="zh-CN" altLang="en-US" smtClean="0"/>
              <a:pPr>
                <a:defRPr/>
              </a:pPr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介绍各种型号设备！</a:t>
            </a:r>
            <a:endParaRPr lang="en-US" altLang="zh-CN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DB0B77-F571-442B-871E-AD1F5C97329E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介绍各种型号设备！</a:t>
            </a:r>
            <a:endParaRPr lang="en-US" altLang="zh-CN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46CB5A-26DF-45DE-BFEC-F591B008AFC1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077472-DCB4-4B95-B856-9E711E312640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本页需要解释背板带宽和转发速率的含义，其他简要说明即可。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E0CB57-1EB8-478A-932E-5B0A6C6CB7EC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73C6232-D118-495D-B844-E75860C4FA1C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E773076-61F1-41D8-8895-9C5DB68CCDF5}" type="slidenum">
              <a:rPr lang="en-US" altLang="zh-CN" smtClean="0">
                <a:latin typeface="Arial" pitchFamily="34" charset="0"/>
              </a:rPr>
              <a:pPr>
                <a:defRPr/>
              </a:pPr>
              <a:t>30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7373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4FE53A6-B7A3-407C-B314-8D7911F31669}" type="slidenum">
              <a:rPr lang="en-US" altLang="zh-CN" sz="1200">
                <a:ea typeface="宋体" charset="-122"/>
              </a:rPr>
              <a:pPr algn="r"/>
              <a:t>30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737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737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 typeface="Wingdings" pitchFamily="2" charset="2"/>
              <a:buNone/>
            </a:pPr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教学指导：</a:t>
            </a:r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xxxxxxx</a:t>
            </a:r>
            <a:endParaRPr lang="zh-CN" altLang="en-US">
              <a:ea typeface="宋体" charset="-122"/>
            </a:endParaRPr>
          </a:p>
          <a:p>
            <a:endParaRPr lang="zh-CN" altLang="en-US">
              <a:ea typeface="宋体" charset="-122"/>
            </a:endParaRPr>
          </a:p>
        </p:txBody>
      </p:sp>
      <p:sp>
        <p:nvSpPr>
          <p:cNvPr id="10445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46F59A-948C-4AEA-AE7E-17CD6FC9343F}" type="slidenum">
              <a:rPr lang="zh-CN" altLang="en-US" smtClean="0">
                <a:ea typeface="宋体" charset="-122"/>
              </a:rPr>
              <a:pPr/>
              <a:t>31</a:t>
            </a:fld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10C762-CB24-4D0F-86CB-909664374342}" type="slidenum">
              <a:rPr lang="en-US" altLang="zh-CN" smtClean="0">
                <a:latin typeface="Arial" pitchFamily="34" charset="0"/>
              </a:rPr>
              <a:pPr>
                <a:defRPr/>
              </a:pPr>
              <a:t>32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7475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E0D45D3-B554-4506-A7A1-8981217DC5CE}" type="slidenum">
              <a:rPr lang="en-US" altLang="zh-CN" sz="1200">
                <a:ea typeface="宋体" charset="-122"/>
              </a:rPr>
              <a:pPr algn="r"/>
              <a:t>32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教学指导：</a:t>
            </a:r>
            <a:endParaRPr lang="en-US" altLang="zh-CN">
              <a:ea typeface="宋体" charset="-122"/>
            </a:endParaRPr>
          </a:p>
          <a:p>
            <a:r>
              <a:rPr lang="en-US" altLang="zh-CN">
                <a:ea typeface="宋体" charset="-122"/>
              </a:rPr>
              <a:t>xxxxxxx</a:t>
            </a:r>
            <a:endParaRPr lang="zh-CN" altLang="en-US">
              <a:ea typeface="宋体" charset="-122"/>
            </a:endParaRPr>
          </a:p>
          <a:p>
            <a:endParaRPr lang="zh-CN" altLang="en-US">
              <a:ea typeface="宋体" charset="-122"/>
            </a:endParaRPr>
          </a:p>
        </p:txBody>
      </p:sp>
      <p:sp>
        <p:nvSpPr>
          <p:cNvPr id="10445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46F59A-948C-4AEA-AE7E-17CD6FC9343F}" type="slidenum">
              <a:rPr lang="zh-CN" altLang="en-US" smtClean="0">
                <a:ea typeface="宋体" charset="-122"/>
              </a:rPr>
              <a:pPr/>
              <a:t>33</a:t>
            </a:fld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1435F71D-641E-4ECC-830F-6558CD869574}" type="slidenum">
              <a:rPr lang="en-US" sz="1400" b="0" strike="noStrike" spc="-1" smtClean="0">
                <a:latin typeface="Times New Roman"/>
              </a:rPr>
              <a:t>35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2068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AA452-31F6-42F1-88E2-2BEAFFB3D008}" type="datetimeFigureOut">
              <a:rPr lang="zh-CN" altLang="en-US" smtClean="0"/>
              <a:t>2021/10/14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6C8-063D-4826-91C2-CB3A25A9B5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61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幻灯片">
    <p:bg bwMode="ltGray">
      <p:bgPr>
        <a:blipFill dpi="0" rotWithShape="0">
          <a:blip r:embed="rId2" cstate="print"/>
          <a:srcRect/>
          <a:stretch>
            <a:fillRect r="-13868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 descr="Fla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6477001" y="6500813"/>
            <a:ext cx="5499100" cy="266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" name="Picture 3" descr="E:\10.14ppt\1.16，S1 S2 Y2模板\s1.jpg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0502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2520" y="6760080"/>
            <a:ext cx="12186720" cy="121320"/>
          </a:xfrm>
          <a:prstGeom prst="rect">
            <a:avLst/>
          </a:prstGeom>
          <a:gradFill rotWithShape="0">
            <a:gsLst>
              <a:gs pos="0">
                <a:srgbClr val="007BF7"/>
              </a:gs>
              <a:gs pos="100000">
                <a:srgbClr val="0BB3E8"/>
              </a:gs>
            </a:gsLst>
            <a:lin ang="360000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/>
          <p:cNvSpPr/>
          <p:nvPr/>
        </p:nvSpPr>
        <p:spPr>
          <a:xfrm>
            <a:off x="334440" y="6515640"/>
            <a:ext cx="672840" cy="204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00000"/>
              </a:lnSpc>
              <a:spcBef>
                <a:spcPts val="666"/>
              </a:spcBef>
            </a:pPr>
            <a:fld id="{BE2697B1-93DF-4FA3-9179-2157CC991DBC}" type="slidenum">
              <a:rPr lang="en-US" sz="1340" b="0" strike="noStrike" spc="-1">
                <a:solidFill>
                  <a:srgbClr val="5A5A5A"/>
                </a:solidFill>
                <a:latin typeface="Myriad Pro"/>
                <a:ea typeface="微软雅黑"/>
              </a:rPr>
              <a:t>‹#›</a:t>
            </a:fld>
            <a:endParaRPr lang="en-US" sz="1340" b="0" strike="noStrike" spc="-1">
              <a:latin typeface="Arial"/>
            </a:endParaRPr>
          </a:p>
        </p:txBody>
      </p:sp>
      <p:sp>
        <p:nvSpPr>
          <p:cNvPr id="44" name="CustomShape 3"/>
          <p:cNvSpPr/>
          <p:nvPr/>
        </p:nvSpPr>
        <p:spPr>
          <a:xfrm>
            <a:off x="0" y="165240"/>
            <a:ext cx="670680" cy="2869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87" r:id="rId13"/>
    <p:sldLayoutId id="214748368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8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wmf"/><Relationship Id="rId4" Type="http://schemas.openxmlformats.org/officeDocument/2006/relationships/image" Target="../media/image9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wmf"/><Relationship Id="rId5" Type="http://schemas.openxmlformats.org/officeDocument/2006/relationships/image" Target="../media/image9.wmf"/><Relationship Id="rId4" Type="http://schemas.openxmlformats.org/officeDocument/2006/relationships/image" Target="../media/image5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 dirty="0"/>
              <a:t>了解路由器的硬件组成</a:t>
            </a:r>
          </a:p>
          <a:p>
            <a:pPr>
              <a:spcBef>
                <a:spcPts val="675"/>
              </a:spcBef>
            </a:pPr>
            <a:r>
              <a:rPr lang="zh-CN" altLang="en-US" dirty="0"/>
              <a:t>掌握路由器的启动过程</a:t>
            </a:r>
          </a:p>
          <a:p>
            <a:pPr>
              <a:spcBef>
                <a:spcPts val="675"/>
              </a:spcBef>
            </a:pPr>
            <a:r>
              <a:rPr lang="zh-CN" altLang="en-US" dirty="0"/>
              <a:t>恢复路由交换设备的密码</a:t>
            </a:r>
          </a:p>
          <a:p>
            <a:pPr>
              <a:spcBef>
                <a:spcPts val="675"/>
              </a:spcBef>
            </a:pPr>
            <a:r>
              <a:rPr lang="zh-CN" altLang="en-US" dirty="0"/>
              <a:t>交换机</a:t>
            </a:r>
            <a:r>
              <a:rPr lang="en-US" altLang="zh-CN" dirty="0"/>
              <a:t>IOS</a:t>
            </a:r>
            <a:r>
              <a:rPr lang="zh-CN" altLang="en-US" dirty="0"/>
              <a:t>备份、恢复、升级</a:t>
            </a:r>
          </a:p>
          <a:p>
            <a:pPr>
              <a:spcBef>
                <a:spcPts val="675"/>
              </a:spcBef>
            </a:pPr>
            <a:r>
              <a:rPr lang="zh-CN" altLang="en-US" dirty="0"/>
              <a:t>了解</a:t>
            </a:r>
            <a:r>
              <a:rPr lang="en-US" altLang="zh-CN" dirty="0"/>
              <a:t>Cisco</a:t>
            </a:r>
            <a:r>
              <a:rPr lang="zh-CN" altLang="en-US" dirty="0"/>
              <a:t>路由器、交换机产品体系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/>
              <a:t>目标</a:t>
            </a:r>
            <a:endParaRPr lang="en-US" altLang="zh-CN" sz="4400" b="1" spc="-1" dirty="0">
              <a:solidFill>
                <a:srgbClr val="4472C4"/>
              </a:solidFill>
              <a:latin typeface="微软雅黑"/>
              <a:ea typeface="微软雅黑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ine 25"/>
          <p:cNvSpPr>
            <a:spLocks noChangeShapeType="1"/>
          </p:cNvSpPr>
          <p:nvPr/>
        </p:nvSpPr>
        <p:spPr bwMode="auto">
          <a:xfrm flipV="1">
            <a:off x="6667501" y="4429125"/>
            <a:ext cx="360363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12293" name="Line 25"/>
          <p:cNvSpPr>
            <a:spLocks noChangeShapeType="1"/>
          </p:cNvSpPr>
          <p:nvPr/>
        </p:nvSpPr>
        <p:spPr bwMode="auto">
          <a:xfrm flipV="1">
            <a:off x="6659563" y="2411414"/>
            <a:ext cx="431800" cy="15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4" name="Line 16"/>
          <p:cNvSpPr>
            <a:spLocks noChangeShapeType="1"/>
          </p:cNvSpPr>
          <p:nvPr/>
        </p:nvSpPr>
        <p:spPr bwMode="auto">
          <a:xfrm>
            <a:off x="6656389" y="1481138"/>
            <a:ext cx="35877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8" name="Line 8"/>
          <p:cNvSpPr>
            <a:spLocks noChangeShapeType="1"/>
          </p:cNvSpPr>
          <p:nvPr/>
        </p:nvSpPr>
        <p:spPr bwMode="auto">
          <a:xfrm flipV="1">
            <a:off x="4238626" y="3357562"/>
            <a:ext cx="2500317" cy="7143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00" name="Line 10"/>
          <p:cNvSpPr>
            <a:spLocks noChangeShapeType="1"/>
          </p:cNvSpPr>
          <p:nvPr/>
        </p:nvSpPr>
        <p:spPr bwMode="auto">
          <a:xfrm>
            <a:off x="3806825" y="3632200"/>
            <a:ext cx="4318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03" name="AutoShape 5"/>
          <p:cNvSpPr>
            <a:spLocks noChangeArrowheads="1"/>
          </p:cNvSpPr>
          <p:nvPr/>
        </p:nvSpPr>
        <p:spPr bwMode="auto">
          <a:xfrm>
            <a:off x="4492626" y="3109374"/>
            <a:ext cx="1971675" cy="646986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en-US" sz="1600" b="1" dirty="0" err="1">
                <a:solidFill>
                  <a:schemeClr val="tx2"/>
                </a:solidFill>
                <a:latin typeface="Arial" pitchFamily="34" charset="0"/>
                <a:ea typeface="楷体_GB2312" pitchFamily="49" charset="-122"/>
              </a:rPr>
              <a:t>路由器、交换机的密码设置与恢复</a:t>
            </a:r>
            <a:endParaRPr lang="zh-CN" altLang="en-US" sz="1600" b="1" dirty="0">
              <a:solidFill>
                <a:schemeClr val="tx2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2305" name="AutoShape 11"/>
          <p:cNvSpPr>
            <a:spLocks noChangeArrowheads="1"/>
          </p:cNvSpPr>
          <p:nvPr/>
        </p:nvSpPr>
        <p:spPr bwMode="auto">
          <a:xfrm>
            <a:off x="6988800" y="2225300"/>
            <a:ext cx="2736000" cy="374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en-US" sz="1600" b="1" dirty="0" err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基础命令介绍</a:t>
            </a:r>
            <a:endParaRPr lang="zh-CN" altLang="en-US" sz="1600" b="1" dirty="0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2307" name="Line 14"/>
          <p:cNvSpPr>
            <a:spLocks noChangeShapeType="1"/>
          </p:cNvSpPr>
          <p:nvPr/>
        </p:nvSpPr>
        <p:spPr bwMode="auto">
          <a:xfrm>
            <a:off x="6667500" y="1498601"/>
            <a:ext cx="0" cy="90011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1" name="AutoShape 4"/>
          <p:cNvSpPr>
            <a:spLocks noChangeArrowheads="1"/>
          </p:cNvSpPr>
          <p:nvPr/>
        </p:nvSpPr>
        <p:spPr bwMode="auto">
          <a:xfrm>
            <a:off x="1820848" y="3458004"/>
            <a:ext cx="2132012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设备管理</a:t>
            </a:r>
          </a:p>
        </p:txBody>
      </p:sp>
      <p:sp>
        <p:nvSpPr>
          <p:cNvPr id="12314" name="Line 36"/>
          <p:cNvSpPr>
            <a:spLocks noChangeShapeType="1"/>
          </p:cNvSpPr>
          <p:nvPr/>
        </p:nvSpPr>
        <p:spPr bwMode="auto">
          <a:xfrm flipH="1">
            <a:off x="4238625" y="1939925"/>
            <a:ext cx="0" cy="370363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6" name="Line 8"/>
          <p:cNvSpPr>
            <a:spLocks noChangeShapeType="1"/>
          </p:cNvSpPr>
          <p:nvPr/>
        </p:nvSpPr>
        <p:spPr bwMode="auto">
          <a:xfrm flipV="1">
            <a:off x="4238626" y="1906907"/>
            <a:ext cx="2428879" cy="45719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7" name="AutoShape 11"/>
          <p:cNvSpPr>
            <a:spLocks noChangeArrowheads="1"/>
          </p:cNvSpPr>
          <p:nvPr/>
        </p:nvSpPr>
        <p:spPr bwMode="auto">
          <a:xfrm>
            <a:off x="6988800" y="1297556"/>
            <a:ext cx="2736000" cy="374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en-US" sz="1600" b="1" dirty="0" err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路由器的内部组件</a:t>
            </a:r>
            <a:endParaRPr lang="zh-CN" altLang="en-US" sz="1600" b="1" dirty="0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2320" name="AutoShape 5"/>
          <p:cNvSpPr>
            <a:spLocks noChangeArrowheads="1"/>
          </p:cNvSpPr>
          <p:nvPr/>
        </p:nvSpPr>
        <p:spPr bwMode="auto">
          <a:xfrm>
            <a:off x="4481514" y="1761245"/>
            <a:ext cx="1971675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en-US" sz="1600" b="1" dirty="0" err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路由器硬件概述</a:t>
            </a:r>
            <a:endParaRPr lang="zh-CN" altLang="en-US" sz="1600" b="1" dirty="0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24" name="Line 8"/>
          <p:cNvSpPr>
            <a:spLocks noChangeShapeType="1"/>
          </p:cNvSpPr>
          <p:nvPr/>
        </p:nvSpPr>
        <p:spPr bwMode="auto">
          <a:xfrm>
            <a:off x="4238626" y="4643438"/>
            <a:ext cx="242887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25" name="AutoShape 5"/>
          <p:cNvSpPr>
            <a:spLocks noChangeArrowheads="1"/>
          </p:cNvSpPr>
          <p:nvPr/>
        </p:nvSpPr>
        <p:spPr bwMode="auto">
          <a:xfrm>
            <a:off x="4481516" y="4352005"/>
            <a:ext cx="1971675" cy="646986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 err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IOS的备份、恢复和升级</a:t>
            </a:r>
            <a:endParaRPr lang="zh-CN" altLang="en-US" sz="1600" b="1" dirty="0" err="1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27" name="AutoShape 27"/>
          <p:cNvSpPr>
            <a:spLocks noChangeArrowheads="1"/>
          </p:cNvSpPr>
          <p:nvPr/>
        </p:nvSpPr>
        <p:spPr bwMode="auto">
          <a:xfrm>
            <a:off x="7043247" y="4705719"/>
            <a:ext cx="2675479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 err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恢复IOS</a:t>
            </a:r>
            <a:endParaRPr lang="zh-CN" altLang="en-US" sz="1600" b="1" dirty="0" err="1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28" name="AutoShape 28"/>
          <p:cNvSpPr>
            <a:spLocks noChangeArrowheads="1"/>
          </p:cNvSpPr>
          <p:nvPr/>
        </p:nvSpPr>
        <p:spPr bwMode="auto">
          <a:xfrm>
            <a:off x="7039000" y="4268876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 err="1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IOS的备份和升级</a:t>
            </a:r>
            <a:endParaRPr lang="zh-CN" altLang="en-US" sz="1600" b="1" dirty="0" err="1">
              <a:solidFill>
                <a:srgbClr val="FF0000"/>
              </a:solidFill>
              <a:latin typeface="Arial" pitchFamily="34" charset="0"/>
              <a:ea typeface="楷体_GB2312" pitchFamily="49" charset="-122"/>
            </a:endParaRPr>
          </a:p>
        </p:txBody>
      </p:sp>
      <p:cxnSp>
        <p:nvCxnSpPr>
          <p:cNvPr id="33" name="直接连接符 32"/>
          <p:cNvCxnSpPr/>
          <p:nvPr/>
        </p:nvCxnSpPr>
        <p:spPr bwMode="auto">
          <a:xfrm rot="5400000">
            <a:off x="6238880" y="4500564"/>
            <a:ext cx="857244" cy="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34" name="Line 25"/>
          <p:cNvSpPr>
            <a:spLocks noChangeShapeType="1"/>
          </p:cNvSpPr>
          <p:nvPr/>
        </p:nvSpPr>
        <p:spPr bwMode="auto">
          <a:xfrm flipV="1">
            <a:off x="6667501" y="4927600"/>
            <a:ext cx="360363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39" name="Line 8"/>
          <p:cNvSpPr>
            <a:spLocks noChangeShapeType="1"/>
          </p:cNvSpPr>
          <p:nvPr/>
        </p:nvSpPr>
        <p:spPr bwMode="auto">
          <a:xfrm>
            <a:off x="4238626" y="5630863"/>
            <a:ext cx="2428875" cy="127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40" name="AutoShape 11"/>
          <p:cNvSpPr>
            <a:spLocks noChangeArrowheads="1"/>
          </p:cNvSpPr>
          <p:nvPr/>
        </p:nvSpPr>
        <p:spPr bwMode="auto">
          <a:xfrm>
            <a:off x="7039000" y="5176936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err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Cisco</a:t>
            </a:r>
            <a:r>
              <a:rPr lang="en-US" altLang="zh-CN" sz="1600" b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路由产品体系</a:t>
            </a:r>
            <a:endParaRPr lang="zh-CN" altLang="en-US" sz="1600" b="1" dirty="0" err="1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41" name="AutoShape 11"/>
          <p:cNvSpPr>
            <a:spLocks noChangeArrowheads="1"/>
          </p:cNvSpPr>
          <p:nvPr/>
        </p:nvSpPr>
        <p:spPr bwMode="auto">
          <a:xfrm>
            <a:off x="7024694" y="3857629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路由器、</a:t>
            </a:r>
            <a:r>
              <a:rPr lang="en-US" altLang="zh-CN" sz="1600" b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交换</a:t>
            </a:r>
            <a:r>
              <a:rPr lang="zh-CN" altLang="en-US" sz="1600" b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机的</a:t>
            </a:r>
            <a:r>
              <a:rPr lang="en-US" altLang="zh-CN" sz="1600" b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IOS</a:t>
            </a:r>
            <a:endParaRPr lang="zh-CN" altLang="en-US" sz="1600" b="1" dirty="0" err="1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42" name="AutoShape 5"/>
          <p:cNvSpPr>
            <a:spLocks noChangeArrowheads="1"/>
          </p:cNvSpPr>
          <p:nvPr/>
        </p:nvSpPr>
        <p:spPr bwMode="auto">
          <a:xfrm>
            <a:off x="4481516" y="5437261"/>
            <a:ext cx="1971675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 err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Cisco设备简介</a:t>
            </a:r>
            <a:endParaRPr lang="zh-CN" altLang="en-US" sz="1600" b="1" dirty="0" err="1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43" name="Line 25"/>
          <p:cNvSpPr>
            <a:spLocks noChangeShapeType="1"/>
          </p:cNvSpPr>
          <p:nvPr/>
        </p:nvSpPr>
        <p:spPr bwMode="auto">
          <a:xfrm flipV="1">
            <a:off x="6667501" y="5357814"/>
            <a:ext cx="360363" cy="15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Arial" pitchFamily="34" charset="0"/>
            </a:endParaRPr>
          </a:p>
        </p:txBody>
      </p:sp>
      <p:cxnSp>
        <p:nvCxnSpPr>
          <p:cNvPr id="44" name="直接连接符 43"/>
          <p:cNvCxnSpPr/>
          <p:nvPr/>
        </p:nvCxnSpPr>
        <p:spPr bwMode="auto">
          <a:xfrm rot="5400000">
            <a:off x="6418263" y="5607050"/>
            <a:ext cx="500062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45" name="Line 25"/>
          <p:cNvSpPr>
            <a:spLocks noChangeShapeType="1"/>
          </p:cNvSpPr>
          <p:nvPr/>
        </p:nvSpPr>
        <p:spPr bwMode="auto">
          <a:xfrm flipV="1">
            <a:off x="6667501" y="5857875"/>
            <a:ext cx="360363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35" name="AutoShape 11"/>
          <p:cNvSpPr>
            <a:spLocks noChangeArrowheads="1"/>
          </p:cNvSpPr>
          <p:nvPr/>
        </p:nvSpPr>
        <p:spPr bwMode="auto">
          <a:xfrm>
            <a:off x="7024694" y="5715017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Cisco</a:t>
            </a:r>
            <a:r>
              <a:rPr lang="zh-CN" altLang="en-US" sz="1600" b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交换</a:t>
            </a:r>
            <a:r>
              <a:rPr lang="en-US" altLang="zh-CN" sz="1600" b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产品体系</a:t>
            </a:r>
            <a:endParaRPr lang="zh-CN" altLang="en-US" sz="1600" b="1" dirty="0" err="1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38" name="Line 25"/>
          <p:cNvSpPr>
            <a:spLocks noChangeShapeType="1"/>
          </p:cNvSpPr>
          <p:nvPr/>
        </p:nvSpPr>
        <p:spPr bwMode="auto">
          <a:xfrm flipV="1">
            <a:off x="6667505" y="4071942"/>
            <a:ext cx="360363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37" name="标题 2"/>
          <p:cNvSpPr>
            <a:spLocks noGrp="1"/>
          </p:cNvSpPr>
          <p:nvPr>
            <p:ph type="title"/>
          </p:nvPr>
        </p:nvSpPr>
        <p:spPr>
          <a:xfrm>
            <a:off x="1752600" y="146032"/>
            <a:ext cx="8763000" cy="639763"/>
          </a:xfrm>
        </p:spPr>
        <p:txBody>
          <a:bodyPr/>
          <a:lstStyle/>
          <a:p>
            <a:r>
              <a:rPr lang="zh-CN" altLang="en-US" dirty="0"/>
              <a:t>本章结构</a:t>
            </a:r>
          </a:p>
        </p:txBody>
      </p:sp>
      <p:sp>
        <p:nvSpPr>
          <p:cNvPr id="36" name="Line 25"/>
          <p:cNvSpPr>
            <a:spLocks noChangeShapeType="1"/>
          </p:cNvSpPr>
          <p:nvPr/>
        </p:nvSpPr>
        <p:spPr bwMode="auto">
          <a:xfrm flipV="1">
            <a:off x="6667504" y="1928803"/>
            <a:ext cx="431800" cy="15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8" name="AutoShape 11"/>
          <p:cNvSpPr>
            <a:spLocks noChangeArrowheads="1"/>
          </p:cNvSpPr>
          <p:nvPr/>
        </p:nvSpPr>
        <p:spPr bwMode="auto">
          <a:xfrm>
            <a:off x="6988800" y="1757451"/>
            <a:ext cx="2736000" cy="374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en-US" sz="1600" b="1" dirty="0" err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Cisco路由器的启动过程</a:t>
            </a:r>
            <a:endParaRPr lang="zh-CN" altLang="en-US" sz="1600" b="1" dirty="0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46" name="Line 25"/>
          <p:cNvSpPr>
            <a:spLocks noChangeShapeType="1"/>
          </p:cNvSpPr>
          <p:nvPr/>
        </p:nvSpPr>
        <p:spPr bwMode="auto">
          <a:xfrm flipV="1">
            <a:off x="6738943" y="3071815"/>
            <a:ext cx="360363" cy="15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Arial" pitchFamily="34" charset="0"/>
            </a:endParaRPr>
          </a:p>
        </p:txBody>
      </p:sp>
      <p:cxnSp>
        <p:nvCxnSpPr>
          <p:cNvPr id="47" name="直接连接符 46"/>
          <p:cNvCxnSpPr/>
          <p:nvPr/>
        </p:nvCxnSpPr>
        <p:spPr bwMode="auto">
          <a:xfrm rot="5400000">
            <a:off x="6489705" y="3321051"/>
            <a:ext cx="500062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48" name="Line 25"/>
          <p:cNvSpPr>
            <a:spLocks noChangeShapeType="1"/>
          </p:cNvSpPr>
          <p:nvPr/>
        </p:nvSpPr>
        <p:spPr bwMode="auto">
          <a:xfrm flipV="1">
            <a:off x="6738943" y="3571876"/>
            <a:ext cx="360363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12308" name="AutoShape 18"/>
          <p:cNvSpPr>
            <a:spLocks noChangeArrowheads="1"/>
          </p:cNvSpPr>
          <p:nvPr/>
        </p:nvSpPr>
        <p:spPr bwMode="auto">
          <a:xfrm>
            <a:off x="7017852" y="2857496"/>
            <a:ext cx="2736000" cy="374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en-US" sz="1600" b="1" dirty="0" err="1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密码设置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与恢复</a:t>
            </a:r>
          </a:p>
        </p:txBody>
      </p:sp>
      <p:sp>
        <p:nvSpPr>
          <p:cNvPr id="12309" name="AutoShape 27"/>
          <p:cNvSpPr>
            <a:spLocks noChangeArrowheads="1"/>
          </p:cNvSpPr>
          <p:nvPr/>
        </p:nvSpPr>
        <p:spPr bwMode="auto">
          <a:xfrm>
            <a:off x="7024694" y="3411790"/>
            <a:ext cx="2736000" cy="374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en-US" sz="1600" b="1" dirty="0" err="1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路由器、交换机的远程管理</a:t>
            </a:r>
            <a:endParaRPr lang="zh-CN" altLang="en-US" sz="1600" b="1" dirty="0">
              <a:solidFill>
                <a:srgbClr val="FF0000"/>
              </a:solidFill>
              <a:latin typeface="Arial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1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" fill="hold"/>
                                        <p:tgtEl>
                                          <p:spTgt spid="12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fill="hold"/>
                                        <p:tgtEl>
                                          <p:spTgt spid="12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"/>
                            </p:stCondLst>
                            <p:childTnLst>
                              <p:par>
                                <p:cTn id="23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" fill="hold"/>
                                        <p:tgtEl>
                                          <p:spTgt spid="12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fill="hold"/>
                                        <p:tgtEl>
                                          <p:spTgt spid="12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7" dur="100"/>
                                        <p:tgtEl>
                                          <p:spTgt spid="1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2" dur="1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7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2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6" dur="100"/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7" dur="100"/>
                                        <p:tgtEl>
                                          <p:spTgt spid="123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00"/>
                                        <p:tgtEl>
                                          <p:spTgt spid="123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1" dur="100"/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2" dur="100"/>
                                        <p:tgtEl>
                                          <p:spTgt spid="123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00"/>
                                        <p:tgtEl>
                                          <p:spTgt spid="123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1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1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1" dur="1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2" dur="1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00"/>
                            </p:stCondLst>
                            <p:childTnLst>
                              <p:par>
                                <p:cTn id="6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9" dur="10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300"/>
                            </p:stCondLst>
                            <p:childTnLst>
                              <p:par>
                                <p:cTn id="86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0" dur="10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00" dur="10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0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10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1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2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2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3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3300"/>
                            </p:stCondLst>
                            <p:childTnLst>
                              <p:par>
                                <p:cTn id="13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9" dur="80"/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0" dur="80"/>
                                        <p:tgtEl>
                                          <p:spTgt spid="12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1" dur="80"/>
                                        <p:tgtEl>
                                          <p:spTgt spid="12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4" dur="80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5" dur="80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" dur="80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9" dur="80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0" dur="80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" dur="80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4" dur="80"/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5" dur="80"/>
                                        <p:tgtEl>
                                          <p:spTgt spid="12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" dur="80"/>
                                        <p:tgtEl>
                                          <p:spTgt spid="12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9" dur="80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60" dur="80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1" dur="80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64" dur="80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65" dur="80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80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69" dur="80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70" dur="80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1" dur="80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4" dur="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75" dur="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" dur="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9" dur="80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0" dur="80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1" dur="80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4" dur="80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5" dur="80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6" dur="80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2293" grpId="0" animBg="1"/>
      <p:bldP spid="12294" grpId="0" animBg="1"/>
      <p:bldP spid="12298" grpId="0" animBg="1"/>
      <p:bldP spid="12300" grpId="0" animBg="1"/>
      <p:bldP spid="12303" grpId="0" animBg="1"/>
      <p:bldP spid="12305" grpId="0" animBg="1"/>
      <p:bldP spid="12307" grpId="0" animBg="1"/>
      <p:bldP spid="12311" grpId="0" animBg="1"/>
      <p:bldP spid="12314" grpId="0" animBg="1"/>
      <p:bldP spid="12316" grpId="0" animBg="1"/>
      <p:bldP spid="12317" grpId="0" animBg="1"/>
      <p:bldP spid="12320" grpId="0" animBg="1"/>
      <p:bldP spid="24" grpId="0" animBg="1"/>
      <p:bldP spid="25" grpId="0" animBg="1"/>
      <p:bldP spid="27" grpId="0" animBg="1"/>
      <p:bldP spid="28" grpId="0" animBg="1"/>
      <p:bldP spid="34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5" grpId="0" animBg="1"/>
      <p:bldP spid="35" grpId="0" animBg="1"/>
      <p:bldP spid="38" grpId="0" animBg="1"/>
      <p:bldP spid="36" grpId="0" animBg="1"/>
      <p:bldP spid="12318" grpId="0" animBg="1"/>
      <p:bldP spid="46" grpId="0" animBg="1"/>
      <p:bldP spid="48" grpId="0" animBg="1"/>
      <p:bldP spid="12308" grpId="0" animBg="1"/>
      <p:bldP spid="1230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路由器、交换机的硬件</a:t>
            </a:r>
          </a:p>
        </p:txBody>
      </p:sp>
      <p:sp>
        <p:nvSpPr>
          <p:cNvPr id="12291" name="内容占位符 22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处理器（</a:t>
            </a:r>
            <a:r>
              <a:rPr lang="en-US" altLang="zh-CN"/>
              <a:t>CPU</a:t>
            </a:r>
            <a:r>
              <a:rPr lang="zh-CN" altLang="en-US"/>
              <a:t>）</a:t>
            </a: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存储器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en-US" altLang="zh-CN"/>
              <a:t>RAM</a:t>
            </a:r>
            <a:r>
              <a:rPr lang="zh-CN" altLang="en-US"/>
              <a:t>：随机访问储存器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en-US" altLang="zh-CN"/>
              <a:t>ROM</a:t>
            </a:r>
            <a:r>
              <a:rPr lang="zh-CN" altLang="en-US"/>
              <a:t>：只读内存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en-US" altLang="zh-CN"/>
              <a:t>Flash</a:t>
            </a:r>
            <a:r>
              <a:rPr lang="zh-CN" altLang="en-US"/>
              <a:t>：闪存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en-US" altLang="zh-CN"/>
              <a:t>NVRAM</a:t>
            </a:r>
            <a:r>
              <a:rPr lang="zh-CN" altLang="en-US"/>
              <a:t>：非易失性随机访问存储器</a:t>
            </a:r>
          </a:p>
          <a:p>
            <a:pPr lvl="2">
              <a:spcBef>
                <a:spcPct val="0"/>
              </a:spcBef>
            </a:pPr>
            <a:r>
              <a:rPr lang="en-US" altLang="zh-CN"/>
              <a:t>Configuration Register</a:t>
            </a:r>
            <a:r>
              <a:rPr lang="zh-CN" altLang="en-US"/>
              <a:t>：配置寄存器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Cisco</a:t>
            </a:r>
            <a:r>
              <a:rPr lang="zh-CN" altLang="en-US"/>
              <a:t>路由器、交换机的启动过程</a:t>
            </a:r>
          </a:p>
        </p:txBody>
      </p:sp>
      <p:sp>
        <p:nvSpPr>
          <p:cNvPr id="13315" name="Rectangle 24"/>
          <p:cNvSpPr>
            <a:spLocks noChangeArrowheads="1"/>
          </p:cNvSpPr>
          <p:nvPr/>
        </p:nvSpPr>
        <p:spPr bwMode="auto">
          <a:xfrm>
            <a:off x="5184775" y="4084639"/>
            <a:ext cx="2185988" cy="1671637"/>
          </a:xfrm>
          <a:prstGeom prst="rect">
            <a:avLst/>
          </a:prstGeom>
          <a:solidFill>
            <a:srgbClr val="F3EF43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3EF43"/>
            </a:extrusionClr>
          </a:sp3d>
        </p:spPr>
        <p:txBody>
          <a:bodyPr wrap="none" anchor="ctr">
            <a:flatTx/>
          </a:bodyPr>
          <a:lstStyle/>
          <a:p>
            <a:pPr algn="ctr"/>
            <a:endParaRPr lang="zh-CN" altLang="en-US" b="1">
              <a:solidFill>
                <a:schemeClr val="tx2"/>
              </a:solidFill>
              <a:ea typeface="宋体" charset="-122"/>
              <a:cs typeface="Arial" charset="0"/>
            </a:endParaRPr>
          </a:p>
        </p:txBody>
      </p:sp>
      <p:sp>
        <p:nvSpPr>
          <p:cNvPr id="13316" name="Rectangle 14"/>
          <p:cNvSpPr>
            <a:spLocks noChangeArrowheads="1"/>
          </p:cNvSpPr>
          <p:nvPr/>
        </p:nvSpPr>
        <p:spPr bwMode="auto">
          <a:xfrm>
            <a:off x="5184775" y="2284414"/>
            <a:ext cx="2185988" cy="1800225"/>
          </a:xfrm>
          <a:prstGeom prst="rect">
            <a:avLst/>
          </a:prstGeom>
          <a:solidFill>
            <a:srgbClr val="CC99FF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99FF"/>
            </a:extrusionClr>
          </a:sp3d>
        </p:spPr>
        <p:txBody>
          <a:bodyPr wrap="none" lIns="103584" tIns="51793" rIns="103584" bIns="51793" anchor="ctr">
            <a:flatTx/>
          </a:bodyPr>
          <a:lstStyle/>
          <a:p>
            <a:pPr algn="ctr"/>
            <a:endParaRPr lang="zh-CN" altLang="en-US" b="1">
              <a:solidFill>
                <a:schemeClr val="tx2"/>
              </a:solidFill>
              <a:cs typeface="Arial" charset="0"/>
            </a:endParaRPr>
          </a:p>
        </p:txBody>
      </p:sp>
      <p:sp>
        <p:nvSpPr>
          <p:cNvPr id="13317" name="Rectangle 7"/>
          <p:cNvSpPr>
            <a:spLocks noChangeArrowheads="1"/>
          </p:cNvSpPr>
          <p:nvPr/>
        </p:nvSpPr>
        <p:spPr bwMode="auto">
          <a:xfrm>
            <a:off x="5184775" y="1924051"/>
            <a:ext cx="2185988" cy="385763"/>
          </a:xfrm>
          <a:prstGeom prst="rect">
            <a:avLst/>
          </a:prstGeom>
          <a:solidFill>
            <a:srgbClr val="00FFFF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FFFF"/>
            </a:extrusionClr>
          </a:sp3d>
        </p:spPr>
        <p:txBody>
          <a:bodyPr wrap="none" anchor="ctr">
            <a:flatTx/>
          </a:bodyPr>
          <a:lstStyle/>
          <a:p>
            <a:pPr algn="ctr"/>
            <a:endParaRPr lang="zh-CN" altLang="en-US" b="1">
              <a:solidFill>
                <a:schemeClr val="tx2"/>
              </a:solidFill>
              <a:cs typeface="Arial" charset="0"/>
            </a:endParaRPr>
          </a:p>
        </p:txBody>
      </p:sp>
      <p:sp>
        <p:nvSpPr>
          <p:cNvPr id="13318" name="AutoShape 6"/>
          <p:cNvSpPr>
            <a:spLocks noChangeArrowheads="1"/>
          </p:cNvSpPr>
          <p:nvPr/>
        </p:nvSpPr>
        <p:spPr bwMode="auto">
          <a:xfrm>
            <a:off x="2613026" y="1951038"/>
            <a:ext cx="1414463" cy="385762"/>
          </a:xfrm>
          <a:prstGeom prst="roundRect">
            <a:avLst>
              <a:gd name="adj" fmla="val 24130"/>
            </a:avLst>
          </a:prstGeom>
          <a:solidFill>
            <a:srgbClr val="00FFFF"/>
          </a:solidFill>
          <a:ln w="25400">
            <a:noFill/>
            <a:round/>
            <a:headEnd/>
            <a:tailEnd/>
          </a:ln>
          <a:effectLst>
            <a:prstShdw prst="shdw17" dist="17961" dir="2700000">
              <a:srgbClr val="009999"/>
            </a:prstShdw>
          </a:effectLst>
        </p:spPr>
        <p:txBody>
          <a:bodyPr wrap="none" lIns="103584" tIns="51793" rIns="103584" bIns="51793" anchor="ctr"/>
          <a:lstStyle/>
          <a:p>
            <a:pPr algn="ctr" defTabSz="1028700" eaLnBrk="0" hangingPunct="0"/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ROM</a:t>
            </a:r>
          </a:p>
        </p:txBody>
      </p:sp>
      <p:sp>
        <p:nvSpPr>
          <p:cNvPr id="13319" name="Rectangle 8"/>
          <p:cNvSpPr>
            <a:spLocks noChangeArrowheads="1"/>
          </p:cNvSpPr>
          <p:nvPr/>
        </p:nvSpPr>
        <p:spPr bwMode="auto">
          <a:xfrm>
            <a:off x="5549901" y="1979613"/>
            <a:ext cx="1457325" cy="32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21431" tIns="30362" rIns="21431" bIns="30362"/>
          <a:lstStyle/>
          <a:p>
            <a:pPr algn="ctr" defTabSz="1028700" eaLnBrk="0" hangingPunct="0">
              <a:lnSpc>
                <a:spcPts val="1800"/>
              </a:lnSpc>
              <a:tabLst>
                <a:tab pos="514350" algn="l"/>
                <a:tab pos="1028700" algn="l"/>
                <a:tab pos="1543050" algn="l"/>
              </a:tabLst>
            </a:pP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Bootstrap</a:t>
            </a:r>
          </a:p>
        </p:txBody>
      </p:sp>
      <p:sp>
        <p:nvSpPr>
          <p:cNvPr id="36" name="Rectangle 9"/>
          <p:cNvSpPr>
            <a:spLocks noChangeArrowheads="1"/>
          </p:cNvSpPr>
          <p:nvPr/>
        </p:nvSpPr>
        <p:spPr bwMode="auto">
          <a:xfrm>
            <a:off x="7608889" y="1893888"/>
            <a:ext cx="29162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21431" tIns="30362" rIns="21431" bIns="30362"/>
          <a:lstStyle/>
          <a:p>
            <a:pPr algn="ctr" defTabSz="1028700" eaLnBrk="0" hangingPunct="0">
              <a:lnSpc>
                <a:spcPts val="2363"/>
              </a:lnSpc>
              <a:tabLst>
                <a:tab pos="514350" algn="l"/>
                <a:tab pos="1028700" algn="l"/>
                <a:tab pos="1543050" algn="l"/>
              </a:tabLst>
              <a:defRPr/>
            </a:pPr>
            <a:r>
              <a:rPr lang="zh-CN" altLang="en-US" sz="2000" b="1" dirty="0">
                <a:solidFill>
                  <a:schemeClr val="tx2"/>
                </a:solidFill>
                <a:cs typeface="Arial" pitchFamily="34" charset="0"/>
              </a:rPr>
              <a:t>加电自检并装载引导代码</a:t>
            </a:r>
          </a:p>
        </p:txBody>
      </p:sp>
      <p:sp>
        <p:nvSpPr>
          <p:cNvPr id="13321" name="AutoShape 11"/>
          <p:cNvSpPr>
            <a:spLocks noChangeArrowheads="1"/>
          </p:cNvSpPr>
          <p:nvPr/>
        </p:nvSpPr>
        <p:spPr bwMode="auto">
          <a:xfrm>
            <a:off x="2998788" y="2979738"/>
            <a:ext cx="1414462" cy="385762"/>
          </a:xfrm>
          <a:prstGeom prst="roundRect">
            <a:avLst>
              <a:gd name="adj" fmla="val 24130"/>
            </a:avLst>
          </a:prstGeom>
          <a:solidFill>
            <a:srgbClr val="CC99FF"/>
          </a:solidFill>
          <a:ln w="25400" algn="ctr">
            <a:noFill/>
            <a:round/>
            <a:headEnd/>
            <a:tailEnd/>
          </a:ln>
          <a:effectLst>
            <a:prstShdw prst="shdw17" dist="17961" dir="2700000">
              <a:srgbClr val="7A7A99"/>
            </a:prstShdw>
          </a:effectLst>
        </p:spPr>
        <p:txBody>
          <a:bodyPr wrap="none" lIns="103584" tIns="51793" rIns="103584" bIns="51793" anchor="ctr"/>
          <a:lstStyle/>
          <a:p>
            <a:pPr algn="ctr" defTabSz="1028700" eaLnBrk="0" hangingPunct="0"/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TFTP Server</a:t>
            </a:r>
          </a:p>
        </p:txBody>
      </p:sp>
      <p:sp>
        <p:nvSpPr>
          <p:cNvPr id="13322" name="AutoShape 12"/>
          <p:cNvSpPr>
            <a:spLocks noChangeArrowheads="1"/>
          </p:cNvSpPr>
          <p:nvPr/>
        </p:nvSpPr>
        <p:spPr bwMode="auto">
          <a:xfrm>
            <a:off x="2613026" y="2465388"/>
            <a:ext cx="1414463" cy="385762"/>
          </a:xfrm>
          <a:prstGeom prst="roundRect">
            <a:avLst>
              <a:gd name="adj" fmla="val 24130"/>
            </a:avLst>
          </a:prstGeom>
          <a:solidFill>
            <a:srgbClr val="CC99FF"/>
          </a:solidFill>
          <a:ln w="25400">
            <a:noFill/>
            <a:round/>
            <a:headEnd/>
            <a:tailEnd/>
          </a:ln>
          <a:effectLst>
            <a:prstShdw prst="shdw17" dist="17961" dir="2700000">
              <a:srgbClr val="7A7A99"/>
            </a:prstShdw>
          </a:effectLst>
        </p:spPr>
        <p:txBody>
          <a:bodyPr wrap="none" lIns="103584" tIns="51793" rIns="103584" bIns="51793" anchor="ctr"/>
          <a:lstStyle/>
          <a:p>
            <a:pPr algn="ctr" defTabSz="1028700" eaLnBrk="0" hangingPunct="0"/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Flash</a:t>
            </a:r>
          </a:p>
        </p:txBody>
      </p:sp>
      <p:sp>
        <p:nvSpPr>
          <p:cNvPr id="13323" name="AutoShape 13"/>
          <p:cNvSpPr>
            <a:spLocks noChangeArrowheads="1"/>
          </p:cNvSpPr>
          <p:nvPr/>
        </p:nvSpPr>
        <p:spPr bwMode="auto">
          <a:xfrm>
            <a:off x="3255963" y="3494088"/>
            <a:ext cx="1414462" cy="385762"/>
          </a:xfrm>
          <a:prstGeom prst="roundRect">
            <a:avLst>
              <a:gd name="adj" fmla="val 24130"/>
            </a:avLst>
          </a:prstGeom>
          <a:solidFill>
            <a:srgbClr val="CC99FF"/>
          </a:solidFill>
          <a:ln w="25400" algn="ctr">
            <a:noFill/>
            <a:round/>
            <a:headEnd/>
            <a:tailEnd/>
          </a:ln>
          <a:effectLst>
            <a:prstShdw prst="shdw17" dist="17961" dir="2700000">
              <a:srgbClr val="7A7A99"/>
            </a:prstShdw>
          </a:effectLst>
        </p:spPr>
        <p:txBody>
          <a:bodyPr wrap="none" lIns="103584" tIns="51793" rIns="103584" bIns="51793" anchor="ctr"/>
          <a:lstStyle/>
          <a:p>
            <a:pPr algn="ctr" defTabSz="1028700" eaLnBrk="0" hangingPunct="0"/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ROM</a:t>
            </a:r>
          </a:p>
        </p:txBody>
      </p:sp>
      <p:sp>
        <p:nvSpPr>
          <p:cNvPr id="13324" name="Rectangle 15"/>
          <p:cNvSpPr>
            <a:spLocks noChangeArrowheads="1"/>
          </p:cNvSpPr>
          <p:nvPr/>
        </p:nvSpPr>
        <p:spPr bwMode="auto">
          <a:xfrm>
            <a:off x="5570538" y="2773364"/>
            <a:ext cx="1414462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21431" tIns="30362" rIns="21431" bIns="30362"/>
          <a:lstStyle/>
          <a:p>
            <a:pPr algn="ctr" defTabSz="1028700" eaLnBrk="0" hangingPunct="0">
              <a:lnSpc>
                <a:spcPts val="1800"/>
              </a:lnSpc>
              <a:tabLst>
                <a:tab pos="514350" algn="l"/>
                <a:tab pos="1028700" algn="l"/>
                <a:tab pos="1543050" algn="l"/>
              </a:tabLst>
            </a:pP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Cisco</a:t>
            </a:r>
          </a:p>
          <a:p>
            <a:pPr algn="ctr" defTabSz="1028700" eaLnBrk="0" hangingPunct="0">
              <a:lnSpc>
                <a:spcPts val="1800"/>
              </a:lnSpc>
              <a:tabLst>
                <a:tab pos="514350" algn="l"/>
                <a:tab pos="1028700" algn="l"/>
                <a:tab pos="1543050" algn="l"/>
              </a:tabLst>
            </a:pP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Internetwork</a:t>
            </a:r>
          </a:p>
          <a:p>
            <a:pPr algn="ctr" defTabSz="1028700" eaLnBrk="0" hangingPunct="0">
              <a:lnSpc>
                <a:spcPts val="1800"/>
              </a:lnSpc>
              <a:tabLst>
                <a:tab pos="514350" algn="l"/>
                <a:tab pos="1028700" algn="l"/>
                <a:tab pos="1543050" algn="l"/>
              </a:tabLst>
            </a:pP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Operating</a:t>
            </a:r>
          </a:p>
          <a:p>
            <a:pPr algn="ctr" defTabSz="1028700" eaLnBrk="0" hangingPunct="0">
              <a:lnSpc>
                <a:spcPts val="1800"/>
              </a:lnSpc>
              <a:tabLst>
                <a:tab pos="514350" algn="l"/>
                <a:tab pos="1028700" algn="l"/>
                <a:tab pos="1543050" algn="l"/>
              </a:tabLst>
            </a:pP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System</a:t>
            </a:r>
          </a:p>
        </p:txBody>
      </p:sp>
      <p:sp>
        <p:nvSpPr>
          <p:cNvPr id="13325" name="Line 16"/>
          <p:cNvSpPr>
            <a:spLocks noChangeShapeType="1"/>
          </p:cNvSpPr>
          <p:nvPr/>
        </p:nvSpPr>
        <p:spPr bwMode="auto">
          <a:xfrm>
            <a:off x="4027489" y="2593975"/>
            <a:ext cx="11572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6" name="Line 17"/>
          <p:cNvSpPr>
            <a:spLocks noChangeShapeType="1"/>
          </p:cNvSpPr>
          <p:nvPr/>
        </p:nvSpPr>
        <p:spPr bwMode="auto">
          <a:xfrm>
            <a:off x="4413251" y="3108325"/>
            <a:ext cx="7715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7" name="Line 18"/>
          <p:cNvSpPr>
            <a:spLocks noChangeShapeType="1"/>
          </p:cNvSpPr>
          <p:nvPr/>
        </p:nvSpPr>
        <p:spPr bwMode="auto">
          <a:xfrm>
            <a:off x="4670425" y="3622675"/>
            <a:ext cx="51435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Rectangle 19"/>
          <p:cNvSpPr>
            <a:spLocks noChangeArrowheads="1"/>
          </p:cNvSpPr>
          <p:nvPr/>
        </p:nvSpPr>
        <p:spPr bwMode="auto">
          <a:xfrm>
            <a:off x="7508875" y="2336801"/>
            <a:ext cx="245745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21431" tIns="30362" rIns="21431" bIns="30362"/>
          <a:lstStyle/>
          <a:p>
            <a:pPr algn="ctr" defTabSz="1028700" eaLnBrk="0" hangingPunct="0">
              <a:tabLst>
                <a:tab pos="514350" algn="l"/>
                <a:tab pos="1028700" algn="l"/>
                <a:tab pos="1543050" algn="l"/>
              </a:tabLst>
              <a:defRPr/>
            </a:pPr>
            <a:r>
              <a:rPr lang="zh-CN" altLang="en-US" sz="2000" b="1" dirty="0">
                <a:solidFill>
                  <a:schemeClr val="tx2"/>
                </a:solidFill>
                <a:cs typeface="Arial" pitchFamily="34" charset="0"/>
              </a:rPr>
              <a:t>发现和装载</a:t>
            </a:r>
            <a:r>
              <a:rPr lang="en-US" altLang="zh-CN" sz="2000" b="1" dirty="0">
                <a:solidFill>
                  <a:schemeClr val="tx2"/>
                </a:solidFill>
                <a:cs typeface="Arial" pitchFamily="34" charset="0"/>
              </a:rPr>
              <a:t>IOS</a:t>
            </a:r>
            <a:r>
              <a:rPr lang="zh-CN" altLang="en-US" sz="2000" b="1" dirty="0">
                <a:solidFill>
                  <a:schemeClr val="tx2"/>
                </a:solidFill>
                <a:cs typeface="Arial" pitchFamily="34" charset="0"/>
              </a:rPr>
              <a:t>软件</a:t>
            </a:r>
            <a:endParaRPr lang="en-US" altLang="zh-CN" sz="2000" b="1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45" name="AutoShape 21"/>
          <p:cNvSpPr>
            <a:spLocks noChangeArrowheads="1"/>
          </p:cNvSpPr>
          <p:nvPr/>
        </p:nvSpPr>
        <p:spPr bwMode="auto">
          <a:xfrm>
            <a:off x="3255963" y="5294313"/>
            <a:ext cx="1414462" cy="385762"/>
          </a:xfrm>
          <a:prstGeom prst="roundRect">
            <a:avLst>
              <a:gd name="adj" fmla="val 24130"/>
            </a:avLst>
          </a:prstGeom>
          <a:solidFill>
            <a:srgbClr val="F3EF43"/>
          </a:solidFill>
          <a:ln w="25400">
            <a:noFill/>
            <a:round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wrap="none" lIns="103584" tIns="51793" rIns="103584" bIns="51793" anchor="ctr"/>
          <a:lstStyle/>
          <a:p>
            <a:pPr algn="ctr" defTabSz="1028700" eaLnBrk="0" hangingPunct="0">
              <a:lnSpc>
                <a:spcPts val="1800"/>
              </a:lnSpc>
              <a:defRPr/>
            </a:pPr>
            <a:r>
              <a:rPr lang="en-US" altLang="zh-CN" b="1">
                <a:solidFill>
                  <a:schemeClr val="tx2"/>
                </a:solidFill>
                <a:ea typeface="宋体" pitchFamily="2" charset="-122"/>
                <a:cs typeface="Arial" pitchFamily="34" charset="0"/>
              </a:rPr>
              <a:t>Console</a:t>
            </a:r>
          </a:p>
        </p:txBody>
      </p:sp>
      <p:sp>
        <p:nvSpPr>
          <p:cNvPr id="46" name="AutoShape 22"/>
          <p:cNvSpPr>
            <a:spLocks noChangeArrowheads="1"/>
          </p:cNvSpPr>
          <p:nvPr/>
        </p:nvSpPr>
        <p:spPr bwMode="auto">
          <a:xfrm>
            <a:off x="2998788" y="4779963"/>
            <a:ext cx="1414462" cy="385762"/>
          </a:xfrm>
          <a:prstGeom prst="roundRect">
            <a:avLst>
              <a:gd name="adj" fmla="val 24130"/>
            </a:avLst>
          </a:prstGeom>
          <a:solidFill>
            <a:srgbClr val="F3EF43"/>
          </a:solidFill>
          <a:ln w="25400">
            <a:noFill/>
            <a:round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wrap="none" lIns="103584" tIns="51793" rIns="103584" bIns="51793" anchor="ctr"/>
          <a:lstStyle/>
          <a:p>
            <a:pPr algn="ctr" defTabSz="1028700" eaLnBrk="0" hangingPunct="0">
              <a:lnSpc>
                <a:spcPts val="1800"/>
              </a:lnSpc>
              <a:defRPr/>
            </a:pPr>
            <a:r>
              <a:rPr lang="en-US" altLang="zh-CN" b="1">
                <a:solidFill>
                  <a:schemeClr val="tx2"/>
                </a:solidFill>
                <a:ea typeface="宋体" pitchFamily="2" charset="-122"/>
                <a:cs typeface="Arial" pitchFamily="34" charset="0"/>
              </a:rPr>
              <a:t>TFTP Server</a:t>
            </a:r>
          </a:p>
        </p:txBody>
      </p:sp>
      <p:sp>
        <p:nvSpPr>
          <p:cNvPr id="47" name="AutoShape 23"/>
          <p:cNvSpPr>
            <a:spLocks noChangeArrowheads="1"/>
          </p:cNvSpPr>
          <p:nvPr/>
        </p:nvSpPr>
        <p:spPr bwMode="auto">
          <a:xfrm>
            <a:off x="2613026" y="4265613"/>
            <a:ext cx="1414463" cy="385762"/>
          </a:xfrm>
          <a:prstGeom prst="roundRect">
            <a:avLst>
              <a:gd name="adj" fmla="val 24130"/>
            </a:avLst>
          </a:prstGeom>
          <a:solidFill>
            <a:srgbClr val="F3EF43"/>
          </a:solidFill>
          <a:ln w="25400">
            <a:noFill/>
            <a:round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wrap="none" lIns="103584" tIns="51793" rIns="103584" bIns="51793" anchor="ctr"/>
          <a:lstStyle/>
          <a:p>
            <a:pPr algn="ctr" defTabSz="1028700" eaLnBrk="0" hangingPunct="0">
              <a:lnSpc>
                <a:spcPts val="1800"/>
              </a:lnSpc>
              <a:defRPr/>
            </a:pPr>
            <a:r>
              <a:rPr lang="en-US" altLang="zh-CN" b="1">
                <a:solidFill>
                  <a:schemeClr val="tx2"/>
                </a:solidFill>
                <a:ea typeface="宋体" pitchFamily="2" charset="-122"/>
                <a:cs typeface="Arial" pitchFamily="34" charset="0"/>
              </a:rPr>
              <a:t>NVRAM</a:t>
            </a:r>
          </a:p>
        </p:txBody>
      </p:sp>
      <p:sp>
        <p:nvSpPr>
          <p:cNvPr id="13332" name="Rectangle 25"/>
          <p:cNvSpPr>
            <a:spLocks noChangeArrowheads="1"/>
          </p:cNvSpPr>
          <p:nvPr/>
        </p:nvSpPr>
        <p:spPr bwMode="auto">
          <a:xfrm>
            <a:off x="5399088" y="4745038"/>
            <a:ext cx="1757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21431" tIns="30362" rIns="21431" bIns="30362"/>
          <a:lstStyle/>
          <a:p>
            <a:pPr algn="ctr" defTabSz="1028700" eaLnBrk="0" hangingPunct="0">
              <a:lnSpc>
                <a:spcPts val="1800"/>
              </a:lnSpc>
              <a:tabLst>
                <a:tab pos="514350" algn="l"/>
                <a:tab pos="1028700" algn="l"/>
                <a:tab pos="1543050" algn="l"/>
              </a:tabLst>
            </a:pP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Configuration</a:t>
            </a:r>
          </a:p>
          <a:p>
            <a:pPr algn="ctr" defTabSz="1028700" eaLnBrk="0" hangingPunct="0">
              <a:lnSpc>
                <a:spcPts val="1800"/>
              </a:lnSpc>
              <a:tabLst>
                <a:tab pos="514350" algn="l"/>
                <a:tab pos="1028700" algn="l"/>
                <a:tab pos="1543050" algn="l"/>
              </a:tabLst>
            </a:pP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File</a:t>
            </a:r>
          </a:p>
        </p:txBody>
      </p:sp>
      <p:sp>
        <p:nvSpPr>
          <p:cNvPr id="13333" name="Line 26"/>
          <p:cNvSpPr>
            <a:spLocks noChangeShapeType="1"/>
          </p:cNvSpPr>
          <p:nvPr/>
        </p:nvSpPr>
        <p:spPr bwMode="auto">
          <a:xfrm>
            <a:off x="4027489" y="4394200"/>
            <a:ext cx="11572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4" name="Line 27"/>
          <p:cNvSpPr>
            <a:spLocks noChangeShapeType="1"/>
          </p:cNvSpPr>
          <p:nvPr/>
        </p:nvSpPr>
        <p:spPr bwMode="auto">
          <a:xfrm>
            <a:off x="4413251" y="4908550"/>
            <a:ext cx="7715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5" name="Line 28"/>
          <p:cNvSpPr>
            <a:spLocks noChangeShapeType="1"/>
          </p:cNvSpPr>
          <p:nvPr/>
        </p:nvSpPr>
        <p:spPr bwMode="auto">
          <a:xfrm>
            <a:off x="4670425" y="5422900"/>
            <a:ext cx="51435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Rectangle 29"/>
          <p:cNvSpPr>
            <a:spLocks noChangeArrowheads="1"/>
          </p:cNvSpPr>
          <p:nvPr/>
        </p:nvSpPr>
        <p:spPr bwMode="auto">
          <a:xfrm>
            <a:off x="7459664" y="4208464"/>
            <a:ext cx="2543175" cy="70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21431" tIns="30362" rIns="21431" bIns="30362"/>
          <a:lstStyle/>
          <a:p>
            <a:pPr algn="ctr" defTabSz="1028700" eaLnBrk="0" hangingPunct="0">
              <a:tabLst>
                <a:tab pos="514350" algn="l"/>
                <a:tab pos="1028700" algn="l"/>
                <a:tab pos="1543050" algn="l"/>
              </a:tabLst>
              <a:defRPr/>
            </a:pPr>
            <a:r>
              <a:rPr lang="zh-CN" altLang="en-US" sz="2000" b="1" dirty="0">
                <a:solidFill>
                  <a:schemeClr val="tx2"/>
                </a:solidFill>
                <a:cs typeface="Arial" pitchFamily="34" charset="0"/>
              </a:rPr>
              <a:t>发现和应用配置文件</a:t>
            </a:r>
          </a:p>
          <a:p>
            <a:pPr algn="ctr" defTabSz="1028700" eaLnBrk="0" hangingPunct="0">
              <a:tabLst>
                <a:tab pos="514350" algn="l"/>
                <a:tab pos="1028700" algn="l"/>
                <a:tab pos="1543050" algn="l"/>
              </a:tabLst>
              <a:defRPr/>
            </a:pPr>
            <a:r>
              <a:rPr lang="zh-CN" altLang="en-US" sz="2000" b="1" dirty="0">
                <a:solidFill>
                  <a:schemeClr val="tx2"/>
                </a:solidFill>
                <a:cs typeface="Arial" pitchFamily="34" charset="0"/>
              </a:rPr>
              <a:t>或进入</a:t>
            </a:r>
            <a:r>
              <a:rPr lang="en-US" altLang="zh-CN" sz="2000" b="1" dirty="0">
                <a:solidFill>
                  <a:schemeClr val="tx2"/>
                </a:solidFill>
                <a:cs typeface="Arial" pitchFamily="34" charset="0"/>
              </a:rPr>
              <a:t>Setup</a:t>
            </a:r>
            <a:r>
              <a:rPr lang="zh-CN" altLang="en-US" sz="2000" b="1" dirty="0">
                <a:solidFill>
                  <a:schemeClr val="tx2"/>
                </a:solidFill>
                <a:cs typeface="Arial" pitchFamily="34" charset="0"/>
              </a:rPr>
              <a:t>模式</a:t>
            </a:r>
          </a:p>
        </p:txBody>
      </p:sp>
      <p:sp>
        <p:nvSpPr>
          <p:cNvPr id="13337" name="Rectangle 4"/>
          <p:cNvSpPr>
            <a:spLocks noChangeArrowheads="1"/>
          </p:cNvSpPr>
          <p:nvPr/>
        </p:nvSpPr>
        <p:spPr bwMode="auto">
          <a:xfrm>
            <a:off x="5786438" y="1347789"/>
            <a:ext cx="914400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21431" tIns="30362" rIns="21431" bIns="30362"/>
          <a:lstStyle/>
          <a:p>
            <a:pPr algn="ctr" defTabSz="1028700" eaLnBrk="0" hangingPunct="0">
              <a:lnSpc>
                <a:spcPts val="2363"/>
              </a:lnSpc>
              <a:tabLst>
                <a:tab pos="514350" algn="l"/>
                <a:tab pos="1028700" algn="l"/>
                <a:tab pos="1543050" algn="l"/>
              </a:tabLst>
            </a:pP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RAM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8"/>
          <p:cNvSpPr>
            <a:spLocks noChangeArrowheads="1"/>
          </p:cNvSpPr>
          <p:nvPr/>
        </p:nvSpPr>
        <p:spPr bwMode="auto">
          <a:xfrm>
            <a:off x="1933576" y="2224089"/>
            <a:ext cx="5732463" cy="1851025"/>
          </a:xfrm>
          <a:prstGeom prst="roundRect">
            <a:avLst>
              <a:gd name="adj" fmla="val 478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 defTabSz="1155700" eaLnBrk="0" hangingPunct="0">
              <a:tabLst>
                <a:tab pos="577850" algn="l"/>
                <a:tab pos="1155700" algn="l"/>
                <a:tab pos="1733550" algn="l"/>
              </a:tabLst>
            </a:pPr>
            <a:r>
              <a:rPr lang="zh-CN" altLang="en-US" sz="1600" b="1">
                <a:solidFill>
                  <a:schemeClr val="tx2"/>
                </a:solidFill>
              </a:rPr>
              <a:t>	--- </a:t>
            </a:r>
            <a:r>
              <a:rPr lang="en-US" altLang="zh-CN" sz="1600" b="1">
                <a:solidFill>
                  <a:schemeClr val="tx2"/>
                </a:solidFill>
              </a:rPr>
              <a:t>System Configuration Dialog ---</a:t>
            </a:r>
          </a:p>
          <a:p>
            <a:pPr marL="95250" lvl="1" defTabSz="1155700" eaLnBrk="0" hangingPunct="0">
              <a:tabLst>
                <a:tab pos="577850" algn="l"/>
                <a:tab pos="1155700" algn="l"/>
                <a:tab pos="1733550" algn="l"/>
              </a:tabLst>
            </a:pPr>
            <a:br>
              <a:rPr lang="en-US" altLang="zh-CN" sz="1600" b="1">
                <a:solidFill>
                  <a:schemeClr val="tx2"/>
                </a:solidFill>
              </a:rPr>
            </a:br>
            <a:r>
              <a:rPr lang="en-US" altLang="zh-CN" sz="1600" b="1">
                <a:solidFill>
                  <a:schemeClr val="tx2"/>
                </a:solidFill>
              </a:rPr>
              <a:t>Continue with configuration dialog? [yes/no]:yes</a:t>
            </a:r>
          </a:p>
          <a:p>
            <a:pPr marL="95250" lvl="1" defTabSz="1155700" eaLnBrk="0" hangingPunct="0">
              <a:tabLst>
                <a:tab pos="577850" algn="l"/>
                <a:tab pos="1155700" algn="l"/>
                <a:tab pos="1733550" algn="l"/>
              </a:tabLst>
            </a:pPr>
            <a:r>
              <a:rPr lang="en-US" altLang="zh-CN" sz="1600" b="1">
                <a:solidFill>
                  <a:schemeClr val="tx2"/>
                </a:solidFill>
              </a:rPr>
              <a:t> </a:t>
            </a:r>
            <a:br>
              <a:rPr lang="en-US" altLang="zh-CN" sz="1600" b="1">
                <a:solidFill>
                  <a:schemeClr val="tx2"/>
                </a:solidFill>
              </a:rPr>
            </a:br>
            <a:r>
              <a:rPr lang="en-US" altLang="zh-CN" sz="1600" b="1">
                <a:solidFill>
                  <a:schemeClr val="tx2"/>
                </a:solidFill>
              </a:rPr>
              <a:t>At any point you may enter a question mark '?' for help.</a:t>
            </a:r>
            <a:br>
              <a:rPr lang="en-US" altLang="zh-CN" sz="1600" b="1">
                <a:solidFill>
                  <a:schemeClr val="tx2"/>
                </a:solidFill>
              </a:rPr>
            </a:br>
            <a:r>
              <a:rPr lang="en-US" altLang="zh-CN" sz="1600" b="1">
                <a:solidFill>
                  <a:schemeClr val="tx2"/>
                </a:solidFill>
              </a:rPr>
              <a:t>Use ctrl-c to abort configuration dialog at any prompt.</a:t>
            </a:r>
            <a:br>
              <a:rPr lang="en-US" altLang="zh-CN" sz="1600" b="1">
                <a:solidFill>
                  <a:schemeClr val="tx2"/>
                </a:solidFill>
              </a:rPr>
            </a:br>
            <a:r>
              <a:rPr lang="en-US" altLang="zh-CN" sz="1600" b="1">
                <a:solidFill>
                  <a:schemeClr val="tx2"/>
                </a:solidFill>
              </a:rPr>
              <a:t>Default settings are in square brackets '[  ]'.</a:t>
            </a:r>
            <a:endParaRPr lang="zh-CN" altLang="en-US" sz="1600" b="1">
              <a:solidFill>
                <a:schemeClr val="tx2"/>
              </a:solidFill>
            </a:endParaRPr>
          </a:p>
        </p:txBody>
      </p:sp>
      <p:sp>
        <p:nvSpPr>
          <p:cNvPr id="14339" name="AutoShape 8"/>
          <p:cNvSpPr>
            <a:spLocks noChangeArrowheads="1"/>
          </p:cNvSpPr>
          <p:nvPr/>
        </p:nvSpPr>
        <p:spPr bwMode="auto">
          <a:xfrm>
            <a:off x="6310313" y="4000501"/>
            <a:ext cx="3249612" cy="1584325"/>
          </a:xfrm>
          <a:prstGeom prst="roundRect">
            <a:avLst>
              <a:gd name="adj" fmla="val 478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 defTabSz="1155700" eaLnBrk="0" hangingPunct="0">
              <a:lnSpc>
                <a:spcPts val="1900"/>
              </a:lnSpc>
              <a:tabLst>
                <a:tab pos="577850" algn="l"/>
                <a:tab pos="1155700" algn="l"/>
                <a:tab pos="1733550" algn="l"/>
              </a:tabLst>
            </a:pPr>
            <a:r>
              <a:rPr lang="en-US" altLang="zh-CN" sz="1600" b="1">
                <a:solidFill>
                  <a:schemeClr val="tx2"/>
                </a:solidFill>
              </a:rPr>
              <a:t>Router con0 is now available</a:t>
            </a:r>
          </a:p>
          <a:p>
            <a:pPr marL="95250" lvl="1" defTabSz="1155700" eaLnBrk="0" hangingPunct="0">
              <a:lnSpc>
                <a:spcPts val="1900"/>
              </a:lnSpc>
              <a:tabLst>
                <a:tab pos="577850" algn="l"/>
                <a:tab pos="1155700" algn="l"/>
                <a:tab pos="1733550" algn="l"/>
              </a:tabLst>
            </a:pPr>
            <a:endParaRPr lang="en-US" altLang="zh-CN" sz="1600" b="1">
              <a:solidFill>
                <a:schemeClr val="tx2"/>
              </a:solidFill>
            </a:endParaRPr>
          </a:p>
          <a:p>
            <a:pPr marL="95250" lvl="1" defTabSz="1155700" eaLnBrk="0" hangingPunct="0">
              <a:lnSpc>
                <a:spcPts val="1900"/>
              </a:lnSpc>
              <a:tabLst>
                <a:tab pos="577850" algn="l"/>
                <a:tab pos="1155700" algn="l"/>
                <a:tab pos="1733550" algn="l"/>
              </a:tabLst>
            </a:pPr>
            <a:r>
              <a:rPr lang="en-US" altLang="zh-CN" sz="1600" b="1">
                <a:solidFill>
                  <a:schemeClr val="tx2"/>
                </a:solidFill>
              </a:rPr>
              <a:t>Press RETURN to get started.</a:t>
            </a:r>
          </a:p>
          <a:p>
            <a:pPr marL="95250" lvl="1" defTabSz="1155700" eaLnBrk="0" hangingPunct="0">
              <a:lnSpc>
                <a:spcPts val="1900"/>
              </a:lnSpc>
              <a:tabLst>
                <a:tab pos="577850" algn="l"/>
                <a:tab pos="1155700" algn="l"/>
                <a:tab pos="1733550" algn="l"/>
              </a:tabLst>
            </a:pPr>
            <a:endParaRPr lang="en-US" altLang="zh-CN" sz="1600" b="1">
              <a:solidFill>
                <a:schemeClr val="tx2"/>
              </a:solidFill>
            </a:endParaRPr>
          </a:p>
          <a:p>
            <a:pPr marL="95250" lvl="1" defTabSz="1155700" eaLnBrk="0" hangingPunct="0">
              <a:lnSpc>
                <a:spcPts val="1900"/>
              </a:lnSpc>
              <a:tabLst>
                <a:tab pos="577850" algn="l"/>
                <a:tab pos="1155700" algn="l"/>
                <a:tab pos="1733550" algn="l"/>
              </a:tabLst>
            </a:pPr>
            <a:endParaRPr lang="en-US" altLang="zh-CN" sz="1600" b="1">
              <a:solidFill>
                <a:schemeClr val="tx2"/>
              </a:solidFill>
            </a:endParaRPr>
          </a:p>
          <a:p>
            <a:pPr marL="95250" lvl="1" defTabSz="1155700" eaLnBrk="0" hangingPunct="0">
              <a:lnSpc>
                <a:spcPts val="1900"/>
              </a:lnSpc>
              <a:tabLst>
                <a:tab pos="577850" algn="l"/>
                <a:tab pos="1155700" algn="l"/>
                <a:tab pos="1733550" algn="l"/>
              </a:tabLst>
            </a:pPr>
            <a:r>
              <a:rPr lang="en-US" altLang="zh-CN" sz="1600" b="1">
                <a:solidFill>
                  <a:schemeClr val="tx2"/>
                </a:solidFill>
              </a:rPr>
              <a:t>Router&gt;</a:t>
            </a:r>
          </a:p>
        </p:txBody>
      </p:sp>
      <p:sp>
        <p:nvSpPr>
          <p:cNvPr id="14340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路由器启动时的输出内容</a:t>
            </a:r>
          </a:p>
        </p:txBody>
      </p:sp>
      <p:sp>
        <p:nvSpPr>
          <p:cNvPr id="14341" name="AutoShape 52"/>
          <p:cNvSpPr>
            <a:spLocks noChangeArrowheads="1"/>
          </p:cNvSpPr>
          <p:nvPr/>
        </p:nvSpPr>
        <p:spPr bwMode="auto">
          <a:xfrm>
            <a:off x="3810000" y="4429126"/>
            <a:ext cx="1944688" cy="504825"/>
          </a:xfrm>
          <a:prstGeom prst="wedgeRoundRectCallout">
            <a:avLst>
              <a:gd name="adj1" fmla="val 46653"/>
              <a:gd name="adj2" fmla="val -131444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Setup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模式</a:t>
            </a:r>
          </a:p>
        </p:txBody>
      </p:sp>
      <p:sp>
        <p:nvSpPr>
          <p:cNvPr id="14342" name="AutoShape 53"/>
          <p:cNvSpPr>
            <a:spLocks noChangeArrowheads="1"/>
          </p:cNvSpPr>
          <p:nvPr/>
        </p:nvSpPr>
        <p:spPr bwMode="auto">
          <a:xfrm>
            <a:off x="3810000" y="5357814"/>
            <a:ext cx="1944688" cy="504825"/>
          </a:xfrm>
          <a:prstGeom prst="wedgeRoundRectCallout">
            <a:avLst>
              <a:gd name="adj1" fmla="val 84694"/>
              <a:gd name="adj2" fmla="val -55662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命令行模式</a:t>
            </a:r>
          </a:p>
        </p:txBody>
      </p:sp>
      <p:grpSp>
        <p:nvGrpSpPr>
          <p:cNvPr id="2" name="组合 52"/>
          <p:cNvGrpSpPr>
            <a:grpSpLocks/>
          </p:cNvGrpSpPr>
          <p:nvPr/>
        </p:nvGrpSpPr>
        <p:grpSpPr bwMode="auto">
          <a:xfrm>
            <a:off x="5014914" y="946151"/>
            <a:ext cx="5132387" cy="1287463"/>
            <a:chOff x="3490913" y="946116"/>
            <a:chExt cx="5132387" cy="1287475"/>
          </a:xfrm>
        </p:grpSpPr>
        <p:pic>
          <p:nvPicPr>
            <p:cNvPr id="14344" name="Picture 4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805227" y="1274733"/>
              <a:ext cx="896937" cy="544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345" name="Text Box 6"/>
            <p:cNvSpPr txBox="1">
              <a:spLocks noChangeArrowheads="1"/>
            </p:cNvSpPr>
            <p:nvPr/>
          </p:nvSpPr>
          <p:spPr bwMode="auto">
            <a:xfrm>
              <a:off x="3490913" y="1785912"/>
              <a:ext cx="1454150" cy="33814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Console</a:t>
              </a:r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接口</a:t>
              </a:r>
            </a:p>
          </p:txBody>
        </p:sp>
        <p:pic>
          <p:nvPicPr>
            <p:cNvPr id="14346" name="Picture 1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602538" y="1030253"/>
              <a:ext cx="935037" cy="885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347" name="Text Box 7"/>
            <p:cNvSpPr txBox="1">
              <a:spLocks noChangeArrowheads="1"/>
            </p:cNvSpPr>
            <p:nvPr/>
          </p:nvSpPr>
          <p:spPr bwMode="auto">
            <a:xfrm>
              <a:off x="7419975" y="1895450"/>
              <a:ext cx="1203325" cy="33814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COM</a:t>
              </a:r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接口</a:t>
              </a:r>
            </a:p>
          </p:txBody>
        </p:sp>
        <p:sp>
          <p:nvSpPr>
            <p:cNvPr id="44" name="Freeform 4"/>
            <p:cNvSpPr>
              <a:spLocks/>
            </p:cNvSpPr>
            <p:nvPr/>
          </p:nvSpPr>
          <p:spPr bwMode="auto">
            <a:xfrm>
              <a:off x="4676775" y="946116"/>
              <a:ext cx="3024188" cy="1163649"/>
            </a:xfrm>
            <a:custGeom>
              <a:avLst/>
              <a:gdLst/>
              <a:ahLst/>
              <a:cxnLst>
                <a:cxn ang="0">
                  <a:pos x="0" y="370"/>
                </a:cxn>
                <a:cxn ang="0">
                  <a:pos x="953" y="53"/>
                </a:cxn>
                <a:cxn ang="0">
                  <a:pos x="817" y="688"/>
                </a:cxn>
                <a:cxn ang="0">
                  <a:pos x="1905" y="325"/>
                </a:cxn>
              </a:cxnLst>
              <a:rect l="0" t="0" r="r" b="b"/>
              <a:pathLst>
                <a:path w="1905" h="733">
                  <a:moveTo>
                    <a:pt x="0" y="370"/>
                  </a:moveTo>
                  <a:cubicBezTo>
                    <a:pt x="408" y="185"/>
                    <a:pt x="817" y="0"/>
                    <a:pt x="953" y="53"/>
                  </a:cubicBezTo>
                  <a:cubicBezTo>
                    <a:pt x="1089" y="106"/>
                    <a:pt x="658" y="643"/>
                    <a:pt x="817" y="688"/>
                  </a:cubicBezTo>
                  <a:cubicBezTo>
                    <a:pt x="976" y="733"/>
                    <a:pt x="1693" y="386"/>
                    <a:pt x="1905" y="325"/>
                  </a:cubicBezTo>
                </a:path>
              </a:pathLst>
            </a:custGeom>
            <a:noFill/>
            <a:ln w="31750" cap="flat" cmpd="sng">
              <a:solidFill>
                <a:srgbClr val="E02708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pPr>
                <a:defRPr/>
              </a:pPr>
              <a:endParaRPr lang="zh-CN" altLang="en-US" sz="1600" b="1">
                <a:solidFill>
                  <a:schemeClr val="tx2"/>
                </a:solidFill>
                <a:latin typeface="+mj-lt"/>
              </a:endParaRPr>
            </a:p>
          </p:txBody>
        </p:sp>
        <p:sp>
          <p:nvSpPr>
            <p:cNvPr id="14349" name="Text Box 5"/>
            <p:cNvSpPr txBox="1">
              <a:spLocks noChangeArrowheads="1"/>
            </p:cNvSpPr>
            <p:nvPr/>
          </p:nvSpPr>
          <p:spPr bwMode="auto">
            <a:xfrm>
              <a:off x="5484813" y="1373158"/>
              <a:ext cx="1211262" cy="33814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Console</a:t>
              </a:r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线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内容占位符 1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查看当前运行配置</a:t>
            </a:r>
            <a:endParaRPr lang="en-US" altLang="zh-CN"/>
          </a:p>
          <a:p>
            <a:pPr lvl="1">
              <a:lnSpc>
                <a:spcPts val="2400"/>
              </a:lnSpc>
              <a:spcBef>
                <a:spcPts val="675"/>
              </a:spcBef>
            </a:pPr>
            <a:endParaRPr lang="en-US" altLang="zh-CN"/>
          </a:p>
          <a:p>
            <a:pPr lvl="1">
              <a:spcBef>
                <a:spcPts val="675"/>
              </a:spcBef>
            </a:pPr>
            <a:r>
              <a:rPr lang="en-US" altLang="zh-CN"/>
              <a:t>running-config</a:t>
            </a:r>
            <a:r>
              <a:rPr lang="zh-CN" altLang="en-US"/>
              <a:t>运行在</a:t>
            </a:r>
            <a:r>
              <a:rPr lang="en-US" altLang="zh-CN"/>
              <a:t>RAM</a:t>
            </a:r>
            <a:r>
              <a:rPr lang="zh-CN" altLang="en-US"/>
              <a:t>中</a:t>
            </a: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查看保存的配置信息</a:t>
            </a:r>
            <a:endParaRPr lang="en-US" altLang="zh-CN"/>
          </a:p>
          <a:p>
            <a:pPr>
              <a:lnSpc>
                <a:spcPts val="2600"/>
              </a:lnSpc>
              <a:spcBef>
                <a:spcPts val="675"/>
              </a:spcBef>
            </a:pPr>
            <a:endParaRPr lang="en-US" altLang="zh-CN"/>
          </a:p>
          <a:p>
            <a:pPr lvl="1">
              <a:spcBef>
                <a:spcPts val="675"/>
              </a:spcBef>
            </a:pPr>
            <a:r>
              <a:rPr lang="en-US" altLang="zh-CN"/>
              <a:t>startup-config</a:t>
            </a:r>
            <a:r>
              <a:rPr lang="zh-CN" altLang="en-US"/>
              <a:t>保存在</a:t>
            </a:r>
            <a:r>
              <a:rPr lang="en-US" altLang="zh-CN"/>
              <a:t>NVRAM</a:t>
            </a:r>
            <a:r>
              <a:rPr lang="zh-CN" altLang="en-US"/>
              <a:t>中</a:t>
            </a:r>
          </a:p>
        </p:txBody>
      </p:sp>
      <p:sp>
        <p:nvSpPr>
          <p:cNvPr id="15363" name="标题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基础命令介绍</a:t>
            </a:r>
            <a:r>
              <a:rPr lang="en-US" altLang="zh-CN"/>
              <a:t>2-1</a:t>
            </a:r>
            <a:endParaRPr lang="zh-CN" altLang="en-US"/>
          </a:p>
        </p:txBody>
      </p:sp>
      <p:sp>
        <p:nvSpPr>
          <p:cNvPr id="15364" name="AutoShape 16"/>
          <p:cNvSpPr>
            <a:spLocks noChangeArrowheads="1"/>
          </p:cNvSpPr>
          <p:nvPr/>
        </p:nvSpPr>
        <p:spPr bwMode="auto">
          <a:xfrm>
            <a:off x="2109788" y="1649414"/>
            <a:ext cx="7848600" cy="395287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</a:t>
            </a:r>
            <a:r>
              <a:rPr lang="en-US" altLang="zh-CN" b="1">
                <a:solidFill>
                  <a:schemeClr val="tx2"/>
                </a:solidFill>
              </a:rPr>
              <a:t>witch# </a:t>
            </a:r>
            <a:r>
              <a:rPr lang="en-US" altLang="en-US" b="1">
                <a:solidFill>
                  <a:srgbClr val="FF0000"/>
                </a:solidFill>
              </a:rPr>
              <a:t>show running-config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" name="AutoShape 16"/>
          <p:cNvSpPr>
            <a:spLocks noChangeArrowheads="1"/>
          </p:cNvSpPr>
          <p:nvPr/>
        </p:nvSpPr>
        <p:spPr bwMode="auto">
          <a:xfrm>
            <a:off x="2109788" y="3048000"/>
            <a:ext cx="7848600" cy="395288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</a:t>
            </a:r>
            <a:r>
              <a:rPr lang="en-US" altLang="zh-CN" b="1">
                <a:solidFill>
                  <a:schemeClr val="tx2"/>
                </a:solidFill>
              </a:rPr>
              <a:t>witch# </a:t>
            </a:r>
            <a:r>
              <a:rPr lang="en-US" altLang="en-US" b="1">
                <a:solidFill>
                  <a:srgbClr val="FF0000"/>
                </a:solidFill>
              </a:rPr>
              <a:t>show startup-config</a:t>
            </a:r>
            <a:endParaRPr lang="zh-CN" altLang="en-US" b="1">
              <a:solidFill>
                <a:srgbClr val="FF0000"/>
              </a:solidFill>
            </a:endParaRPr>
          </a:p>
        </p:txBody>
      </p:sp>
      <p:grpSp>
        <p:nvGrpSpPr>
          <p:cNvPr id="2" name="组合 9"/>
          <p:cNvGrpSpPr>
            <a:grpSpLocks/>
          </p:cNvGrpSpPr>
          <p:nvPr/>
        </p:nvGrpSpPr>
        <p:grpSpPr bwMode="auto">
          <a:xfrm>
            <a:off x="2109788" y="2481263"/>
            <a:ext cx="7848600" cy="3848100"/>
            <a:chOff x="585788" y="2119395"/>
            <a:chExt cx="7848600" cy="3847207"/>
          </a:xfrm>
        </p:grpSpPr>
        <p:sp>
          <p:nvSpPr>
            <p:cNvPr id="15370" name="AutoShape 16"/>
            <p:cNvSpPr>
              <a:spLocks noChangeArrowheads="1"/>
            </p:cNvSpPr>
            <p:nvPr/>
          </p:nvSpPr>
          <p:spPr bwMode="auto">
            <a:xfrm>
              <a:off x="585788" y="2119395"/>
              <a:ext cx="7848600" cy="3847207"/>
            </a:xfrm>
            <a:prstGeom prst="roundRect">
              <a:avLst>
                <a:gd name="adj" fmla="val 1269"/>
              </a:avLst>
            </a:prstGeom>
            <a:gradFill rotWithShape="1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95250" lvl="1"/>
              <a:r>
                <a:rPr lang="en-US" altLang="en-US" sz="1600" b="1">
                  <a:solidFill>
                    <a:schemeClr val="tx2"/>
                  </a:solidFill>
                </a:rPr>
                <a:t>sw1#</a:t>
              </a:r>
              <a:r>
                <a:rPr lang="en-US" altLang="en-US" sz="1600" b="1">
                  <a:solidFill>
                    <a:srgbClr val="FF0000"/>
                  </a:solidFill>
                </a:rPr>
                <a:t>sh run</a:t>
              </a:r>
              <a:endParaRPr lang="zh-CN" altLang="en-US" sz="1600" b="1">
                <a:solidFill>
                  <a:srgbClr val="FF0000"/>
                </a:solidFill>
              </a:endParaRPr>
            </a:p>
            <a:p>
              <a:pPr marL="95250" lvl="1"/>
              <a:r>
                <a:rPr lang="en-US" altLang="en-US" sz="1600" b="1">
                  <a:solidFill>
                    <a:schemeClr val="tx2"/>
                  </a:solidFill>
                </a:rPr>
                <a:t>Building configuration</a:t>
              </a:r>
              <a:r>
                <a:rPr lang="en-US" altLang="zh-CN" sz="1600" b="1">
                  <a:solidFill>
                    <a:schemeClr val="tx2"/>
                  </a:solidFill>
                </a:rPr>
                <a:t>……</a:t>
              </a:r>
            </a:p>
            <a:p>
              <a:pPr marL="95250" lvl="1"/>
              <a:r>
                <a:rPr lang="en-US" altLang="en-US" sz="1600" b="1">
                  <a:solidFill>
                    <a:schemeClr val="tx2"/>
                  </a:solidFill>
                </a:rPr>
                <a:t>Current configuration : 887 bytes</a:t>
              </a:r>
              <a:endParaRPr lang="zh-CN" altLang="en-US" sz="1600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sz="1600" b="1">
                  <a:solidFill>
                    <a:schemeClr val="tx2"/>
                  </a:solidFill>
                </a:rPr>
                <a:t>!</a:t>
              </a:r>
              <a:endParaRPr lang="zh-CN" altLang="en-US" sz="1600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sz="1600" b="1">
                  <a:solidFill>
                    <a:schemeClr val="tx2"/>
                  </a:solidFill>
                </a:rPr>
                <a:t>version 12.4</a:t>
              </a:r>
              <a:endParaRPr lang="zh-CN" altLang="en-US" sz="1600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sz="1600" b="1">
                  <a:solidFill>
                    <a:schemeClr val="tx2"/>
                  </a:solidFill>
                </a:rPr>
                <a:t>service timestamps debug datetime msec</a:t>
              </a:r>
              <a:endParaRPr lang="zh-CN" altLang="en-US" sz="1600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sz="1600" b="1">
                  <a:solidFill>
                    <a:schemeClr val="tx2"/>
                  </a:solidFill>
                </a:rPr>
                <a:t>service timestamps log datetime msec</a:t>
              </a:r>
              <a:endParaRPr lang="zh-CN" altLang="en-US" sz="1600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sz="1600" b="1">
                  <a:solidFill>
                    <a:schemeClr val="tx2"/>
                  </a:solidFill>
                </a:rPr>
                <a:t>no service password-encryption</a:t>
              </a:r>
              <a:endParaRPr lang="zh-CN" altLang="en-US" sz="1600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sz="1600" b="1">
                  <a:solidFill>
                    <a:schemeClr val="tx2"/>
                  </a:solidFill>
                </a:rPr>
                <a:t>!</a:t>
              </a:r>
              <a:endParaRPr lang="zh-CN" altLang="en-US" sz="1600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sz="1600" b="1">
                  <a:solidFill>
                    <a:srgbClr val="FF0000"/>
                  </a:solidFill>
                </a:rPr>
                <a:t>hostname </a:t>
              </a:r>
              <a:r>
                <a:rPr lang="en-US" altLang="zh-CN" sz="1600" b="1">
                  <a:solidFill>
                    <a:srgbClr val="FF0000"/>
                  </a:solidFill>
                </a:rPr>
                <a:t>sw1</a:t>
              </a:r>
              <a:endParaRPr lang="zh-CN" altLang="en-US" sz="1600" b="1">
                <a:solidFill>
                  <a:srgbClr val="FF0000"/>
                </a:solidFill>
              </a:endParaRPr>
            </a:p>
            <a:p>
              <a:pPr marL="95250" lvl="1"/>
              <a:r>
                <a:rPr lang="en-US" altLang="en-US" sz="1600" b="1">
                  <a:solidFill>
                    <a:schemeClr val="tx2"/>
                  </a:solidFill>
                </a:rPr>
                <a:t>!</a:t>
              </a:r>
              <a:endParaRPr lang="zh-CN" altLang="en-US" sz="1600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sz="1600" b="1">
                  <a:solidFill>
                    <a:schemeClr val="tx2"/>
                  </a:solidFill>
                </a:rPr>
                <a:t>boot-start-marker</a:t>
              </a:r>
              <a:endParaRPr lang="zh-CN" altLang="en-US" sz="1600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sz="1600" b="1">
                  <a:solidFill>
                    <a:schemeClr val="tx2"/>
                  </a:solidFill>
                </a:rPr>
                <a:t>boot-end-marker</a:t>
              </a:r>
              <a:endParaRPr lang="zh-CN" altLang="en-US" sz="1600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sz="1600" b="1">
                  <a:solidFill>
                    <a:schemeClr val="tx2"/>
                  </a:solidFill>
                </a:rPr>
                <a:t>!</a:t>
              </a:r>
              <a:endParaRPr lang="zh-CN" altLang="en-US" sz="1600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sz="1600" b="1">
                  <a:solidFill>
                    <a:schemeClr val="tx2"/>
                  </a:solidFill>
                </a:rPr>
                <a:t>--More--</a:t>
              </a:r>
              <a:endParaRPr lang="zh-CN" altLang="en-US" sz="1600" b="1">
                <a:solidFill>
                  <a:schemeClr val="tx2"/>
                </a:solidFill>
              </a:endParaRPr>
            </a:p>
          </p:txBody>
        </p:sp>
        <p:sp>
          <p:nvSpPr>
            <p:cNvPr id="15371" name="AutoShape 19"/>
            <p:cNvSpPr>
              <a:spLocks noChangeArrowheads="1"/>
            </p:cNvSpPr>
            <p:nvPr/>
          </p:nvSpPr>
          <p:spPr bwMode="auto">
            <a:xfrm>
              <a:off x="2643174" y="4795076"/>
              <a:ext cx="1428760" cy="642942"/>
            </a:xfrm>
            <a:prstGeom prst="wedgeRoundRectCallout">
              <a:avLst>
                <a:gd name="adj1" fmla="val -78241"/>
                <a:gd name="adj2" fmla="val -95921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配置的交换机名称</a:t>
              </a:r>
            </a:p>
          </p:txBody>
        </p:sp>
        <p:sp>
          <p:nvSpPr>
            <p:cNvPr id="15372" name="AutoShape 19"/>
            <p:cNvSpPr>
              <a:spLocks noChangeArrowheads="1"/>
            </p:cNvSpPr>
            <p:nvPr/>
          </p:nvSpPr>
          <p:spPr bwMode="auto">
            <a:xfrm>
              <a:off x="2357422" y="2518584"/>
              <a:ext cx="1276360" cy="347666"/>
            </a:xfrm>
            <a:prstGeom prst="wedgeRoundRectCallout">
              <a:avLst>
                <a:gd name="adj1" fmla="val -78241"/>
                <a:gd name="adj2" fmla="val -95921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命令简写</a:t>
              </a:r>
            </a:p>
          </p:txBody>
        </p:sp>
      </p:grpSp>
      <p:grpSp>
        <p:nvGrpSpPr>
          <p:cNvPr id="3" name="组合 12"/>
          <p:cNvGrpSpPr>
            <a:grpSpLocks/>
          </p:cNvGrpSpPr>
          <p:nvPr/>
        </p:nvGrpSpPr>
        <p:grpSpPr bwMode="auto">
          <a:xfrm>
            <a:off x="6683376" y="3952876"/>
            <a:ext cx="3198813" cy="2405063"/>
            <a:chOff x="5072066" y="3952293"/>
            <a:chExt cx="3198247" cy="2405689"/>
          </a:xfrm>
        </p:grpSpPr>
        <p:pic>
          <p:nvPicPr>
            <p:cNvPr id="15368" name="图片 11" descr="20.jpg"/>
            <p:cNvPicPr>
              <a:picLocks noChangeAspect="1"/>
            </p:cNvPicPr>
            <p:nvPr/>
          </p:nvPicPr>
          <p:blipFill>
            <a:blip r:embed="rId3"/>
            <a:srcRect l="6902" t="3310" r="10275" b="10661"/>
            <a:stretch>
              <a:fillRect/>
            </a:stretch>
          </p:blipFill>
          <p:spPr bwMode="auto">
            <a:xfrm>
              <a:off x="7215206" y="5214950"/>
              <a:ext cx="1055107" cy="11430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云形标注 10"/>
            <p:cNvSpPr/>
            <p:nvPr/>
          </p:nvSpPr>
          <p:spPr bwMode="auto">
            <a:xfrm>
              <a:off x="5072066" y="3952293"/>
              <a:ext cx="2571295" cy="1405304"/>
            </a:xfrm>
            <a:prstGeom prst="cloudCallout">
              <a:avLst>
                <a:gd name="adj1" fmla="val 37741"/>
                <a:gd name="adj2" fmla="val 57018"/>
              </a:avLst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marL="95250" algn="ctr">
                <a:defRPr/>
              </a:pPr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当前配置与保存配置有什么</a:t>
              </a: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区别和联系</a:t>
              </a:r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呢？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内容占位符 1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保存当前配置文件</a:t>
            </a:r>
            <a:endParaRPr lang="en-US" altLang="zh-CN"/>
          </a:p>
          <a:p>
            <a:pPr lvl="1">
              <a:lnSpc>
                <a:spcPts val="2600"/>
              </a:lnSpc>
              <a:spcBef>
                <a:spcPts val="675"/>
              </a:spcBef>
            </a:pPr>
            <a:endParaRPr lang="en-US" altLang="zh-CN"/>
          </a:p>
          <a:p>
            <a:pPr lvl="1">
              <a:spcBef>
                <a:spcPts val="675"/>
              </a:spcBef>
              <a:buNone/>
            </a:pPr>
            <a:r>
              <a:rPr lang="zh-CN" altLang="en-US"/>
              <a:t>或</a:t>
            </a:r>
            <a:endParaRPr lang="en-US" altLang="zh-CN"/>
          </a:p>
          <a:p>
            <a:pPr lvl="1">
              <a:lnSpc>
                <a:spcPts val="2600"/>
              </a:lnSpc>
              <a:spcBef>
                <a:spcPts val="675"/>
              </a:spcBef>
            </a:pPr>
            <a:endParaRPr lang="en-US" altLang="zh-CN"/>
          </a:p>
          <a:p>
            <a:pPr lvl="1">
              <a:spcBef>
                <a:spcPts val="675"/>
              </a:spcBef>
            </a:pPr>
            <a:r>
              <a:rPr lang="zh-CN" altLang="en-US"/>
              <a:t>将当前运行配置保存为启动加载配置</a:t>
            </a: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删除保存的配置信息</a:t>
            </a:r>
            <a:endParaRPr lang="en-US" altLang="zh-CN"/>
          </a:p>
          <a:p>
            <a:pPr lvl="1">
              <a:spcBef>
                <a:spcPts val="675"/>
              </a:spcBef>
            </a:pPr>
            <a:endParaRPr lang="en-US" altLang="zh-CN"/>
          </a:p>
          <a:p>
            <a:pPr lvl="1">
              <a:spcBef>
                <a:spcPts val="675"/>
              </a:spcBef>
            </a:pPr>
            <a:endParaRPr lang="en-US" altLang="zh-CN"/>
          </a:p>
        </p:txBody>
      </p:sp>
      <p:sp>
        <p:nvSpPr>
          <p:cNvPr id="16387" name="标题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基础命令介绍</a:t>
            </a:r>
            <a:r>
              <a:rPr lang="en-US" altLang="zh-CN"/>
              <a:t>2-2</a:t>
            </a:r>
            <a:endParaRPr lang="zh-CN" altLang="en-US"/>
          </a:p>
        </p:txBody>
      </p:sp>
      <p:sp>
        <p:nvSpPr>
          <p:cNvPr id="16388" name="AutoShape 16"/>
          <p:cNvSpPr>
            <a:spLocks noChangeArrowheads="1"/>
          </p:cNvSpPr>
          <p:nvPr/>
        </p:nvSpPr>
        <p:spPr bwMode="auto">
          <a:xfrm>
            <a:off x="2109788" y="1663701"/>
            <a:ext cx="7848600" cy="394335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</a:t>
            </a:r>
            <a:r>
              <a:rPr lang="en-US" altLang="zh-CN" b="1">
                <a:solidFill>
                  <a:schemeClr val="tx2"/>
                </a:solidFill>
              </a:rPr>
              <a:t>witch# </a:t>
            </a:r>
            <a:r>
              <a:rPr lang="en-US" altLang="en-US" b="1">
                <a:solidFill>
                  <a:srgbClr val="FF0000"/>
                </a:solidFill>
              </a:rPr>
              <a:t>copy running-config startup-config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6389" name="AutoShape 16"/>
          <p:cNvSpPr>
            <a:spLocks noChangeArrowheads="1"/>
          </p:cNvSpPr>
          <p:nvPr/>
        </p:nvSpPr>
        <p:spPr bwMode="auto">
          <a:xfrm>
            <a:off x="2109788" y="2527300"/>
            <a:ext cx="7848600" cy="395288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</a:t>
            </a:r>
            <a:r>
              <a:rPr lang="en-US" altLang="zh-CN" b="1">
                <a:solidFill>
                  <a:schemeClr val="tx2"/>
                </a:solidFill>
              </a:rPr>
              <a:t>witch# </a:t>
            </a:r>
            <a:r>
              <a:rPr lang="en-US" altLang="en-US" b="1">
                <a:solidFill>
                  <a:srgbClr val="FF0000"/>
                </a:solidFill>
              </a:rPr>
              <a:t>write</a:t>
            </a:r>
            <a:endParaRPr lang="zh-CN" altLang="en-US" b="1">
              <a:solidFill>
                <a:srgbClr val="FF0000"/>
              </a:solidFill>
            </a:endParaRPr>
          </a:p>
        </p:txBody>
      </p:sp>
      <p:grpSp>
        <p:nvGrpSpPr>
          <p:cNvPr id="2" name="组合 8"/>
          <p:cNvGrpSpPr>
            <a:grpSpLocks/>
          </p:cNvGrpSpPr>
          <p:nvPr/>
        </p:nvGrpSpPr>
        <p:grpSpPr bwMode="auto">
          <a:xfrm>
            <a:off x="2109788" y="3500439"/>
            <a:ext cx="7848600" cy="1857375"/>
            <a:chOff x="585120" y="3000372"/>
            <a:chExt cx="7848600" cy="1857388"/>
          </a:xfrm>
        </p:grpSpPr>
        <p:sp>
          <p:nvSpPr>
            <p:cNvPr id="16396" name="AutoShape 16"/>
            <p:cNvSpPr>
              <a:spLocks noChangeArrowheads="1"/>
            </p:cNvSpPr>
            <p:nvPr/>
          </p:nvSpPr>
          <p:spPr bwMode="auto">
            <a:xfrm>
              <a:off x="585120" y="3000372"/>
              <a:ext cx="7848600" cy="1491615"/>
            </a:xfrm>
            <a:prstGeom prst="roundRect">
              <a:avLst>
                <a:gd name="adj" fmla="val 2884"/>
              </a:avLst>
            </a:prstGeom>
            <a:gradFill rotWithShape="1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S</a:t>
              </a:r>
              <a:r>
                <a:rPr lang="en-US" altLang="zh-CN" b="1">
                  <a:solidFill>
                    <a:schemeClr val="tx2"/>
                  </a:solidFill>
                </a:rPr>
                <a:t>witch# </a:t>
              </a:r>
              <a:r>
                <a:rPr lang="en-US" altLang="en-US" b="1">
                  <a:solidFill>
                    <a:srgbClr val="FF0000"/>
                  </a:solidFill>
                </a:rPr>
                <a:t>copy running-config startup-config</a:t>
              </a:r>
            </a:p>
            <a:p>
              <a:pPr marL="95250" lvl="1"/>
              <a:r>
                <a:rPr lang="en-US" altLang="zh-CN" b="1">
                  <a:solidFill>
                    <a:schemeClr val="tx2"/>
                  </a:solidFill>
                </a:rPr>
                <a:t>Destination filename [startup-config]? </a:t>
              </a:r>
            </a:p>
            <a:p>
              <a:pPr marL="95250" lvl="1"/>
              <a:r>
                <a:rPr lang="en-US" altLang="zh-CN" b="1">
                  <a:solidFill>
                    <a:schemeClr val="tx2"/>
                  </a:solidFill>
                </a:rPr>
                <a:t>Building configuration...</a:t>
              </a:r>
            </a:p>
            <a:p>
              <a:pPr marL="95250" lvl="1"/>
              <a:r>
                <a:rPr lang="en-US" altLang="zh-CN" b="1">
                  <a:solidFill>
                    <a:schemeClr val="tx2"/>
                  </a:solidFill>
                </a:rPr>
                <a:t>[OK]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16397" name="AutoShape 19"/>
            <p:cNvSpPr>
              <a:spLocks noChangeArrowheads="1"/>
            </p:cNvSpPr>
            <p:nvPr/>
          </p:nvSpPr>
          <p:spPr bwMode="auto">
            <a:xfrm>
              <a:off x="4572000" y="3714752"/>
              <a:ext cx="2857520" cy="1143008"/>
            </a:xfrm>
            <a:prstGeom prst="wedgeRoundRectCallout">
              <a:avLst>
                <a:gd name="adj1" fmla="val -38597"/>
                <a:gd name="adj2" fmla="val -64875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确认目的文件名称，默认为</a:t>
              </a:r>
              <a:r>
                <a:rPr lang="en-US" altLang="zh-CN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startup-config</a:t>
              </a:r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，此处回车即可</a:t>
              </a:r>
            </a:p>
          </p:txBody>
        </p:sp>
      </p:grpSp>
      <p:sp>
        <p:nvSpPr>
          <p:cNvPr id="10" name="AutoShape 16"/>
          <p:cNvSpPr>
            <a:spLocks noChangeArrowheads="1"/>
          </p:cNvSpPr>
          <p:nvPr/>
        </p:nvSpPr>
        <p:spPr bwMode="auto">
          <a:xfrm>
            <a:off x="2109788" y="3963989"/>
            <a:ext cx="7848600" cy="394335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</a:t>
            </a:r>
            <a:r>
              <a:rPr lang="en-US" altLang="zh-CN" b="1">
                <a:solidFill>
                  <a:schemeClr val="tx2"/>
                </a:solidFill>
              </a:rPr>
              <a:t>witch# </a:t>
            </a:r>
            <a:r>
              <a:rPr lang="en-US" altLang="en-US" b="1">
                <a:solidFill>
                  <a:srgbClr val="FF0000"/>
                </a:solidFill>
              </a:rPr>
              <a:t>erase nvram:</a:t>
            </a:r>
            <a:endParaRPr lang="zh-CN" altLang="en-US" b="1">
              <a:solidFill>
                <a:srgbClr val="FF0000"/>
              </a:solidFill>
            </a:endParaRPr>
          </a:p>
        </p:txBody>
      </p:sp>
      <p:grpSp>
        <p:nvGrpSpPr>
          <p:cNvPr id="3" name="组合 13"/>
          <p:cNvGrpSpPr>
            <a:grpSpLocks/>
          </p:cNvGrpSpPr>
          <p:nvPr/>
        </p:nvGrpSpPr>
        <p:grpSpPr bwMode="auto">
          <a:xfrm>
            <a:off x="2109788" y="4443414"/>
            <a:ext cx="7848600" cy="2128837"/>
            <a:chOff x="585120" y="4442780"/>
            <a:chExt cx="7848600" cy="2129492"/>
          </a:xfrm>
        </p:grpSpPr>
        <p:sp>
          <p:nvSpPr>
            <p:cNvPr id="16393" name="AutoShape 16"/>
            <p:cNvSpPr>
              <a:spLocks noChangeArrowheads="1"/>
            </p:cNvSpPr>
            <p:nvPr/>
          </p:nvSpPr>
          <p:spPr bwMode="auto">
            <a:xfrm>
              <a:off x="585120" y="4442780"/>
              <a:ext cx="7848600" cy="2090261"/>
            </a:xfrm>
            <a:prstGeom prst="roundRect">
              <a:avLst>
                <a:gd name="adj" fmla="val 5435"/>
              </a:avLst>
            </a:prstGeom>
            <a:gradFill rotWithShape="1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S</a:t>
              </a:r>
              <a:r>
                <a:rPr lang="en-US" altLang="zh-CN" b="1">
                  <a:solidFill>
                    <a:schemeClr val="tx2"/>
                  </a:solidFill>
                </a:rPr>
                <a:t>witch</a:t>
              </a:r>
              <a:r>
                <a:rPr lang="en-US" altLang="en-US" b="1">
                  <a:solidFill>
                    <a:schemeClr val="tx2"/>
                  </a:solidFill>
                </a:rPr>
                <a:t># </a:t>
              </a:r>
              <a:r>
                <a:rPr lang="en-US" altLang="en-US" b="1">
                  <a:solidFill>
                    <a:srgbClr val="FF0000"/>
                  </a:solidFill>
                </a:rPr>
                <a:t>erase nvram: </a:t>
              </a:r>
              <a:endParaRPr lang="zh-CN" altLang="en-US" b="1">
                <a:solidFill>
                  <a:srgbClr val="FF0000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Erasing the nvram filesystem will remove all configuration files! Continue? [confirm]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[OK]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Erase of nvram: complete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S</a:t>
              </a:r>
              <a:r>
                <a:rPr lang="en-US" altLang="zh-CN" b="1">
                  <a:solidFill>
                    <a:schemeClr val="tx2"/>
                  </a:solidFill>
                </a:rPr>
                <a:t>witch</a:t>
              </a:r>
              <a:r>
                <a:rPr lang="en-US" altLang="en-US" b="1">
                  <a:solidFill>
                    <a:schemeClr val="tx2"/>
                  </a:solidFill>
                </a:rPr>
                <a:t>#</a:t>
              </a:r>
              <a:r>
                <a:rPr lang="en-US" altLang="en-US" b="1">
                  <a:solidFill>
                    <a:srgbClr val="FF0000"/>
                  </a:solidFill>
                </a:rPr>
                <a:t>sh</a:t>
              </a:r>
              <a:r>
                <a:rPr lang="en-US" altLang="zh-CN" b="1">
                  <a:solidFill>
                    <a:srgbClr val="FF0000"/>
                  </a:solidFill>
                </a:rPr>
                <a:t>ow</a:t>
              </a:r>
              <a:r>
                <a:rPr lang="en-US" altLang="en-US" b="1">
                  <a:solidFill>
                    <a:srgbClr val="FF0000"/>
                  </a:solidFill>
                </a:rPr>
                <a:t> star</a:t>
              </a:r>
              <a:r>
                <a:rPr lang="en-US" altLang="zh-CN" b="1">
                  <a:solidFill>
                    <a:srgbClr val="FF0000"/>
                  </a:solidFill>
                </a:rPr>
                <a:t>tup-config</a:t>
              </a:r>
              <a:endParaRPr lang="zh-CN" altLang="en-US" b="1">
                <a:solidFill>
                  <a:srgbClr val="FF0000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startup-config is not present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16394" name="AutoShape 19"/>
            <p:cNvSpPr>
              <a:spLocks noChangeArrowheads="1"/>
            </p:cNvSpPr>
            <p:nvPr/>
          </p:nvSpPr>
          <p:spPr bwMode="auto">
            <a:xfrm>
              <a:off x="3214678" y="5286388"/>
              <a:ext cx="2428892" cy="357190"/>
            </a:xfrm>
            <a:prstGeom prst="wedgeRoundRectCallout">
              <a:avLst>
                <a:gd name="adj1" fmla="val -42838"/>
                <a:gd name="adj2" fmla="val -92097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确认是否执行操作</a:t>
              </a:r>
            </a:p>
          </p:txBody>
        </p:sp>
        <p:sp>
          <p:nvSpPr>
            <p:cNvPr id="16395" name="AutoShape 19"/>
            <p:cNvSpPr>
              <a:spLocks noChangeArrowheads="1"/>
            </p:cNvSpPr>
            <p:nvPr/>
          </p:nvSpPr>
          <p:spPr bwMode="auto">
            <a:xfrm>
              <a:off x="4071934" y="5929330"/>
              <a:ext cx="2428892" cy="642942"/>
            </a:xfrm>
            <a:prstGeom prst="wedgeRoundRectCallout">
              <a:avLst>
                <a:gd name="adj1" fmla="val -56889"/>
                <a:gd name="adj2" fmla="val -31389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查看保存的配置信息，提示不存在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路由器、交换机的密码设置</a:t>
            </a:r>
            <a:r>
              <a:rPr lang="en-US" altLang="zh-CN"/>
              <a:t>4-1</a:t>
            </a:r>
            <a:endParaRPr lang="zh-CN" altLang="en-US"/>
          </a:p>
        </p:txBody>
      </p:sp>
      <p:sp>
        <p:nvSpPr>
          <p:cNvPr id="17411" name="内容占位符 79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配置</a:t>
            </a:r>
            <a:r>
              <a:rPr lang="en-US" altLang="zh-CN"/>
              <a:t>Console</a:t>
            </a:r>
            <a:r>
              <a:rPr lang="zh-CN" altLang="en-US"/>
              <a:t>口密码</a:t>
            </a:r>
          </a:p>
        </p:txBody>
      </p:sp>
      <p:sp>
        <p:nvSpPr>
          <p:cNvPr id="17412" name="AutoShape 16"/>
          <p:cNvSpPr>
            <a:spLocks noChangeArrowheads="1"/>
          </p:cNvSpPr>
          <p:nvPr/>
        </p:nvSpPr>
        <p:spPr bwMode="auto">
          <a:xfrm>
            <a:off x="2109788" y="1728789"/>
            <a:ext cx="7848600" cy="985837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sw1(config)#line console 0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sw1(config-line)#password cisco 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sw1(config-line)#login</a:t>
            </a:r>
          </a:p>
        </p:txBody>
      </p:sp>
      <p:sp>
        <p:nvSpPr>
          <p:cNvPr id="17413" name="AutoShape 16"/>
          <p:cNvSpPr>
            <a:spLocks noChangeArrowheads="1"/>
          </p:cNvSpPr>
          <p:nvPr/>
        </p:nvSpPr>
        <p:spPr bwMode="auto">
          <a:xfrm>
            <a:off x="2109788" y="3000375"/>
            <a:ext cx="7848600" cy="2070100"/>
          </a:xfrm>
          <a:prstGeom prst="roundRect">
            <a:avLst>
              <a:gd name="adj" fmla="val 354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sw1#show running-config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……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line con 0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 </a:t>
            </a:r>
            <a:r>
              <a:rPr lang="en-US" altLang="zh-CN" b="1">
                <a:solidFill>
                  <a:srgbClr val="FF0000"/>
                </a:solidFill>
              </a:rPr>
              <a:t>password cisco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 login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……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end</a:t>
            </a:r>
          </a:p>
        </p:txBody>
      </p:sp>
      <p:sp>
        <p:nvSpPr>
          <p:cNvPr id="17414" name="AutoShape 19"/>
          <p:cNvSpPr>
            <a:spLocks noChangeArrowheads="1"/>
          </p:cNvSpPr>
          <p:nvPr/>
        </p:nvSpPr>
        <p:spPr bwMode="auto">
          <a:xfrm>
            <a:off x="5810251" y="2428875"/>
            <a:ext cx="1643063" cy="357188"/>
          </a:xfrm>
          <a:prstGeom prst="wedgeRoundRectCallout">
            <a:avLst>
              <a:gd name="adj1" fmla="val -42838"/>
              <a:gd name="adj2" fmla="val -92097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配置的密码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路由器、交换机的密码设置</a:t>
            </a:r>
            <a:r>
              <a:rPr lang="en-US" altLang="zh-CN"/>
              <a:t>4-2</a:t>
            </a:r>
            <a:endParaRPr lang="zh-CN" altLang="en-US"/>
          </a:p>
        </p:txBody>
      </p:sp>
      <p:sp>
        <p:nvSpPr>
          <p:cNvPr id="14339" name="内容占位符 18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配置特权模式密码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配置明文特权模式密码</a:t>
            </a:r>
            <a:endParaRPr lang="en-US" altLang="zh-CN" dirty="0"/>
          </a:p>
          <a:p>
            <a:pPr lvl="1">
              <a:lnSpc>
                <a:spcPts val="2600"/>
              </a:lnSpc>
              <a:buNone/>
              <a:defRPr/>
            </a:pPr>
            <a:endParaRPr lang="en-US" sz="2200" dirty="0">
              <a:latin typeface="+mj-lt"/>
            </a:endParaRPr>
          </a:p>
          <a:p>
            <a:pPr lvl="1">
              <a:defRPr/>
            </a:pPr>
            <a:r>
              <a:rPr lang="zh-CN" altLang="en-US" dirty="0"/>
              <a:t>配置密文特权模式密码</a:t>
            </a:r>
            <a:endParaRPr lang="en-US" altLang="zh-CN" dirty="0"/>
          </a:p>
          <a:p>
            <a:pPr lvl="1">
              <a:buFontTx/>
              <a:buNone/>
              <a:defRPr/>
            </a:pPr>
            <a:endParaRPr lang="en-US" sz="2200" dirty="0">
              <a:latin typeface="+mj-lt"/>
            </a:endParaRPr>
          </a:p>
        </p:txBody>
      </p:sp>
      <p:sp>
        <p:nvSpPr>
          <p:cNvPr id="18436" name="AutoShape 16"/>
          <p:cNvSpPr>
            <a:spLocks noChangeArrowheads="1"/>
          </p:cNvSpPr>
          <p:nvPr/>
        </p:nvSpPr>
        <p:spPr bwMode="auto">
          <a:xfrm>
            <a:off x="2109788" y="2071689"/>
            <a:ext cx="7848600" cy="394335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sw1(config)# </a:t>
            </a:r>
            <a:r>
              <a:rPr lang="en-US" altLang="en-US" b="1">
                <a:solidFill>
                  <a:srgbClr val="FF0000"/>
                </a:solidFill>
              </a:rPr>
              <a:t>enable password cisco0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8437" name="AutoShape 16"/>
          <p:cNvSpPr>
            <a:spLocks noChangeArrowheads="1"/>
          </p:cNvSpPr>
          <p:nvPr/>
        </p:nvSpPr>
        <p:spPr bwMode="auto">
          <a:xfrm>
            <a:off x="2109788" y="2905125"/>
            <a:ext cx="7848600" cy="395288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sw1(config)# </a:t>
            </a:r>
            <a:r>
              <a:rPr lang="en-US" altLang="en-US" b="1">
                <a:solidFill>
                  <a:srgbClr val="FF0000"/>
                </a:solidFill>
              </a:rPr>
              <a:t>enable secret cisco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8438" name="AutoShape 16"/>
          <p:cNvSpPr>
            <a:spLocks noChangeArrowheads="1"/>
          </p:cNvSpPr>
          <p:nvPr/>
        </p:nvSpPr>
        <p:spPr bwMode="auto">
          <a:xfrm>
            <a:off x="2109788" y="3511551"/>
            <a:ext cx="7848600" cy="2917825"/>
          </a:xfrm>
          <a:prstGeom prst="roundRect">
            <a:avLst>
              <a:gd name="adj" fmla="val 4213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 eaLnBrk="0" hangingPunct="0"/>
            <a:r>
              <a:rPr lang="en-US" altLang="zh-CN" b="1">
                <a:solidFill>
                  <a:schemeClr val="tx2"/>
                </a:solidFill>
              </a:rPr>
              <a:t>sw1# show running-config</a:t>
            </a:r>
          </a:p>
          <a:p>
            <a:pPr marL="95250" lvl="1" eaLnBrk="0" hangingPunct="0"/>
            <a:r>
              <a:rPr lang="en-US" altLang="zh-CN" b="1">
                <a:solidFill>
                  <a:schemeClr val="tx2"/>
                </a:solidFill>
              </a:rPr>
              <a:t>Building configuration...</a:t>
            </a:r>
          </a:p>
          <a:p>
            <a:pPr marL="95250" lvl="1" eaLnBrk="0" hangingPunct="0"/>
            <a:r>
              <a:rPr lang="en-US" altLang="zh-CN" b="1">
                <a:solidFill>
                  <a:schemeClr val="tx2"/>
                </a:solidFill>
              </a:rPr>
              <a:t>version 12.4</a:t>
            </a:r>
          </a:p>
          <a:p>
            <a:pPr marL="95250" lvl="1" eaLnBrk="0" hangingPunct="0"/>
            <a:r>
              <a:rPr lang="en-US" altLang="zh-CN" b="1">
                <a:solidFill>
                  <a:schemeClr val="tx2"/>
                </a:solidFill>
              </a:rPr>
              <a:t>service timestamps debug datetime msec</a:t>
            </a:r>
          </a:p>
          <a:p>
            <a:pPr marL="95250" lvl="1" eaLnBrk="0" hangingPunct="0"/>
            <a:r>
              <a:rPr lang="en-US" altLang="zh-CN" b="1">
                <a:solidFill>
                  <a:schemeClr val="tx2"/>
                </a:solidFill>
              </a:rPr>
              <a:t>service timestamps log datetime msec</a:t>
            </a:r>
          </a:p>
          <a:p>
            <a:pPr marL="95250" lvl="1" eaLnBrk="0" hangingPunct="0"/>
            <a:r>
              <a:rPr lang="en-US" altLang="zh-CN" b="1">
                <a:solidFill>
                  <a:schemeClr val="tx2"/>
                </a:solidFill>
              </a:rPr>
              <a:t>!</a:t>
            </a:r>
          </a:p>
          <a:p>
            <a:pPr marL="95250" lvl="1" eaLnBrk="0" hangingPunct="0"/>
            <a:r>
              <a:rPr lang="en-US" altLang="zh-CN" b="1">
                <a:solidFill>
                  <a:schemeClr val="tx2"/>
                </a:solidFill>
              </a:rPr>
              <a:t>hostname sw1</a:t>
            </a:r>
          </a:p>
          <a:p>
            <a:pPr marL="95250" lvl="1" eaLnBrk="0" hangingPunct="0"/>
            <a:r>
              <a:rPr lang="en-US" altLang="zh-CN" b="1">
                <a:solidFill>
                  <a:schemeClr val="tx2"/>
                </a:solidFill>
              </a:rPr>
              <a:t>!</a:t>
            </a:r>
          </a:p>
          <a:p>
            <a:pPr marL="95250" lvl="1" eaLnBrk="0" hangingPunct="0"/>
            <a:r>
              <a:rPr lang="en-US" altLang="zh-CN" b="1">
                <a:solidFill>
                  <a:srgbClr val="FF0000"/>
                </a:solidFill>
              </a:rPr>
              <a:t>enable secret 5 $1$Q0y4$Yw6AnV7NiiMwGmJsuGETo1</a:t>
            </a:r>
          </a:p>
          <a:p>
            <a:pPr marL="95250" lvl="1" eaLnBrk="0" hangingPunct="0"/>
            <a:r>
              <a:rPr lang="en-US" altLang="zh-CN" b="1">
                <a:solidFill>
                  <a:srgbClr val="FF0000"/>
                </a:solidFill>
              </a:rPr>
              <a:t>enable password cisco0 </a:t>
            </a:r>
          </a:p>
        </p:txBody>
      </p:sp>
      <p:sp>
        <p:nvSpPr>
          <p:cNvPr id="18439" name="AutoShape 19"/>
          <p:cNvSpPr>
            <a:spLocks noChangeArrowheads="1"/>
          </p:cNvSpPr>
          <p:nvPr/>
        </p:nvSpPr>
        <p:spPr bwMode="auto">
          <a:xfrm>
            <a:off x="6953251" y="4938714"/>
            <a:ext cx="1928813" cy="642937"/>
          </a:xfrm>
          <a:prstGeom prst="wedgeRoundRectCallout">
            <a:avLst>
              <a:gd name="adj1" fmla="val -37181"/>
              <a:gd name="adj2" fmla="val 8408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同时配置时，密文密码生效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内容占位符 13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加密明文密码</a:t>
            </a:r>
            <a:endParaRPr lang="en-US" altLang="zh-CN"/>
          </a:p>
        </p:txBody>
      </p:sp>
      <p:sp>
        <p:nvSpPr>
          <p:cNvPr id="1945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路由器、交换机的密码设置</a:t>
            </a:r>
            <a:r>
              <a:rPr lang="en-US" altLang="zh-CN"/>
              <a:t>4-3</a:t>
            </a:r>
            <a:endParaRPr lang="zh-CN" altLang="en-US"/>
          </a:p>
        </p:txBody>
      </p:sp>
      <p:sp>
        <p:nvSpPr>
          <p:cNvPr id="19460" name="AutoShape 16"/>
          <p:cNvSpPr>
            <a:spLocks noChangeArrowheads="1"/>
          </p:cNvSpPr>
          <p:nvPr/>
        </p:nvSpPr>
        <p:spPr bwMode="auto">
          <a:xfrm>
            <a:off x="2109788" y="1643064"/>
            <a:ext cx="7848600" cy="394335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sw1(config)# </a:t>
            </a:r>
            <a:r>
              <a:rPr lang="en-US" altLang="zh-CN" b="1">
                <a:solidFill>
                  <a:srgbClr val="FF0000"/>
                </a:solidFill>
              </a:rPr>
              <a:t>service password-encryption</a:t>
            </a:r>
          </a:p>
        </p:txBody>
      </p:sp>
      <p:sp>
        <p:nvSpPr>
          <p:cNvPr id="19461" name="AutoShape 16"/>
          <p:cNvSpPr>
            <a:spLocks noChangeArrowheads="1"/>
          </p:cNvSpPr>
          <p:nvPr/>
        </p:nvSpPr>
        <p:spPr bwMode="auto">
          <a:xfrm>
            <a:off x="2109788" y="2270126"/>
            <a:ext cx="7848600" cy="3230563"/>
          </a:xfrm>
          <a:prstGeom prst="roundRect">
            <a:avLst>
              <a:gd name="adj" fmla="val 342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sw1(config)#enable  password  cisco0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sw1#show  running-config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……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enable password </a:t>
            </a:r>
            <a:r>
              <a:rPr lang="en-US" altLang="zh-CN" b="1">
                <a:solidFill>
                  <a:srgbClr val="FF0000"/>
                </a:solidFill>
              </a:rPr>
              <a:t>cisco0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……</a:t>
            </a:r>
          </a:p>
          <a:p>
            <a:pPr marL="95250" lvl="1"/>
            <a:endParaRPr lang="en-US" altLang="zh-CN" b="1">
              <a:solidFill>
                <a:schemeClr val="tx2"/>
              </a:solidFill>
            </a:endParaRP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sw1(config)#service password-encryption 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sw1#show  running-config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……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enable password 7 </a:t>
            </a:r>
            <a:r>
              <a:rPr lang="en-US" altLang="zh-CN" b="1">
                <a:solidFill>
                  <a:srgbClr val="FF0000"/>
                </a:solidFill>
              </a:rPr>
              <a:t>13061E01080354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……</a:t>
            </a: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19462" name="AutoShape 19"/>
          <p:cNvSpPr>
            <a:spLocks noChangeArrowheads="1"/>
          </p:cNvSpPr>
          <p:nvPr/>
        </p:nvSpPr>
        <p:spPr bwMode="auto">
          <a:xfrm>
            <a:off x="4953001" y="3500439"/>
            <a:ext cx="1285875" cy="357187"/>
          </a:xfrm>
          <a:prstGeom prst="wedgeRoundRectCallout">
            <a:avLst>
              <a:gd name="adj1" fmla="val -44606"/>
              <a:gd name="adj2" fmla="val -87852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明文显示</a:t>
            </a:r>
          </a:p>
        </p:txBody>
      </p:sp>
      <p:sp>
        <p:nvSpPr>
          <p:cNvPr id="19463" name="AutoShape 19"/>
          <p:cNvSpPr>
            <a:spLocks noChangeArrowheads="1"/>
          </p:cNvSpPr>
          <p:nvPr/>
        </p:nvSpPr>
        <p:spPr bwMode="auto">
          <a:xfrm>
            <a:off x="6167439" y="5214939"/>
            <a:ext cx="1285875" cy="357187"/>
          </a:xfrm>
          <a:prstGeom prst="wedgeRoundRectCallout">
            <a:avLst>
              <a:gd name="adj1" fmla="val -44606"/>
              <a:gd name="adj2" fmla="val -87852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密文显示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8"/>
          <p:cNvSpPr>
            <a:spLocks noChangeArrowheads="1"/>
          </p:cNvSpPr>
          <p:nvPr/>
        </p:nvSpPr>
        <p:spPr bwMode="auto">
          <a:xfrm>
            <a:off x="2111376" y="1714501"/>
            <a:ext cx="7847013" cy="1535113"/>
          </a:xfrm>
          <a:prstGeom prst="roundRect">
            <a:avLst>
              <a:gd name="adj" fmla="val 6565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sw1(config)#enable password cisco0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sw1(config)#enable secret cisco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sw1(config)#line console 0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sw1(config-line)#password benet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sw1(config-line)#login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路由器、交换机的密码设置</a:t>
            </a:r>
            <a:r>
              <a:rPr lang="en-US" altLang="zh-CN"/>
              <a:t>4-4</a:t>
            </a:r>
          </a:p>
        </p:txBody>
      </p:sp>
      <p:sp>
        <p:nvSpPr>
          <p:cNvPr id="20484" name="内容占位符 32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71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验证密码配置作用</a:t>
            </a:r>
          </a:p>
        </p:txBody>
      </p:sp>
      <p:sp>
        <p:nvSpPr>
          <p:cNvPr id="20485" name="AutoShape 8"/>
          <p:cNvSpPr>
            <a:spLocks noChangeArrowheads="1"/>
          </p:cNvSpPr>
          <p:nvPr/>
        </p:nvSpPr>
        <p:spPr bwMode="auto">
          <a:xfrm>
            <a:off x="2111376" y="3465513"/>
            <a:ext cx="7847013" cy="1822450"/>
          </a:xfrm>
          <a:prstGeom prst="roundRect">
            <a:avLst>
              <a:gd name="adj" fmla="val 6565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User Access Verification</a:t>
            </a:r>
          </a:p>
          <a:p>
            <a:pPr marL="95250" lvl="1"/>
            <a:endParaRPr lang="en-US" altLang="zh-CN" b="1">
              <a:solidFill>
                <a:schemeClr val="tx2"/>
              </a:solidFill>
            </a:endParaRP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Password: </a:t>
            </a:r>
            <a:r>
              <a:rPr lang="en-US" altLang="zh-CN" b="1">
                <a:solidFill>
                  <a:srgbClr val="FF0000"/>
                </a:solidFill>
              </a:rPr>
              <a:t>benet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sw1&gt;enable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Password: </a:t>
            </a:r>
            <a:r>
              <a:rPr lang="en-US" altLang="zh-CN" b="1">
                <a:solidFill>
                  <a:srgbClr val="FF0000"/>
                </a:solidFill>
              </a:rPr>
              <a:t>cisco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sw1#</a:t>
            </a: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37" name="AutoShape 52"/>
          <p:cNvSpPr>
            <a:spLocks noChangeArrowheads="1"/>
          </p:cNvSpPr>
          <p:nvPr/>
        </p:nvSpPr>
        <p:spPr bwMode="auto">
          <a:xfrm>
            <a:off x="4381500" y="3854451"/>
            <a:ext cx="1892300" cy="360363"/>
          </a:xfrm>
          <a:prstGeom prst="wedgeRoundRectCallout">
            <a:avLst>
              <a:gd name="adj1" fmla="val -57718"/>
              <a:gd name="adj2" fmla="val 75111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Console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口密码</a:t>
            </a:r>
          </a:p>
        </p:txBody>
      </p:sp>
      <p:sp>
        <p:nvSpPr>
          <p:cNvPr id="38" name="AutoShape 52"/>
          <p:cNvSpPr>
            <a:spLocks noChangeArrowheads="1"/>
          </p:cNvSpPr>
          <p:nvPr/>
        </p:nvSpPr>
        <p:spPr bwMode="auto">
          <a:xfrm>
            <a:off x="4548188" y="4541838"/>
            <a:ext cx="1833562" cy="387350"/>
          </a:xfrm>
          <a:prstGeom prst="wedgeRoundRectCallout">
            <a:avLst>
              <a:gd name="adj1" fmla="val -71903"/>
              <a:gd name="adj2" fmla="val 30995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密文特权密码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路由器密码恢复</a:t>
            </a:r>
            <a:endParaRPr lang="zh-CN" altLang="zh-CN"/>
          </a:p>
        </p:txBody>
      </p:sp>
      <p:sp>
        <p:nvSpPr>
          <p:cNvPr id="13" name="内容占位符 12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路由器密码恢复的思路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路由器启动过程中不加载配置文件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修改配置寄存器的值为</a:t>
            </a:r>
            <a:r>
              <a:rPr lang="en-US" altLang="zh-CN"/>
              <a:t>0x2142</a:t>
            </a:r>
            <a:r>
              <a:rPr lang="zh-CN" altLang="en-US"/>
              <a:t>，启动不加载配置文件</a:t>
            </a: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路由器密码恢复步骤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启动过程中按</a:t>
            </a:r>
            <a:r>
              <a:rPr lang="en-US" altLang="zh-CN"/>
              <a:t>Ctrl+Breack</a:t>
            </a:r>
            <a:r>
              <a:rPr lang="zh-CN" altLang="en-US"/>
              <a:t>中断</a:t>
            </a:r>
            <a:r>
              <a:rPr lang="en-US" altLang="zh-CN"/>
              <a:t>IOS</a:t>
            </a:r>
            <a:r>
              <a:rPr lang="zh-CN" altLang="en-US"/>
              <a:t>加载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进入</a:t>
            </a:r>
            <a:r>
              <a:rPr lang="en-US" altLang="zh-CN"/>
              <a:t>ROM Monitor</a:t>
            </a:r>
            <a:r>
              <a:rPr lang="zh-CN" altLang="en-US"/>
              <a:t>模式，修改配置寄存器的值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正常启动后，用</a:t>
            </a:r>
            <a:r>
              <a:rPr lang="en-US" altLang="zh-CN"/>
              <a:t>startup-config</a:t>
            </a:r>
            <a:r>
              <a:rPr lang="zh-CN" altLang="en-US"/>
              <a:t>覆盖</a:t>
            </a:r>
            <a:r>
              <a:rPr lang="en-US" altLang="zh-CN"/>
              <a:t>running-config</a:t>
            </a:r>
            <a:endParaRPr lang="zh-CN" altLang="en-US"/>
          </a:p>
          <a:p>
            <a:pPr lvl="1">
              <a:spcBef>
                <a:spcPts val="475"/>
              </a:spcBef>
            </a:pPr>
            <a:r>
              <a:rPr lang="zh-CN" altLang="en-US"/>
              <a:t>修改密码，并修改配置寄存器的值</a:t>
            </a:r>
          </a:p>
        </p:txBody>
      </p:sp>
      <p:sp>
        <p:nvSpPr>
          <p:cNvPr id="14" name="AutoShape 16"/>
          <p:cNvSpPr>
            <a:spLocks noChangeArrowheads="1"/>
          </p:cNvSpPr>
          <p:nvPr/>
        </p:nvSpPr>
        <p:spPr bwMode="auto">
          <a:xfrm>
            <a:off x="2109788" y="3929063"/>
            <a:ext cx="7848600" cy="690562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rommon1&gt;</a:t>
            </a:r>
            <a:r>
              <a:rPr lang="en-US" altLang="zh-CN" b="1">
                <a:solidFill>
                  <a:srgbClr val="FF0000"/>
                </a:solidFill>
              </a:rPr>
              <a:t>confreg 0x2142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rommon2&gt;reset</a:t>
            </a:r>
          </a:p>
        </p:txBody>
      </p:sp>
      <p:sp>
        <p:nvSpPr>
          <p:cNvPr id="15" name="AutoShape 16"/>
          <p:cNvSpPr>
            <a:spLocks noChangeArrowheads="1"/>
          </p:cNvSpPr>
          <p:nvPr/>
        </p:nvSpPr>
        <p:spPr bwMode="auto">
          <a:xfrm>
            <a:off x="2109788" y="4392614"/>
            <a:ext cx="7848600" cy="394335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Router#copy startup-config running-config</a:t>
            </a:r>
          </a:p>
        </p:txBody>
      </p:sp>
      <p:sp>
        <p:nvSpPr>
          <p:cNvPr id="16" name="AutoShape 16"/>
          <p:cNvSpPr>
            <a:spLocks noChangeArrowheads="1"/>
          </p:cNvSpPr>
          <p:nvPr/>
        </p:nvSpPr>
        <p:spPr bwMode="auto">
          <a:xfrm>
            <a:off x="2109788" y="4800600"/>
            <a:ext cx="7848600" cy="690086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Router(config)#enable secret cisco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Router(config)#config-register 0x2102</a:t>
            </a:r>
            <a:endParaRPr lang="zh-CN" altLang="en-US" b="1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14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交换机密码恢复的思路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交换机启动过程中不加载配置文件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修改配置文件名称，使交换机启动不加载配置文件</a:t>
            </a: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交换机密码恢复步骤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拔掉交换机的插头，插上电源同时按住</a:t>
            </a:r>
            <a:r>
              <a:rPr lang="en-US" altLang="zh-CN"/>
              <a:t>MODE</a:t>
            </a:r>
            <a:r>
              <a:rPr lang="zh-CN" altLang="en-US"/>
              <a:t>键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出现“</a:t>
            </a:r>
            <a:r>
              <a:rPr lang="en-US" altLang="zh-CN"/>
              <a:t>switch:</a:t>
            </a:r>
            <a:r>
              <a:rPr lang="zh-CN" altLang="en-US"/>
              <a:t>”提示松开按键，初始化</a:t>
            </a:r>
            <a:r>
              <a:rPr lang="en-US" altLang="zh-CN"/>
              <a:t>Flash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将</a:t>
            </a:r>
            <a:r>
              <a:rPr lang="en-US" altLang="zh-CN"/>
              <a:t>config.text</a:t>
            </a:r>
            <a:r>
              <a:rPr lang="zh-CN" altLang="en-US"/>
              <a:t>文件改成</a:t>
            </a:r>
            <a:r>
              <a:rPr lang="en-US" altLang="zh-CN"/>
              <a:t>config.old</a:t>
            </a:r>
            <a:r>
              <a:rPr lang="zh-CN" altLang="en-US"/>
              <a:t>，完成后启动交换机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把配置文件的名字改回来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手工加载配置文件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进入配置模式修改密码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交换机密码恢复</a:t>
            </a:r>
            <a:endParaRPr lang="zh-CN" altLang="zh-CN"/>
          </a:p>
        </p:txBody>
      </p:sp>
      <p:sp>
        <p:nvSpPr>
          <p:cNvPr id="14" name="AutoShape 16"/>
          <p:cNvSpPr>
            <a:spLocks noChangeArrowheads="1"/>
          </p:cNvSpPr>
          <p:nvPr/>
        </p:nvSpPr>
        <p:spPr bwMode="auto">
          <a:xfrm>
            <a:off x="2109788" y="3929064"/>
            <a:ext cx="7848600" cy="394335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switch:flash_init</a:t>
            </a:r>
          </a:p>
        </p:txBody>
      </p:sp>
      <p:sp>
        <p:nvSpPr>
          <p:cNvPr id="16" name="AutoShape 16"/>
          <p:cNvSpPr>
            <a:spLocks noChangeArrowheads="1"/>
          </p:cNvSpPr>
          <p:nvPr/>
        </p:nvSpPr>
        <p:spPr bwMode="auto">
          <a:xfrm>
            <a:off x="2109788" y="4381501"/>
            <a:ext cx="7848600" cy="690563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switch:rename flash:config.text flash:config.old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switch:boot</a:t>
            </a:r>
          </a:p>
        </p:txBody>
      </p:sp>
      <p:sp>
        <p:nvSpPr>
          <p:cNvPr id="17" name="AutoShape 16"/>
          <p:cNvSpPr>
            <a:spLocks noChangeArrowheads="1"/>
          </p:cNvSpPr>
          <p:nvPr/>
        </p:nvSpPr>
        <p:spPr bwMode="auto">
          <a:xfrm>
            <a:off x="2109788" y="4786314"/>
            <a:ext cx="7848600" cy="394335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switch# rename flash:config.old flash:config.text</a:t>
            </a:r>
          </a:p>
        </p:txBody>
      </p:sp>
      <p:sp>
        <p:nvSpPr>
          <p:cNvPr id="18" name="AutoShape 16"/>
          <p:cNvSpPr>
            <a:spLocks noChangeArrowheads="1"/>
          </p:cNvSpPr>
          <p:nvPr/>
        </p:nvSpPr>
        <p:spPr bwMode="auto">
          <a:xfrm>
            <a:off x="2109788" y="5249864"/>
            <a:ext cx="7848600" cy="394335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switch# copy flash:config.text system:running-config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内容占位符 3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配置管理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路由器为三层设备，直接配置在接口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二层设备配置管理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en-US" altLang="zh-CN"/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 lvl="1">
              <a:lnSpc>
                <a:spcPts val="3600"/>
              </a:lnSpc>
              <a:spcBef>
                <a:spcPts val="4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配置</a:t>
            </a:r>
            <a:r>
              <a:rPr lang="en-US" altLang="zh-CN"/>
              <a:t>VTY</a:t>
            </a:r>
            <a:r>
              <a:rPr lang="zh-CN" altLang="en-US"/>
              <a:t>密码</a:t>
            </a:r>
            <a:endParaRPr lang="en-US" altLang="zh-CN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路由器、交换机远程管理</a:t>
            </a:r>
            <a:r>
              <a:rPr lang="en-US" altLang="zh-CN"/>
              <a:t>2-1</a:t>
            </a:r>
            <a:endParaRPr lang="zh-CN" altLang="zh-CN"/>
          </a:p>
        </p:txBody>
      </p:sp>
      <p:sp>
        <p:nvSpPr>
          <p:cNvPr id="23556" name="AutoShape 16"/>
          <p:cNvSpPr>
            <a:spLocks noChangeArrowheads="1"/>
          </p:cNvSpPr>
          <p:nvPr/>
        </p:nvSpPr>
        <p:spPr bwMode="auto">
          <a:xfrm>
            <a:off x="2109788" y="2528889"/>
            <a:ext cx="7848600" cy="985837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sw1(config)# interface vlan 1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sw1(config-if)# ip address 192.168.1.10 255.255.255.0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sw1(config-if)# no shutdown</a:t>
            </a: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23557" name="AutoShape 16"/>
          <p:cNvSpPr>
            <a:spLocks noChangeArrowheads="1"/>
          </p:cNvSpPr>
          <p:nvPr/>
        </p:nvSpPr>
        <p:spPr bwMode="auto">
          <a:xfrm>
            <a:off x="2109788" y="4029075"/>
            <a:ext cx="7848600" cy="985838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sw1(config)# line vty 0 4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sw1(config-line)# password cisco 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sw1(config-line)# login</a:t>
            </a:r>
            <a:endParaRPr lang="zh-CN" altLang="en-US" b="1">
              <a:solidFill>
                <a:schemeClr val="tx2"/>
              </a:solidFill>
            </a:endParaRPr>
          </a:p>
        </p:txBody>
      </p:sp>
      <p:grpSp>
        <p:nvGrpSpPr>
          <p:cNvPr id="2" name="组合 16"/>
          <p:cNvGrpSpPr>
            <a:grpSpLocks/>
          </p:cNvGrpSpPr>
          <p:nvPr/>
        </p:nvGrpSpPr>
        <p:grpSpPr bwMode="auto">
          <a:xfrm>
            <a:off x="3602038" y="5214939"/>
            <a:ext cx="4157662" cy="1347787"/>
            <a:chOff x="2077434" y="5754807"/>
            <a:chExt cx="4157824" cy="1348216"/>
          </a:xfrm>
        </p:grpSpPr>
        <p:sp>
          <p:nvSpPr>
            <p:cNvPr id="23559" name="Text Box 74"/>
            <p:cNvSpPr txBox="1">
              <a:spLocks noChangeArrowheads="1"/>
            </p:cNvSpPr>
            <p:nvPr/>
          </p:nvSpPr>
          <p:spPr bwMode="auto">
            <a:xfrm>
              <a:off x="2077434" y="6456692"/>
              <a:ext cx="1565872" cy="646331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/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管理员主机</a:t>
              </a:r>
              <a:endParaRPr lang="en-US" altLang="zh-CN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endParaRPr>
            </a:p>
            <a:p>
              <a:pPr algn="ctr" defTabSz="1028700" eaLnBrk="0" hangingPunct="0"/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192.168.1.1/24</a:t>
              </a:r>
              <a:endPara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23560" name="Line 76"/>
            <p:cNvSpPr>
              <a:spLocks noChangeShapeType="1"/>
            </p:cNvSpPr>
            <p:nvPr/>
          </p:nvSpPr>
          <p:spPr bwMode="auto">
            <a:xfrm>
              <a:off x="2914374" y="6205696"/>
              <a:ext cx="26280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3561" name="Picture 2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463402" y="5754807"/>
              <a:ext cx="789199" cy="749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562" name="Picture 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782122" y="5960001"/>
              <a:ext cx="1169706" cy="5002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563" name="Text Box 79"/>
            <p:cNvSpPr txBox="1">
              <a:spLocks noChangeArrowheads="1"/>
            </p:cNvSpPr>
            <p:nvPr/>
          </p:nvSpPr>
          <p:spPr bwMode="auto">
            <a:xfrm>
              <a:off x="4500562" y="6443527"/>
              <a:ext cx="1734696" cy="646331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/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管理</a:t>
              </a: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IP</a:t>
              </a:r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为</a:t>
              </a: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192.168.1.10/24</a:t>
              </a:r>
            </a:p>
          </p:txBody>
        </p:sp>
        <p:sp>
          <p:nvSpPr>
            <p:cNvPr id="23564" name="Text Box 82"/>
            <p:cNvSpPr txBox="1">
              <a:spLocks noChangeArrowheads="1"/>
            </p:cNvSpPr>
            <p:nvPr/>
          </p:nvSpPr>
          <p:spPr bwMode="auto">
            <a:xfrm>
              <a:off x="4894907" y="6171800"/>
              <a:ext cx="760971" cy="33849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bg1"/>
                  </a:solidFill>
                  <a:cs typeface="Arial" charset="0"/>
                </a:rPr>
                <a:t>SW1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内容占位符 23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通过</a:t>
            </a:r>
            <a:r>
              <a:rPr lang="en-US" altLang="zh-CN"/>
              <a:t>PC</a:t>
            </a:r>
            <a:r>
              <a:rPr lang="zh-CN" altLang="en-US"/>
              <a:t>远程登录设备</a:t>
            </a:r>
            <a:endParaRPr lang="en-US" altLang="zh-CN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路由器、交换机远程管理</a:t>
            </a:r>
            <a:r>
              <a:rPr lang="en-US" altLang="zh-CN"/>
              <a:t>2-2</a:t>
            </a:r>
            <a:endParaRPr lang="zh-CN" altLang="zh-CN"/>
          </a:p>
        </p:txBody>
      </p:sp>
      <p:grpSp>
        <p:nvGrpSpPr>
          <p:cNvPr id="2" name="组合 15"/>
          <p:cNvGrpSpPr>
            <a:grpSpLocks/>
          </p:cNvGrpSpPr>
          <p:nvPr/>
        </p:nvGrpSpPr>
        <p:grpSpPr bwMode="auto">
          <a:xfrm>
            <a:off x="3652838" y="5438775"/>
            <a:ext cx="4157662" cy="1347788"/>
            <a:chOff x="2077434" y="5754807"/>
            <a:chExt cx="4157824" cy="1348216"/>
          </a:xfrm>
        </p:grpSpPr>
        <p:sp>
          <p:nvSpPr>
            <p:cNvPr id="24586" name="Text Box 74"/>
            <p:cNvSpPr txBox="1">
              <a:spLocks noChangeArrowheads="1"/>
            </p:cNvSpPr>
            <p:nvPr/>
          </p:nvSpPr>
          <p:spPr bwMode="auto">
            <a:xfrm>
              <a:off x="2077434" y="6456692"/>
              <a:ext cx="1565872" cy="646331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/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管理员主机</a:t>
              </a:r>
              <a:endParaRPr lang="en-US" altLang="zh-CN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endParaRPr>
            </a:p>
            <a:p>
              <a:pPr algn="ctr" defTabSz="1028700" eaLnBrk="0" hangingPunct="0"/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192.168.1.1/24</a:t>
              </a:r>
              <a:endPara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24587" name="Line 76"/>
            <p:cNvSpPr>
              <a:spLocks noChangeShapeType="1"/>
            </p:cNvSpPr>
            <p:nvPr/>
          </p:nvSpPr>
          <p:spPr bwMode="auto">
            <a:xfrm>
              <a:off x="2914374" y="6205696"/>
              <a:ext cx="26280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4588" name="Picture 2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463402" y="5754807"/>
              <a:ext cx="789199" cy="749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589" name="Picture 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782122" y="5960001"/>
              <a:ext cx="1169706" cy="5002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590" name="Text Box 79"/>
            <p:cNvSpPr txBox="1">
              <a:spLocks noChangeArrowheads="1"/>
            </p:cNvSpPr>
            <p:nvPr/>
          </p:nvSpPr>
          <p:spPr bwMode="auto">
            <a:xfrm>
              <a:off x="4500562" y="6443527"/>
              <a:ext cx="1734696" cy="646331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/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管理</a:t>
              </a: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IP</a:t>
              </a:r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为</a:t>
              </a: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192.168.1.10/24</a:t>
              </a:r>
            </a:p>
          </p:txBody>
        </p:sp>
        <p:sp>
          <p:nvSpPr>
            <p:cNvPr id="24591" name="Text Box 82"/>
            <p:cNvSpPr txBox="1">
              <a:spLocks noChangeArrowheads="1"/>
            </p:cNvSpPr>
            <p:nvPr/>
          </p:nvSpPr>
          <p:spPr bwMode="auto">
            <a:xfrm>
              <a:off x="4894907" y="6171800"/>
              <a:ext cx="760971" cy="33849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bg1"/>
                  </a:solidFill>
                  <a:cs typeface="Arial" charset="0"/>
                </a:rPr>
                <a:t>SW1</a:t>
              </a:r>
            </a:p>
          </p:txBody>
        </p:sp>
      </p:grpSp>
      <p:grpSp>
        <p:nvGrpSpPr>
          <p:cNvPr id="3" name="组合 24"/>
          <p:cNvGrpSpPr>
            <a:grpSpLocks/>
          </p:cNvGrpSpPr>
          <p:nvPr/>
        </p:nvGrpSpPr>
        <p:grpSpPr bwMode="auto">
          <a:xfrm>
            <a:off x="2109788" y="1689101"/>
            <a:ext cx="7848600" cy="2168525"/>
            <a:chOff x="585120" y="1688785"/>
            <a:chExt cx="7848600" cy="2168843"/>
          </a:xfrm>
        </p:grpSpPr>
        <p:sp>
          <p:nvSpPr>
            <p:cNvPr id="24584" name="AutoShape 16"/>
            <p:cNvSpPr>
              <a:spLocks noChangeArrowheads="1"/>
            </p:cNvSpPr>
            <p:nvPr/>
          </p:nvSpPr>
          <p:spPr bwMode="auto">
            <a:xfrm>
              <a:off x="585120" y="1688785"/>
              <a:ext cx="7848600" cy="2168843"/>
            </a:xfrm>
            <a:prstGeom prst="roundRect">
              <a:avLst>
                <a:gd name="adj" fmla="val 5435"/>
              </a:avLst>
            </a:prstGeom>
            <a:gradFill rotWithShape="1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95250" lvl="1"/>
              <a:r>
                <a:rPr lang="en-US" altLang="zh-CN" b="1">
                  <a:solidFill>
                    <a:schemeClr val="tx2"/>
                  </a:solidFill>
                </a:rPr>
                <a:t>C:\&gt;telnet 192.168.1.10</a:t>
              </a:r>
            </a:p>
            <a:p>
              <a:pPr marL="95250" lvl="1"/>
              <a:endParaRPr lang="en-US" altLang="zh-CN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zh-CN" b="1">
                  <a:solidFill>
                    <a:schemeClr val="tx2"/>
                  </a:solidFill>
                </a:rPr>
                <a:t>User Access Verification</a:t>
              </a:r>
            </a:p>
            <a:p>
              <a:pPr marL="95250" lvl="1"/>
              <a:r>
                <a:rPr lang="en-US" altLang="zh-CN" b="1">
                  <a:solidFill>
                    <a:schemeClr val="tx2"/>
                  </a:solidFill>
                </a:rPr>
                <a:t>Password:</a:t>
              </a:r>
              <a:r>
                <a:rPr lang="en-US" altLang="zh-CN" b="1">
                  <a:solidFill>
                    <a:srgbClr val="FF0000"/>
                  </a:solidFill>
                </a:rPr>
                <a:t>cisco</a:t>
              </a:r>
            </a:p>
            <a:p>
              <a:pPr marL="95250" lvl="1"/>
              <a:r>
                <a:rPr lang="en-US" altLang="zh-CN" b="1">
                  <a:solidFill>
                    <a:schemeClr val="tx2"/>
                  </a:solidFill>
                </a:rPr>
                <a:t>sw1&gt; enable</a:t>
              </a:r>
            </a:p>
            <a:p>
              <a:pPr marL="95250" lvl="1"/>
              <a:r>
                <a:rPr lang="en-US" altLang="zh-CN" b="1">
                  <a:solidFill>
                    <a:srgbClr val="FF0000"/>
                  </a:solidFill>
                </a:rPr>
                <a:t>% No password set</a:t>
              </a:r>
            </a:p>
            <a:p>
              <a:pPr marL="95250" lvl="1"/>
              <a:r>
                <a:rPr lang="en-US" altLang="zh-CN" b="1">
                  <a:solidFill>
                    <a:schemeClr val="tx2"/>
                  </a:solidFill>
                </a:rPr>
                <a:t>sw1&gt;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24585" name="AutoShape 52"/>
            <p:cNvSpPr>
              <a:spLocks noChangeArrowheads="1"/>
            </p:cNvSpPr>
            <p:nvPr/>
          </p:nvSpPr>
          <p:spPr bwMode="auto">
            <a:xfrm>
              <a:off x="3357554" y="2732413"/>
              <a:ext cx="1717707" cy="698513"/>
            </a:xfrm>
            <a:prstGeom prst="wedgeRoundRectCallout">
              <a:avLst>
                <a:gd name="adj1" fmla="val -72097"/>
                <a:gd name="adj2" fmla="val 32264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/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没有配置特权密码</a:t>
              </a:r>
            </a:p>
          </p:txBody>
        </p:sp>
      </p:grpSp>
      <p:sp>
        <p:nvSpPr>
          <p:cNvPr id="26" name="AutoShape 16"/>
          <p:cNvSpPr>
            <a:spLocks noChangeArrowheads="1"/>
          </p:cNvSpPr>
          <p:nvPr/>
        </p:nvSpPr>
        <p:spPr bwMode="auto">
          <a:xfrm>
            <a:off x="2109788" y="1687513"/>
            <a:ext cx="7848600" cy="3168650"/>
          </a:xfrm>
          <a:prstGeom prst="roundRect">
            <a:avLst>
              <a:gd name="adj" fmla="val 3102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sw1(config)#enable secret cisco1</a:t>
            </a:r>
          </a:p>
          <a:p>
            <a:pPr marL="95250" lvl="1"/>
            <a:endParaRPr lang="en-US" altLang="zh-CN" b="1">
              <a:solidFill>
                <a:schemeClr val="tx2"/>
              </a:solidFill>
            </a:endParaRP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C:\&gt;telnet 192.168.1.10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User Access Verification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Password:</a:t>
            </a:r>
            <a:r>
              <a:rPr lang="en-US" altLang="zh-CN" b="1">
                <a:solidFill>
                  <a:srgbClr val="FF0000"/>
                </a:solidFill>
              </a:rPr>
              <a:t>cisco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sw1&gt; enable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Password:</a:t>
            </a:r>
            <a:r>
              <a:rPr lang="en-US" altLang="zh-CN" b="1">
                <a:solidFill>
                  <a:srgbClr val="FF0000"/>
                </a:solidFill>
              </a:rPr>
              <a:t>cisco1</a:t>
            </a:r>
            <a:endParaRPr lang="zh-CN" altLang="en-US" b="1">
              <a:solidFill>
                <a:srgbClr val="FF0000"/>
              </a:solidFill>
            </a:endParaRP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switch#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switch# configure terminal 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Enter configuration commands, one per line. End with CNTL/Z.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switch(config)#</a:t>
            </a: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28" name="AutoShape 52"/>
          <p:cNvSpPr>
            <a:spLocks noChangeArrowheads="1"/>
          </p:cNvSpPr>
          <p:nvPr/>
        </p:nvSpPr>
        <p:spPr bwMode="auto">
          <a:xfrm>
            <a:off x="3452813" y="4956175"/>
            <a:ext cx="4633912" cy="401638"/>
          </a:xfrm>
          <a:prstGeom prst="wedgeRoundRectCallout">
            <a:avLst>
              <a:gd name="adj1" fmla="val -50028"/>
              <a:gd name="adj2" fmla="val 2831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远程管理必须配置登录密码和特权密码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内容占位符 24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71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默认网关的配置命令</a:t>
            </a:r>
            <a:endParaRPr lang="en-US" altLang="zh-CN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配置默认网关</a:t>
            </a:r>
            <a:endParaRPr lang="zh-CN" altLang="zh-CN"/>
          </a:p>
        </p:txBody>
      </p:sp>
      <p:grpSp>
        <p:nvGrpSpPr>
          <p:cNvPr id="2" name="组合 30"/>
          <p:cNvGrpSpPr>
            <a:grpSpLocks/>
          </p:cNvGrpSpPr>
          <p:nvPr/>
        </p:nvGrpSpPr>
        <p:grpSpPr bwMode="auto">
          <a:xfrm>
            <a:off x="2724150" y="2143125"/>
            <a:ext cx="6877050" cy="2120900"/>
            <a:chOff x="1200150" y="2030396"/>
            <a:chExt cx="6877050" cy="2121506"/>
          </a:xfrm>
        </p:grpSpPr>
        <p:sp>
          <p:nvSpPr>
            <p:cNvPr id="25608" name="Line 94"/>
            <p:cNvSpPr>
              <a:spLocks noChangeShapeType="1"/>
            </p:cNvSpPr>
            <p:nvPr/>
          </p:nvSpPr>
          <p:spPr bwMode="auto">
            <a:xfrm rot="16200000" flipH="1">
              <a:off x="5533843" y="2946490"/>
              <a:ext cx="157811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9" name="Text Box 8"/>
            <p:cNvSpPr txBox="1">
              <a:spLocks noChangeArrowheads="1"/>
            </p:cNvSpPr>
            <p:nvPr/>
          </p:nvSpPr>
          <p:spPr bwMode="auto">
            <a:xfrm>
              <a:off x="2827876" y="3622824"/>
              <a:ext cx="2130368" cy="33849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25610" name="Text Box 74"/>
            <p:cNvSpPr txBox="1">
              <a:spLocks noChangeArrowheads="1"/>
            </p:cNvSpPr>
            <p:nvPr/>
          </p:nvSpPr>
          <p:spPr bwMode="auto">
            <a:xfrm>
              <a:off x="1273176" y="2763473"/>
              <a:ext cx="1424005" cy="33849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>
                <a:spcBef>
                  <a:spcPct val="50000"/>
                </a:spcBef>
              </a:pPr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管理员主机</a:t>
              </a:r>
            </a:p>
          </p:txBody>
        </p:sp>
        <p:sp>
          <p:nvSpPr>
            <p:cNvPr id="25611" name="Line 76"/>
            <p:cNvSpPr>
              <a:spLocks noChangeShapeType="1"/>
            </p:cNvSpPr>
            <p:nvPr/>
          </p:nvSpPr>
          <p:spPr bwMode="auto">
            <a:xfrm>
              <a:off x="2038678" y="3735546"/>
              <a:ext cx="4622451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5612" name="Picture 2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87706" y="3284657"/>
              <a:ext cx="789199" cy="749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613" name="Picture 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210486" y="3489851"/>
              <a:ext cx="1169706" cy="5002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614" name="Text Box 79"/>
            <p:cNvSpPr txBox="1">
              <a:spLocks noChangeArrowheads="1"/>
            </p:cNvSpPr>
            <p:nvPr/>
          </p:nvSpPr>
          <p:spPr bwMode="auto">
            <a:xfrm>
              <a:off x="3051618" y="2926238"/>
              <a:ext cx="1591820" cy="584669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>
                <a:spcBef>
                  <a:spcPct val="50000"/>
                </a:spcBef>
              </a:pPr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管理</a:t>
              </a: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IP</a:t>
              </a:r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为</a:t>
              </a: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192.168.1.10</a:t>
              </a:r>
            </a:p>
          </p:txBody>
        </p:sp>
        <p:pic>
          <p:nvPicPr>
            <p:cNvPr id="25615" name="Picture 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727754" y="2044711"/>
              <a:ext cx="1169706" cy="5002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616" name="Text Box 82"/>
            <p:cNvSpPr txBox="1">
              <a:spLocks noChangeArrowheads="1"/>
            </p:cNvSpPr>
            <p:nvPr/>
          </p:nvSpPr>
          <p:spPr bwMode="auto">
            <a:xfrm>
              <a:off x="3323271" y="3701650"/>
              <a:ext cx="760971" cy="33849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SW1</a:t>
              </a:r>
            </a:p>
          </p:txBody>
        </p:sp>
        <p:sp>
          <p:nvSpPr>
            <p:cNvPr id="25617" name="Text Box 83"/>
            <p:cNvSpPr txBox="1">
              <a:spLocks noChangeArrowheads="1"/>
            </p:cNvSpPr>
            <p:nvPr/>
          </p:nvSpPr>
          <p:spPr bwMode="auto">
            <a:xfrm>
              <a:off x="5837293" y="2256510"/>
              <a:ext cx="760971" cy="33849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SW2</a:t>
              </a:r>
            </a:p>
          </p:txBody>
        </p:sp>
        <p:sp>
          <p:nvSpPr>
            <p:cNvPr id="25618" name="Text Box 84"/>
            <p:cNvSpPr txBox="1">
              <a:spLocks noChangeArrowheads="1"/>
            </p:cNvSpPr>
            <p:nvPr/>
          </p:nvSpPr>
          <p:spPr bwMode="auto">
            <a:xfrm>
              <a:off x="4357686" y="2030396"/>
              <a:ext cx="1487426" cy="58477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/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管理</a:t>
              </a: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IP</a:t>
              </a:r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为</a:t>
              </a:r>
              <a:endParaRPr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algn="ctr" defTabSz="1028700" eaLnBrk="0" hangingPunct="0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192.168.2.20</a:t>
              </a:r>
            </a:p>
          </p:txBody>
        </p:sp>
        <p:sp>
          <p:nvSpPr>
            <p:cNvPr id="25619" name="Text Box 85"/>
            <p:cNvSpPr txBox="1">
              <a:spLocks noChangeArrowheads="1"/>
            </p:cNvSpPr>
            <p:nvPr/>
          </p:nvSpPr>
          <p:spPr bwMode="auto">
            <a:xfrm>
              <a:off x="1200150" y="2980738"/>
              <a:ext cx="1606569" cy="338554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192.168.1.1/24</a:t>
              </a:r>
            </a:p>
          </p:txBody>
        </p:sp>
        <p:pic>
          <p:nvPicPr>
            <p:cNvPr id="25620" name="Picture 7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830985" y="3451962"/>
              <a:ext cx="1014684" cy="5636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621" name="Text Box 87"/>
            <p:cNvSpPr txBox="1">
              <a:spLocks noChangeArrowheads="1"/>
            </p:cNvSpPr>
            <p:nvPr/>
          </p:nvSpPr>
          <p:spPr bwMode="auto">
            <a:xfrm>
              <a:off x="5952633" y="3715295"/>
              <a:ext cx="760971" cy="33849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R1</a:t>
              </a:r>
            </a:p>
          </p:txBody>
        </p:sp>
        <p:sp>
          <p:nvSpPr>
            <p:cNvPr id="25622" name="Text Box 88"/>
            <p:cNvSpPr txBox="1">
              <a:spLocks noChangeArrowheads="1"/>
            </p:cNvSpPr>
            <p:nvPr/>
          </p:nvSpPr>
          <p:spPr bwMode="auto">
            <a:xfrm>
              <a:off x="4035541" y="3813348"/>
              <a:ext cx="2130368" cy="338554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 192.168.1.254/24</a:t>
              </a:r>
            </a:p>
          </p:txBody>
        </p:sp>
        <p:sp>
          <p:nvSpPr>
            <p:cNvPr id="25623" name="Text Box 89"/>
            <p:cNvSpPr txBox="1">
              <a:spLocks noChangeArrowheads="1"/>
            </p:cNvSpPr>
            <p:nvPr/>
          </p:nvSpPr>
          <p:spPr bwMode="auto">
            <a:xfrm>
              <a:off x="5946832" y="3104771"/>
              <a:ext cx="2130368" cy="338554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 192.168.2.254/24</a:t>
              </a:r>
            </a:p>
          </p:txBody>
        </p:sp>
        <p:sp>
          <p:nvSpPr>
            <p:cNvPr id="25624" name="Text Box 90"/>
            <p:cNvSpPr txBox="1">
              <a:spLocks noChangeArrowheads="1"/>
            </p:cNvSpPr>
            <p:nvPr/>
          </p:nvSpPr>
          <p:spPr bwMode="auto">
            <a:xfrm>
              <a:off x="5216573" y="3418814"/>
              <a:ext cx="760971" cy="33849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F0/0</a:t>
              </a:r>
            </a:p>
          </p:txBody>
        </p:sp>
        <p:sp>
          <p:nvSpPr>
            <p:cNvPr id="25625" name="Text Box 91"/>
            <p:cNvSpPr txBox="1">
              <a:spLocks noChangeArrowheads="1"/>
            </p:cNvSpPr>
            <p:nvPr/>
          </p:nvSpPr>
          <p:spPr bwMode="auto">
            <a:xfrm>
              <a:off x="5660529" y="3090257"/>
              <a:ext cx="760971" cy="33849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F0/1</a:t>
              </a:r>
            </a:p>
          </p:txBody>
        </p:sp>
      </p:grpSp>
      <p:sp>
        <p:nvSpPr>
          <p:cNvPr id="50" name="内容占位符 24"/>
          <p:cNvSpPr txBox="1">
            <a:spLocks/>
          </p:cNvSpPr>
          <p:nvPr/>
        </p:nvSpPr>
        <p:spPr bwMode="auto">
          <a:xfrm>
            <a:off x="1978025" y="4341814"/>
            <a:ext cx="8229600" cy="13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72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zh-CN" altLang="en-US" sz="2800" b="1" dirty="0">
                <a:solidFill>
                  <a:schemeClr val="tx2"/>
                </a:solidFill>
              </a:rPr>
              <a:t>需求分析</a:t>
            </a:r>
            <a:endParaRPr lang="en-US" altLang="zh-CN" sz="2800" b="1" dirty="0">
              <a:solidFill>
                <a:schemeClr val="tx2"/>
              </a:solidFill>
            </a:endParaRPr>
          </a:p>
          <a:p>
            <a:pPr marL="742950" lvl="1" indent="-285750" eaLnBrk="0" hangingPunct="0">
              <a:lnSpc>
                <a:spcPts val="3000"/>
              </a:lnSpc>
              <a:spcBef>
                <a:spcPts val="472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r>
              <a:rPr lang="zh-CN" altLang="en-US" sz="2400" b="1" dirty="0">
                <a:solidFill>
                  <a:schemeClr val="tx2"/>
                </a:solidFill>
              </a:rPr>
              <a:t>管理员主机要能够远程管理所有设备</a:t>
            </a:r>
            <a:endParaRPr lang="en-US" altLang="zh-CN" sz="2400" b="1" dirty="0">
              <a:solidFill>
                <a:schemeClr val="tx2"/>
              </a:solidFill>
            </a:endParaRPr>
          </a:p>
          <a:p>
            <a:pPr marL="742950" lvl="1" indent="-285750" eaLnBrk="0" hangingPunct="0">
              <a:lnSpc>
                <a:spcPts val="3000"/>
              </a:lnSpc>
              <a:spcBef>
                <a:spcPts val="472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r>
              <a:rPr lang="zh-CN" altLang="en-US" sz="2400" b="1" dirty="0">
                <a:solidFill>
                  <a:schemeClr val="tx2"/>
                </a:solidFill>
              </a:rPr>
              <a:t>在</a:t>
            </a:r>
            <a:r>
              <a:rPr lang="en-US" altLang="zh-CN" sz="2400" b="1" dirty="0">
                <a:solidFill>
                  <a:schemeClr val="tx2"/>
                </a:solidFill>
              </a:rPr>
              <a:t>SW2</a:t>
            </a:r>
            <a:r>
              <a:rPr lang="zh-CN" altLang="en-US" sz="2400" b="1" dirty="0">
                <a:solidFill>
                  <a:schemeClr val="tx2"/>
                </a:solidFill>
              </a:rPr>
              <a:t>上配置默认网关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25606" name="AutoShape 16"/>
          <p:cNvSpPr>
            <a:spLocks noChangeArrowheads="1"/>
          </p:cNvSpPr>
          <p:nvPr/>
        </p:nvSpPr>
        <p:spPr bwMode="auto">
          <a:xfrm>
            <a:off x="2109788" y="1657350"/>
            <a:ext cx="7848600" cy="395288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Switch(config)# ip default-gateway </a:t>
            </a:r>
            <a:r>
              <a:rPr lang="en-US" altLang="zh-CN" b="1" i="1">
                <a:solidFill>
                  <a:schemeClr val="tx2"/>
                </a:solidFill>
              </a:rPr>
              <a:t>ip-address</a:t>
            </a:r>
            <a:endParaRPr lang="zh-CN" altLang="en-US" b="1" i="1">
              <a:solidFill>
                <a:schemeClr val="tx2"/>
              </a:solidFill>
            </a:endParaRPr>
          </a:p>
        </p:txBody>
      </p:sp>
      <p:sp>
        <p:nvSpPr>
          <p:cNvPr id="33" name="AutoShape 16"/>
          <p:cNvSpPr>
            <a:spLocks noChangeArrowheads="1"/>
          </p:cNvSpPr>
          <p:nvPr/>
        </p:nvSpPr>
        <p:spPr bwMode="auto">
          <a:xfrm>
            <a:off x="2109788" y="5719764"/>
            <a:ext cx="7848600" cy="395287"/>
          </a:xfrm>
          <a:prstGeom prst="roundRect">
            <a:avLst>
              <a:gd name="adj" fmla="val 1235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 indent="-285750" eaLnBrk="0" hangingPunct="0">
              <a:buClr>
                <a:schemeClr val="tx1"/>
              </a:buClr>
            </a:pPr>
            <a:r>
              <a:rPr lang="en-US" altLang="zh-CN" b="1">
                <a:solidFill>
                  <a:schemeClr val="tx2"/>
                </a:solidFill>
              </a:rPr>
              <a:t>SW2(config)# ip default-gateway 192.168.2.254</a:t>
            </a:r>
            <a:endParaRPr lang="zh-CN" altLang="en-US" b="1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build="allAtOnce"/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内容占位符 26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3857625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IOS</a:t>
            </a:r>
            <a:r>
              <a:rPr lang="zh-CN" altLang="en-US"/>
              <a:t>简介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Internetwork Operating System</a:t>
            </a:r>
            <a:r>
              <a:rPr lang="zh-CN" altLang="en-US"/>
              <a:t>，互联网络操作系统</a:t>
            </a:r>
          </a:p>
          <a:p>
            <a:pPr>
              <a:spcBef>
                <a:spcPts val="675"/>
              </a:spcBef>
            </a:pPr>
            <a:r>
              <a:rPr lang="en-US" altLang="zh-CN"/>
              <a:t>IOS</a:t>
            </a:r>
            <a:r>
              <a:rPr lang="zh-CN" altLang="en-US"/>
              <a:t>实现的功能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配置网络设备的地址、协议等参数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通过控制访问来确保网络的安全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设置一系列的访问策略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对设备进行监控、调试等</a:t>
            </a:r>
            <a:endParaRPr lang="en-US" altLang="zh-CN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路由器、交换机的</a:t>
            </a:r>
            <a:r>
              <a:rPr lang="en-US" altLang="zh-CN"/>
              <a:t>IOS 2-1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内容占位符 26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IOS</a:t>
            </a:r>
            <a:r>
              <a:rPr lang="zh-CN" altLang="en-US"/>
              <a:t>命名规则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命名形式：</a:t>
            </a:r>
            <a:r>
              <a:rPr lang="en-US" altLang="zh-CN"/>
              <a:t>AAAAA-BBBB-CC-DDDD.EE</a:t>
            </a:r>
          </a:p>
          <a:p>
            <a:pPr lvl="2">
              <a:spcBef>
                <a:spcPct val="0"/>
              </a:spcBef>
            </a:pPr>
            <a:r>
              <a:rPr lang="en-US" altLang="zh-CN"/>
              <a:t>AAAAA</a:t>
            </a:r>
            <a:r>
              <a:rPr lang="zh-CN" altLang="en-US"/>
              <a:t>：</a:t>
            </a:r>
            <a:r>
              <a:rPr lang="en-US" altLang="zh-CN"/>
              <a:t>IOS</a:t>
            </a:r>
            <a:r>
              <a:rPr lang="zh-CN" altLang="en-US"/>
              <a:t>所适用的硬件平台</a:t>
            </a:r>
            <a:endParaRPr lang="en-US" altLang="zh-CN"/>
          </a:p>
          <a:p>
            <a:pPr lvl="2">
              <a:spcBef>
                <a:spcPct val="0"/>
              </a:spcBef>
            </a:pPr>
            <a:r>
              <a:rPr lang="en-US" altLang="zh-CN"/>
              <a:t>BBBB</a:t>
            </a:r>
            <a:r>
              <a:rPr lang="zh-CN" altLang="en-US"/>
              <a:t>：</a:t>
            </a:r>
            <a:r>
              <a:rPr lang="en-US" altLang="zh-CN"/>
              <a:t>IOS</a:t>
            </a:r>
            <a:r>
              <a:rPr lang="zh-CN" altLang="en-US"/>
              <a:t>所包含的特性集</a:t>
            </a:r>
            <a:endParaRPr lang="en-US" altLang="zh-CN"/>
          </a:p>
          <a:p>
            <a:pPr lvl="2">
              <a:spcBef>
                <a:spcPct val="0"/>
              </a:spcBef>
            </a:pPr>
            <a:r>
              <a:rPr lang="en-US" altLang="zh-CN"/>
              <a:t>CC</a:t>
            </a:r>
            <a:r>
              <a:rPr lang="zh-CN" altLang="en-US"/>
              <a:t>：</a:t>
            </a:r>
            <a:r>
              <a:rPr lang="en-US" altLang="zh-CN"/>
              <a:t>IOS</a:t>
            </a:r>
            <a:r>
              <a:rPr lang="zh-CN" altLang="en-US"/>
              <a:t>软件的运行方式和压缩格式</a:t>
            </a:r>
            <a:endParaRPr lang="en-US" altLang="zh-CN"/>
          </a:p>
          <a:p>
            <a:pPr lvl="2">
              <a:spcBef>
                <a:spcPct val="0"/>
              </a:spcBef>
            </a:pPr>
            <a:r>
              <a:rPr lang="en-US" altLang="zh-CN"/>
              <a:t>DDDD</a:t>
            </a:r>
            <a:r>
              <a:rPr lang="zh-CN" altLang="en-US"/>
              <a:t>：</a:t>
            </a:r>
            <a:r>
              <a:rPr lang="en-US" altLang="zh-CN"/>
              <a:t>IOS</a:t>
            </a:r>
            <a:r>
              <a:rPr lang="zh-CN" altLang="en-US"/>
              <a:t>软件版本</a:t>
            </a:r>
            <a:endParaRPr lang="en-US" altLang="zh-CN"/>
          </a:p>
          <a:p>
            <a:pPr lvl="2">
              <a:spcBef>
                <a:spcPct val="0"/>
              </a:spcBef>
            </a:pPr>
            <a:r>
              <a:rPr lang="en-US" altLang="zh-CN"/>
              <a:t>EE</a:t>
            </a:r>
            <a:r>
              <a:rPr lang="zh-CN" altLang="en-US"/>
              <a:t>：</a:t>
            </a:r>
            <a:r>
              <a:rPr lang="en-US" altLang="zh-CN"/>
              <a:t>IOS</a:t>
            </a:r>
            <a:r>
              <a:rPr lang="zh-CN" altLang="en-US"/>
              <a:t>文件的后缀</a:t>
            </a: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路由器、交换机的</a:t>
            </a:r>
            <a:r>
              <a:rPr lang="en-US" altLang="zh-CN"/>
              <a:t>IOS 2-2</a:t>
            </a:r>
            <a:endParaRPr lang="zh-CN" altLang="en-US"/>
          </a:p>
        </p:txBody>
      </p:sp>
      <p:sp>
        <p:nvSpPr>
          <p:cNvPr id="6" name="AutoShape 19"/>
          <p:cNvSpPr>
            <a:spLocks noChangeArrowheads="1"/>
          </p:cNvSpPr>
          <p:nvPr/>
        </p:nvSpPr>
        <p:spPr bwMode="auto">
          <a:xfrm>
            <a:off x="3381376" y="4214814"/>
            <a:ext cx="4714875" cy="428625"/>
          </a:xfrm>
          <a:prstGeom prst="wedgeRoundRectCallout">
            <a:avLst>
              <a:gd name="adj1" fmla="val -23866"/>
              <a:gd name="adj2" fmla="val 5064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c2800nm-ipbase-mz.124-3i.bin</a:t>
            </a:r>
            <a:endParaRPr lang="zh-CN" altLang="en-US" sz="24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内容占位符 76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通过</a:t>
            </a:r>
            <a:r>
              <a:rPr lang="en-US" altLang="zh-CN"/>
              <a:t>TFTP</a:t>
            </a:r>
            <a:r>
              <a:rPr lang="zh-CN" altLang="en-US"/>
              <a:t>服务器升级</a:t>
            </a:r>
            <a:r>
              <a:rPr lang="en-US" altLang="zh-CN"/>
              <a:t>Cisco</a:t>
            </a:r>
            <a:r>
              <a:rPr lang="zh-CN" altLang="en-US"/>
              <a:t>路由器</a:t>
            </a:r>
            <a:r>
              <a:rPr lang="en-US" altLang="zh-CN"/>
              <a:t>IOS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配置</a:t>
            </a:r>
            <a:r>
              <a:rPr lang="en-US" altLang="zh-CN"/>
              <a:t>TFTP</a:t>
            </a:r>
            <a:r>
              <a:rPr lang="zh-CN" altLang="en-US"/>
              <a:t>服务器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升级路由器的</a:t>
            </a:r>
            <a:r>
              <a:rPr lang="en-US" altLang="zh-CN"/>
              <a:t>IOS</a:t>
            </a:r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endParaRPr lang="zh-CN" altLang="en-US" sz="1400"/>
          </a:p>
          <a:p>
            <a:pPr lvl="1">
              <a:spcBef>
                <a:spcPts val="475"/>
              </a:spcBef>
            </a:pPr>
            <a:endParaRPr lang="zh-CN" altLang="en-US" sz="400"/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备份路由器</a:t>
            </a:r>
            <a:r>
              <a:rPr lang="en-US" altLang="zh-CN"/>
              <a:t>IOS</a:t>
            </a:r>
            <a:endParaRPr lang="zh-CN" alt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升级</a:t>
            </a:r>
            <a:r>
              <a:rPr lang="en-US" altLang="zh-CN"/>
              <a:t>Cisco</a:t>
            </a:r>
            <a:r>
              <a:rPr lang="zh-CN" altLang="en-US"/>
              <a:t>路由器的</a:t>
            </a:r>
            <a:r>
              <a:rPr lang="en-US" altLang="zh-CN"/>
              <a:t>IOS2-1</a:t>
            </a:r>
            <a:endParaRPr lang="zh-CN" altLang="zh-CN"/>
          </a:p>
        </p:txBody>
      </p:sp>
      <p:grpSp>
        <p:nvGrpSpPr>
          <p:cNvPr id="2" name="组合 83"/>
          <p:cNvGrpSpPr>
            <a:grpSpLocks/>
          </p:cNvGrpSpPr>
          <p:nvPr/>
        </p:nvGrpSpPr>
        <p:grpSpPr bwMode="auto">
          <a:xfrm>
            <a:off x="6069013" y="1428751"/>
            <a:ext cx="4456112" cy="1160463"/>
            <a:chOff x="4370403" y="1384272"/>
            <a:chExt cx="4456140" cy="1160283"/>
          </a:xfrm>
        </p:grpSpPr>
        <p:sp>
          <p:nvSpPr>
            <p:cNvPr id="29712" name="Text Box 8"/>
            <p:cNvSpPr txBox="1">
              <a:spLocks noChangeArrowheads="1"/>
            </p:cNvSpPr>
            <p:nvPr/>
          </p:nvSpPr>
          <p:spPr bwMode="auto">
            <a:xfrm>
              <a:off x="7369201" y="2206001"/>
              <a:ext cx="14573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192.168.1.2</a:t>
              </a:r>
            </a:p>
          </p:txBody>
        </p:sp>
        <p:pic>
          <p:nvPicPr>
            <p:cNvPr id="29713" name="Picture 1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712118" y="1384272"/>
              <a:ext cx="935038" cy="885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9714" name="Picture 12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370403" y="1562072"/>
              <a:ext cx="906463" cy="53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9715" name="AutoShape 15"/>
            <p:cNvCxnSpPr>
              <a:cxnSpLocks noChangeShapeType="1"/>
            </p:cNvCxnSpPr>
            <p:nvPr/>
          </p:nvCxnSpPr>
          <p:spPr bwMode="auto">
            <a:xfrm flipV="1">
              <a:off x="5276866" y="1827185"/>
              <a:ext cx="2435252" cy="1588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29716" name="Text Box 16"/>
            <p:cNvSpPr txBox="1">
              <a:spLocks noChangeArrowheads="1"/>
            </p:cNvSpPr>
            <p:nvPr/>
          </p:nvSpPr>
          <p:spPr bwMode="auto">
            <a:xfrm>
              <a:off x="4776778" y="1847820"/>
              <a:ext cx="1476374" cy="5847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F0/0</a:t>
              </a:r>
            </a:p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192.168.1.1</a:t>
              </a:r>
            </a:p>
          </p:txBody>
        </p:sp>
      </p:grpSp>
      <p:sp>
        <p:nvSpPr>
          <p:cNvPr id="26" name="AutoShape 16"/>
          <p:cNvSpPr>
            <a:spLocks noChangeArrowheads="1"/>
          </p:cNvSpPr>
          <p:nvPr/>
        </p:nvSpPr>
        <p:spPr bwMode="auto">
          <a:xfrm>
            <a:off x="2109788" y="2571751"/>
            <a:ext cx="7848600" cy="1246763"/>
          </a:xfrm>
          <a:prstGeom prst="roundRect">
            <a:avLst>
              <a:gd name="adj" fmla="val 6463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fr-FR" altLang="zh-CN" b="1">
                <a:solidFill>
                  <a:schemeClr val="tx2"/>
                </a:solidFill>
              </a:rPr>
              <a:t>Router# copy tftp flash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fr-FR" altLang="zh-CN" b="1">
                <a:solidFill>
                  <a:schemeClr val="tx2"/>
                </a:solidFill>
              </a:rPr>
              <a:t>Address or name of remote host [] ? 192.168.1.2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fr-FR" altLang="zh-CN" b="1">
                <a:solidFill>
                  <a:schemeClr val="tx2"/>
                </a:solidFill>
              </a:rPr>
              <a:t>Source filename [] ? c2800nm-ipbase-mz.123-6e.bin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fr-FR" altLang="zh-CN" b="1">
                <a:solidFill>
                  <a:schemeClr val="tx2"/>
                </a:solidFill>
              </a:rPr>
              <a:t>Destination filename[c2800nm -ipbase-mz.123-6e.bin] ? (</a:t>
            </a:r>
            <a:r>
              <a:rPr lang="zh-CN" altLang="en-US" b="1">
                <a:solidFill>
                  <a:schemeClr val="tx2"/>
                </a:solidFill>
              </a:rPr>
              <a:t>回车</a:t>
            </a:r>
            <a:r>
              <a:rPr lang="fr-FR" altLang="zh-CN" b="1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97" name="AutoShape 52"/>
          <p:cNvSpPr>
            <a:spLocks noChangeArrowheads="1"/>
          </p:cNvSpPr>
          <p:nvPr/>
        </p:nvSpPr>
        <p:spPr bwMode="auto">
          <a:xfrm>
            <a:off x="6881814" y="2486026"/>
            <a:ext cx="2308225" cy="307975"/>
          </a:xfrm>
          <a:prstGeom prst="wedgeRoundRectCallout">
            <a:avLst>
              <a:gd name="adj1" fmla="val -36347"/>
              <a:gd name="adj2" fmla="val 82014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marL="0" lvl="2"/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TFTP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服务器</a:t>
            </a:r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IP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地址</a:t>
            </a:r>
          </a:p>
        </p:txBody>
      </p:sp>
      <p:sp>
        <p:nvSpPr>
          <p:cNvPr id="98" name="AutoShape 52"/>
          <p:cNvSpPr>
            <a:spLocks noChangeArrowheads="1"/>
          </p:cNvSpPr>
          <p:nvPr/>
        </p:nvSpPr>
        <p:spPr bwMode="auto">
          <a:xfrm>
            <a:off x="7881939" y="2871789"/>
            <a:ext cx="1946275" cy="333375"/>
          </a:xfrm>
          <a:prstGeom prst="wedgeRoundRectCallout">
            <a:avLst>
              <a:gd name="adj1" fmla="val -45676"/>
              <a:gd name="adj2" fmla="val 85574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marL="0" lvl="2"/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拷贝的源文件名</a:t>
            </a:r>
          </a:p>
        </p:txBody>
      </p:sp>
      <p:sp>
        <p:nvSpPr>
          <p:cNvPr id="99" name="AutoShape 52"/>
          <p:cNvSpPr>
            <a:spLocks noChangeArrowheads="1"/>
          </p:cNvSpPr>
          <p:nvPr/>
        </p:nvSpPr>
        <p:spPr bwMode="auto">
          <a:xfrm>
            <a:off x="7667626" y="3929064"/>
            <a:ext cx="2570163" cy="376237"/>
          </a:xfrm>
          <a:prstGeom prst="wedgeRoundRectCallout">
            <a:avLst>
              <a:gd name="adj1" fmla="val -34681"/>
              <a:gd name="adj2" fmla="val -103259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marL="0" lvl="2"/>
            <a:r>
              <a:rPr lang="en-US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拷贝到设备上的文件名</a:t>
            </a:r>
            <a:endParaRPr lang="zh-CN" altLang="en-US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" name="AutoShape 16"/>
          <p:cNvSpPr>
            <a:spLocks noChangeArrowheads="1"/>
          </p:cNvSpPr>
          <p:nvPr/>
        </p:nvSpPr>
        <p:spPr bwMode="auto">
          <a:xfrm>
            <a:off x="2109788" y="4743451"/>
            <a:ext cx="7848600" cy="397907"/>
          </a:xfrm>
          <a:prstGeom prst="roundRect">
            <a:avLst>
              <a:gd name="adj" fmla="val 12935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Router# copy flash tftp</a:t>
            </a:r>
            <a:endParaRPr lang="zh-CN" altLang="en-US" b="1">
              <a:solidFill>
                <a:schemeClr val="tx2"/>
              </a:solidFill>
            </a:endParaRPr>
          </a:p>
        </p:txBody>
      </p:sp>
      <p:grpSp>
        <p:nvGrpSpPr>
          <p:cNvPr id="3" name="组合 93"/>
          <p:cNvGrpSpPr>
            <a:grpSpLocks/>
          </p:cNvGrpSpPr>
          <p:nvPr/>
        </p:nvGrpSpPr>
        <p:grpSpPr bwMode="auto">
          <a:xfrm>
            <a:off x="3795714" y="2552700"/>
            <a:ext cx="4668837" cy="3213100"/>
            <a:chOff x="3695688" y="2370123"/>
            <a:chExt cx="4668861" cy="3212980"/>
          </a:xfrm>
        </p:grpSpPr>
        <p:pic>
          <p:nvPicPr>
            <p:cNvPr id="29710" name="Picture 8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695688" y="2370123"/>
              <a:ext cx="4668861" cy="32129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3" name="AutoShape 52"/>
            <p:cNvSpPr>
              <a:spLocks noChangeArrowheads="1"/>
            </p:cNvSpPr>
            <p:nvPr/>
          </p:nvSpPr>
          <p:spPr bwMode="auto">
            <a:xfrm>
              <a:off x="4024302" y="3611502"/>
              <a:ext cx="2409837" cy="547668"/>
            </a:xfrm>
            <a:prstGeom prst="wedgeRoundRectCallout">
              <a:avLst>
                <a:gd name="adj1" fmla="val -44913"/>
                <a:gd name="adj2" fmla="val -142165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0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 anchorCtr="1"/>
            <a:lstStyle/>
            <a:p>
              <a:pPr algn="ctr">
                <a:defRPr/>
              </a:pPr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点击按钮设置</a:t>
              </a:r>
              <a:r>
                <a:rPr 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Cisco TFTP Server</a:t>
              </a:r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软件</a:t>
              </a:r>
            </a:p>
          </p:txBody>
        </p:sp>
      </p:grpSp>
      <p:grpSp>
        <p:nvGrpSpPr>
          <p:cNvPr id="4" name="组合 89"/>
          <p:cNvGrpSpPr>
            <a:grpSpLocks/>
          </p:cNvGrpSpPr>
          <p:nvPr/>
        </p:nvGrpSpPr>
        <p:grpSpPr bwMode="auto">
          <a:xfrm>
            <a:off x="3832226" y="2406650"/>
            <a:ext cx="4354513" cy="3614738"/>
            <a:chOff x="4789824" y="2224071"/>
            <a:chExt cx="4354176" cy="3614787"/>
          </a:xfrm>
        </p:grpSpPr>
        <p:pic>
          <p:nvPicPr>
            <p:cNvPr id="29708" name="Picture 78" descr="TFTP2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789824" y="2224071"/>
              <a:ext cx="4354176" cy="3286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9" name="AutoShape 52"/>
            <p:cNvSpPr>
              <a:spLocks noChangeArrowheads="1"/>
            </p:cNvSpPr>
            <p:nvPr/>
          </p:nvSpPr>
          <p:spPr bwMode="auto">
            <a:xfrm>
              <a:off x="6251799" y="5291163"/>
              <a:ext cx="1788974" cy="547695"/>
            </a:xfrm>
            <a:prstGeom prst="wedgeRoundRectCallout">
              <a:avLst>
                <a:gd name="adj1" fmla="val -44913"/>
                <a:gd name="adj2" fmla="val -142165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0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 anchorCtr="1"/>
            <a:lstStyle/>
            <a:p>
              <a:pPr algn="ctr">
                <a:defRPr/>
              </a:pPr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填入</a:t>
              </a:r>
              <a:r>
                <a:rPr lang="en-US" altLang="zh-CN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IOS</a:t>
              </a:r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文件存放的路径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97" grpId="0" animBg="1"/>
      <p:bldP spid="98" grpId="0" animBg="1"/>
      <p:bldP spid="99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内容占位符 76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通过</a:t>
            </a:r>
            <a:r>
              <a:rPr lang="en-US" altLang="zh-CN"/>
              <a:t>FTP</a:t>
            </a:r>
            <a:r>
              <a:rPr lang="zh-CN" altLang="en-US"/>
              <a:t>服务器升级</a:t>
            </a:r>
            <a:r>
              <a:rPr lang="en-US" altLang="zh-CN"/>
              <a:t>Cisco</a:t>
            </a:r>
            <a:r>
              <a:rPr lang="zh-CN" altLang="en-US"/>
              <a:t>路由器</a:t>
            </a:r>
            <a:r>
              <a:rPr lang="en-US" altLang="zh-CN"/>
              <a:t>IOS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配置</a:t>
            </a:r>
            <a:r>
              <a:rPr lang="en-US" altLang="zh-CN"/>
              <a:t>FTP</a:t>
            </a:r>
            <a:r>
              <a:rPr lang="zh-CN" altLang="en-US"/>
              <a:t>服务器</a:t>
            </a:r>
            <a:endParaRPr lang="en-US" altLang="zh-CN"/>
          </a:p>
          <a:p>
            <a:pPr lvl="2">
              <a:spcBef>
                <a:spcPct val="0"/>
              </a:spcBef>
            </a:pPr>
            <a:r>
              <a:rPr lang="zh-CN" altLang="en-US"/>
              <a:t>配置</a:t>
            </a:r>
            <a:r>
              <a:rPr lang="en-US" altLang="zh-CN"/>
              <a:t>FTP</a:t>
            </a:r>
            <a:r>
              <a:rPr lang="zh-CN" altLang="en-US"/>
              <a:t>服务器目录</a:t>
            </a:r>
            <a:endParaRPr lang="en-US" altLang="zh-CN"/>
          </a:p>
          <a:p>
            <a:pPr lvl="2">
              <a:spcBef>
                <a:spcPct val="0"/>
              </a:spcBef>
            </a:pPr>
            <a:r>
              <a:rPr lang="zh-CN" altLang="en-US"/>
              <a:t>配置用户名、密码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在路由器上配置登录</a:t>
            </a:r>
            <a:r>
              <a:rPr lang="en-US" altLang="zh-CN"/>
              <a:t>FTP</a:t>
            </a:r>
            <a:r>
              <a:rPr lang="zh-CN" altLang="en-US"/>
              <a:t>用户名、密码</a:t>
            </a:r>
            <a:endParaRPr lang="en-US" altLang="zh-CN"/>
          </a:p>
          <a:p>
            <a:pPr lvl="1">
              <a:spcBef>
                <a:spcPts val="475"/>
              </a:spcBef>
            </a:pPr>
            <a:endParaRPr lang="zh-CN" altLang="en-US"/>
          </a:p>
          <a:p>
            <a:pPr lvl="1">
              <a:lnSpc>
                <a:spcPts val="1200"/>
              </a:lnSpc>
              <a:spcBef>
                <a:spcPts val="475"/>
              </a:spcBef>
            </a:pPr>
            <a:endParaRPr lang="zh-CN" altLang="en-US"/>
          </a:p>
          <a:p>
            <a:pPr lvl="1">
              <a:spcBef>
                <a:spcPts val="475"/>
              </a:spcBef>
            </a:pPr>
            <a:r>
              <a:rPr lang="zh-CN" altLang="en-US"/>
              <a:t>升级路由器的</a:t>
            </a:r>
            <a:r>
              <a:rPr lang="en-US" altLang="zh-CN"/>
              <a:t>IOS</a:t>
            </a:r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 lvl="1">
              <a:lnSpc>
                <a:spcPts val="2200"/>
              </a:lnSpc>
              <a:spcBef>
                <a:spcPts val="4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备份路由器</a:t>
            </a:r>
            <a:r>
              <a:rPr lang="en-US" altLang="zh-CN"/>
              <a:t>IOS</a:t>
            </a:r>
            <a:endParaRPr lang="zh-CN" altLang="en-US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升级</a:t>
            </a:r>
            <a:r>
              <a:rPr lang="en-US" altLang="zh-CN"/>
              <a:t>Cisco</a:t>
            </a:r>
            <a:r>
              <a:rPr lang="zh-CN" altLang="en-US"/>
              <a:t>路由器的</a:t>
            </a:r>
            <a:r>
              <a:rPr lang="en-US" altLang="zh-CN"/>
              <a:t>IOS2-2</a:t>
            </a:r>
            <a:endParaRPr lang="zh-CN" altLang="zh-CN"/>
          </a:p>
        </p:txBody>
      </p:sp>
      <p:grpSp>
        <p:nvGrpSpPr>
          <p:cNvPr id="2" name="组合 27"/>
          <p:cNvGrpSpPr>
            <a:grpSpLocks/>
          </p:cNvGrpSpPr>
          <p:nvPr/>
        </p:nvGrpSpPr>
        <p:grpSpPr bwMode="auto">
          <a:xfrm>
            <a:off x="5970588" y="1282700"/>
            <a:ext cx="4762500" cy="1360488"/>
            <a:chOff x="2460637" y="5021271"/>
            <a:chExt cx="4762511" cy="1360918"/>
          </a:xfrm>
        </p:grpSpPr>
        <p:sp>
          <p:nvSpPr>
            <p:cNvPr id="30731" name="Text Box 4"/>
            <p:cNvSpPr txBox="1">
              <a:spLocks noChangeArrowheads="1"/>
            </p:cNvSpPr>
            <p:nvPr/>
          </p:nvSpPr>
          <p:spPr bwMode="auto">
            <a:xfrm>
              <a:off x="5703903" y="6043635"/>
              <a:ext cx="1519245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192.168.1.2</a:t>
              </a:r>
            </a:p>
          </p:txBody>
        </p:sp>
        <p:pic>
          <p:nvPicPr>
            <p:cNvPr id="30732" name="Picture 6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460637" y="5419749"/>
              <a:ext cx="906463" cy="53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0733" name="AutoShape 7"/>
            <p:cNvCxnSpPr>
              <a:cxnSpLocks noChangeShapeType="1"/>
            </p:cNvCxnSpPr>
            <p:nvPr/>
          </p:nvCxnSpPr>
          <p:spPr bwMode="auto">
            <a:xfrm flipV="1">
              <a:off x="3367100" y="5685656"/>
              <a:ext cx="2687632" cy="793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30734" name="Text Box 8"/>
            <p:cNvSpPr txBox="1">
              <a:spLocks noChangeArrowheads="1"/>
            </p:cNvSpPr>
            <p:nvPr/>
          </p:nvSpPr>
          <p:spPr bwMode="auto">
            <a:xfrm>
              <a:off x="2887671" y="5656293"/>
              <a:ext cx="1428738" cy="5847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F0/0</a:t>
              </a:r>
            </a:p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192.168.1.1</a:t>
              </a:r>
            </a:p>
          </p:txBody>
        </p:sp>
        <p:pic>
          <p:nvPicPr>
            <p:cNvPr id="30735" name="Picture 9" descr="black_server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054732" y="5349888"/>
              <a:ext cx="671536" cy="671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736" name="Text Box 10"/>
            <p:cNvSpPr txBox="1">
              <a:spLocks noChangeArrowheads="1"/>
            </p:cNvSpPr>
            <p:nvPr/>
          </p:nvSpPr>
          <p:spPr bwMode="auto">
            <a:xfrm>
              <a:off x="5673781" y="5021271"/>
              <a:ext cx="1450995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FTP Server</a:t>
              </a:r>
            </a:p>
          </p:txBody>
        </p:sp>
      </p:grpSp>
      <p:sp>
        <p:nvSpPr>
          <p:cNvPr id="22" name="AutoShape 16"/>
          <p:cNvSpPr>
            <a:spLocks noChangeArrowheads="1"/>
          </p:cNvSpPr>
          <p:nvPr/>
        </p:nvSpPr>
        <p:spPr bwMode="auto">
          <a:xfrm>
            <a:off x="2109788" y="3257551"/>
            <a:ext cx="7848600" cy="671513"/>
          </a:xfrm>
          <a:prstGeom prst="roundRect">
            <a:avLst>
              <a:gd name="adj" fmla="val 6463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fr-FR" altLang="zh-CN" b="1">
                <a:solidFill>
                  <a:schemeClr val="tx2"/>
                </a:solidFill>
              </a:rPr>
              <a:t>Router(config)# ip ftp username benet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fr-FR" altLang="zh-CN" b="1">
                <a:solidFill>
                  <a:schemeClr val="tx2"/>
                </a:solidFill>
              </a:rPr>
              <a:t>Router(config)# ip ftp password cisco</a:t>
            </a:r>
          </a:p>
        </p:txBody>
      </p:sp>
      <p:sp>
        <p:nvSpPr>
          <p:cNvPr id="23" name="AutoShape 16"/>
          <p:cNvSpPr>
            <a:spLocks noChangeArrowheads="1"/>
          </p:cNvSpPr>
          <p:nvPr/>
        </p:nvSpPr>
        <p:spPr bwMode="auto">
          <a:xfrm>
            <a:off x="2109788" y="4371975"/>
            <a:ext cx="7848600" cy="1246188"/>
          </a:xfrm>
          <a:prstGeom prst="roundRect">
            <a:avLst>
              <a:gd name="adj" fmla="val 6463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fr-FR" altLang="zh-CN" b="1">
                <a:solidFill>
                  <a:schemeClr val="tx2"/>
                </a:solidFill>
              </a:rPr>
              <a:t>Router# copy ftp flash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fr-FR" altLang="zh-CN" b="1">
                <a:solidFill>
                  <a:schemeClr val="tx2"/>
                </a:solidFill>
              </a:rPr>
              <a:t>Address or name of remote host [] ? 192.168.1.2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fr-FR" altLang="zh-CN" b="1">
                <a:solidFill>
                  <a:schemeClr val="tx2"/>
                </a:solidFill>
              </a:rPr>
              <a:t>Source filename [] ? c2800nm -ipbase-mz.123-6e .bin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fr-FR" altLang="zh-CN" b="1">
                <a:solidFill>
                  <a:schemeClr val="tx2"/>
                </a:solidFill>
              </a:rPr>
              <a:t>Destination filename[c2800nm -ipbase-mz.123-6e.bin] ? (</a:t>
            </a:r>
            <a:r>
              <a:rPr lang="zh-CN" altLang="en-US" b="1">
                <a:solidFill>
                  <a:schemeClr val="tx2"/>
                </a:solidFill>
              </a:rPr>
              <a:t>回车</a:t>
            </a:r>
            <a:r>
              <a:rPr lang="fr-FR" altLang="zh-CN" b="1">
                <a:solidFill>
                  <a:schemeClr val="tx2"/>
                </a:solidFill>
              </a:rPr>
              <a:t>)</a:t>
            </a: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97" name="AutoShape 52"/>
          <p:cNvSpPr>
            <a:spLocks noChangeArrowheads="1"/>
          </p:cNvSpPr>
          <p:nvPr/>
        </p:nvSpPr>
        <p:spPr bwMode="auto">
          <a:xfrm>
            <a:off x="6716714" y="4084639"/>
            <a:ext cx="2162175" cy="401637"/>
          </a:xfrm>
          <a:prstGeom prst="wedgeRoundRectCallout">
            <a:avLst>
              <a:gd name="adj1" fmla="val -33551"/>
              <a:gd name="adj2" fmla="val 105889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marL="0" lvl="2"/>
            <a:r>
              <a:rPr lang="en-US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FTP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服务器</a:t>
            </a:r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IP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地址</a:t>
            </a:r>
          </a:p>
        </p:txBody>
      </p:sp>
      <p:sp>
        <p:nvSpPr>
          <p:cNvPr id="98" name="AutoShape 52"/>
          <p:cNvSpPr>
            <a:spLocks noChangeArrowheads="1"/>
          </p:cNvSpPr>
          <p:nvPr/>
        </p:nvSpPr>
        <p:spPr bwMode="auto">
          <a:xfrm>
            <a:off x="8167688" y="4527550"/>
            <a:ext cx="2025650" cy="401638"/>
          </a:xfrm>
          <a:prstGeom prst="wedgeRoundRectCallout">
            <a:avLst>
              <a:gd name="adj1" fmla="val -53995"/>
              <a:gd name="adj2" fmla="val 102569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marL="0" lvl="2"/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拷贝的源文件名</a:t>
            </a:r>
          </a:p>
        </p:txBody>
      </p:sp>
      <p:sp>
        <p:nvSpPr>
          <p:cNvPr id="24" name="AutoShape 16"/>
          <p:cNvSpPr>
            <a:spLocks noChangeArrowheads="1"/>
          </p:cNvSpPr>
          <p:nvPr/>
        </p:nvSpPr>
        <p:spPr bwMode="auto">
          <a:xfrm>
            <a:off x="2109788" y="6045201"/>
            <a:ext cx="7848600" cy="384175"/>
          </a:xfrm>
          <a:prstGeom prst="roundRect">
            <a:avLst>
              <a:gd name="adj" fmla="val 6463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Router# copy ftp flash</a:t>
            </a: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99" name="AutoShape 52"/>
          <p:cNvSpPr>
            <a:spLocks noChangeArrowheads="1"/>
          </p:cNvSpPr>
          <p:nvPr/>
        </p:nvSpPr>
        <p:spPr bwMode="auto">
          <a:xfrm>
            <a:off x="7483475" y="5776913"/>
            <a:ext cx="2825750" cy="438150"/>
          </a:xfrm>
          <a:prstGeom prst="wedgeRoundRectCallout">
            <a:avLst>
              <a:gd name="adj1" fmla="val -34889"/>
              <a:gd name="adj2" fmla="val -103259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marL="0" lvl="2"/>
            <a:r>
              <a:rPr lang="en-US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拷贝到设备上的文件名</a:t>
            </a:r>
            <a:endParaRPr lang="zh-CN" altLang="en-US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97" grpId="0" animBg="1"/>
      <p:bldP spid="98" grpId="0" animBg="1"/>
      <p:bldP spid="24" grpId="0" animBg="1"/>
      <p:bldP spid="9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内容占位符 44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IOS</a:t>
            </a:r>
            <a:r>
              <a:rPr lang="zh-CN" altLang="en-US"/>
              <a:t>文件损坏或丢失后，进行</a:t>
            </a:r>
            <a:r>
              <a:rPr lang="en-US" altLang="zh-CN"/>
              <a:t>IOS</a:t>
            </a:r>
            <a:r>
              <a:rPr lang="zh-CN" altLang="en-US"/>
              <a:t>文件恢复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使用</a:t>
            </a:r>
            <a:r>
              <a:rPr lang="en-US" altLang="zh-CN"/>
              <a:t>Console</a:t>
            </a:r>
            <a:r>
              <a:rPr lang="zh-CN" altLang="en-US"/>
              <a:t>线连接交换机和主机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加载</a:t>
            </a:r>
            <a:r>
              <a:rPr lang="en-US" altLang="zh-CN"/>
              <a:t>IOS</a:t>
            </a:r>
            <a:r>
              <a:rPr lang="zh-CN" altLang="en-US"/>
              <a:t>失败，初始化</a:t>
            </a:r>
            <a:r>
              <a:rPr lang="en-US" altLang="zh-CN"/>
              <a:t>FLASH</a:t>
            </a:r>
          </a:p>
          <a:p>
            <a:pPr lvl="1">
              <a:spcBef>
                <a:spcPts val="475"/>
              </a:spcBef>
              <a:buNone/>
            </a:pPr>
            <a:endParaRPr lang="en-US" altLang="zh-CN" sz="1800"/>
          </a:p>
          <a:p>
            <a:pPr lvl="1">
              <a:spcBef>
                <a:spcPts val="475"/>
              </a:spcBef>
              <a:buNone/>
            </a:pPr>
            <a:endParaRPr lang="en-US" altLang="zh-CN" sz="1800"/>
          </a:p>
          <a:p>
            <a:pPr lvl="1">
              <a:lnSpc>
                <a:spcPts val="2000"/>
              </a:lnSpc>
              <a:spcBef>
                <a:spcPts val="475"/>
              </a:spcBef>
              <a:buNone/>
            </a:pPr>
            <a:endParaRPr lang="en-US" altLang="zh-CN" sz="1800"/>
          </a:p>
          <a:p>
            <a:pPr lvl="1">
              <a:spcBef>
                <a:spcPts val="475"/>
              </a:spcBef>
            </a:pPr>
            <a:r>
              <a:rPr lang="zh-CN" altLang="en-US"/>
              <a:t>通过</a:t>
            </a:r>
            <a:r>
              <a:rPr lang="en-US" altLang="zh-CN"/>
              <a:t>Xmodem</a:t>
            </a:r>
            <a:r>
              <a:rPr lang="zh-CN" altLang="en-US"/>
              <a:t>协议传输</a:t>
            </a:r>
            <a:r>
              <a:rPr lang="en-US" altLang="zh-CN"/>
              <a:t>IOS</a:t>
            </a:r>
            <a:r>
              <a:rPr lang="zh-CN" altLang="en-US"/>
              <a:t>文件</a:t>
            </a:r>
            <a:endParaRPr lang="en-US" altLang="zh-CN"/>
          </a:p>
          <a:p>
            <a:pPr lvl="1">
              <a:lnSpc>
                <a:spcPts val="2600"/>
              </a:lnSpc>
              <a:spcBef>
                <a:spcPts val="475"/>
              </a:spcBef>
            </a:pPr>
            <a:endParaRPr lang="zh-CN" altLang="en-US"/>
          </a:p>
          <a:p>
            <a:pPr lvl="1">
              <a:spcBef>
                <a:spcPts val="475"/>
              </a:spcBef>
            </a:pPr>
            <a:r>
              <a:rPr lang="zh-CN" altLang="en-US"/>
              <a:t>设置超级终端的</a:t>
            </a:r>
            <a:r>
              <a:rPr lang="en-US" altLang="zh-CN"/>
              <a:t>Xmodem</a:t>
            </a:r>
            <a:r>
              <a:rPr lang="zh-CN" altLang="en-US"/>
              <a:t>选项</a:t>
            </a:r>
          </a:p>
          <a:p>
            <a:pPr lvl="2">
              <a:spcBef>
                <a:spcPct val="0"/>
              </a:spcBef>
            </a:pPr>
            <a:r>
              <a:rPr lang="zh-CN" altLang="en-US"/>
              <a:t>超级终端菜单“传送”中，单击“发送文件”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启动交换机</a:t>
            </a: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IOS</a:t>
            </a:r>
            <a:r>
              <a:rPr lang="zh-CN" altLang="en-US"/>
              <a:t>恢复</a:t>
            </a:r>
            <a:endParaRPr lang="zh-CN" altLang="zh-CN"/>
          </a:p>
        </p:txBody>
      </p:sp>
      <p:grpSp>
        <p:nvGrpSpPr>
          <p:cNvPr id="2" name="组合 50"/>
          <p:cNvGrpSpPr>
            <a:grpSpLocks/>
          </p:cNvGrpSpPr>
          <p:nvPr/>
        </p:nvGrpSpPr>
        <p:grpSpPr bwMode="auto">
          <a:xfrm>
            <a:off x="6461125" y="2333626"/>
            <a:ext cx="3817938" cy="912813"/>
            <a:chOff x="2224088" y="2697163"/>
            <a:chExt cx="4867275" cy="1163637"/>
          </a:xfrm>
        </p:grpSpPr>
        <p:sp>
          <p:nvSpPr>
            <p:cNvPr id="31757" name="Freeform 4"/>
            <p:cNvSpPr>
              <a:spLocks/>
            </p:cNvSpPr>
            <p:nvPr/>
          </p:nvSpPr>
          <p:spPr bwMode="auto">
            <a:xfrm>
              <a:off x="3203575" y="2697163"/>
              <a:ext cx="3024188" cy="1163637"/>
            </a:xfrm>
            <a:custGeom>
              <a:avLst/>
              <a:gdLst>
                <a:gd name="T0" fmla="*/ 0 w 1905"/>
                <a:gd name="T1" fmla="*/ 2147483647 h 733"/>
                <a:gd name="T2" fmla="*/ 2147483647 w 1905"/>
                <a:gd name="T3" fmla="*/ 2147483647 h 733"/>
                <a:gd name="T4" fmla="*/ 2147483647 w 1905"/>
                <a:gd name="T5" fmla="*/ 2147483647 h 733"/>
                <a:gd name="T6" fmla="*/ 2147483647 w 1905"/>
                <a:gd name="T7" fmla="*/ 2147483647 h 7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05"/>
                <a:gd name="T13" fmla="*/ 0 h 733"/>
                <a:gd name="T14" fmla="*/ 1905 w 1905"/>
                <a:gd name="T15" fmla="*/ 733 h 7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05" h="733">
                  <a:moveTo>
                    <a:pt x="0" y="370"/>
                  </a:moveTo>
                  <a:cubicBezTo>
                    <a:pt x="408" y="185"/>
                    <a:pt x="817" y="0"/>
                    <a:pt x="953" y="53"/>
                  </a:cubicBezTo>
                  <a:cubicBezTo>
                    <a:pt x="1089" y="106"/>
                    <a:pt x="658" y="643"/>
                    <a:pt x="817" y="688"/>
                  </a:cubicBezTo>
                  <a:cubicBezTo>
                    <a:pt x="976" y="733"/>
                    <a:pt x="1693" y="386"/>
                    <a:pt x="1905" y="325"/>
                  </a:cubicBezTo>
                </a:path>
              </a:pathLst>
            </a:custGeom>
            <a:noFill/>
            <a:ln w="31750">
              <a:solidFill>
                <a:srgbClr val="E02708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endParaRPr lang="zh-CN" altLang="en-US"/>
            </a:p>
          </p:txBody>
        </p:sp>
        <p:sp>
          <p:nvSpPr>
            <p:cNvPr id="31758" name="Text Box 5"/>
            <p:cNvSpPr txBox="1">
              <a:spLocks noChangeArrowheads="1"/>
            </p:cNvSpPr>
            <p:nvPr/>
          </p:nvSpPr>
          <p:spPr bwMode="auto">
            <a:xfrm>
              <a:off x="3706431" y="3124200"/>
              <a:ext cx="1836509" cy="4315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Console</a:t>
              </a:r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线</a:t>
              </a:r>
            </a:p>
          </p:txBody>
        </p:sp>
        <p:pic>
          <p:nvPicPr>
            <p:cNvPr id="31759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156325" y="2781300"/>
              <a:ext cx="935038" cy="885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760" name="Picture 1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224088" y="3068638"/>
              <a:ext cx="1042987" cy="4460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8" name="AutoShape 16"/>
          <p:cNvSpPr>
            <a:spLocks noChangeArrowheads="1"/>
          </p:cNvSpPr>
          <p:nvPr/>
        </p:nvSpPr>
        <p:spPr bwMode="auto">
          <a:xfrm>
            <a:off x="2109789" y="2500314"/>
            <a:ext cx="3843337" cy="1246187"/>
          </a:xfrm>
          <a:prstGeom prst="roundRect">
            <a:avLst>
              <a:gd name="adj" fmla="val 6463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switch:flash_init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InitialiaingFlash...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……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……</a:t>
            </a:r>
            <a:endParaRPr lang="fr-FR" altLang="zh-CN" b="1">
              <a:solidFill>
                <a:schemeClr val="tx2"/>
              </a:solidFill>
            </a:endParaRPr>
          </a:p>
        </p:txBody>
      </p:sp>
      <p:sp>
        <p:nvSpPr>
          <p:cNvPr id="19" name="AutoShape 16"/>
          <p:cNvSpPr>
            <a:spLocks noChangeArrowheads="1"/>
          </p:cNvSpPr>
          <p:nvPr/>
        </p:nvSpPr>
        <p:spPr bwMode="auto">
          <a:xfrm>
            <a:off x="2109788" y="4170364"/>
            <a:ext cx="7848600" cy="384175"/>
          </a:xfrm>
          <a:prstGeom prst="roundRect">
            <a:avLst>
              <a:gd name="adj" fmla="val 6463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switch: copy Xmodem: flash: c2960-lanbase-mz.122-35.se5.bin</a:t>
            </a:r>
          </a:p>
        </p:txBody>
      </p:sp>
      <p:sp>
        <p:nvSpPr>
          <p:cNvPr id="20" name="AutoShape 16"/>
          <p:cNvSpPr>
            <a:spLocks noChangeArrowheads="1"/>
          </p:cNvSpPr>
          <p:nvPr/>
        </p:nvSpPr>
        <p:spPr bwMode="auto">
          <a:xfrm>
            <a:off x="2109788" y="5803901"/>
            <a:ext cx="7848600" cy="384175"/>
          </a:xfrm>
          <a:prstGeom prst="roundRect">
            <a:avLst>
              <a:gd name="adj" fmla="val 6463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Switch:boot</a:t>
            </a:r>
            <a:endParaRPr lang="zh-CN" altLang="en-US" b="1">
              <a:solidFill>
                <a:schemeClr val="tx2"/>
              </a:solidFill>
            </a:endParaRPr>
          </a:p>
        </p:txBody>
      </p:sp>
      <p:grpSp>
        <p:nvGrpSpPr>
          <p:cNvPr id="3" name="组合 59"/>
          <p:cNvGrpSpPr>
            <a:grpSpLocks/>
          </p:cNvGrpSpPr>
          <p:nvPr/>
        </p:nvGrpSpPr>
        <p:grpSpPr bwMode="auto">
          <a:xfrm>
            <a:off x="2963864" y="2024064"/>
            <a:ext cx="6061075" cy="3119437"/>
            <a:chOff x="1285830" y="2041506"/>
            <a:chExt cx="6389775" cy="4052943"/>
          </a:xfrm>
        </p:grpSpPr>
        <p:pic>
          <p:nvPicPr>
            <p:cNvPr id="31753" name="Picture 45" descr="snap197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431882" y="2041506"/>
              <a:ext cx="6243723" cy="35757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6" name="AutoShape 52"/>
            <p:cNvSpPr>
              <a:spLocks noChangeArrowheads="1"/>
            </p:cNvSpPr>
            <p:nvPr/>
          </p:nvSpPr>
          <p:spPr bwMode="auto">
            <a:xfrm>
              <a:off x="4388670" y="3064539"/>
              <a:ext cx="1864382" cy="400138"/>
            </a:xfrm>
            <a:prstGeom prst="wedgeRoundRectCallout">
              <a:avLst>
                <a:gd name="adj1" fmla="val -33552"/>
                <a:gd name="adj2" fmla="val 105888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16200000" scaled="0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 anchorCtr="1"/>
            <a:lstStyle/>
            <a:p>
              <a:pPr algn="ctr">
                <a:defRPr/>
              </a:pPr>
              <a:r>
                <a:rPr lang="en-US" altLang="zh-CN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选择</a:t>
              </a:r>
              <a:r>
                <a:rPr lang="en-US" altLang="zh-CN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IOS</a:t>
              </a: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文件</a:t>
              </a:r>
            </a:p>
          </p:txBody>
        </p:sp>
        <p:sp>
          <p:nvSpPr>
            <p:cNvPr id="58" name="AutoShape 52"/>
            <p:cNvSpPr>
              <a:spLocks noChangeArrowheads="1"/>
            </p:cNvSpPr>
            <p:nvPr/>
          </p:nvSpPr>
          <p:spPr bwMode="auto">
            <a:xfrm>
              <a:off x="1285830" y="5071416"/>
              <a:ext cx="1862708" cy="402201"/>
            </a:xfrm>
            <a:prstGeom prst="wedgeRoundRectCallout">
              <a:avLst>
                <a:gd name="adj1" fmla="val -11565"/>
                <a:gd name="adj2" fmla="val -142165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0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 anchorCtr="1"/>
            <a:lstStyle/>
            <a:p>
              <a:pPr algn="ctr">
                <a:defRPr/>
              </a:pPr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选择</a:t>
              </a:r>
              <a:r>
                <a:rPr lang="en-US" altLang="zh-CN" b="1" dirty="0" err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Xmodem</a:t>
              </a:r>
              <a:endPara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9" name="AutoShape 52"/>
            <p:cNvSpPr>
              <a:spLocks noChangeArrowheads="1"/>
            </p:cNvSpPr>
            <p:nvPr/>
          </p:nvSpPr>
          <p:spPr bwMode="auto">
            <a:xfrm>
              <a:off x="3439743" y="5692249"/>
              <a:ext cx="1862709" cy="402200"/>
            </a:xfrm>
            <a:prstGeom prst="wedgeRoundRectCallout">
              <a:avLst>
                <a:gd name="adj1" fmla="val -11565"/>
                <a:gd name="adj2" fmla="val -142165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0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 anchorCtr="1"/>
            <a:lstStyle/>
            <a:p>
              <a:pPr algn="ctr">
                <a:defRPr/>
              </a:pPr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最后点击发送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Cisco</a:t>
            </a:r>
            <a:r>
              <a:rPr lang="zh-CN" altLang="en-US"/>
              <a:t>路由产品体系</a:t>
            </a:r>
            <a:r>
              <a:rPr lang="en-US" altLang="zh-CN"/>
              <a:t>4-1</a:t>
            </a:r>
            <a:endParaRPr lang="zh-CN" altLang="en-US"/>
          </a:p>
        </p:txBody>
      </p:sp>
      <p:grpSp>
        <p:nvGrpSpPr>
          <p:cNvPr id="2" name="组合 62"/>
          <p:cNvGrpSpPr>
            <a:grpSpLocks/>
          </p:cNvGrpSpPr>
          <p:nvPr/>
        </p:nvGrpSpPr>
        <p:grpSpPr bwMode="auto">
          <a:xfrm>
            <a:off x="2024064" y="1071564"/>
            <a:ext cx="8358187" cy="5442525"/>
            <a:chOff x="500091" y="1071584"/>
            <a:chExt cx="8358189" cy="5442525"/>
          </a:xfrm>
        </p:grpSpPr>
        <p:pic>
          <p:nvPicPr>
            <p:cNvPr id="32772" name="Picture 8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357591" y="1071584"/>
              <a:ext cx="2286000" cy="1428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73" name="Picture 5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357466" y="3000396"/>
              <a:ext cx="2071687" cy="10715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74" name="Picture 40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428903" y="3286146"/>
              <a:ext cx="785813" cy="522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32775" name="Picture 405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214716" y="1428771"/>
              <a:ext cx="923925" cy="7953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32776" name="Picture 40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643341" y="3286146"/>
              <a:ext cx="785812" cy="522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32777" name="Picture 6"/>
            <p:cNvPicPr>
              <a:picLocks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1714528" y="4500584"/>
              <a:ext cx="1500188" cy="1000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78" name="Picture 7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1785966" y="4857772"/>
              <a:ext cx="500063" cy="285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79" name="Picture 7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2643216" y="4857772"/>
              <a:ext cx="500063" cy="285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80" name="Picture 6"/>
            <p:cNvPicPr>
              <a:picLocks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500716" y="4429146"/>
              <a:ext cx="1500187" cy="928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81" name="Picture 7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572153" y="4786334"/>
              <a:ext cx="500062" cy="285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82" name="Picture 7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6429403" y="4786334"/>
              <a:ext cx="500062" cy="285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83" name="Picture 6"/>
            <p:cNvPicPr>
              <a:picLocks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3643341" y="5143521"/>
              <a:ext cx="2214562" cy="1285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84" name="Picture 7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3643341" y="5643584"/>
              <a:ext cx="500062" cy="285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85" name="Picture 7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500591" y="5643584"/>
              <a:ext cx="500062" cy="285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86" name="Picture 7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357841" y="5643584"/>
              <a:ext cx="500062" cy="285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87" name="Picture 405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072091" y="1428771"/>
              <a:ext cx="923925" cy="7953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32788" name="Picture 5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86528" y="3000396"/>
              <a:ext cx="2071688" cy="1143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89" name="Picture 40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357966" y="3286146"/>
              <a:ext cx="785812" cy="522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32790" name="Picture 40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572403" y="3286146"/>
              <a:ext cx="785813" cy="522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cxnSp>
          <p:nvCxnSpPr>
            <p:cNvPr id="32791" name="直接连接符 32"/>
            <p:cNvCxnSpPr>
              <a:cxnSpLocks noChangeShapeType="1"/>
            </p:cNvCxnSpPr>
            <p:nvPr/>
          </p:nvCxnSpPr>
          <p:spPr bwMode="auto">
            <a:xfrm rot="5400000">
              <a:off x="1903441" y="3940196"/>
              <a:ext cx="1049337" cy="785813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2792" name="直接连接符 35"/>
            <p:cNvCxnSpPr>
              <a:cxnSpLocks noChangeShapeType="1"/>
            </p:cNvCxnSpPr>
            <p:nvPr/>
          </p:nvCxnSpPr>
          <p:spPr bwMode="auto">
            <a:xfrm rot="16200000" flipH="1">
              <a:off x="2439222" y="4190228"/>
              <a:ext cx="1835150" cy="1071562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2793" name="直接连接符 37"/>
            <p:cNvCxnSpPr>
              <a:cxnSpLocks noChangeShapeType="1"/>
            </p:cNvCxnSpPr>
            <p:nvPr/>
          </p:nvCxnSpPr>
          <p:spPr bwMode="auto">
            <a:xfrm rot="16200000" flipH="1">
              <a:off x="3468715" y="2432072"/>
              <a:ext cx="2562225" cy="2146300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2794" name="直接连接符 39"/>
            <p:cNvCxnSpPr>
              <a:cxnSpLocks noChangeShapeType="1"/>
            </p:cNvCxnSpPr>
            <p:nvPr/>
          </p:nvCxnSpPr>
          <p:spPr bwMode="auto">
            <a:xfrm rot="16200000" flipH="1">
              <a:off x="2332066" y="4297384"/>
              <a:ext cx="1049337" cy="71437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2795" name="直接连接符 42"/>
            <p:cNvCxnSpPr>
              <a:cxnSpLocks noChangeShapeType="1"/>
            </p:cNvCxnSpPr>
            <p:nvPr/>
          </p:nvCxnSpPr>
          <p:spPr bwMode="auto">
            <a:xfrm rot="16200000" flipH="1">
              <a:off x="2868641" y="3760809"/>
              <a:ext cx="1835150" cy="1930400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2796" name="直接连接符 46"/>
            <p:cNvCxnSpPr>
              <a:cxnSpLocks noChangeShapeType="1"/>
            </p:cNvCxnSpPr>
            <p:nvPr/>
          </p:nvCxnSpPr>
          <p:spPr bwMode="auto">
            <a:xfrm rot="16200000" flipH="1">
              <a:off x="3297266" y="3332184"/>
              <a:ext cx="1835150" cy="2787650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2797" name="直接连接符 48"/>
            <p:cNvCxnSpPr>
              <a:cxnSpLocks noChangeShapeType="1"/>
            </p:cNvCxnSpPr>
            <p:nvPr/>
          </p:nvCxnSpPr>
          <p:spPr bwMode="auto">
            <a:xfrm rot="16200000" flipH="1">
              <a:off x="3897340" y="2003447"/>
              <a:ext cx="2562225" cy="3003550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2798" name="直接连接符 50"/>
            <p:cNvCxnSpPr>
              <a:cxnSpLocks noChangeShapeType="1"/>
            </p:cNvCxnSpPr>
            <p:nvPr/>
          </p:nvCxnSpPr>
          <p:spPr bwMode="auto">
            <a:xfrm rot="5400000">
              <a:off x="2510659" y="3332978"/>
              <a:ext cx="1049337" cy="2000250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2799" name="直接连接符 52"/>
            <p:cNvCxnSpPr>
              <a:cxnSpLocks noChangeShapeType="1"/>
            </p:cNvCxnSpPr>
            <p:nvPr/>
          </p:nvCxnSpPr>
          <p:spPr bwMode="auto">
            <a:xfrm rot="5400000">
              <a:off x="2939284" y="3761603"/>
              <a:ext cx="1049337" cy="1143000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2800" name="直接连接符 56"/>
            <p:cNvCxnSpPr>
              <a:cxnSpLocks noChangeShapeType="1"/>
            </p:cNvCxnSpPr>
            <p:nvPr/>
          </p:nvCxnSpPr>
          <p:spPr bwMode="auto">
            <a:xfrm rot="5400000">
              <a:off x="3046441" y="4654571"/>
              <a:ext cx="1835150" cy="142875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2801" name="直接连接符 58"/>
            <p:cNvCxnSpPr>
              <a:cxnSpLocks noChangeShapeType="1"/>
            </p:cNvCxnSpPr>
            <p:nvPr/>
          </p:nvCxnSpPr>
          <p:spPr bwMode="auto">
            <a:xfrm rot="16200000" flipH="1">
              <a:off x="3475860" y="4368027"/>
              <a:ext cx="1835150" cy="715963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2802" name="直接连接符 60"/>
            <p:cNvCxnSpPr>
              <a:cxnSpLocks noChangeShapeType="1"/>
            </p:cNvCxnSpPr>
            <p:nvPr/>
          </p:nvCxnSpPr>
          <p:spPr bwMode="auto">
            <a:xfrm rot="16200000" flipH="1">
              <a:off x="3904485" y="3939402"/>
              <a:ext cx="1835150" cy="1573213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2803" name="直接连接符 63"/>
            <p:cNvCxnSpPr>
              <a:cxnSpLocks noChangeShapeType="1"/>
            </p:cNvCxnSpPr>
            <p:nvPr/>
          </p:nvCxnSpPr>
          <p:spPr bwMode="auto">
            <a:xfrm rot="16200000" flipH="1">
              <a:off x="4397403" y="3360759"/>
              <a:ext cx="2562225" cy="288925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2804" name="直接连接符 65"/>
            <p:cNvCxnSpPr>
              <a:cxnSpLocks noChangeShapeType="1"/>
            </p:cNvCxnSpPr>
            <p:nvPr/>
          </p:nvCxnSpPr>
          <p:spPr bwMode="auto">
            <a:xfrm rot="16200000" flipH="1">
              <a:off x="4826028" y="2932134"/>
              <a:ext cx="2562225" cy="1146175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2805" name="直接连接符 67"/>
            <p:cNvCxnSpPr>
              <a:cxnSpLocks noChangeShapeType="1"/>
            </p:cNvCxnSpPr>
            <p:nvPr/>
          </p:nvCxnSpPr>
          <p:spPr bwMode="auto">
            <a:xfrm rot="5400000">
              <a:off x="3646516" y="1398609"/>
              <a:ext cx="1062037" cy="2713037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2806" name="直接连接符 70"/>
            <p:cNvCxnSpPr>
              <a:cxnSpLocks noChangeShapeType="1"/>
            </p:cNvCxnSpPr>
            <p:nvPr/>
          </p:nvCxnSpPr>
          <p:spPr bwMode="auto">
            <a:xfrm rot="5400000">
              <a:off x="4253734" y="2005828"/>
              <a:ext cx="1062037" cy="1498600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2807" name="直接连接符 72"/>
            <p:cNvCxnSpPr>
              <a:cxnSpLocks noChangeShapeType="1"/>
            </p:cNvCxnSpPr>
            <p:nvPr/>
          </p:nvCxnSpPr>
          <p:spPr bwMode="auto">
            <a:xfrm rot="16200000" flipH="1">
              <a:off x="5611841" y="2146321"/>
              <a:ext cx="1062037" cy="1217613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2808" name="直接连接符 75"/>
            <p:cNvCxnSpPr>
              <a:cxnSpLocks noChangeShapeType="1"/>
            </p:cNvCxnSpPr>
            <p:nvPr/>
          </p:nvCxnSpPr>
          <p:spPr bwMode="auto">
            <a:xfrm rot="16200000" flipH="1">
              <a:off x="6219059" y="1539103"/>
              <a:ext cx="1062037" cy="2432050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2809" name="直接连接符 77"/>
            <p:cNvCxnSpPr>
              <a:cxnSpLocks noChangeShapeType="1"/>
            </p:cNvCxnSpPr>
            <p:nvPr/>
          </p:nvCxnSpPr>
          <p:spPr bwMode="auto">
            <a:xfrm rot="5400000">
              <a:off x="2717828" y="2327297"/>
              <a:ext cx="1062037" cy="855662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2810" name="直接连接符 79"/>
            <p:cNvCxnSpPr>
              <a:cxnSpLocks noChangeShapeType="1"/>
            </p:cNvCxnSpPr>
            <p:nvPr/>
          </p:nvCxnSpPr>
          <p:spPr bwMode="auto">
            <a:xfrm rot="16200000" flipH="1">
              <a:off x="3325047" y="2575740"/>
              <a:ext cx="1062037" cy="358775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2811" name="直接连接符 81"/>
            <p:cNvCxnSpPr>
              <a:cxnSpLocks noChangeShapeType="1"/>
            </p:cNvCxnSpPr>
            <p:nvPr/>
          </p:nvCxnSpPr>
          <p:spPr bwMode="auto">
            <a:xfrm rot="16200000" flipH="1">
              <a:off x="4683153" y="1217634"/>
              <a:ext cx="1062037" cy="3074988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2812" name="直接连接符 83"/>
            <p:cNvCxnSpPr>
              <a:cxnSpLocks noChangeShapeType="1"/>
            </p:cNvCxnSpPr>
            <p:nvPr/>
          </p:nvCxnSpPr>
          <p:spPr bwMode="auto">
            <a:xfrm rot="16200000" flipH="1">
              <a:off x="5290372" y="610415"/>
              <a:ext cx="1062037" cy="4289425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32813" name="TextBox 85"/>
            <p:cNvSpPr txBox="1">
              <a:spLocks noChangeArrowheads="1"/>
            </p:cNvSpPr>
            <p:nvPr/>
          </p:nvSpPr>
          <p:spPr bwMode="auto">
            <a:xfrm>
              <a:off x="2052665" y="5092721"/>
              <a:ext cx="804849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XX</a:t>
              </a:r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酒店</a:t>
              </a:r>
            </a:p>
          </p:txBody>
        </p:sp>
        <p:sp>
          <p:nvSpPr>
            <p:cNvPr id="32814" name="TextBox 86"/>
            <p:cNvSpPr txBox="1">
              <a:spLocks noChangeArrowheads="1"/>
            </p:cNvSpPr>
            <p:nvPr/>
          </p:nvSpPr>
          <p:spPr bwMode="auto">
            <a:xfrm>
              <a:off x="4357716" y="5929334"/>
              <a:ext cx="1071567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XX</a:t>
              </a:r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分公司</a:t>
              </a:r>
            </a:p>
          </p:txBody>
        </p:sp>
        <p:sp>
          <p:nvSpPr>
            <p:cNvPr id="32815" name="TextBox 87"/>
            <p:cNvSpPr txBox="1">
              <a:spLocks noChangeArrowheads="1"/>
            </p:cNvSpPr>
            <p:nvPr/>
          </p:nvSpPr>
          <p:spPr bwMode="auto">
            <a:xfrm>
              <a:off x="5857903" y="5000646"/>
              <a:ext cx="100014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XX</a:t>
              </a:r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公司</a:t>
              </a:r>
            </a:p>
          </p:txBody>
        </p:sp>
        <p:sp>
          <p:nvSpPr>
            <p:cNvPr id="32816" name="TextBox 89"/>
            <p:cNvSpPr txBox="1">
              <a:spLocks noChangeArrowheads="1"/>
            </p:cNvSpPr>
            <p:nvPr/>
          </p:nvSpPr>
          <p:spPr bwMode="auto">
            <a:xfrm>
              <a:off x="6786591" y="3714771"/>
              <a:ext cx="150021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XX</a:t>
              </a:r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武警骨干网</a:t>
              </a:r>
            </a:p>
          </p:txBody>
        </p:sp>
        <p:sp>
          <p:nvSpPr>
            <p:cNvPr id="32817" name="TextBox 90"/>
            <p:cNvSpPr txBox="1">
              <a:spLocks noChangeArrowheads="1"/>
            </p:cNvSpPr>
            <p:nvPr/>
          </p:nvSpPr>
          <p:spPr bwMode="auto">
            <a:xfrm>
              <a:off x="3929091" y="2000271"/>
              <a:ext cx="135731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ISP</a:t>
              </a:r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网络</a:t>
              </a:r>
            </a:p>
          </p:txBody>
        </p:sp>
        <p:cxnSp>
          <p:nvCxnSpPr>
            <p:cNvPr id="32818" name="直接连接符 94"/>
            <p:cNvCxnSpPr>
              <a:cxnSpLocks noChangeShapeType="1"/>
            </p:cNvCxnSpPr>
            <p:nvPr/>
          </p:nvCxnSpPr>
          <p:spPr bwMode="auto">
            <a:xfrm>
              <a:off x="500091" y="2713059"/>
              <a:ext cx="8072437" cy="1587"/>
            </a:xfrm>
            <a:prstGeom prst="line">
              <a:avLst/>
            </a:prstGeom>
            <a:noFill/>
            <a:ln w="15875" algn="ctr">
              <a:solidFill>
                <a:srgbClr val="0070C0"/>
              </a:solidFill>
              <a:prstDash val="lgDashDotDot"/>
              <a:round/>
              <a:headEnd/>
              <a:tailEnd/>
            </a:ln>
          </p:spPr>
        </p:cxnSp>
        <p:cxnSp>
          <p:nvCxnSpPr>
            <p:cNvPr id="32819" name="直接连接符 95"/>
            <p:cNvCxnSpPr>
              <a:cxnSpLocks noChangeShapeType="1"/>
            </p:cNvCxnSpPr>
            <p:nvPr/>
          </p:nvCxnSpPr>
          <p:spPr bwMode="auto">
            <a:xfrm>
              <a:off x="500091" y="4429146"/>
              <a:ext cx="8072437" cy="1588"/>
            </a:xfrm>
            <a:prstGeom prst="line">
              <a:avLst/>
            </a:prstGeom>
            <a:noFill/>
            <a:ln w="15875" algn="ctr">
              <a:solidFill>
                <a:srgbClr val="0070C0"/>
              </a:solidFill>
              <a:prstDash val="lgDashDotDot"/>
              <a:round/>
              <a:headEnd/>
              <a:tailEnd/>
            </a:ln>
          </p:spPr>
        </p:cxnSp>
        <p:sp>
          <p:nvSpPr>
            <p:cNvPr id="32820" name="TextBox 96"/>
            <p:cNvSpPr txBox="1">
              <a:spLocks noChangeArrowheads="1"/>
            </p:cNvSpPr>
            <p:nvPr/>
          </p:nvSpPr>
          <p:spPr bwMode="auto">
            <a:xfrm>
              <a:off x="571528" y="1857396"/>
              <a:ext cx="1500188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服务提供商路由设备</a:t>
              </a:r>
            </a:p>
          </p:txBody>
        </p:sp>
        <p:sp>
          <p:nvSpPr>
            <p:cNvPr id="32821" name="TextBox 97"/>
            <p:cNvSpPr txBox="1">
              <a:spLocks noChangeArrowheads="1"/>
            </p:cNvSpPr>
            <p:nvPr/>
          </p:nvSpPr>
          <p:spPr bwMode="auto">
            <a:xfrm>
              <a:off x="571528" y="3571896"/>
              <a:ext cx="1571625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WAN</a:t>
              </a:r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汇聚路由器</a:t>
              </a:r>
            </a:p>
          </p:txBody>
        </p:sp>
        <p:sp>
          <p:nvSpPr>
            <p:cNvPr id="32822" name="TextBox 98"/>
            <p:cNvSpPr txBox="1">
              <a:spLocks noChangeArrowheads="1"/>
            </p:cNvSpPr>
            <p:nvPr/>
          </p:nvSpPr>
          <p:spPr bwMode="auto">
            <a:xfrm>
              <a:off x="571528" y="5429271"/>
              <a:ext cx="1571625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企业边界</a:t>
              </a:r>
              <a:r>
                <a:rPr lang="en-US" altLang="zh-CN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&amp;</a:t>
              </a:r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分支机构路由器</a:t>
              </a:r>
            </a:p>
          </p:txBody>
        </p:sp>
        <p:sp>
          <p:nvSpPr>
            <p:cNvPr id="32823" name="TextBox 88"/>
            <p:cNvSpPr txBox="1">
              <a:spLocks noChangeArrowheads="1"/>
            </p:cNvSpPr>
            <p:nvPr/>
          </p:nvSpPr>
          <p:spPr bwMode="auto">
            <a:xfrm>
              <a:off x="4110065" y="3671909"/>
              <a:ext cx="1462093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XX</a:t>
              </a:r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集团核心网</a:t>
              </a:r>
            </a:p>
          </p:txBody>
        </p:sp>
        <p:sp>
          <p:nvSpPr>
            <p:cNvPr id="32824" name="AutoShape 19"/>
            <p:cNvSpPr>
              <a:spLocks noChangeArrowheads="1"/>
            </p:cNvSpPr>
            <p:nvPr/>
          </p:nvSpPr>
          <p:spPr bwMode="auto">
            <a:xfrm>
              <a:off x="6000760" y="1214422"/>
              <a:ext cx="1785950" cy="428625"/>
            </a:xfrm>
            <a:prstGeom prst="wedgeRoundRectCallout">
              <a:avLst>
                <a:gd name="adj1" fmla="val -49583"/>
                <a:gd name="adj2" fmla="val 80264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服务提供商级</a:t>
              </a:r>
            </a:p>
          </p:txBody>
        </p:sp>
        <p:sp>
          <p:nvSpPr>
            <p:cNvPr id="32825" name="AutoShape 19"/>
            <p:cNvSpPr>
              <a:spLocks noChangeArrowheads="1"/>
            </p:cNvSpPr>
            <p:nvPr/>
          </p:nvSpPr>
          <p:spPr bwMode="auto">
            <a:xfrm>
              <a:off x="7429520" y="2428868"/>
              <a:ext cx="1428760" cy="428625"/>
            </a:xfrm>
            <a:prstGeom prst="wedgeRoundRectCallout">
              <a:avLst>
                <a:gd name="adj1" fmla="val -41940"/>
                <a:gd name="adj2" fmla="val 77083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en-US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WAN</a:t>
              </a:r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汇聚级</a:t>
              </a:r>
            </a:p>
          </p:txBody>
        </p:sp>
        <p:sp>
          <p:nvSpPr>
            <p:cNvPr id="32826" name="AutoShape 19"/>
            <p:cNvSpPr>
              <a:spLocks noChangeArrowheads="1"/>
            </p:cNvSpPr>
            <p:nvPr/>
          </p:nvSpPr>
          <p:spPr bwMode="auto">
            <a:xfrm>
              <a:off x="6357950" y="5572140"/>
              <a:ext cx="1571636" cy="428625"/>
            </a:xfrm>
            <a:prstGeom prst="wedgeRoundRectCallout">
              <a:avLst>
                <a:gd name="adj1" fmla="val -35861"/>
                <a:gd name="adj2" fmla="val -94861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分支公司级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分支公司级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一般指中小公司或分支公司的网关路由器</a:t>
            </a:r>
            <a:endParaRPr lang="en-US" altLang="zh-CN"/>
          </a:p>
          <a:p>
            <a:pPr lvl="2">
              <a:spcBef>
                <a:spcPct val="0"/>
              </a:spcBef>
            </a:pPr>
            <a:r>
              <a:rPr lang="en-US" altLang="zh-CN"/>
              <a:t>Cisco 3900</a:t>
            </a:r>
            <a:r>
              <a:rPr lang="zh-CN" altLang="en-US"/>
              <a:t>和</a:t>
            </a:r>
            <a:r>
              <a:rPr lang="en-US" altLang="zh-CN"/>
              <a:t>Cisco 3800</a:t>
            </a:r>
            <a:r>
              <a:rPr lang="zh-CN" altLang="en-US"/>
              <a:t>系列</a:t>
            </a:r>
            <a:endParaRPr lang="en-US" altLang="zh-CN"/>
          </a:p>
          <a:p>
            <a:pPr lvl="2">
              <a:spcBef>
                <a:spcPct val="0"/>
              </a:spcBef>
            </a:pPr>
            <a:r>
              <a:rPr lang="en-US" altLang="zh-CN"/>
              <a:t>Cisco 2900</a:t>
            </a:r>
            <a:r>
              <a:rPr lang="zh-CN" altLang="en-US"/>
              <a:t>和</a:t>
            </a:r>
            <a:r>
              <a:rPr lang="en-US" altLang="zh-CN"/>
              <a:t>Cisco 2800</a:t>
            </a:r>
            <a:r>
              <a:rPr lang="zh-CN" altLang="en-US"/>
              <a:t>系列</a:t>
            </a:r>
            <a:endParaRPr lang="en-US" altLang="zh-CN"/>
          </a:p>
        </p:txBody>
      </p:sp>
      <p:sp>
        <p:nvSpPr>
          <p:cNvPr id="3379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Cisco</a:t>
            </a:r>
            <a:r>
              <a:rPr lang="zh-CN" altLang="en-US"/>
              <a:t>路由产品体系</a:t>
            </a:r>
            <a:r>
              <a:rPr lang="en-US" altLang="zh-CN"/>
              <a:t>4-2</a:t>
            </a:r>
            <a:endParaRPr lang="zh-CN" altLang="en-US"/>
          </a:p>
        </p:txBody>
      </p:sp>
      <p:graphicFrame>
        <p:nvGraphicFramePr>
          <p:cNvPr id="64" name="表格 63"/>
          <p:cNvGraphicFramePr>
            <a:graphicFrameLocks noGrp="1"/>
          </p:cNvGraphicFramePr>
          <p:nvPr/>
        </p:nvGraphicFramePr>
        <p:xfrm>
          <a:off x="2381251" y="2857501"/>
          <a:ext cx="7218395" cy="2321065"/>
        </p:xfrm>
        <a:graphic>
          <a:graphicData uri="http://schemas.openxmlformats.org/drawingml/2006/table">
            <a:tbl>
              <a:tblPr/>
              <a:tblGrid>
                <a:gridCol w="1071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4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19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78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/>
                        </a:rPr>
                        <a:t>设备型号</a:t>
                      </a:r>
                      <a:endParaRPr lang="zh-CN" sz="1400" b="1" dirty="0">
                        <a:solidFill>
                          <a:schemeClr val="bg1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/>
                        </a:rPr>
                        <a:t>固化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LAN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/>
                        </a:rPr>
                        <a:t>接口</a:t>
                      </a:r>
                      <a:endParaRPr lang="zh-CN" sz="1400" b="1" dirty="0">
                        <a:solidFill>
                          <a:schemeClr val="bg1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/>
                        </a:rPr>
                        <a:t>接口卡插槽</a:t>
                      </a:r>
                      <a:endParaRPr lang="zh-CN" sz="1400" b="1" dirty="0">
                        <a:solidFill>
                          <a:schemeClr val="bg1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/>
                        </a:rPr>
                        <a:t>网络模块插槽</a:t>
                      </a:r>
                      <a:endParaRPr lang="zh-CN" sz="1400" b="1">
                        <a:solidFill>
                          <a:schemeClr val="bg1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QoS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/>
                        </a:rPr>
                        <a:t>和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VPN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/>
                        </a:rPr>
                        <a:t>的支持</a:t>
                      </a:r>
                      <a:endParaRPr lang="zh-CN" sz="1400" b="1" dirty="0">
                        <a:solidFill>
                          <a:schemeClr val="bg1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Cisco 3825</a:t>
                      </a:r>
                      <a:endParaRPr lang="zh-CN" sz="14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2-10/100/1000</a:t>
                      </a:r>
                      <a:endParaRPr lang="zh-CN" sz="14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4个HWIC插槽，可支持</a:t>
                      </a:r>
                      <a:r>
                        <a:rPr lang="en-US" altLang="en-US" sz="1400" b="1" kern="1200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+mn-cs"/>
                        </a:rPr>
                        <a:t>HWIC、WIC、VIC</a:t>
                      </a: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及VWIC模块</a:t>
                      </a:r>
                      <a:endParaRPr lang="zh-CN" sz="14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2个NME插槽</a:t>
                      </a:r>
                      <a:endParaRPr lang="zh-CN" sz="14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支持</a:t>
                      </a:r>
                      <a:endParaRPr lang="zh-CN" sz="14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Cisco 3845</a:t>
                      </a:r>
                      <a:endParaRPr lang="zh-CN" sz="14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2-10/100/1000</a:t>
                      </a:r>
                      <a:endParaRPr lang="zh-CN" sz="14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4个NME插槽</a:t>
                      </a:r>
                      <a:endParaRPr lang="zh-CN" sz="14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支持</a:t>
                      </a:r>
                      <a:endParaRPr lang="zh-CN" sz="14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Cisco 2821</a:t>
                      </a:r>
                      <a:endParaRPr lang="zh-CN" sz="14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2-10/100/1000</a:t>
                      </a:r>
                      <a:endParaRPr lang="zh-CN" sz="14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1个NME或NME-X插槽</a:t>
                      </a:r>
                      <a:endParaRPr lang="zh-CN" sz="14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支持</a:t>
                      </a:r>
                      <a:endParaRPr lang="zh-CN" sz="14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Cisco 2811</a:t>
                      </a:r>
                      <a:endParaRPr lang="zh-CN" sz="14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2-10/100</a:t>
                      </a:r>
                      <a:endParaRPr lang="zh-CN" sz="14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1个NME插槽</a:t>
                      </a:r>
                      <a:endParaRPr lang="zh-CN" sz="14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支持</a:t>
                      </a:r>
                      <a:endParaRPr lang="zh-CN" sz="14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组合 69"/>
          <p:cNvGrpSpPr>
            <a:grpSpLocks/>
          </p:cNvGrpSpPr>
          <p:nvPr/>
        </p:nvGrpSpPr>
        <p:grpSpPr bwMode="auto">
          <a:xfrm>
            <a:off x="1952626" y="2928938"/>
            <a:ext cx="8094663" cy="2786062"/>
            <a:chOff x="428596" y="2786058"/>
            <a:chExt cx="8094777" cy="2786079"/>
          </a:xfrm>
        </p:grpSpPr>
        <p:pic>
          <p:nvPicPr>
            <p:cNvPr id="33836" name="Picture 1" descr="图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8596" y="2786058"/>
              <a:ext cx="3807520" cy="22145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3837" name="Picture 2" descr="图1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3438" y="2786058"/>
              <a:ext cx="3879935" cy="2286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3838" name="AutoShape 19"/>
            <p:cNvSpPr>
              <a:spLocks noChangeArrowheads="1"/>
            </p:cNvSpPr>
            <p:nvPr/>
          </p:nvSpPr>
          <p:spPr bwMode="auto">
            <a:xfrm>
              <a:off x="1299500" y="5143512"/>
              <a:ext cx="2071702" cy="428625"/>
            </a:xfrm>
            <a:prstGeom prst="wedgeRoundRectCallout">
              <a:avLst>
                <a:gd name="adj1" fmla="val -23866"/>
                <a:gd name="adj2" fmla="val 50648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en-US" altLang="zh-CN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Cisco 3800</a:t>
              </a:r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系列</a:t>
              </a:r>
            </a:p>
          </p:txBody>
        </p:sp>
        <p:sp>
          <p:nvSpPr>
            <p:cNvPr id="33839" name="AutoShape 19"/>
            <p:cNvSpPr>
              <a:spLocks noChangeArrowheads="1"/>
            </p:cNvSpPr>
            <p:nvPr/>
          </p:nvSpPr>
          <p:spPr bwMode="auto">
            <a:xfrm>
              <a:off x="5558484" y="5143512"/>
              <a:ext cx="2071702" cy="428625"/>
            </a:xfrm>
            <a:prstGeom prst="wedgeRoundRectCallout">
              <a:avLst>
                <a:gd name="adj1" fmla="val -23866"/>
                <a:gd name="adj2" fmla="val 50648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en-US" altLang="zh-CN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Cisco 2800</a:t>
              </a:r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系列</a:t>
              </a:r>
            </a:p>
          </p:txBody>
        </p:sp>
      </p:grpSp>
      <p:sp>
        <p:nvSpPr>
          <p:cNvPr id="71" name="AutoShape 19"/>
          <p:cNvSpPr>
            <a:spLocks noChangeArrowheads="1"/>
          </p:cNvSpPr>
          <p:nvPr/>
        </p:nvSpPr>
        <p:spPr bwMode="auto">
          <a:xfrm>
            <a:off x="2738439" y="5286376"/>
            <a:ext cx="6429375" cy="1357313"/>
          </a:xfrm>
          <a:prstGeom prst="wedgeRoundRectCallout">
            <a:avLst>
              <a:gd name="adj1" fmla="val -23866"/>
              <a:gd name="adj2" fmla="val 5064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WIC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插槽（广域网接口卡）：可以插接各式各样的广域网模块，实现了灵活性组网</a:t>
            </a:r>
          </a:p>
          <a:p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NM插槽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网络模块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）：</a:t>
            </a:r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可以插接各式各样的网络模块，扩展设备的接口数量</a:t>
            </a:r>
            <a:endParaRPr lang="zh-CN" altLang="en-US" sz="20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WAN</a:t>
            </a:r>
            <a:r>
              <a:rPr lang="zh-CN" altLang="en-US"/>
              <a:t>汇聚级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一般指规模相对较大公司的互联网接口设备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各个分支机构上层互连设备</a:t>
            </a:r>
            <a:endParaRPr lang="en-US" altLang="zh-CN"/>
          </a:p>
          <a:p>
            <a:pPr lvl="2">
              <a:spcBef>
                <a:spcPct val="0"/>
              </a:spcBef>
            </a:pPr>
            <a:r>
              <a:rPr lang="en-US" altLang="zh-CN"/>
              <a:t>Cisco 7200</a:t>
            </a:r>
            <a:r>
              <a:rPr lang="zh-CN" altLang="en-US"/>
              <a:t>系列、</a:t>
            </a:r>
            <a:r>
              <a:rPr lang="en-US" altLang="zh-CN"/>
              <a:t>Cisco 7300</a:t>
            </a:r>
            <a:r>
              <a:rPr lang="zh-CN" altLang="en-US"/>
              <a:t>系列、</a:t>
            </a:r>
            <a:r>
              <a:rPr lang="en-US" altLang="zh-CN"/>
              <a:t>Cisco 7500</a:t>
            </a:r>
            <a:r>
              <a:rPr lang="zh-CN" altLang="en-US"/>
              <a:t>系列</a:t>
            </a:r>
          </a:p>
        </p:txBody>
      </p:sp>
      <p:sp>
        <p:nvSpPr>
          <p:cNvPr id="34819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Cisco</a:t>
            </a:r>
            <a:r>
              <a:rPr lang="zh-CN" altLang="en-US"/>
              <a:t>路由产品体系</a:t>
            </a:r>
            <a:r>
              <a:rPr lang="en-US" altLang="zh-CN"/>
              <a:t>4-3</a:t>
            </a:r>
            <a:endParaRPr lang="zh-CN" altLang="en-US"/>
          </a:p>
        </p:txBody>
      </p:sp>
      <p:pic>
        <p:nvPicPr>
          <p:cNvPr id="72" name="Picture 3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24250" y="2928938"/>
            <a:ext cx="4572000" cy="300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21" name="AutoShape 19"/>
          <p:cNvSpPr>
            <a:spLocks noChangeArrowheads="1"/>
          </p:cNvSpPr>
          <p:nvPr/>
        </p:nvSpPr>
        <p:spPr bwMode="auto">
          <a:xfrm>
            <a:off x="4881564" y="6000751"/>
            <a:ext cx="2071687" cy="428625"/>
          </a:xfrm>
          <a:prstGeom prst="wedgeRoundRectCallout">
            <a:avLst>
              <a:gd name="adj1" fmla="val -23866"/>
              <a:gd name="adj2" fmla="val 5064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Cisco 7200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系列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服务提供商级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大型集团公司构建城域以太网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省级</a:t>
            </a:r>
            <a:r>
              <a:rPr lang="en-US" altLang="zh-CN"/>
              <a:t>ISP</a:t>
            </a:r>
            <a:r>
              <a:rPr lang="zh-CN" altLang="en-US"/>
              <a:t>核心设备，大城市城域网出口</a:t>
            </a:r>
            <a:endParaRPr lang="en-US" altLang="zh-CN"/>
          </a:p>
          <a:p>
            <a:pPr lvl="2">
              <a:spcBef>
                <a:spcPct val="0"/>
              </a:spcBef>
            </a:pPr>
            <a:r>
              <a:rPr lang="en-US" altLang="zh-CN"/>
              <a:t>Cisco 7600</a:t>
            </a:r>
            <a:r>
              <a:rPr lang="zh-CN" altLang="en-US"/>
              <a:t>系列、</a:t>
            </a:r>
            <a:r>
              <a:rPr lang="en-US" altLang="zh-CN"/>
              <a:t>Cisco 12000</a:t>
            </a:r>
            <a:r>
              <a:rPr lang="zh-CN" altLang="en-US"/>
              <a:t>系列</a:t>
            </a:r>
          </a:p>
        </p:txBody>
      </p:sp>
      <p:sp>
        <p:nvSpPr>
          <p:cNvPr id="3584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Cisco</a:t>
            </a:r>
            <a:r>
              <a:rPr lang="zh-CN" altLang="en-US"/>
              <a:t>路由产品体系</a:t>
            </a:r>
            <a:r>
              <a:rPr lang="en-US" altLang="zh-CN"/>
              <a:t>4-4</a:t>
            </a:r>
            <a:endParaRPr lang="zh-CN" altLang="en-US"/>
          </a:p>
        </p:txBody>
      </p:sp>
      <p:sp>
        <p:nvSpPr>
          <p:cNvPr id="70" name="AutoShape 19"/>
          <p:cNvSpPr>
            <a:spLocks noChangeArrowheads="1"/>
          </p:cNvSpPr>
          <p:nvPr/>
        </p:nvSpPr>
        <p:spPr bwMode="auto">
          <a:xfrm>
            <a:off x="2809875" y="6215064"/>
            <a:ext cx="2071688" cy="428625"/>
          </a:xfrm>
          <a:prstGeom prst="wedgeRoundRectCallout">
            <a:avLst>
              <a:gd name="adj1" fmla="val -23866"/>
              <a:gd name="adj2" fmla="val 5064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Cisco 7600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系列</a:t>
            </a:r>
          </a:p>
        </p:txBody>
      </p:sp>
      <p:sp>
        <p:nvSpPr>
          <p:cNvPr id="6" name="AutoShape 19"/>
          <p:cNvSpPr>
            <a:spLocks noChangeArrowheads="1"/>
          </p:cNvSpPr>
          <p:nvPr/>
        </p:nvSpPr>
        <p:spPr bwMode="auto">
          <a:xfrm>
            <a:off x="7024688" y="6215064"/>
            <a:ext cx="2347912" cy="428625"/>
          </a:xfrm>
          <a:prstGeom prst="wedgeRoundRectCallout">
            <a:avLst>
              <a:gd name="adj1" fmla="val -23866"/>
              <a:gd name="adj2" fmla="val 5064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Cisco 12000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系列</a:t>
            </a:r>
          </a:p>
        </p:txBody>
      </p:sp>
      <p:pic>
        <p:nvPicPr>
          <p:cNvPr id="7" name="Picture 2" descr="C:\Documents and Settings\yongxin.he\桌面\024442t5995rzbnd5xx5mt.jpg"/>
          <p:cNvPicPr>
            <a:picLocks noChangeAspect="1" noChangeArrowheads="1"/>
          </p:cNvPicPr>
          <p:nvPr/>
        </p:nvPicPr>
        <p:blipFill>
          <a:blip r:embed="rId3"/>
          <a:srcRect l="5608" t="14955" r="4660" b="19241"/>
          <a:stretch>
            <a:fillRect/>
          </a:stretch>
        </p:blipFill>
        <p:spPr bwMode="auto">
          <a:xfrm>
            <a:off x="6596063" y="3000375"/>
            <a:ext cx="3429000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 descr="C:\Documents and Settings\yongxin.he\桌面\2.jpg"/>
          <p:cNvPicPr>
            <a:picLocks noChangeAspect="1" noChangeArrowheads="1"/>
          </p:cNvPicPr>
          <p:nvPr/>
        </p:nvPicPr>
        <p:blipFill>
          <a:blip r:embed="rId4"/>
          <a:srcRect l="6248" t="17578" r="7813" b="16016"/>
          <a:stretch>
            <a:fillRect/>
          </a:stretch>
        </p:blipFill>
        <p:spPr bwMode="auto">
          <a:xfrm>
            <a:off x="1687513" y="3286125"/>
            <a:ext cx="46228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0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Cisco</a:t>
            </a:r>
            <a:r>
              <a:rPr lang="zh-CN" altLang="en-US"/>
              <a:t>交换产品体系</a:t>
            </a:r>
            <a:r>
              <a:rPr lang="en-US" altLang="zh-CN"/>
              <a:t>3-1</a:t>
            </a:r>
            <a:endParaRPr lang="zh-CN" altLang="en-US"/>
          </a:p>
        </p:txBody>
      </p:sp>
      <p:grpSp>
        <p:nvGrpSpPr>
          <p:cNvPr id="2" name="组合 67"/>
          <p:cNvGrpSpPr>
            <a:grpSpLocks/>
          </p:cNvGrpSpPr>
          <p:nvPr/>
        </p:nvGrpSpPr>
        <p:grpSpPr bwMode="auto">
          <a:xfrm>
            <a:off x="1738314" y="1285875"/>
            <a:ext cx="8643937" cy="4929188"/>
            <a:chOff x="142844" y="1428750"/>
            <a:chExt cx="8643998" cy="4929208"/>
          </a:xfrm>
        </p:grpSpPr>
        <p:pic>
          <p:nvPicPr>
            <p:cNvPr id="36868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081867" y="5286375"/>
              <a:ext cx="531813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69" name="Picture 1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979767" y="3857625"/>
              <a:ext cx="508000" cy="500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70" name="Picture 18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224492" y="2230438"/>
              <a:ext cx="530225" cy="769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71" name="Picture 18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153180" y="2214563"/>
              <a:ext cx="530225" cy="769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72" name="Picture 1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979892" y="3857625"/>
              <a:ext cx="508000" cy="500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6873" name="直接连接符 64"/>
            <p:cNvCxnSpPr>
              <a:cxnSpLocks noChangeShapeType="1"/>
            </p:cNvCxnSpPr>
            <p:nvPr/>
          </p:nvCxnSpPr>
          <p:spPr bwMode="auto">
            <a:xfrm>
              <a:off x="3487767" y="4079875"/>
              <a:ext cx="492125" cy="1588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6874" name="直接连接符 65"/>
            <p:cNvCxnSpPr>
              <a:cxnSpLocks noChangeShapeType="1"/>
            </p:cNvCxnSpPr>
            <p:nvPr/>
          </p:nvCxnSpPr>
          <p:spPr bwMode="auto">
            <a:xfrm>
              <a:off x="3479830" y="4148138"/>
              <a:ext cx="492125" cy="1587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36875" name="椭圆 66"/>
            <p:cNvSpPr>
              <a:spLocks noChangeArrowheads="1"/>
            </p:cNvSpPr>
            <p:nvPr/>
          </p:nvSpPr>
          <p:spPr bwMode="auto">
            <a:xfrm>
              <a:off x="3694142" y="3967163"/>
              <a:ext cx="90488" cy="309562"/>
            </a:xfrm>
            <a:prstGeom prst="ellips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/>
            </a:p>
          </p:txBody>
        </p:sp>
        <p:pic>
          <p:nvPicPr>
            <p:cNvPr id="36876" name="Picture 1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938742" y="1428750"/>
              <a:ext cx="508000" cy="500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77" name="Picture 1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438930" y="1428750"/>
              <a:ext cx="508000" cy="500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78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439055" y="5572125"/>
              <a:ext cx="531812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79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756555" y="5857875"/>
              <a:ext cx="530225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80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256617" y="5572125"/>
              <a:ext cx="530225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81" name="Picture 1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581680" y="3857625"/>
              <a:ext cx="508000" cy="500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82" name="Picture 1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581930" y="3857625"/>
              <a:ext cx="508000" cy="500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83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6767" y="5429250"/>
              <a:ext cx="530225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84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908330" y="5429250"/>
              <a:ext cx="530225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85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051330" y="5429250"/>
              <a:ext cx="530225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86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795867" y="5357813"/>
              <a:ext cx="531813" cy="2270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87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53055" y="5643563"/>
              <a:ext cx="531812" cy="2270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88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470555" y="5929313"/>
              <a:ext cx="530225" cy="2270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89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970617" y="5643563"/>
              <a:ext cx="530225" cy="2270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890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399242" y="5286375"/>
              <a:ext cx="530225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6891" name="直接连接符 93"/>
            <p:cNvCxnSpPr>
              <a:cxnSpLocks noChangeShapeType="1"/>
            </p:cNvCxnSpPr>
            <p:nvPr/>
          </p:nvCxnSpPr>
          <p:spPr bwMode="auto">
            <a:xfrm rot="5400000">
              <a:off x="2132043" y="4327525"/>
              <a:ext cx="1071562" cy="1131887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6892" name="直接连接符 96"/>
            <p:cNvCxnSpPr>
              <a:cxnSpLocks noChangeShapeType="1"/>
            </p:cNvCxnSpPr>
            <p:nvPr/>
          </p:nvCxnSpPr>
          <p:spPr bwMode="auto">
            <a:xfrm rot="5400000">
              <a:off x="2667824" y="4863306"/>
              <a:ext cx="1071562" cy="60325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6893" name="直接连接符 98"/>
            <p:cNvCxnSpPr>
              <a:cxnSpLocks noChangeShapeType="1"/>
            </p:cNvCxnSpPr>
            <p:nvPr/>
          </p:nvCxnSpPr>
          <p:spPr bwMode="auto">
            <a:xfrm rot="16200000" flipH="1">
              <a:off x="3239324" y="4352131"/>
              <a:ext cx="1071562" cy="1082675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6894" name="直接连接符 100"/>
            <p:cNvCxnSpPr>
              <a:cxnSpLocks noChangeShapeType="1"/>
            </p:cNvCxnSpPr>
            <p:nvPr/>
          </p:nvCxnSpPr>
          <p:spPr bwMode="auto">
            <a:xfrm rot="5400000">
              <a:off x="2632105" y="3827463"/>
              <a:ext cx="1071562" cy="2132012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6895" name="直接连接符 102"/>
            <p:cNvCxnSpPr>
              <a:cxnSpLocks noChangeShapeType="1"/>
            </p:cNvCxnSpPr>
            <p:nvPr/>
          </p:nvCxnSpPr>
          <p:spPr bwMode="auto">
            <a:xfrm rot="5400000">
              <a:off x="3167886" y="4363244"/>
              <a:ext cx="1071562" cy="1060450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6896" name="直接连接符 104"/>
            <p:cNvCxnSpPr>
              <a:cxnSpLocks noChangeShapeType="1"/>
            </p:cNvCxnSpPr>
            <p:nvPr/>
          </p:nvCxnSpPr>
          <p:spPr bwMode="auto">
            <a:xfrm rot="16200000" flipH="1">
              <a:off x="3739386" y="4852194"/>
              <a:ext cx="1071562" cy="82550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6897" name="直接连接符 106"/>
            <p:cNvCxnSpPr>
              <a:cxnSpLocks noChangeShapeType="1"/>
            </p:cNvCxnSpPr>
            <p:nvPr/>
          </p:nvCxnSpPr>
          <p:spPr bwMode="auto">
            <a:xfrm rot="5400000">
              <a:off x="4949061" y="4471194"/>
              <a:ext cx="1000125" cy="773113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6898" name="直接连接符 108"/>
            <p:cNvCxnSpPr>
              <a:cxnSpLocks noChangeShapeType="1"/>
            </p:cNvCxnSpPr>
            <p:nvPr/>
          </p:nvCxnSpPr>
          <p:spPr bwMode="auto">
            <a:xfrm rot="5400000">
              <a:off x="4984780" y="4792663"/>
              <a:ext cx="1285875" cy="415925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6899" name="直接连接符 110"/>
            <p:cNvCxnSpPr>
              <a:cxnSpLocks noChangeShapeType="1"/>
            </p:cNvCxnSpPr>
            <p:nvPr/>
          </p:nvCxnSpPr>
          <p:spPr bwMode="auto">
            <a:xfrm rot="5400000">
              <a:off x="4999861" y="5093494"/>
              <a:ext cx="1571625" cy="100013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6900" name="直接连接符 112"/>
            <p:cNvCxnSpPr>
              <a:cxnSpLocks noChangeShapeType="1"/>
            </p:cNvCxnSpPr>
            <p:nvPr/>
          </p:nvCxnSpPr>
          <p:spPr bwMode="auto">
            <a:xfrm rot="16200000" flipH="1">
              <a:off x="5392767" y="4800601"/>
              <a:ext cx="1285875" cy="400050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6901" name="直接连接符 114"/>
            <p:cNvCxnSpPr>
              <a:cxnSpLocks noChangeShapeType="1"/>
            </p:cNvCxnSpPr>
            <p:nvPr/>
          </p:nvCxnSpPr>
          <p:spPr bwMode="auto">
            <a:xfrm rot="16200000" flipH="1">
              <a:off x="5785674" y="4407694"/>
              <a:ext cx="928687" cy="828675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6902" name="直接连接符 116"/>
            <p:cNvCxnSpPr>
              <a:cxnSpLocks noChangeShapeType="1"/>
            </p:cNvCxnSpPr>
            <p:nvPr/>
          </p:nvCxnSpPr>
          <p:spPr bwMode="auto">
            <a:xfrm rot="5400000">
              <a:off x="7127905" y="4578350"/>
              <a:ext cx="928687" cy="487363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6903" name="直接连接符 118"/>
            <p:cNvCxnSpPr>
              <a:cxnSpLocks noChangeShapeType="1"/>
            </p:cNvCxnSpPr>
            <p:nvPr/>
          </p:nvCxnSpPr>
          <p:spPr bwMode="auto">
            <a:xfrm rot="5400000">
              <a:off x="7163624" y="4899819"/>
              <a:ext cx="1214437" cy="130175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6904" name="直接连接符 120"/>
            <p:cNvCxnSpPr>
              <a:cxnSpLocks noChangeShapeType="1"/>
            </p:cNvCxnSpPr>
            <p:nvPr/>
          </p:nvCxnSpPr>
          <p:spPr bwMode="auto">
            <a:xfrm rot="16200000" flipH="1">
              <a:off x="7178705" y="5014913"/>
              <a:ext cx="1500187" cy="185737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6905" name="直接连接符 122"/>
            <p:cNvCxnSpPr>
              <a:cxnSpLocks noChangeShapeType="1"/>
            </p:cNvCxnSpPr>
            <p:nvPr/>
          </p:nvCxnSpPr>
          <p:spPr bwMode="auto">
            <a:xfrm rot="16200000" flipH="1">
              <a:off x="7571611" y="4622007"/>
              <a:ext cx="1214437" cy="685800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6906" name="直接连接符 126"/>
            <p:cNvCxnSpPr>
              <a:cxnSpLocks noChangeShapeType="1"/>
            </p:cNvCxnSpPr>
            <p:nvPr/>
          </p:nvCxnSpPr>
          <p:spPr bwMode="auto">
            <a:xfrm rot="16200000" flipH="1">
              <a:off x="5190361" y="1931194"/>
              <a:ext cx="301625" cy="296863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6907" name="直接连接符 128"/>
            <p:cNvCxnSpPr>
              <a:cxnSpLocks noChangeShapeType="1"/>
            </p:cNvCxnSpPr>
            <p:nvPr/>
          </p:nvCxnSpPr>
          <p:spPr bwMode="auto">
            <a:xfrm rot="5400000" flipH="1" flipV="1">
              <a:off x="5940455" y="1477963"/>
              <a:ext cx="301625" cy="1203325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6908" name="直接连接符 130"/>
            <p:cNvCxnSpPr>
              <a:cxnSpLocks noChangeShapeType="1"/>
            </p:cNvCxnSpPr>
            <p:nvPr/>
          </p:nvCxnSpPr>
          <p:spPr bwMode="auto">
            <a:xfrm rot="16200000" flipH="1">
              <a:off x="5662642" y="1458913"/>
              <a:ext cx="285750" cy="1225550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6909" name="直接连接符 132"/>
            <p:cNvCxnSpPr>
              <a:cxnSpLocks noChangeShapeType="1"/>
            </p:cNvCxnSpPr>
            <p:nvPr/>
          </p:nvCxnSpPr>
          <p:spPr bwMode="auto">
            <a:xfrm rot="5400000" flipH="1" flipV="1">
              <a:off x="6412736" y="1934369"/>
              <a:ext cx="285750" cy="274638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6910" name="直接连接符 134"/>
            <p:cNvCxnSpPr>
              <a:cxnSpLocks noChangeShapeType="1"/>
            </p:cNvCxnSpPr>
            <p:nvPr/>
          </p:nvCxnSpPr>
          <p:spPr bwMode="auto">
            <a:xfrm rot="5400000">
              <a:off x="3933061" y="2301081"/>
              <a:ext cx="857250" cy="2255838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6911" name="直接连接符 136"/>
            <p:cNvCxnSpPr>
              <a:cxnSpLocks noChangeShapeType="1"/>
            </p:cNvCxnSpPr>
            <p:nvPr/>
          </p:nvCxnSpPr>
          <p:spPr bwMode="auto">
            <a:xfrm rot="5400000">
              <a:off x="4433124" y="2801143"/>
              <a:ext cx="857250" cy="1255713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6912" name="直接连接符 139"/>
            <p:cNvCxnSpPr>
              <a:cxnSpLocks noChangeShapeType="1"/>
            </p:cNvCxnSpPr>
            <p:nvPr/>
          </p:nvCxnSpPr>
          <p:spPr bwMode="auto">
            <a:xfrm rot="16200000" flipH="1">
              <a:off x="5234018" y="3255962"/>
              <a:ext cx="857250" cy="346075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6913" name="直接连接符 141"/>
            <p:cNvCxnSpPr>
              <a:cxnSpLocks noChangeShapeType="1"/>
            </p:cNvCxnSpPr>
            <p:nvPr/>
          </p:nvCxnSpPr>
          <p:spPr bwMode="auto">
            <a:xfrm rot="16200000" flipH="1">
              <a:off x="6234143" y="2255837"/>
              <a:ext cx="857250" cy="2346325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36914" name="直接连接符 143"/>
            <p:cNvCxnSpPr>
              <a:cxnSpLocks noChangeShapeType="1"/>
            </p:cNvCxnSpPr>
            <p:nvPr/>
          </p:nvCxnSpPr>
          <p:spPr bwMode="auto">
            <a:xfrm rot="5400000">
              <a:off x="4389467" y="1828800"/>
              <a:ext cx="873125" cy="3184525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6915" name="直接连接符 145"/>
            <p:cNvCxnSpPr>
              <a:cxnSpLocks noChangeShapeType="1"/>
            </p:cNvCxnSpPr>
            <p:nvPr/>
          </p:nvCxnSpPr>
          <p:spPr bwMode="auto">
            <a:xfrm rot="5400000">
              <a:off x="4889529" y="2328863"/>
              <a:ext cx="873125" cy="2184400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6916" name="直接连接符 147"/>
            <p:cNvCxnSpPr>
              <a:cxnSpLocks noChangeShapeType="1"/>
            </p:cNvCxnSpPr>
            <p:nvPr/>
          </p:nvCxnSpPr>
          <p:spPr bwMode="auto">
            <a:xfrm rot="5400000">
              <a:off x="5690423" y="3129757"/>
              <a:ext cx="873125" cy="582612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6917" name="直接连接符 149"/>
            <p:cNvCxnSpPr>
              <a:cxnSpLocks noChangeShapeType="1"/>
            </p:cNvCxnSpPr>
            <p:nvPr/>
          </p:nvCxnSpPr>
          <p:spPr bwMode="auto">
            <a:xfrm rot="16200000" flipH="1">
              <a:off x="6690548" y="2712244"/>
              <a:ext cx="873125" cy="1417638"/>
            </a:xfrm>
            <a:prstGeom prst="line">
              <a:avLst/>
            </a:prstGeom>
            <a:noFill/>
            <a:ln w="15875" algn="ctr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cxnSp>
          <p:nvCxnSpPr>
            <p:cNvPr id="36918" name="直接连接符 94"/>
            <p:cNvCxnSpPr>
              <a:cxnSpLocks noChangeShapeType="1"/>
            </p:cNvCxnSpPr>
            <p:nvPr/>
          </p:nvCxnSpPr>
          <p:spPr bwMode="auto">
            <a:xfrm>
              <a:off x="428625" y="3286125"/>
              <a:ext cx="8072438" cy="1588"/>
            </a:xfrm>
            <a:prstGeom prst="line">
              <a:avLst/>
            </a:prstGeom>
            <a:noFill/>
            <a:ln w="15875" algn="ctr">
              <a:solidFill>
                <a:srgbClr val="0070C0"/>
              </a:solidFill>
              <a:prstDash val="lgDashDotDot"/>
              <a:round/>
              <a:headEnd/>
              <a:tailEnd/>
            </a:ln>
          </p:spPr>
        </p:cxnSp>
        <p:cxnSp>
          <p:nvCxnSpPr>
            <p:cNvPr id="36919" name="直接连接符 94"/>
            <p:cNvCxnSpPr>
              <a:cxnSpLocks noChangeShapeType="1"/>
            </p:cNvCxnSpPr>
            <p:nvPr/>
          </p:nvCxnSpPr>
          <p:spPr bwMode="auto">
            <a:xfrm>
              <a:off x="428625" y="4714875"/>
              <a:ext cx="8072438" cy="1588"/>
            </a:xfrm>
            <a:prstGeom prst="line">
              <a:avLst/>
            </a:prstGeom>
            <a:noFill/>
            <a:ln w="15875" algn="ctr">
              <a:solidFill>
                <a:srgbClr val="0070C0"/>
              </a:solidFill>
              <a:prstDash val="lgDashDotDot"/>
              <a:round/>
              <a:headEnd/>
              <a:tailEnd/>
            </a:ln>
          </p:spPr>
        </p:cxnSp>
        <p:sp>
          <p:nvSpPr>
            <p:cNvPr id="36920" name="TextBox 97"/>
            <p:cNvSpPr txBox="1">
              <a:spLocks noChangeArrowheads="1"/>
            </p:cNvSpPr>
            <p:nvPr/>
          </p:nvSpPr>
          <p:spPr bwMode="auto">
            <a:xfrm>
              <a:off x="428625" y="3947702"/>
              <a:ext cx="15716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汇聚层设备</a:t>
              </a:r>
            </a:p>
          </p:txBody>
        </p:sp>
        <p:sp>
          <p:nvSpPr>
            <p:cNvPr id="36921" name="TextBox 97"/>
            <p:cNvSpPr txBox="1">
              <a:spLocks noChangeArrowheads="1"/>
            </p:cNvSpPr>
            <p:nvPr/>
          </p:nvSpPr>
          <p:spPr bwMode="auto">
            <a:xfrm>
              <a:off x="425398" y="5662214"/>
              <a:ext cx="15716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接入层设备</a:t>
              </a:r>
            </a:p>
          </p:txBody>
        </p:sp>
        <p:sp>
          <p:nvSpPr>
            <p:cNvPr id="36922" name="TextBox 97"/>
            <p:cNvSpPr txBox="1">
              <a:spLocks noChangeArrowheads="1"/>
            </p:cNvSpPr>
            <p:nvPr/>
          </p:nvSpPr>
          <p:spPr bwMode="auto">
            <a:xfrm>
              <a:off x="428596" y="2376066"/>
              <a:ext cx="15716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核心层设备</a:t>
              </a:r>
            </a:p>
          </p:txBody>
        </p:sp>
        <p:sp>
          <p:nvSpPr>
            <p:cNvPr id="36923" name="AutoShape 19"/>
            <p:cNvSpPr>
              <a:spLocks noChangeArrowheads="1"/>
            </p:cNvSpPr>
            <p:nvPr/>
          </p:nvSpPr>
          <p:spPr bwMode="auto">
            <a:xfrm>
              <a:off x="142844" y="2643182"/>
              <a:ext cx="2571768" cy="396000"/>
            </a:xfrm>
            <a:prstGeom prst="wedgeRoundRectCallout">
              <a:avLst>
                <a:gd name="adj1" fmla="val -23866"/>
                <a:gd name="adj2" fmla="val 50648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sz="16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核心层一般是网络的骨干</a:t>
              </a:r>
            </a:p>
          </p:txBody>
        </p:sp>
        <p:sp>
          <p:nvSpPr>
            <p:cNvPr id="36924" name="AutoShape 19"/>
            <p:cNvSpPr>
              <a:spLocks noChangeArrowheads="1"/>
            </p:cNvSpPr>
            <p:nvPr/>
          </p:nvSpPr>
          <p:spPr bwMode="auto">
            <a:xfrm>
              <a:off x="142844" y="4247446"/>
              <a:ext cx="2714644" cy="396000"/>
            </a:xfrm>
            <a:prstGeom prst="wedgeRoundRectCallout">
              <a:avLst>
                <a:gd name="adj1" fmla="val -23866"/>
                <a:gd name="adj2" fmla="val 50648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sz="16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汇聚层汇聚各接入层交换机</a:t>
              </a:r>
            </a:p>
          </p:txBody>
        </p:sp>
        <p:sp>
          <p:nvSpPr>
            <p:cNvPr id="36925" name="AutoShape 19"/>
            <p:cNvSpPr>
              <a:spLocks noChangeArrowheads="1"/>
            </p:cNvSpPr>
            <p:nvPr/>
          </p:nvSpPr>
          <p:spPr bwMode="auto">
            <a:xfrm>
              <a:off x="142844" y="5961958"/>
              <a:ext cx="2786082" cy="396000"/>
            </a:xfrm>
            <a:prstGeom prst="wedgeRoundRectCallout">
              <a:avLst>
                <a:gd name="adj1" fmla="val -23866"/>
                <a:gd name="adj2" fmla="val 50648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sz="16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接入层用于互连客户端节点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1" descr="cisco4500系列"/>
          <p:cNvPicPr>
            <a:picLocks noChangeAspect="1" noChangeArrowheads="1"/>
          </p:cNvPicPr>
          <p:nvPr/>
        </p:nvPicPr>
        <p:blipFill>
          <a:blip r:embed="rId3"/>
          <a:srcRect t="2869" r="28735" b="2565"/>
          <a:stretch>
            <a:fillRect/>
          </a:stretch>
        </p:blipFill>
        <p:spPr bwMode="auto">
          <a:xfrm>
            <a:off x="2381251" y="4214813"/>
            <a:ext cx="4429125" cy="191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1" name="内容占位符 62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核心层设备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en-US" altLang="zh-CN"/>
              <a:t>Cisco 6500</a:t>
            </a:r>
            <a:r>
              <a:rPr lang="zh-CN" altLang="en-US"/>
              <a:t>系列交换机</a:t>
            </a: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汇聚层设备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en-US" altLang="zh-CN"/>
              <a:t>Cisco 4500</a:t>
            </a:r>
            <a:r>
              <a:rPr lang="zh-CN" altLang="en-US"/>
              <a:t>系列交换机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Cisco 3560</a:t>
            </a:r>
            <a:r>
              <a:rPr lang="zh-CN" altLang="en-US"/>
              <a:t>、</a:t>
            </a:r>
            <a:r>
              <a:rPr lang="en-US" altLang="zh-CN"/>
              <a:t>3750</a:t>
            </a:r>
            <a:r>
              <a:rPr lang="zh-CN" altLang="en-US"/>
              <a:t>系列交换机相对低端的汇聚层设备</a:t>
            </a: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接入层设备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en-US" altLang="zh-CN"/>
              <a:t>Cisco 2960</a:t>
            </a:r>
            <a:r>
              <a:rPr lang="zh-CN" altLang="en-US"/>
              <a:t>交换机</a:t>
            </a:r>
          </a:p>
        </p:txBody>
      </p:sp>
      <p:sp>
        <p:nvSpPr>
          <p:cNvPr id="37892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Cisco</a:t>
            </a:r>
            <a:r>
              <a:rPr lang="zh-CN" altLang="en-US"/>
              <a:t>交换产品体系</a:t>
            </a:r>
            <a:r>
              <a:rPr lang="en-US" altLang="zh-CN"/>
              <a:t>3-2</a:t>
            </a:r>
            <a:endParaRPr lang="zh-CN" altLang="en-US"/>
          </a:p>
        </p:txBody>
      </p:sp>
      <p:sp>
        <p:nvSpPr>
          <p:cNvPr id="6" name="AutoShape 19"/>
          <p:cNvSpPr>
            <a:spLocks noChangeArrowheads="1"/>
          </p:cNvSpPr>
          <p:nvPr/>
        </p:nvSpPr>
        <p:spPr bwMode="auto">
          <a:xfrm>
            <a:off x="3381375" y="6215064"/>
            <a:ext cx="2071688" cy="428625"/>
          </a:xfrm>
          <a:prstGeom prst="wedgeRoundRectCallout">
            <a:avLst>
              <a:gd name="adj1" fmla="val -23866"/>
              <a:gd name="adj2" fmla="val 5064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Cisco 4500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系列</a:t>
            </a:r>
          </a:p>
        </p:txBody>
      </p:sp>
      <p:pic>
        <p:nvPicPr>
          <p:cNvPr id="8" name="Picture 19" descr="Cisco356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9001" y="3929063"/>
            <a:ext cx="2786063" cy="226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AutoShape 19"/>
          <p:cNvSpPr>
            <a:spLocks noChangeArrowheads="1"/>
          </p:cNvSpPr>
          <p:nvPr/>
        </p:nvSpPr>
        <p:spPr bwMode="auto">
          <a:xfrm>
            <a:off x="7596189" y="6215064"/>
            <a:ext cx="2071687" cy="428625"/>
          </a:xfrm>
          <a:prstGeom prst="wedgeRoundRectCallout">
            <a:avLst>
              <a:gd name="adj1" fmla="val -23866"/>
              <a:gd name="adj2" fmla="val 5064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Cisco 3500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系列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Cisco</a:t>
            </a:r>
            <a:r>
              <a:rPr lang="zh-CN" altLang="en-US"/>
              <a:t>交换产品体系</a:t>
            </a:r>
            <a:r>
              <a:rPr lang="en-US" altLang="zh-CN"/>
              <a:t>3-3</a:t>
            </a:r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881188" y="1831975"/>
          <a:ext cx="8429684" cy="4359192"/>
        </p:xfrm>
        <a:graphic>
          <a:graphicData uri="http://schemas.openxmlformats.org/drawingml/2006/table">
            <a:tbl>
              <a:tblPr/>
              <a:tblGrid>
                <a:gridCol w="1643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3868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/>
                        </a:rPr>
                        <a:t>产品系列号</a:t>
                      </a:r>
                      <a:endParaRPr lang="zh-CN" sz="1600" b="1" dirty="0">
                        <a:solidFill>
                          <a:schemeClr val="bg1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AF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/>
                        </a:rPr>
                        <a:t>设备型号</a:t>
                      </a:r>
                      <a:endParaRPr lang="zh-CN" sz="1600" b="1">
                        <a:solidFill>
                          <a:schemeClr val="bg1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AF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zh-CN" sz="1600" b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/>
                        </a:rPr>
                        <a:t>背板带宽（</a:t>
                      </a:r>
                      <a:r>
                        <a:rPr lang="en-US" sz="1600" b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Gbps</a:t>
                      </a:r>
                      <a:r>
                        <a:rPr lang="zh-CN" sz="1600" b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/>
                        </a:rPr>
                        <a:t>）</a:t>
                      </a:r>
                      <a:endParaRPr lang="zh-CN" sz="1600" b="1">
                        <a:solidFill>
                          <a:schemeClr val="bg1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AF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zh-CN" sz="1600" b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/>
                        </a:rPr>
                        <a:t>转发速率（</a:t>
                      </a:r>
                      <a:r>
                        <a:rPr lang="en-US" sz="1600" b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Mpps</a:t>
                      </a:r>
                      <a:r>
                        <a:rPr lang="zh-CN" sz="1600" b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/>
                        </a:rPr>
                        <a:t>）</a:t>
                      </a:r>
                      <a:endParaRPr lang="zh-CN" sz="1600" b="1">
                        <a:solidFill>
                          <a:schemeClr val="bg1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AF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/>
                        </a:rPr>
                        <a:t>端口密度</a:t>
                      </a:r>
                      <a:endParaRPr lang="zh-CN" sz="1600" b="1">
                        <a:solidFill>
                          <a:schemeClr val="bg1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AF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/>
                        </a:rPr>
                        <a:t>机架单元（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RU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/>
                        </a:rPr>
                        <a:t>）</a:t>
                      </a:r>
                      <a:endParaRPr lang="zh-CN" sz="1600" b="1" dirty="0">
                        <a:solidFill>
                          <a:schemeClr val="bg1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AF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66">
                <a:tc rowSpan="4"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Cisco 4500系列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Cisco 4503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28</a:t>
                      </a:r>
                      <a:endParaRPr lang="zh-CN" sz="16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21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96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7</a:t>
                      </a:r>
                      <a:endParaRPr lang="zh-CN" sz="16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87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Cisco 4506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64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48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240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10</a:t>
                      </a:r>
                      <a:endParaRPr lang="zh-CN" sz="16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6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Cisco 4507R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64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48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240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11</a:t>
                      </a:r>
                      <a:endParaRPr lang="zh-CN" sz="16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5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Cisco 4510R</a:t>
                      </a:r>
                      <a:endParaRPr lang="zh-CN" sz="16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96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72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3841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14</a:t>
                      </a:r>
                      <a:endParaRPr lang="zh-CN" sz="16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212">
                <a:tc rowSpan="3"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Cisco 3560系列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Cisco 3560G</a:t>
                      </a:r>
                      <a:endParaRPr lang="zh-CN" sz="16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32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38.7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24-10/100/1000</a:t>
                      </a:r>
                      <a:endParaRPr lang="zh-CN" sz="16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4-1000（SFP）</a:t>
                      </a:r>
                      <a:endParaRPr lang="zh-CN" sz="16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1</a:t>
                      </a:r>
                      <a:endParaRPr lang="zh-CN" sz="16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0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Cisco 3560-48TS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13.1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48-10/100</a:t>
                      </a:r>
                      <a:endParaRPr lang="zh-CN" sz="16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4-1000（SFP）</a:t>
                      </a:r>
                      <a:endParaRPr lang="zh-CN" sz="16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20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Cisco 3560-24TS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6.6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24-10/100</a:t>
                      </a:r>
                      <a:endParaRPr lang="zh-CN" sz="16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2-1000（SFP）</a:t>
                      </a:r>
                      <a:endParaRPr lang="zh-CN" sz="16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2199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Cisco 2960系列</a:t>
                      </a:r>
                      <a:endParaRPr lang="zh-CN" sz="16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Cisco 2960-24TT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16</a:t>
                      </a:r>
                      <a:endParaRPr lang="zh-CN" sz="1600" b="1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6.5</a:t>
                      </a:r>
                      <a:endParaRPr lang="zh-CN" sz="16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24-10/100</a:t>
                      </a:r>
                      <a:endParaRPr lang="zh-CN" sz="16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2-10/100/1000TX</a:t>
                      </a:r>
                      <a:endParaRPr lang="zh-CN" sz="16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  <a:cs typeface="Times New Roman"/>
                        </a:rPr>
                        <a:t>1</a:t>
                      </a:r>
                      <a:endParaRPr lang="zh-CN" sz="16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  <a:cs typeface="Times New Roman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A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8980" name="内容占位符 4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642938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Cisco</a:t>
            </a:r>
            <a:r>
              <a:rPr lang="zh-CN" altLang="en-US"/>
              <a:t>交换产品部分设备参数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ine 25"/>
          <p:cNvSpPr>
            <a:spLocks noChangeShapeType="1"/>
          </p:cNvSpPr>
          <p:nvPr/>
        </p:nvSpPr>
        <p:spPr bwMode="auto">
          <a:xfrm flipV="1">
            <a:off x="6667501" y="4429125"/>
            <a:ext cx="360363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12293" name="Line 25"/>
          <p:cNvSpPr>
            <a:spLocks noChangeShapeType="1"/>
          </p:cNvSpPr>
          <p:nvPr/>
        </p:nvSpPr>
        <p:spPr bwMode="auto">
          <a:xfrm flipV="1">
            <a:off x="6659563" y="2411414"/>
            <a:ext cx="431800" cy="15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4" name="Line 16"/>
          <p:cNvSpPr>
            <a:spLocks noChangeShapeType="1"/>
          </p:cNvSpPr>
          <p:nvPr/>
        </p:nvSpPr>
        <p:spPr bwMode="auto">
          <a:xfrm>
            <a:off x="6656389" y="1481138"/>
            <a:ext cx="35877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5" name="Line 16"/>
          <p:cNvSpPr>
            <a:spLocks noChangeShapeType="1"/>
          </p:cNvSpPr>
          <p:nvPr/>
        </p:nvSpPr>
        <p:spPr bwMode="auto">
          <a:xfrm>
            <a:off x="6664326" y="2971800"/>
            <a:ext cx="360363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12298" name="Line 8"/>
          <p:cNvSpPr>
            <a:spLocks noChangeShapeType="1"/>
          </p:cNvSpPr>
          <p:nvPr/>
        </p:nvSpPr>
        <p:spPr bwMode="auto">
          <a:xfrm>
            <a:off x="4238625" y="3429000"/>
            <a:ext cx="295275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00" name="Line 10"/>
          <p:cNvSpPr>
            <a:spLocks noChangeShapeType="1"/>
          </p:cNvSpPr>
          <p:nvPr/>
        </p:nvSpPr>
        <p:spPr bwMode="auto">
          <a:xfrm>
            <a:off x="3806825" y="3632200"/>
            <a:ext cx="4318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03" name="AutoShape 5"/>
          <p:cNvSpPr>
            <a:spLocks noChangeArrowheads="1"/>
          </p:cNvSpPr>
          <p:nvPr/>
        </p:nvSpPr>
        <p:spPr bwMode="auto">
          <a:xfrm>
            <a:off x="4492626" y="3109374"/>
            <a:ext cx="1971675" cy="646986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en-US" sz="1600" b="1" dirty="0" err="1">
                <a:solidFill>
                  <a:schemeClr val="tx2"/>
                </a:solidFill>
                <a:latin typeface="Arial" pitchFamily="34" charset="0"/>
                <a:ea typeface="楷体_GB2312" pitchFamily="49" charset="-122"/>
              </a:rPr>
              <a:t>路由器、交换机的密码设置与恢复</a:t>
            </a:r>
            <a:endParaRPr lang="zh-CN" altLang="en-US" sz="1600" b="1" dirty="0">
              <a:solidFill>
                <a:schemeClr val="tx2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2305" name="AutoShape 11"/>
          <p:cNvSpPr>
            <a:spLocks noChangeArrowheads="1"/>
          </p:cNvSpPr>
          <p:nvPr/>
        </p:nvSpPr>
        <p:spPr bwMode="auto">
          <a:xfrm>
            <a:off x="6988800" y="2225300"/>
            <a:ext cx="2736000" cy="374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en-US" sz="1600" b="1" dirty="0" err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基础命令介绍</a:t>
            </a:r>
            <a:endParaRPr lang="zh-CN" altLang="en-US" sz="1600" b="1" dirty="0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2307" name="Line 14"/>
          <p:cNvSpPr>
            <a:spLocks noChangeShapeType="1"/>
          </p:cNvSpPr>
          <p:nvPr/>
        </p:nvSpPr>
        <p:spPr bwMode="auto">
          <a:xfrm>
            <a:off x="6667500" y="1498601"/>
            <a:ext cx="0" cy="90011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08" name="AutoShape 18"/>
          <p:cNvSpPr>
            <a:spLocks noChangeArrowheads="1"/>
          </p:cNvSpPr>
          <p:nvPr/>
        </p:nvSpPr>
        <p:spPr bwMode="auto">
          <a:xfrm>
            <a:off x="6988800" y="2782474"/>
            <a:ext cx="2736000" cy="374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en-US" sz="1600" b="1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密码设置</a:t>
            </a:r>
            <a:r>
              <a:rPr lang="zh-CN" altLang="en-US" sz="1600" b="1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与恢复</a:t>
            </a:r>
            <a:endParaRPr lang="zh-CN" altLang="en-US" sz="1600" b="1" dirty="0">
              <a:solidFill>
                <a:srgbClr val="FF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2309" name="AutoShape 27"/>
          <p:cNvSpPr>
            <a:spLocks noChangeArrowheads="1"/>
          </p:cNvSpPr>
          <p:nvPr/>
        </p:nvSpPr>
        <p:spPr bwMode="auto">
          <a:xfrm>
            <a:off x="6953256" y="3214686"/>
            <a:ext cx="2736000" cy="374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en-US" sz="1600" b="1" dirty="0" err="1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路由器、交换机的远程管理</a:t>
            </a:r>
            <a:endParaRPr lang="zh-CN" altLang="en-US" sz="1600" b="1" dirty="0">
              <a:solidFill>
                <a:srgbClr val="FF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2311" name="AutoShape 4"/>
          <p:cNvSpPr>
            <a:spLocks noChangeArrowheads="1"/>
          </p:cNvSpPr>
          <p:nvPr/>
        </p:nvSpPr>
        <p:spPr bwMode="auto">
          <a:xfrm>
            <a:off x="1820848" y="3458004"/>
            <a:ext cx="2132012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设备管理</a:t>
            </a:r>
          </a:p>
        </p:txBody>
      </p:sp>
      <p:sp>
        <p:nvSpPr>
          <p:cNvPr id="12314" name="Line 36"/>
          <p:cNvSpPr>
            <a:spLocks noChangeShapeType="1"/>
          </p:cNvSpPr>
          <p:nvPr/>
        </p:nvSpPr>
        <p:spPr bwMode="auto">
          <a:xfrm flipH="1">
            <a:off x="4238625" y="1939925"/>
            <a:ext cx="0" cy="370363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5" name="Line 37"/>
          <p:cNvSpPr>
            <a:spLocks noChangeShapeType="1"/>
          </p:cNvSpPr>
          <p:nvPr/>
        </p:nvSpPr>
        <p:spPr bwMode="auto">
          <a:xfrm>
            <a:off x="6667500" y="2967039"/>
            <a:ext cx="45719" cy="461962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12316" name="Line 8"/>
          <p:cNvSpPr>
            <a:spLocks noChangeShapeType="1"/>
          </p:cNvSpPr>
          <p:nvPr/>
        </p:nvSpPr>
        <p:spPr bwMode="auto">
          <a:xfrm>
            <a:off x="4238626" y="1952625"/>
            <a:ext cx="2868613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7" name="AutoShape 11"/>
          <p:cNvSpPr>
            <a:spLocks noChangeArrowheads="1"/>
          </p:cNvSpPr>
          <p:nvPr/>
        </p:nvSpPr>
        <p:spPr bwMode="auto">
          <a:xfrm>
            <a:off x="6988800" y="1297556"/>
            <a:ext cx="2736000" cy="374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en-US" sz="1600" b="1" dirty="0" err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路由器的内部组件</a:t>
            </a:r>
            <a:endParaRPr lang="zh-CN" altLang="en-US" sz="1600" b="1" dirty="0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2318" name="AutoShape 11"/>
          <p:cNvSpPr>
            <a:spLocks noChangeArrowheads="1"/>
          </p:cNvSpPr>
          <p:nvPr/>
        </p:nvSpPr>
        <p:spPr bwMode="auto">
          <a:xfrm>
            <a:off x="6988800" y="1757451"/>
            <a:ext cx="2736000" cy="374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en-US" sz="1600" b="1" dirty="0" err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Cisco路由器的启动过程</a:t>
            </a:r>
            <a:endParaRPr lang="zh-CN" altLang="en-US" sz="1600" b="1" dirty="0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2320" name="AutoShape 5"/>
          <p:cNvSpPr>
            <a:spLocks noChangeArrowheads="1"/>
          </p:cNvSpPr>
          <p:nvPr/>
        </p:nvSpPr>
        <p:spPr bwMode="auto">
          <a:xfrm>
            <a:off x="4481514" y="1761245"/>
            <a:ext cx="1971675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en-US" sz="1600" b="1" dirty="0" err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路由器硬件概述</a:t>
            </a:r>
            <a:endParaRPr lang="zh-CN" altLang="en-US" sz="1600" b="1" dirty="0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24" name="Line 8"/>
          <p:cNvSpPr>
            <a:spLocks noChangeShapeType="1"/>
          </p:cNvSpPr>
          <p:nvPr/>
        </p:nvSpPr>
        <p:spPr bwMode="auto">
          <a:xfrm>
            <a:off x="4238626" y="4643438"/>
            <a:ext cx="242887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25" name="AutoShape 5"/>
          <p:cNvSpPr>
            <a:spLocks noChangeArrowheads="1"/>
          </p:cNvSpPr>
          <p:nvPr/>
        </p:nvSpPr>
        <p:spPr bwMode="auto">
          <a:xfrm>
            <a:off x="4481516" y="4352005"/>
            <a:ext cx="1971675" cy="646986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 err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IOS的备份、恢复和升级</a:t>
            </a:r>
            <a:endParaRPr lang="zh-CN" altLang="en-US" sz="1600" b="1" dirty="0" err="1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27" name="AutoShape 27"/>
          <p:cNvSpPr>
            <a:spLocks noChangeArrowheads="1"/>
          </p:cNvSpPr>
          <p:nvPr/>
        </p:nvSpPr>
        <p:spPr bwMode="auto">
          <a:xfrm>
            <a:off x="7043247" y="4705719"/>
            <a:ext cx="2675479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 err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恢复IOS</a:t>
            </a:r>
            <a:endParaRPr lang="zh-CN" altLang="en-US" sz="1600" b="1" dirty="0" err="1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28" name="AutoShape 28"/>
          <p:cNvSpPr>
            <a:spLocks noChangeArrowheads="1"/>
          </p:cNvSpPr>
          <p:nvPr/>
        </p:nvSpPr>
        <p:spPr bwMode="auto">
          <a:xfrm>
            <a:off x="7039000" y="4268876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 err="1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IOS的备份和升级</a:t>
            </a:r>
            <a:endParaRPr lang="zh-CN" altLang="en-US" sz="1600" b="1" dirty="0" err="1">
              <a:solidFill>
                <a:srgbClr val="FF0000"/>
              </a:solidFill>
              <a:latin typeface="Arial" pitchFamily="34" charset="0"/>
              <a:ea typeface="楷体_GB2312" pitchFamily="49" charset="-122"/>
            </a:endParaRPr>
          </a:p>
        </p:txBody>
      </p:sp>
      <p:cxnSp>
        <p:nvCxnSpPr>
          <p:cNvPr id="33" name="直接连接符 32"/>
          <p:cNvCxnSpPr/>
          <p:nvPr/>
        </p:nvCxnSpPr>
        <p:spPr bwMode="auto">
          <a:xfrm rot="5400000">
            <a:off x="6238880" y="4500564"/>
            <a:ext cx="857244" cy="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34" name="Line 25"/>
          <p:cNvSpPr>
            <a:spLocks noChangeShapeType="1"/>
          </p:cNvSpPr>
          <p:nvPr/>
        </p:nvSpPr>
        <p:spPr bwMode="auto">
          <a:xfrm flipV="1">
            <a:off x="6667501" y="4927600"/>
            <a:ext cx="360363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39" name="Line 8"/>
          <p:cNvSpPr>
            <a:spLocks noChangeShapeType="1"/>
          </p:cNvSpPr>
          <p:nvPr/>
        </p:nvSpPr>
        <p:spPr bwMode="auto">
          <a:xfrm>
            <a:off x="4238626" y="5630863"/>
            <a:ext cx="2428875" cy="127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40" name="AutoShape 11"/>
          <p:cNvSpPr>
            <a:spLocks noChangeArrowheads="1"/>
          </p:cNvSpPr>
          <p:nvPr/>
        </p:nvSpPr>
        <p:spPr bwMode="auto">
          <a:xfrm>
            <a:off x="7039000" y="5176936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err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Cisco</a:t>
            </a:r>
            <a:r>
              <a:rPr lang="en-US" altLang="zh-CN" sz="1600" b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路由产品体系</a:t>
            </a:r>
            <a:endParaRPr lang="zh-CN" altLang="en-US" sz="1600" b="1" dirty="0" err="1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41" name="AutoShape 11"/>
          <p:cNvSpPr>
            <a:spLocks noChangeArrowheads="1"/>
          </p:cNvSpPr>
          <p:nvPr/>
        </p:nvSpPr>
        <p:spPr bwMode="auto">
          <a:xfrm>
            <a:off x="7024694" y="3857629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路由器、</a:t>
            </a:r>
            <a:r>
              <a:rPr lang="en-US" altLang="zh-CN" sz="1600" b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交换</a:t>
            </a:r>
            <a:r>
              <a:rPr lang="zh-CN" altLang="en-US" sz="1600" b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机的</a:t>
            </a:r>
            <a:r>
              <a:rPr lang="en-US" altLang="zh-CN" sz="1600" b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IOS</a:t>
            </a:r>
            <a:endParaRPr lang="zh-CN" altLang="en-US" sz="1600" b="1" dirty="0" err="1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42" name="AutoShape 5"/>
          <p:cNvSpPr>
            <a:spLocks noChangeArrowheads="1"/>
          </p:cNvSpPr>
          <p:nvPr/>
        </p:nvSpPr>
        <p:spPr bwMode="auto">
          <a:xfrm>
            <a:off x="4481516" y="5437261"/>
            <a:ext cx="1971675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 err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Cisco设备简介</a:t>
            </a:r>
            <a:endParaRPr lang="zh-CN" altLang="en-US" sz="1600" b="1" dirty="0" err="1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43" name="Line 25"/>
          <p:cNvSpPr>
            <a:spLocks noChangeShapeType="1"/>
          </p:cNvSpPr>
          <p:nvPr/>
        </p:nvSpPr>
        <p:spPr bwMode="auto">
          <a:xfrm flipV="1">
            <a:off x="6667501" y="5357814"/>
            <a:ext cx="360363" cy="15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Arial" pitchFamily="34" charset="0"/>
            </a:endParaRPr>
          </a:p>
        </p:txBody>
      </p:sp>
      <p:cxnSp>
        <p:nvCxnSpPr>
          <p:cNvPr id="44" name="直接连接符 43"/>
          <p:cNvCxnSpPr/>
          <p:nvPr/>
        </p:nvCxnSpPr>
        <p:spPr bwMode="auto">
          <a:xfrm rot="5400000">
            <a:off x="6418263" y="5607050"/>
            <a:ext cx="500062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45" name="Line 25"/>
          <p:cNvSpPr>
            <a:spLocks noChangeShapeType="1"/>
          </p:cNvSpPr>
          <p:nvPr/>
        </p:nvSpPr>
        <p:spPr bwMode="auto">
          <a:xfrm flipV="1">
            <a:off x="6667501" y="5857875"/>
            <a:ext cx="360363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35" name="AutoShape 11"/>
          <p:cNvSpPr>
            <a:spLocks noChangeArrowheads="1"/>
          </p:cNvSpPr>
          <p:nvPr/>
        </p:nvSpPr>
        <p:spPr bwMode="auto">
          <a:xfrm>
            <a:off x="7024694" y="5715017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Cisco</a:t>
            </a:r>
            <a:r>
              <a:rPr lang="zh-CN" altLang="en-US" sz="1600" b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交换</a:t>
            </a:r>
            <a:r>
              <a:rPr lang="en-US" altLang="zh-CN" sz="1600" b="1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产品体系</a:t>
            </a:r>
            <a:endParaRPr lang="zh-CN" altLang="en-US" sz="1600" b="1" dirty="0" err="1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38" name="Line 25"/>
          <p:cNvSpPr>
            <a:spLocks noChangeShapeType="1"/>
          </p:cNvSpPr>
          <p:nvPr/>
        </p:nvSpPr>
        <p:spPr bwMode="auto">
          <a:xfrm flipV="1">
            <a:off x="6667505" y="4071942"/>
            <a:ext cx="360363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37" name="标题 2"/>
          <p:cNvSpPr txBox="1">
            <a:spLocks/>
          </p:cNvSpPr>
          <p:nvPr/>
        </p:nvSpPr>
        <p:spPr bwMode="white">
          <a:xfrm>
            <a:off x="1748904" y="142853"/>
            <a:ext cx="87630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本章总结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1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2293" grpId="0" animBg="1"/>
      <p:bldP spid="12294" grpId="0" animBg="1"/>
      <p:bldP spid="12295" grpId="0" animBg="1"/>
      <p:bldP spid="12298" grpId="0" animBg="1"/>
      <p:bldP spid="12300" grpId="0" animBg="1"/>
      <p:bldP spid="12303" grpId="0" animBg="1"/>
      <p:bldP spid="12305" grpId="0" animBg="1"/>
      <p:bldP spid="12307" grpId="0" animBg="1"/>
      <p:bldP spid="12308" grpId="0" animBg="1"/>
      <p:bldP spid="12309" grpId="0" animBg="1"/>
      <p:bldP spid="12311" grpId="0" animBg="1"/>
      <p:bldP spid="12314" grpId="0" animBg="1"/>
      <p:bldP spid="12315" grpId="0" animBg="1"/>
      <p:bldP spid="12316" grpId="0" animBg="1"/>
      <p:bldP spid="12317" grpId="0" animBg="1"/>
      <p:bldP spid="12318" grpId="0" animBg="1"/>
      <p:bldP spid="12320" grpId="0" animBg="1"/>
      <p:bldP spid="24" grpId="0" animBg="1"/>
      <p:bldP spid="25" grpId="0" animBg="1"/>
      <p:bldP spid="27" grpId="0" animBg="1"/>
      <p:bldP spid="28" grpId="0" animBg="1"/>
      <p:bldP spid="34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5" grpId="0" animBg="1"/>
      <p:bldP spid="35" grpId="0" animBg="1"/>
      <p:bldP spid="3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内容占位符 38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需求描述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实现管理员主机对交换机和路由器的远程管理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设备上配置的密码都要被加密</a:t>
            </a:r>
            <a:endParaRPr lang="en-US" altLang="zh-CN"/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实现思路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主机和</a:t>
            </a:r>
            <a:r>
              <a:rPr lang="en-US" altLang="zh-CN"/>
              <a:t>SW1</a:t>
            </a:r>
            <a:r>
              <a:rPr lang="zh-CN" altLang="en-US"/>
              <a:t>不在同一网段，</a:t>
            </a:r>
            <a:r>
              <a:rPr lang="en-US" altLang="zh-CN"/>
              <a:t>SW1</a:t>
            </a:r>
            <a:r>
              <a:rPr lang="zh-CN" altLang="en-US"/>
              <a:t>需要配置默认网关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远程登录管理需要配置特权密码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使用</a:t>
            </a:r>
            <a:r>
              <a:rPr lang="en-US" altLang="zh-CN"/>
              <a:t>service password-encryption</a:t>
            </a:r>
            <a:r>
              <a:rPr lang="zh-CN" altLang="en-US"/>
              <a:t>命令对密码加密</a:t>
            </a: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学员练习</a:t>
            </a:r>
            <a:endParaRPr lang="en-US" altLang="zh-CN"/>
          </a:p>
          <a:p>
            <a:pPr lvl="1">
              <a:spcBef>
                <a:spcPts val="475"/>
              </a:spcBef>
            </a:pPr>
            <a:endParaRPr lang="en-US" altLang="zh-CN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实验一：设备密码配置与远程管理</a:t>
            </a:r>
            <a:endParaRPr lang="en-US" altLang="zh-CN"/>
          </a:p>
        </p:txBody>
      </p:sp>
      <p:grpSp>
        <p:nvGrpSpPr>
          <p:cNvPr id="2" name="组合 43"/>
          <p:cNvGrpSpPr>
            <a:grpSpLocks/>
          </p:cNvGrpSpPr>
          <p:nvPr/>
        </p:nvGrpSpPr>
        <p:grpSpPr bwMode="auto">
          <a:xfrm>
            <a:off x="2595563" y="2428875"/>
            <a:ext cx="6748462" cy="1309688"/>
            <a:chOff x="1176291" y="3412922"/>
            <a:chExt cx="6748591" cy="1310459"/>
          </a:xfrm>
        </p:grpSpPr>
        <p:cxnSp>
          <p:nvCxnSpPr>
            <p:cNvPr id="41991" name="AutoShape 7"/>
            <p:cNvCxnSpPr>
              <a:cxnSpLocks noChangeShapeType="1"/>
            </p:cNvCxnSpPr>
            <p:nvPr/>
          </p:nvCxnSpPr>
          <p:spPr bwMode="auto">
            <a:xfrm>
              <a:off x="1943064" y="3798886"/>
              <a:ext cx="4860000" cy="0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41992" name="Text Box 4"/>
            <p:cNvSpPr txBox="1">
              <a:spLocks noChangeArrowheads="1"/>
            </p:cNvSpPr>
            <p:nvPr/>
          </p:nvSpPr>
          <p:spPr bwMode="auto">
            <a:xfrm>
              <a:off x="6391336" y="4142116"/>
              <a:ext cx="1533546" cy="5812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管理员主机</a:t>
              </a:r>
              <a:endParaRPr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192.168.1.2</a:t>
              </a:r>
            </a:p>
          </p:txBody>
        </p:sp>
        <p:pic>
          <p:nvPicPr>
            <p:cNvPr id="41993" name="Picture 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667542" y="3412922"/>
              <a:ext cx="829815" cy="7861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994" name="Picture 6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957641" y="3532186"/>
              <a:ext cx="906463" cy="53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995" name="Text Box 8"/>
            <p:cNvSpPr txBox="1">
              <a:spLocks noChangeArrowheads="1"/>
            </p:cNvSpPr>
            <p:nvPr/>
          </p:nvSpPr>
          <p:spPr bwMode="auto">
            <a:xfrm>
              <a:off x="4368797" y="3757777"/>
              <a:ext cx="1408132" cy="58126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F0/0</a:t>
              </a:r>
            </a:p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192.168.1.1</a:t>
              </a:r>
            </a:p>
          </p:txBody>
        </p:sp>
        <p:pic>
          <p:nvPicPr>
            <p:cNvPr id="41996" name="Picture 9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285830" y="3567121"/>
              <a:ext cx="1042987" cy="4460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997" name="Text Box 11"/>
            <p:cNvSpPr txBox="1">
              <a:spLocks noChangeArrowheads="1"/>
            </p:cNvSpPr>
            <p:nvPr/>
          </p:nvSpPr>
          <p:spPr bwMode="auto">
            <a:xfrm>
              <a:off x="3147993" y="3794304"/>
              <a:ext cx="1223979" cy="5812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F0/1</a:t>
              </a:r>
            </a:p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10.0.0.1</a:t>
              </a:r>
            </a:p>
          </p:txBody>
        </p:sp>
        <p:sp>
          <p:nvSpPr>
            <p:cNvPr id="41998" name="Text Box 12"/>
            <p:cNvSpPr txBox="1">
              <a:spLocks noChangeArrowheads="1"/>
            </p:cNvSpPr>
            <p:nvPr/>
          </p:nvSpPr>
          <p:spPr bwMode="auto">
            <a:xfrm>
              <a:off x="1176291" y="3940415"/>
              <a:ext cx="1168416" cy="58126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管理</a:t>
              </a: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IP</a:t>
              </a:r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为</a:t>
              </a:r>
              <a:endParaRPr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10.0.0.2</a:t>
              </a:r>
            </a:p>
          </p:txBody>
        </p:sp>
        <p:sp>
          <p:nvSpPr>
            <p:cNvPr id="41999" name="Text Box 82"/>
            <p:cNvSpPr txBox="1">
              <a:spLocks noChangeArrowheads="1"/>
            </p:cNvSpPr>
            <p:nvPr/>
          </p:nvSpPr>
          <p:spPr bwMode="auto">
            <a:xfrm>
              <a:off x="1355441" y="3734093"/>
              <a:ext cx="760971" cy="33849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SW1</a:t>
              </a:r>
            </a:p>
          </p:txBody>
        </p:sp>
        <p:sp>
          <p:nvSpPr>
            <p:cNvPr id="42000" name="Text Box 87"/>
            <p:cNvSpPr txBox="1">
              <a:spLocks noChangeArrowheads="1"/>
            </p:cNvSpPr>
            <p:nvPr/>
          </p:nvSpPr>
          <p:spPr bwMode="auto">
            <a:xfrm>
              <a:off x="4024305" y="3784254"/>
              <a:ext cx="760971" cy="33849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R1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46051"/>
            <a:ext cx="8763000" cy="639763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共性问题集中讲解</a:t>
            </a:r>
          </a:p>
        </p:txBody>
      </p:sp>
      <p:sp>
        <p:nvSpPr>
          <p:cNvPr id="64515" name="内容占位符 2"/>
          <p:cNvSpPr>
            <a:spLocks noGrp="1"/>
          </p:cNvSpPr>
          <p:nvPr>
            <p:ph idx="1"/>
          </p:nvPr>
        </p:nvSpPr>
        <p:spPr>
          <a:xfrm>
            <a:off x="2309813" y="1714500"/>
            <a:ext cx="7643812" cy="17859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/>
              <a:t>常见问题及解决办法</a:t>
            </a:r>
            <a:endParaRPr lang="en-US" altLang="zh-CN"/>
          </a:p>
          <a:p>
            <a:pPr>
              <a:spcBef>
                <a:spcPct val="50000"/>
              </a:spcBef>
            </a:pPr>
            <a:r>
              <a:rPr lang="zh-CN" altLang="en-US"/>
              <a:t>实验案例小结</a:t>
            </a:r>
            <a:endParaRPr lang="en-US" altLang="zh-CN"/>
          </a:p>
          <a:p>
            <a:pPr>
              <a:spcBef>
                <a:spcPct val="50000"/>
              </a:spcBef>
              <a:buFontTx/>
              <a:buNone/>
            </a:pPr>
            <a:endParaRPr lang="zh-CN" altLang="en-US"/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809985" y="3857629"/>
            <a:ext cx="4291013" cy="928687"/>
          </a:xfrm>
          <a:prstGeom prst="roundRect">
            <a:avLst>
              <a:gd name="adj" fmla="val 5982"/>
            </a:avLst>
          </a:prstGeom>
          <a:solidFill>
            <a:srgbClr val="FFB793"/>
          </a:solidFill>
          <a:ln w="9525" algn="ctr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 anchorCtr="1"/>
          <a:lstStyle/>
          <a:p>
            <a:pPr>
              <a:defRPr/>
            </a:pPr>
            <a:r>
              <a:rPr lang="zh-CN" altLang="en-US" sz="28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共性问题集中讲解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内容占位符 38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需求描述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网络管理员忘记了为路由器和交换机配置的密码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进行密码恢复</a:t>
            </a:r>
            <a:endParaRPr lang="en-US" altLang="zh-CN"/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实现思路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通过</a:t>
            </a:r>
            <a:r>
              <a:rPr lang="en-US" altLang="zh-CN"/>
              <a:t>Console</a:t>
            </a:r>
            <a:r>
              <a:rPr lang="zh-CN" altLang="en-US"/>
              <a:t>口进行密码恢复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路由器通过更改配置寄存器恢复密码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交换机通过更改配置文件名称恢复密码</a:t>
            </a: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学员练习</a:t>
            </a:r>
            <a:endParaRPr lang="en-US" altLang="zh-CN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实验二：密码恢复</a:t>
            </a:r>
            <a:endParaRPr lang="en-US" altLang="zh-CN"/>
          </a:p>
        </p:txBody>
      </p:sp>
      <p:pic>
        <p:nvPicPr>
          <p:cNvPr id="43012" name="Picture 4" descr="练习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87601" y="5697538"/>
            <a:ext cx="1008063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3216276" y="5913439"/>
            <a:ext cx="2735263" cy="43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6600"/>
              </a:buClr>
              <a:buSzPct val="80000"/>
            </a:pPr>
            <a:r>
              <a:rPr lang="en-US" altLang="zh-CN" sz="2400" b="1">
                <a:solidFill>
                  <a:srgbClr val="FF9933"/>
                </a:solidFill>
                <a:latin typeface="黑体" pitchFamily="2" charset="-122"/>
              </a:rPr>
              <a:t>50</a:t>
            </a:r>
            <a:r>
              <a:rPr lang="zh-CN" altLang="en-US" sz="2400" b="1">
                <a:solidFill>
                  <a:srgbClr val="FF9933"/>
                </a:solidFill>
                <a:latin typeface="黑体" pitchFamily="2" charset="-122"/>
              </a:rPr>
              <a:t>分钟完成</a:t>
            </a:r>
          </a:p>
        </p:txBody>
      </p:sp>
      <p:grpSp>
        <p:nvGrpSpPr>
          <p:cNvPr id="2" name="组合 43"/>
          <p:cNvGrpSpPr>
            <a:grpSpLocks/>
          </p:cNvGrpSpPr>
          <p:nvPr/>
        </p:nvGrpSpPr>
        <p:grpSpPr bwMode="auto">
          <a:xfrm>
            <a:off x="2595563" y="2428875"/>
            <a:ext cx="6748462" cy="1309688"/>
            <a:chOff x="1176291" y="3412922"/>
            <a:chExt cx="6748591" cy="1310459"/>
          </a:xfrm>
        </p:grpSpPr>
        <p:cxnSp>
          <p:nvCxnSpPr>
            <p:cNvPr id="43015" name="AutoShape 7"/>
            <p:cNvCxnSpPr>
              <a:cxnSpLocks noChangeShapeType="1"/>
            </p:cNvCxnSpPr>
            <p:nvPr/>
          </p:nvCxnSpPr>
          <p:spPr bwMode="auto">
            <a:xfrm>
              <a:off x="1943064" y="3798886"/>
              <a:ext cx="4860000" cy="0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43016" name="Text Box 4"/>
            <p:cNvSpPr txBox="1">
              <a:spLocks noChangeArrowheads="1"/>
            </p:cNvSpPr>
            <p:nvPr/>
          </p:nvSpPr>
          <p:spPr bwMode="auto">
            <a:xfrm>
              <a:off x="6391336" y="4142116"/>
              <a:ext cx="1533546" cy="5812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管理员主机</a:t>
              </a:r>
              <a:endParaRPr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192.168.1.2</a:t>
              </a:r>
            </a:p>
          </p:txBody>
        </p:sp>
        <p:pic>
          <p:nvPicPr>
            <p:cNvPr id="43017" name="Picture 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667542" y="3412922"/>
              <a:ext cx="829815" cy="7861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3018" name="Picture 6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957641" y="3532186"/>
              <a:ext cx="906463" cy="53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019" name="Text Box 8"/>
            <p:cNvSpPr txBox="1">
              <a:spLocks noChangeArrowheads="1"/>
            </p:cNvSpPr>
            <p:nvPr/>
          </p:nvSpPr>
          <p:spPr bwMode="auto">
            <a:xfrm>
              <a:off x="4368797" y="3757777"/>
              <a:ext cx="1408132" cy="58126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F0/0</a:t>
              </a:r>
            </a:p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192.168.1.1</a:t>
              </a:r>
            </a:p>
          </p:txBody>
        </p:sp>
        <p:pic>
          <p:nvPicPr>
            <p:cNvPr id="43020" name="Picture 9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285830" y="3567121"/>
              <a:ext cx="1042987" cy="4460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021" name="Text Box 11"/>
            <p:cNvSpPr txBox="1">
              <a:spLocks noChangeArrowheads="1"/>
            </p:cNvSpPr>
            <p:nvPr/>
          </p:nvSpPr>
          <p:spPr bwMode="auto">
            <a:xfrm>
              <a:off x="3147993" y="3794304"/>
              <a:ext cx="1223979" cy="5812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F0/1</a:t>
              </a:r>
            </a:p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10.0.0.1</a:t>
              </a:r>
            </a:p>
          </p:txBody>
        </p:sp>
        <p:sp>
          <p:nvSpPr>
            <p:cNvPr id="43022" name="Text Box 12"/>
            <p:cNvSpPr txBox="1">
              <a:spLocks noChangeArrowheads="1"/>
            </p:cNvSpPr>
            <p:nvPr/>
          </p:nvSpPr>
          <p:spPr bwMode="auto">
            <a:xfrm>
              <a:off x="1176291" y="3940415"/>
              <a:ext cx="1168416" cy="58126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管理</a:t>
              </a: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IP</a:t>
              </a:r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为</a:t>
              </a:r>
              <a:endParaRPr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10.0.0.2</a:t>
              </a:r>
            </a:p>
          </p:txBody>
        </p:sp>
        <p:sp>
          <p:nvSpPr>
            <p:cNvPr id="43023" name="Text Box 82"/>
            <p:cNvSpPr txBox="1">
              <a:spLocks noChangeArrowheads="1"/>
            </p:cNvSpPr>
            <p:nvPr/>
          </p:nvSpPr>
          <p:spPr bwMode="auto">
            <a:xfrm>
              <a:off x="1355441" y="3734093"/>
              <a:ext cx="760971" cy="33849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SW1</a:t>
              </a:r>
            </a:p>
          </p:txBody>
        </p:sp>
        <p:sp>
          <p:nvSpPr>
            <p:cNvPr id="43024" name="Text Box 87"/>
            <p:cNvSpPr txBox="1">
              <a:spLocks noChangeArrowheads="1"/>
            </p:cNvSpPr>
            <p:nvPr/>
          </p:nvSpPr>
          <p:spPr bwMode="auto">
            <a:xfrm>
              <a:off x="4024305" y="3784254"/>
              <a:ext cx="760971" cy="33849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1028700" eaLnBrk="0" hangingPunct="0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R1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46051"/>
            <a:ext cx="8763000" cy="639763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共性问题集中讲解</a:t>
            </a:r>
          </a:p>
        </p:txBody>
      </p:sp>
      <p:sp>
        <p:nvSpPr>
          <p:cNvPr id="64515" name="内容占位符 2"/>
          <p:cNvSpPr>
            <a:spLocks noGrp="1"/>
          </p:cNvSpPr>
          <p:nvPr>
            <p:ph idx="1"/>
          </p:nvPr>
        </p:nvSpPr>
        <p:spPr>
          <a:xfrm>
            <a:off x="2309813" y="1714500"/>
            <a:ext cx="7643812" cy="17859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/>
              <a:t>常见问题及解决办法</a:t>
            </a:r>
            <a:endParaRPr lang="en-US" altLang="zh-CN"/>
          </a:p>
          <a:p>
            <a:pPr>
              <a:spcBef>
                <a:spcPct val="50000"/>
              </a:spcBef>
            </a:pPr>
            <a:r>
              <a:rPr lang="zh-CN" altLang="en-US"/>
              <a:t>实验案例小结</a:t>
            </a:r>
            <a:endParaRPr lang="en-US" altLang="zh-CN"/>
          </a:p>
          <a:p>
            <a:pPr>
              <a:spcBef>
                <a:spcPct val="50000"/>
              </a:spcBef>
              <a:buFontTx/>
              <a:buNone/>
            </a:pPr>
            <a:endParaRPr lang="zh-CN" altLang="en-US"/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809985" y="3857629"/>
            <a:ext cx="4291013" cy="928687"/>
          </a:xfrm>
          <a:prstGeom prst="roundRect">
            <a:avLst>
              <a:gd name="adj" fmla="val 5982"/>
            </a:avLst>
          </a:prstGeom>
          <a:solidFill>
            <a:srgbClr val="FFB793"/>
          </a:solidFill>
          <a:ln w="9525" algn="ctr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 anchorCtr="1"/>
          <a:lstStyle/>
          <a:p>
            <a:pPr>
              <a:defRPr/>
            </a:pPr>
            <a:r>
              <a:rPr lang="zh-CN" altLang="en-US" sz="28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共性问题集中讲解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35318-A86B-4409-944A-1726D62C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435D2E-46A2-4568-AD7C-3760BC95C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46" y="2551193"/>
            <a:ext cx="10972440" cy="7514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4800" dirty="0"/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3404734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6618</TotalTime>
  <Words>3828</Words>
  <Application>Microsoft Office PowerPoint</Application>
  <PresentationFormat>宽屏</PresentationFormat>
  <Paragraphs>683</Paragraphs>
  <Slides>35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Myriad Pro</vt:lpstr>
      <vt:lpstr>仿宋_GB2312</vt:lpstr>
      <vt:lpstr>黑体</vt:lpstr>
      <vt:lpstr>楷体_GB2312</vt:lpstr>
      <vt:lpstr>微软雅黑</vt:lpstr>
      <vt:lpstr>Arial</vt:lpstr>
      <vt:lpstr>Symbol</vt:lpstr>
      <vt:lpstr>Times New Roman</vt:lpstr>
      <vt:lpstr>Wingdings</vt:lpstr>
      <vt:lpstr>Office Theme</vt:lpstr>
      <vt:lpstr>目标</vt:lpstr>
      <vt:lpstr>本章结构</vt:lpstr>
      <vt:lpstr>路由器、交换机的硬件</vt:lpstr>
      <vt:lpstr>Cisco路由器、交换机的启动过程</vt:lpstr>
      <vt:lpstr>路由器启动时的输出内容</vt:lpstr>
      <vt:lpstr>基础命令介绍2-1</vt:lpstr>
      <vt:lpstr>基础命令介绍2-2</vt:lpstr>
      <vt:lpstr>路由器、交换机的密码设置4-1</vt:lpstr>
      <vt:lpstr>路由器、交换机的密码设置4-2</vt:lpstr>
      <vt:lpstr>路由器、交换机的密码设置4-3</vt:lpstr>
      <vt:lpstr>路由器、交换机的密码设置4-4</vt:lpstr>
      <vt:lpstr>路由器密码恢复</vt:lpstr>
      <vt:lpstr>交换机密码恢复</vt:lpstr>
      <vt:lpstr>路由器、交换机远程管理2-1</vt:lpstr>
      <vt:lpstr>路由器、交换机远程管理2-2</vt:lpstr>
      <vt:lpstr>配置默认网关</vt:lpstr>
      <vt:lpstr>路由器、交换机的IOS 2-1</vt:lpstr>
      <vt:lpstr>路由器、交换机的IOS 2-2</vt:lpstr>
      <vt:lpstr>升级Cisco路由器的IOS2-1</vt:lpstr>
      <vt:lpstr>升级Cisco路由器的IOS2-2</vt:lpstr>
      <vt:lpstr>IOS恢复</vt:lpstr>
      <vt:lpstr>Cisco路由产品体系4-1</vt:lpstr>
      <vt:lpstr>Cisco路由产品体系4-2</vt:lpstr>
      <vt:lpstr>Cisco路由产品体系4-3</vt:lpstr>
      <vt:lpstr>Cisco路由产品体系4-4</vt:lpstr>
      <vt:lpstr>Cisco交换产品体系3-1</vt:lpstr>
      <vt:lpstr>Cisco交换产品体系3-2</vt:lpstr>
      <vt:lpstr>Cisco交换产品体系3-3</vt:lpstr>
      <vt:lpstr>PowerPoint 演示文稿</vt:lpstr>
      <vt:lpstr>实验一：设备密码配置与远程管理</vt:lpstr>
      <vt:lpstr>共性问题集中讲解</vt:lpstr>
      <vt:lpstr>实验二：密码恢复</vt:lpstr>
      <vt:lpstr>共性问题集中讲解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cuiyongxin</dc:creator>
  <dc:description/>
  <cp:lastModifiedBy>Jason Chen</cp:lastModifiedBy>
  <cp:revision>169</cp:revision>
  <dcterms:created xsi:type="dcterms:W3CDTF">2019-12-12T13:30:13Z</dcterms:created>
  <dcterms:modified xsi:type="dcterms:W3CDTF">2021-10-14T05:35:21Z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KSOProductBuildVer">
    <vt:lpwstr>2052-1.2.1.1575</vt:lpwstr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4</vt:i4>
  </property>
  <property fmtid="{D5CDD505-2E9C-101B-9397-08002B2CF9AE}" pid="9" name="PresentationFormat">
    <vt:lpwstr>宽屏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24</vt:i4>
  </property>
</Properties>
</file>