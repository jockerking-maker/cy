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23"/>
  </p:notesMasterIdLst>
  <p:sldIdLst>
    <p:sldId id="479" r:id="rId2"/>
    <p:sldId id="587" r:id="rId3"/>
    <p:sldId id="588" r:id="rId4"/>
    <p:sldId id="589" r:id="rId5"/>
    <p:sldId id="590" r:id="rId6"/>
    <p:sldId id="591" r:id="rId7"/>
    <p:sldId id="592" r:id="rId8"/>
    <p:sldId id="593" r:id="rId9"/>
    <p:sldId id="594" r:id="rId10"/>
    <p:sldId id="596" r:id="rId11"/>
    <p:sldId id="597" r:id="rId12"/>
    <p:sldId id="598" r:id="rId13"/>
    <p:sldId id="599" r:id="rId14"/>
    <p:sldId id="600" r:id="rId15"/>
    <p:sldId id="601" r:id="rId16"/>
    <p:sldId id="445" r:id="rId17"/>
    <p:sldId id="604" r:id="rId18"/>
    <p:sldId id="605" r:id="rId19"/>
    <p:sldId id="606" r:id="rId20"/>
    <p:sldId id="607" r:id="rId21"/>
    <p:sldId id="298"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776B"/>
    <a:srgbClr val="E44C3C"/>
    <a:srgbClr val="BC291A"/>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50" autoAdjust="0"/>
    <p:restoredTop sz="95232" autoAdjust="0"/>
  </p:normalViewPr>
  <p:slideViewPr>
    <p:cSldViewPr snapToGrid="0">
      <p:cViewPr varScale="1">
        <p:scale>
          <a:sx n="40" d="100"/>
          <a:sy n="40" d="100"/>
        </p:scale>
        <p:origin x="816" y="68"/>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4" name="PlaceHolder 1"/>
          <p:cNvSpPr>
            <a:spLocks noGrp="1" noRot="1" noChangeAspect="1"/>
          </p:cNvSpPr>
          <p:nvPr>
            <p:ph type="sldImg"/>
          </p:nvPr>
        </p:nvSpPr>
        <p:spPr>
          <a:xfrm>
            <a:off x="76680" y="726440"/>
            <a:ext cx="6704640" cy="3771360"/>
          </a:xfrm>
          <a:prstGeom prst="rect">
            <a:avLst/>
          </a:prstGeom>
        </p:spPr>
        <p:txBody>
          <a:bodyPr lIns="0" tIns="0" rIns="0" bIns="0" anchor="ctr"/>
          <a:lstStyle/>
          <a:p>
            <a:r>
              <a:rPr lang="en-US" sz="1800" b="0" strike="noStrike" spc="-1">
                <a:solidFill>
                  <a:srgbClr val="000000"/>
                </a:solidFill>
                <a:latin typeface="Arial"/>
              </a:rPr>
              <a:t>Click to move the slide</a:t>
            </a:r>
          </a:p>
        </p:txBody>
      </p:sp>
      <p:sp>
        <p:nvSpPr>
          <p:cNvPr id="215" name="PlaceHolder 2"/>
          <p:cNvSpPr>
            <a:spLocks noGrp="1"/>
          </p:cNvSpPr>
          <p:nvPr>
            <p:ph type="body"/>
          </p:nvPr>
        </p:nvSpPr>
        <p:spPr>
          <a:xfrm>
            <a:off x="777240" y="4777560"/>
            <a:ext cx="6217560" cy="4525920"/>
          </a:xfrm>
          <a:prstGeom prst="rect">
            <a:avLst/>
          </a:prstGeom>
        </p:spPr>
        <p:txBody>
          <a:bodyPr lIns="0" tIns="0" rIns="0" bIns="0"/>
          <a:lstStyle/>
          <a:p>
            <a:r>
              <a:rPr lang="en-US" sz="2000" b="0" strike="noStrike" spc="-1">
                <a:latin typeface="Arial"/>
              </a:rPr>
              <a:t>Click to edit the notes format</a:t>
            </a:r>
          </a:p>
        </p:txBody>
      </p:sp>
      <p:sp>
        <p:nvSpPr>
          <p:cNvPr id="216" name="PlaceHolder 3"/>
          <p:cNvSpPr>
            <a:spLocks noGrp="1"/>
          </p:cNvSpPr>
          <p:nvPr>
            <p:ph type="hdr"/>
          </p:nvPr>
        </p:nvSpPr>
        <p:spPr>
          <a:xfrm>
            <a:off x="0" y="0"/>
            <a:ext cx="3372840" cy="502560"/>
          </a:xfrm>
          <a:prstGeom prst="rect">
            <a:avLst/>
          </a:prstGeom>
        </p:spPr>
        <p:txBody>
          <a:bodyPr lIns="0" tIns="0" rIns="0" bIns="0"/>
          <a:lstStyle/>
          <a:p>
            <a:r>
              <a:rPr lang="en-US" sz="1400" b="0" strike="noStrike" spc="-1">
                <a:latin typeface="Times New Roman"/>
              </a:rPr>
              <a:t>&lt;header&gt;</a:t>
            </a:r>
          </a:p>
        </p:txBody>
      </p:sp>
      <p:sp>
        <p:nvSpPr>
          <p:cNvPr id="217" name="PlaceHolder 4"/>
          <p:cNvSpPr>
            <a:spLocks noGrp="1"/>
          </p:cNvSpPr>
          <p:nvPr>
            <p:ph type="dt"/>
          </p:nvPr>
        </p:nvSpPr>
        <p:spPr>
          <a:xfrm>
            <a:off x="4399200" y="0"/>
            <a:ext cx="3372840" cy="502560"/>
          </a:xfrm>
          <a:prstGeom prst="rect">
            <a:avLst/>
          </a:prstGeom>
        </p:spPr>
        <p:txBody>
          <a:bodyPr lIns="0" tIns="0" rIns="0" bIns="0"/>
          <a:lstStyle/>
          <a:p>
            <a:pPr algn="r"/>
            <a:r>
              <a:rPr lang="en-US" sz="1400" b="0" strike="noStrike" spc="-1">
                <a:latin typeface="Times New Roman"/>
              </a:rPr>
              <a:t>&lt;date/time&gt;</a:t>
            </a:r>
          </a:p>
        </p:txBody>
      </p:sp>
      <p:sp>
        <p:nvSpPr>
          <p:cNvPr id="218" name="PlaceHolder 5"/>
          <p:cNvSpPr>
            <a:spLocks noGrp="1"/>
          </p:cNvSpPr>
          <p:nvPr>
            <p:ph type="ftr"/>
          </p:nvPr>
        </p:nvSpPr>
        <p:spPr>
          <a:xfrm>
            <a:off x="0" y="9555480"/>
            <a:ext cx="3372840" cy="502560"/>
          </a:xfrm>
          <a:prstGeom prst="rect">
            <a:avLst/>
          </a:prstGeom>
        </p:spPr>
        <p:txBody>
          <a:bodyPr lIns="0" tIns="0" rIns="0" bIns="0" anchor="b"/>
          <a:lstStyle/>
          <a:p>
            <a:r>
              <a:rPr lang="en-US" sz="1400" b="0" strike="noStrike" spc="-1">
                <a:latin typeface="Times New Roman"/>
              </a:rPr>
              <a:t>&lt;footer&gt;</a:t>
            </a:r>
          </a:p>
        </p:txBody>
      </p:sp>
      <p:sp>
        <p:nvSpPr>
          <p:cNvPr id="219" name="PlaceHolder 6"/>
          <p:cNvSpPr>
            <a:spLocks noGrp="1"/>
          </p:cNvSpPr>
          <p:nvPr>
            <p:ph type="sldNum"/>
          </p:nvPr>
        </p:nvSpPr>
        <p:spPr>
          <a:xfrm>
            <a:off x="4399200" y="9555480"/>
            <a:ext cx="3372840" cy="502560"/>
          </a:xfrm>
          <a:prstGeom prst="rect">
            <a:avLst/>
          </a:prstGeom>
        </p:spPr>
        <p:txBody>
          <a:bodyPr lIns="0" tIns="0" rIns="0" bIns="0" anchor="b"/>
          <a:lstStyle/>
          <a:p>
            <a:pPr algn="r"/>
            <a:fld id="{1435F71D-641E-4ECC-830F-6558CD869574}" type="slidenum">
              <a:rPr lang="en-US" sz="1400" b="0" strike="noStrike" spc="-1">
                <a:latin typeface="Times New Roman"/>
              </a:rPr>
              <a:t>‹#›</a:t>
            </a:fld>
            <a:endParaRPr lang="en-US" sz="1400" b="0" strike="noStrike" spc="-1">
              <a:latin typeface="Times New Roman"/>
            </a:endParaRPr>
          </a:p>
        </p:txBody>
      </p:sp>
    </p:spTree>
    <p:extLst>
      <p:ext uri="{BB962C8B-B14F-4D97-AF65-F5344CB8AC3E}">
        <p14:creationId xmlns:p14="http://schemas.microsoft.com/office/powerpoint/2010/main" val="512153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noRot="1" noChangeAspect="1"/>
          </p:cNvSpPr>
          <p:nvPr>
            <p:ph type="sldImg"/>
          </p:nvPr>
        </p:nvSpPr>
        <p:spPr>
          <a:xfrm>
            <a:off x="381000" y="685800"/>
            <a:ext cx="6096000" cy="3429000"/>
          </a:xfrm>
          <a:prstGeom prst="rect">
            <a:avLst/>
          </a:prstGeom>
        </p:spPr>
      </p:sp>
      <p:sp>
        <p:nvSpPr>
          <p:cNvPr id="518" name="PlaceHolder 2"/>
          <p:cNvSpPr>
            <a:spLocks noGrp="1"/>
          </p:cNvSpPr>
          <p:nvPr>
            <p:ph type="body"/>
          </p:nvPr>
        </p:nvSpPr>
        <p:spPr>
          <a:xfrm>
            <a:off x="914400" y="4343400"/>
            <a:ext cx="5028840" cy="4114440"/>
          </a:xfrm>
          <a:prstGeom prst="rect">
            <a:avLst/>
          </a:prstGeom>
        </p:spPr>
        <p:txBody>
          <a:bodyPr lIns="90000" tIns="45000" rIns="90000" bIns="45000"/>
          <a:lstStyle/>
          <a:p>
            <a:endParaRPr lang="en-US" sz="2000" b="0" strike="noStrike" spc="-1">
              <a:latin typeface="Arial"/>
            </a:endParaRPr>
          </a:p>
        </p:txBody>
      </p:sp>
      <p:sp>
        <p:nvSpPr>
          <p:cNvPr id="519" name="TextShape 3"/>
          <p:cNvSpPr txBox="1"/>
          <p:nvPr/>
        </p:nvSpPr>
        <p:spPr>
          <a:xfrm>
            <a:off x="3884760" y="8685360"/>
            <a:ext cx="2971440" cy="458280"/>
          </a:xfrm>
          <a:prstGeom prst="rect">
            <a:avLst/>
          </a:prstGeom>
          <a:noFill/>
          <a:ln>
            <a:noFill/>
          </a:ln>
        </p:spPr>
        <p:txBody>
          <a:bodyPr lIns="90000" tIns="45000" rIns="90000" bIns="45000"/>
          <a:lstStyle/>
          <a:p>
            <a:pPr algn="r">
              <a:lnSpc>
                <a:spcPct val="100000"/>
              </a:lnSpc>
            </a:pPr>
            <a:fld id="{821FE408-3839-4F4C-98BA-50DB1117324D}" type="slidenum">
              <a:rPr lang="en-US" sz="1200" b="0" strike="noStrike" spc="-1">
                <a:solidFill>
                  <a:srgbClr val="000000"/>
                </a:solidFill>
                <a:latin typeface="Arial"/>
                <a:ea typeface="宋体"/>
              </a:rPr>
              <a:t>1</a:t>
            </a:fld>
            <a:endParaRPr lang="en-US" sz="1200" b="0" strike="noStrike" spc="-1">
              <a:latin typeface="Times New Roman"/>
            </a:endParaRPr>
          </a:p>
        </p:txBody>
      </p:sp>
    </p:spTree>
    <p:extLst>
      <p:ext uri="{BB962C8B-B14F-4D97-AF65-F5344CB8AC3E}">
        <p14:creationId xmlns:p14="http://schemas.microsoft.com/office/powerpoint/2010/main" val="3766269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xfrm>
            <a:off x="77788" y="727075"/>
            <a:ext cx="6702425" cy="3770313"/>
          </a:xfrm>
          <a:ln/>
        </p:spPr>
      </p:sp>
      <p:sp>
        <p:nvSpPr>
          <p:cNvPr id="34819" name="备注占位符 2"/>
          <p:cNvSpPr>
            <a:spLocks noGrp="1"/>
          </p:cNvSpPr>
          <p:nvPr>
            <p:ph type="body" idx="1"/>
          </p:nvPr>
        </p:nvSpPr>
        <p:spPr>
          <a:noFill/>
          <a:ln/>
        </p:spPr>
        <p:txBody>
          <a:bodyPr/>
          <a:lstStyle/>
          <a:p>
            <a:endParaRPr lang="zh-CN" altLang="en-US">
              <a:latin typeface="Arial" pitchFamily="34" charset="0"/>
            </a:endParaRPr>
          </a:p>
        </p:txBody>
      </p:sp>
      <p:sp>
        <p:nvSpPr>
          <p:cNvPr id="41988" name="灯片编号占位符 3"/>
          <p:cNvSpPr>
            <a:spLocks noGrp="1"/>
          </p:cNvSpPr>
          <p:nvPr>
            <p:ph type="sldNum" sz="quarter" idx="5"/>
          </p:nvPr>
        </p:nvSpPr>
        <p:spPr/>
        <p:txBody>
          <a:bodyPr/>
          <a:lstStyle/>
          <a:p>
            <a:pPr>
              <a:defRPr/>
            </a:pPr>
            <a:fld id="{59FFC236-DB3F-4EB3-88F7-9E9A72BE28A7}" type="slidenum">
              <a:rPr lang="en-US" altLang="zh-CN" smtClean="0"/>
              <a:pPr>
                <a:defRPr/>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xfrm>
            <a:off x="77788" y="727075"/>
            <a:ext cx="6702425" cy="3770313"/>
          </a:xfrm>
          <a:ln/>
        </p:spPr>
      </p:sp>
      <p:sp>
        <p:nvSpPr>
          <p:cNvPr id="35843" name="备注占位符 2"/>
          <p:cNvSpPr>
            <a:spLocks noGrp="1"/>
          </p:cNvSpPr>
          <p:nvPr>
            <p:ph type="body" idx="1"/>
          </p:nvPr>
        </p:nvSpPr>
        <p:spPr>
          <a:noFill/>
          <a:ln/>
        </p:spPr>
        <p:txBody>
          <a:bodyPr/>
          <a:lstStyle/>
          <a:p>
            <a:r>
              <a:rPr lang="zh-CN" altLang="en-US">
                <a:latin typeface="Arial" pitchFamily="34" charset="0"/>
              </a:rPr>
              <a:t>首先，通过提问方式回顾交换机的工作原理，以及交换机通过</a:t>
            </a:r>
            <a:r>
              <a:rPr lang="en-US" altLang="zh-CN">
                <a:latin typeface="Arial" pitchFamily="34" charset="0"/>
              </a:rPr>
              <a:t>MAC</a:t>
            </a:r>
            <a:r>
              <a:rPr lang="zh-CN" altLang="en-US">
                <a:latin typeface="Arial" pitchFamily="34" charset="0"/>
              </a:rPr>
              <a:t>地址进行数据报文的抓发。</a:t>
            </a:r>
            <a:endParaRPr lang="en-US" altLang="zh-CN">
              <a:latin typeface="Arial" pitchFamily="34" charset="0"/>
            </a:endParaRPr>
          </a:p>
          <a:p>
            <a:r>
              <a:rPr lang="zh-CN" altLang="en-US">
                <a:latin typeface="Arial" pitchFamily="34" charset="0"/>
              </a:rPr>
              <a:t>然后，提问路由器是如何进行数据抓发的呢？引出路由等相关概念。</a:t>
            </a:r>
            <a:endParaRPr lang="en-US" altLang="zh-CN">
              <a:latin typeface="Arial" pitchFamily="34" charset="0"/>
            </a:endParaRPr>
          </a:p>
          <a:p>
            <a:r>
              <a:rPr lang="zh-CN" altLang="en-US">
                <a:latin typeface="Arial" pitchFamily="34" charset="0"/>
              </a:rPr>
              <a:t>最后，进行路由器、路由、路由表等概念的相关讲解。</a:t>
            </a:r>
            <a:endParaRPr lang="en-US" altLang="zh-CN">
              <a:latin typeface="Arial" pitchFamily="34" charset="0"/>
            </a:endParaRPr>
          </a:p>
          <a:p>
            <a:endParaRPr lang="en-US" altLang="zh-CN">
              <a:latin typeface="Arial" pitchFamily="34" charset="0"/>
            </a:endParaRPr>
          </a:p>
          <a:p>
            <a:r>
              <a:rPr lang="zh-CN" altLang="en-US">
                <a:latin typeface="Arial" pitchFamily="34" charset="0"/>
              </a:rPr>
              <a:t>学员第一次接触路由概念，所以尽量用浅显的语言解释概念，方便学员理解</a:t>
            </a:r>
          </a:p>
        </p:txBody>
      </p:sp>
      <p:sp>
        <p:nvSpPr>
          <p:cNvPr id="40964" name="灯片编号占位符 3"/>
          <p:cNvSpPr>
            <a:spLocks noGrp="1"/>
          </p:cNvSpPr>
          <p:nvPr>
            <p:ph type="sldNum" sz="quarter" idx="5"/>
          </p:nvPr>
        </p:nvSpPr>
        <p:spPr/>
        <p:txBody>
          <a:bodyPr/>
          <a:lstStyle/>
          <a:p>
            <a:pPr>
              <a:defRPr/>
            </a:pPr>
            <a:fld id="{DE292F33-3F56-47B4-86C8-98EA7FF2B234}" type="slidenum">
              <a:rPr lang="en-US" altLang="zh-CN" smtClean="0"/>
              <a:pPr>
                <a:defRPr/>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a:xfrm>
            <a:off x="77788" y="727075"/>
            <a:ext cx="6702425" cy="3770313"/>
          </a:xfrm>
          <a:ln/>
        </p:spPr>
      </p:sp>
      <p:sp>
        <p:nvSpPr>
          <p:cNvPr id="36867" name="备注占位符 2"/>
          <p:cNvSpPr>
            <a:spLocks noGrp="1"/>
          </p:cNvSpPr>
          <p:nvPr>
            <p:ph type="body" idx="1"/>
          </p:nvPr>
        </p:nvSpPr>
        <p:spPr>
          <a:noFill/>
          <a:ln/>
        </p:spPr>
        <p:txBody>
          <a:bodyPr/>
          <a:lstStyle/>
          <a:p>
            <a:r>
              <a:rPr lang="zh-CN" altLang="en-US">
                <a:latin typeface="Arial" pitchFamily="34" charset="0"/>
              </a:rPr>
              <a:t>主要是讲述路由器转发数据的过程，即：</a:t>
            </a:r>
          </a:p>
          <a:p>
            <a:r>
              <a:rPr lang="zh-CN" altLang="en-US">
                <a:latin typeface="Arial" pitchFamily="34" charset="0"/>
              </a:rPr>
              <a:t>接收数据包→查看目的地址→与路由表进行匹配找到转发端口→转发到该端口</a:t>
            </a:r>
            <a:endParaRPr lang="en-US" altLang="zh-CN">
              <a:latin typeface="Arial" pitchFamily="34" charset="0"/>
            </a:endParaRPr>
          </a:p>
          <a:p>
            <a:r>
              <a:rPr lang="zh-CN" altLang="en-US" b="1">
                <a:latin typeface="Arial" pitchFamily="34" charset="0"/>
              </a:rPr>
              <a:t>生活案例</a:t>
            </a:r>
            <a:r>
              <a:rPr lang="zh-CN" altLang="en-US">
                <a:latin typeface="Arial" pitchFamily="34" charset="0"/>
              </a:rPr>
              <a:t>：</a:t>
            </a:r>
            <a:endParaRPr lang="en-US" altLang="zh-CN">
              <a:latin typeface="Arial" pitchFamily="34" charset="0"/>
            </a:endParaRPr>
          </a:p>
          <a:p>
            <a:r>
              <a:rPr lang="zh-CN" altLang="en-US">
                <a:latin typeface="Arial" pitchFamily="34" charset="0"/>
              </a:rPr>
              <a:t>可以以站在交叉路口，根据地图或路标查找未知的目的地，选择正确的路口为例</a:t>
            </a:r>
            <a:endParaRPr lang="en-US" altLang="zh-CN">
              <a:latin typeface="Arial" pitchFamily="34" charset="0"/>
            </a:endParaRPr>
          </a:p>
          <a:p>
            <a:endParaRPr lang="en-US" altLang="zh-CN">
              <a:latin typeface="Arial" pitchFamily="34" charset="0"/>
            </a:endParaRPr>
          </a:p>
          <a:p>
            <a:r>
              <a:rPr lang="zh-CN" altLang="en-US">
                <a:latin typeface="Arial" pitchFamily="34" charset="0"/>
              </a:rPr>
              <a:t>具体路由器工作过程：</a:t>
            </a:r>
          </a:p>
          <a:p>
            <a:r>
              <a:rPr lang="en-US" altLang="zh-CN">
                <a:latin typeface="Arial" pitchFamily="34" charset="0"/>
              </a:rPr>
              <a:t>1</a:t>
            </a:r>
            <a:r>
              <a:rPr lang="zh-CN" altLang="en-US">
                <a:latin typeface="Arial" pitchFamily="34" charset="0"/>
              </a:rPr>
              <a:t>）主机</a:t>
            </a:r>
            <a:r>
              <a:rPr lang="en-US" altLang="zh-CN">
                <a:latin typeface="Arial" pitchFamily="34" charset="0"/>
              </a:rPr>
              <a:t>1.1</a:t>
            </a:r>
            <a:r>
              <a:rPr lang="zh-CN" altLang="en-US">
                <a:latin typeface="Arial" pitchFamily="34" charset="0"/>
              </a:rPr>
              <a:t>要发送数据包给主机</a:t>
            </a:r>
            <a:r>
              <a:rPr lang="en-US" altLang="zh-CN">
                <a:latin typeface="Arial" pitchFamily="34" charset="0"/>
              </a:rPr>
              <a:t>4.1</a:t>
            </a:r>
            <a:r>
              <a:rPr lang="zh-CN" altLang="en-US">
                <a:latin typeface="Arial" pitchFamily="34" charset="0"/>
              </a:rPr>
              <a:t>，因为</a:t>
            </a:r>
            <a:r>
              <a:rPr lang="en-US" altLang="zh-CN">
                <a:latin typeface="Arial" pitchFamily="34" charset="0"/>
              </a:rPr>
              <a:t>IP</a:t>
            </a:r>
            <a:r>
              <a:rPr lang="zh-CN" altLang="en-US">
                <a:latin typeface="Arial" pitchFamily="34" charset="0"/>
              </a:rPr>
              <a:t>地址不在同一网段，主机会将数据包发送给本网段的网关路由器</a:t>
            </a:r>
            <a:r>
              <a:rPr lang="en-US" altLang="zh-CN">
                <a:latin typeface="Arial" pitchFamily="34" charset="0"/>
              </a:rPr>
              <a:t>A</a:t>
            </a:r>
            <a:r>
              <a:rPr lang="zh-CN" altLang="en-US">
                <a:latin typeface="Arial" pitchFamily="34" charset="0"/>
              </a:rPr>
              <a:t>。</a:t>
            </a:r>
          </a:p>
          <a:p>
            <a:r>
              <a:rPr lang="en-US" altLang="zh-CN">
                <a:latin typeface="Arial" pitchFamily="34" charset="0"/>
              </a:rPr>
              <a:t>2</a:t>
            </a:r>
            <a:r>
              <a:rPr lang="zh-CN" altLang="en-US">
                <a:latin typeface="Arial" pitchFamily="34" charset="0"/>
              </a:rPr>
              <a:t>）路由器</a:t>
            </a:r>
            <a:r>
              <a:rPr lang="en-US" altLang="zh-CN">
                <a:latin typeface="Arial" pitchFamily="34" charset="0"/>
              </a:rPr>
              <a:t>A</a:t>
            </a:r>
            <a:r>
              <a:rPr lang="zh-CN" altLang="en-US">
                <a:latin typeface="Arial" pitchFamily="34" charset="0"/>
              </a:rPr>
              <a:t>接收到数据包，查看数据包</a:t>
            </a:r>
            <a:r>
              <a:rPr lang="en-US" altLang="zh-CN">
                <a:latin typeface="Arial" pitchFamily="34" charset="0"/>
              </a:rPr>
              <a:t>IP</a:t>
            </a:r>
            <a:r>
              <a:rPr lang="zh-CN" altLang="en-US">
                <a:latin typeface="Arial" pitchFamily="34" charset="0"/>
              </a:rPr>
              <a:t>首部中的目标</a:t>
            </a:r>
            <a:r>
              <a:rPr lang="en-US" altLang="zh-CN">
                <a:latin typeface="Arial" pitchFamily="34" charset="0"/>
              </a:rPr>
              <a:t>IP</a:t>
            </a:r>
            <a:r>
              <a:rPr lang="zh-CN" altLang="en-US">
                <a:latin typeface="Arial" pitchFamily="34" charset="0"/>
              </a:rPr>
              <a:t>地址，再查找自己的路由表。数据包的目标</a:t>
            </a:r>
            <a:r>
              <a:rPr lang="en-US" altLang="zh-CN">
                <a:latin typeface="Arial" pitchFamily="34" charset="0"/>
              </a:rPr>
              <a:t>IP</a:t>
            </a:r>
            <a:r>
              <a:rPr lang="zh-CN" altLang="en-US">
                <a:latin typeface="Arial" pitchFamily="34" charset="0"/>
              </a:rPr>
              <a:t>地址是</a:t>
            </a:r>
            <a:r>
              <a:rPr lang="en-US" altLang="zh-CN">
                <a:latin typeface="Arial" pitchFamily="34" charset="0"/>
              </a:rPr>
              <a:t>4.1</a:t>
            </a:r>
            <a:r>
              <a:rPr lang="zh-CN" altLang="en-US">
                <a:latin typeface="Arial" pitchFamily="34" charset="0"/>
              </a:rPr>
              <a:t>，属于</a:t>
            </a:r>
            <a:r>
              <a:rPr lang="en-US" altLang="zh-CN">
                <a:latin typeface="Arial" pitchFamily="34" charset="0"/>
              </a:rPr>
              <a:t>4.0</a:t>
            </a:r>
            <a:r>
              <a:rPr lang="zh-CN" altLang="en-US">
                <a:latin typeface="Arial" pitchFamily="34" charset="0"/>
              </a:rPr>
              <a:t>网段，路由器</a:t>
            </a:r>
            <a:r>
              <a:rPr lang="en-US" altLang="zh-CN">
                <a:latin typeface="Arial" pitchFamily="34" charset="0"/>
              </a:rPr>
              <a:t>A</a:t>
            </a:r>
            <a:r>
              <a:rPr lang="zh-CN" altLang="en-US">
                <a:latin typeface="Arial" pitchFamily="34" charset="0"/>
              </a:rPr>
              <a:t>在路由表中查到</a:t>
            </a:r>
            <a:r>
              <a:rPr lang="en-US" altLang="zh-CN">
                <a:latin typeface="Arial" pitchFamily="34" charset="0"/>
              </a:rPr>
              <a:t>4.0</a:t>
            </a:r>
            <a:r>
              <a:rPr lang="zh-CN" altLang="en-US">
                <a:latin typeface="Arial" pitchFamily="34" charset="0"/>
              </a:rPr>
              <a:t>网段转发的接口是</a:t>
            </a:r>
            <a:r>
              <a:rPr lang="en-US" altLang="zh-CN">
                <a:latin typeface="Arial" pitchFamily="34" charset="0"/>
              </a:rPr>
              <a:t>S0</a:t>
            </a:r>
            <a:r>
              <a:rPr lang="zh-CN" altLang="en-US">
                <a:latin typeface="Arial" pitchFamily="34" charset="0"/>
              </a:rPr>
              <a:t>接口。于是，路由器</a:t>
            </a:r>
            <a:r>
              <a:rPr lang="en-US" altLang="zh-CN">
                <a:latin typeface="Arial" pitchFamily="34" charset="0"/>
              </a:rPr>
              <a:t>A</a:t>
            </a:r>
            <a:r>
              <a:rPr lang="zh-CN" altLang="en-US">
                <a:latin typeface="Arial" pitchFamily="34" charset="0"/>
              </a:rPr>
              <a:t>将数据包从</a:t>
            </a:r>
            <a:r>
              <a:rPr lang="en-US" altLang="zh-CN">
                <a:latin typeface="Arial" pitchFamily="34" charset="0"/>
              </a:rPr>
              <a:t>S0</a:t>
            </a:r>
            <a:r>
              <a:rPr lang="zh-CN" altLang="en-US">
                <a:latin typeface="Arial" pitchFamily="34" charset="0"/>
              </a:rPr>
              <a:t>接口转发出去。</a:t>
            </a:r>
          </a:p>
          <a:p>
            <a:r>
              <a:rPr lang="en-US" altLang="zh-CN">
                <a:latin typeface="Arial" pitchFamily="34" charset="0"/>
              </a:rPr>
              <a:t>3</a:t>
            </a:r>
            <a:r>
              <a:rPr lang="zh-CN" altLang="en-US">
                <a:latin typeface="Arial" pitchFamily="34" charset="0"/>
              </a:rPr>
              <a:t>）网络中的每个路由器都是按这样的步骤去转发数据，直到到达了路由器</a:t>
            </a:r>
            <a:r>
              <a:rPr lang="en-US" altLang="zh-CN">
                <a:latin typeface="Arial" pitchFamily="34" charset="0"/>
              </a:rPr>
              <a:t>B</a:t>
            </a:r>
            <a:r>
              <a:rPr lang="zh-CN" altLang="en-US">
                <a:latin typeface="Arial" pitchFamily="34" charset="0"/>
              </a:rPr>
              <a:t>，用同样的转发方法，从</a:t>
            </a:r>
            <a:r>
              <a:rPr lang="en-US" altLang="zh-CN">
                <a:latin typeface="Arial" pitchFamily="34" charset="0"/>
              </a:rPr>
              <a:t>E0</a:t>
            </a:r>
            <a:r>
              <a:rPr lang="zh-CN" altLang="en-US">
                <a:latin typeface="Arial" pitchFamily="34" charset="0"/>
              </a:rPr>
              <a:t>口转发出去，</a:t>
            </a:r>
            <a:r>
              <a:rPr lang="en-US" altLang="zh-CN">
                <a:latin typeface="Arial" pitchFamily="34" charset="0"/>
              </a:rPr>
              <a:t>4.1</a:t>
            </a:r>
            <a:r>
              <a:rPr lang="zh-CN" altLang="en-US">
                <a:latin typeface="Arial" pitchFamily="34" charset="0"/>
              </a:rPr>
              <a:t>主机接收到这个数据包。</a:t>
            </a:r>
          </a:p>
          <a:p>
            <a:endParaRPr lang="en-US" altLang="zh-CN">
              <a:latin typeface="Arial" pitchFamily="34" charset="0"/>
            </a:endParaRPr>
          </a:p>
          <a:p>
            <a:r>
              <a:rPr lang="zh-CN" altLang="en-US">
                <a:latin typeface="Arial" pitchFamily="34" charset="0"/>
              </a:rPr>
              <a:t>此处建议明确同网段的主机通信，与不同网段的主机通信的区别。同网段直接查找主机，而不同网段需要将数据包发送给网管。</a:t>
            </a:r>
          </a:p>
          <a:p>
            <a:r>
              <a:rPr lang="zh-CN" altLang="en-US" b="1">
                <a:latin typeface="Arial" pitchFamily="34" charset="0"/>
              </a:rPr>
              <a:t>生活案例：</a:t>
            </a:r>
            <a:endParaRPr lang="en-US" altLang="zh-CN" b="1">
              <a:latin typeface="Arial" pitchFamily="34" charset="0"/>
            </a:endParaRPr>
          </a:p>
          <a:p>
            <a:r>
              <a:rPr lang="zh-CN" altLang="en-US">
                <a:latin typeface="Arial" pitchFamily="34" charset="0"/>
              </a:rPr>
              <a:t>找同一班的学员，在教师内直接可以找到；而找其他班的学员，就需要走出教室门道其他班找。这里同一个班的学员相当于一个网段，而教师门相当于网关。</a:t>
            </a:r>
          </a:p>
        </p:txBody>
      </p:sp>
      <p:sp>
        <p:nvSpPr>
          <p:cNvPr id="41988" name="灯片编号占位符 3"/>
          <p:cNvSpPr>
            <a:spLocks noGrp="1"/>
          </p:cNvSpPr>
          <p:nvPr>
            <p:ph type="sldNum" sz="quarter" idx="5"/>
          </p:nvPr>
        </p:nvSpPr>
        <p:spPr/>
        <p:txBody>
          <a:bodyPr/>
          <a:lstStyle/>
          <a:p>
            <a:pPr>
              <a:defRPr/>
            </a:pPr>
            <a:fld id="{9A7AB122-D8F0-4E61-B846-90CD6D78AA16}" type="slidenum">
              <a:rPr lang="en-US" altLang="zh-CN" smtClean="0"/>
              <a:pPr>
                <a:defRPr/>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xfrm>
            <a:off x="77788" y="727075"/>
            <a:ext cx="6702425" cy="3770313"/>
          </a:xfrm>
          <a:ln/>
        </p:spPr>
      </p:sp>
      <p:sp>
        <p:nvSpPr>
          <p:cNvPr id="37891" name="备注占位符 2"/>
          <p:cNvSpPr>
            <a:spLocks noGrp="1"/>
          </p:cNvSpPr>
          <p:nvPr>
            <p:ph type="body" idx="1"/>
          </p:nvPr>
        </p:nvSpPr>
        <p:spPr>
          <a:noFill/>
          <a:ln/>
        </p:spPr>
        <p:txBody>
          <a:bodyPr/>
          <a:lstStyle/>
          <a:p>
            <a:r>
              <a:rPr lang="zh-CN" altLang="en-US">
                <a:latin typeface="Arial" pitchFamily="34" charset="0"/>
              </a:rPr>
              <a:t>根据前面的见解，本页首先，需要明确什么是路由表。然后，讲解路由表是如何进行形成的，引出直连网段和非直连网段。</a:t>
            </a:r>
            <a:endParaRPr lang="en-US" altLang="zh-CN">
              <a:latin typeface="Arial" pitchFamily="34" charset="0"/>
            </a:endParaRPr>
          </a:p>
          <a:p>
            <a:endParaRPr lang="en-US" altLang="zh-CN">
              <a:latin typeface="Arial" pitchFamily="34" charset="0"/>
            </a:endParaRPr>
          </a:p>
          <a:p>
            <a:r>
              <a:rPr lang="zh-CN" altLang="en-US">
                <a:latin typeface="Arial" pitchFamily="34" charset="0"/>
              </a:rPr>
              <a:t>需要明确，直连网段在路由表中成为直连路由的条件是在接口配置</a:t>
            </a:r>
            <a:r>
              <a:rPr lang="en-US" altLang="zh-CN">
                <a:latin typeface="Arial" pitchFamily="34" charset="0"/>
              </a:rPr>
              <a:t>IP</a:t>
            </a:r>
            <a:r>
              <a:rPr lang="zh-CN" altLang="en-US">
                <a:latin typeface="Arial" pitchFamily="34" charset="0"/>
              </a:rPr>
              <a:t>地址，并且端口的状态为</a:t>
            </a:r>
            <a:r>
              <a:rPr lang="en-US" altLang="zh-CN">
                <a:latin typeface="Arial" pitchFamily="34" charset="0"/>
              </a:rPr>
              <a:t>UP</a:t>
            </a:r>
            <a:r>
              <a:rPr lang="zh-CN" altLang="en-US">
                <a:latin typeface="Arial" pitchFamily="34" charset="0"/>
              </a:rPr>
              <a:t>。</a:t>
            </a:r>
            <a:endParaRPr lang="en-US" altLang="zh-CN">
              <a:latin typeface="Arial" pitchFamily="34" charset="0"/>
            </a:endParaRPr>
          </a:p>
          <a:p>
            <a:endParaRPr lang="en-US" altLang="zh-CN">
              <a:latin typeface="Arial" pitchFamily="34" charset="0"/>
            </a:endParaRPr>
          </a:p>
          <a:p>
            <a:r>
              <a:rPr lang="zh-CN" altLang="en-US">
                <a:latin typeface="Arial" pitchFamily="34" charset="0"/>
              </a:rPr>
              <a:t>对于非直连路由就需要通过其他凡是添加到路由表中，引出下一页静态路由。</a:t>
            </a:r>
          </a:p>
        </p:txBody>
      </p:sp>
      <p:sp>
        <p:nvSpPr>
          <p:cNvPr id="43012" name="灯片编号占位符 3"/>
          <p:cNvSpPr>
            <a:spLocks noGrp="1"/>
          </p:cNvSpPr>
          <p:nvPr>
            <p:ph type="sldNum" sz="quarter" idx="5"/>
          </p:nvPr>
        </p:nvSpPr>
        <p:spPr/>
        <p:txBody>
          <a:bodyPr/>
          <a:lstStyle/>
          <a:p>
            <a:pPr>
              <a:defRPr/>
            </a:pPr>
            <a:fld id="{AC3C13F7-1668-47A6-97D2-E13E65EC4F65}" type="slidenum">
              <a:rPr lang="en-US" altLang="zh-CN" smtClean="0"/>
              <a:pPr>
                <a:defRPr/>
              </a:pPr>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xfrm>
            <a:off x="77788" y="727075"/>
            <a:ext cx="6702425" cy="3770313"/>
          </a:xfrm>
          <a:ln/>
        </p:spPr>
      </p:sp>
      <p:sp>
        <p:nvSpPr>
          <p:cNvPr id="38915" name="备注占位符 2"/>
          <p:cNvSpPr>
            <a:spLocks noGrp="1"/>
          </p:cNvSpPr>
          <p:nvPr>
            <p:ph type="body" idx="1"/>
          </p:nvPr>
        </p:nvSpPr>
        <p:spPr>
          <a:noFill/>
          <a:ln/>
        </p:spPr>
        <p:txBody>
          <a:bodyPr/>
          <a:lstStyle/>
          <a:p>
            <a:r>
              <a:rPr lang="zh-CN" altLang="en-US">
                <a:latin typeface="Arial" pitchFamily="34" charset="0"/>
              </a:rPr>
              <a:t>前面讲了路由器的工作原理是通过路由表转发数据，那么路由表中的表项是怎么来的？直连路由有直连网段形成，然后非直连的路由需要静态路由或动态路由来填进路由器的路由表中。</a:t>
            </a:r>
            <a:endParaRPr lang="en-US" altLang="zh-CN">
              <a:latin typeface="Arial" pitchFamily="34" charset="0"/>
            </a:endParaRPr>
          </a:p>
          <a:p>
            <a:endParaRPr lang="en-US" altLang="zh-CN">
              <a:latin typeface="Arial" pitchFamily="34" charset="0"/>
            </a:endParaRPr>
          </a:p>
          <a:p>
            <a:r>
              <a:rPr lang="zh-CN" altLang="en-US">
                <a:latin typeface="Arial" pitchFamily="34" charset="0"/>
              </a:rPr>
              <a:t>静态路由的原理讲解要在学员对于路由表的理解之上，从非直连网络引入进行讲解。说明数据包如果要到达非直连网络需要在路由表中填加条目，所以需要手动填加路由条目。</a:t>
            </a:r>
            <a:endParaRPr lang="en-US" altLang="zh-CN">
              <a:latin typeface="Arial" pitchFamily="34" charset="0"/>
            </a:endParaRPr>
          </a:p>
          <a:p>
            <a:endParaRPr lang="en-US" altLang="zh-CN">
              <a:latin typeface="Arial" pitchFamily="34" charset="0"/>
            </a:endParaRPr>
          </a:p>
          <a:p>
            <a:r>
              <a:rPr lang="zh-CN" altLang="en-US">
                <a:latin typeface="Arial" pitchFamily="34" charset="0"/>
              </a:rPr>
              <a:t>然后明确静态路由的优缺点，需要重点强调静态路由是单向的配置时必须双向配置，这是学员最容易出现的错误。</a:t>
            </a:r>
          </a:p>
          <a:p>
            <a:endParaRPr lang="zh-CN" altLang="en-US">
              <a:latin typeface="Arial" pitchFamily="34" charset="0"/>
            </a:endParaRPr>
          </a:p>
        </p:txBody>
      </p:sp>
      <p:sp>
        <p:nvSpPr>
          <p:cNvPr id="44036" name="灯片编号占位符 3"/>
          <p:cNvSpPr>
            <a:spLocks noGrp="1"/>
          </p:cNvSpPr>
          <p:nvPr>
            <p:ph type="sldNum" sz="quarter" idx="5"/>
          </p:nvPr>
        </p:nvSpPr>
        <p:spPr/>
        <p:txBody>
          <a:bodyPr/>
          <a:lstStyle/>
          <a:p>
            <a:pPr>
              <a:defRPr/>
            </a:pPr>
            <a:fld id="{F1B06653-1D77-4A9B-9907-C4D1F2CD4B63}" type="slidenum">
              <a:rPr lang="en-US" altLang="zh-CN" smtClean="0"/>
              <a:pPr>
                <a:defRPr/>
              </a:pPr>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xfrm>
            <a:off x="77788" y="727075"/>
            <a:ext cx="6702425" cy="3770313"/>
          </a:xfrm>
          <a:ln/>
        </p:spPr>
      </p:sp>
      <p:sp>
        <p:nvSpPr>
          <p:cNvPr id="39939" name="备注占位符 2"/>
          <p:cNvSpPr>
            <a:spLocks noGrp="1"/>
          </p:cNvSpPr>
          <p:nvPr>
            <p:ph type="body" idx="1"/>
          </p:nvPr>
        </p:nvSpPr>
        <p:spPr>
          <a:noFill/>
          <a:ln/>
        </p:spPr>
        <p:txBody>
          <a:bodyPr/>
          <a:lstStyle/>
          <a:p>
            <a:r>
              <a:rPr lang="zh-CN" altLang="en-US">
                <a:latin typeface="Arial" pitchFamily="34" charset="0"/>
              </a:rPr>
              <a:t>当访问</a:t>
            </a:r>
            <a:r>
              <a:rPr lang="en-US" altLang="zh-CN">
                <a:latin typeface="Arial" pitchFamily="34" charset="0"/>
              </a:rPr>
              <a:t>Internet</a:t>
            </a:r>
            <a:r>
              <a:rPr lang="zh-CN" altLang="en-US">
                <a:latin typeface="Arial" pitchFamily="34" charset="0"/>
              </a:rPr>
              <a:t>时，由于地址条目众多，要配置的静态路由也十分的多，但是对于一些网络出口只有一个，即无论到哪的数据包都需要从这个出口转发出去，这时有没有更简单的配置方法呢？引出默认路由，然后讲解默认路由的概念。</a:t>
            </a:r>
            <a:endParaRPr lang="en-US" altLang="zh-CN">
              <a:latin typeface="Arial" pitchFamily="34" charset="0"/>
            </a:endParaRPr>
          </a:p>
          <a:p>
            <a:endParaRPr lang="en-US" altLang="zh-CN">
              <a:latin typeface="Arial" pitchFamily="34" charset="0"/>
            </a:endParaRPr>
          </a:p>
          <a:p>
            <a:r>
              <a:rPr lang="zh-CN" altLang="en-US">
                <a:latin typeface="Arial" pitchFamily="34" charset="0"/>
              </a:rPr>
              <a:t>需要明确在默认路由可以匹配所有网段，但是其优先级最低，当目标地址既匹配静态路由又匹配默认路由时，优选静态路由条目对应端口进行转发。当静态路由失效时，才匹配默认路由，根据默认路由进行转发。</a:t>
            </a:r>
            <a:endParaRPr lang="en-US" altLang="zh-CN">
              <a:latin typeface="Arial" pitchFamily="34" charset="0"/>
            </a:endParaRPr>
          </a:p>
          <a:p>
            <a:r>
              <a:rPr lang="zh-CN" altLang="en-US" b="1">
                <a:latin typeface="Arial" pitchFamily="34" charset="0"/>
              </a:rPr>
              <a:t>生活案例：</a:t>
            </a:r>
            <a:endParaRPr lang="en-US" altLang="zh-CN" b="1">
              <a:latin typeface="Arial" pitchFamily="34" charset="0"/>
            </a:endParaRPr>
          </a:p>
          <a:p>
            <a:r>
              <a:rPr lang="zh-CN" altLang="en-US">
                <a:latin typeface="Arial" pitchFamily="34" charset="0"/>
              </a:rPr>
              <a:t>你站在楼道的最末端，不论去哪里，都只有一个方向可以走，那么，可以给你设置一条默认路由：你不论去哪儿，都要向这个方向走。但是如果站在楼道的中央，你至少有两种选择，向左或向右，那么这个时候至少需要配置一条静态路由。</a:t>
            </a:r>
          </a:p>
          <a:p>
            <a:endParaRPr lang="zh-CN" altLang="en-US">
              <a:latin typeface="Arial" pitchFamily="34" charset="0"/>
            </a:endParaRPr>
          </a:p>
        </p:txBody>
      </p:sp>
      <p:sp>
        <p:nvSpPr>
          <p:cNvPr id="45060" name="灯片编号占位符 3"/>
          <p:cNvSpPr>
            <a:spLocks noGrp="1"/>
          </p:cNvSpPr>
          <p:nvPr>
            <p:ph type="sldNum" sz="quarter" idx="5"/>
          </p:nvPr>
        </p:nvSpPr>
        <p:spPr/>
        <p:txBody>
          <a:bodyPr/>
          <a:lstStyle/>
          <a:p>
            <a:pPr>
              <a:defRPr/>
            </a:pPr>
            <a:fld id="{C5079172-3660-4885-AAC5-90EA5EC5EF16}" type="slidenum">
              <a:rPr lang="en-US" altLang="zh-CN" smtClean="0"/>
              <a:pPr>
                <a:defRPr/>
              </a:pPr>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a:xfrm>
            <a:off x="77788" y="727075"/>
            <a:ext cx="6702425" cy="3770313"/>
          </a:xfrm>
          <a:ln/>
        </p:spPr>
      </p:sp>
      <p:sp>
        <p:nvSpPr>
          <p:cNvPr id="40963" name="备注占位符 2"/>
          <p:cNvSpPr>
            <a:spLocks noGrp="1"/>
          </p:cNvSpPr>
          <p:nvPr>
            <p:ph type="body" idx="1"/>
          </p:nvPr>
        </p:nvSpPr>
        <p:spPr>
          <a:noFill/>
          <a:ln/>
        </p:spPr>
        <p:txBody>
          <a:bodyPr/>
          <a:lstStyle/>
          <a:p>
            <a:r>
              <a:rPr lang="zh-CN" altLang="en-US">
                <a:latin typeface="Arial" pitchFamily="34" charset="0"/>
              </a:rPr>
              <a:t>本页讲解数据包在经过路由器的时候，拆掉二层的封装，变成本网段的封装方式，因此，在本页</a:t>
            </a:r>
            <a:r>
              <a:rPr lang="en-US" altLang="zh-CN">
                <a:latin typeface="Arial" pitchFamily="34" charset="0"/>
              </a:rPr>
              <a:t>PPT</a:t>
            </a:r>
            <a:r>
              <a:rPr lang="zh-CN" altLang="en-US">
                <a:latin typeface="Arial" pitchFamily="34" charset="0"/>
              </a:rPr>
              <a:t>中，可以看出目的</a:t>
            </a:r>
            <a:r>
              <a:rPr lang="en-US" altLang="zh-CN">
                <a:latin typeface="Arial" pitchFamily="34" charset="0"/>
              </a:rPr>
              <a:t>MAC</a:t>
            </a:r>
            <a:r>
              <a:rPr lang="zh-CN" altLang="en-US">
                <a:latin typeface="Arial" pitchFamily="34" charset="0"/>
              </a:rPr>
              <a:t>地址和源</a:t>
            </a:r>
            <a:r>
              <a:rPr lang="en-US" altLang="zh-CN">
                <a:latin typeface="Arial" pitchFamily="34" charset="0"/>
              </a:rPr>
              <a:t>MAC</a:t>
            </a:r>
            <a:r>
              <a:rPr lang="zh-CN" altLang="en-US">
                <a:latin typeface="Arial" pitchFamily="34" charset="0"/>
              </a:rPr>
              <a:t>地址在不断地变化。</a:t>
            </a:r>
            <a:endParaRPr lang="en-US" altLang="zh-CN">
              <a:latin typeface="Arial" pitchFamily="34" charset="0"/>
            </a:endParaRPr>
          </a:p>
          <a:p>
            <a:endParaRPr lang="en-US" altLang="zh-CN">
              <a:latin typeface="Arial" pitchFamily="34" charset="0"/>
            </a:endParaRPr>
          </a:p>
          <a:p>
            <a:r>
              <a:rPr lang="zh-CN" altLang="en-US">
                <a:latin typeface="Arial" pitchFamily="34" charset="0"/>
              </a:rPr>
              <a:t>扩展：整个过程中</a:t>
            </a:r>
            <a:r>
              <a:rPr lang="en-US" altLang="zh-CN">
                <a:latin typeface="Arial" pitchFamily="34" charset="0"/>
              </a:rPr>
              <a:t>IP</a:t>
            </a:r>
            <a:r>
              <a:rPr lang="zh-CN" altLang="en-US">
                <a:latin typeface="Arial" pitchFamily="34" charset="0"/>
              </a:rPr>
              <a:t>地址是不变的，但是如果路由器配置了</a:t>
            </a:r>
            <a:r>
              <a:rPr lang="en-US" altLang="zh-CN">
                <a:latin typeface="Arial" pitchFamily="34" charset="0"/>
              </a:rPr>
              <a:t>NAT</a:t>
            </a:r>
            <a:r>
              <a:rPr lang="zh-CN" altLang="en-US">
                <a:latin typeface="Arial" pitchFamily="34" charset="0"/>
              </a:rPr>
              <a:t>则</a:t>
            </a:r>
            <a:r>
              <a:rPr lang="en-US" altLang="zh-CN">
                <a:latin typeface="Arial" pitchFamily="34" charset="0"/>
              </a:rPr>
              <a:t>IP</a:t>
            </a:r>
            <a:r>
              <a:rPr lang="zh-CN" altLang="en-US">
                <a:latin typeface="Arial" pitchFamily="34" charset="0"/>
              </a:rPr>
              <a:t>定会发生改变。</a:t>
            </a:r>
            <a:endParaRPr lang="en-US" altLang="zh-CN">
              <a:latin typeface="Arial" pitchFamily="34" charset="0"/>
            </a:endParaRPr>
          </a:p>
        </p:txBody>
      </p:sp>
      <p:sp>
        <p:nvSpPr>
          <p:cNvPr id="47108" name="灯片编号占位符 3"/>
          <p:cNvSpPr>
            <a:spLocks noGrp="1"/>
          </p:cNvSpPr>
          <p:nvPr>
            <p:ph type="sldNum" sz="quarter" idx="5"/>
          </p:nvPr>
        </p:nvSpPr>
        <p:spPr/>
        <p:txBody>
          <a:bodyPr/>
          <a:lstStyle/>
          <a:p>
            <a:pPr>
              <a:defRPr/>
            </a:pPr>
            <a:fld id="{DD6A0146-4E4D-491D-9B1A-506E4D048854}" type="slidenum">
              <a:rPr lang="en-US" altLang="zh-CN" smtClean="0"/>
              <a:pPr>
                <a:defRPr/>
              </a:pPr>
              <a:t>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xfrm>
            <a:off x="77788" y="727075"/>
            <a:ext cx="6702425" cy="3770313"/>
          </a:xfrm>
          <a:ln/>
        </p:spPr>
      </p:sp>
      <p:sp>
        <p:nvSpPr>
          <p:cNvPr id="41987" name="备注占位符 2"/>
          <p:cNvSpPr>
            <a:spLocks noGrp="1"/>
          </p:cNvSpPr>
          <p:nvPr>
            <p:ph type="body" idx="1"/>
          </p:nvPr>
        </p:nvSpPr>
        <p:spPr>
          <a:noFill/>
          <a:ln/>
        </p:spPr>
        <p:txBody>
          <a:bodyPr/>
          <a:lstStyle/>
          <a:p>
            <a:r>
              <a:rPr lang="zh-CN" altLang="en-US">
                <a:latin typeface="Arial" pitchFamily="34" charset="0"/>
              </a:rPr>
              <a:t>此处学员已经学过交换的一些知识，但是刚刚接触路由，因此不需要深入对比，只需强调路由与交换位于不同的层次，路由表中的目的地址指向的是一个网段，而交换机的转发表指向的是一台具体的机器，因此，路由器工作在广域网环境中</a:t>
            </a:r>
          </a:p>
          <a:p>
            <a:r>
              <a:rPr lang="zh-CN" altLang="en-US" b="1">
                <a:latin typeface="Arial" pitchFamily="34" charset="0"/>
              </a:rPr>
              <a:t>生活案例：</a:t>
            </a:r>
            <a:endParaRPr lang="en-US" altLang="zh-CN" b="1">
              <a:latin typeface="Arial" pitchFamily="34" charset="0"/>
            </a:endParaRPr>
          </a:p>
          <a:p>
            <a:r>
              <a:rPr lang="zh-CN" altLang="en-US">
                <a:latin typeface="Arial" pitchFamily="34" charset="0"/>
              </a:rPr>
              <a:t>可以以邮局和公司的前台为例：</a:t>
            </a:r>
          </a:p>
          <a:p>
            <a:r>
              <a:rPr lang="zh-CN" altLang="en-US">
                <a:latin typeface="Arial" pitchFamily="34" charset="0"/>
              </a:rPr>
              <a:t>你给你的朋友寄一封信，邮局只需要看他的城市名和所在街道或单位，不会注意你朋友的名字这样详细的信息。而信到了你朋友单位的前台，前台注意的是这封信是寄给哪个人的，然后把信交给你的朋友。那么邮局就像路由器，你朋友单位的前台就像交换机</a:t>
            </a:r>
          </a:p>
          <a:p>
            <a:endParaRPr lang="zh-CN" altLang="en-US" sz="1600">
              <a:latin typeface="Arial" pitchFamily="34" charset="0"/>
            </a:endParaRPr>
          </a:p>
        </p:txBody>
      </p:sp>
      <p:sp>
        <p:nvSpPr>
          <p:cNvPr id="48132" name="灯片编号占位符 3"/>
          <p:cNvSpPr>
            <a:spLocks noGrp="1"/>
          </p:cNvSpPr>
          <p:nvPr>
            <p:ph type="sldNum" sz="quarter" idx="5"/>
          </p:nvPr>
        </p:nvSpPr>
        <p:spPr/>
        <p:txBody>
          <a:bodyPr/>
          <a:lstStyle/>
          <a:p>
            <a:pPr>
              <a:defRPr/>
            </a:pPr>
            <a:fld id="{A40207B7-2F31-4673-B23D-A3F2CE936171}" type="slidenum">
              <a:rPr lang="en-US" altLang="zh-CN" smtClean="0"/>
              <a:pPr>
                <a:defRPr/>
              </a:pPr>
              <a:t>9</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xfrm>
            <a:off x="77788" y="727075"/>
            <a:ext cx="6702425" cy="3770313"/>
          </a:xfrm>
          <a:ln/>
        </p:spPr>
      </p:sp>
      <p:sp>
        <p:nvSpPr>
          <p:cNvPr id="44035" name="备注占位符 2"/>
          <p:cNvSpPr>
            <a:spLocks noGrp="1"/>
          </p:cNvSpPr>
          <p:nvPr>
            <p:ph type="body" idx="1"/>
          </p:nvPr>
        </p:nvSpPr>
        <p:spPr>
          <a:noFill/>
          <a:ln/>
        </p:spPr>
        <p:txBody>
          <a:bodyPr/>
          <a:lstStyle/>
          <a:p>
            <a:endParaRPr lang="zh-CN" altLang="en-US" sz="1600">
              <a:latin typeface="Arial" pitchFamily="34" charset="0"/>
            </a:endParaRPr>
          </a:p>
        </p:txBody>
      </p:sp>
      <p:sp>
        <p:nvSpPr>
          <p:cNvPr id="50180" name="灯片编号占位符 3"/>
          <p:cNvSpPr>
            <a:spLocks noGrp="1"/>
          </p:cNvSpPr>
          <p:nvPr>
            <p:ph type="sldNum" sz="quarter" idx="5"/>
          </p:nvPr>
        </p:nvSpPr>
        <p:spPr/>
        <p:txBody>
          <a:bodyPr/>
          <a:lstStyle/>
          <a:p>
            <a:pPr>
              <a:defRPr/>
            </a:pPr>
            <a:fld id="{41B98BE3-8318-4191-BC41-C53F65737D89}" type="slidenum">
              <a:rPr lang="en-US" altLang="zh-CN" smtClean="0"/>
              <a:pPr>
                <a:defRPr/>
              </a:pPr>
              <a:t>10</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xfrm>
            <a:off x="77788" y="727075"/>
            <a:ext cx="6702425" cy="3770313"/>
          </a:xfrm>
          <a:ln/>
        </p:spPr>
      </p:sp>
      <p:sp>
        <p:nvSpPr>
          <p:cNvPr id="45059" name="备注占位符 2"/>
          <p:cNvSpPr>
            <a:spLocks noGrp="1"/>
          </p:cNvSpPr>
          <p:nvPr>
            <p:ph type="body" idx="1"/>
          </p:nvPr>
        </p:nvSpPr>
        <p:spPr>
          <a:noFill/>
          <a:ln/>
        </p:spPr>
        <p:txBody>
          <a:bodyPr/>
          <a:lstStyle/>
          <a:p>
            <a:endParaRPr lang="zh-CN" altLang="en-US">
              <a:latin typeface="Arial" pitchFamily="34" charset="0"/>
            </a:endParaRPr>
          </a:p>
        </p:txBody>
      </p:sp>
      <p:sp>
        <p:nvSpPr>
          <p:cNvPr id="4" name="灯片编号占位符 3"/>
          <p:cNvSpPr>
            <a:spLocks noGrp="1"/>
          </p:cNvSpPr>
          <p:nvPr>
            <p:ph type="sldNum" sz="quarter" idx="5"/>
          </p:nvPr>
        </p:nvSpPr>
        <p:spPr/>
        <p:txBody>
          <a:bodyPr/>
          <a:lstStyle/>
          <a:p>
            <a:pPr>
              <a:defRPr/>
            </a:pPr>
            <a:fld id="{81F65E71-6EFF-434B-B288-010D13491413}" type="slidenum">
              <a:rPr lang="zh-CN" altLang="en-US" smtClean="0"/>
              <a:pPr>
                <a:defRPr/>
              </a:pPr>
              <a:t>11</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a:xfrm>
            <a:off x="77788" y="727075"/>
            <a:ext cx="6702425" cy="3770313"/>
          </a:xfrm>
          <a:ln/>
        </p:spPr>
      </p:sp>
      <p:sp>
        <p:nvSpPr>
          <p:cNvPr id="46083" name="备注占位符 2"/>
          <p:cNvSpPr>
            <a:spLocks noGrp="1"/>
          </p:cNvSpPr>
          <p:nvPr>
            <p:ph type="body" idx="1"/>
          </p:nvPr>
        </p:nvSpPr>
        <p:spPr>
          <a:noFill/>
          <a:ln/>
        </p:spPr>
        <p:txBody>
          <a:bodyPr/>
          <a:lstStyle/>
          <a:p>
            <a:r>
              <a:rPr lang="zh-CN" altLang="en-US">
                <a:latin typeface="Arial" pitchFamily="34" charset="0"/>
              </a:rPr>
              <a:t>简要介绍故障的处理，不仅仅是静态路由的故障处理，一般出现故障都可以按照这两种方法进行排除。</a:t>
            </a:r>
            <a:endParaRPr lang="en-US" altLang="zh-CN">
              <a:latin typeface="Arial" pitchFamily="34" charset="0"/>
            </a:endParaRPr>
          </a:p>
          <a:p>
            <a:r>
              <a:rPr lang="zh-CN" altLang="en-US">
                <a:latin typeface="Arial" pitchFamily="34" charset="0"/>
              </a:rPr>
              <a:t>分层检查，根据</a:t>
            </a:r>
            <a:r>
              <a:rPr lang="en-US" altLang="zh-CN">
                <a:latin typeface="Arial" pitchFamily="34" charset="0"/>
              </a:rPr>
              <a:t>TCP/IP5</a:t>
            </a:r>
            <a:r>
              <a:rPr lang="zh-CN" altLang="en-US">
                <a:latin typeface="Arial" pitchFamily="34" charset="0"/>
              </a:rPr>
              <a:t>层网络模型，从低到高一层一层进行检查，排除，直到找到故障。</a:t>
            </a:r>
            <a:endParaRPr lang="en-US" altLang="zh-CN">
              <a:latin typeface="Arial" pitchFamily="34" charset="0"/>
            </a:endParaRPr>
          </a:p>
          <a:p>
            <a:r>
              <a:rPr lang="zh-CN" altLang="en-US">
                <a:latin typeface="Arial" pitchFamily="34" charset="0"/>
              </a:rPr>
              <a:t>分段检查，将网络划分成多个小的段，逐段排除错误。</a:t>
            </a:r>
            <a:endParaRPr lang="en-US" altLang="zh-CN">
              <a:latin typeface="Arial" pitchFamily="34" charset="0"/>
            </a:endParaRPr>
          </a:p>
          <a:p>
            <a:r>
              <a:rPr lang="zh-CN" altLang="en-US">
                <a:latin typeface="Arial" pitchFamily="34" charset="0"/>
              </a:rPr>
              <a:t>两种方法一般结合使用。</a:t>
            </a:r>
            <a:endParaRPr lang="en-US" altLang="zh-CN">
              <a:latin typeface="Arial" pitchFamily="34" charset="0"/>
            </a:endParaRPr>
          </a:p>
        </p:txBody>
      </p:sp>
      <p:sp>
        <p:nvSpPr>
          <p:cNvPr id="54276" name="灯片编号占位符 3"/>
          <p:cNvSpPr>
            <a:spLocks noGrp="1"/>
          </p:cNvSpPr>
          <p:nvPr>
            <p:ph type="sldNum" sz="quarter" idx="5"/>
          </p:nvPr>
        </p:nvSpPr>
        <p:spPr/>
        <p:txBody>
          <a:bodyPr/>
          <a:lstStyle/>
          <a:p>
            <a:pPr>
              <a:defRPr/>
            </a:pPr>
            <a:fld id="{BE8AC9E6-5B94-4611-92DD-B2E2A34C69A1}" type="slidenum">
              <a:rPr lang="en-US" altLang="zh-CN" smtClean="0"/>
              <a:pPr>
                <a:defRPr/>
              </a:pPr>
              <a:t>13</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a:xfrm>
            <a:off x="77788" y="727075"/>
            <a:ext cx="6702425" cy="3770313"/>
          </a:xfrm>
          <a:ln/>
        </p:spPr>
      </p:sp>
      <p:sp>
        <p:nvSpPr>
          <p:cNvPr id="47107" name="备注占位符 2"/>
          <p:cNvSpPr>
            <a:spLocks noGrp="1"/>
          </p:cNvSpPr>
          <p:nvPr>
            <p:ph type="body" idx="1"/>
          </p:nvPr>
        </p:nvSpPr>
        <p:spPr>
          <a:noFill/>
          <a:ln/>
        </p:spPr>
        <p:txBody>
          <a:bodyPr/>
          <a:lstStyle/>
          <a:p>
            <a:r>
              <a:rPr lang="zh-CN" altLang="en-US">
                <a:latin typeface="Arial" pitchFamily="34" charset="0"/>
              </a:rPr>
              <a:t>根据错误问题提前搭好网络环境，本案例的网络环境要求：</a:t>
            </a:r>
            <a:endParaRPr lang="en-US" altLang="zh-CN">
              <a:latin typeface="Arial" pitchFamily="34" charset="0"/>
            </a:endParaRPr>
          </a:p>
          <a:p>
            <a:r>
              <a:rPr lang="en-US" altLang="zh-CN">
                <a:latin typeface="Arial" pitchFamily="34" charset="0"/>
              </a:rPr>
              <a:t>1</a:t>
            </a:r>
            <a:r>
              <a:rPr lang="zh-CN" altLang="en-US">
                <a:latin typeface="Arial" pitchFamily="34" charset="0"/>
              </a:rPr>
              <a:t>、</a:t>
            </a:r>
            <a:r>
              <a:rPr lang="en-US" altLang="zh-CN">
                <a:latin typeface="Arial" pitchFamily="34" charset="0"/>
              </a:rPr>
              <a:t>R1</a:t>
            </a:r>
            <a:r>
              <a:rPr lang="zh-CN" altLang="en-US">
                <a:latin typeface="Arial" pitchFamily="34" charset="0"/>
              </a:rPr>
              <a:t>接口</a:t>
            </a:r>
            <a:r>
              <a:rPr lang="en-US" altLang="zh-CN">
                <a:latin typeface="Arial" pitchFamily="34" charset="0"/>
              </a:rPr>
              <a:t>F0/0</a:t>
            </a:r>
            <a:r>
              <a:rPr lang="zh-CN" altLang="en-US">
                <a:latin typeface="Arial" pitchFamily="34" charset="0"/>
              </a:rPr>
              <a:t>处于</a:t>
            </a:r>
            <a:r>
              <a:rPr lang="en-US" altLang="zh-CN">
                <a:latin typeface="Helvetica"/>
              </a:rPr>
              <a:t>administrative</a:t>
            </a:r>
            <a:r>
              <a:rPr lang="en-US" altLang="zh-CN">
                <a:latin typeface="Arial" pitchFamily="34" charset="0"/>
              </a:rPr>
              <a:t> down</a:t>
            </a:r>
            <a:r>
              <a:rPr lang="zh-CN" altLang="en-US">
                <a:latin typeface="Arial" pitchFamily="34" charset="0"/>
              </a:rPr>
              <a:t>；如果是</a:t>
            </a:r>
            <a:r>
              <a:rPr lang="en-US" altLang="zh-CN">
                <a:latin typeface="Helvetica"/>
              </a:rPr>
              <a:t>line protocol is down</a:t>
            </a:r>
            <a:r>
              <a:rPr lang="zh-CN" altLang="en-US" sz="2000">
                <a:latin typeface="Helvetica"/>
              </a:rPr>
              <a:t>则需要检查线路。</a:t>
            </a:r>
            <a:endParaRPr lang="en-US" altLang="zh-CN">
              <a:latin typeface="Arial" pitchFamily="34" charset="0"/>
            </a:endParaRPr>
          </a:p>
          <a:p>
            <a:r>
              <a:rPr lang="en-US" altLang="zh-CN">
                <a:latin typeface="Arial" pitchFamily="34" charset="0"/>
              </a:rPr>
              <a:t>2</a:t>
            </a:r>
            <a:r>
              <a:rPr lang="zh-CN" altLang="en-US">
                <a:latin typeface="Arial" pitchFamily="34" charset="0"/>
              </a:rPr>
              <a:t>、</a:t>
            </a:r>
            <a:r>
              <a:rPr lang="en-US" altLang="zh-CN">
                <a:latin typeface="Arial" pitchFamily="34" charset="0"/>
              </a:rPr>
              <a:t>R2</a:t>
            </a:r>
            <a:r>
              <a:rPr lang="zh-CN" altLang="en-US">
                <a:latin typeface="Arial" pitchFamily="34" charset="0"/>
              </a:rPr>
              <a:t>接口</a:t>
            </a:r>
            <a:r>
              <a:rPr lang="en-US" altLang="zh-CN">
                <a:latin typeface="Arial" pitchFamily="34" charset="0"/>
              </a:rPr>
              <a:t>F0/0</a:t>
            </a:r>
            <a:r>
              <a:rPr lang="zh-CN" altLang="en-US">
                <a:latin typeface="Arial" pitchFamily="34" charset="0"/>
              </a:rPr>
              <a:t>地址配置错误，</a:t>
            </a:r>
            <a:r>
              <a:rPr lang="en-US" altLang="zh-CN">
                <a:latin typeface="Arial" pitchFamily="34" charset="0"/>
              </a:rPr>
              <a:t>192.168.2.1</a:t>
            </a:r>
            <a:r>
              <a:rPr lang="zh-CN" altLang="en-US">
                <a:latin typeface="Arial" pitchFamily="34" charset="0"/>
              </a:rPr>
              <a:t>；</a:t>
            </a:r>
            <a:endParaRPr lang="en-US" altLang="zh-CN">
              <a:latin typeface="Arial" pitchFamily="34" charset="0"/>
            </a:endParaRPr>
          </a:p>
          <a:p>
            <a:r>
              <a:rPr lang="zh-CN" altLang="en-US">
                <a:latin typeface="Arial" pitchFamily="34" charset="0"/>
              </a:rPr>
              <a:t>需要注意：如果双方可以</a:t>
            </a:r>
            <a:r>
              <a:rPr lang="en-US" altLang="zh-CN">
                <a:latin typeface="Arial" pitchFamily="34" charset="0"/>
              </a:rPr>
              <a:t>ping</a:t>
            </a:r>
            <a:r>
              <a:rPr lang="zh-CN" altLang="en-US">
                <a:latin typeface="Arial" pitchFamily="34" charset="0"/>
              </a:rPr>
              <a:t>通，但是其所带客户端无法互通，则可能是路由配置出现问题。</a:t>
            </a:r>
            <a:endParaRPr lang="en-US" altLang="zh-CN">
              <a:latin typeface="Arial" pitchFamily="34" charset="0"/>
            </a:endParaRPr>
          </a:p>
          <a:p>
            <a:r>
              <a:rPr lang="zh-CN" altLang="en-US">
                <a:latin typeface="Arial" pitchFamily="34" charset="0"/>
              </a:rPr>
              <a:t>讲解时，可以进行提问，让学员根据具体的排查方法。然后按照物理层，数据链路层，网络层、传输层、应用层的顺序进行检查。</a:t>
            </a:r>
            <a:endParaRPr lang="en-US" altLang="zh-CN">
              <a:latin typeface="Arial" pitchFamily="34" charset="0"/>
            </a:endParaRPr>
          </a:p>
        </p:txBody>
      </p:sp>
      <p:sp>
        <p:nvSpPr>
          <p:cNvPr id="55300" name="灯片编号占位符 3"/>
          <p:cNvSpPr>
            <a:spLocks noGrp="1"/>
          </p:cNvSpPr>
          <p:nvPr>
            <p:ph type="sldNum" sz="quarter" idx="5"/>
          </p:nvPr>
        </p:nvSpPr>
        <p:spPr/>
        <p:txBody>
          <a:bodyPr/>
          <a:lstStyle/>
          <a:p>
            <a:pPr>
              <a:defRPr/>
            </a:pPr>
            <a:fld id="{8CA085A6-6159-4A95-955B-3150126041A4}" type="slidenum">
              <a:rPr lang="en-US" altLang="zh-CN" smtClean="0"/>
              <a:pPr>
                <a:defRPr/>
              </a:pPr>
              <a:t>14</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xfrm>
            <a:off x="77788" y="727075"/>
            <a:ext cx="6702425" cy="3770313"/>
          </a:xfrm>
          <a:ln/>
        </p:spPr>
      </p:sp>
      <p:sp>
        <p:nvSpPr>
          <p:cNvPr id="48131" name="备注占位符 2"/>
          <p:cNvSpPr>
            <a:spLocks noGrp="1"/>
          </p:cNvSpPr>
          <p:nvPr>
            <p:ph type="body" idx="1"/>
          </p:nvPr>
        </p:nvSpPr>
        <p:spPr>
          <a:noFill/>
          <a:ln/>
        </p:spPr>
        <p:txBody>
          <a:bodyPr/>
          <a:lstStyle/>
          <a:p>
            <a:r>
              <a:rPr lang="zh-CN" altLang="en-US">
                <a:latin typeface="Arial" pitchFamily="34" charset="0"/>
              </a:rPr>
              <a:t>首先讲述网络环境，然后让学员回答请思考问题。</a:t>
            </a:r>
            <a:endParaRPr lang="en-US" altLang="zh-CN">
              <a:latin typeface="Arial" pitchFamily="34" charset="0"/>
            </a:endParaRPr>
          </a:p>
          <a:p>
            <a:r>
              <a:rPr lang="zh-CN" altLang="en-US">
                <a:latin typeface="Arial" pitchFamily="34" charset="0"/>
              </a:rPr>
              <a:t>然后，在路由器上配置默认路由。并进行</a:t>
            </a:r>
            <a:r>
              <a:rPr lang="en-US" altLang="zh-CN">
                <a:latin typeface="Arial" pitchFamily="34" charset="0"/>
              </a:rPr>
              <a:t>traceroute</a:t>
            </a:r>
            <a:r>
              <a:rPr lang="zh-CN" altLang="en-US">
                <a:latin typeface="Arial" pitchFamily="34" charset="0"/>
              </a:rPr>
              <a:t>命令测试，发现产生路由环路。</a:t>
            </a:r>
            <a:endParaRPr lang="en-US" altLang="zh-CN">
              <a:latin typeface="Arial" pitchFamily="34" charset="0"/>
            </a:endParaRPr>
          </a:p>
          <a:p>
            <a:r>
              <a:rPr lang="zh-CN" altLang="en-US">
                <a:latin typeface="Arial" pitchFamily="34" charset="0"/>
              </a:rPr>
              <a:t>路由环路的产生会导致网络带宽被占用，数据包无法到达正确的目的地点等。</a:t>
            </a:r>
            <a:endParaRPr lang="en-US" altLang="zh-CN">
              <a:latin typeface="Arial" pitchFamily="34" charset="0"/>
            </a:endParaRPr>
          </a:p>
          <a:p>
            <a:r>
              <a:rPr lang="zh-CN" altLang="en-US">
                <a:latin typeface="Arial" pitchFamily="34" charset="0"/>
              </a:rPr>
              <a:t>最后，说明两端都配置默认路由部署的问题，并进行修改。</a:t>
            </a:r>
            <a:endParaRPr lang="en-US" altLang="zh-CN">
              <a:latin typeface="Arial" pitchFamily="34" charset="0"/>
            </a:endParaRPr>
          </a:p>
          <a:p>
            <a:endParaRPr lang="en-US" altLang="zh-CN">
              <a:latin typeface="Arial" pitchFamily="34" charset="0"/>
            </a:endParaRPr>
          </a:p>
          <a:p>
            <a:r>
              <a:rPr lang="zh-CN" altLang="en-US" b="1">
                <a:latin typeface="Arial" pitchFamily="34" charset="0"/>
              </a:rPr>
              <a:t>生活案例：</a:t>
            </a:r>
            <a:endParaRPr lang="en-US" altLang="zh-CN" b="1">
              <a:latin typeface="Arial" pitchFamily="34" charset="0"/>
            </a:endParaRPr>
          </a:p>
          <a:p>
            <a:r>
              <a:rPr lang="zh-CN" altLang="en-US">
                <a:latin typeface="Arial" pitchFamily="34" charset="0"/>
              </a:rPr>
              <a:t>路由环路可以通过左转，左转，左转，左转</a:t>
            </a:r>
            <a:r>
              <a:rPr lang="en-US" altLang="zh-CN">
                <a:latin typeface="Arial" pitchFamily="34" charset="0"/>
              </a:rPr>
              <a:t>……</a:t>
            </a:r>
            <a:r>
              <a:rPr lang="zh-CN" altLang="en-US">
                <a:latin typeface="Arial" pitchFamily="34" charset="0"/>
              </a:rPr>
              <a:t>的例子进行说明。</a:t>
            </a:r>
            <a:endParaRPr lang="en-US" altLang="zh-CN">
              <a:latin typeface="Arial" pitchFamily="34" charset="0"/>
            </a:endParaRPr>
          </a:p>
        </p:txBody>
      </p:sp>
      <p:sp>
        <p:nvSpPr>
          <p:cNvPr id="56324" name="灯片编号占位符 3"/>
          <p:cNvSpPr>
            <a:spLocks noGrp="1"/>
          </p:cNvSpPr>
          <p:nvPr>
            <p:ph type="sldNum" sz="quarter" idx="5"/>
          </p:nvPr>
        </p:nvSpPr>
        <p:spPr/>
        <p:txBody>
          <a:bodyPr/>
          <a:lstStyle/>
          <a:p>
            <a:pPr>
              <a:defRPr/>
            </a:pPr>
            <a:fld id="{75F989FF-8928-478E-A6C3-DFDF6D950C07}" type="slidenum">
              <a:rPr lang="en-US" altLang="zh-CN" smtClean="0"/>
              <a:pPr>
                <a:defRPr/>
              </a:pPr>
              <a:t>15</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xfrm>
            <a:off x="77788" y="727075"/>
            <a:ext cx="6702425" cy="3770313"/>
          </a:xfrm>
          <a:ln/>
        </p:spPr>
      </p:sp>
      <p:sp>
        <p:nvSpPr>
          <p:cNvPr id="83971" name="备注占位符 2"/>
          <p:cNvSpPr>
            <a:spLocks noGrp="1"/>
          </p:cNvSpPr>
          <p:nvPr>
            <p:ph type="body" idx="1"/>
          </p:nvPr>
        </p:nvSpPr>
        <p:spPr>
          <a:noFill/>
          <a:ln/>
        </p:spPr>
        <p:txBody>
          <a:bodyPr/>
          <a:lstStyle/>
          <a:p>
            <a:r>
              <a:rPr lang="zh-CN" altLang="en-US" dirty="0">
                <a:ea typeface="宋体" charset="-122"/>
              </a:rPr>
              <a:t>教学指导：</a:t>
            </a:r>
            <a:endParaRPr lang="en-US" altLang="zh-CN" dirty="0">
              <a:ea typeface="宋体" charset="-122"/>
            </a:endParaRPr>
          </a:p>
          <a:p>
            <a:r>
              <a:rPr lang="zh-CN" altLang="en-US" dirty="0">
                <a:ea typeface="宋体" charset="-122"/>
              </a:rPr>
              <a:t>下次上课前的“课前小考”即为本页</a:t>
            </a:r>
            <a:r>
              <a:rPr lang="en-US" altLang="zh-CN" dirty="0">
                <a:ea typeface="宋体" charset="-122"/>
              </a:rPr>
              <a:t>PPT</a:t>
            </a:r>
            <a:r>
              <a:rPr lang="zh-CN" altLang="en-US" dirty="0">
                <a:ea typeface="宋体" charset="-122"/>
              </a:rPr>
              <a:t>的考题，需要学员课下准备。</a:t>
            </a:r>
          </a:p>
        </p:txBody>
      </p:sp>
      <p:sp>
        <p:nvSpPr>
          <p:cNvPr id="83972" name="灯片编号占位符 3"/>
          <p:cNvSpPr>
            <a:spLocks noGrp="1"/>
          </p:cNvSpPr>
          <p:nvPr>
            <p:ph type="sldNum" sz="quarter" idx="5"/>
          </p:nvPr>
        </p:nvSpPr>
        <p:spPr>
          <a:noFill/>
        </p:spPr>
        <p:txBody>
          <a:bodyPr/>
          <a:lstStyle/>
          <a:p>
            <a:fld id="{DBAB8C08-6574-4C24-A643-CD987DBDC9C3}" type="slidenum">
              <a:rPr lang="zh-CN" altLang="en-US" smtClean="0">
                <a:ea typeface="宋体" charset="-122"/>
              </a:rPr>
              <a:pPr/>
              <a:t>16</a:t>
            </a:fld>
            <a:endParaRPr lang="en-US" altLang="zh-CN">
              <a:ea typeface="宋体"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p:txBody>
          <a:bodyPr/>
          <a:lstStyle/>
          <a:p>
            <a:pPr>
              <a:defRPr/>
            </a:pPr>
            <a:fld id="{2D43AACA-39B3-4282-A8AE-56A0A46C4CED}" type="slidenum">
              <a:rPr lang="en-US" altLang="zh-CN" smtClean="0"/>
              <a:pPr>
                <a:defRPr/>
              </a:pPr>
              <a:t>17</a:t>
            </a:fld>
            <a:endParaRPr lang="en-US" altLang="zh-CN"/>
          </a:p>
        </p:txBody>
      </p:sp>
      <p:sp>
        <p:nvSpPr>
          <p:cNvPr id="5120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2FB1E824-EFD3-4555-8C42-873B7D7E05CA}" type="slidenum">
              <a:rPr lang="en-US" altLang="zh-CN" sz="1200">
                <a:ea typeface="宋体" pitchFamily="2" charset="-122"/>
              </a:rPr>
              <a:pPr algn="r"/>
              <a:t>17</a:t>
            </a:fld>
            <a:endParaRPr lang="en-US" altLang="zh-CN" sz="1200">
              <a:ea typeface="宋体" pitchFamily="2" charset="-122"/>
            </a:endParaRPr>
          </a:p>
        </p:txBody>
      </p:sp>
      <p:sp>
        <p:nvSpPr>
          <p:cNvPr id="51204" name="Rectangle 2"/>
          <p:cNvSpPr>
            <a:spLocks noGrp="1" noRot="1" noChangeAspect="1" noChangeArrowheads="1" noTextEdit="1"/>
          </p:cNvSpPr>
          <p:nvPr>
            <p:ph type="sldImg"/>
          </p:nvPr>
        </p:nvSpPr>
        <p:spPr>
          <a:xfrm>
            <a:off x="77788" y="727075"/>
            <a:ext cx="6702425" cy="3770313"/>
          </a:xfrm>
          <a:ln/>
        </p:spPr>
      </p:sp>
      <p:sp>
        <p:nvSpPr>
          <p:cNvPr id="51205" name="Rectangle 3"/>
          <p:cNvSpPr>
            <a:spLocks noGrp="1" noChangeArrowheads="1"/>
          </p:cNvSpPr>
          <p:nvPr>
            <p:ph type="body" idx="1"/>
          </p:nvPr>
        </p:nvSpPr>
        <p:spPr>
          <a:noFill/>
          <a:ln/>
        </p:spPr>
        <p:txBody>
          <a:bodyPr/>
          <a:lstStyle/>
          <a:p>
            <a:pPr>
              <a:buFont typeface="Wingdings" pitchFamily="2" charset="2"/>
              <a:buNone/>
            </a:pPr>
            <a:endParaRPr lang="zh-CN" altLang="zh-CN">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CC1129E3-C5E7-4393-BA8F-BA7B5A5B8B83}" type="slidenum">
              <a:rPr lang="en-US" altLang="zh-CN" smtClean="0"/>
              <a:pPr>
                <a:defRPr/>
              </a:pPr>
              <a:t>18</a:t>
            </a:fld>
            <a:endParaRPr lang="en-US" altLang="zh-CN"/>
          </a:p>
        </p:txBody>
      </p:sp>
      <p:sp>
        <p:nvSpPr>
          <p:cNvPr id="5222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F6884AE5-C6AF-4AAC-B68F-F57C22038BA2}" type="slidenum">
              <a:rPr lang="en-US" altLang="zh-CN" sz="1200">
                <a:ea typeface="宋体" pitchFamily="2" charset="-122"/>
              </a:rPr>
              <a:pPr algn="r"/>
              <a:t>18</a:t>
            </a:fld>
            <a:endParaRPr lang="en-US" altLang="zh-CN" sz="1200">
              <a:ea typeface="宋体" pitchFamily="2" charset="-122"/>
            </a:endParaRPr>
          </a:p>
        </p:txBody>
      </p:sp>
      <p:sp>
        <p:nvSpPr>
          <p:cNvPr id="52228" name="Rectangle 2"/>
          <p:cNvSpPr>
            <a:spLocks noGrp="1" noRot="1" noChangeAspect="1" noChangeArrowheads="1" noTextEdit="1"/>
          </p:cNvSpPr>
          <p:nvPr>
            <p:ph type="sldImg"/>
          </p:nvPr>
        </p:nvSpPr>
        <p:spPr>
          <a:xfrm>
            <a:off x="77788" y="727075"/>
            <a:ext cx="6702425" cy="3770313"/>
          </a:xfrm>
          <a:ln/>
        </p:spPr>
      </p:sp>
      <p:sp>
        <p:nvSpPr>
          <p:cNvPr id="52229" name="Rectangle 3"/>
          <p:cNvSpPr>
            <a:spLocks noGrp="1" noChangeArrowheads="1"/>
          </p:cNvSpPr>
          <p:nvPr>
            <p:ph type="body" idx="1"/>
          </p:nvPr>
        </p:nvSpPr>
        <p:spPr>
          <a:noFill/>
          <a:ln/>
        </p:spPr>
        <p:txBody>
          <a:bodyPr/>
          <a:lstStyle/>
          <a:p>
            <a:endParaRPr lang="en-US" altLang="zh-CN">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p:txBody>
          <a:bodyPr/>
          <a:lstStyle/>
          <a:p>
            <a:pPr>
              <a:defRPr/>
            </a:pPr>
            <a:fld id="{D1417113-6790-403A-9FE6-BCC19ECD48C0}" type="slidenum">
              <a:rPr lang="en-US" altLang="zh-CN" smtClean="0"/>
              <a:pPr>
                <a:defRPr/>
              </a:pPr>
              <a:t>19</a:t>
            </a:fld>
            <a:endParaRPr lang="en-US" altLang="zh-CN"/>
          </a:p>
        </p:txBody>
      </p:sp>
      <p:sp>
        <p:nvSpPr>
          <p:cNvPr id="5325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90C6CDAE-D52F-4065-9ED4-4C75FE3C77C6}" type="slidenum">
              <a:rPr lang="en-US" altLang="zh-CN" sz="1200">
                <a:ea typeface="宋体" pitchFamily="2" charset="-122"/>
              </a:rPr>
              <a:pPr algn="r"/>
              <a:t>19</a:t>
            </a:fld>
            <a:endParaRPr lang="en-US" altLang="zh-CN" sz="1200">
              <a:ea typeface="宋体" pitchFamily="2" charset="-122"/>
            </a:endParaRPr>
          </a:p>
        </p:txBody>
      </p:sp>
      <p:sp>
        <p:nvSpPr>
          <p:cNvPr id="53252" name="Rectangle 2"/>
          <p:cNvSpPr>
            <a:spLocks noGrp="1" noRot="1" noChangeAspect="1" noChangeArrowheads="1" noTextEdit="1"/>
          </p:cNvSpPr>
          <p:nvPr>
            <p:ph type="sldImg"/>
          </p:nvPr>
        </p:nvSpPr>
        <p:spPr>
          <a:xfrm>
            <a:off x="77788" y="727075"/>
            <a:ext cx="6702425" cy="3770313"/>
          </a:xfrm>
          <a:ln/>
        </p:spPr>
      </p:sp>
      <p:sp>
        <p:nvSpPr>
          <p:cNvPr id="53253" name="Rectangle 3"/>
          <p:cNvSpPr>
            <a:spLocks noGrp="1" noChangeArrowheads="1"/>
          </p:cNvSpPr>
          <p:nvPr>
            <p:ph type="body" idx="1"/>
          </p:nvPr>
        </p:nvSpPr>
        <p:spPr>
          <a:noFill/>
          <a:ln/>
        </p:spPr>
        <p:txBody>
          <a:bodyPr/>
          <a:lstStyle/>
          <a:p>
            <a:pPr>
              <a:buFont typeface="Wingdings" pitchFamily="2" charset="2"/>
              <a:buNone/>
            </a:pPr>
            <a:endParaRPr lang="zh-CN" altLang="zh-CN">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6857AC9C-5E0E-438C-BEF8-06959C7064BB}" type="slidenum">
              <a:rPr lang="en-US" altLang="zh-CN" smtClean="0"/>
              <a:pPr>
                <a:defRPr/>
              </a:pPr>
              <a:t>20</a:t>
            </a:fld>
            <a:endParaRPr lang="en-US" altLang="zh-CN"/>
          </a:p>
        </p:txBody>
      </p:sp>
      <p:sp>
        <p:nvSpPr>
          <p:cNvPr id="5427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33BFDED5-284E-4C79-96F0-493B7E104C8C}" type="slidenum">
              <a:rPr lang="en-US" altLang="zh-CN" sz="1200">
                <a:ea typeface="宋体" pitchFamily="2" charset="-122"/>
              </a:rPr>
              <a:pPr algn="r"/>
              <a:t>20</a:t>
            </a:fld>
            <a:endParaRPr lang="en-US" altLang="zh-CN" sz="1200">
              <a:ea typeface="宋体" pitchFamily="2" charset="-122"/>
            </a:endParaRPr>
          </a:p>
        </p:txBody>
      </p:sp>
      <p:sp>
        <p:nvSpPr>
          <p:cNvPr id="54276" name="Rectangle 2"/>
          <p:cNvSpPr>
            <a:spLocks noGrp="1" noRot="1" noChangeAspect="1" noChangeArrowheads="1" noTextEdit="1"/>
          </p:cNvSpPr>
          <p:nvPr>
            <p:ph type="sldImg"/>
          </p:nvPr>
        </p:nvSpPr>
        <p:spPr>
          <a:xfrm>
            <a:off x="77788" y="727075"/>
            <a:ext cx="6702425" cy="3770313"/>
          </a:xfrm>
          <a:ln/>
        </p:spPr>
      </p:sp>
      <p:sp>
        <p:nvSpPr>
          <p:cNvPr id="54277" name="Rectangle 3"/>
          <p:cNvSpPr>
            <a:spLocks noGrp="1" noChangeArrowheads="1"/>
          </p:cNvSpPr>
          <p:nvPr>
            <p:ph type="body" idx="1"/>
          </p:nvPr>
        </p:nvSpPr>
        <p:spPr>
          <a:noFill/>
          <a:ln/>
        </p:spPr>
        <p:txBody>
          <a:bodyPr/>
          <a:lstStyle/>
          <a:p>
            <a:endParaRPr lang="zh-CN" altLang="zh-CN">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33400" y="763588"/>
            <a:ext cx="6704013" cy="37719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p:nvPr>
        </p:nvSpPr>
        <p:spPr/>
        <p:txBody>
          <a:bodyPr/>
          <a:lstStyle/>
          <a:p>
            <a:pPr algn="r"/>
            <a:fld id="{1435F71D-641E-4ECC-830F-6558CD869574}" type="slidenum">
              <a:rPr lang="en-US" sz="1400" b="0" strike="noStrike" spc="-1" smtClean="0">
                <a:latin typeface="Times New Roman"/>
              </a:rPr>
              <a:t>21</a:t>
            </a:fld>
            <a:endParaRPr lang="en-US" sz="1400" b="0" strike="noStrike" spc="-1">
              <a:latin typeface="Times New Roman"/>
            </a:endParaRPr>
          </a:p>
        </p:txBody>
      </p:sp>
    </p:spTree>
    <p:extLst>
      <p:ext uri="{BB962C8B-B14F-4D97-AF65-F5344CB8AC3E}">
        <p14:creationId xmlns:p14="http://schemas.microsoft.com/office/powerpoint/2010/main" val="4272068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48"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6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6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lstStyle/>
          <a:p>
            <a:endParaRPr lang="en-US" sz="1800" b="0" strike="noStrike" spc="-1">
              <a:solidFill>
                <a:srgbClr val="000000"/>
              </a:solidFill>
              <a:latin typeface="Arial"/>
            </a:endParaRPr>
          </a:p>
        </p:txBody>
      </p:sp>
      <p:sp>
        <p:nvSpPr>
          <p:cNvPr id="7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7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
        <p:nvSpPr>
          <p:cNvPr id="8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04AA452-31F6-42F1-88E2-2BEAFFB3D008}" type="datetimeFigureOut">
              <a:rPr lang="zh-CN" altLang="en-US" smtClean="0"/>
              <a:t>2021/10/14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9A76C8-063D-4826-91C2-CB3A25A9B564}" type="slidenum">
              <a:rPr lang="zh-CN" altLang="en-US" smtClean="0"/>
              <a:t>‹#›</a:t>
            </a:fld>
            <a:endParaRPr lang="zh-CN" altLang="en-US"/>
          </a:p>
        </p:txBody>
      </p:sp>
    </p:spTree>
    <p:extLst>
      <p:ext uri="{BB962C8B-B14F-4D97-AF65-F5344CB8AC3E}">
        <p14:creationId xmlns:p14="http://schemas.microsoft.com/office/powerpoint/2010/main" val="2247613748"/>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2520" y="6760080"/>
            <a:ext cx="12186720" cy="121320"/>
          </a:xfrm>
          <a:prstGeom prst="rect">
            <a:avLst/>
          </a:prstGeom>
          <a:gradFill rotWithShape="0">
            <a:gsLst>
              <a:gs pos="0">
                <a:srgbClr val="007BF7"/>
              </a:gs>
              <a:gs pos="100000">
                <a:srgbClr val="0BB3E8"/>
              </a:gs>
            </a:gsLst>
            <a:lin ang="3600000"/>
          </a:gradFill>
          <a:ln w="12600">
            <a:noFill/>
          </a:ln>
        </p:spPr>
        <p:style>
          <a:lnRef idx="0">
            <a:scrgbClr r="0" g="0" b="0"/>
          </a:lnRef>
          <a:fillRef idx="0">
            <a:scrgbClr r="0" g="0" b="0"/>
          </a:fillRef>
          <a:effectRef idx="0">
            <a:scrgbClr r="0" g="0" b="0"/>
          </a:effectRef>
          <a:fontRef idx="minor"/>
        </p:style>
      </p:sp>
      <p:sp>
        <p:nvSpPr>
          <p:cNvPr id="43" name="CustomShape 2"/>
          <p:cNvSpPr/>
          <p:nvPr/>
        </p:nvSpPr>
        <p:spPr>
          <a:xfrm>
            <a:off x="334440" y="6515640"/>
            <a:ext cx="672840" cy="2041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nSpc>
                <a:spcPct val="100000"/>
              </a:lnSpc>
              <a:spcBef>
                <a:spcPts val="666"/>
              </a:spcBef>
            </a:pPr>
            <a:fld id="{BE2697B1-93DF-4FA3-9179-2157CC991DBC}" type="slidenum">
              <a:rPr lang="en-US" sz="1340" b="0" strike="noStrike" spc="-1">
                <a:solidFill>
                  <a:srgbClr val="5A5A5A"/>
                </a:solidFill>
                <a:latin typeface="Myriad Pro"/>
                <a:ea typeface="微软雅黑"/>
              </a:rPr>
              <a:t>‹#›</a:t>
            </a:fld>
            <a:endParaRPr lang="en-US" sz="1340" b="0" strike="noStrike" spc="-1">
              <a:latin typeface="Arial"/>
            </a:endParaRPr>
          </a:p>
        </p:txBody>
      </p:sp>
      <p:sp>
        <p:nvSpPr>
          <p:cNvPr id="44" name="CustomShape 3"/>
          <p:cNvSpPr/>
          <p:nvPr/>
        </p:nvSpPr>
        <p:spPr>
          <a:xfrm>
            <a:off x="0" y="165240"/>
            <a:ext cx="670680" cy="286920"/>
          </a:xfrm>
          <a:prstGeom prst="rect">
            <a:avLst/>
          </a:prstGeom>
          <a:solidFill>
            <a:schemeClr val="accent1">
              <a:lumMod val="75000"/>
            </a:schemeClr>
          </a:solidFill>
          <a:ln w="9360">
            <a:noFill/>
          </a:ln>
        </p:spPr>
        <p:style>
          <a:lnRef idx="0">
            <a:scrgbClr r="0" g="0" b="0"/>
          </a:lnRef>
          <a:fillRef idx="0">
            <a:scrgbClr r="0" g="0" b="0"/>
          </a:fillRef>
          <a:effectRef idx="0">
            <a:scrgbClr r="0" g="0" b="0"/>
          </a:effectRef>
          <a:fontRef idx="minor"/>
        </p:style>
      </p:sp>
      <p:sp>
        <p:nvSpPr>
          <p:cNvPr id="45" name="PlaceHolder 4"/>
          <p:cNvSpPr>
            <a:spLocks noGrp="1"/>
          </p:cNvSpPr>
          <p:nvPr>
            <p:ph type="title"/>
          </p:nvPr>
        </p:nvSpPr>
        <p:spPr>
          <a:xfrm>
            <a:off x="609480" y="273600"/>
            <a:ext cx="10972440" cy="1144800"/>
          </a:xfrm>
          <a:prstGeom prst="rect">
            <a:avLst/>
          </a:prstGeom>
        </p:spPr>
        <p:txBody>
          <a:bodyPr lIns="0" tIns="0" rIns="0" bIns="0" anchor="ctr"/>
          <a:lstStyle/>
          <a:p>
            <a:r>
              <a:rPr lang="en-US" sz="1800" b="0" strike="noStrike" spc="-1">
                <a:solidFill>
                  <a:srgbClr val="000000"/>
                </a:solidFill>
                <a:latin typeface="Arial"/>
              </a:rPr>
              <a:t>Click to edit the title text format</a:t>
            </a:r>
          </a:p>
        </p:txBody>
      </p:sp>
      <p:sp>
        <p:nvSpPr>
          <p:cNvPr id="46"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3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3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3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3.wmf"/><Relationship Id="rId7"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oleObject" Target="../embeddings/oleObject2.bin"/><Relationship Id="rId5" Type="http://schemas.openxmlformats.org/officeDocument/2006/relationships/image" Target="../media/image7.emf"/><Relationship Id="rId10" Type="http://schemas.openxmlformats.org/officeDocument/2006/relationships/image" Target="../media/image4.png"/><Relationship Id="rId4" Type="http://schemas.openxmlformats.org/officeDocument/2006/relationships/oleObject" Target="../embeddings/oleObject1.bin"/><Relationship Id="rId9" Type="http://schemas.openxmlformats.org/officeDocument/2006/relationships/image" Target="../media/image9.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wmf"/></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wmf"/><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2.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CustomShape 1"/>
          <p:cNvSpPr/>
          <p:nvPr/>
        </p:nvSpPr>
        <p:spPr>
          <a:xfrm>
            <a:off x="694080" y="753034"/>
            <a:ext cx="10261080" cy="58724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r>
              <a:rPr lang="zh-CN" altLang="en-US" sz="4400"/>
              <a:t>目标</a:t>
            </a:r>
            <a:endParaRPr lang="en-US" altLang="zh-CN" sz="4400" b="1" spc="-1" dirty="0">
              <a:solidFill>
                <a:srgbClr val="4472C4"/>
              </a:solidFill>
              <a:latin typeface="微软雅黑"/>
              <a:ea typeface="微软雅黑"/>
              <a:cs typeface="+mj-cs"/>
            </a:endParaRPr>
          </a:p>
        </p:txBody>
      </p:sp>
      <p:pic>
        <p:nvPicPr>
          <p:cNvPr id="238" name="图片 237"/>
          <p:cNvPicPr/>
          <p:nvPr/>
        </p:nvPicPr>
        <p:blipFill>
          <a:blip r:embed="rId3"/>
          <a:stretch/>
        </p:blipFill>
        <p:spPr>
          <a:xfrm>
            <a:off x="360" y="0"/>
            <a:ext cx="203040" cy="152280"/>
          </a:xfrm>
          <a:prstGeom prst="rect">
            <a:avLst/>
          </a:prstGeom>
          <a:ln>
            <a:noFill/>
          </a:ln>
        </p:spPr>
      </p:pic>
      <p:sp>
        <p:nvSpPr>
          <p:cNvPr id="2" name="文本框 1">
            <a:extLst>
              <a:ext uri="{FF2B5EF4-FFF2-40B4-BE49-F238E27FC236}">
                <a16:creationId xmlns:a16="http://schemas.microsoft.com/office/drawing/2014/main" id="{34B18D5B-7D90-4FE2-B21C-0484B2517CD4}"/>
              </a:ext>
            </a:extLst>
          </p:cNvPr>
          <p:cNvSpPr txBox="1"/>
          <p:nvPr/>
        </p:nvSpPr>
        <p:spPr>
          <a:xfrm>
            <a:off x="3580292" y="1340279"/>
            <a:ext cx="7917628" cy="3190617"/>
          </a:xfrm>
          <a:prstGeom prst="rect">
            <a:avLst/>
          </a:prstGeom>
          <a:noFill/>
        </p:spPr>
        <p:txBody>
          <a:bodyPr wrap="square" rtlCol="0">
            <a:spAutoFit/>
          </a:bodyPr>
          <a:lstStyle/>
          <a:p>
            <a:endParaRPr lang="en-US" altLang="zh-CN" sz="3200" dirty="0">
              <a:solidFill>
                <a:prstClr val="black">
                  <a:lumMod val="75000"/>
                  <a:lumOff val="25000"/>
                </a:prstClr>
              </a:solidFill>
              <a:latin typeface="包图粗黑体" panose="02000800000000000000" pitchFamily="2" charset="-122"/>
              <a:ea typeface="包图粗黑体" panose="02000800000000000000" pitchFamily="2" charset="-122"/>
            </a:endParaRPr>
          </a:p>
          <a:p>
            <a:pPr marL="514350" indent="-514350">
              <a:spcBef>
                <a:spcPts val="675"/>
              </a:spcBef>
              <a:buAutoNum type="arabicPeriod"/>
            </a:pPr>
            <a:r>
              <a:rPr lang="zh-CN" altLang="en-US" sz="3200" dirty="0">
                <a:solidFill>
                  <a:prstClr val="black">
                    <a:lumMod val="75000"/>
                    <a:lumOff val="25000"/>
                  </a:prstClr>
                </a:solidFill>
                <a:ea typeface="包图粗黑体" panose="02000800000000000000" pitchFamily="2" charset="-122"/>
              </a:rPr>
              <a:t>理解路由的原理</a:t>
            </a:r>
            <a:endParaRPr lang="en-US" altLang="zh-CN" sz="3200" dirty="0">
              <a:solidFill>
                <a:prstClr val="black">
                  <a:lumMod val="75000"/>
                  <a:lumOff val="25000"/>
                </a:prstClr>
              </a:solidFill>
              <a:ea typeface="包图粗黑体" panose="02000800000000000000" pitchFamily="2" charset="-122"/>
            </a:endParaRPr>
          </a:p>
          <a:p>
            <a:pPr marL="514350" indent="-514350">
              <a:spcBef>
                <a:spcPts val="675"/>
              </a:spcBef>
              <a:buAutoNum type="arabicPeriod"/>
            </a:pPr>
            <a:r>
              <a:rPr lang="zh-CN" altLang="en-US" sz="3200" dirty="0">
                <a:solidFill>
                  <a:prstClr val="black">
                    <a:lumMod val="75000"/>
                    <a:lumOff val="25000"/>
                  </a:prstClr>
                </a:solidFill>
                <a:ea typeface="包图粗黑体" panose="02000800000000000000" pitchFamily="2" charset="-122"/>
              </a:rPr>
              <a:t>配置静态路由和默认路由</a:t>
            </a:r>
          </a:p>
          <a:p>
            <a:pPr marL="514350" indent="-514350">
              <a:spcBef>
                <a:spcPts val="675"/>
              </a:spcBef>
              <a:buAutoNum type="arabicPeriod"/>
            </a:pPr>
            <a:r>
              <a:rPr lang="zh-CN" altLang="en-US" sz="3200" dirty="0">
                <a:solidFill>
                  <a:prstClr val="black">
                    <a:lumMod val="75000"/>
                    <a:lumOff val="25000"/>
                  </a:prstClr>
                </a:solidFill>
                <a:ea typeface="包图粗黑体" panose="02000800000000000000" pitchFamily="2" charset="-122"/>
              </a:rPr>
              <a:t>排查静态路由简单故障</a:t>
            </a:r>
          </a:p>
          <a:p>
            <a:pPr marL="514350" indent="-514350">
              <a:spcBef>
                <a:spcPts val="675"/>
              </a:spcBef>
              <a:buAutoNum type="arabicPeriod"/>
            </a:pPr>
            <a:endParaRPr lang="zh-CN" altLang="en-US" sz="3200" dirty="0"/>
          </a:p>
          <a:p>
            <a:endParaRPr lang="zh-CN" altLang="en-US" dirty="0"/>
          </a:p>
        </p:txBody>
      </p:sp>
    </p:spTree>
    <p:extLst>
      <p:ext uri="{BB962C8B-B14F-4D97-AF65-F5344CB8AC3E}">
        <p14:creationId xmlns:p14="http://schemas.microsoft.com/office/powerpoint/2010/main" val="221132610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Line 10"/>
          <p:cNvSpPr>
            <a:spLocks noChangeShapeType="1"/>
          </p:cNvSpPr>
          <p:nvPr/>
        </p:nvSpPr>
        <p:spPr bwMode="auto">
          <a:xfrm>
            <a:off x="4232276" y="5457825"/>
            <a:ext cx="2555875" cy="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solidFill>
                <a:srgbClr val="FF0000"/>
              </a:solidFill>
              <a:ea typeface="黑体" pitchFamily="2" charset="-122"/>
            </a:endParaRPr>
          </a:p>
        </p:txBody>
      </p:sp>
      <p:sp>
        <p:nvSpPr>
          <p:cNvPr id="38" name="Line 10"/>
          <p:cNvSpPr>
            <a:spLocks noChangeShapeType="1"/>
          </p:cNvSpPr>
          <p:nvPr/>
        </p:nvSpPr>
        <p:spPr bwMode="auto">
          <a:xfrm>
            <a:off x="4227514" y="3446463"/>
            <a:ext cx="2555875" cy="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ea typeface="黑体" pitchFamily="2" charset="-122"/>
            </a:endParaRPr>
          </a:p>
        </p:txBody>
      </p:sp>
      <p:sp>
        <p:nvSpPr>
          <p:cNvPr id="42" name="Line 10"/>
          <p:cNvSpPr>
            <a:spLocks noChangeShapeType="1"/>
          </p:cNvSpPr>
          <p:nvPr/>
        </p:nvSpPr>
        <p:spPr bwMode="auto">
          <a:xfrm>
            <a:off x="3806825" y="3727450"/>
            <a:ext cx="431800" cy="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ea typeface="黑体" pitchFamily="2" charset="-122"/>
            </a:endParaRPr>
          </a:p>
        </p:txBody>
      </p:sp>
      <p:sp>
        <p:nvSpPr>
          <p:cNvPr id="44" name="AutoShape 4"/>
          <p:cNvSpPr>
            <a:spLocks noChangeArrowheads="1"/>
          </p:cNvSpPr>
          <p:nvPr/>
        </p:nvSpPr>
        <p:spPr bwMode="auto">
          <a:xfrm>
            <a:off x="1820848" y="3543863"/>
            <a:ext cx="2132012" cy="374571"/>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ea typeface="楷体_GB2312" pitchFamily="49" charset="-122"/>
              </a:rPr>
              <a:t>静态路由</a:t>
            </a:r>
          </a:p>
        </p:txBody>
      </p:sp>
      <p:sp>
        <p:nvSpPr>
          <p:cNvPr id="46" name="Line 36"/>
          <p:cNvSpPr>
            <a:spLocks noChangeShapeType="1"/>
          </p:cNvSpPr>
          <p:nvPr/>
        </p:nvSpPr>
        <p:spPr bwMode="auto">
          <a:xfrm>
            <a:off x="4238625" y="1757363"/>
            <a:ext cx="0" cy="370840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ea typeface="黑体" pitchFamily="2" charset="-122"/>
            </a:endParaRPr>
          </a:p>
        </p:txBody>
      </p:sp>
      <p:sp>
        <p:nvSpPr>
          <p:cNvPr id="48" name="AutoShape 5"/>
          <p:cNvSpPr>
            <a:spLocks noChangeArrowheads="1"/>
          </p:cNvSpPr>
          <p:nvPr/>
        </p:nvSpPr>
        <p:spPr bwMode="auto">
          <a:xfrm>
            <a:off x="4480883" y="3262622"/>
            <a:ext cx="2160000" cy="374571"/>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ea typeface="楷体_GB2312" pitchFamily="49" charset="-122"/>
              </a:rPr>
              <a:t>静态路由和默认路由</a:t>
            </a:r>
          </a:p>
        </p:txBody>
      </p:sp>
      <p:sp>
        <p:nvSpPr>
          <p:cNvPr id="49" name="Line 16"/>
          <p:cNvSpPr>
            <a:spLocks noChangeShapeType="1"/>
          </p:cNvSpPr>
          <p:nvPr/>
        </p:nvSpPr>
        <p:spPr bwMode="auto">
          <a:xfrm>
            <a:off x="6783388" y="2617788"/>
            <a:ext cx="468312" cy="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ea typeface="黑体" pitchFamily="2" charset="-122"/>
            </a:endParaRPr>
          </a:p>
        </p:txBody>
      </p:sp>
      <p:sp>
        <p:nvSpPr>
          <p:cNvPr id="50" name="AutoShape 18"/>
          <p:cNvSpPr>
            <a:spLocks noChangeArrowheads="1"/>
          </p:cNvSpPr>
          <p:nvPr/>
        </p:nvSpPr>
        <p:spPr bwMode="auto">
          <a:xfrm>
            <a:off x="7253314" y="2428869"/>
            <a:ext cx="2700338" cy="374571"/>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ea typeface="楷体_GB2312" pitchFamily="49" charset="-122"/>
              </a:rPr>
              <a:t>静态路由</a:t>
            </a:r>
          </a:p>
        </p:txBody>
      </p:sp>
      <p:sp>
        <p:nvSpPr>
          <p:cNvPr id="51" name="Line 37"/>
          <p:cNvSpPr>
            <a:spLocks noChangeShapeType="1"/>
          </p:cNvSpPr>
          <p:nvPr/>
        </p:nvSpPr>
        <p:spPr bwMode="auto">
          <a:xfrm flipH="1">
            <a:off x="6791326" y="2598739"/>
            <a:ext cx="3175" cy="1800225"/>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ea typeface="黑体" pitchFamily="2" charset="-122"/>
            </a:endParaRPr>
          </a:p>
        </p:txBody>
      </p:sp>
      <p:sp>
        <p:nvSpPr>
          <p:cNvPr id="52" name="AutoShape 5"/>
          <p:cNvSpPr>
            <a:spLocks noChangeArrowheads="1"/>
          </p:cNvSpPr>
          <p:nvPr/>
        </p:nvSpPr>
        <p:spPr bwMode="auto">
          <a:xfrm>
            <a:off x="4480883" y="5143512"/>
            <a:ext cx="2160000" cy="646986"/>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defRPr/>
            </a:pPr>
            <a:r>
              <a:rPr lang="zh-CN" altLang="en-US" sz="1600" b="1" dirty="0">
                <a:solidFill>
                  <a:schemeClr val="tx2"/>
                </a:solidFill>
                <a:ea typeface="楷体_GB2312" pitchFamily="49" charset="-122"/>
              </a:rPr>
              <a:t>静态路由和默认路由的配置</a:t>
            </a:r>
          </a:p>
        </p:txBody>
      </p:sp>
      <p:sp>
        <p:nvSpPr>
          <p:cNvPr id="53" name="Line 36"/>
          <p:cNvSpPr>
            <a:spLocks noChangeShapeType="1"/>
          </p:cNvSpPr>
          <p:nvPr/>
        </p:nvSpPr>
        <p:spPr bwMode="auto">
          <a:xfrm rot="16200000" flipH="1">
            <a:off x="5516563" y="474663"/>
            <a:ext cx="0" cy="2555875"/>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solidFill>
                <a:srgbClr val="FF0000"/>
              </a:solidFill>
              <a:ea typeface="黑体" pitchFamily="2" charset="-122"/>
            </a:endParaRPr>
          </a:p>
        </p:txBody>
      </p:sp>
      <p:sp>
        <p:nvSpPr>
          <p:cNvPr id="54" name="AutoShape 5"/>
          <p:cNvSpPr>
            <a:spLocks noChangeArrowheads="1"/>
          </p:cNvSpPr>
          <p:nvPr/>
        </p:nvSpPr>
        <p:spPr bwMode="auto">
          <a:xfrm>
            <a:off x="4480883" y="1571612"/>
            <a:ext cx="2160000" cy="374650"/>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chemeClr val="tx2"/>
                </a:solidFill>
                <a:ea typeface="楷体_GB2312" pitchFamily="49" charset="-122"/>
              </a:rPr>
              <a:t>路由原理</a:t>
            </a:r>
          </a:p>
        </p:txBody>
      </p:sp>
      <p:sp>
        <p:nvSpPr>
          <p:cNvPr id="55" name="Line 16"/>
          <p:cNvSpPr>
            <a:spLocks noChangeShapeType="1"/>
          </p:cNvSpPr>
          <p:nvPr/>
        </p:nvSpPr>
        <p:spPr bwMode="auto">
          <a:xfrm>
            <a:off x="6783388" y="3070225"/>
            <a:ext cx="468312" cy="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ea typeface="黑体" pitchFamily="2" charset="-122"/>
            </a:endParaRPr>
          </a:p>
        </p:txBody>
      </p:sp>
      <p:sp>
        <p:nvSpPr>
          <p:cNvPr id="56" name="Line 25"/>
          <p:cNvSpPr>
            <a:spLocks noChangeShapeType="1"/>
          </p:cNvSpPr>
          <p:nvPr/>
        </p:nvSpPr>
        <p:spPr bwMode="auto">
          <a:xfrm flipV="1">
            <a:off x="6783388" y="5764213"/>
            <a:ext cx="468312" cy="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solidFill>
                <a:srgbClr val="FF0000"/>
              </a:solidFill>
              <a:ea typeface="黑体" pitchFamily="2" charset="-122"/>
            </a:endParaRPr>
          </a:p>
        </p:txBody>
      </p:sp>
      <p:sp>
        <p:nvSpPr>
          <p:cNvPr id="57" name="Line 16"/>
          <p:cNvSpPr>
            <a:spLocks noChangeShapeType="1"/>
          </p:cNvSpPr>
          <p:nvPr/>
        </p:nvSpPr>
        <p:spPr bwMode="auto">
          <a:xfrm>
            <a:off x="6783388" y="5159375"/>
            <a:ext cx="468312" cy="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solidFill>
                <a:srgbClr val="FF0000"/>
              </a:solidFill>
              <a:ea typeface="黑体" pitchFamily="2" charset="-122"/>
            </a:endParaRPr>
          </a:p>
        </p:txBody>
      </p:sp>
      <p:sp>
        <p:nvSpPr>
          <p:cNvPr id="58" name="AutoShape 28"/>
          <p:cNvSpPr>
            <a:spLocks noChangeArrowheads="1"/>
          </p:cNvSpPr>
          <p:nvPr/>
        </p:nvSpPr>
        <p:spPr bwMode="auto">
          <a:xfrm>
            <a:off x="7253314" y="2911554"/>
            <a:ext cx="2700338" cy="374571"/>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ea typeface="楷体_GB2312" pitchFamily="49" charset="-122"/>
              </a:rPr>
              <a:t>默认路由</a:t>
            </a:r>
          </a:p>
        </p:txBody>
      </p:sp>
      <p:sp>
        <p:nvSpPr>
          <p:cNvPr id="59" name="AutoShape 28"/>
          <p:cNvSpPr>
            <a:spLocks noChangeArrowheads="1"/>
          </p:cNvSpPr>
          <p:nvPr/>
        </p:nvSpPr>
        <p:spPr bwMode="auto">
          <a:xfrm>
            <a:off x="7253314" y="4972370"/>
            <a:ext cx="2700338" cy="374571"/>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FF0000"/>
                </a:solidFill>
                <a:ea typeface="楷体_GB2312" pitchFamily="49" charset="-122"/>
              </a:rPr>
              <a:t>静态路由配置命令</a:t>
            </a:r>
          </a:p>
        </p:txBody>
      </p:sp>
      <p:sp>
        <p:nvSpPr>
          <p:cNvPr id="60" name="AutoShape 28"/>
          <p:cNvSpPr>
            <a:spLocks noChangeArrowheads="1"/>
          </p:cNvSpPr>
          <p:nvPr/>
        </p:nvSpPr>
        <p:spPr bwMode="auto">
          <a:xfrm>
            <a:off x="7253314" y="5582654"/>
            <a:ext cx="2700338" cy="374571"/>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FF0000"/>
                </a:solidFill>
                <a:ea typeface="楷体_GB2312" pitchFamily="49" charset="-122"/>
              </a:rPr>
              <a:t>静态路由的故障案例</a:t>
            </a:r>
          </a:p>
        </p:txBody>
      </p:sp>
      <p:sp>
        <p:nvSpPr>
          <p:cNvPr id="61" name="Line 16"/>
          <p:cNvSpPr>
            <a:spLocks noChangeShapeType="1"/>
          </p:cNvSpPr>
          <p:nvPr/>
        </p:nvSpPr>
        <p:spPr bwMode="auto">
          <a:xfrm>
            <a:off x="6783388" y="3714750"/>
            <a:ext cx="468312" cy="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ea typeface="黑体" pitchFamily="2" charset="-122"/>
            </a:endParaRPr>
          </a:p>
        </p:txBody>
      </p:sp>
      <p:sp>
        <p:nvSpPr>
          <p:cNvPr id="62" name="Line 16"/>
          <p:cNvSpPr>
            <a:spLocks noChangeShapeType="1"/>
          </p:cNvSpPr>
          <p:nvPr/>
        </p:nvSpPr>
        <p:spPr bwMode="auto">
          <a:xfrm>
            <a:off x="6783388" y="4389438"/>
            <a:ext cx="468312" cy="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ea typeface="黑体" pitchFamily="2" charset="-122"/>
            </a:endParaRPr>
          </a:p>
        </p:txBody>
      </p:sp>
      <p:sp>
        <p:nvSpPr>
          <p:cNvPr id="63" name="AutoShape 28"/>
          <p:cNvSpPr>
            <a:spLocks noChangeArrowheads="1"/>
          </p:cNvSpPr>
          <p:nvPr/>
        </p:nvSpPr>
        <p:spPr bwMode="auto">
          <a:xfrm>
            <a:off x="7253314" y="3424956"/>
            <a:ext cx="2700338" cy="646986"/>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defRPr/>
            </a:pPr>
            <a:r>
              <a:rPr lang="zh-CN" altLang="en-US" sz="1600" b="1" dirty="0">
                <a:solidFill>
                  <a:srgbClr val="FF0000"/>
                </a:solidFill>
                <a:ea typeface="楷体_GB2312" pitchFamily="49" charset="-122"/>
              </a:rPr>
              <a:t>路由器转发数据包的封装过程</a:t>
            </a:r>
          </a:p>
        </p:txBody>
      </p:sp>
      <p:sp>
        <p:nvSpPr>
          <p:cNvPr id="64" name="AutoShape 28"/>
          <p:cNvSpPr>
            <a:spLocks noChangeArrowheads="1"/>
          </p:cNvSpPr>
          <p:nvPr/>
        </p:nvSpPr>
        <p:spPr bwMode="auto">
          <a:xfrm>
            <a:off x="7253314" y="4214819"/>
            <a:ext cx="2700338" cy="374571"/>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000000"/>
                </a:solidFill>
                <a:ea typeface="楷体_GB2312" pitchFamily="49" charset="-122"/>
              </a:rPr>
              <a:t>交换与路由对比</a:t>
            </a:r>
          </a:p>
        </p:txBody>
      </p:sp>
      <p:sp>
        <p:nvSpPr>
          <p:cNvPr id="65" name="Line 16"/>
          <p:cNvSpPr>
            <a:spLocks noChangeShapeType="1"/>
          </p:cNvSpPr>
          <p:nvPr/>
        </p:nvSpPr>
        <p:spPr bwMode="auto">
          <a:xfrm>
            <a:off x="6783388" y="1449388"/>
            <a:ext cx="468312" cy="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solidFill>
                <a:srgbClr val="FF0000"/>
              </a:solidFill>
              <a:ea typeface="黑体" pitchFamily="2" charset="-122"/>
            </a:endParaRPr>
          </a:p>
        </p:txBody>
      </p:sp>
      <p:sp>
        <p:nvSpPr>
          <p:cNvPr id="66" name="Line 16"/>
          <p:cNvSpPr>
            <a:spLocks noChangeShapeType="1"/>
          </p:cNvSpPr>
          <p:nvPr/>
        </p:nvSpPr>
        <p:spPr bwMode="auto">
          <a:xfrm>
            <a:off x="6783388" y="2051050"/>
            <a:ext cx="468312" cy="0"/>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solidFill>
                <a:srgbClr val="FF0000"/>
              </a:solidFill>
              <a:ea typeface="黑体" pitchFamily="2" charset="-122"/>
            </a:endParaRPr>
          </a:p>
        </p:txBody>
      </p:sp>
      <p:sp>
        <p:nvSpPr>
          <p:cNvPr id="67" name="Line 37"/>
          <p:cNvSpPr>
            <a:spLocks noChangeShapeType="1"/>
          </p:cNvSpPr>
          <p:nvPr/>
        </p:nvSpPr>
        <p:spPr bwMode="auto">
          <a:xfrm flipH="1">
            <a:off x="6791326" y="1449389"/>
            <a:ext cx="3175" cy="611187"/>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a:solidFill>
                <a:srgbClr val="FF0000"/>
              </a:solidFill>
              <a:ea typeface="黑体" pitchFamily="2" charset="-122"/>
            </a:endParaRPr>
          </a:p>
        </p:txBody>
      </p:sp>
      <p:sp>
        <p:nvSpPr>
          <p:cNvPr id="68" name="AutoShape 18"/>
          <p:cNvSpPr>
            <a:spLocks noChangeArrowheads="1"/>
          </p:cNvSpPr>
          <p:nvPr/>
        </p:nvSpPr>
        <p:spPr bwMode="auto">
          <a:xfrm>
            <a:off x="7253314" y="1275481"/>
            <a:ext cx="2700338" cy="374571"/>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FF0000"/>
                </a:solidFill>
                <a:ea typeface="楷体_GB2312" pitchFamily="49" charset="-122"/>
              </a:rPr>
              <a:t>路由器的工作原理</a:t>
            </a:r>
          </a:p>
        </p:txBody>
      </p:sp>
      <p:sp>
        <p:nvSpPr>
          <p:cNvPr id="69" name="AutoShape 18"/>
          <p:cNvSpPr>
            <a:spLocks noChangeArrowheads="1"/>
          </p:cNvSpPr>
          <p:nvPr/>
        </p:nvSpPr>
        <p:spPr bwMode="auto">
          <a:xfrm>
            <a:off x="7253314" y="1857871"/>
            <a:ext cx="2700338" cy="374571"/>
          </a:xfrm>
          <a:prstGeom prst="roundRect">
            <a:avLst>
              <a:gd name="adj" fmla="val 16667"/>
            </a:avLst>
          </a:prstGeom>
          <a:ln w="28575">
            <a:headEnd/>
            <a:tailEnd/>
          </a:ln>
        </p:spPr>
        <p:style>
          <a:lnRef idx="2">
            <a:schemeClr val="accent2"/>
          </a:lnRef>
          <a:fillRef idx="1">
            <a:schemeClr val="lt1"/>
          </a:fillRef>
          <a:effectRef idx="0">
            <a:schemeClr val="accent2"/>
          </a:effectRef>
          <a:fontRef idx="minor">
            <a:schemeClr val="dk1"/>
          </a:fontRef>
        </p:style>
        <p:txBody>
          <a:bodyPr anchor="ctr">
            <a:spAutoFit/>
          </a:bodyPr>
          <a:lstStyle/>
          <a:p>
            <a:pPr algn="ctr">
              <a:defRPr/>
            </a:pPr>
            <a:r>
              <a:rPr lang="zh-CN" altLang="en-US" sz="1600" b="1" dirty="0">
                <a:solidFill>
                  <a:srgbClr val="FF0000"/>
                </a:solidFill>
                <a:ea typeface="楷体_GB2312" pitchFamily="49" charset="-122"/>
              </a:rPr>
              <a:t>路由表的形成</a:t>
            </a:r>
          </a:p>
        </p:txBody>
      </p:sp>
      <p:sp>
        <p:nvSpPr>
          <p:cNvPr id="70" name="Line 37"/>
          <p:cNvSpPr>
            <a:spLocks noChangeShapeType="1"/>
          </p:cNvSpPr>
          <p:nvPr/>
        </p:nvSpPr>
        <p:spPr bwMode="auto">
          <a:xfrm flipH="1">
            <a:off x="6791325" y="5162550"/>
            <a:ext cx="0" cy="611188"/>
          </a:xfrm>
          <a:prstGeom prst="line">
            <a:avLst/>
          </a:prstGeom>
          <a:ln w="28575">
            <a:headEnd/>
            <a:tailEnd/>
          </a:ln>
        </p:spPr>
        <p:style>
          <a:lnRef idx="2">
            <a:schemeClr val="accent2"/>
          </a:lnRef>
          <a:fillRef idx="1">
            <a:schemeClr val="lt1"/>
          </a:fillRef>
          <a:effectRef idx="0">
            <a:schemeClr val="accent2"/>
          </a:effectRef>
          <a:fontRef idx="minor">
            <a:schemeClr val="dk1"/>
          </a:fontRef>
        </p:style>
        <p:txBody>
          <a:bodyPr>
            <a:spAutoFit/>
          </a:bodyPr>
          <a:lstStyle/>
          <a:p>
            <a:pPr>
              <a:defRPr/>
            </a:pPr>
            <a:endParaRPr lang="zh-CN" altLang="en-US" dirty="0">
              <a:solidFill>
                <a:srgbClr val="FF0000"/>
              </a:solidFill>
              <a:ea typeface="黑体" pitchFamily="2" charset="-122"/>
            </a:endParaRPr>
          </a:p>
        </p:txBody>
      </p:sp>
      <p:sp>
        <p:nvSpPr>
          <p:cNvPr id="32" name="标题 2"/>
          <p:cNvSpPr>
            <a:spLocks noGrp="1"/>
          </p:cNvSpPr>
          <p:nvPr>
            <p:ph type="title"/>
          </p:nvPr>
        </p:nvSpPr>
        <p:spPr>
          <a:xfrm>
            <a:off x="1752600" y="146032"/>
            <a:ext cx="8763000" cy="639763"/>
          </a:xfrm>
        </p:spPr>
        <p:txBody>
          <a:bodyPr/>
          <a:lstStyle/>
          <a:p>
            <a:r>
              <a:rPr lang="zh-CN" altLang="en-US" dirty="0"/>
              <a:t>本章结构</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withEffect">
                                  <p:stCondLst>
                                    <p:cond delay="0"/>
                                  </p:stCondLst>
                                  <p:iterate type="lt">
                                    <p:tmPct val="50000"/>
                                  </p:iterate>
                                  <p:childTnLst>
                                    <p:set>
                                      <p:cBhvr>
                                        <p:cTn id="6" dur="1" fill="hold">
                                          <p:stCondLst>
                                            <p:cond delay="0"/>
                                          </p:stCondLst>
                                        </p:cTn>
                                        <p:tgtEl>
                                          <p:spTgt spid="44"/>
                                        </p:tgtEl>
                                        <p:attrNameLst>
                                          <p:attrName>style.visibility</p:attrName>
                                        </p:attrNameLst>
                                      </p:cBhvr>
                                      <p:to>
                                        <p:strVal val="visible"/>
                                      </p:to>
                                    </p:set>
                                    <p:anim calcmode="discrete" valueType="clr">
                                      <p:cBhvr override="childStyle">
                                        <p:cTn id="7" dur="80"/>
                                        <p:tgtEl>
                                          <p:spTgt spid="4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4"/>
                                        </p:tgtEl>
                                        <p:attrNameLst>
                                          <p:attrName>fillcolor</p:attrName>
                                        </p:attrNameLst>
                                      </p:cBhvr>
                                      <p:tavLst>
                                        <p:tav tm="0">
                                          <p:val>
                                            <p:clrVal>
                                              <a:schemeClr val="accent2"/>
                                            </p:clrVal>
                                          </p:val>
                                        </p:tav>
                                        <p:tav tm="50000">
                                          <p:val>
                                            <p:clrVal>
                                              <a:schemeClr val="hlink"/>
                                            </p:clrVal>
                                          </p:val>
                                        </p:tav>
                                      </p:tavLst>
                                    </p:anim>
                                    <p:set>
                                      <p:cBhvr>
                                        <p:cTn id="9" dur="80"/>
                                        <p:tgtEl>
                                          <p:spTgt spid="44"/>
                                        </p:tgtEl>
                                        <p:attrNameLst>
                                          <p:attrName>fill.type</p:attrName>
                                        </p:attrNameLst>
                                      </p:cBhvr>
                                      <p:to>
                                        <p:strVal val="solid"/>
                                      </p:to>
                                    </p:set>
                                  </p:childTnLst>
                                </p:cTn>
                              </p:par>
                            </p:childTnLst>
                          </p:cTn>
                        </p:par>
                        <p:par>
                          <p:cTn id="10" fill="hold">
                            <p:stCondLst>
                              <p:cond delay="200"/>
                            </p:stCondLst>
                            <p:childTnLst>
                              <p:par>
                                <p:cTn id="11" presetID="29" presetClass="entr" presetSubtype="0"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p:cTn id="13" dur="100" fill="hold"/>
                                        <p:tgtEl>
                                          <p:spTgt spid="42"/>
                                        </p:tgtEl>
                                        <p:attrNameLst>
                                          <p:attrName>ppt_x</p:attrName>
                                        </p:attrNameLst>
                                      </p:cBhvr>
                                      <p:tavLst>
                                        <p:tav tm="0">
                                          <p:val>
                                            <p:strVal val="#ppt_x-.2"/>
                                          </p:val>
                                        </p:tav>
                                        <p:tav tm="100000">
                                          <p:val>
                                            <p:strVal val="#ppt_x"/>
                                          </p:val>
                                        </p:tav>
                                      </p:tavLst>
                                    </p:anim>
                                    <p:anim calcmode="lin" valueType="num">
                                      <p:cBhvr>
                                        <p:cTn id="14" dur="100" fill="hold"/>
                                        <p:tgtEl>
                                          <p:spTgt spid="42"/>
                                        </p:tgtEl>
                                        <p:attrNameLst>
                                          <p:attrName>ppt_y</p:attrName>
                                        </p:attrNameLst>
                                      </p:cBhvr>
                                      <p:tavLst>
                                        <p:tav tm="0">
                                          <p:val>
                                            <p:strVal val="#ppt_y"/>
                                          </p:val>
                                        </p:tav>
                                        <p:tav tm="100000">
                                          <p:val>
                                            <p:strVal val="#ppt_y"/>
                                          </p:val>
                                        </p:tav>
                                      </p:tavLst>
                                    </p:anim>
                                    <p:animEffect transition="in" filter="wipe(right)" prLst="gradientSize: 0.1">
                                      <p:cBhvr>
                                        <p:cTn id="15" dur="100"/>
                                        <p:tgtEl>
                                          <p:spTgt spid="42"/>
                                        </p:tgtEl>
                                      </p:cBhvr>
                                    </p:animEffect>
                                  </p:childTnLst>
                                </p:cTn>
                              </p:par>
                            </p:childTnLst>
                          </p:cTn>
                        </p:par>
                        <p:par>
                          <p:cTn id="16" fill="hold">
                            <p:stCondLst>
                              <p:cond delay="300"/>
                            </p:stCondLst>
                            <p:childTnLst>
                              <p:par>
                                <p:cTn id="17" presetID="29" presetClass="entr" presetSubtype="0" fill="hold" grpId="0" nodeType="afterEffect">
                                  <p:stCondLst>
                                    <p:cond delay="0"/>
                                  </p:stCondLst>
                                  <p:childTnLst>
                                    <p:set>
                                      <p:cBhvr>
                                        <p:cTn id="18" dur="1" fill="hold">
                                          <p:stCondLst>
                                            <p:cond delay="0"/>
                                          </p:stCondLst>
                                        </p:cTn>
                                        <p:tgtEl>
                                          <p:spTgt spid="46"/>
                                        </p:tgtEl>
                                        <p:attrNameLst>
                                          <p:attrName>style.visibility</p:attrName>
                                        </p:attrNameLst>
                                      </p:cBhvr>
                                      <p:to>
                                        <p:strVal val="visible"/>
                                      </p:to>
                                    </p:set>
                                    <p:anim calcmode="lin" valueType="num">
                                      <p:cBhvr>
                                        <p:cTn id="19" dur="100" fill="hold"/>
                                        <p:tgtEl>
                                          <p:spTgt spid="46"/>
                                        </p:tgtEl>
                                        <p:attrNameLst>
                                          <p:attrName>ppt_x</p:attrName>
                                        </p:attrNameLst>
                                      </p:cBhvr>
                                      <p:tavLst>
                                        <p:tav tm="0">
                                          <p:val>
                                            <p:strVal val="#ppt_x-.2"/>
                                          </p:val>
                                        </p:tav>
                                        <p:tav tm="100000">
                                          <p:val>
                                            <p:strVal val="#ppt_x"/>
                                          </p:val>
                                        </p:tav>
                                      </p:tavLst>
                                    </p:anim>
                                    <p:anim calcmode="lin" valueType="num">
                                      <p:cBhvr>
                                        <p:cTn id="20" dur="100" fill="hold"/>
                                        <p:tgtEl>
                                          <p:spTgt spid="46"/>
                                        </p:tgtEl>
                                        <p:attrNameLst>
                                          <p:attrName>ppt_y</p:attrName>
                                        </p:attrNameLst>
                                      </p:cBhvr>
                                      <p:tavLst>
                                        <p:tav tm="0">
                                          <p:val>
                                            <p:strVal val="#ppt_y"/>
                                          </p:val>
                                        </p:tav>
                                        <p:tav tm="100000">
                                          <p:val>
                                            <p:strVal val="#ppt_y"/>
                                          </p:val>
                                        </p:tav>
                                      </p:tavLst>
                                    </p:anim>
                                    <p:animEffect transition="in" filter="wipe(right)" prLst="gradientSize: 0.1">
                                      <p:cBhvr>
                                        <p:cTn id="21" dur="100"/>
                                        <p:tgtEl>
                                          <p:spTgt spid="46"/>
                                        </p:tgtEl>
                                      </p:cBhvr>
                                    </p:animEffect>
                                  </p:childTnLst>
                                </p:cTn>
                              </p:par>
                            </p:childTnLst>
                          </p:cTn>
                        </p:par>
                        <p:par>
                          <p:cTn id="22" fill="hold">
                            <p:stCondLst>
                              <p:cond delay="400"/>
                            </p:stCondLst>
                            <p:childTnLst>
                              <p:par>
                                <p:cTn id="23" presetID="29" presetClass="entr" presetSubtype="0" fill="hold" grpId="0" nodeType="afterEffect">
                                  <p:stCondLst>
                                    <p:cond delay="0"/>
                                  </p:stCondLst>
                                  <p:childTnLst>
                                    <p:set>
                                      <p:cBhvr>
                                        <p:cTn id="24" dur="1" fill="hold">
                                          <p:stCondLst>
                                            <p:cond delay="0"/>
                                          </p:stCondLst>
                                        </p:cTn>
                                        <p:tgtEl>
                                          <p:spTgt spid="53"/>
                                        </p:tgtEl>
                                        <p:attrNameLst>
                                          <p:attrName>style.visibility</p:attrName>
                                        </p:attrNameLst>
                                      </p:cBhvr>
                                      <p:to>
                                        <p:strVal val="visible"/>
                                      </p:to>
                                    </p:set>
                                    <p:anim calcmode="lin" valueType="num">
                                      <p:cBhvr>
                                        <p:cTn id="25" dur="100" fill="hold"/>
                                        <p:tgtEl>
                                          <p:spTgt spid="53"/>
                                        </p:tgtEl>
                                        <p:attrNameLst>
                                          <p:attrName>ppt_x</p:attrName>
                                        </p:attrNameLst>
                                      </p:cBhvr>
                                      <p:tavLst>
                                        <p:tav tm="0">
                                          <p:val>
                                            <p:strVal val="#ppt_x-.2"/>
                                          </p:val>
                                        </p:tav>
                                        <p:tav tm="100000">
                                          <p:val>
                                            <p:strVal val="#ppt_x"/>
                                          </p:val>
                                        </p:tav>
                                      </p:tavLst>
                                    </p:anim>
                                    <p:anim calcmode="lin" valueType="num">
                                      <p:cBhvr>
                                        <p:cTn id="26" dur="100" fill="hold"/>
                                        <p:tgtEl>
                                          <p:spTgt spid="53"/>
                                        </p:tgtEl>
                                        <p:attrNameLst>
                                          <p:attrName>ppt_y</p:attrName>
                                        </p:attrNameLst>
                                      </p:cBhvr>
                                      <p:tavLst>
                                        <p:tav tm="0">
                                          <p:val>
                                            <p:strVal val="#ppt_y"/>
                                          </p:val>
                                        </p:tav>
                                        <p:tav tm="100000">
                                          <p:val>
                                            <p:strVal val="#ppt_y"/>
                                          </p:val>
                                        </p:tav>
                                      </p:tavLst>
                                    </p:anim>
                                    <p:animEffect transition="in" filter="wipe(right)" prLst="gradientSize: 0.1">
                                      <p:cBhvr>
                                        <p:cTn id="27" dur="100"/>
                                        <p:tgtEl>
                                          <p:spTgt spid="53"/>
                                        </p:tgtEl>
                                      </p:cBhvr>
                                    </p:animEffect>
                                  </p:childTnLst>
                                </p:cTn>
                              </p:par>
                              <p:par>
                                <p:cTn id="28" presetID="29"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 calcmode="lin" valueType="num">
                                      <p:cBhvr>
                                        <p:cTn id="30" dur="100" fill="hold"/>
                                        <p:tgtEl>
                                          <p:spTgt spid="38"/>
                                        </p:tgtEl>
                                        <p:attrNameLst>
                                          <p:attrName>ppt_x</p:attrName>
                                        </p:attrNameLst>
                                      </p:cBhvr>
                                      <p:tavLst>
                                        <p:tav tm="0">
                                          <p:val>
                                            <p:strVal val="#ppt_x-.2"/>
                                          </p:val>
                                        </p:tav>
                                        <p:tav tm="100000">
                                          <p:val>
                                            <p:strVal val="#ppt_x"/>
                                          </p:val>
                                        </p:tav>
                                      </p:tavLst>
                                    </p:anim>
                                    <p:anim calcmode="lin" valueType="num">
                                      <p:cBhvr>
                                        <p:cTn id="31" dur="100" fill="hold"/>
                                        <p:tgtEl>
                                          <p:spTgt spid="38"/>
                                        </p:tgtEl>
                                        <p:attrNameLst>
                                          <p:attrName>ppt_y</p:attrName>
                                        </p:attrNameLst>
                                      </p:cBhvr>
                                      <p:tavLst>
                                        <p:tav tm="0">
                                          <p:val>
                                            <p:strVal val="#ppt_y"/>
                                          </p:val>
                                        </p:tav>
                                        <p:tav tm="100000">
                                          <p:val>
                                            <p:strVal val="#ppt_y"/>
                                          </p:val>
                                        </p:tav>
                                      </p:tavLst>
                                    </p:anim>
                                    <p:animEffect transition="in" filter="wipe(right)" prLst="gradientSize: 0.1">
                                      <p:cBhvr>
                                        <p:cTn id="32" dur="100"/>
                                        <p:tgtEl>
                                          <p:spTgt spid="38"/>
                                        </p:tgtEl>
                                      </p:cBhvr>
                                    </p:animEffect>
                                  </p:childTnLst>
                                </p:cTn>
                              </p:par>
                              <p:par>
                                <p:cTn id="33" presetID="29"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 calcmode="lin" valueType="num">
                                      <p:cBhvr>
                                        <p:cTn id="35" dur="100" fill="hold"/>
                                        <p:tgtEl>
                                          <p:spTgt spid="33"/>
                                        </p:tgtEl>
                                        <p:attrNameLst>
                                          <p:attrName>ppt_x</p:attrName>
                                        </p:attrNameLst>
                                      </p:cBhvr>
                                      <p:tavLst>
                                        <p:tav tm="0">
                                          <p:val>
                                            <p:strVal val="#ppt_x-.2"/>
                                          </p:val>
                                        </p:tav>
                                        <p:tav tm="100000">
                                          <p:val>
                                            <p:strVal val="#ppt_x"/>
                                          </p:val>
                                        </p:tav>
                                      </p:tavLst>
                                    </p:anim>
                                    <p:anim calcmode="lin" valueType="num">
                                      <p:cBhvr>
                                        <p:cTn id="36" dur="100" fill="hold"/>
                                        <p:tgtEl>
                                          <p:spTgt spid="33"/>
                                        </p:tgtEl>
                                        <p:attrNameLst>
                                          <p:attrName>ppt_y</p:attrName>
                                        </p:attrNameLst>
                                      </p:cBhvr>
                                      <p:tavLst>
                                        <p:tav tm="0">
                                          <p:val>
                                            <p:strVal val="#ppt_y"/>
                                          </p:val>
                                        </p:tav>
                                        <p:tav tm="100000">
                                          <p:val>
                                            <p:strVal val="#ppt_y"/>
                                          </p:val>
                                        </p:tav>
                                      </p:tavLst>
                                    </p:anim>
                                    <p:animEffect transition="in" filter="wipe(right)" prLst="gradientSize: 0.1">
                                      <p:cBhvr>
                                        <p:cTn id="37" dur="100"/>
                                        <p:tgtEl>
                                          <p:spTgt spid="33"/>
                                        </p:tgtEl>
                                      </p:cBhvr>
                                    </p:animEffect>
                                  </p:childTnLst>
                                </p:cTn>
                              </p:par>
                            </p:childTnLst>
                          </p:cTn>
                        </p:par>
                        <p:par>
                          <p:cTn id="38" fill="hold">
                            <p:stCondLst>
                              <p:cond delay="500"/>
                            </p:stCondLst>
                            <p:childTnLst>
                              <p:par>
                                <p:cTn id="39" presetID="27" presetClass="entr" presetSubtype="0" fill="hold" grpId="0" nodeType="afterEffect">
                                  <p:stCondLst>
                                    <p:cond delay="0"/>
                                  </p:stCondLst>
                                  <p:iterate type="lt">
                                    <p:tmPct val="50000"/>
                                  </p:iterate>
                                  <p:childTnLst>
                                    <p:set>
                                      <p:cBhvr>
                                        <p:cTn id="40" dur="1" fill="hold">
                                          <p:stCondLst>
                                            <p:cond delay="0"/>
                                          </p:stCondLst>
                                        </p:cTn>
                                        <p:tgtEl>
                                          <p:spTgt spid="54"/>
                                        </p:tgtEl>
                                        <p:attrNameLst>
                                          <p:attrName>style.visibility</p:attrName>
                                        </p:attrNameLst>
                                      </p:cBhvr>
                                      <p:to>
                                        <p:strVal val="visible"/>
                                      </p:to>
                                    </p:set>
                                    <p:anim calcmode="discrete" valueType="clr">
                                      <p:cBhvr override="childStyle">
                                        <p:cTn id="41" dur="100"/>
                                        <p:tgtEl>
                                          <p:spTgt spid="54"/>
                                        </p:tgtEl>
                                        <p:attrNameLst>
                                          <p:attrName>style.color</p:attrName>
                                        </p:attrNameLst>
                                      </p:cBhvr>
                                      <p:tavLst>
                                        <p:tav tm="0">
                                          <p:val>
                                            <p:clrVal>
                                              <a:schemeClr val="accent2"/>
                                            </p:clrVal>
                                          </p:val>
                                        </p:tav>
                                        <p:tav tm="50000">
                                          <p:val>
                                            <p:clrVal>
                                              <a:schemeClr val="hlink"/>
                                            </p:clrVal>
                                          </p:val>
                                        </p:tav>
                                      </p:tavLst>
                                    </p:anim>
                                    <p:anim calcmode="discrete" valueType="clr">
                                      <p:cBhvr>
                                        <p:cTn id="42" dur="100"/>
                                        <p:tgtEl>
                                          <p:spTgt spid="54"/>
                                        </p:tgtEl>
                                        <p:attrNameLst>
                                          <p:attrName>fillcolor</p:attrName>
                                        </p:attrNameLst>
                                      </p:cBhvr>
                                      <p:tavLst>
                                        <p:tav tm="0">
                                          <p:val>
                                            <p:clrVal>
                                              <a:schemeClr val="accent2"/>
                                            </p:clrVal>
                                          </p:val>
                                        </p:tav>
                                        <p:tav tm="50000">
                                          <p:val>
                                            <p:clrVal>
                                              <a:schemeClr val="hlink"/>
                                            </p:clrVal>
                                          </p:val>
                                        </p:tav>
                                      </p:tavLst>
                                    </p:anim>
                                    <p:set>
                                      <p:cBhvr>
                                        <p:cTn id="43" dur="100"/>
                                        <p:tgtEl>
                                          <p:spTgt spid="54"/>
                                        </p:tgtEl>
                                        <p:attrNameLst>
                                          <p:attrName>fill.type</p:attrName>
                                        </p:attrNameLst>
                                      </p:cBhvr>
                                      <p:to>
                                        <p:strVal val="solid"/>
                                      </p:to>
                                    </p:set>
                                  </p:childTnLst>
                                </p:cTn>
                              </p:par>
                              <p:par>
                                <p:cTn id="44" presetID="27" presetClass="entr" presetSubtype="0" fill="hold" grpId="0" nodeType="withEffect">
                                  <p:stCondLst>
                                    <p:cond delay="0"/>
                                  </p:stCondLst>
                                  <p:iterate type="lt">
                                    <p:tmPct val="50000"/>
                                  </p:iterate>
                                  <p:childTnLst>
                                    <p:set>
                                      <p:cBhvr>
                                        <p:cTn id="45" dur="1" fill="hold">
                                          <p:stCondLst>
                                            <p:cond delay="0"/>
                                          </p:stCondLst>
                                        </p:cTn>
                                        <p:tgtEl>
                                          <p:spTgt spid="48"/>
                                        </p:tgtEl>
                                        <p:attrNameLst>
                                          <p:attrName>style.visibility</p:attrName>
                                        </p:attrNameLst>
                                      </p:cBhvr>
                                      <p:to>
                                        <p:strVal val="visible"/>
                                      </p:to>
                                    </p:set>
                                    <p:anim calcmode="discrete" valueType="clr">
                                      <p:cBhvr override="childStyle">
                                        <p:cTn id="46" dur="100"/>
                                        <p:tgtEl>
                                          <p:spTgt spid="48"/>
                                        </p:tgtEl>
                                        <p:attrNameLst>
                                          <p:attrName>style.color</p:attrName>
                                        </p:attrNameLst>
                                      </p:cBhvr>
                                      <p:tavLst>
                                        <p:tav tm="0">
                                          <p:val>
                                            <p:clrVal>
                                              <a:schemeClr val="accent2"/>
                                            </p:clrVal>
                                          </p:val>
                                        </p:tav>
                                        <p:tav tm="50000">
                                          <p:val>
                                            <p:clrVal>
                                              <a:schemeClr val="hlink"/>
                                            </p:clrVal>
                                          </p:val>
                                        </p:tav>
                                      </p:tavLst>
                                    </p:anim>
                                    <p:anim calcmode="discrete" valueType="clr">
                                      <p:cBhvr>
                                        <p:cTn id="47" dur="100"/>
                                        <p:tgtEl>
                                          <p:spTgt spid="48"/>
                                        </p:tgtEl>
                                        <p:attrNameLst>
                                          <p:attrName>fillcolor</p:attrName>
                                        </p:attrNameLst>
                                      </p:cBhvr>
                                      <p:tavLst>
                                        <p:tav tm="0">
                                          <p:val>
                                            <p:clrVal>
                                              <a:schemeClr val="accent2"/>
                                            </p:clrVal>
                                          </p:val>
                                        </p:tav>
                                        <p:tav tm="50000">
                                          <p:val>
                                            <p:clrVal>
                                              <a:schemeClr val="hlink"/>
                                            </p:clrVal>
                                          </p:val>
                                        </p:tav>
                                      </p:tavLst>
                                    </p:anim>
                                    <p:set>
                                      <p:cBhvr>
                                        <p:cTn id="48" dur="100"/>
                                        <p:tgtEl>
                                          <p:spTgt spid="48"/>
                                        </p:tgtEl>
                                        <p:attrNameLst>
                                          <p:attrName>fill.type</p:attrName>
                                        </p:attrNameLst>
                                      </p:cBhvr>
                                      <p:to>
                                        <p:strVal val="solid"/>
                                      </p:to>
                                    </p:set>
                                  </p:childTnLst>
                                </p:cTn>
                              </p:par>
                              <p:par>
                                <p:cTn id="49" presetID="27" presetClass="entr" presetSubtype="0" fill="hold" grpId="0" nodeType="withEffect">
                                  <p:stCondLst>
                                    <p:cond delay="0"/>
                                  </p:stCondLst>
                                  <p:iterate type="lt">
                                    <p:tmPct val="50000"/>
                                  </p:iterate>
                                  <p:childTnLst>
                                    <p:set>
                                      <p:cBhvr>
                                        <p:cTn id="50" dur="1" fill="hold">
                                          <p:stCondLst>
                                            <p:cond delay="0"/>
                                          </p:stCondLst>
                                        </p:cTn>
                                        <p:tgtEl>
                                          <p:spTgt spid="52"/>
                                        </p:tgtEl>
                                        <p:attrNameLst>
                                          <p:attrName>style.visibility</p:attrName>
                                        </p:attrNameLst>
                                      </p:cBhvr>
                                      <p:to>
                                        <p:strVal val="visible"/>
                                      </p:to>
                                    </p:set>
                                    <p:anim calcmode="discrete" valueType="clr">
                                      <p:cBhvr override="childStyle">
                                        <p:cTn id="51" dur="100"/>
                                        <p:tgtEl>
                                          <p:spTgt spid="52"/>
                                        </p:tgtEl>
                                        <p:attrNameLst>
                                          <p:attrName>style.color</p:attrName>
                                        </p:attrNameLst>
                                      </p:cBhvr>
                                      <p:tavLst>
                                        <p:tav tm="0">
                                          <p:val>
                                            <p:clrVal>
                                              <a:schemeClr val="accent2"/>
                                            </p:clrVal>
                                          </p:val>
                                        </p:tav>
                                        <p:tav tm="50000">
                                          <p:val>
                                            <p:clrVal>
                                              <a:schemeClr val="hlink"/>
                                            </p:clrVal>
                                          </p:val>
                                        </p:tav>
                                      </p:tavLst>
                                    </p:anim>
                                    <p:anim calcmode="discrete" valueType="clr">
                                      <p:cBhvr>
                                        <p:cTn id="52" dur="100"/>
                                        <p:tgtEl>
                                          <p:spTgt spid="52"/>
                                        </p:tgtEl>
                                        <p:attrNameLst>
                                          <p:attrName>fillcolor</p:attrName>
                                        </p:attrNameLst>
                                      </p:cBhvr>
                                      <p:tavLst>
                                        <p:tav tm="0">
                                          <p:val>
                                            <p:clrVal>
                                              <a:schemeClr val="accent2"/>
                                            </p:clrVal>
                                          </p:val>
                                        </p:tav>
                                        <p:tav tm="50000">
                                          <p:val>
                                            <p:clrVal>
                                              <a:schemeClr val="hlink"/>
                                            </p:clrVal>
                                          </p:val>
                                        </p:tav>
                                      </p:tavLst>
                                    </p:anim>
                                    <p:set>
                                      <p:cBhvr>
                                        <p:cTn id="53" dur="100"/>
                                        <p:tgtEl>
                                          <p:spTgt spid="52"/>
                                        </p:tgtEl>
                                        <p:attrNameLst>
                                          <p:attrName>fill.type</p:attrName>
                                        </p:attrNameLst>
                                      </p:cBhvr>
                                      <p:to>
                                        <p:strVal val="solid"/>
                                      </p:to>
                                    </p:set>
                                  </p:childTnLst>
                                </p:cTn>
                              </p:par>
                            </p:childTnLst>
                          </p:cTn>
                        </p:par>
                        <p:par>
                          <p:cTn id="54" fill="hold">
                            <p:stCondLst>
                              <p:cond delay="1150"/>
                            </p:stCondLst>
                            <p:childTnLst>
                              <p:par>
                                <p:cTn id="55" presetID="29" presetClass="entr" presetSubtype="0" fill="hold" grpId="0" nodeType="afterEffect">
                                  <p:stCondLst>
                                    <p:cond delay="0"/>
                                  </p:stCondLst>
                                  <p:childTnLst>
                                    <p:set>
                                      <p:cBhvr>
                                        <p:cTn id="56" dur="1" fill="hold">
                                          <p:stCondLst>
                                            <p:cond delay="0"/>
                                          </p:stCondLst>
                                        </p:cTn>
                                        <p:tgtEl>
                                          <p:spTgt spid="67"/>
                                        </p:tgtEl>
                                        <p:attrNameLst>
                                          <p:attrName>style.visibility</p:attrName>
                                        </p:attrNameLst>
                                      </p:cBhvr>
                                      <p:to>
                                        <p:strVal val="visible"/>
                                      </p:to>
                                    </p:set>
                                    <p:anim calcmode="lin" valueType="num">
                                      <p:cBhvr>
                                        <p:cTn id="57" dur="1000" fill="hold"/>
                                        <p:tgtEl>
                                          <p:spTgt spid="67"/>
                                        </p:tgtEl>
                                        <p:attrNameLst>
                                          <p:attrName>ppt_x</p:attrName>
                                        </p:attrNameLst>
                                      </p:cBhvr>
                                      <p:tavLst>
                                        <p:tav tm="0">
                                          <p:val>
                                            <p:strVal val="#ppt_x-.2"/>
                                          </p:val>
                                        </p:tav>
                                        <p:tav tm="100000">
                                          <p:val>
                                            <p:strVal val="#ppt_x"/>
                                          </p:val>
                                        </p:tav>
                                      </p:tavLst>
                                    </p:anim>
                                    <p:anim calcmode="lin" valueType="num">
                                      <p:cBhvr>
                                        <p:cTn id="58" dur="1000" fill="hold"/>
                                        <p:tgtEl>
                                          <p:spTgt spid="67"/>
                                        </p:tgtEl>
                                        <p:attrNameLst>
                                          <p:attrName>ppt_y</p:attrName>
                                        </p:attrNameLst>
                                      </p:cBhvr>
                                      <p:tavLst>
                                        <p:tav tm="0">
                                          <p:val>
                                            <p:strVal val="#ppt_y"/>
                                          </p:val>
                                        </p:tav>
                                        <p:tav tm="100000">
                                          <p:val>
                                            <p:strVal val="#ppt_y"/>
                                          </p:val>
                                        </p:tav>
                                      </p:tavLst>
                                    </p:anim>
                                    <p:animEffect transition="in" filter="wipe(right)" prLst="gradientSize: 0.1">
                                      <p:cBhvr>
                                        <p:cTn id="59" dur="1000"/>
                                        <p:tgtEl>
                                          <p:spTgt spid="67"/>
                                        </p:tgtEl>
                                      </p:cBhvr>
                                    </p:animEffect>
                                  </p:childTnLst>
                                </p:cTn>
                              </p:par>
                              <p:par>
                                <p:cTn id="60" presetID="29" presetClass="entr" presetSubtype="0" fill="hold" grpId="0" nodeType="withEffect">
                                  <p:stCondLst>
                                    <p:cond delay="0"/>
                                  </p:stCondLst>
                                  <p:childTnLst>
                                    <p:set>
                                      <p:cBhvr>
                                        <p:cTn id="61" dur="1" fill="hold">
                                          <p:stCondLst>
                                            <p:cond delay="0"/>
                                          </p:stCondLst>
                                        </p:cTn>
                                        <p:tgtEl>
                                          <p:spTgt spid="51"/>
                                        </p:tgtEl>
                                        <p:attrNameLst>
                                          <p:attrName>style.visibility</p:attrName>
                                        </p:attrNameLst>
                                      </p:cBhvr>
                                      <p:to>
                                        <p:strVal val="visible"/>
                                      </p:to>
                                    </p:set>
                                    <p:anim calcmode="lin" valueType="num">
                                      <p:cBhvr>
                                        <p:cTn id="62" dur="1000" fill="hold"/>
                                        <p:tgtEl>
                                          <p:spTgt spid="51"/>
                                        </p:tgtEl>
                                        <p:attrNameLst>
                                          <p:attrName>ppt_x</p:attrName>
                                        </p:attrNameLst>
                                      </p:cBhvr>
                                      <p:tavLst>
                                        <p:tav tm="0">
                                          <p:val>
                                            <p:strVal val="#ppt_x-.2"/>
                                          </p:val>
                                        </p:tav>
                                        <p:tav tm="100000">
                                          <p:val>
                                            <p:strVal val="#ppt_x"/>
                                          </p:val>
                                        </p:tav>
                                      </p:tavLst>
                                    </p:anim>
                                    <p:anim calcmode="lin" valueType="num">
                                      <p:cBhvr>
                                        <p:cTn id="63" dur="1000" fill="hold"/>
                                        <p:tgtEl>
                                          <p:spTgt spid="51"/>
                                        </p:tgtEl>
                                        <p:attrNameLst>
                                          <p:attrName>ppt_y</p:attrName>
                                        </p:attrNameLst>
                                      </p:cBhvr>
                                      <p:tavLst>
                                        <p:tav tm="0">
                                          <p:val>
                                            <p:strVal val="#ppt_y"/>
                                          </p:val>
                                        </p:tav>
                                        <p:tav tm="100000">
                                          <p:val>
                                            <p:strVal val="#ppt_y"/>
                                          </p:val>
                                        </p:tav>
                                      </p:tavLst>
                                    </p:anim>
                                    <p:animEffect transition="in" filter="wipe(right)" prLst="gradientSize: 0.1">
                                      <p:cBhvr>
                                        <p:cTn id="64" dur="1000"/>
                                        <p:tgtEl>
                                          <p:spTgt spid="51"/>
                                        </p:tgtEl>
                                      </p:cBhvr>
                                    </p:animEffect>
                                  </p:childTnLst>
                                </p:cTn>
                              </p:par>
                              <p:par>
                                <p:cTn id="65" presetID="29" presetClass="entr" presetSubtype="0" fill="hold" grpId="0" nodeType="withEffect">
                                  <p:stCondLst>
                                    <p:cond delay="0"/>
                                  </p:stCondLst>
                                  <p:childTnLst>
                                    <p:set>
                                      <p:cBhvr>
                                        <p:cTn id="66" dur="1" fill="hold">
                                          <p:stCondLst>
                                            <p:cond delay="0"/>
                                          </p:stCondLst>
                                        </p:cTn>
                                        <p:tgtEl>
                                          <p:spTgt spid="70"/>
                                        </p:tgtEl>
                                        <p:attrNameLst>
                                          <p:attrName>style.visibility</p:attrName>
                                        </p:attrNameLst>
                                      </p:cBhvr>
                                      <p:to>
                                        <p:strVal val="visible"/>
                                      </p:to>
                                    </p:set>
                                    <p:anim calcmode="lin" valueType="num">
                                      <p:cBhvr>
                                        <p:cTn id="67" dur="1000" fill="hold"/>
                                        <p:tgtEl>
                                          <p:spTgt spid="70"/>
                                        </p:tgtEl>
                                        <p:attrNameLst>
                                          <p:attrName>ppt_x</p:attrName>
                                        </p:attrNameLst>
                                      </p:cBhvr>
                                      <p:tavLst>
                                        <p:tav tm="0">
                                          <p:val>
                                            <p:strVal val="#ppt_x-.2"/>
                                          </p:val>
                                        </p:tav>
                                        <p:tav tm="100000">
                                          <p:val>
                                            <p:strVal val="#ppt_x"/>
                                          </p:val>
                                        </p:tav>
                                      </p:tavLst>
                                    </p:anim>
                                    <p:anim calcmode="lin" valueType="num">
                                      <p:cBhvr>
                                        <p:cTn id="68" dur="1000" fill="hold"/>
                                        <p:tgtEl>
                                          <p:spTgt spid="70"/>
                                        </p:tgtEl>
                                        <p:attrNameLst>
                                          <p:attrName>ppt_y</p:attrName>
                                        </p:attrNameLst>
                                      </p:cBhvr>
                                      <p:tavLst>
                                        <p:tav tm="0">
                                          <p:val>
                                            <p:strVal val="#ppt_y"/>
                                          </p:val>
                                        </p:tav>
                                        <p:tav tm="100000">
                                          <p:val>
                                            <p:strVal val="#ppt_y"/>
                                          </p:val>
                                        </p:tav>
                                      </p:tavLst>
                                    </p:anim>
                                    <p:animEffect transition="in" filter="wipe(right)" prLst="gradientSize: 0.1">
                                      <p:cBhvr>
                                        <p:cTn id="69" dur="1000"/>
                                        <p:tgtEl>
                                          <p:spTgt spid="70"/>
                                        </p:tgtEl>
                                      </p:cBhvr>
                                    </p:animEffect>
                                  </p:childTnLst>
                                </p:cTn>
                              </p:par>
                            </p:childTnLst>
                          </p:cTn>
                        </p:par>
                        <p:par>
                          <p:cTn id="70" fill="hold">
                            <p:stCondLst>
                              <p:cond delay="2150"/>
                            </p:stCondLst>
                            <p:childTnLst>
                              <p:par>
                                <p:cTn id="71" presetID="29" presetClass="entr" presetSubtype="0" fill="hold" grpId="0" nodeType="afterEffect">
                                  <p:stCondLst>
                                    <p:cond delay="0"/>
                                  </p:stCondLst>
                                  <p:childTnLst>
                                    <p:set>
                                      <p:cBhvr>
                                        <p:cTn id="72" dur="1" fill="hold">
                                          <p:stCondLst>
                                            <p:cond delay="0"/>
                                          </p:stCondLst>
                                        </p:cTn>
                                        <p:tgtEl>
                                          <p:spTgt spid="65"/>
                                        </p:tgtEl>
                                        <p:attrNameLst>
                                          <p:attrName>style.visibility</p:attrName>
                                        </p:attrNameLst>
                                      </p:cBhvr>
                                      <p:to>
                                        <p:strVal val="visible"/>
                                      </p:to>
                                    </p:set>
                                    <p:anim calcmode="lin" valueType="num">
                                      <p:cBhvr>
                                        <p:cTn id="73" dur="1000" fill="hold"/>
                                        <p:tgtEl>
                                          <p:spTgt spid="65"/>
                                        </p:tgtEl>
                                        <p:attrNameLst>
                                          <p:attrName>ppt_x</p:attrName>
                                        </p:attrNameLst>
                                      </p:cBhvr>
                                      <p:tavLst>
                                        <p:tav tm="0">
                                          <p:val>
                                            <p:strVal val="#ppt_x-.2"/>
                                          </p:val>
                                        </p:tav>
                                        <p:tav tm="100000">
                                          <p:val>
                                            <p:strVal val="#ppt_x"/>
                                          </p:val>
                                        </p:tav>
                                      </p:tavLst>
                                    </p:anim>
                                    <p:anim calcmode="lin" valueType="num">
                                      <p:cBhvr>
                                        <p:cTn id="74" dur="1000" fill="hold"/>
                                        <p:tgtEl>
                                          <p:spTgt spid="65"/>
                                        </p:tgtEl>
                                        <p:attrNameLst>
                                          <p:attrName>ppt_y</p:attrName>
                                        </p:attrNameLst>
                                      </p:cBhvr>
                                      <p:tavLst>
                                        <p:tav tm="0">
                                          <p:val>
                                            <p:strVal val="#ppt_y"/>
                                          </p:val>
                                        </p:tav>
                                        <p:tav tm="100000">
                                          <p:val>
                                            <p:strVal val="#ppt_y"/>
                                          </p:val>
                                        </p:tav>
                                      </p:tavLst>
                                    </p:anim>
                                    <p:animEffect transition="in" filter="wipe(right)" prLst="gradientSize: 0.1">
                                      <p:cBhvr>
                                        <p:cTn id="75" dur="1000"/>
                                        <p:tgtEl>
                                          <p:spTgt spid="65"/>
                                        </p:tgtEl>
                                      </p:cBhvr>
                                    </p:animEffect>
                                  </p:childTnLst>
                                </p:cTn>
                              </p:par>
                              <p:par>
                                <p:cTn id="76" presetID="29" presetClass="entr" presetSubtype="0" fill="hold" grpId="0" nodeType="withEffect">
                                  <p:stCondLst>
                                    <p:cond delay="0"/>
                                  </p:stCondLst>
                                  <p:childTnLst>
                                    <p:set>
                                      <p:cBhvr>
                                        <p:cTn id="77" dur="1" fill="hold">
                                          <p:stCondLst>
                                            <p:cond delay="0"/>
                                          </p:stCondLst>
                                        </p:cTn>
                                        <p:tgtEl>
                                          <p:spTgt spid="66"/>
                                        </p:tgtEl>
                                        <p:attrNameLst>
                                          <p:attrName>style.visibility</p:attrName>
                                        </p:attrNameLst>
                                      </p:cBhvr>
                                      <p:to>
                                        <p:strVal val="visible"/>
                                      </p:to>
                                    </p:set>
                                    <p:anim calcmode="lin" valueType="num">
                                      <p:cBhvr>
                                        <p:cTn id="78" dur="1000" fill="hold"/>
                                        <p:tgtEl>
                                          <p:spTgt spid="66"/>
                                        </p:tgtEl>
                                        <p:attrNameLst>
                                          <p:attrName>ppt_x</p:attrName>
                                        </p:attrNameLst>
                                      </p:cBhvr>
                                      <p:tavLst>
                                        <p:tav tm="0">
                                          <p:val>
                                            <p:strVal val="#ppt_x-.2"/>
                                          </p:val>
                                        </p:tav>
                                        <p:tav tm="100000">
                                          <p:val>
                                            <p:strVal val="#ppt_x"/>
                                          </p:val>
                                        </p:tav>
                                      </p:tavLst>
                                    </p:anim>
                                    <p:anim calcmode="lin" valueType="num">
                                      <p:cBhvr>
                                        <p:cTn id="79" dur="1000" fill="hold"/>
                                        <p:tgtEl>
                                          <p:spTgt spid="66"/>
                                        </p:tgtEl>
                                        <p:attrNameLst>
                                          <p:attrName>ppt_y</p:attrName>
                                        </p:attrNameLst>
                                      </p:cBhvr>
                                      <p:tavLst>
                                        <p:tav tm="0">
                                          <p:val>
                                            <p:strVal val="#ppt_y"/>
                                          </p:val>
                                        </p:tav>
                                        <p:tav tm="100000">
                                          <p:val>
                                            <p:strVal val="#ppt_y"/>
                                          </p:val>
                                        </p:tav>
                                      </p:tavLst>
                                    </p:anim>
                                    <p:animEffect transition="in" filter="wipe(right)" prLst="gradientSize: 0.1">
                                      <p:cBhvr>
                                        <p:cTn id="80" dur="1000"/>
                                        <p:tgtEl>
                                          <p:spTgt spid="66"/>
                                        </p:tgtEl>
                                      </p:cBhvr>
                                    </p:animEffect>
                                  </p:childTnLst>
                                </p:cTn>
                              </p:par>
                              <p:par>
                                <p:cTn id="81" presetID="29" presetClass="entr" presetSubtype="0" fill="hold" grpId="0" nodeType="withEffect">
                                  <p:stCondLst>
                                    <p:cond delay="0"/>
                                  </p:stCondLst>
                                  <p:childTnLst>
                                    <p:set>
                                      <p:cBhvr>
                                        <p:cTn id="82" dur="1" fill="hold">
                                          <p:stCondLst>
                                            <p:cond delay="0"/>
                                          </p:stCondLst>
                                        </p:cTn>
                                        <p:tgtEl>
                                          <p:spTgt spid="49"/>
                                        </p:tgtEl>
                                        <p:attrNameLst>
                                          <p:attrName>style.visibility</p:attrName>
                                        </p:attrNameLst>
                                      </p:cBhvr>
                                      <p:to>
                                        <p:strVal val="visible"/>
                                      </p:to>
                                    </p:set>
                                    <p:anim calcmode="lin" valueType="num">
                                      <p:cBhvr>
                                        <p:cTn id="83" dur="1000" fill="hold"/>
                                        <p:tgtEl>
                                          <p:spTgt spid="49"/>
                                        </p:tgtEl>
                                        <p:attrNameLst>
                                          <p:attrName>ppt_x</p:attrName>
                                        </p:attrNameLst>
                                      </p:cBhvr>
                                      <p:tavLst>
                                        <p:tav tm="0">
                                          <p:val>
                                            <p:strVal val="#ppt_x-.2"/>
                                          </p:val>
                                        </p:tav>
                                        <p:tav tm="100000">
                                          <p:val>
                                            <p:strVal val="#ppt_x"/>
                                          </p:val>
                                        </p:tav>
                                      </p:tavLst>
                                    </p:anim>
                                    <p:anim calcmode="lin" valueType="num">
                                      <p:cBhvr>
                                        <p:cTn id="84" dur="1000" fill="hold"/>
                                        <p:tgtEl>
                                          <p:spTgt spid="49"/>
                                        </p:tgtEl>
                                        <p:attrNameLst>
                                          <p:attrName>ppt_y</p:attrName>
                                        </p:attrNameLst>
                                      </p:cBhvr>
                                      <p:tavLst>
                                        <p:tav tm="0">
                                          <p:val>
                                            <p:strVal val="#ppt_y"/>
                                          </p:val>
                                        </p:tav>
                                        <p:tav tm="100000">
                                          <p:val>
                                            <p:strVal val="#ppt_y"/>
                                          </p:val>
                                        </p:tav>
                                      </p:tavLst>
                                    </p:anim>
                                    <p:animEffect transition="in" filter="wipe(right)" prLst="gradientSize: 0.1">
                                      <p:cBhvr>
                                        <p:cTn id="85" dur="1000"/>
                                        <p:tgtEl>
                                          <p:spTgt spid="49"/>
                                        </p:tgtEl>
                                      </p:cBhvr>
                                    </p:animEffect>
                                  </p:childTnLst>
                                </p:cTn>
                              </p:par>
                              <p:par>
                                <p:cTn id="86" presetID="29" presetClass="entr" presetSubtype="0" fill="hold" grpId="0" nodeType="withEffect">
                                  <p:stCondLst>
                                    <p:cond delay="0"/>
                                  </p:stCondLst>
                                  <p:childTnLst>
                                    <p:set>
                                      <p:cBhvr>
                                        <p:cTn id="87" dur="1" fill="hold">
                                          <p:stCondLst>
                                            <p:cond delay="0"/>
                                          </p:stCondLst>
                                        </p:cTn>
                                        <p:tgtEl>
                                          <p:spTgt spid="55"/>
                                        </p:tgtEl>
                                        <p:attrNameLst>
                                          <p:attrName>style.visibility</p:attrName>
                                        </p:attrNameLst>
                                      </p:cBhvr>
                                      <p:to>
                                        <p:strVal val="visible"/>
                                      </p:to>
                                    </p:set>
                                    <p:anim calcmode="lin" valueType="num">
                                      <p:cBhvr>
                                        <p:cTn id="88" dur="1000" fill="hold"/>
                                        <p:tgtEl>
                                          <p:spTgt spid="55"/>
                                        </p:tgtEl>
                                        <p:attrNameLst>
                                          <p:attrName>ppt_x</p:attrName>
                                        </p:attrNameLst>
                                      </p:cBhvr>
                                      <p:tavLst>
                                        <p:tav tm="0">
                                          <p:val>
                                            <p:strVal val="#ppt_x-.2"/>
                                          </p:val>
                                        </p:tav>
                                        <p:tav tm="100000">
                                          <p:val>
                                            <p:strVal val="#ppt_x"/>
                                          </p:val>
                                        </p:tav>
                                      </p:tavLst>
                                    </p:anim>
                                    <p:anim calcmode="lin" valueType="num">
                                      <p:cBhvr>
                                        <p:cTn id="89" dur="1000" fill="hold"/>
                                        <p:tgtEl>
                                          <p:spTgt spid="55"/>
                                        </p:tgtEl>
                                        <p:attrNameLst>
                                          <p:attrName>ppt_y</p:attrName>
                                        </p:attrNameLst>
                                      </p:cBhvr>
                                      <p:tavLst>
                                        <p:tav tm="0">
                                          <p:val>
                                            <p:strVal val="#ppt_y"/>
                                          </p:val>
                                        </p:tav>
                                        <p:tav tm="100000">
                                          <p:val>
                                            <p:strVal val="#ppt_y"/>
                                          </p:val>
                                        </p:tav>
                                      </p:tavLst>
                                    </p:anim>
                                    <p:animEffect transition="in" filter="wipe(right)" prLst="gradientSize: 0.1">
                                      <p:cBhvr>
                                        <p:cTn id="90" dur="1000"/>
                                        <p:tgtEl>
                                          <p:spTgt spid="55"/>
                                        </p:tgtEl>
                                      </p:cBhvr>
                                    </p:animEffect>
                                  </p:childTnLst>
                                </p:cTn>
                              </p:par>
                              <p:par>
                                <p:cTn id="91" presetID="29" presetClass="entr" presetSubtype="0" fill="hold" grpId="0" nodeType="withEffect">
                                  <p:stCondLst>
                                    <p:cond delay="0"/>
                                  </p:stCondLst>
                                  <p:childTnLst>
                                    <p:set>
                                      <p:cBhvr>
                                        <p:cTn id="92" dur="1" fill="hold">
                                          <p:stCondLst>
                                            <p:cond delay="0"/>
                                          </p:stCondLst>
                                        </p:cTn>
                                        <p:tgtEl>
                                          <p:spTgt spid="61"/>
                                        </p:tgtEl>
                                        <p:attrNameLst>
                                          <p:attrName>style.visibility</p:attrName>
                                        </p:attrNameLst>
                                      </p:cBhvr>
                                      <p:to>
                                        <p:strVal val="visible"/>
                                      </p:to>
                                    </p:set>
                                    <p:anim calcmode="lin" valueType="num">
                                      <p:cBhvr>
                                        <p:cTn id="93" dur="1000" fill="hold"/>
                                        <p:tgtEl>
                                          <p:spTgt spid="61"/>
                                        </p:tgtEl>
                                        <p:attrNameLst>
                                          <p:attrName>ppt_x</p:attrName>
                                        </p:attrNameLst>
                                      </p:cBhvr>
                                      <p:tavLst>
                                        <p:tav tm="0">
                                          <p:val>
                                            <p:strVal val="#ppt_x-.2"/>
                                          </p:val>
                                        </p:tav>
                                        <p:tav tm="100000">
                                          <p:val>
                                            <p:strVal val="#ppt_x"/>
                                          </p:val>
                                        </p:tav>
                                      </p:tavLst>
                                    </p:anim>
                                    <p:anim calcmode="lin" valueType="num">
                                      <p:cBhvr>
                                        <p:cTn id="94" dur="1000" fill="hold"/>
                                        <p:tgtEl>
                                          <p:spTgt spid="61"/>
                                        </p:tgtEl>
                                        <p:attrNameLst>
                                          <p:attrName>ppt_y</p:attrName>
                                        </p:attrNameLst>
                                      </p:cBhvr>
                                      <p:tavLst>
                                        <p:tav tm="0">
                                          <p:val>
                                            <p:strVal val="#ppt_y"/>
                                          </p:val>
                                        </p:tav>
                                        <p:tav tm="100000">
                                          <p:val>
                                            <p:strVal val="#ppt_y"/>
                                          </p:val>
                                        </p:tav>
                                      </p:tavLst>
                                    </p:anim>
                                    <p:animEffect transition="in" filter="wipe(right)" prLst="gradientSize: 0.1">
                                      <p:cBhvr>
                                        <p:cTn id="95" dur="1000"/>
                                        <p:tgtEl>
                                          <p:spTgt spid="61"/>
                                        </p:tgtEl>
                                      </p:cBhvr>
                                    </p:animEffect>
                                  </p:childTnLst>
                                </p:cTn>
                              </p:par>
                              <p:par>
                                <p:cTn id="96" presetID="29" presetClass="entr" presetSubtype="0" fill="hold" grpId="0" nodeType="withEffect">
                                  <p:stCondLst>
                                    <p:cond delay="0"/>
                                  </p:stCondLst>
                                  <p:childTnLst>
                                    <p:set>
                                      <p:cBhvr>
                                        <p:cTn id="97" dur="1" fill="hold">
                                          <p:stCondLst>
                                            <p:cond delay="0"/>
                                          </p:stCondLst>
                                        </p:cTn>
                                        <p:tgtEl>
                                          <p:spTgt spid="62"/>
                                        </p:tgtEl>
                                        <p:attrNameLst>
                                          <p:attrName>style.visibility</p:attrName>
                                        </p:attrNameLst>
                                      </p:cBhvr>
                                      <p:to>
                                        <p:strVal val="visible"/>
                                      </p:to>
                                    </p:set>
                                    <p:anim calcmode="lin" valueType="num">
                                      <p:cBhvr>
                                        <p:cTn id="98" dur="1000" fill="hold"/>
                                        <p:tgtEl>
                                          <p:spTgt spid="62"/>
                                        </p:tgtEl>
                                        <p:attrNameLst>
                                          <p:attrName>ppt_x</p:attrName>
                                        </p:attrNameLst>
                                      </p:cBhvr>
                                      <p:tavLst>
                                        <p:tav tm="0">
                                          <p:val>
                                            <p:strVal val="#ppt_x-.2"/>
                                          </p:val>
                                        </p:tav>
                                        <p:tav tm="100000">
                                          <p:val>
                                            <p:strVal val="#ppt_x"/>
                                          </p:val>
                                        </p:tav>
                                      </p:tavLst>
                                    </p:anim>
                                    <p:anim calcmode="lin" valueType="num">
                                      <p:cBhvr>
                                        <p:cTn id="99" dur="1000" fill="hold"/>
                                        <p:tgtEl>
                                          <p:spTgt spid="62"/>
                                        </p:tgtEl>
                                        <p:attrNameLst>
                                          <p:attrName>ppt_y</p:attrName>
                                        </p:attrNameLst>
                                      </p:cBhvr>
                                      <p:tavLst>
                                        <p:tav tm="0">
                                          <p:val>
                                            <p:strVal val="#ppt_y"/>
                                          </p:val>
                                        </p:tav>
                                        <p:tav tm="100000">
                                          <p:val>
                                            <p:strVal val="#ppt_y"/>
                                          </p:val>
                                        </p:tav>
                                      </p:tavLst>
                                    </p:anim>
                                    <p:animEffect transition="in" filter="wipe(right)" prLst="gradientSize: 0.1">
                                      <p:cBhvr>
                                        <p:cTn id="100" dur="1000"/>
                                        <p:tgtEl>
                                          <p:spTgt spid="62"/>
                                        </p:tgtEl>
                                      </p:cBhvr>
                                    </p:animEffect>
                                  </p:childTnLst>
                                </p:cTn>
                              </p:par>
                              <p:par>
                                <p:cTn id="101" presetID="29" presetClass="entr" presetSubtype="0" fill="hold" grpId="0" nodeType="withEffect">
                                  <p:stCondLst>
                                    <p:cond delay="0"/>
                                  </p:stCondLst>
                                  <p:childTnLst>
                                    <p:set>
                                      <p:cBhvr>
                                        <p:cTn id="102" dur="1" fill="hold">
                                          <p:stCondLst>
                                            <p:cond delay="0"/>
                                          </p:stCondLst>
                                        </p:cTn>
                                        <p:tgtEl>
                                          <p:spTgt spid="57"/>
                                        </p:tgtEl>
                                        <p:attrNameLst>
                                          <p:attrName>style.visibility</p:attrName>
                                        </p:attrNameLst>
                                      </p:cBhvr>
                                      <p:to>
                                        <p:strVal val="visible"/>
                                      </p:to>
                                    </p:set>
                                    <p:anim calcmode="lin" valueType="num">
                                      <p:cBhvr>
                                        <p:cTn id="103" dur="1000" fill="hold"/>
                                        <p:tgtEl>
                                          <p:spTgt spid="57"/>
                                        </p:tgtEl>
                                        <p:attrNameLst>
                                          <p:attrName>ppt_x</p:attrName>
                                        </p:attrNameLst>
                                      </p:cBhvr>
                                      <p:tavLst>
                                        <p:tav tm="0">
                                          <p:val>
                                            <p:strVal val="#ppt_x-.2"/>
                                          </p:val>
                                        </p:tav>
                                        <p:tav tm="100000">
                                          <p:val>
                                            <p:strVal val="#ppt_x"/>
                                          </p:val>
                                        </p:tav>
                                      </p:tavLst>
                                    </p:anim>
                                    <p:anim calcmode="lin" valueType="num">
                                      <p:cBhvr>
                                        <p:cTn id="104" dur="1000" fill="hold"/>
                                        <p:tgtEl>
                                          <p:spTgt spid="57"/>
                                        </p:tgtEl>
                                        <p:attrNameLst>
                                          <p:attrName>ppt_y</p:attrName>
                                        </p:attrNameLst>
                                      </p:cBhvr>
                                      <p:tavLst>
                                        <p:tav tm="0">
                                          <p:val>
                                            <p:strVal val="#ppt_y"/>
                                          </p:val>
                                        </p:tav>
                                        <p:tav tm="100000">
                                          <p:val>
                                            <p:strVal val="#ppt_y"/>
                                          </p:val>
                                        </p:tav>
                                      </p:tavLst>
                                    </p:anim>
                                    <p:animEffect transition="in" filter="wipe(right)" prLst="gradientSize: 0.1">
                                      <p:cBhvr>
                                        <p:cTn id="105" dur="1000"/>
                                        <p:tgtEl>
                                          <p:spTgt spid="57"/>
                                        </p:tgtEl>
                                      </p:cBhvr>
                                    </p:animEffect>
                                  </p:childTnLst>
                                </p:cTn>
                              </p:par>
                              <p:par>
                                <p:cTn id="106" presetID="29" presetClass="entr" presetSubtype="0" fill="hold" grpId="0" nodeType="withEffect">
                                  <p:stCondLst>
                                    <p:cond delay="0"/>
                                  </p:stCondLst>
                                  <p:childTnLst>
                                    <p:set>
                                      <p:cBhvr>
                                        <p:cTn id="107" dur="1" fill="hold">
                                          <p:stCondLst>
                                            <p:cond delay="0"/>
                                          </p:stCondLst>
                                        </p:cTn>
                                        <p:tgtEl>
                                          <p:spTgt spid="56"/>
                                        </p:tgtEl>
                                        <p:attrNameLst>
                                          <p:attrName>style.visibility</p:attrName>
                                        </p:attrNameLst>
                                      </p:cBhvr>
                                      <p:to>
                                        <p:strVal val="visible"/>
                                      </p:to>
                                    </p:set>
                                    <p:anim calcmode="lin" valueType="num">
                                      <p:cBhvr>
                                        <p:cTn id="108" dur="1000" fill="hold"/>
                                        <p:tgtEl>
                                          <p:spTgt spid="56"/>
                                        </p:tgtEl>
                                        <p:attrNameLst>
                                          <p:attrName>ppt_x</p:attrName>
                                        </p:attrNameLst>
                                      </p:cBhvr>
                                      <p:tavLst>
                                        <p:tav tm="0">
                                          <p:val>
                                            <p:strVal val="#ppt_x-.2"/>
                                          </p:val>
                                        </p:tav>
                                        <p:tav tm="100000">
                                          <p:val>
                                            <p:strVal val="#ppt_x"/>
                                          </p:val>
                                        </p:tav>
                                      </p:tavLst>
                                    </p:anim>
                                    <p:anim calcmode="lin" valueType="num">
                                      <p:cBhvr>
                                        <p:cTn id="109" dur="1000" fill="hold"/>
                                        <p:tgtEl>
                                          <p:spTgt spid="56"/>
                                        </p:tgtEl>
                                        <p:attrNameLst>
                                          <p:attrName>ppt_y</p:attrName>
                                        </p:attrNameLst>
                                      </p:cBhvr>
                                      <p:tavLst>
                                        <p:tav tm="0">
                                          <p:val>
                                            <p:strVal val="#ppt_y"/>
                                          </p:val>
                                        </p:tav>
                                        <p:tav tm="100000">
                                          <p:val>
                                            <p:strVal val="#ppt_y"/>
                                          </p:val>
                                        </p:tav>
                                      </p:tavLst>
                                    </p:anim>
                                    <p:animEffect transition="in" filter="wipe(right)" prLst="gradientSize: 0.1">
                                      <p:cBhvr>
                                        <p:cTn id="110" dur="1000"/>
                                        <p:tgtEl>
                                          <p:spTgt spid="56"/>
                                        </p:tgtEl>
                                      </p:cBhvr>
                                    </p:animEffect>
                                  </p:childTnLst>
                                </p:cTn>
                              </p:par>
                            </p:childTnLst>
                          </p:cTn>
                        </p:par>
                        <p:par>
                          <p:cTn id="111" fill="hold">
                            <p:stCondLst>
                              <p:cond delay="3150"/>
                            </p:stCondLst>
                            <p:childTnLst>
                              <p:par>
                                <p:cTn id="112" presetID="27" presetClass="entr" presetSubtype="0" fill="hold" grpId="0" nodeType="afterEffect">
                                  <p:stCondLst>
                                    <p:cond delay="0"/>
                                  </p:stCondLst>
                                  <p:iterate type="lt">
                                    <p:tmPct val="50000"/>
                                  </p:iterate>
                                  <p:childTnLst>
                                    <p:set>
                                      <p:cBhvr>
                                        <p:cTn id="113" dur="1" fill="hold">
                                          <p:stCondLst>
                                            <p:cond delay="0"/>
                                          </p:stCondLst>
                                        </p:cTn>
                                        <p:tgtEl>
                                          <p:spTgt spid="68"/>
                                        </p:tgtEl>
                                        <p:attrNameLst>
                                          <p:attrName>style.visibility</p:attrName>
                                        </p:attrNameLst>
                                      </p:cBhvr>
                                      <p:to>
                                        <p:strVal val="visible"/>
                                      </p:to>
                                    </p:set>
                                    <p:anim calcmode="discrete" valueType="clr">
                                      <p:cBhvr override="childStyle">
                                        <p:cTn id="114" dur="80"/>
                                        <p:tgtEl>
                                          <p:spTgt spid="68"/>
                                        </p:tgtEl>
                                        <p:attrNameLst>
                                          <p:attrName>style.color</p:attrName>
                                        </p:attrNameLst>
                                      </p:cBhvr>
                                      <p:tavLst>
                                        <p:tav tm="0">
                                          <p:val>
                                            <p:clrVal>
                                              <a:schemeClr val="accent2"/>
                                            </p:clrVal>
                                          </p:val>
                                        </p:tav>
                                        <p:tav tm="50000">
                                          <p:val>
                                            <p:clrVal>
                                              <a:schemeClr val="hlink"/>
                                            </p:clrVal>
                                          </p:val>
                                        </p:tav>
                                      </p:tavLst>
                                    </p:anim>
                                    <p:anim calcmode="discrete" valueType="clr">
                                      <p:cBhvr>
                                        <p:cTn id="115" dur="80"/>
                                        <p:tgtEl>
                                          <p:spTgt spid="68"/>
                                        </p:tgtEl>
                                        <p:attrNameLst>
                                          <p:attrName>fillcolor</p:attrName>
                                        </p:attrNameLst>
                                      </p:cBhvr>
                                      <p:tavLst>
                                        <p:tav tm="0">
                                          <p:val>
                                            <p:clrVal>
                                              <a:schemeClr val="accent2"/>
                                            </p:clrVal>
                                          </p:val>
                                        </p:tav>
                                        <p:tav tm="50000">
                                          <p:val>
                                            <p:clrVal>
                                              <a:schemeClr val="hlink"/>
                                            </p:clrVal>
                                          </p:val>
                                        </p:tav>
                                      </p:tavLst>
                                    </p:anim>
                                    <p:set>
                                      <p:cBhvr>
                                        <p:cTn id="116" dur="80"/>
                                        <p:tgtEl>
                                          <p:spTgt spid="68"/>
                                        </p:tgtEl>
                                        <p:attrNameLst>
                                          <p:attrName>fill.type</p:attrName>
                                        </p:attrNameLst>
                                      </p:cBhvr>
                                      <p:to>
                                        <p:strVal val="solid"/>
                                      </p:to>
                                    </p:set>
                                  </p:childTnLst>
                                </p:cTn>
                              </p:par>
                              <p:par>
                                <p:cTn id="117" presetID="27" presetClass="entr" presetSubtype="0" fill="hold" grpId="0" nodeType="withEffect">
                                  <p:stCondLst>
                                    <p:cond delay="0"/>
                                  </p:stCondLst>
                                  <p:iterate type="lt">
                                    <p:tmPct val="50000"/>
                                  </p:iterate>
                                  <p:childTnLst>
                                    <p:set>
                                      <p:cBhvr>
                                        <p:cTn id="118" dur="1" fill="hold">
                                          <p:stCondLst>
                                            <p:cond delay="0"/>
                                          </p:stCondLst>
                                        </p:cTn>
                                        <p:tgtEl>
                                          <p:spTgt spid="69"/>
                                        </p:tgtEl>
                                        <p:attrNameLst>
                                          <p:attrName>style.visibility</p:attrName>
                                        </p:attrNameLst>
                                      </p:cBhvr>
                                      <p:to>
                                        <p:strVal val="visible"/>
                                      </p:to>
                                    </p:set>
                                    <p:anim calcmode="discrete" valueType="clr">
                                      <p:cBhvr override="childStyle">
                                        <p:cTn id="119" dur="80"/>
                                        <p:tgtEl>
                                          <p:spTgt spid="69"/>
                                        </p:tgtEl>
                                        <p:attrNameLst>
                                          <p:attrName>style.color</p:attrName>
                                        </p:attrNameLst>
                                      </p:cBhvr>
                                      <p:tavLst>
                                        <p:tav tm="0">
                                          <p:val>
                                            <p:clrVal>
                                              <a:schemeClr val="accent2"/>
                                            </p:clrVal>
                                          </p:val>
                                        </p:tav>
                                        <p:tav tm="50000">
                                          <p:val>
                                            <p:clrVal>
                                              <a:schemeClr val="hlink"/>
                                            </p:clrVal>
                                          </p:val>
                                        </p:tav>
                                      </p:tavLst>
                                    </p:anim>
                                    <p:anim calcmode="discrete" valueType="clr">
                                      <p:cBhvr>
                                        <p:cTn id="120" dur="80"/>
                                        <p:tgtEl>
                                          <p:spTgt spid="69"/>
                                        </p:tgtEl>
                                        <p:attrNameLst>
                                          <p:attrName>fillcolor</p:attrName>
                                        </p:attrNameLst>
                                      </p:cBhvr>
                                      <p:tavLst>
                                        <p:tav tm="0">
                                          <p:val>
                                            <p:clrVal>
                                              <a:schemeClr val="accent2"/>
                                            </p:clrVal>
                                          </p:val>
                                        </p:tav>
                                        <p:tav tm="50000">
                                          <p:val>
                                            <p:clrVal>
                                              <a:schemeClr val="hlink"/>
                                            </p:clrVal>
                                          </p:val>
                                        </p:tav>
                                      </p:tavLst>
                                    </p:anim>
                                    <p:set>
                                      <p:cBhvr>
                                        <p:cTn id="121" dur="80"/>
                                        <p:tgtEl>
                                          <p:spTgt spid="69"/>
                                        </p:tgtEl>
                                        <p:attrNameLst>
                                          <p:attrName>fill.type</p:attrName>
                                        </p:attrNameLst>
                                      </p:cBhvr>
                                      <p:to>
                                        <p:strVal val="solid"/>
                                      </p:to>
                                    </p:set>
                                  </p:childTnLst>
                                </p:cTn>
                              </p:par>
                              <p:par>
                                <p:cTn id="122" presetID="27" presetClass="entr" presetSubtype="0" fill="hold" grpId="0" nodeType="withEffect">
                                  <p:stCondLst>
                                    <p:cond delay="0"/>
                                  </p:stCondLst>
                                  <p:iterate type="lt">
                                    <p:tmPct val="50000"/>
                                  </p:iterate>
                                  <p:childTnLst>
                                    <p:set>
                                      <p:cBhvr>
                                        <p:cTn id="123" dur="1" fill="hold">
                                          <p:stCondLst>
                                            <p:cond delay="0"/>
                                          </p:stCondLst>
                                        </p:cTn>
                                        <p:tgtEl>
                                          <p:spTgt spid="50"/>
                                        </p:tgtEl>
                                        <p:attrNameLst>
                                          <p:attrName>style.visibility</p:attrName>
                                        </p:attrNameLst>
                                      </p:cBhvr>
                                      <p:to>
                                        <p:strVal val="visible"/>
                                      </p:to>
                                    </p:set>
                                    <p:anim calcmode="discrete" valueType="clr">
                                      <p:cBhvr override="childStyle">
                                        <p:cTn id="124" dur="80"/>
                                        <p:tgtEl>
                                          <p:spTgt spid="50"/>
                                        </p:tgtEl>
                                        <p:attrNameLst>
                                          <p:attrName>style.color</p:attrName>
                                        </p:attrNameLst>
                                      </p:cBhvr>
                                      <p:tavLst>
                                        <p:tav tm="0">
                                          <p:val>
                                            <p:clrVal>
                                              <a:schemeClr val="accent2"/>
                                            </p:clrVal>
                                          </p:val>
                                        </p:tav>
                                        <p:tav tm="50000">
                                          <p:val>
                                            <p:clrVal>
                                              <a:schemeClr val="hlink"/>
                                            </p:clrVal>
                                          </p:val>
                                        </p:tav>
                                      </p:tavLst>
                                    </p:anim>
                                    <p:anim calcmode="discrete" valueType="clr">
                                      <p:cBhvr>
                                        <p:cTn id="125" dur="80"/>
                                        <p:tgtEl>
                                          <p:spTgt spid="50"/>
                                        </p:tgtEl>
                                        <p:attrNameLst>
                                          <p:attrName>fillcolor</p:attrName>
                                        </p:attrNameLst>
                                      </p:cBhvr>
                                      <p:tavLst>
                                        <p:tav tm="0">
                                          <p:val>
                                            <p:clrVal>
                                              <a:schemeClr val="accent2"/>
                                            </p:clrVal>
                                          </p:val>
                                        </p:tav>
                                        <p:tav tm="50000">
                                          <p:val>
                                            <p:clrVal>
                                              <a:schemeClr val="hlink"/>
                                            </p:clrVal>
                                          </p:val>
                                        </p:tav>
                                      </p:tavLst>
                                    </p:anim>
                                    <p:set>
                                      <p:cBhvr>
                                        <p:cTn id="126" dur="80"/>
                                        <p:tgtEl>
                                          <p:spTgt spid="50"/>
                                        </p:tgtEl>
                                        <p:attrNameLst>
                                          <p:attrName>fill.type</p:attrName>
                                        </p:attrNameLst>
                                      </p:cBhvr>
                                      <p:to>
                                        <p:strVal val="solid"/>
                                      </p:to>
                                    </p:set>
                                  </p:childTnLst>
                                </p:cTn>
                              </p:par>
                              <p:par>
                                <p:cTn id="127" presetID="27" presetClass="entr" presetSubtype="0" fill="hold" grpId="0" nodeType="withEffect">
                                  <p:stCondLst>
                                    <p:cond delay="0"/>
                                  </p:stCondLst>
                                  <p:iterate type="lt">
                                    <p:tmPct val="50000"/>
                                  </p:iterate>
                                  <p:childTnLst>
                                    <p:set>
                                      <p:cBhvr>
                                        <p:cTn id="128" dur="1" fill="hold">
                                          <p:stCondLst>
                                            <p:cond delay="0"/>
                                          </p:stCondLst>
                                        </p:cTn>
                                        <p:tgtEl>
                                          <p:spTgt spid="58"/>
                                        </p:tgtEl>
                                        <p:attrNameLst>
                                          <p:attrName>style.visibility</p:attrName>
                                        </p:attrNameLst>
                                      </p:cBhvr>
                                      <p:to>
                                        <p:strVal val="visible"/>
                                      </p:to>
                                    </p:set>
                                    <p:anim calcmode="discrete" valueType="clr">
                                      <p:cBhvr override="childStyle">
                                        <p:cTn id="129" dur="80"/>
                                        <p:tgtEl>
                                          <p:spTgt spid="58"/>
                                        </p:tgtEl>
                                        <p:attrNameLst>
                                          <p:attrName>style.color</p:attrName>
                                        </p:attrNameLst>
                                      </p:cBhvr>
                                      <p:tavLst>
                                        <p:tav tm="0">
                                          <p:val>
                                            <p:clrVal>
                                              <a:schemeClr val="accent2"/>
                                            </p:clrVal>
                                          </p:val>
                                        </p:tav>
                                        <p:tav tm="50000">
                                          <p:val>
                                            <p:clrVal>
                                              <a:schemeClr val="hlink"/>
                                            </p:clrVal>
                                          </p:val>
                                        </p:tav>
                                      </p:tavLst>
                                    </p:anim>
                                    <p:anim calcmode="discrete" valueType="clr">
                                      <p:cBhvr>
                                        <p:cTn id="130" dur="80"/>
                                        <p:tgtEl>
                                          <p:spTgt spid="58"/>
                                        </p:tgtEl>
                                        <p:attrNameLst>
                                          <p:attrName>fillcolor</p:attrName>
                                        </p:attrNameLst>
                                      </p:cBhvr>
                                      <p:tavLst>
                                        <p:tav tm="0">
                                          <p:val>
                                            <p:clrVal>
                                              <a:schemeClr val="accent2"/>
                                            </p:clrVal>
                                          </p:val>
                                        </p:tav>
                                        <p:tav tm="50000">
                                          <p:val>
                                            <p:clrVal>
                                              <a:schemeClr val="hlink"/>
                                            </p:clrVal>
                                          </p:val>
                                        </p:tav>
                                      </p:tavLst>
                                    </p:anim>
                                    <p:set>
                                      <p:cBhvr>
                                        <p:cTn id="131" dur="80"/>
                                        <p:tgtEl>
                                          <p:spTgt spid="58"/>
                                        </p:tgtEl>
                                        <p:attrNameLst>
                                          <p:attrName>fill.type</p:attrName>
                                        </p:attrNameLst>
                                      </p:cBhvr>
                                      <p:to>
                                        <p:strVal val="solid"/>
                                      </p:to>
                                    </p:set>
                                  </p:childTnLst>
                                </p:cTn>
                              </p:par>
                              <p:par>
                                <p:cTn id="132" presetID="27" presetClass="entr" presetSubtype="0" fill="hold" grpId="0" nodeType="withEffect">
                                  <p:stCondLst>
                                    <p:cond delay="0"/>
                                  </p:stCondLst>
                                  <p:iterate type="lt">
                                    <p:tmPct val="50000"/>
                                  </p:iterate>
                                  <p:childTnLst>
                                    <p:set>
                                      <p:cBhvr>
                                        <p:cTn id="133" dur="1" fill="hold">
                                          <p:stCondLst>
                                            <p:cond delay="0"/>
                                          </p:stCondLst>
                                        </p:cTn>
                                        <p:tgtEl>
                                          <p:spTgt spid="63"/>
                                        </p:tgtEl>
                                        <p:attrNameLst>
                                          <p:attrName>style.visibility</p:attrName>
                                        </p:attrNameLst>
                                      </p:cBhvr>
                                      <p:to>
                                        <p:strVal val="visible"/>
                                      </p:to>
                                    </p:set>
                                    <p:anim calcmode="discrete" valueType="clr">
                                      <p:cBhvr override="childStyle">
                                        <p:cTn id="134" dur="80"/>
                                        <p:tgtEl>
                                          <p:spTgt spid="63"/>
                                        </p:tgtEl>
                                        <p:attrNameLst>
                                          <p:attrName>style.color</p:attrName>
                                        </p:attrNameLst>
                                      </p:cBhvr>
                                      <p:tavLst>
                                        <p:tav tm="0">
                                          <p:val>
                                            <p:clrVal>
                                              <a:schemeClr val="accent2"/>
                                            </p:clrVal>
                                          </p:val>
                                        </p:tav>
                                        <p:tav tm="50000">
                                          <p:val>
                                            <p:clrVal>
                                              <a:schemeClr val="hlink"/>
                                            </p:clrVal>
                                          </p:val>
                                        </p:tav>
                                      </p:tavLst>
                                    </p:anim>
                                    <p:anim calcmode="discrete" valueType="clr">
                                      <p:cBhvr>
                                        <p:cTn id="135" dur="80"/>
                                        <p:tgtEl>
                                          <p:spTgt spid="63"/>
                                        </p:tgtEl>
                                        <p:attrNameLst>
                                          <p:attrName>fillcolor</p:attrName>
                                        </p:attrNameLst>
                                      </p:cBhvr>
                                      <p:tavLst>
                                        <p:tav tm="0">
                                          <p:val>
                                            <p:clrVal>
                                              <a:schemeClr val="accent2"/>
                                            </p:clrVal>
                                          </p:val>
                                        </p:tav>
                                        <p:tav tm="50000">
                                          <p:val>
                                            <p:clrVal>
                                              <a:schemeClr val="hlink"/>
                                            </p:clrVal>
                                          </p:val>
                                        </p:tav>
                                      </p:tavLst>
                                    </p:anim>
                                    <p:set>
                                      <p:cBhvr>
                                        <p:cTn id="136" dur="80"/>
                                        <p:tgtEl>
                                          <p:spTgt spid="63"/>
                                        </p:tgtEl>
                                        <p:attrNameLst>
                                          <p:attrName>fill.type</p:attrName>
                                        </p:attrNameLst>
                                      </p:cBhvr>
                                      <p:to>
                                        <p:strVal val="solid"/>
                                      </p:to>
                                    </p:set>
                                  </p:childTnLst>
                                </p:cTn>
                              </p:par>
                              <p:par>
                                <p:cTn id="137" presetID="27" presetClass="entr" presetSubtype="0" fill="hold" grpId="0" nodeType="withEffect">
                                  <p:stCondLst>
                                    <p:cond delay="0"/>
                                  </p:stCondLst>
                                  <p:iterate type="lt">
                                    <p:tmPct val="50000"/>
                                  </p:iterate>
                                  <p:childTnLst>
                                    <p:set>
                                      <p:cBhvr>
                                        <p:cTn id="138" dur="1" fill="hold">
                                          <p:stCondLst>
                                            <p:cond delay="0"/>
                                          </p:stCondLst>
                                        </p:cTn>
                                        <p:tgtEl>
                                          <p:spTgt spid="64"/>
                                        </p:tgtEl>
                                        <p:attrNameLst>
                                          <p:attrName>style.visibility</p:attrName>
                                        </p:attrNameLst>
                                      </p:cBhvr>
                                      <p:to>
                                        <p:strVal val="visible"/>
                                      </p:to>
                                    </p:set>
                                    <p:anim calcmode="discrete" valueType="clr">
                                      <p:cBhvr override="childStyle">
                                        <p:cTn id="139" dur="80"/>
                                        <p:tgtEl>
                                          <p:spTgt spid="64"/>
                                        </p:tgtEl>
                                        <p:attrNameLst>
                                          <p:attrName>style.color</p:attrName>
                                        </p:attrNameLst>
                                      </p:cBhvr>
                                      <p:tavLst>
                                        <p:tav tm="0">
                                          <p:val>
                                            <p:clrVal>
                                              <a:schemeClr val="accent2"/>
                                            </p:clrVal>
                                          </p:val>
                                        </p:tav>
                                        <p:tav tm="50000">
                                          <p:val>
                                            <p:clrVal>
                                              <a:schemeClr val="hlink"/>
                                            </p:clrVal>
                                          </p:val>
                                        </p:tav>
                                      </p:tavLst>
                                    </p:anim>
                                    <p:anim calcmode="discrete" valueType="clr">
                                      <p:cBhvr>
                                        <p:cTn id="140" dur="80"/>
                                        <p:tgtEl>
                                          <p:spTgt spid="64"/>
                                        </p:tgtEl>
                                        <p:attrNameLst>
                                          <p:attrName>fillcolor</p:attrName>
                                        </p:attrNameLst>
                                      </p:cBhvr>
                                      <p:tavLst>
                                        <p:tav tm="0">
                                          <p:val>
                                            <p:clrVal>
                                              <a:schemeClr val="accent2"/>
                                            </p:clrVal>
                                          </p:val>
                                        </p:tav>
                                        <p:tav tm="50000">
                                          <p:val>
                                            <p:clrVal>
                                              <a:schemeClr val="hlink"/>
                                            </p:clrVal>
                                          </p:val>
                                        </p:tav>
                                      </p:tavLst>
                                    </p:anim>
                                    <p:set>
                                      <p:cBhvr>
                                        <p:cTn id="141" dur="80"/>
                                        <p:tgtEl>
                                          <p:spTgt spid="64"/>
                                        </p:tgtEl>
                                        <p:attrNameLst>
                                          <p:attrName>fill.type</p:attrName>
                                        </p:attrNameLst>
                                      </p:cBhvr>
                                      <p:to>
                                        <p:strVal val="solid"/>
                                      </p:to>
                                    </p:set>
                                  </p:childTnLst>
                                </p:cTn>
                              </p:par>
                              <p:par>
                                <p:cTn id="142" presetID="27" presetClass="entr" presetSubtype="0" fill="hold" grpId="0" nodeType="withEffect">
                                  <p:stCondLst>
                                    <p:cond delay="0"/>
                                  </p:stCondLst>
                                  <p:iterate type="lt">
                                    <p:tmPct val="50000"/>
                                  </p:iterate>
                                  <p:childTnLst>
                                    <p:set>
                                      <p:cBhvr>
                                        <p:cTn id="143" dur="1" fill="hold">
                                          <p:stCondLst>
                                            <p:cond delay="0"/>
                                          </p:stCondLst>
                                        </p:cTn>
                                        <p:tgtEl>
                                          <p:spTgt spid="59"/>
                                        </p:tgtEl>
                                        <p:attrNameLst>
                                          <p:attrName>style.visibility</p:attrName>
                                        </p:attrNameLst>
                                      </p:cBhvr>
                                      <p:to>
                                        <p:strVal val="visible"/>
                                      </p:to>
                                    </p:set>
                                    <p:anim calcmode="discrete" valueType="clr">
                                      <p:cBhvr override="childStyle">
                                        <p:cTn id="144" dur="80"/>
                                        <p:tgtEl>
                                          <p:spTgt spid="59"/>
                                        </p:tgtEl>
                                        <p:attrNameLst>
                                          <p:attrName>style.color</p:attrName>
                                        </p:attrNameLst>
                                      </p:cBhvr>
                                      <p:tavLst>
                                        <p:tav tm="0">
                                          <p:val>
                                            <p:clrVal>
                                              <a:schemeClr val="accent2"/>
                                            </p:clrVal>
                                          </p:val>
                                        </p:tav>
                                        <p:tav tm="50000">
                                          <p:val>
                                            <p:clrVal>
                                              <a:schemeClr val="hlink"/>
                                            </p:clrVal>
                                          </p:val>
                                        </p:tav>
                                      </p:tavLst>
                                    </p:anim>
                                    <p:anim calcmode="discrete" valueType="clr">
                                      <p:cBhvr>
                                        <p:cTn id="145" dur="80"/>
                                        <p:tgtEl>
                                          <p:spTgt spid="59"/>
                                        </p:tgtEl>
                                        <p:attrNameLst>
                                          <p:attrName>fillcolor</p:attrName>
                                        </p:attrNameLst>
                                      </p:cBhvr>
                                      <p:tavLst>
                                        <p:tav tm="0">
                                          <p:val>
                                            <p:clrVal>
                                              <a:schemeClr val="accent2"/>
                                            </p:clrVal>
                                          </p:val>
                                        </p:tav>
                                        <p:tav tm="50000">
                                          <p:val>
                                            <p:clrVal>
                                              <a:schemeClr val="hlink"/>
                                            </p:clrVal>
                                          </p:val>
                                        </p:tav>
                                      </p:tavLst>
                                    </p:anim>
                                    <p:set>
                                      <p:cBhvr>
                                        <p:cTn id="146" dur="80"/>
                                        <p:tgtEl>
                                          <p:spTgt spid="59"/>
                                        </p:tgtEl>
                                        <p:attrNameLst>
                                          <p:attrName>fill.type</p:attrName>
                                        </p:attrNameLst>
                                      </p:cBhvr>
                                      <p:to>
                                        <p:strVal val="solid"/>
                                      </p:to>
                                    </p:set>
                                  </p:childTnLst>
                                </p:cTn>
                              </p:par>
                              <p:par>
                                <p:cTn id="147" presetID="27" presetClass="entr" presetSubtype="0" fill="hold" grpId="0" nodeType="withEffect">
                                  <p:stCondLst>
                                    <p:cond delay="0"/>
                                  </p:stCondLst>
                                  <p:iterate type="lt">
                                    <p:tmPct val="50000"/>
                                  </p:iterate>
                                  <p:childTnLst>
                                    <p:set>
                                      <p:cBhvr>
                                        <p:cTn id="148" dur="1" fill="hold">
                                          <p:stCondLst>
                                            <p:cond delay="0"/>
                                          </p:stCondLst>
                                        </p:cTn>
                                        <p:tgtEl>
                                          <p:spTgt spid="60"/>
                                        </p:tgtEl>
                                        <p:attrNameLst>
                                          <p:attrName>style.visibility</p:attrName>
                                        </p:attrNameLst>
                                      </p:cBhvr>
                                      <p:to>
                                        <p:strVal val="visible"/>
                                      </p:to>
                                    </p:set>
                                    <p:anim calcmode="discrete" valueType="clr">
                                      <p:cBhvr override="childStyle">
                                        <p:cTn id="149" dur="80"/>
                                        <p:tgtEl>
                                          <p:spTgt spid="60"/>
                                        </p:tgtEl>
                                        <p:attrNameLst>
                                          <p:attrName>style.color</p:attrName>
                                        </p:attrNameLst>
                                      </p:cBhvr>
                                      <p:tavLst>
                                        <p:tav tm="0">
                                          <p:val>
                                            <p:clrVal>
                                              <a:schemeClr val="accent2"/>
                                            </p:clrVal>
                                          </p:val>
                                        </p:tav>
                                        <p:tav tm="50000">
                                          <p:val>
                                            <p:clrVal>
                                              <a:schemeClr val="hlink"/>
                                            </p:clrVal>
                                          </p:val>
                                        </p:tav>
                                      </p:tavLst>
                                    </p:anim>
                                    <p:anim calcmode="discrete" valueType="clr">
                                      <p:cBhvr>
                                        <p:cTn id="150" dur="80"/>
                                        <p:tgtEl>
                                          <p:spTgt spid="60"/>
                                        </p:tgtEl>
                                        <p:attrNameLst>
                                          <p:attrName>fillcolor</p:attrName>
                                        </p:attrNameLst>
                                      </p:cBhvr>
                                      <p:tavLst>
                                        <p:tav tm="0">
                                          <p:val>
                                            <p:clrVal>
                                              <a:schemeClr val="accent2"/>
                                            </p:clrVal>
                                          </p:val>
                                        </p:tav>
                                        <p:tav tm="50000">
                                          <p:val>
                                            <p:clrVal>
                                              <a:schemeClr val="hlink"/>
                                            </p:clrVal>
                                          </p:val>
                                        </p:tav>
                                      </p:tavLst>
                                    </p:anim>
                                    <p:set>
                                      <p:cBhvr>
                                        <p:cTn id="151" dur="80"/>
                                        <p:tgtEl>
                                          <p:spTgt spid="6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8" grpId="0" animBg="1"/>
      <p:bldP spid="42" grpId="0" animBg="1"/>
      <p:bldP spid="44" grpId="0" animBg="1"/>
      <p:bldP spid="46"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8"/>
          <p:cNvPicPr>
            <a:picLocks noChangeArrowheads="1"/>
          </p:cNvPicPr>
          <p:nvPr/>
        </p:nvPicPr>
        <p:blipFill>
          <a:blip r:embed="rId3"/>
          <a:srcRect/>
          <a:stretch>
            <a:fillRect/>
          </a:stretch>
        </p:blipFill>
        <p:spPr bwMode="auto">
          <a:xfrm>
            <a:off x="3941764" y="3429000"/>
            <a:ext cx="4162425" cy="2190750"/>
          </a:xfrm>
          <a:prstGeom prst="rect">
            <a:avLst/>
          </a:prstGeom>
          <a:noFill/>
          <a:ln w="9525">
            <a:noFill/>
            <a:miter lim="800000"/>
            <a:headEnd/>
            <a:tailEnd/>
          </a:ln>
        </p:spPr>
      </p:pic>
      <p:cxnSp>
        <p:nvCxnSpPr>
          <p:cNvPr id="12291" name="直接连接符 112"/>
          <p:cNvCxnSpPr>
            <a:cxnSpLocks noChangeShapeType="1"/>
          </p:cNvCxnSpPr>
          <p:nvPr/>
        </p:nvCxnSpPr>
        <p:spPr bwMode="auto">
          <a:xfrm rot="10800000">
            <a:off x="3403601" y="4802188"/>
            <a:ext cx="360363" cy="0"/>
          </a:xfrm>
          <a:prstGeom prst="line">
            <a:avLst/>
          </a:prstGeom>
          <a:noFill/>
          <a:ln w="38100" algn="ctr">
            <a:solidFill>
              <a:schemeClr val="tx2"/>
            </a:solidFill>
            <a:round/>
            <a:headEnd/>
            <a:tailEnd/>
          </a:ln>
        </p:spPr>
      </p:cxnSp>
      <p:cxnSp>
        <p:nvCxnSpPr>
          <p:cNvPr id="12292" name="直接连接符 115"/>
          <p:cNvCxnSpPr>
            <a:cxnSpLocks noChangeShapeType="1"/>
          </p:cNvCxnSpPr>
          <p:nvPr/>
        </p:nvCxnSpPr>
        <p:spPr bwMode="auto">
          <a:xfrm rot="10800000">
            <a:off x="3773489" y="4546600"/>
            <a:ext cx="358775" cy="0"/>
          </a:xfrm>
          <a:prstGeom prst="line">
            <a:avLst/>
          </a:prstGeom>
          <a:noFill/>
          <a:ln w="38100" algn="ctr">
            <a:solidFill>
              <a:schemeClr val="tx2"/>
            </a:solidFill>
            <a:round/>
            <a:headEnd/>
            <a:tailEnd/>
          </a:ln>
        </p:spPr>
      </p:cxnSp>
      <p:cxnSp>
        <p:nvCxnSpPr>
          <p:cNvPr id="12293" name="直接连接符 116"/>
          <p:cNvCxnSpPr>
            <a:cxnSpLocks noChangeShapeType="1"/>
          </p:cNvCxnSpPr>
          <p:nvPr/>
        </p:nvCxnSpPr>
        <p:spPr bwMode="auto">
          <a:xfrm rot="10800000">
            <a:off x="7894638" y="4451350"/>
            <a:ext cx="360362" cy="0"/>
          </a:xfrm>
          <a:prstGeom prst="line">
            <a:avLst/>
          </a:prstGeom>
          <a:noFill/>
          <a:ln w="38100" algn="ctr">
            <a:solidFill>
              <a:schemeClr val="tx2"/>
            </a:solidFill>
            <a:round/>
            <a:headEnd/>
            <a:tailEnd/>
          </a:ln>
        </p:spPr>
      </p:cxnSp>
      <p:sp>
        <p:nvSpPr>
          <p:cNvPr id="12294" name="Rectangle 2"/>
          <p:cNvSpPr>
            <a:spLocks noGrp="1" noChangeArrowheads="1"/>
          </p:cNvSpPr>
          <p:nvPr>
            <p:ph type="title"/>
          </p:nvPr>
        </p:nvSpPr>
        <p:spPr/>
        <p:txBody>
          <a:bodyPr/>
          <a:lstStyle/>
          <a:p>
            <a:r>
              <a:rPr lang="zh-CN" altLang="en-US"/>
              <a:t>路由概述</a:t>
            </a:r>
          </a:p>
        </p:txBody>
      </p:sp>
      <p:sp>
        <p:nvSpPr>
          <p:cNvPr id="12295" name="内容占位符 10"/>
          <p:cNvSpPr>
            <a:spLocks noGrp="1"/>
          </p:cNvSpPr>
          <p:nvPr>
            <p:ph idx="1"/>
          </p:nvPr>
        </p:nvSpPr>
        <p:spPr>
          <a:xfrm>
            <a:off x="1738313" y="1143000"/>
            <a:ext cx="8501062" cy="5143500"/>
          </a:xfrm>
        </p:spPr>
        <p:txBody>
          <a:bodyPr/>
          <a:lstStyle/>
          <a:p>
            <a:pPr>
              <a:spcBef>
                <a:spcPts val="675"/>
              </a:spcBef>
            </a:pPr>
            <a:r>
              <a:rPr lang="zh-CN" altLang="en-US">
                <a:cs typeface="Arial" pitchFamily="34" charset="0"/>
              </a:rPr>
              <a:t>路由</a:t>
            </a:r>
            <a:endParaRPr lang="en-US" altLang="zh-CN">
              <a:cs typeface="Arial" pitchFamily="34" charset="0"/>
            </a:endParaRPr>
          </a:p>
          <a:p>
            <a:pPr lvl="1">
              <a:spcBef>
                <a:spcPts val="475"/>
              </a:spcBef>
            </a:pPr>
            <a:r>
              <a:rPr lang="zh-CN" altLang="en-US">
                <a:cs typeface="Arial" pitchFamily="34" charset="0"/>
              </a:rPr>
              <a:t>跨越从源主机到目标主机的一个互联网络来转发数据包的过程</a:t>
            </a:r>
          </a:p>
        </p:txBody>
      </p:sp>
      <p:sp>
        <p:nvSpPr>
          <p:cNvPr id="12296" name="Text Box 20"/>
          <p:cNvSpPr txBox="1">
            <a:spLocks noChangeArrowheads="1"/>
          </p:cNvSpPr>
          <p:nvPr/>
        </p:nvSpPr>
        <p:spPr bwMode="auto">
          <a:xfrm>
            <a:off x="2738438" y="5140325"/>
            <a:ext cx="838200" cy="369888"/>
          </a:xfrm>
          <a:prstGeom prst="rect">
            <a:avLst/>
          </a:prstGeom>
          <a:noFill/>
          <a:ln w="9525">
            <a:noFill/>
            <a:miter lim="800000"/>
            <a:headEnd/>
            <a:tailEnd/>
          </a:ln>
        </p:spPr>
        <p:txBody>
          <a:bodyPr>
            <a:spAutoFit/>
          </a:bodyPr>
          <a:lstStyle/>
          <a:p>
            <a:pPr>
              <a:spcBef>
                <a:spcPct val="50000"/>
              </a:spcBef>
            </a:pPr>
            <a:r>
              <a:rPr lang="zh-CN" altLang="en-US" b="1">
                <a:solidFill>
                  <a:schemeClr val="tx2"/>
                </a:solidFill>
                <a:cs typeface="Arial" pitchFamily="34" charset="0"/>
              </a:rPr>
              <a:t>主机</a:t>
            </a:r>
            <a:r>
              <a:rPr lang="en-US" altLang="zh-CN" b="1">
                <a:solidFill>
                  <a:schemeClr val="tx2"/>
                </a:solidFill>
                <a:cs typeface="Arial" pitchFamily="34" charset="0"/>
              </a:rPr>
              <a:t>A</a:t>
            </a:r>
          </a:p>
        </p:txBody>
      </p:sp>
      <p:sp>
        <p:nvSpPr>
          <p:cNvPr id="12297" name="Text Box 23"/>
          <p:cNvSpPr txBox="1">
            <a:spLocks noChangeArrowheads="1"/>
          </p:cNvSpPr>
          <p:nvPr/>
        </p:nvSpPr>
        <p:spPr bwMode="auto">
          <a:xfrm>
            <a:off x="8348663" y="3898900"/>
            <a:ext cx="1471612" cy="369888"/>
          </a:xfrm>
          <a:prstGeom prst="rect">
            <a:avLst/>
          </a:prstGeom>
          <a:noFill/>
          <a:ln w="9525">
            <a:noFill/>
            <a:miter lim="800000"/>
            <a:headEnd/>
            <a:tailEnd/>
          </a:ln>
        </p:spPr>
        <p:txBody>
          <a:bodyPr>
            <a:spAutoFit/>
          </a:bodyPr>
          <a:lstStyle/>
          <a:p>
            <a:pPr>
              <a:spcBef>
                <a:spcPct val="50000"/>
              </a:spcBef>
            </a:pPr>
            <a:r>
              <a:rPr lang="en-US" altLang="zh-CN" b="1">
                <a:solidFill>
                  <a:schemeClr val="tx2"/>
                </a:solidFill>
                <a:cs typeface="Arial" pitchFamily="34" charset="0"/>
              </a:rPr>
              <a:t>192.168.1.0</a:t>
            </a:r>
          </a:p>
        </p:txBody>
      </p:sp>
      <p:sp>
        <p:nvSpPr>
          <p:cNvPr id="12298" name="Text Box 24"/>
          <p:cNvSpPr txBox="1">
            <a:spLocks noChangeArrowheads="1"/>
          </p:cNvSpPr>
          <p:nvPr/>
        </p:nvSpPr>
        <p:spPr bwMode="auto">
          <a:xfrm>
            <a:off x="2590800" y="4122739"/>
            <a:ext cx="1143000"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cs typeface="Arial" pitchFamily="34" charset="0"/>
              </a:rPr>
              <a:t>10.10.1.0</a:t>
            </a:r>
          </a:p>
        </p:txBody>
      </p:sp>
      <p:pic>
        <p:nvPicPr>
          <p:cNvPr id="12299" name="Picture 7"/>
          <p:cNvPicPr>
            <a:picLocks noChangeArrowheads="1"/>
          </p:cNvPicPr>
          <p:nvPr/>
        </p:nvPicPr>
        <p:blipFill>
          <a:blip r:embed="rId4"/>
          <a:srcRect/>
          <a:stretch>
            <a:fillRect/>
          </a:stretch>
        </p:blipFill>
        <p:spPr bwMode="auto">
          <a:xfrm>
            <a:off x="4964113" y="3816350"/>
            <a:ext cx="620712" cy="438150"/>
          </a:xfrm>
          <a:prstGeom prst="rect">
            <a:avLst/>
          </a:prstGeom>
          <a:noFill/>
          <a:ln w="9525">
            <a:noFill/>
            <a:miter lim="800000"/>
            <a:headEnd/>
            <a:tailEnd/>
          </a:ln>
        </p:spPr>
      </p:pic>
      <p:sp>
        <p:nvSpPr>
          <p:cNvPr id="12300" name="Text Box 47"/>
          <p:cNvSpPr txBox="1">
            <a:spLocks noChangeArrowheads="1"/>
          </p:cNvSpPr>
          <p:nvPr/>
        </p:nvSpPr>
        <p:spPr bwMode="auto">
          <a:xfrm>
            <a:off x="8615363" y="4962525"/>
            <a:ext cx="838200" cy="369888"/>
          </a:xfrm>
          <a:prstGeom prst="rect">
            <a:avLst/>
          </a:prstGeom>
          <a:noFill/>
          <a:ln w="9525">
            <a:noFill/>
            <a:miter lim="800000"/>
            <a:headEnd/>
            <a:tailEnd/>
          </a:ln>
        </p:spPr>
        <p:txBody>
          <a:bodyPr>
            <a:spAutoFit/>
          </a:bodyPr>
          <a:lstStyle/>
          <a:p>
            <a:pPr>
              <a:spcBef>
                <a:spcPct val="50000"/>
              </a:spcBef>
            </a:pPr>
            <a:r>
              <a:rPr lang="zh-CN" altLang="en-US" b="1">
                <a:solidFill>
                  <a:schemeClr val="tx2"/>
                </a:solidFill>
                <a:cs typeface="Arial" pitchFamily="34" charset="0"/>
              </a:rPr>
              <a:t>主机</a:t>
            </a:r>
            <a:r>
              <a:rPr lang="en-US" altLang="zh-CN" b="1">
                <a:solidFill>
                  <a:schemeClr val="tx2"/>
                </a:solidFill>
                <a:cs typeface="Arial" pitchFamily="34" charset="0"/>
              </a:rPr>
              <a:t>B</a:t>
            </a:r>
          </a:p>
        </p:txBody>
      </p:sp>
      <p:pic>
        <p:nvPicPr>
          <p:cNvPr id="12301" name="Picture 7"/>
          <p:cNvPicPr>
            <a:picLocks noChangeArrowheads="1"/>
          </p:cNvPicPr>
          <p:nvPr/>
        </p:nvPicPr>
        <p:blipFill>
          <a:blip r:embed="rId4"/>
          <a:srcRect/>
          <a:stretch>
            <a:fillRect/>
          </a:stretch>
        </p:blipFill>
        <p:spPr bwMode="auto">
          <a:xfrm>
            <a:off x="6278563" y="3830638"/>
            <a:ext cx="620712" cy="438150"/>
          </a:xfrm>
          <a:prstGeom prst="rect">
            <a:avLst/>
          </a:prstGeom>
          <a:noFill/>
          <a:ln w="9525">
            <a:noFill/>
            <a:miter lim="800000"/>
            <a:headEnd/>
            <a:tailEnd/>
          </a:ln>
        </p:spPr>
      </p:pic>
      <p:pic>
        <p:nvPicPr>
          <p:cNvPr id="12302" name="Picture 7"/>
          <p:cNvPicPr>
            <a:picLocks noChangeArrowheads="1"/>
          </p:cNvPicPr>
          <p:nvPr/>
        </p:nvPicPr>
        <p:blipFill>
          <a:blip r:embed="rId4"/>
          <a:srcRect/>
          <a:stretch>
            <a:fillRect/>
          </a:stretch>
        </p:blipFill>
        <p:spPr bwMode="auto">
          <a:xfrm>
            <a:off x="7373938" y="4217988"/>
            <a:ext cx="620712" cy="438150"/>
          </a:xfrm>
          <a:prstGeom prst="rect">
            <a:avLst/>
          </a:prstGeom>
          <a:noFill/>
          <a:ln w="9525">
            <a:noFill/>
            <a:miter lim="800000"/>
            <a:headEnd/>
            <a:tailEnd/>
          </a:ln>
        </p:spPr>
      </p:pic>
      <p:pic>
        <p:nvPicPr>
          <p:cNvPr id="12303" name="Picture 7"/>
          <p:cNvPicPr>
            <a:picLocks noChangeArrowheads="1"/>
          </p:cNvPicPr>
          <p:nvPr/>
        </p:nvPicPr>
        <p:blipFill>
          <a:blip r:embed="rId4"/>
          <a:srcRect/>
          <a:stretch>
            <a:fillRect/>
          </a:stretch>
        </p:blipFill>
        <p:spPr bwMode="auto">
          <a:xfrm>
            <a:off x="6767513" y="4816475"/>
            <a:ext cx="620712" cy="438150"/>
          </a:xfrm>
          <a:prstGeom prst="rect">
            <a:avLst/>
          </a:prstGeom>
          <a:noFill/>
          <a:ln w="9525">
            <a:noFill/>
            <a:miter lim="800000"/>
            <a:headEnd/>
            <a:tailEnd/>
          </a:ln>
        </p:spPr>
      </p:pic>
      <p:pic>
        <p:nvPicPr>
          <p:cNvPr id="12304" name="Picture 7"/>
          <p:cNvPicPr>
            <a:picLocks noChangeArrowheads="1"/>
          </p:cNvPicPr>
          <p:nvPr/>
        </p:nvPicPr>
        <p:blipFill>
          <a:blip r:embed="rId4"/>
          <a:srcRect/>
          <a:stretch>
            <a:fillRect/>
          </a:stretch>
        </p:blipFill>
        <p:spPr bwMode="auto">
          <a:xfrm>
            <a:off x="5475288" y="4802188"/>
            <a:ext cx="620712" cy="438150"/>
          </a:xfrm>
          <a:prstGeom prst="rect">
            <a:avLst/>
          </a:prstGeom>
          <a:noFill/>
          <a:ln w="9525">
            <a:noFill/>
            <a:miter lim="800000"/>
            <a:headEnd/>
            <a:tailEnd/>
          </a:ln>
        </p:spPr>
      </p:pic>
      <p:pic>
        <p:nvPicPr>
          <p:cNvPr id="12305" name="Picture 7"/>
          <p:cNvPicPr>
            <a:picLocks noChangeArrowheads="1"/>
          </p:cNvPicPr>
          <p:nvPr/>
        </p:nvPicPr>
        <p:blipFill>
          <a:blip r:embed="rId4"/>
          <a:srcRect/>
          <a:stretch>
            <a:fillRect/>
          </a:stretch>
        </p:blipFill>
        <p:spPr bwMode="auto">
          <a:xfrm>
            <a:off x="4029076" y="4356100"/>
            <a:ext cx="620713" cy="438150"/>
          </a:xfrm>
          <a:prstGeom prst="rect">
            <a:avLst/>
          </a:prstGeom>
          <a:noFill/>
          <a:ln w="9525">
            <a:noFill/>
            <a:miter lim="800000"/>
            <a:headEnd/>
            <a:tailEnd/>
          </a:ln>
        </p:spPr>
      </p:pic>
      <p:pic>
        <p:nvPicPr>
          <p:cNvPr id="12306" name="图片 11" descr="asdf.png"/>
          <p:cNvPicPr>
            <a:picLocks noChangeAspect="1"/>
          </p:cNvPicPr>
          <p:nvPr/>
        </p:nvPicPr>
        <p:blipFill>
          <a:blip r:embed="rId5"/>
          <a:srcRect/>
          <a:stretch>
            <a:fillRect/>
          </a:stretch>
        </p:blipFill>
        <p:spPr bwMode="auto">
          <a:xfrm>
            <a:off x="8542339" y="4195763"/>
            <a:ext cx="839787" cy="798512"/>
          </a:xfrm>
          <a:prstGeom prst="rect">
            <a:avLst/>
          </a:prstGeom>
          <a:noFill/>
          <a:ln w="9525">
            <a:noFill/>
            <a:miter lim="800000"/>
            <a:headEnd/>
            <a:tailEnd/>
          </a:ln>
        </p:spPr>
      </p:pic>
      <p:pic>
        <p:nvPicPr>
          <p:cNvPr id="12307" name="图片 11" descr="asdf.png"/>
          <p:cNvPicPr>
            <a:picLocks noChangeAspect="1"/>
          </p:cNvPicPr>
          <p:nvPr/>
        </p:nvPicPr>
        <p:blipFill>
          <a:blip r:embed="rId5"/>
          <a:srcRect/>
          <a:stretch>
            <a:fillRect/>
          </a:stretch>
        </p:blipFill>
        <p:spPr bwMode="auto">
          <a:xfrm>
            <a:off x="2678114" y="4400551"/>
            <a:ext cx="839787" cy="798513"/>
          </a:xfrm>
          <a:prstGeom prst="rect">
            <a:avLst/>
          </a:prstGeom>
          <a:noFill/>
          <a:ln w="9525">
            <a:noFill/>
            <a:miter lim="800000"/>
            <a:headEnd/>
            <a:tailEnd/>
          </a:ln>
        </p:spPr>
      </p:pic>
      <p:cxnSp>
        <p:nvCxnSpPr>
          <p:cNvPr id="12308" name="直接连接符 85"/>
          <p:cNvCxnSpPr>
            <a:cxnSpLocks noChangeShapeType="1"/>
          </p:cNvCxnSpPr>
          <p:nvPr/>
        </p:nvCxnSpPr>
        <p:spPr bwMode="auto">
          <a:xfrm>
            <a:off x="5584825" y="4035425"/>
            <a:ext cx="693738" cy="14288"/>
          </a:xfrm>
          <a:prstGeom prst="line">
            <a:avLst/>
          </a:prstGeom>
          <a:noFill/>
          <a:ln w="38100" algn="ctr">
            <a:solidFill>
              <a:schemeClr val="tx2"/>
            </a:solidFill>
            <a:round/>
            <a:headEnd/>
            <a:tailEnd/>
          </a:ln>
        </p:spPr>
      </p:cxnSp>
      <p:cxnSp>
        <p:nvCxnSpPr>
          <p:cNvPr id="12309" name="直接连接符 88"/>
          <p:cNvCxnSpPr>
            <a:cxnSpLocks noChangeShapeType="1"/>
          </p:cNvCxnSpPr>
          <p:nvPr/>
        </p:nvCxnSpPr>
        <p:spPr bwMode="auto">
          <a:xfrm>
            <a:off x="6873876" y="4148139"/>
            <a:ext cx="500063" cy="288925"/>
          </a:xfrm>
          <a:prstGeom prst="line">
            <a:avLst/>
          </a:prstGeom>
          <a:noFill/>
          <a:ln w="38100" algn="ctr">
            <a:solidFill>
              <a:schemeClr val="tx2"/>
            </a:solidFill>
            <a:round/>
            <a:headEnd/>
            <a:tailEnd/>
          </a:ln>
        </p:spPr>
      </p:cxnSp>
      <p:cxnSp>
        <p:nvCxnSpPr>
          <p:cNvPr id="12310" name="直接连接符 91"/>
          <p:cNvCxnSpPr>
            <a:cxnSpLocks noChangeShapeType="1"/>
          </p:cNvCxnSpPr>
          <p:nvPr/>
        </p:nvCxnSpPr>
        <p:spPr bwMode="auto">
          <a:xfrm flipV="1">
            <a:off x="7310439" y="4613276"/>
            <a:ext cx="231775" cy="231775"/>
          </a:xfrm>
          <a:prstGeom prst="line">
            <a:avLst/>
          </a:prstGeom>
          <a:noFill/>
          <a:ln w="38100" algn="ctr">
            <a:solidFill>
              <a:schemeClr val="tx2"/>
            </a:solidFill>
            <a:round/>
            <a:headEnd/>
            <a:tailEnd/>
          </a:ln>
        </p:spPr>
      </p:cxnSp>
      <p:cxnSp>
        <p:nvCxnSpPr>
          <p:cNvPr id="12311" name="直接连接符 94"/>
          <p:cNvCxnSpPr>
            <a:cxnSpLocks noChangeShapeType="1"/>
          </p:cNvCxnSpPr>
          <p:nvPr/>
        </p:nvCxnSpPr>
        <p:spPr bwMode="auto">
          <a:xfrm rot="16200000" flipV="1">
            <a:off x="6519069" y="4368007"/>
            <a:ext cx="573088" cy="327025"/>
          </a:xfrm>
          <a:prstGeom prst="line">
            <a:avLst/>
          </a:prstGeom>
          <a:noFill/>
          <a:ln w="38100" algn="ctr">
            <a:solidFill>
              <a:schemeClr val="tx2"/>
            </a:solidFill>
            <a:round/>
            <a:headEnd/>
            <a:tailEnd/>
          </a:ln>
        </p:spPr>
      </p:cxnSp>
      <p:cxnSp>
        <p:nvCxnSpPr>
          <p:cNvPr id="12312" name="直接连接符 97"/>
          <p:cNvCxnSpPr>
            <a:cxnSpLocks noChangeShapeType="1"/>
          </p:cNvCxnSpPr>
          <p:nvPr/>
        </p:nvCxnSpPr>
        <p:spPr bwMode="auto">
          <a:xfrm rot="5400000" flipH="1" flipV="1">
            <a:off x="5973763" y="4271963"/>
            <a:ext cx="558800" cy="558800"/>
          </a:xfrm>
          <a:prstGeom prst="line">
            <a:avLst/>
          </a:prstGeom>
          <a:noFill/>
          <a:ln w="38100" algn="ctr">
            <a:solidFill>
              <a:schemeClr val="tx2"/>
            </a:solidFill>
            <a:round/>
            <a:headEnd/>
            <a:tailEnd/>
          </a:ln>
        </p:spPr>
      </p:cxnSp>
      <p:cxnSp>
        <p:nvCxnSpPr>
          <p:cNvPr id="12313" name="直接连接符 100"/>
          <p:cNvCxnSpPr>
            <a:cxnSpLocks noChangeShapeType="1"/>
          </p:cNvCxnSpPr>
          <p:nvPr/>
        </p:nvCxnSpPr>
        <p:spPr bwMode="auto">
          <a:xfrm>
            <a:off x="6096001" y="5021264"/>
            <a:ext cx="671513" cy="14287"/>
          </a:xfrm>
          <a:prstGeom prst="line">
            <a:avLst/>
          </a:prstGeom>
          <a:noFill/>
          <a:ln w="38100" algn="ctr">
            <a:solidFill>
              <a:schemeClr val="tx2"/>
            </a:solidFill>
            <a:round/>
            <a:headEnd/>
            <a:tailEnd/>
          </a:ln>
        </p:spPr>
      </p:cxnSp>
      <p:cxnSp>
        <p:nvCxnSpPr>
          <p:cNvPr id="12314" name="直接连接符 103"/>
          <p:cNvCxnSpPr>
            <a:cxnSpLocks noChangeShapeType="1"/>
          </p:cNvCxnSpPr>
          <p:nvPr/>
        </p:nvCxnSpPr>
        <p:spPr bwMode="auto">
          <a:xfrm rot="16200000" flipV="1">
            <a:off x="5119688" y="4360863"/>
            <a:ext cx="573088" cy="341313"/>
          </a:xfrm>
          <a:prstGeom prst="line">
            <a:avLst/>
          </a:prstGeom>
          <a:noFill/>
          <a:ln w="38100" algn="ctr">
            <a:solidFill>
              <a:schemeClr val="tx2"/>
            </a:solidFill>
            <a:round/>
            <a:headEnd/>
            <a:tailEnd/>
          </a:ln>
        </p:spPr>
      </p:cxnSp>
      <p:cxnSp>
        <p:nvCxnSpPr>
          <p:cNvPr id="12315" name="直接连接符 106"/>
          <p:cNvCxnSpPr>
            <a:cxnSpLocks noChangeShapeType="1"/>
          </p:cNvCxnSpPr>
          <p:nvPr/>
        </p:nvCxnSpPr>
        <p:spPr bwMode="auto">
          <a:xfrm rot="10800000">
            <a:off x="4649788" y="4518026"/>
            <a:ext cx="831850" cy="409575"/>
          </a:xfrm>
          <a:prstGeom prst="line">
            <a:avLst/>
          </a:prstGeom>
          <a:noFill/>
          <a:ln w="38100" algn="ctr">
            <a:solidFill>
              <a:schemeClr val="tx2"/>
            </a:solidFill>
            <a:round/>
            <a:headEnd/>
            <a:tailEnd/>
          </a:ln>
        </p:spPr>
      </p:cxnSp>
      <p:cxnSp>
        <p:nvCxnSpPr>
          <p:cNvPr id="12316" name="直接连接符 109"/>
          <p:cNvCxnSpPr>
            <a:cxnSpLocks noChangeShapeType="1"/>
          </p:cNvCxnSpPr>
          <p:nvPr/>
        </p:nvCxnSpPr>
        <p:spPr bwMode="auto">
          <a:xfrm flipV="1">
            <a:off x="4594226" y="4176714"/>
            <a:ext cx="436563" cy="231775"/>
          </a:xfrm>
          <a:prstGeom prst="line">
            <a:avLst/>
          </a:prstGeom>
          <a:noFill/>
          <a:ln w="38100" algn="ctr">
            <a:solidFill>
              <a:schemeClr val="tx2"/>
            </a:solidFill>
            <a:round/>
            <a:headEnd/>
            <a:tailEnd/>
          </a:ln>
        </p:spPr>
      </p:cxnSp>
      <p:cxnSp>
        <p:nvCxnSpPr>
          <p:cNvPr id="12317" name="直接连接符 113"/>
          <p:cNvCxnSpPr>
            <a:cxnSpLocks noChangeShapeType="1"/>
          </p:cNvCxnSpPr>
          <p:nvPr/>
        </p:nvCxnSpPr>
        <p:spPr bwMode="auto">
          <a:xfrm rot="-5400000">
            <a:off x="3328195" y="4561682"/>
            <a:ext cx="833437" cy="0"/>
          </a:xfrm>
          <a:prstGeom prst="line">
            <a:avLst/>
          </a:prstGeom>
          <a:noFill/>
          <a:ln w="38100" algn="ctr">
            <a:solidFill>
              <a:schemeClr val="tx2"/>
            </a:solidFill>
            <a:round/>
            <a:headEnd/>
            <a:tailEnd/>
          </a:ln>
        </p:spPr>
      </p:cxnSp>
      <p:cxnSp>
        <p:nvCxnSpPr>
          <p:cNvPr id="12318" name="直接连接符 114"/>
          <p:cNvCxnSpPr>
            <a:cxnSpLocks noChangeShapeType="1"/>
          </p:cNvCxnSpPr>
          <p:nvPr/>
        </p:nvCxnSpPr>
        <p:spPr bwMode="auto">
          <a:xfrm rot="-5400000">
            <a:off x="7843838" y="4521200"/>
            <a:ext cx="831850" cy="0"/>
          </a:xfrm>
          <a:prstGeom prst="line">
            <a:avLst/>
          </a:prstGeom>
          <a:noFill/>
          <a:ln w="38100" algn="ctr">
            <a:solidFill>
              <a:schemeClr val="tx2"/>
            </a:solidFill>
            <a:round/>
            <a:headEnd/>
            <a:tailEnd/>
          </a:ln>
        </p:spPr>
      </p:cxnSp>
      <p:cxnSp>
        <p:nvCxnSpPr>
          <p:cNvPr id="12319" name="直接连接符 117"/>
          <p:cNvCxnSpPr>
            <a:cxnSpLocks noChangeShapeType="1"/>
          </p:cNvCxnSpPr>
          <p:nvPr/>
        </p:nvCxnSpPr>
        <p:spPr bwMode="auto">
          <a:xfrm rot="10800000">
            <a:off x="8255001" y="4597400"/>
            <a:ext cx="360363" cy="0"/>
          </a:xfrm>
          <a:prstGeom prst="line">
            <a:avLst/>
          </a:prstGeom>
          <a:noFill/>
          <a:ln w="38100" algn="ctr">
            <a:solidFill>
              <a:schemeClr val="tx2"/>
            </a:solidFill>
            <a:round/>
            <a:headEnd/>
            <a:tailEnd/>
          </a:ln>
        </p:spPr>
      </p:cxnSp>
      <p:sp>
        <p:nvSpPr>
          <p:cNvPr id="119" name="Oval 27"/>
          <p:cNvSpPr>
            <a:spLocks noChangeArrowheads="1"/>
          </p:cNvSpPr>
          <p:nvPr/>
        </p:nvSpPr>
        <p:spPr bwMode="auto">
          <a:xfrm>
            <a:off x="3394075" y="4710113"/>
            <a:ext cx="215900" cy="215900"/>
          </a:xfrm>
          <a:prstGeom prst="ellipse">
            <a:avLst/>
          </a:prstGeom>
          <a:solidFill>
            <a:srgbClr val="FF99FF"/>
          </a:solidFill>
          <a:ln w="9525" algn="ctr">
            <a:noFill/>
            <a:round/>
            <a:headEnd/>
            <a:tailEnd/>
          </a:ln>
          <a:effectLst>
            <a:prstShdw prst="shdw17" dist="17961" dir="2700000">
              <a:srgbClr val="995C99"/>
            </a:prstShdw>
          </a:effectLst>
        </p:spPr>
        <p:txBody>
          <a:bodyPr wrap="none" anchor="ctr"/>
          <a:lstStyle/>
          <a:p>
            <a:endParaRPr lang="zh-CN" altLang="en-US"/>
          </a:p>
        </p:txBody>
      </p:sp>
      <p:sp>
        <p:nvSpPr>
          <p:cNvPr id="120" name="AutoShape 28"/>
          <p:cNvSpPr>
            <a:spLocks noChangeArrowheads="1"/>
          </p:cNvSpPr>
          <p:nvPr/>
        </p:nvSpPr>
        <p:spPr bwMode="auto">
          <a:xfrm>
            <a:off x="4964114" y="2357438"/>
            <a:ext cx="3489325" cy="1128712"/>
          </a:xfrm>
          <a:prstGeom prst="wedgeRoundRectCallout">
            <a:avLst>
              <a:gd name="adj1" fmla="val -37097"/>
              <a:gd name="adj2" fmla="val 85125"/>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rgbClr val="000000"/>
                </a:solidFill>
                <a:latin typeface="楷体_GB2312" pitchFamily="49" charset="-122"/>
                <a:ea typeface="楷体_GB2312" pitchFamily="49" charset="-122"/>
              </a:rPr>
              <a:t>能够将数据包转发到正确的目的地，并在转发过程中选择最佳路径的设备－路由器</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grpId="1" nodeType="afterEffect">
                                  <p:stCondLst>
                                    <p:cond delay="0"/>
                                  </p:stCondLst>
                                  <p:childTnLst>
                                    <p:animMotion origin="layout" path="M 0.00451 3.60777E-6 C 0.00851 3.60777E-6 0.02187 0.00717 0.02691 3.60777E-6 C 0.03194 -0.00717 0.0276 -0.03585 0.03472 -0.04256 C 0.04184 -0.04926 0.04635 -0.03169 0.06962 -0.04048 C 0.09288 -0.04926 0.1342 -0.08418 0.17448 -0.09552 C 0.21476 -0.10685 0.27604 -0.12628 0.31094 -0.10824 C 0.34583 -0.0902 0.36076 0.00138 0.38385 0.01225 C 0.40694 0.02312 0.42535 -0.03261 0.44896 -0.04256 C 0.47257 -0.0525 0.50746 -0.04926 0.52517 -0.04695 C 0.54288 -0.04464 0.54896 -0.03076 0.55538 -0.02799 C 0.56181 -0.02521 0.5625 -0.02937 0.56424 -0.02984 " pathEditMode="relative" rAng="0" ptsTypes="aaaaaaaaaaa">
                                      <p:cBhvr>
                                        <p:cTn id="9" dur="5000" fill="hold"/>
                                        <p:tgtEl>
                                          <p:spTgt spid="119"/>
                                        </p:tgtEl>
                                        <p:attrNameLst>
                                          <p:attrName>ppt_x</p:attrName>
                                          <p:attrName>ppt_y</p:attrName>
                                        </p:attrNameLst>
                                      </p:cBhvr>
                                      <p:rCtr x="28000" y="-5200"/>
                                    </p:animMotion>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120"/>
                                        </p:tgtEl>
                                        <p:attrNameLst>
                                          <p:attrName>style.visibility</p:attrName>
                                        </p:attrNameLst>
                                      </p:cBhvr>
                                      <p:to>
                                        <p:strVal val="visible"/>
                                      </p:to>
                                    </p:set>
                                    <p:animEffect transition="in" filter="blinds(horizontal)">
                                      <p:cBhvr>
                                        <p:cTn id="14"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19" grpId="1" animBg="1"/>
      <p:bldP spid="1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a:t>路由器的工作原理</a:t>
            </a:r>
          </a:p>
        </p:txBody>
      </p:sp>
      <p:graphicFrame>
        <p:nvGraphicFramePr>
          <p:cNvPr id="159" name="Group 195"/>
          <p:cNvGraphicFramePr>
            <a:graphicFrameLocks noGrp="1"/>
          </p:cNvGraphicFramePr>
          <p:nvPr/>
        </p:nvGraphicFramePr>
        <p:xfrm>
          <a:off x="3001964" y="4257675"/>
          <a:ext cx="2155825" cy="1981200"/>
        </p:xfrm>
        <a:graphic>
          <a:graphicData uri="http://schemas.openxmlformats.org/drawingml/2006/table">
            <a:tbl>
              <a:tblPr/>
              <a:tblGrid>
                <a:gridCol w="1077913">
                  <a:extLst>
                    <a:ext uri="{9D8B030D-6E8A-4147-A177-3AD203B41FA5}">
                      <a16:colId xmlns:a16="http://schemas.microsoft.com/office/drawing/2014/main" val="20000"/>
                    </a:ext>
                  </a:extLst>
                </a:gridCol>
                <a:gridCol w="1077912">
                  <a:extLst>
                    <a:ext uri="{9D8B030D-6E8A-4147-A177-3AD203B41FA5}">
                      <a16:colId xmlns:a16="http://schemas.microsoft.com/office/drawing/2014/main" val="20001"/>
                    </a:ext>
                  </a:extLst>
                </a:gridCol>
              </a:tblGrid>
              <a:tr h="268288">
                <a:tc gridSpan="2">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000" b="1" i="0" u="none" strike="noStrike" kern="1200" cap="none" normalizeH="0" baseline="0" dirty="0">
                          <a:ln>
                            <a:noFill/>
                          </a:ln>
                          <a:solidFill>
                            <a:schemeClr val="tx2"/>
                          </a:solidFill>
                          <a:effectLst/>
                          <a:latin typeface="Arial" charset="0"/>
                          <a:ea typeface="楷体_GB2312" pitchFamily="49" charset="-122"/>
                          <a:cs typeface="+mn-cs"/>
                        </a:rPr>
                        <a:t>路由表</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val="10000"/>
                  </a:ext>
                </a:extLst>
              </a:tr>
              <a:tr h="27463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000" b="1" i="0" u="none" strike="noStrike" kern="1200" cap="none" normalizeH="0" baseline="0" dirty="0">
                          <a:ln>
                            <a:noFill/>
                          </a:ln>
                          <a:solidFill>
                            <a:schemeClr val="tx2"/>
                          </a:solidFill>
                          <a:effectLst/>
                          <a:latin typeface="Arial" charset="0"/>
                          <a:ea typeface="楷体_GB2312" pitchFamily="49" charset="-122"/>
                          <a:cs typeface="+mn-cs"/>
                        </a:rPr>
                        <a:t>网段</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000" b="1" i="0" u="none" strike="noStrike" kern="1200" cap="none" normalizeH="0" baseline="0" dirty="0">
                          <a:ln>
                            <a:noFill/>
                          </a:ln>
                          <a:solidFill>
                            <a:schemeClr val="tx2"/>
                          </a:solidFill>
                          <a:effectLst/>
                          <a:latin typeface="Arial" charset="0"/>
                          <a:ea typeface="楷体_GB2312" pitchFamily="49" charset="-122"/>
                          <a:cs typeface="+mn-cs"/>
                        </a:rPr>
                        <a:t>接口</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50825">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kern="1200" cap="none" normalizeH="0" baseline="0" dirty="0">
                          <a:ln>
                            <a:noFill/>
                          </a:ln>
                          <a:solidFill>
                            <a:schemeClr val="tx2"/>
                          </a:solidFill>
                          <a:effectLst/>
                          <a:latin typeface="Arial" charset="0"/>
                          <a:ea typeface="楷体_GB2312" pitchFamily="49" charset="-122"/>
                          <a:cs typeface="+mn-cs"/>
                        </a:rPr>
                        <a:t>1.0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kern="1200" cap="none" normalizeH="0" baseline="0" dirty="0">
                          <a:ln>
                            <a:noFill/>
                          </a:ln>
                          <a:solidFill>
                            <a:schemeClr val="tx2"/>
                          </a:solidFill>
                          <a:effectLst/>
                          <a:latin typeface="Arial" charset="0"/>
                          <a:ea typeface="楷体_GB2312" pitchFamily="49" charset="-122"/>
                          <a:cs typeface="+mn-cs"/>
                        </a:rPr>
                        <a:t>E0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50825">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kern="1200" cap="none" normalizeH="0" baseline="0" dirty="0">
                          <a:ln>
                            <a:noFill/>
                          </a:ln>
                          <a:solidFill>
                            <a:schemeClr val="tx2"/>
                          </a:solidFill>
                          <a:effectLst/>
                          <a:latin typeface="Arial" charset="0"/>
                          <a:ea typeface="楷体_GB2312" pitchFamily="49" charset="-122"/>
                          <a:cs typeface="+mn-cs"/>
                        </a:rPr>
                        <a:t>2.0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kern="1200" cap="none" normalizeH="0" baseline="0" dirty="0">
                          <a:ln>
                            <a:noFill/>
                          </a:ln>
                          <a:solidFill>
                            <a:schemeClr val="tx2"/>
                          </a:solidFill>
                          <a:effectLst/>
                          <a:latin typeface="Arial" charset="0"/>
                          <a:ea typeface="楷体_GB2312" pitchFamily="49" charset="-122"/>
                          <a:cs typeface="+mn-cs"/>
                        </a:rPr>
                        <a:t>S0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50825">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kern="1200" cap="none" normalizeH="0" baseline="0" dirty="0">
                          <a:ln>
                            <a:noFill/>
                          </a:ln>
                          <a:solidFill>
                            <a:schemeClr val="tx2"/>
                          </a:solidFill>
                          <a:effectLst/>
                          <a:latin typeface="Arial" charset="0"/>
                          <a:ea typeface="楷体_GB2312" pitchFamily="49" charset="-122"/>
                          <a:cs typeface="+mn-cs"/>
                        </a:rPr>
                        <a:t>4.0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kern="1200" cap="none" normalizeH="0" baseline="0" dirty="0">
                          <a:ln>
                            <a:noFill/>
                          </a:ln>
                          <a:solidFill>
                            <a:schemeClr val="tx2"/>
                          </a:solidFill>
                          <a:effectLst/>
                          <a:latin typeface="Arial" charset="0"/>
                          <a:ea typeface="楷体_GB2312" pitchFamily="49" charset="-122"/>
                          <a:cs typeface="+mn-cs"/>
                        </a:rPr>
                        <a:t>S0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60" name="Group 215"/>
          <p:cNvGraphicFramePr>
            <a:graphicFrameLocks noGrp="1"/>
          </p:cNvGraphicFramePr>
          <p:nvPr/>
        </p:nvGraphicFramePr>
        <p:xfrm>
          <a:off x="6751639" y="4248150"/>
          <a:ext cx="2160587" cy="1981200"/>
        </p:xfrm>
        <a:graphic>
          <a:graphicData uri="http://schemas.openxmlformats.org/drawingml/2006/table">
            <a:tbl>
              <a:tblPr/>
              <a:tblGrid>
                <a:gridCol w="1081087">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tblGrid>
              <a:tr h="257175">
                <a:tc gridSpan="2">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000" b="1" i="0" u="none" strike="noStrike" cap="none" normalizeH="0" baseline="0" dirty="0">
                          <a:ln>
                            <a:noFill/>
                          </a:ln>
                          <a:solidFill>
                            <a:schemeClr val="tx2"/>
                          </a:solidFill>
                          <a:effectLst/>
                          <a:latin typeface="Arial" charset="0"/>
                          <a:ea typeface="楷体_GB2312" pitchFamily="49" charset="-122"/>
                        </a:rPr>
                        <a:t>路由表</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val="10000"/>
                  </a:ext>
                </a:extLst>
              </a:tr>
              <a:tr h="257175">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000" b="1" i="0" u="none" strike="noStrike" cap="none" normalizeH="0" baseline="0">
                          <a:ln>
                            <a:noFill/>
                          </a:ln>
                          <a:solidFill>
                            <a:schemeClr val="tx2"/>
                          </a:solidFill>
                          <a:effectLst/>
                          <a:latin typeface="Arial" charset="0"/>
                          <a:ea typeface="楷体_GB2312" pitchFamily="49" charset="-122"/>
                        </a:rPr>
                        <a:t>网段</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000" b="1" i="0" u="none" strike="noStrike" cap="none" normalizeH="0" baseline="0">
                          <a:ln>
                            <a:noFill/>
                          </a:ln>
                          <a:solidFill>
                            <a:schemeClr val="tx2"/>
                          </a:solidFill>
                          <a:effectLst/>
                          <a:latin typeface="Arial" charset="0"/>
                          <a:ea typeface="楷体_GB2312" pitchFamily="49" charset="-122"/>
                        </a:rPr>
                        <a:t>接口</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653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cap="none" normalizeH="0" baseline="0">
                          <a:ln>
                            <a:noFill/>
                          </a:ln>
                          <a:solidFill>
                            <a:schemeClr val="tx2"/>
                          </a:solidFill>
                          <a:effectLst/>
                          <a:latin typeface="Arial" charset="0"/>
                          <a:ea typeface="楷体_GB2312" pitchFamily="49" charset="-122"/>
                        </a:rPr>
                        <a:t>1.0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cap="none" normalizeH="0" baseline="0">
                          <a:ln>
                            <a:noFill/>
                          </a:ln>
                          <a:solidFill>
                            <a:schemeClr val="tx2"/>
                          </a:solidFill>
                          <a:effectLst/>
                          <a:latin typeface="Arial" charset="0"/>
                          <a:ea typeface="楷体_GB2312" pitchFamily="49" charset="-122"/>
                        </a:rPr>
                        <a:t>S0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3653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cap="none" normalizeH="0" baseline="0">
                          <a:ln>
                            <a:noFill/>
                          </a:ln>
                          <a:solidFill>
                            <a:schemeClr val="tx2"/>
                          </a:solidFill>
                          <a:effectLst/>
                          <a:latin typeface="Arial" charset="0"/>
                          <a:ea typeface="楷体_GB2312" pitchFamily="49" charset="-122"/>
                        </a:rPr>
                        <a:t>2.0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cap="none" normalizeH="0" baseline="0">
                          <a:ln>
                            <a:noFill/>
                          </a:ln>
                          <a:solidFill>
                            <a:schemeClr val="tx2"/>
                          </a:solidFill>
                          <a:effectLst/>
                          <a:latin typeface="Arial" charset="0"/>
                          <a:ea typeface="楷体_GB2312" pitchFamily="49" charset="-122"/>
                        </a:rPr>
                        <a:t>S0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3653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cap="none" normalizeH="0" baseline="0" dirty="0">
                          <a:ln>
                            <a:noFill/>
                          </a:ln>
                          <a:solidFill>
                            <a:schemeClr val="tx2"/>
                          </a:solidFill>
                          <a:effectLst/>
                          <a:latin typeface="Arial" charset="0"/>
                          <a:ea typeface="楷体_GB2312" pitchFamily="49" charset="-122"/>
                        </a:rPr>
                        <a:t>4.0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en-US" altLang="zh-CN" sz="2000" b="1" i="0" u="none" strike="noStrike" cap="none" normalizeH="0" baseline="0" dirty="0">
                          <a:ln>
                            <a:noFill/>
                          </a:ln>
                          <a:solidFill>
                            <a:schemeClr val="tx2"/>
                          </a:solidFill>
                          <a:effectLst/>
                          <a:latin typeface="Arial" charset="0"/>
                          <a:ea typeface="楷体_GB2312" pitchFamily="49" charset="-122"/>
                        </a:rPr>
                        <a:t>E0</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3353" name="Text Box 168"/>
          <p:cNvSpPr txBox="1">
            <a:spLocks noChangeArrowheads="1"/>
          </p:cNvSpPr>
          <p:nvPr/>
        </p:nvSpPr>
        <p:spPr bwMode="auto">
          <a:xfrm>
            <a:off x="2047876" y="3006725"/>
            <a:ext cx="506413" cy="369888"/>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1.1</a:t>
            </a:r>
          </a:p>
        </p:txBody>
      </p:sp>
      <p:sp>
        <p:nvSpPr>
          <p:cNvPr id="13354" name="Line 169"/>
          <p:cNvSpPr>
            <a:spLocks noChangeShapeType="1"/>
          </p:cNvSpPr>
          <p:nvPr/>
        </p:nvSpPr>
        <p:spPr bwMode="auto">
          <a:xfrm>
            <a:off x="2605089" y="2628900"/>
            <a:ext cx="492125" cy="0"/>
          </a:xfrm>
          <a:prstGeom prst="line">
            <a:avLst/>
          </a:prstGeom>
          <a:noFill/>
          <a:ln w="38100">
            <a:solidFill>
              <a:schemeClr val="tx2"/>
            </a:solidFill>
            <a:round/>
            <a:headEnd/>
            <a:tailEnd/>
          </a:ln>
        </p:spPr>
        <p:txBody>
          <a:bodyPr/>
          <a:lstStyle/>
          <a:p>
            <a:endParaRPr lang="zh-CN" altLang="en-US"/>
          </a:p>
        </p:txBody>
      </p:sp>
      <p:sp>
        <p:nvSpPr>
          <p:cNvPr id="13355" name="Line 170"/>
          <p:cNvSpPr>
            <a:spLocks noChangeShapeType="1"/>
          </p:cNvSpPr>
          <p:nvPr/>
        </p:nvSpPr>
        <p:spPr bwMode="auto">
          <a:xfrm>
            <a:off x="3097213" y="2259014"/>
            <a:ext cx="0" cy="1354137"/>
          </a:xfrm>
          <a:prstGeom prst="line">
            <a:avLst/>
          </a:prstGeom>
          <a:noFill/>
          <a:ln w="38100">
            <a:solidFill>
              <a:schemeClr val="tx2"/>
            </a:solidFill>
            <a:round/>
            <a:headEnd/>
            <a:tailEnd/>
          </a:ln>
        </p:spPr>
        <p:txBody>
          <a:bodyPr/>
          <a:lstStyle/>
          <a:p>
            <a:endParaRPr lang="zh-CN" altLang="en-US"/>
          </a:p>
        </p:txBody>
      </p:sp>
      <p:sp>
        <p:nvSpPr>
          <p:cNvPr id="13356" name="Line 171"/>
          <p:cNvSpPr>
            <a:spLocks noChangeShapeType="1"/>
          </p:cNvSpPr>
          <p:nvPr/>
        </p:nvSpPr>
        <p:spPr bwMode="auto">
          <a:xfrm>
            <a:off x="3097213" y="2998788"/>
            <a:ext cx="493712" cy="0"/>
          </a:xfrm>
          <a:prstGeom prst="line">
            <a:avLst/>
          </a:prstGeom>
          <a:noFill/>
          <a:ln w="38100">
            <a:solidFill>
              <a:schemeClr val="tx2"/>
            </a:solidFill>
            <a:round/>
            <a:headEnd/>
            <a:tailEnd/>
          </a:ln>
        </p:spPr>
        <p:txBody>
          <a:bodyPr/>
          <a:lstStyle/>
          <a:p>
            <a:endParaRPr lang="zh-CN" altLang="en-US"/>
          </a:p>
        </p:txBody>
      </p:sp>
      <p:sp>
        <p:nvSpPr>
          <p:cNvPr id="13357" name="Freeform 172"/>
          <p:cNvSpPr>
            <a:spLocks/>
          </p:cNvSpPr>
          <p:nvPr/>
        </p:nvSpPr>
        <p:spPr bwMode="auto">
          <a:xfrm>
            <a:off x="4598988" y="2897189"/>
            <a:ext cx="755650" cy="123825"/>
          </a:xfrm>
          <a:custGeom>
            <a:avLst/>
            <a:gdLst>
              <a:gd name="T0" fmla="*/ 0 w 2017"/>
              <a:gd name="T1" fmla="*/ 0 h 97"/>
              <a:gd name="T2" fmla="*/ 2147483647 w 2017"/>
              <a:gd name="T3" fmla="*/ 0 h 97"/>
              <a:gd name="T4" fmla="*/ 2147483647 w 2017"/>
              <a:gd name="T5" fmla="*/ 2147483647 h 97"/>
              <a:gd name="T6" fmla="*/ 2147483647 w 2017"/>
              <a:gd name="T7" fmla="*/ 2147483647 h 97"/>
              <a:gd name="T8" fmla="*/ 0 60000 65536"/>
              <a:gd name="T9" fmla="*/ 0 60000 65536"/>
              <a:gd name="T10" fmla="*/ 0 60000 65536"/>
              <a:gd name="T11" fmla="*/ 0 60000 65536"/>
              <a:gd name="T12" fmla="*/ 0 w 2017"/>
              <a:gd name="T13" fmla="*/ 0 h 97"/>
              <a:gd name="T14" fmla="*/ 2017 w 2017"/>
              <a:gd name="T15" fmla="*/ 97 h 97"/>
            </a:gdLst>
            <a:ahLst/>
            <a:cxnLst>
              <a:cxn ang="T8">
                <a:pos x="T0" y="T1"/>
              </a:cxn>
              <a:cxn ang="T9">
                <a:pos x="T2" y="T3"/>
              </a:cxn>
              <a:cxn ang="T10">
                <a:pos x="T4" y="T5"/>
              </a:cxn>
              <a:cxn ang="T11">
                <a:pos x="T6" y="T7"/>
              </a:cxn>
            </a:cxnLst>
            <a:rect l="T12" t="T13" r="T14" b="T15"/>
            <a:pathLst>
              <a:path w="2017" h="97">
                <a:moveTo>
                  <a:pt x="0" y="0"/>
                </a:moveTo>
                <a:lnTo>
                  <a:pt x="1008" y="0"/>
                </a:lnTo>
                <a:lnTo>
                  <a:pt x="912" y="96"/>
                </a:lnTo>
                <a:lnTo>
                  <a:pt x="2016" y="96"/>
                </a:lnTo>
              </a:path>
            </a:pathLst>
          </a:custGeom>
          <a:noFill/>
          <a:ln w="38100" cap="rnd">
            <a:solidFill>
              <a:schemeClr val="tx2"/>
            </a:solidFill>
            <a:round/>
            <a:headEnd type="none" w="sm" len="sm"/>
            <a:tailEnd type="none" w="sm" len="sm"/>
          </a:ln>
        </p:spPr>
        <p:txBody>
          <a:bodyPr/>
          <a:lstStyle/>
          <a:p>
            <a:endParaRPr lang="zh-CN" altLang="en-US"/>
          </a:p>
        </p:txBody>
      </p:sp>
      <p:sp>
        <p:nvSpPr>
          <p:cNvPr id="13358" name="Freeform 173"/>
          <p:cNvSpPr>
            <a:spLocks/>
          </p:cNvSpPr>
          <p:nvPr/>
        </p:nvSpPr>
        <p:spPr bwMode="auto">
          <a:xfrm>
            <a:off x="6570664" y="2933701"/>
            <a:ext cx="828675" cy="123825"/>
          </a:xfrm>
          <a:custGeom>
            <a:avLst/>
            <a:gdLst>
              <a:gd name="T0" fmla="*/ 0 w 2017"/>
              <a:gd name="T1" fmla="*/ 0 h 97"/>
              <a:gd name="T2" fmla="*/ 2147483647 w 2017"/>
              <a:gd name="T3" fmla="*/ 0 h 97"/>
              <a:gd name="T4" fmla="*/ 2147483647 w 2017"/>
              <a:gd name="T5" fmla="*/ 2147483647 h 97"/>
              <a:gd name="T6" fmla="*/ 2147483647 w 2017"/>
              <a:gd name="T7" fmla="*/ 2147483647 h 97"/>
              <a:gd name="T8" fmla="*/ 0 60000 65536"/>
              <a:gd name="T9" fmla="*/ 0 60000 65536"/>
              <a:gd name="T10" fmla="*/ 0 60000 65536"/>
              <a:gd name="T11" fmla="*/ 0 60000 65536"/>
              <a:gd name="T12" fmla="*/ 0 w 2017"/>
              <a:gd name="T13" fmla="*/ 0 h 97"/>
              <a:gd name="T14" fmla="*/ 2017 w 2017"/>
              <a:gd name="T15" fmla="*/ 97 h 97"/>
            </a:gdLst>
            <a:ahLst/>
            <a:cxnLst>
              <a:cxn ang="T8">
                <a:pos x="T0" y="T1"/>
              </a:cxn>
              <a:cxn ang="T9">
                <a:pos x="T2" y="T3"/>
              </a:cxn>
              <a:cxn ang="T10">
                <a:pos x="T4" y="T5"/>
              </a:cxn>
              <a:cxn ang="T11">
                <a:pos x="T6" y="T7"/>
              </a:cxn>
            </a:cxnLst>
            <a:rect l="T12" t="T13" r="T14" b="T15"/>
            <a:pathLst>
              <a:path w="2017" h="97">
                <a:moveTo>
                  <a:pt x="0" y="0"/>
                </a:moveTo>
                <a:lnTo>
                  <a:pt x="1008" y="0"/>
                </a:lnTo>
                <a:lnTo>
                  <a:pt x="912" y="96"/>
                </a:lnTo>
                <a:lnTo>
                  <a:pt x="2016" y="96"/>
                </a:lnTo>
              </a:path>
            </a:pathLst>
          </a:custGeom>
          <a:noFill/>
          <a:ln w="38100" cap="rnd">
            <a:solidFill>
              <a:schemeClr val="tx2"/>
            </a:solidFill>
            <a:round/>
            <a:headEnd type="none" w="sm" len="sm"/>
            <a:tailEnd type="none" w="sm" len="sm"/>
          </a:ln>
        </p:spPr>
        <p:txBody>
          <a:bodyPr/>
          <a:lstStyle/>
          <a:p>
            <a:endParaRPr lang="zh-CN" altLang="en-US"/>
          </a:p>
        </p:txBody>
      </p:sp>
      <p:sp>
        <p:nvSpPr>
          <p:cNvPr id="13359" name="Text Box 174"/>
          <p:cNvSpPr txBox="1">
            <a:spLocks noChangeArrowheads="1"/>
          </p:cNvSpPr>
          <p:nvPr/>
        </p:nvSpPr>
        <p:spPr bwMode="auto">
          <a:xfrm>
            <a:off x="9496426" y="2970214"/>
            <a:ext cx="506413"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4.1</a:t>
            </a:r>
          </a:p>
        </p:txBody>
      </p:sp>
      <p:sp>
        <p:nvSpPr>
          <p:cNvPr id="13360" name="Text Box 175"/>
          <p:cNvSpPr txBox="1">
            <a:spLocks noChangeArrowheads="1"/>
          </p:cNvSpPr>
          <p:nvPr/>
        </p:nvSpPr>
        <p:spPr bwMode="auto">
          <a:xfrm>
            <a:off x="2851151" y="1947864"/>
            <a:ext cx="506413"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1.0</a:t>
            </a:r>
          </a:p>
        </p:txBody>
      </p:sp>
      <p:sp>
        <p:nvSpPr>
          <p:cNvPr id="13361" name="Text Box 176"/>
          <p:cNvSpPr txBox="1">
            <a:spLocks noChangeArrowheads="1"/>
          </p:cNvSpPr>
          <p:nvPr/>
        </p:nvSpPr>
        <p:spPr bwMode="auto">
          <a:xfrm>
            <a:off x="8597901" y="1911350"/>
            <a:ext cx="506413" cy="369888"/>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4.0</a:t>
            </a:r>
          </a:p>
        </p:txBody>
      </p:sp>
      <p:sp>
        <p:nvSpPr>
          <p:cNvPr id="13362" name="Line 177"/>
          <p:cNvSpPr>
            <a:spLocks noChangeShapeType="1"/>
          </p:cNvSpPr>
          <p:nvPr/>
        </p:nvSpPr>
        <p:spPr bwMode="auto">
          <a:xfrm>
            <a:off x="8351839" y="2978150"/>
            <a:ext cx="492125" cy="0"/>
          </a:xfrm>
          <a:prstGeom prst="line">
            <a:avLst/>
          </a:prstGeom>
          <a:noFill/>
          <a:ln w="38100">
            <a:solidFill>
              <a:schemeClr val="tx2"/>
            </a:solidFill>
            <a:round/>
            <a:headEnd/>
            <a:tailEnd/>
          </a:ln>
        </p:spPr>
        <p:txBody>
          <a:bodyPr/>
          <a:lstStyle/>
          <a:p>
            <a:endParaRPr lang="zh-CN" altLang="en-US"/>
          </a:p>
        </p:txBody>
      </p:sp>
      <p:sp>
        <p:nvSpPr>
          <p:cNvPr id="13363" name="Line 178"/>
          <p:cNvSpPr>
            <a:spLocks noChangeShapeType="1"/>
          </p:cNvSpPr>
          <p:nvPr/>
        </p:nvSpPr>
        <p:spPr bwMode="auto">
          <a:xfrm>
            <a:off x="8843963" y="2239964"/>
            <a:ext cx="0" cy="1354137"/>
          </a:xfrm>
          <a:prstGeom prst="line">
            <a:avLst/>
          </a:prstGeom>
          <a:noFill/>
          <a:ln w="38100">
            <a:solidFill>
              <a:schemeClr val="tx2"/>
            </a:solidFill>
            <a:round/>
            <a:headEnd/>
            <a:tailEnd/>
          </a:ln>
        </p:spPr>
        <p:txBody>
          <a:bodyPr/>
          <a:lstStyle/>
          <a:p>
            <a:endParaRPr lang="zh-CN" altLang="en-US"/>
          </a:p>
        </p:txBody>
      </p:sp>
      <p:sp>
        <p:nvSpPr>
          <p:cNvPr id="13364" name="Line 179"/>
          <p:cNvSpPr>
            <a:spLocks noChangeShapeType="1"/>
          </p:cNvSpPr>
          <p:nvPr/>
        </p:nvSpPr>
        <p:spPr bwMode="auto">
          <a:xfrm>
            <a:off x="8843964" y="2609850"/>
            <a:ext cx="492125" cy="0"/>
          </a:xfrm>
          <a:prstGeom prst="line">
            <a:avLst/>
          </a:prstGeom>
          <a:noFill/>
          <a:ln w="38100">
            <a:solidFill>
              <a:schemeClr val="tx2"/>
            </a:solidFill>
            <a:round/>
            <a:headEnd/>
            <a:tailEnd/>
          </a:ln>
        </p:spPr>
        <p:txBody>
          <a:bodyPr/>
          <a:lstStyle/>
          <a:p>
            <a:endParaRPr lang="zh-CN" altLang="en-US"/>
          </a:p>
        </p:txBody>
      </p:sp>
      <p:sp>
        <p:nvSpPr>
          <p:cNvPr id="13365" name="Text Box 181"/>
          <p:cNvSpPr txBox="1">
            <a:spLocks noChangeArrowheads="1"/>
          </p:cNvSpPr>
          <p:nvPr/>
        </p:nvSpPr>
        <p:spPr bwMode="auto">
          <a:xfrm>
            <a:off x="3179763" y="3043239"/>
            <a:ext cx="506412"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E0</a:t>
            </a:r>
          </a:p>
        </p:txBody>
      </p:sp>
      <p:sp>
        <p:nvSpPr>
          <p:cNvPr id="13366" name="Text Box 182"/>
          <p:cNvSpPr txBox="1">
            <a:spLocks noChangeArrowheads="1"/>
          </p:cNvSpPr>
          <p:nvPr/>
        </p:nvSpPr>
        <p:spPr bwMode="auto">
          <a:xfrm>
            <a:off x="8286751" y="3006725"/>
            <a:ext cx="506413" cy="369888"/>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E0</a:t>
            </a:r>
          </a:p>
        </p:txBody>
      </p:sp>
      <p:sp>
        <p:nvSpPr>
          <p:cNvPr id="13367" name="Text Box 183"/>
          <p:cNvSpPr txBox="1">
            <a:spLocks noChangeArrowheads="1"/>
          </p:cNvSpPr>
          <p:nvPr/>
        </p:nvSpPr>
        <p:spPr bwMode="auto">
          <a:xfrm>
            <a:off x="6972301" y="3043239"/>
            <a:ext cx="506413"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S0</a:t>
            </a:r>
          </a:p>
        </p:txBody>
      </p:sp>
      <p:sp>
        <p:nvSpPr>
          <p:cNvPr id="13368" name="Text Box 184"/>
          <p:cNvSpPr txBox="1">
            <a:spLocks noChangeArrowheads="1"/>
          </p:cNvSpPr>
          <p:nvPr/>
        </p:nvSpPr>
        <p:spPr bwMode="auto">
          <a:xfrm>
            <a:off x="4567238" y="3043239"/>
            <a:ext cx="506412"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S0</a:t>
            </a:r>
          </a:p>
        </p:txBody>
      </p:sp>
      <p:sp>
        <p:nvSpPr>
          <p:cNvPr id="13369" name="Text Box 185"/>
          <p:cNvSpPr txBox="1">
            <a:spLocks noChangeArrowheads="1"/>
          </p:cNvSpPr>
          <p:nvPr/>
        </p:nvSpPr>
        <p:spPr bwMode="auto">
          <a:xfrm>
            <a:off x="4494213" y="2600325"/>
            <a:ext cx="506412" cy="369888"/>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2.1</a:t>
            </a:r>
          </a:p>
        </p:txBody>
      </p:sp>
      <p:sp>
        <p:nvSpPr>
          <p:cNvPr id="13370" name="Text Box 186"/>
          <p:cNvSpPr txBox="1">
            <a:spLocks noChangeArrowheads="1"/>
          </p:cNvSpPr>
          <p:nvPr/>
        </p:nvSpPr>
        <p:spPr bwMode="auto">
          <a:xfrm>
            <a:off x="6899276" y="2563814"/>
            <a:ext cx="506413"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2.2</a:t>
            </a:r>
          </a:p>
        </p:txBody>
      </p:sp>
      <p:pic>
        <p:nvPicPr>
          <p:cNvPr id="13371" name="Picture 4"/>
          <p:cNvPicPr>
            <a:picLocks noChangeArrowheads="1"/>
          </p:cNvPicPr>
          <p:nvPr/>
        </p:nvPicPr>
        <p:blipFill>
          <a:blip r:embed="rId3"/>
          <a:srcRect/>
          <a:stretch>
            <a:fillRect/>
          </a:stretch>
        </p:blipFill>
        <p:spPr bwMode="auto">
          <a:xfrm>
            <a:off x="3613150" y="2703514"/>
            <a:ext cx="1003300" cy="574675"/>
          </a:xfrm>
          <a:prstGeom prst="rect">
            <a:avLst/>
          </a:prstGeom>
          <a:noFill/>
          <a:ln w="9525">
            <a:noFill/>
            <a:miter lim="800000"/>
            <a:headEnd/>
            <a:tailEnd/>
          </a:ln>
        </p:spPr>
      </p:pic>
      <p:pic>
        <p:nvPicPr>
          <p:cNvPr id="13372" name="Picture 4"/>
          <p:cNvPicPr>
            <a:picLocks noChangeArrowheads="1"/>
          </p:cNvPicPr>
          <p:nvPr/>
        </p:nvPicPr>
        <p:blipFill>
          <a:blip r:embed="rId3"/>
          <a:srcRect/>
          <a:stretch>
            <a:fillRect/>
          </a:stretch>
        </p:blipFill>
        <p:spPr bwMode="auto">
          <a:xfrm>
            <a:off x="7370763" y="2703514"/>
            <a:ext cx="1003300" cy="574675"/>
          </a:xfrm>
          <a:prstGeom prst="rect">
            <a:avLst/>
          </a:prstGeom>
          <a:noFill/>
          <a:ln w="9525">
            <a:noFill/>
            <a:miter lim="800000"/>
            <a:headEnd/>
            <a:tailEnd/>
          </a:ln>
        </p:spPr>
      </p:pic>
      <p:sp>
        <p:nvSpPr>
          <p:cNvPr id="13373" name="Text Box 32"/>
          <p:cNvSpPr txBox="1">
            <a:spLocks noChangeArrowheads="1"/>
          </p:cNvSpPr>
          <p:nvPr/>
        </p:nvSpPr>
        <p:spPr bwMode="auto">
          <a:xfrm>
            <a:off x="3938589" y="2987675"/>
            <a:ext cx="331787" cy="338138"/>
          </a:xfrm>
          <a:prstGeom prst="rect">
            <a:avLst/>
          </a:prstGeom>
          <a:noFill/>
          <a:ln w="9525" algn="ctr">
            <a:noFill/>
            <a:miter lim="800000"/>
            <a:headEnd/>
            <a:tailEnd/>
          </a:ln>
        </p:spPr>
        <p:txBody>
          <a:bodyPr wrap="none">
            <a:spAutoFit/>
          </a:bodyPr>
          <a:lstStyle/>
          <a:p>
            <a:pPr algn="r" defTabSz="1028700" eaLnBrk="0" hangingPunct="0"/>
            <a:r>
              <a:rPr lang="en-US" altLang="zh-CN" sz="1600" b="1">
                <a:solidFill>
                  <a:schemeClr val="bg1"/>
                </a:solidFill>
              </a:rPr>
              <a:t>A</a:t>
            </a:r>
          </a:p>
        </p:txBody>
      </p:sp>
      <p:sp>
        <p:nvSpPr>
          <p:cNvPr id="13374" name="Text Box 166"/>
          <p:cNvSpPr txBox="1">
            <a:spLocks noChangeArrowheads="1"/>
          </p:cNvSpPr>
          <p:nvPr/>
        </p:nvSpPr>
        <p:spPr bwMode="auto">
          <a:xfrm>
            <a:off x="7696200" y="2978150"/>
            <a:ext cx="331788" cy="338138"/>
          </a:xfrm>
          <a:prstGeom prst="rect">
            <a:avLst/>
          </a:prstGeom>
          <a:noFill/>
          <a:ln w="9525" algn="ctr">
            <a:noFill/>
            <a:miter lim="800000"/>
            <a:headEnd/>
            <a:tailEnd/>
          </a:ln>
        </p:spPr>
        <p:txBody>
          <a:bodyPr wrap="none">
            <a:spAutoFit/>
          </a:bodyPr>
          <a:lstStyle/>
          <a:p>
            <a:pPr algn="r" defTabSz="1028700" eaLnBrk="0" hangingPunct="0"/>
            <a:r>
              <a:rPr lang="en-US" altLang="zh-CN" sz="1600" b="1">
                <a:solidFill>
                  <a:schemeClr val="bg1"/>
                </a:solidFill>
              </a:rPr>
              <a:t>B</a:t>
            </a:r>
          </a:p>
        </p:txBody>
      </p:sp>
      <p:pic>
        <p:nvPicPr>
          <p:cNvPr id="13375" name="Picture 118"/>
          <p:cNvPicPr>
            <a:picLocks noChangeArrowheads="1"/>
          </p:cNvPicPr>
          <p:nvPr/>
        </p:nvPicPr>
        <p:blipFill>
          <a:blip r:embed="rId4"/>
          <a:srcRect/>
          <a:stretch>
            <a:fillRect/>
          </a:stretch>
        </p:blipFill>
        <p:spPr bwMode="auto">
          <a:xfrm>
            <a:off x="5219700" y="2641600"/>
            <a:ext cx="1354138" cy="615950"/>
          </a:xfrm>
          <a:prstGeom prst="rect">
            <a:avLst/>
          </a:prstGeom>
          <a:noFill/>
          <a:ln w="9525">
            <a:noFill/>
            <a:miter lim="800000"/>
            <a:headEnd/>
            <a:tailEnd/>
          </a:ln>
        </p:spPr>
      </p:pic>
      <p:pic>
        <p:nvPicPr>
          <p:cNvPr id="13376" name="图片 11" descr="asdf.png"/>
          <p:cNvPicPr>
            <a:picLocks noChangeAspect="1"/>
          </p:cNvPicPr>
          <p:nvPr/>
        </p:nvPicPr>
        <p:blipFill>
          <a:blip r:embed="rId5"/>
          <a:srcRect/>
          <a:stretch>
            <a:fillRect/>
          </a:stretch>
        </p:blipFill>
        <p:spPr bwMode="auto">
          <a:xfrm>
            <a:off x="9272589" y="2208213"/>
            <a:ext cx="839787" cy="798512"/>
          </a:xfrm>
          <a:prstGeom prst="rect">
            <a:avLst/>
          </a:prstGeom>
          <a:noFill/>
          <a:ln w="9525">
            <a:noFill/>
            <a:miter lim="800000"/>
            <a:headEnd/>
            <a:tailEnd/>
          </a:ln>
        </p:spPr>
      </p:pic>
      <p:pic>
        <p:nvPicPr>
          <p:cNvPr id="13377" name="图片 11" descr="asdf.png"/>
          <p:cNvPicPr>
            <a:picLocks noChangeAspect="1"/>
          </p:cNvPicPr>
          <p:nvPr/>
        </p:nvPicPr>
        <p:blipFill>
          <a:blip r:embed="rId5"/>
          <a:srcRect/>
          <a:stretch>
            <a:fillRect/>
          </a:stretch>
        </p:blipFill>
        <p:spPr bwMode="auto">
          <a:xfrm>
            <a:off x="1860550" y="2225676"/>
            <a:ext cx="839788" cy="798513"/>
          </a:xfrm>
          <a:prstGeom prst="rect">
            <a:avLst/>
          </a:prstGeom>
          <a:noFill/>
          <a:ln w="9525">
            <a:noFill/>
            <a:miter lim="800000"/>
            <a:headEnd/>
            <a:tailEnd/>
          </a:ln>
        </p:spPr>
      </p:pic>
      <p:sp>
        <p:nvSpPr>
          <p:cNvPr id="13378" name="AutoShape 13"/>
          <p:cNvSpPr>
            <a:spLocks noChangeArrowheads="1"/>
          </p:cNvSpPr>
          <p:nvPr/>
        </p:nvSpPr>
        <p:spPr bwMode="auto">
          <a:xfrm rot="-5400000">
            <a:off x="3652044" y="3405982"/>
            <a:ext cx="863600" cy="722312"/>
          </a:xfrm>
          <a:prstGeom prst="leftArrow">
            <a:avLst>
              <a:gd name="adj1" fmla="val 50000"/>
              <a:gd name="adj2" fmla="val 33333"/>
            </a:avLst>
          </a:prstGeom>
          <a:gradFill rotWithShape="1">
            <a:gsLst>
              <a:gs pos="0">
                <a:srgbClr val="FFFFFF"/>
              </a:gs>
              <a:gs pos="100000">
                <a:srgbClr val="66CCFF"/>
              </a:gs>
            </a:gsLst>
            <a:lin ang="5400000" scaled="1"/>
          </a:gradFill>
          <a:ln w="9525">
            <a:solidFill>
              <a:srgbClr val="66CCFF"/>
            </a:solidFill>
            <a:miter lim="800000"/>
            <a:headEnd/>
            <a:tailEnd/>
          </a:ln>
        </p:spPr>
        <p:txBody>
          <a:bodyPr vert="eaVert" wrap="none" anchor="ctr"/>
          <a:lstStyle/>
          <a:p>
            <a:endParaRPr lang="zh-CN" altLang="en-US" sz="2400">
              <a:solidFill>
                <a:schemeClr val="tx2"/>
              </a:solidFill>
              <a:cs typeface="Arial" pitchFamily="34" charset="0"/>
            </a:endParaRPr>
          </a:p>
        </p:txBody>
      </p:sp>
      <p:sp>
        <p:nvSpPr>
          <p:cNvPr id="13379" name="AutoShape 13"/>
          <p:cNvSpPr>
            <a:spLocks noChangeArrowheads="1"/>
          </p:cNvSpPr>
          <p:nvPr/>
        </p:nvSpPr>
        <p:spPr bwMode="auto">
          <a:xfrm rot="-5400000">
            <a:off x="7412832" y="3405982"/>
            <a:ext cx="863600" cy="722313"/>
          </a:xfrm>
          <a:prstGeom prst="leftArrow">
            <a:avLst>
              <a:gd name="adj1" fmla="val 50000"/>
              <a:gd name="adj2" fmla="val 33333"/>
            </a:avLst>
          </a:prstGeom>
          <a:gradFill rotWithShape="1">
            <a:gsLst>
              <a:gs pos="0">
                <a:srgbClr val="FFFFFF"/>
              </a:gs>
              <a:gs pos="100000">
                <a:srgbClr val="66CCFF"/>
              </a:gs>
            </a:gsLst>
            <a:lin ang="5400000" scaled="1"/>
          </a:gradFill>
          <a:ln w="9525">
            <a:solidFill>
              <a:srgbClr val="66CCFF"/>
            </a:solidFill>
            <a:miter lim="800000"/>
            <a:headEnd/>
            <a:tailEnd/>
          </a:ln>
        </p:spPr>
        <p:txBody>
          <a:bodyPr vert="eaVert" wrap="none" anchor="ctr"/>
          <a:lstStyle/>
          <a:p>
            <a:endParaRPr lang="zh-CN" altLang="en-US" sz="2400">
              <a:solidFill>
                <a:schemeClr val="tx2"/>
              </a:solidFill>
              <a:cs typeface="Arial" pitchFamily="34" charset="0"/>
            </a:endParaRPr>
          </a:p>
        </p:txBody>
      </p:sp>
      <p:sp>
        <p:nvSpPr>
          <p:cNvPr id="203" name="AutoShape 193"/>
          <p:cNvSpPr>
            <a:spLocks noChangeArrowheads="1"/>
          </p:cNvSpPr>
          <p:nvPr/>
        </p:nvSpPr>
        <p:spPr bwMode="auto">
          <a:xfrm>
            <a:off x="2298701" y="1071564"/>
            <a:ext cx="2449513" cy="720725"/>
          </a:xfrm>
          <a:prstGeom prst="wedgeRoundRectCallout">
            <a:avLst>
              <a:gd name="adj1" fmla="val -46565"/>
              <a:gd name="adj2" fmla="val 109986"/>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主机</a:t>
            </a:r>
            <a:r>
              <a:rPr lang="en-US" altLang="zh-CN" sz="2000" b="1">
                <a:solidFill>
                  <a:schemeClr val="tx2"/>
                </a:solidFill>
                <a:latin typeface="楷体_GB2312" pitchFamily="49" charset="-122"/>
                <a:ea typeface="楷体_GB2312" pitchFamily="49" charset="-122"/>
              </a:rPr>
              <a:t>1.1</a:t>
            </a:r>
            <a:r>
              <a:rPr lang="zh-CN" altLang="en-US" sz="2000" b="1">
                <a:solidFill>
                  <a:schemeClr val="tx2"/>
                </a:solidFill>
                <a:latin typeface="楷体_GB2312" pitchFamily="49" charset="-122"/>
                <a:ea typeface="楷体_GB2312" pitchFamily="49" charset="-122"/>
              </a:rPr>
              <a:t>要发送数据到</a:t>
            </a:r>
            <a:r>
              <a:rPr lang="en-US" altLang="zh-CN" sz="2000" b="1">
                <a:solidFill>
                  <a:schemeClr val="tx2"/>
                </a:solidFill>
                <a:latin typeface="楷体_GB2312" pitchFamily="49" charset="-122"/>
                <a:ea typeface="楷体_GB2312" pitchFamily="49" charset="-122"/>
              </a:rPr>
              <a:t>4.1</a:t>
            </a:r>
            <a:endParaRPr lang="zh-CN" altLang="en-US" sz="2000" b="1">
              <a:solidFill>
                <a:schemeClr val="tx2"/>
              </a:solidFill>
              <a:latin typeface="楷体_GB2312" pitchFamily="49" charset="-122"/>
              <a:ea typeface="楷体_GB2312" pitchFamily="49" charset="-122"/>
            </a:endParaRPr>
          </a:p>
        </p:txBody>
      </p:sp>
      <p:sp>
        <p:nvSpPr>
          <p:cNvPr id="204" name="AutoShape 254"/>
          <p:cNvSpPr>
            <a:spLocks noChangeArrowheads="1"/>
          </p:cNvSpPr>
          <p:nvPr/>
        </p:nvSpPr>
        <p:spPr bwMode="auto">
          <a:xfrm>
            <a:off x="4124325" y="1363664"/>
            <a:ext cx="2908300" cy="1004887"/>
          </a:xfrm>
          <a:prstGeom prst="wedgeRoundRectCallout">
            <a:avLst>
              <a:gd name="adj1" fmla="val -49727"/>
              <a:gd name="adj2" fmla="val 83963"/>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路由器收到数据，查看数据包中的目标地址为</a:t>
            </a:r>
            <a:r>
              <a:rPr lang="en-US" altLang="zh-CN" sz="2000" b="1">
                <a:solidFill>
                  <a:schemeClr val="tx2"/>
                </a:solidFill>
                <a:latin typeface="楷体_GB2312" pitchFamily="49" charset="-122"/>
                <a:ea typeface="楷体_GB2312" pitchFamily="49" charset="-122"/>
              </a:rPr>
              <a:t>4.1</a:t>
            </a:r>
            <a:r>
              <a:rPr lang="zh-CN" altLang="en-US" sz="2000" b="1">
                <a:solidFill>
                  <a:schemeClr val="tx2"/>
                </a:solidFill>
                <a:latin typeface="楷体_GB2312" pitchFamily="49" charset="-122"/>
                <a:ea typeface="楷体_GB2312" pitchFamily="49" charset="-122"/>
              </a:rPr>
              <a:t>，查找路由表</a:t>
            </a:r>
          </a:p>
        </p:txBody>
      </p:sp>
      <p:sp>
        <p:nvSpPr>
          <p:cNvPr id="205" name="AutoShape 191"/>
          <p:cNvSpPr>
            <a:spLocks noChangeArrowheads="1"/>
          </p:cNvSpPr>
          <p:nvPr/>
        </p:nvSpPr>
        <p:spPr bwMode="auto">
          <a:xfrm>
            <a:off x="2590801" y="1473200"/>
            <a:ext cx="2409825" cy="730250"/>
          </a:xfrm>
          <a:prstGeom prst="wedgeRoundRectCallout">
            <a:avLst>
              <a:gd name="adj1" fmla="val 40569"/>
              <a:gd name="adj2" fmla="val 119398"/>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路由器</a:t>
            </a:r>
            <a:r>
              <a:rPr lang="en-US" altLang="zh-CN" sz="2000" b="1">
                <a:solidFill>
                  <a:schemeClr val="tx2"/>
                </a:solidFill>
                <a:latin typeface="楷体_GB2312" pitchFamily="49" charset="-122"/>
                <a:ea typeface="楷体_GB2312" pitchFamily="49" charset="-122"/>
              </a:rPr>
              <a:t>A</a:t>
            </a:r>
            <a:r>
              <a:rPr lang="zh-CN" altLang="en-US" sz="2000" b="1">
                <a:solidFill>
                  <a:schemeClr val="tx2"/>
                </a:solidFill>
                <a:latin typeface="楷体_GB2312" pitchFamily="49" charset="-122"/>
                <a:ea typeface="楷体_GB2312" pitchFamily="49" charset="-122"/>
              </a:rPr>
              <a:t>根据路由表转发数据到</a:t>
            </a:r>
            <a:r>
              <a:rPr lang="en-US" altLang="zh-CN" sz="2000" b="1">
                <a:solidFill>
                  <a:schemeClr val="tx2"/>
                </a:solidFill>
                <a:latin typeface="楷体_GB2312" pitchFamily="49" charset="-122"/>
                <a:ea typeface="楷体_GB2312" pitchFamily="49" charset="-122"/>
              </a:rPr>
              <a:t>S0</a:t>
            </a:r>
            <a:r>
              <a:rPr lang="zh-CN" altLang="en-US" sz="2000" b="1">
                <a:solidFill>
                  <a:schemeClr val="tx2"/>
                </a:solidFill>
                <a:latin typeface="楷体_GB2312" pitchFamily="49" charset="-122"/>
                <a:ea typeface="楷体_GB2312" pitchFamily="49" charset="-122"/>
              </a:rPr>
              <a:t>口</a:t>
            </a:r>
          </a:p>
        </p:txBody>
      </p:sp>
      <p:sp>
        <p:nvSpPr>
          <p:cNvPr id="206" name="AutoShape 191"/>
          <p:cNvSpPr>
            <a:spLocks noChangeArrowheads="1"/>
          </p:cNvSpPr>
          <p:nvPr/>
        </p:nvSpPr>
        <p:spPr bwMode="auto">
          <a:xfrm>
            <a:off x="5219701" y="1254126"/>
            <a:ext cx="3071813" cy="1095375"/>
          </a:xfrm>
          <a:prstGeom prst="wedgeRoundRectCallout">
            <a:avLst>
              <a:gd name="adj1" fmla="val 33926"/>
              <a:gd name="adj2" fmla="val 82319"/>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路由器</a:t>
            </a:r>
            <a:r>
              <a:rPr lang="en-US" altLang="zh-CN" sz="2000" b="1">
                <a:solidFill>
                  <a:schemeClr val="tx2"/>
                </a:solidFill>
                <a:latin typeface="楷体_GB2312" pitchFamily="49" charset="-122"/>
                <a:ea typeface="楷体_GB2312" pitchFamily="49" charset="-122"/>
              </a:rPr>
              <a:t>B</a:t>
            </a:r>
            <a:r>
              <a:rPr lang="zh-CN" altLang="en-US" sz="2000" b="1">
                <a:solidFill>
                  <a:schemeClr val="tx2"/>
                </a:solidFill>
                <a:latin typeface="楷体_GB2312" pitchFamily="49" charset="-122"/>
                <a:ea typeface="楷体_GB2312" pitchFamily="49" charset="-122"/>
              </a:rPr>
              <a:t>接收到数据包，查看数据包的目标地址，并查找路由表</a:t>
            </a:r>
          </a:p>
        </p:txBody>
      </p:sp>
      <p:sp>
        <p:nvSpPr>
          <p:cNvPr id="207" name="AutoShape 192"/>
          <p:cNvSpPr>
            <a:spLocks noChangeArrowheads="1"/>
          </p:cNvSpPr>
          <p:nvPr/>
        </p:nvSpPr>
        <p:spPr bwMode="auto">
          <a:xfrm>
            <a:off x="6169026" y="1509713"/>
            <a:ext cx="2409825" cy="793750"/>
          </a:xfrm>
          <a:prstGeom prst="wedgeRoundRectCallout">
            <a:avLst>
              <a:gd name="adj1" fmla="val 42759"/>
              <a:gd name="adj2" fmla="val 117273"/>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路由器</a:t>
            </a:r>
            <a:r>
              <a:rPr lang="en-US" altLang="zh-CN" sz="2000" b="1">
                <a:solidFill>
                  <a:schemeClr val="tx2"/>
                </a:solidFill>
                <a:latin typeface="楷体_GB2312" pitchFamily="49" charset="-122"/>
                <a:ea typeface="楷体_GB2312" pitchFamily="49" charset="-122"/>
              </a:rPr>
              <a:t>B</a:t>
            </a:r>
            <a:r>
              <a:rPr lang="zh-CN" altLang="en-US" sz="2000" b="1">
                <a:solidFill>
                  <a:schemeClr val="tx2"/>
                </a:solidFill>
                <a:latin typeface="楷体_GB2312" pitchFamily="49" charset="-122"/>
                <a:ea typeface="楷体_GB2312" pitchFamily="49" charset="-122"/>
              </a:rPr>
              <a:t>根据路由表转发数据到</a:t>
            </a:r>
            <a:r>
              <a:rPr lang="en-US" altLang="zh-CN" sz="2000" b="1">
                <a:solidFill>
                  <a:schemeClr val="tx2"/>
                </a:solidFill>
                <a:latin typeface="楷体_GB2312" pitchFamily="49" charset="-122"/>
                <a:ea typeface="楷体_GB2312" pitchFamily="49" charset="-122"/>
              </a:rPr>
              <a:t>E0</a:t>
            </a:r>
            <a:r>
              <a:rPr lang="zh-CN" altLang="en-US" sz="2000" b="1">
                <a:solidFill>
                  <a:schemeClr val="tx2"/>
                </a:solidFill>
                <a:latin typeface="楷体_GB2312" pitchFamily="49" charset="-122"/>
                <a:ea typeface="楷体_GB2312" pitchFamily="49" charset="-122"/>
              </a:rPr>
              <a:t>口</a:t>
            </a:r>
          </a:p>
        </p:txBody>
      </p:sp>
      <p:sp>
        <p:nvSpPr>
          <p:cNvPr id="208" name="AutoShape 193"/>
          <p:cNvSpPr>
            <a:spLocks noChangeArrowheads="1"/>
          </p:cNvSpPr>
          <p:nvPr/>
        </p:nvSpPr>
        <p:spPr bwMode="auto">
          <a:xfrm>
            <a:off x="8870950" y="3883026"/>
            <a:ext cx="1619250" cy="746125"/>
          </a:xfrm>
          <a:prstGeom prst="wedgeRoundRectCallout">
            <a:avLst>
              <a:gd name="adj1" fmla="val -2148"/>
              <a:gd name="adj2" fmla="val -127884"/>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主机</a:t>
            </a:r>
            <a:r>
              <a:rPr lang="en-US" altLang="zh-CN" sz="2000" b="1">
                <a:solidFill>
                  <a:schemeClr val="tx2"/>
                </a:solidFill>
                <a:latin typeface="楷体_GB2312" pitchFamily="49" charset="-122"/>
                <a:ea typeface="楷体_GB2312" pitchFamily="49" charset="-122"/>
              </a:rPr>
              <a:t>4.1</a:t>
            </a:r>
            <a:r>
              <a:rPr lang="zh-CN" altLang="en-US" sz="2000" b="1">
                <a:solidFill>
                  <a:schemeClr val="tx2"/>
                </a:solidFill>
                <a:latin typeface="楷体_GB2312" pitchFamily="49" charset="-122"/>
                <a:ea typeface="楷体_GB2312" pitchFamily="49" charset="-122"/>
              </a:rPr>
              <a:t>接收到数据包</a:t>
            </a:r>
            <a:endParaRPr lang="en-US" altLang="zh-CN" sz="2000" b="1">
              <a:solidFill>
                <a:schemeClr val="tx2"/>
              </a:solidFill>
              <a:latin typeface="楷体_GB2312" pitchFamily="49" charset="-122"/>
              <a:ea typeface="楷体_GB2312" pitchFamily="49" charset="-122"/>
            </a:endParaRPr>
          </a:p>
        </p:txBody>
      </p:sp>
      <p:sp>
        <p:nvSpPr>
          <p:cNvPr id="209" name="圆角矩形 208"/>
          <p:cNvSpPr>
            <a:spLocks noChangeArrowheads="1"/>
          </p:cNvSpPr>
          <p:nvPr/>
        </p:nvSpPr>
        <p:spPr bwMode="auto">
          <a:xfrm>
            <a:off x="2992439" y="5845176"/>
            <a:ext cx="2160587" cy="396875"/>
          </a:xfrm>
          <a:prstGeom prst="roundRect">
            <a:avLst>
              <a:gd name="adj" fmla="val 16667"/>
            </a:avLst>
          </a:prstGeom>
          <a:noFill/>
          <a:ln w="38100" algn="ctr">
            <a:solidFill>
              <a:srgbClr val="FF0000"/>
            </a:solidFill>
            <a:round/>
            <a:headEnd/>
            <a:tailEnd/>
          </a:ln>
        </p:spPr>
        <p:txBody>
          <a:bodyPr wrap="none" anchor="ctr" anchorCtr="1"/>
          <a:lstStyle/>
          <a:p>
            <a:pPr algn="ctr"/>
            <a:endParaRPr lang="zh-CN" altLang="en-US">
              <a:solidFill>
                <a:schemeClr val="tx2"/>
              </a:solidFill>
            </a:endParaRPr>
          </a:p>
        </p:txBody>
      </p:sp>
      <p:sp>
        <p:nvSpPr>
          <p:cNvPr id="210" name="圆角矩形 209"/>
          <p:cNvSpPr>
            <a:spLocks noChangeArrowheads="1"/>
          </p:cNvSpPr>
          <p:nvPr/>
        </p:nvSpPr>
        <p:spPr bwMode="auto">
          <a:xfrm>
            <a:off x="6753225" y="5827714"/>
            <a:ext cx="2160588" cy="395287"/>
          </a:xfrm>
          <a:prstGeom prst="roundRect">
            <a:avLst>
              <a:gd name="adj" fmla="val 16667"/>
            </a:avLst>
          </a:prstGeom>
          <a:noFill/>
          <a:ln w="38100" algn="ctr">
            <a:solidFill>
              <a:srgbClr val="FF0000"/>
            </a:solidFill>
            <a:round/>
            <a:headEnd/>
            <a:tailEnd/>
          </a:ln>
        </p:spPr>
        <p:txBody>
          <a:bodyPr wrap="none" anchor="ctr" anchorCtr="1"/>
          <a:lstStyle/>
          <a:p>
            <a:pPr algn="ctr"/>
            <a:endParaRPr lang="zh-CN" altLang="en-US">
              <a:solidFill>
                <a:schemeClr val="tx2"/>
              </a:solidFill>
            </a:endParaRPr>
          </a:p>
        </p:txBody>
      </p:sp>
      <p:grpSp>
        <p:nvGrpSpPr>
          <p:cNvPr id="2" name="组合 228"/>
          <p:cNvGrpSpPr>
            <a:grpSpLocks/>
          </p:cNvGrpSpPr>
          <p:nvPr/>
        </p:nvGrpSpPr>
        <p:grpSpPr bwMode="auto">
          <a:xfrm>
            <a:off x="8147051" y="2897189"/>
            <a:ext cx="701675" cy="352425"/>
            <a:chOff x="1089617" y="6310306"/>
            <a:chExt cx="700664" cy="351942"/>
          </a:xfrm>
        </p:grpSpPr>
        <p:grpSp>
          <p:nvGrpSpPr>
            <p:cNvPr id="3" name="Group 184"/>
            <p:cNvGrpSpPr>
              <a:grpSpLocks/>
            </p:cNvGrpSpPr>
            <p:nvPr/>
          </p:nvGrpSpPr>
          <p:grpSpPr bwMode="auto">
            <a:xfrm>
              <a:off x="1103265" y="6310306"/>
              <a:ext cx="547695" cy="295325"/>
              <a:chOff x="3334" y="2160"/>
              <a:chExt cx="635" cy="408"/>
            </a:xfrm>
          </p:grpSpPr>
          <p:sp>
            <p:nvSpPr>
              <p:cNvPr id="13415" name="Rectangle 185"/>
              <p:cNvSpPr>
                <a:spLocks noChangeArrowheads="1"/>
              </p:cNvSpPr>
              <p:nvPr/>
            </p:nvSpPr>
            <p:spPr bwMode="auto">
              <a:xfrm>
                <a:off x="3334" y="2160"/>
                <a:ext cx="635" cy="408"/>
              </a:xfrm>
              <a:prstGeom prst="rect">
                <a:avLst/>
              </a:prstGeom>
              <a:solidFill>
                <a:srgbClr val="CCECFF"/>
              </a:solidFill>
              <a:ln w="9525" algn="ctr">
                <a:noFill/>
                <a:miter lim="800000"/>
                <a:headEnd/>
                <a:tailEnd/>
              </a:ln>
              <a:effectLst>
                <a:prstShdw prst="shdw17" dist="17961" dir="2700000">
                  <a:srgbClr val="7A8E99"/>
                </a:prstShdw>
              </a:effectLst>
            </p:spPr>
            <p:txBody>
              <a:bodyPr wrap="none" anchor="ctr"/>
              <a:lstStyle/>
              <a:p>
                <a:endParaRPr lang="en-US" altLang="zh-CN">
                  <a:solidFill>
                    <a:schemeClr val="tx2"/>
                  </a:solidFill>
                  <a:ea typeface="宋体" pitchFamily="2" charset="-122"/>
                </a:endParaRPr>
              </a:p>
              <a:p>
                <a:endParaRPr lang="en-US" altLang="zh-CN" sz="1400">
                  <a:solidFill>
                    <a:schemeClr val="tx2"/>
                  </a:solidFill>
                  <a:ea typeface="宋体" pitchFamily="2" charset="-122"/>
                </a:endParaRPr>
              </a:p>
            </p:txBody>
          </p:sp>
          <p:sp>
            <p:nvSpPr>
              <p:cNvPr id="13416" name="Line 186"/>
              <p:cNvSpPr>
                <a:spLocks noChangeShapeType="1"/>
              </p:cNvSpPr>
              <p:nvPr/>
            </p:nvSpPr>
            <p:spPr bwMode="auto">
              <a:xfrm flipH="1" flipV="1">
                <a:off x="3334" y="2160"/>
                <a:ext cx="317" cy="181"/>
              </a:xfrm>
              <a:prstGeom prst="line">
                <a:avLst/>
              </a:prstGeom>
              <a:noFill/>
              <a:ln w="19050">
                <a:solidFill>
                  <a:schemeClr val="bg1"/>
                </a:solidFill>
                <a:round/>
                <a:headEnd/>
                <a:tailEnd/>
              </a:ln>
            </p:spPr>
            <p:txBody>
              <a:bodyPr anchor="b"/>
              <a:lstStyle/>
              <a:p>
                <a:endParaRPr lang="zh-CN" altLang="en-US"/>
              </a:p>
            </p:txBody>
          </p:sp>
          <p:sp>
            <p:nvSpPr>
              <p:cNvPr id="13417" name="Line 187"/>
              <p:cNvSpPr>
                <a:spLocks noChangeShapeType="1"/>
              </p:cNvSpPr>
              <p:nvPr/>
            </p:nvSpPr>
            <p:spPr bwMode="auto">
              <a:xfrm flipV="1">
                <a:off x="3651" y="2160"/>
                <a:ext cx="318" cy="181"/>
              </a:xfrm>
              <a:prstGeom prst="line">
                <a:avLst/>
              </a:prstGeom>
              <a:noFill/>
              <a:ln w="28575">
                <a:solidFill>
                  <a:srgbClr val="969696"/>
                </a:solidFill>
                <a:round/>
                <a:headEnd/>
                <a:tailEnd/>
              </a:ln>
            </p:spPr>
            <p:txBody>
              <a:bodyPr anchor="b"/>
              <a:lstStyle/>
              <a:p>
                <a:endParaRPr lang="zh-CN" altLang="en-US"/>
              </a:p>
            </p:txBody>
          </p:sp>
        </p:grpSp>
        <p:sp>
          <p:nvSpPr>
            <p:cNvPr id="13414" name="Text Box 188"/>
            <p:cNvSpPr txBox="1">
              <a:spLocks noChangeArrowheads="1"/>
            </p:cNvSpPr>
            <p:nvPr/>
          </p:nvSpPr>
          <p:spPr bwMode="auto">
            <a:xfrm>
              <a:off x="1089617" y="6354471"/>
              <a:ext cx="700664" cy="307777"/>
            </a:xfrm>
            <a:prstGeom prst="rect">
              <a:avLst/>
            </a:prstGeom>
            <a:noFill/>
            <a:ln w="9525" algn="ctr">
              <a:noFill/>
              <a:miter lim="800000"/>
              <a:headEnd/>
              <a:tailEnd/>
            </a:ln>
          </p:spPr>
          <p:txBody>
            <a:bodyPr anchor="b">
              <a:spAutoFit/>
            </a:bodyPr>
            <a:lstStyle/>
            <a:p>
              <a:pPr>
                <a:spcBef>
                  <a:spcPct val="50000"/>
                </a:spcBef>
              </a:pPr>
              <a:r>
                <a:rPr lang="en-US" altLang="zh-CN" sz="1400" b="1">
                  <a:solidFill>
                    <a:schemeClr val="tx2"/>
                  </a:solidFill>
                  <a:ea typeface="宋体" pitchFamily="2" charset="-122"/>
                </a:rPr>
                <a:t>Data</a:t>
              </a:r>
            </a:p>
          </p:txBody>
        </p:sp>
      </p:grpSp>
      <p:grpSp>
        <p:nvGrpSpPr>
          <p:cNvPr id="4" name="组合 222"/>
          <p:cNvGrpSpPr>
            <a:grpSpLocks/>
          </p:cNvGrpSpPr>
          <p:nvPr/>
        </p:nvGrpSpPr>
        <p:grpSpPr bwMode="auto">
          <a:xfrm>
            <a:off x="7024689" y="2897189"/>
            <a:ext cx="700087" cy="352425"/>
            <a:chOff x="1089617" y="6310306"/>
            <a:chExt cx="700664" cy="351942"/>
          </a:xfrm>
        </p:grpSpPr>
        <p:grpSp>
          <p:nvGrpSpPr>
            <p:cNvPr id="5" name="Group 184"/>
            <p:cNvGrpSpPr>
              <a:grpSpLocks/>
            </p:cNvGrpSpPr>
            <p:nvPr/>
          </p:nvGrpSpPr>
          <p:grpSpPr bwMode="auto">
            <a:xfrm>
              <a:off x="1103265" y="6310306"/>
              <a:ext cx="547695" cy="295325"/>
              <a:chOff x="3334" y="2160"/>
              <a:chExt cx="635" cy="408"/>
            </a:xfrm>
          </p:grpSpPr>
          <p:sp>
            <p:nvSpPr>
              <p:cNvPr id="13410" name="Rectangle 185"/>
              <p:cNvSpPr>
                <a:spLocks noChangeArrowheads="1"/>
              </p:cNvSpPr>
              <p:nvPr/>
            </p:nvSpPr>
            <p:spPr bwMode="auto">
              <a:xfrm>
                <a:off x="3334" y="2160"/>
                <a:ext cx="635" cy="408"/>
              </a:xfrm>
              <a:prstGeom prst="rect">
                <a:avLst/>
              </a:prstGeom>
              <a:solidFill>
                <a:srgbClr val="CCECFF"/>
              </a:solidFill>
              <a:ln w="9525" algn="ctr">
                <a:noFill/>
                <a:miter lim="800000"/>
                <a:headEnd/>
                <a:tailEnd/>
              </a:ln>
              <a:effectLst>
                <a:prstShdw prst="shdw17" dist="17961" dir="2700000">
                  <a:srgbClr val="7A8E99"/>
                </a:prstShdw>
              </a:effectLst>
            </p:spPr>
            <p:txBody>
              <a:bodyPr wrap="none" anchor="ctr"/>
              <a:lstStyle/>
              <a:p>
                <a:endParaRPr lang="en-US" altLang="zh-CN">
                  <a:solidFill>
                    <a:schemeClr val="tx2"/>
                  </a:solidFill>
                  <a:ea typeface="宋体" pitchFamily="2" charset="-122"/>
                </a:endParaRPr>
              </a:p>
              <a:p>
                <a:endParaRPr lang="en-US" altLang="zh-CN" sz="1400">
                  <a:solidFill>
                    <a:schemeClr val="tx2"/>
                  </a:solidFill>
                  <a:ea typeface="宋体" pitchFamily="2" charset="-122"/>
                </a:endParaRPr>
              </a:p>
            </p:txBody>
          </p:sp>
          <p:sp>
            <p:nvSpPr>
              <p:cNvPr id="13411" name="Line 186"/>
              <p:cNvSpPr>
                <a:spLocks noChangeShapeType="1"/>
              </p:cNvSpPr>
              <p:nvPr/>
            </p:nvSpPr>
            <p:spPr bwMode="auto">
              <a:xfrm flipH="1" flipV="1">
                <a:off x="3334" y="2160"/>
                <a:ext cx="317" cy="181"/>
              </a:xfrm>
              <a:prstGeom prst="line">
                <a:avLst/>
              </a:prstGeom>
              <a:noFill/>
              <a:ln w="19050">
                <a:solidFill>
                  <a:schemeClr val="bg1"/>
                </a:solidFill>
                <a:round/>
                <a:headEnd/>
                <a:tailEnd/>
              </a:ln>
            </p:spPr>
            <p:txBody>
              <a:bodyPr anchor="b"/>
              <a:lstStyle/>
              <a:p>
                <a:endParaRPr lang="zh-CN" altLang="en-US"/>
              </a:p>
            </p:txBody>
          </p:sp>
          <p:sp>
            <p:nvSpPr>
              <p:cNvPr id="13412" name="Line 187"/>
              <p:cNvSpPr>
                <a:spLocks noChangeShapeType="1"/>
              </p:cNvSpPr>
              <p:nvPr/>
            </p:nvSpPr>
            <p:spPr bwMode="auto">
              <a:xfrm flipV="1">
                <a:off x="3651" y="2160"/>
                <a:ext cx="318" cy="181"/>
              </a:xfrm>
              <a:prstGeom prst="line">
                <a:avLst/>
              </a:prstGeom>
              <a:noFill/>
              <a:ln w="28575">
                <a:solidFill>
                  <a:srgbClr val="969696"/>
                </a:solidFill>
                <a:round/>
                <a:headEnd/>
                <a:tailEnd/>
              </a:ln>
            </p:spPr>
            <p:txBody>
              <a:bodyPr anchor="b"/>
              <a:lstStyle/>
              <a:p>
                <a:endParaRPr lang="zh-CN" altLang="en-US"/>
              </a:p>
            </p:txBody>
          </p:sp>
        </p:grpSp>
        <p:sp>
          <p:nvSpPr>
            <p:cNvPr id="13409" name="Text Box 188"/>
            <p:cNvSpPr txBox="1">
              <a:spLocks noChangeArrowheads="1"/>
            </p:cNvSpPr>
            <p:nvPr/>
          </p:nvSpPr>
          <p:spPr bwMode="auto">
            <a:xfrm>
              <a:off x="1089617" y="6354471"/>
              <a:ext cx="700664" cy="307777"/>
            </a:xfrm>
            <a:prstGeom prst="rect">
              <a:avLst/>
            </a:prstGeom>
            <a:noFill/>
            <a:ln w="9525" algn="ctr">
              <a:noFill/>
              <a:miter lim="800000"/>
              <a:headEnd/>
              <a:tailEnd/>
            </a:ln>
          </p:spPr>
          <p:txBody>
            <a:bodyPr anchor="b">
              <a:spAutoFit/>
            </a:bodyPr>
            <a:lstStyle/>
            <a:p>
              <a:pPr>
                <a:spcBef>
                  <a:spcPct val="50000"/>
                </a:spcBef>
              </a:pPr>
              <a:r>
                <a:rPr lang="en-US" altLang="zh-CN" sz="1400" b="1">
                  <a:solidFill>
                    <a:schemeClr val="tx2"/>
                  </a:solidFill>
                  <a:ea typeface="宋体" pitchFamily="2" charset="-122"/>
                </a:rPr>
                <a:t>Data</a:t>
              </a:r>
            </a:p>
          </p:txBody>
        </p:sp>
      </p:grpSp>
      <p:grpSp>
        <p:nvGrpSpPr>
          <p:cNvPr id="6" name="组合 216"/>
          <p:cNvGrpSpPr>
            <a:grpSpLocks/>
          </p:cNvGrpSpPr>
          <p:nvPr/>
        </p:nvGrpSpPr>
        <p:grpSpPr bwMode="auto">
          <a:xfrm>
            <a:off x="4338639" y="2897189"/>
            <a:ext cx="701675" cy="350837"/>
            <a:chOff x="1089617" y="6310306"/>
            <a:chExt cx="700664" cy="351942"/>
          </a:xfrm>
        </p:grpSpPr>
        <p:grpSp>
          <p:nvGrpSpPr>
            <p:cNvPr id="7" name="Group 184"/>
            <p:cNvGrpSpPr>
              <a:grpSpLocks/>
            </p:cNvGrpSpPr>
            <p:nvPr/>
          </p:nvGrpSpPr>
          <p:grpSpPr bwMode="auto">
            <a:xfrm>
              <a:off x="1103265" y="6310306"/>
              <a:ext cx="547695" cy="295325"/>
              <a:chOff x="3334" y="2160"/>
              <a:chExt cx="635" cy="408"/>
            </a:xfrm>
          </p:grpSpPr>
          <p:sp>
            <p:nvSpPr>
              <p:cNvPr id="13405" name="Rectangle 185"/>
              <p:cNvSpPr>
                <a:spLocks noChangeArrowheads="1"/>
              </p:cNvSpPr>
              <p:nvPr/>
            </p:nvSpPr>
            <p:spPr bwMode="auto">
              <a:xfrm>
                <a:off x="3334" y="2160"/>
                <a:ext cx="635" cy="408"/>
              </a:xfrm>
              <a:prstGeom prst="rect">
                <a:avLst/>
              </a:prstGeom>
              <a:solidFill>
                <a:srgbClr val="CCECFF"/>
              </a:solidFill>
              <a:ln w="9525" algn="ctr">
                <a:noFill/>
                <a:miter lim="800000"/>
                <a:headEnd/>
                <a:tailEnd/>
              </a:ln>
              <a:effectLst>
                <a:prstShdw prst="shdw17" dist="17961" dir="2700000">
                  <a:srgbClr val="7A8E99"/>
                </a:prstShdw>
              </a:effectLst>
            </p:spPr>
            <p:txBody>
              <a:bodyPr wrap="none" anchor="ctr"/>
              <a:lstStyle/>
              <a:p>
                <a:endParaRPr lang="en-US" altLang="zh-CN">
                  <a:solidFill>
                    <a:schemeClr val="tx2"/>
                  </a:solidFill>
                  <a:ea typeface="宋体" pitchFamily="2" charset="-122"/>
                </a:endParaRPr>
              </a:p>
              <a:p>
                <a:endParaRPr lang="en-US" altLang="zh-CN" sz="1400">
                  <a:solidFill>
                    <a:schemeClr val="tx2"/>
                  </a:solidFill>
                  <a:ea typeface="宋体" pitchFamily="2" charset="-122"/>
                </a:endParaRPr>
              </a:p>
            </p:txBody>
          </p:sp>
          <p:sp>
            <p:nvSpPr>
              <p:cNvPr id="13406" name="Line 186"/>
              <p:cNvSpPr>
                <a:spLocks noChangeShapeType="1"/>
              </p:cNvSpPr>
              <p:nvPr/>
            </p:nvSpPr>
            <p:spPr bwMode="auto">
              <a:xfrm flipH="1" flipV="1">
                <a:off x="3334" y="2160"/>
                <a:ext cx="317" cy="181"/>
              </a:xfrm>
              <a:prstGeom prst="line">
                <a:avLst/>
              </a:prstGeom>
              <a:noFill/>
              <a:ln w="19050">
                <a:solidFill>
                  <a:schemeClr val="bg1"/>
                </a:solidFill>
                <a:round/>
                <a:headEnd/>
                <a:tailEnd/>
              </a:ln>
            </p:spPr>
            <p:txBody>
              <a:bodyPr anchor="b"/>
              <a:lstStyle/>
              <a:p>
                <a:endParaRPr lang="zh-CN" altLang="en-US"/>
              </a:p>
            </p:txBody>
          </p:sp>
          <p:sp>
            <p:nvSpPr>
              <p:cNvPr id="13407" name="Line 187"/>
              <p:cNvSpPr>
                <a:spLocks noChangeShapeType="1"/>
              </p:cNvSpPr>
              <p:nvPr/>
            </p:nvSpPr>
            <p:spPr bwMode="auto">
              <a:xfrm flipV="1">
                <a:off x="3651" y="2160"/>
                <a:ext cx="318" cy="181"/>
              </a:xfrm>
              <a:prstGeom prst="line">
                <a:avLst/>
              </a:prstGeom>
              <a:noFill/>
              <a:ln w="28575">
                <a:solidFill>
                  <a:srgbClr val="969696"/>
                </a:solidFill>
                <a:round/>
                <a:headEnd/>
                <a:tailEnd/>
              </a:ln>
            </p:spPr>
            <p:txBody>
              <a:bodyPr anchor="b"/>
              <a:lstStyle/>
              <a:p>
                <a:endParaRPr lang="zh-CN" altLang="en-US"/>
              </a:p>
            </p:txBody>
          </p:sp>
        </p:grpSp>
        <p:sp>
          <p:nvSpPr>
            <p:cNvPr id="13404" name="Text Box 188"/>
            <p:cNvSpPr txBox="1">
              <a:spLocks noChangeArrowheads="1"/>
            </p:cNvSpPr>
            <p:nvPr/>
          </p:nvSpPr>
          <p:spPr bwMode="auto">
            <a:xfrm>
              <a:off x="1089617" y="6354471"/>
              <a:ext cx="700664" cy="307777"/>
            </a:xfrm>
            <a:prstGeom prst="rect">
              <a:avLst/>
            </a:prstGeom>
            <a:noFill/>
            <a:ln w="9525" algn="ctr">
              <a:noFill/>
              <a:miter lim="800000"/>
              <a:headEnd/>
              <a:tailEnd/>
            </a:ln>
          </p:spPr>
          <p:txBody>
            <a:bodyPr anchor="b">
              <a:spAutoFit/>
            </a:bodyPr>
            <a:lstStyle/>
            <a:p>
              <a:pPr>
                <a:spcBef>
                  <a:spcPct val="50000"/>
                </a:spcBef>
              </a:pPr>
              <a:r>
                <a:rPr lang="en-US" altLang="zh-CN" sz="1400" b="1">
                  <a:solidFill>
                    <a:schemeClr val="tx2"/>
                  </a:solidFill>
                  <a:ea typeface="宋体" pitchFamily="2" charset="-122"/>
                </a:rPr>
                <a:t>Data</a:t>
              </a:r>
            </a:p>
          </p:txBody>
        </p:sp>
      </p:grpSp>
      <p:grpSp>
        <p:nvGrpSpPr>
          <p:cNvPr id="8" name="组合 210"/>
          <p:cNvGrpSpPr>
            <a:grpSpLocks/>
          </p:cNvGrpSpPr>
          <p:nvPr/>
        </p:nvGrpSpPr>
        <p:grpSpPr bwMode="auto">
          <a:xfrm>
            <a:off x="3408364" y="2897189"/>
            <a:ext cx="700087" cy="350837"/>
            <a:chOff x="1089617" y="6310306"/>
            <a:chExt cx="700664" cy="351942"/>
          </a:xfrm>
        </p:grpSpPr>
        <p:grpSp>
          <p:nvGrpSpPr>
            <p:cNvPr id="9" name="Group 184"/>
            <p:cNvGrpSpPr>
              <a:grpSpLocks/>
            </p:cNvGrpSpPr>
            <p:nvPr/>
          </p:nvGrpSpPr>
          <p:grpSpPr bwMode="auto">
            <a:xfrm>
              <a:off x="1103265" y="6310306"/>
              <a:ext cx="547695" cy="295325"/>
              <a:chOff x="3334" y="2160"/>
              <a:chExt cx="635" cy="408"/>
            </a:xfrm>
          </p:grpSpPr>
          <p:sp>
            <p:nvSpPr>
              <p:cNvPr id="13400" name="Rectangle 185"/>
              <p:cNvSpPr>
                <a:spLocks noChangeArrowheads="1"/>
              </p:cNvSpPr>
              <p:nvPr/>
            </p:nvSpPr>
            <p:spPr bwMode="auto">
              <a:xfrm>
                <a:off x="3334" y="2160"/>
                <a:ext cx="635" cy="408"/>
              </a:xfrm>
              <a:prstGeom prst="rect">
                <a:avLst/>
              </a:prstGeom>
              <a:solidFill>
                <a:srgbClr val="CCECFF"/>
              </a:solidFill>
              <a:ln w="9525" algn="ctr">
                <a:noFill/>
                <a:miter lim="800000"/>
                <a:headEnd/>
                <a:tailEnd/>
              </a:ln>
              <a:effectLst>
                <a:prstShdw prst="shdw17" dist="17961" dir="2700000">
                  <a:srgbClr val="7A8E99"/>
                </a:prstShdw>
              </a:effectLst>
            </p:spPr>
            <p:txBody>
              <a:bodyPr wrap="none" anchor="ctr"/>
              <a:lstStyle/>
              <a:p>
                <a:endParaRPr lang="en-US" altLang="zh-CN">
                  <a:ea typeface="宋体" pitchFamily="2" charset="-122"/>
                </a:endParaRPr>
              </a:p>
              <a:p>
                <a:endParaRPr lang="en-US" altLang="zh-CN" sz="1400">
                  <a:ea typeface="宋体" pitchFamily="2" charset="-122"/>
                </a:endParaRPr>
              </a:p>
            </p:txBody>
          </p:sp>
          <p:sp>
            <p:nvSpPr>
              <p:cNvPr id="13401" name="Line 186"/>
              <p:cNvSpPr>
                <a:spLocks noChangeShapeType="1"/>
              </p:cNvSpPr>
              <p:nvPr/>
            </p:nvSpPr>
            <p:spPr bwMode="auto">
              <a:xfrm flipH="1" flipV="1">
                <a:off x="3334" y="2160"/>
                <a:ext cx="317" cy="181"/>
              </a:xfrm>
              <a:prstGeom prst="line">
                <a:avLst/>
              </a:prstGeom>
              <a:noFill/>
              <a:ln w="19050">
                <a:solidFill>
                  <a:schemeClr val="bg1"/>
                </a:solidFill>
                <a:round/>
                <a:headEnd/>
                <a:tailEnd/>
              </a:ln>
            </p:spPr>
            <p:txBody>
              <a:bodyPr anchor="b"/>
              <a:lstStyle/>
              <a:p>
                <a:endParaRPr lang="zh-CN" altLang="en-US"/>
              </a:p>
            </p:txBody>
          </p:sp>
          <p:sp>
            <p:nvSpPr>
              <p:cNvPr id="13402" name="Line 187"/>
              <p:cNvSpPr>
                <a:spLocks noChangeShapeType="1"/>
              </p:cNvSpPr>
              <p:nvPr/>
            </p:nvSpPr>
            <p:spPr bwMode="auto">
              <a:xfrm flipV="1">
                <a:off x="3651" y="2160"/>
                <a:ext cx="318" cy="181"/>
              </a:xfrm>
              <a:prstGeom prst="line">
                <a:avLst/>
              </a:prstGeom>
              <a:noFill/>
              <a:ln w="28575">
                <a:solidFill>
                  <a:srgbClr val="969696"/>
                </a:solidFill>
                <a:round/>
                <a:headEnd/>
                <a:tailEnd/>
              </a:ln>
            </p:spPr>
            <p:txBody>
              <a:bodyPr anchor="b"/>
              <a:lstStyle/>
              <a:p>
                <a:endParaRPr lang="zh-CN" altLang="en-US"/>
              </a:p>
            </p:txBody>
          </p:sp>
        </p:grpSp>
        <p:sp>
          <p:nvSpPr>
            <p:cNvPr id="13399" name="Text Box 188"/>
            <p:cNvSpPr txBox="1">
              <a:spLocks noChangeArrowheads="1"/>
            </p:cNvSpPr>
            <p:nvPr/>
          </p:nvSpPr>
          <p:spPr bwMode="auto">
            <a:xfrm>
              <a:off x="1089617" y="6354471"/>
              <a:ext cx="700664" cy="307777"/>
            </a:xfrm>
            <a:prstGeom prst="rect">
              <a:avLst/>
            </a:prstGeom>
            <a:noFill/>
            <a:ln w="9525" algn="ctr">
              <a:noFill/>
              <a:miter lim="800000"/>
              <a:headEnd/>
              <a:tailEnd/>
            </a:ln>
          </p:spPr>
          <p:txBody>
            <a:bodyPr anchor="b">
              <a:spAutoFit/>
            </a:bodyPr>
            <a:lstStyle/>
            <a:p>
              <a:pPr>
                <a:spcBef>
                  <a:spcPct val="50000"/>
                </a:spcBef>
              </a:pPr>
              <a:r>
                <a:rPr lang="en-US" altLang="zh-CN" sz="1400" b="1">
                  <a:solidFill>
                    <a:schemeClr val="tx2"/>
                  </a:solidFill>
                  <a:ea typeface="宋体" pitchFamily="2" charset="-122"/>
                </a:rPr>
                <a:t>Data</a:t>
              </a:r>
            </a:p>
          </p:txBody>
        </p:sp>
      </p:grpSp>
      <p:grpSp>
        <p:nvGrpSpPr>
          <p:cNvPr id="10" name="组合 201"/>
          <p:cNvGrpSpPr>
            <a:grpSpLocks/>
          </p:cNvGrpSpPr>
          <p:nvPr/>
        </p:nvGrpSpPr>
        <p:grpSpPr bwMode="auto">
          <a:xfrm>
            <a:off x="2474914" y="2897189"/>
            <a:ext cx="700087" cy="352425"/>
            <a:chOff x="1089617" y="6310306"/>
            <a:chExt cx="700664" cy="351942"/>
          </a:xfrm>
        </p:grpSpPr>
        <p:grpSp>
          <p:nvGrpSpPr>
            <p:cNvPr id="11" name="Group 184"/>
            <p:cNvGrpSpPr>
              <a:grpSpLocks/>
            </p:cNvGrpSpPr>
            <p:nvPr/>
          </p:nvGrpSpPr>
          <p:grpSpPr bwMode="auto">
            <a:xfrm>
              <a:off x="1103265" y="6310306"/>
              <a:ext cx="547695" cy="295325"/>
              <a:chOff x="3334" y="2160"/>
              <a:chExt cx="635" cy="408"/>
            </a:xfrm>
          </p:grpSpPr>
          <p:sp>
            <p:nvSpPr>
              <p:cNvPr id="13395" name="Rectangle 185"/>
              <p:cNvSpPr>
                <a:spLocks noChangeArrowheads="1"/>
              </p:cNvSpPr>
              <p:nvPr/>
            </p:nvSpPr>
            <p:spPr bwMode="auto">
              <a:xfrm>
                <a:off x="3334" y="2160"/>
                <a:ext cx="635" cy="408"/>
              </a:xfrm>
              <a:prstGeom prst="rect">
                <a:avLst/>
              </a:prstGeom>
              <a:solidFill>
                <a:srgbClr val="CCECFF"/>
              </a:solidFill>
              <a:ln w="9525" algn="ctr">
                <a:noFill/>
                <a:miter lim="800000"/>
                <a:headEnd/>
                <a:tailEnd/>
              </a:ln>
              <a:effectLst>
                <a:prstShdw prst="shdw17" dist="17961" dir="2700000">
                  <a:srgbClr val="7A8E99"/>
                </a:prstShdw>
              </a:effectLst>
            </p:spPr>
            <p:txBody>
              <a:bodyPr wrap="none" anchor="ctr"/>
              <a:lstStyle/>
              <a:p>
                <a:endParaRPr lang="en-US" altLang="zh-CN">
                  <a:solidFill>
                    <a:schemeClr val="tx2"/>
                  </a:solidFill>
                  <a:ea typeface="宋体" pitchFamily="2" charset="-122"/>
                </a:endParaRPr>
              </a:p>
              <a:p>
                <a:endParaRPr lang="en-US" altLang="zh-CN" sz="1400">
                  <a:solidFill>
                    <a:schemeClr val="tx2"/>
                  </a:solidFill>
                  <a:ea typeface="宋体" pitchFamily="2" charset="-122"/>
                </a:endParaRPr>
              </a:p>
            </p:txBody>
          </p:sp>
          <p:sp>
            <p:nvSpPr>
              <p:cNvPr id="13396" name="Line 186"/>
              <p:cNvSpPr>
                <a:spLocks noChangeShapeType="1"/>
              </p:cNvSpPr>
              <p:nvPr/>
            </p:nvSpPr>
            <p:spPr bwMode="auto">
              <a:xfrm flipH="1" flipV="1">
                <a:off x="3334" y="2160"/>
                <a:ext cx="317" cy="181"/>
              </a:xfrm>
              <a:prstGeom prst="line">
                <a:avLst/>
              </a:prstGeom>
              <a:noFill/>
              <a:ln w="19050">
                <a:solidFill>
                  <a:schemeClr val="bg1"/>
                </a:solidFill>
                <a:round/>
                <a:headEnd/>
                <a:tailEnd/>
              </a:ln>
            </p:spPr>
            <p:txBody>
              <a:bodyPr anchor="b"/>
              <a:lstStyle/>
              <a:p>
                <a:endParaRPr lang="zh-CN" altLang="en-US"/>
              </a:p>
            </p:txBody>
          </p:sp>
          <p:sp>
            <p:nvSpPr>
              <p:cNvPr id="13397" name="Line 187"/>
              <p:cNvSpPr>
                <a:spLocks noChangeShapeType="1"/>
              </p:cNvSpPr>
              <p:nvPr/>
            </p:nvSpPr>
            <p:spPr bwMode="auto">
              <a:xfrm flipV="1">
                <a:off x="3651" y="2160"/>
                <a:ext cx="318" cy="181"/>
              </a:xfrm>
              <a:prstGeom prst="line">
                <a:avLst/>
              </a:prstGeom>
              <a:noFill/>
              <a:ln w="28575">
                <a:solidFill>
                  <a:srgbClr val="969696"/>
                </a:solidFill>
                <a:round/>
                <a:headEnd/>
                <a:tailEnd/>
              </a:ln>
            </p:spPr>
            <p:txBody>
              <a:bodyPr anchor="b"/>
              <a:lstStyle/>
              <a:p>
                <a:endParaRPr lang="zh-CN" altLang="en-US"/>
              </a:p>
            </p:txBody>
          </p:sp>
        </p:grpSp>
        <p:sp>
          <p:nvSpPr>
            <p:cNvPr id="13394" name="Text Box 188"/>
            <p:cNvSpPr txBox="1">
              <a:spLocks noChangeArrowheads="1"/>
            </p:cNvSpPr>
            <p:nvPr/>
          </p:nvSpPr>
          <p:spPr bwMode="auto">
            <a:xfrm>
              <a:off x="1089617" y="6354471"/>
              <a:ext cx="700664" cy="307777"/>
            </a:xfrm>
            <a:prstGeom prst="rect">
              <a:avLst/>
            </a:prstGeom>
            <a:noFill/>
            <a:ln w="9525" algn="ctr">
              <a:noFill/>
              <a:miter lim="800000"/>
              <a:headEnd/>
              <a:tailEnd/>
            </a:ln>
          </p:spPr>
          <p:txBody>
            <a:bodyPr anchor="b">
              <a:spAutoFit/>
            </a:bodyPr>
            <a:lstStyle/>
            <a:p>
              <a:pPr>
                <a:spcBef>
                  <a:spcPct val="50000"/>
                </a:spcBef>
              </a:pPr>
              <a:r>
                <a:rPr lang="en-US" altLang="zh-CN" sz="1400" b="1">
                  <a:solidFill>
                    <a:schemeClr val="tx2"/>
                  </a:solidFill>
                  <a:ea typeface="宋体" pitchFamily="2" charset="-122"/>
                </a:rPr>
                <a:t>Data</a:t>
              </a:r>
            </a:p>
          </p:txBody>
        </p: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203"/>
                                        </p:tgtEl>
                                      </p:cBhvr>
                                    </p:animEffect>
                                    <p:set>
                                      <p:cBhvr>
                                        <p:cTn id="7" dur="1" fill="hold">
                                          <p:stCondLst>
                                            <p:cond delay="499"/>
                                          </p:stCondLst>
                                        </p:cTn>
                                        <p:tgtEl>
                                          <p:spTgt spid="203"/>
                                        </p:tgtEl>
                                        <p:attrNameLst>
                                          <p:attrName>style.visibility</p:attrName>
                                        </p:attrNameLst>
                                      </p:cBhvr>
                                      <p:to>
                                        <p:strVal val="hidden"/>
                                      </p:to>
                                    </p:set>
                                  </p:childTnLst>
                                </p:cTn>
                              </p:par>
                              <p:par>
                                <p:cTn id="8" presetID="0" presetClass="path" presetSubtype="0" accel="50000" decel="50000" fill="hold" nodeType="withEffect">
                                  <p:stCondLst>
                                    <p:cond delay="0"/>
                                  </p:stCondLst>
                                  <p:childTnLst>
                                    <p:animMotion origin="layout" path="M -5.27778E-6 -3.52451E-6 L 0.10225 -3.52451E-6 " pathEditMode="relative" ptsTypes="AA">
                                      <p:cBhvr>
                                        <p:cTn id="9" dur="2000" fill="hold"/>
                                        <p:tgtEl>
                                          <p:spTgt spid="10"/>
                                        </p:tgtEl>
                                        <p:attrNameLst>
                                          <p:attrName>ppt_x</p:attrName>
                                          <p:attrName>ppt_y</p:attrName>
                                        </p:attrNameLst>
                                      </p:cBhvr>
                                    </p:animMotion>
                                  </p:childTnLst>
                                </p:cTn>
                              </p:par>
                            </p:childTnLst>
                          </p:cTn>
                        </p:par>
                        <p:par>
                          <p:cTn id="10" fill="hold">
                            <p:stCondLst>
                              <p:cond delay="2000"/>
                            </p:stCondLst>
                            <p:childTnLst>
                              <p:par>
                                <p:cTn id="11" presetID="3" presetClass="entr" presetSubtype="10" fill="hold" grpId="0" nodeType="afterEffect">
                                  <p:stCondLst>
                                    <p:cond delay="0"/>
                                  </p:stCondLst>
                                  <p:childTnLst>
                                    <p:set>
                                      <p:cBhvr>
                                        <p:cTn id="12" dur="1" fill="hold">
                                          <p:stCondLst>
                                            <p:cond delay="0"/>
                                          </p:stCondLst>
                                        </p:cTn>
                                        <p:tgtEl>
                                          <p:spTgt spid="204"/>
                                        </p:tgtEl>
                                        <p:attrNameLst>
                                          <p:attrName>style.visibility</p:attrName>
                                        </p:attrNameLst>
                                      </p:cBhvr>
                                      <p:to>
                                        <p:strVal val="visible"/>
                                      </p:to>
                                    </p:set>
                                    <p:animEffect transition="in" filter="blinds(horizontal)">
                                      <p:cBhvr>
                                        <p:cTn id="13" dur="500"/>
                                        <p:tgtEl>
                                          <p:spTgt spid="204"/>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09"/>
                                        </p:tgtEl>
                                        <p:attrNameLst>
                                          <p:attrName>style.visibility</p:attrName>
                                        </p:attrNameLst>
                                      </p:cBhvr>
                                      <p:to>
                                        <p:strVal val="visible"/>
                                      </p:to>
                                    </p:set>
                                    <p:animEffect transition="in" filter="blinds(horizontal)">
                                      <p:cBhvr>
                                        <p:cTn id="16" dur="500"/>
                                        <p:tgtEl>
                                          <p:spTgt spid="209"/>
                                        </p:tgtEl>
                                      </p:cBhvr>
                                    </p:animEffect>
                                  </p:childTnLst>
                                </p:cTn>
                              </p:par>
                            </p:childTnLst>
                          </p:cTn>
                        </p:par>
                        <p:par>
                          <p:cTn id="17" fill="hold">
                            <p:stCondLst>
                              <p:cond delay="25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par>
                          <p:cTn id="21" fill="hold">
                            <p:stCondLst>
                              <p:cond delay="3000"/>
                            </p:stCondLst>
                            <p:childTnLst>
                              <p:par>
                                <p:cTn id="22" presetID="1" presetClass="exit" presetSubtype="0" fill="hold" nodeType="afterEffect">
                                  <p:stCondLst>
                                    <p:cond delay="0"/>
                                  </p:stCondLst>
                                  <p:childTnLst>
                                    <p:set>
                                      <p:cBhvr>
                                        <p:cTn id="23" dur="1" fill="hold">
                                          <p:stCondLst>
                                            <p:cond delay="0"/>
                                          </p:stCondLst>
                                        </p:cTn>
                                        <p:tgtEl>
                                          <p:spTgt spid="10"/>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05"/>
                                        </p:tgtEl>
                                        <p:attrNameLst>
                                          <p:attrName>style.visibility</p:attrName>
                                        </p:attrNameLst>
                                      </p:cBhvr>
                                      <p:to>
                                        <p:strVal val="visible"/>
                                      </p:to>
                                    </p:set>
                                    <p:animEffect transition="in" filter="blinds(horizontal)">
                                      <p:cBhvr>
                                        <p:cTn id="28" dur="500"/>
                                        <p:tgtEl>
                                          <p:spTgt spid="205"/>
                                        </p:tgtEl>
                                      </p:cBhvr>
                                    </p:animEffect>
                                  </p:childTnLst>
                                </p:cTn>
                              </p:par>
                              <p:par>
                                <p:cTn id="29" presetID="3" presetClass="exit" presetSubtype="10" fill="hold" grpId="1" nodeType="withEffect">
                                  <p:stCondLst>
                                    <p:cond delay="0"/>
                                  </p:stCondLst>
                                  <p:childTnLst>
                                    <p:animEffect transition="out" filter="blinds(horizontal)">
                                      <p:cBhvr>
                                        <p:cTn id="30" dur="500"/>
                                        <p:tgtEl>
                                          <p:spTgt spid="204"/>
                                        </p:tgtEl>
                                      </p:cBhvr>
                                    </p:animEffect>
                                    <p:set>
                                      <p:cBhvr>
                                        <p:cTn id="31" dur="1" fill="hold">
                                          <p:stCondLst>
                                            <p:cond delay="499"/>
                                          </p:stCondLst>
                                        </p:cTn>
                                        <p:tgtEl>
                                          <p:spTgt spid="204"/>
                                        </p:tgtEl>
                                        <p:attrNameLst>
                                          <p:attrName>style.visibility</p:attrName>
                                        </p:attrNameLst>
                                      </p:cBhvr>
                                      <p:to>
                                        <p:strVal val="hidden"/>
                                      </p:to>
                                    </p:set>
                                  </p:childTnLst>
                                </p:cTn>
                              </p:par>
                            </p:childTnLst>
                          </p:cTn>
                        </p:par>
                        <p:par>
                          <p:cTn id="32" fill="hold">
                            <p:stCondLst>
                              <p:cond delay="500"/>
                            </p:stCondLst>
                            <p:childTnLst>
                              <p:par>
                                <p:cTn id="33" presetID="0" presetClass="path" presetSubtype="0" accel="50000" decel="50000" fill="hold" nodeType="afterEffect">
                                  <p:stCondLst>
                                    <p:cond delay="0"/>
                                  </p:stCondLst>
                                  <p:childTnLst>
                                    <p:animMotion origin="layout" path="M -5.27778E-6 -3.52451E-6 L 0.10225 -3.52451E-6 " pathEditMode="relative" ptsTypes="AA">
                                      <p:cBhvr>
                                        <p:cTn id="34" dur="2000" fill="hold"/>
                                        <p:tgtEl>
                                          <p:spTgt spid="8"/>
                                        </p:tgtEl>
                                        <p:attrNameLst>
                                          <p:attrName>ppt_x</p:attrName>
                                          <p:attrName>ppt_y</p:attrName>
                                        </p:attrNameLst>
                                      </p:cBhvr>
                                    </p:animMotion>
                                  </p:childTnLst>
                                </p:cTn>
                              </p:par>
                            </p:childTnLst>
                          </p:cTn>
                        </p:par>
                        <p:par>
                          <p:cTn id="35" fill="hold">
                            <p:stCondLst>
                              <p:cond delay="2500"/>
                            </p:stCondLst>
                            <p:childTnLst>
                              <p:par>
                                <p:cTn id="36" presetID="10" presetClass="entr" presetSubtype="0" fill="hold"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par>
                          <p:cTn id="39" fill="hold">
                            <p:stCondLst>
                              <p:cond delay="3000"/>
                            </p:stCondLst>
                            <p:childTnLst>
                              <p:par>
                                <p:cTn id="40" presetID="1" presetClass="exit" presetSubtype="0" fill="hold" nodeType="afterEffect">
                                  <p:stCondLst>
                                    <p:cond delay="0"/>
                                  </p:stCondLst>
                                  <p:childTnLst>
                                    <p:set>
                                      <p:cBhvr>
                                        <p:cTn id="41" dur="1" fill="hold">
                                          <p:stCondLst>
                                            <p:cond delay="0"/>
                                          </p:stCondLst>
                                        </p:cTn>
                                        <p:tgtEl>
                                          <p:spTgt spid="8"/>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0" presetClass="path" presetSubtype="0" accel="50000" decel="50000" fill="hold" nodeType="clickEffect">
                                  <p:stCondLst>
                                    <p:cond delay="0"/>
                                  </p:stCondLst>
                                  <p:childTnLst>
                                    <p:animMotion origin="layout" path="M -0.00261 2.7012E-6 L 0.29392 2.7012E-6 " pathEditMode="relative" rAng="0" ptsTypes="AA">
                                      <p:cBhvr>
                                        <p:cTn id="45" dur="2000" fill="hold"/>
                                        <p:tgtEl>
                                          <p:spTgt spid="6"/>
                                        </p:tgtEl>
                                        <p:attrNameLst>
                                          <p:attrName>ppt_x</p:attrName>
                                          <p:attrName>ppt_y</p:attrName>
                                        </p:attrNameLst>
                                      </p:cBhvr>
                                      <p:rCtr x="148" y="0"/>
                                    </p:animMotion>
                                  </p:childTnLst>
                                </p:cTn>
                              </p:par>
                              <p:par>
                                <p:cTn id="46" presetID="3" presetClass="exit" presetSubtype="10" fill="hold" grpId="1" nodeType="withEffect">
                                  <p:stCondLst>
                                    <p:cond delay="0"/>
                                  </p:stCondLst>
                                  <p:childTnLst>
                                    <p:animEffect transition="out" filter="blinds(horizontal)">
                                      <p:cBhvr>
                                        <p:cTn id="47" dur="500"/>
                                        <p:tgtEl>
                                          <p:spTgt spid="205"/>
                                        </p:tgtEl>
                                      </p:cBhvr>
                                    </p:animEffect>
                                    <p:set>
                                      <p:cBhvr>
                                        <p:cTn id="48" dur="1" fill="hold">
                                          <p:stCondLst>
                                            <p:cond delay="499"/>
                                          </p:stCondLst>
                                        </p:cTn>
                                        <p:tgtEl>
                                          <p:spTgt spid="205"/>
                                        </p:tgtEl>
                                        <p:attrNameLst>
                                          <p:attrName>style.visibility</p:attrName>
                                        </p:attrNameLst>
                                      </p:cBhvr>
                                      <p:to>
                                        <p:strVal val="hidden"/>
                                      </p:to>
                                    </p:set>
                                  </p:childTnLst>
                                </p:cTn>
                              </p:par>
                            </p:childTnLst>
                          </p:cTn>
                        </p:par>
                        <p:par>
                          <p:cTn id="49" fill="hold">
                            <p:stCondLst>
                              <p:cond delay="2000"/>
                            </p:stCondLst>
                            <p:childTnLst>
                              <p:par>
                                <p:cTn id="50" presetID="3" presetClass="entr" presetSubtype="10" fill="hold" grpId="0" nodeType="afterEffect">
                                  <p:stCondLst>
                                    <p:cond delay="0"/>
                                  </p:stCondLst>
                                  <p:childTnLst>
                                    <p:set>
                                      <p:cBhvr>
                                        <p:cTn id="51" dur="1" fill="hold">
                                          <p:stCondLst>
                                            <p:cond delay="0"/>
                                          </p:stCondLst>
                                        </p:cTn>
                                        <p:tgtEl>
                                          <p:spTgt spid="206"/>
                                        </p:tgtEl>
                                        <p:attrNameLst>
                                          <p:attrName>style.visibility</p:attrName>
                                        </p:attrNameLst>
                                      </p:cBhvr>
                                      <p:to>
                                        <p:strVal val="visible"/>
                                      </p:to>
                                    </p:set>
                                    <p:animEffect transition="in" filter="blinds(horizontal)">
                                      <p:cBhvr>
                                        <p:cTn id="52" dur="500"/>
                                        <p:tgtEl>
                                          <p:spTgt spid="206"/>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10"/>
                                        </p:tgtEl>
                                        <p:attrNameLst>
                                          <p:attrName>style.visibility</p:attrName>
                                        </p:attrNameLst>
                                      </p:cBhvr>
                                      <p:to>
                                        <p:strVal val="visible"/>
                                      </p:to>
                                    </p:set>
                                    <p:animEffect transition="in" filter="blinds(horizontal)">
                                      <p:cBhvr>
                                        <p:cTn id="55" dur="500"/>
                                        <p:tgtEl>
                                          <p:spTgt spid="210"/>
                                        </p:tgtEl>
                                      </p:cBhvr>
                                    </p:animEffect>
                                  </p:childTnLst>
                                </p:cTn>
                              </p:par>
                            </p:childTnLst>
                          </p:cTn>
                        </p:par>
                        <p:par>
                          <p:cTn id="56" fill="hold">
                            <p:stCondLst>
                              <p:cond delay="2500"/>
                            </p:stCondLst>
                            <p:childTnLst>
                              <p:par>
                                <p:cTn id="57" presetID="10" presetClass="entr" presetSubtype="0" fill="hold" nodeType="after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fade">
                                      <p:cBhvr>
                                        <p:cTn id="59" dur="500"/>
                                        <p:tgtEl>
                                          <p:spTgt spid="4"/>
                                        </p:tgtEl>
                                      </p:cBhvr>
                                    </p:animEffect>
                                  </p:childTnLst>
                                </p:cTn>
                              </p:par>
                            </p:childTnLst>
                          </p:cTn>
                        </p:par>
                        <p:par>
                          <p:cTn id="60" fill="hold">
                            <p:stCondLst>
                              <p:cond delay="3000"/>
                            </p:stCondLst>
                            <p:childTnLst>
                              <p:par>
                                <p:cTn id="61" presetID="1" presetClass="exit" presetSubtype="0" fill="hold" nodeType="afterEffect">
                                  <p:stCondLst>
                                    <p:cond delay="0"/>
                                  </p:stCondLst>
                                  <p:childTnLst>
                                    <p:set>
                                      <p:cBhvr>
                                        <p:cTn id="62" dur="1" fill="hold">
                                          <p:stCondLst>
                                            <p:cond delay="0"/>
                                          </p:stCondLst>
                                        </p:cTn>
                                        <p:tgtEl>
                                          <p:spTgt spid="6"/>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07"/>
                                        </p:tgtEl>
                                        <p:attrNameLst>
                                          <p:attrName>style.visibility</p:attrName>
                                        </p:attrNameLst>
                                      </p:cBhvr>
                                      <p:to>
                                        <p:strVal val="visible"/>
                                      </p:to>
                                    </p:set>
                                    <p:animEffect transition="in" filter="blinds(horizontal)">
                                      <p:cBhvr>
                                        <p:cTn id="67" dur="500"/>
                                        <p:tgtEl>
                                          <p:spTgt spid="207"/>
                                        </p:tgtEl>
                                      </p:cBhvr>
                                    </p:animEffect>
                                  </p:childTnLst>
                                </p:cTn>
                              </p:par>
                              <p:par>
                                <p:cTn id="68" presetID="3" presetClass="exit" presetSubtype="10" fill="hold" grpId="1" nodeType="withEffect">
                                  <p:stCondLst>
                                    <p:cond delay="0"/>
                                  </p:stCondLst>
                                  <p:childTnLst>
                                    <p:animEffect transition="out" filter="blinds(horizontal)">
                                      <p:cBhvr>
                                        <p:cTn id="69" dur="500"/>
                                        <p:tgtEl>
                                          <p:spTgt spid="206"/>
                                        </p:tgtEl>
                                      </p:cBhvr>
                                    </p:animEffect>
                                    <p:set>
                                      <p:cBhvr>
                                        <p:cTn id="70" dur="1" fill="hold">
                                          <p:stCondLst>
                                            <p:cond delay="499"/>
                                          </p:stCondLst>
                                        </p:cTn>
                                        <p:tgtEl>
                                          <p:spTgt spid="206"/>
                                        </p:tgtEl>
                                        <p:attrNameLst>
                                          <p:attrName>style.visibility</p:attrName>
                                        </p:attrNameLst>
                                      </p:cBhvr>
                                      <p:to>
                                        <p:strVal val="hidden"/>
                                      </p:to>
                                    </p:set>
                                  </p:childTnLst>
                                </p:cTn>
                              </p:par>
                            </p:childTnLst>
                          </p:cTn>
                        </p:par>
                        <p:par>
                          <p:cTn id="71" fill="hold">
                            <p:stCondLst>
                              <p:cond delay="500"/>
                            </p:stCondLst>
                            <p:childTnLst>
                              <p:par>
                                <p:cTn id="72" presetID="0" presetClass="path" presetSubtype="0" accel="50000" decel="50000" fill="hold" nodeType="afterEffect">
                                  <p:stCondLst>
                                    <p:cond delay="0"/>
                                  </p:stCondLst>
                                  <p:childTnLst>
                                    <p:animMotion origin="layout" path="M 0.00347 -0.00023 L 0.12274 -0.00023 " pathEditMode="relative" rAng="0" ptsTypes="AA">
                                      <p:cBhvr>
                                        <p:cTn id="73" dur="2000" fill="hold"/>
                                        <p:tgtEl>
                                          <p:spTgt spid="4"/>
                                        </p:tgtEl>
                                        <p:attrNameLst>
                                          <p:attrName>ppt_x</p:attrName>
                                          <p:attrName>ppt_y</p:attrName>
                                        </p:attrNameLst>
                                      </p:cBhvr>
                                      <p:rCtr x="60" y="0"/>
                                    </p:animMotion>
                                  </p:childTnLst>
                                </p:cTn>
                              </p:par>
                            </p:childTnLst>
                          </p:cTn>
                        </p:par>
                        <p:par>
                          <p:cTn id="74" fill="hold">
                            <p:stCondLst>
                              <p:cond delay="2500"/>
                            </p:stCondLst>
                            <p:childTnLst>
                              <p:par>
                                <p:cTn id="75" presetID="10" presetClass="entr" presetSubtype="0" fill="hold" nodeType="after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fade">
                                      <p:cBhvr>
                                        <p:cTn id="77" dur="500"/>
                                        <p:tgtEl>
                                          <p:spTgt spid="2"/>
                                        </p:tgtEl>
                                      </p:cBhvr>
                                    </p:animEffect>
                                  </p:childTnLst>
                                </p:cTn>
                              </p:par>
                            </p:childTnLst>
                          </p:cTn>
                        </p:par>
                        <p:par>
                          <p:cTn id="78" fill="hold">
                            <p:stCondLst>
                              <p:cond delay="3000"/>
                            </p:stCondLst>
                            <p:childTnLst>
                              <p:par>
                                <p:cTn id="79" presetID="1" presetClass="exit" presetSubtype="0" fill="hold" nodeType="afterEffect">
                                  <p:stCondLst>
                                    <p:cond delay="0"/>
                                  </p:stCondLst>
                                  <p:childTnLst>
                                    <p:set>
                                      <p:cBhvr>
                                        <p:cTn id="80" dur="1" fill="hold">
                                          <p:stCondLst>
                                            <p:cond delay="0"/>
                                          </p:stCondLst>
                                        </p:cTn>
                                        <p:tgtEl>
                                          <p:spTgt spid="4"/>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3" presetClass="exit" presetSubtype="10" fill="hold" grpId="1" nodeType="clickEffect">
                                  <p:stCondLst>
                                    <p:cond delay="0"/>
                                  </p:stCondLst>
                                  <p:childTnLst>
                                    <p:animEffect transition="out" filter="blinds(horizontal)">
                                      <p:cBhvr>
                                        <p:cTn id="84" dur="500"/>
                                        <p:tgtEl>
                                          <p:spTgt spid="207"/>
                                        </p:tgtEl>
                                      </p:cBhvr>
                                    </p:animEffect>
                                    <p:set>
                                      <p:cBhvr>
                                        <p:cTn id="85" dur="1" fill="hold">
                                          <p:stCondLst>
                                            <p:cond delay="499"/>
                                          </p:stCondLst>
                                        </p:cTn>
                                        <p:tgtEl>
                                          <p:spTgt spid="207"/>
                                        </p:tgtEl>
                                        <p:attrNameLst>
                                          <p:attrName>style.visibility</p:attrName>
                                        </p:attrNameLst>
                                      </p:cBhvr>
                                      <p:to>
                                        <p:strVal val="hidden"/>
                                      </p:to>
                                    </p:set>
                                  </p:childTnLst>
                                </p:cTn>
                              </p:par>
                              <p:par>
                                <p:cTn id="86" presetID="0" presetClass="path" presetSubtype="0" accel="50000" decel="50000" fill="hold" nodeType="withEffect">
                                  <p:stCondLst>
                                    <p:cond delay="0"/>
                                  </p:stCondLst>
                                  <p:childTnLst>
                                    <p:animMotion origin="layout" path="M -3.33333E-6 2.7012E-6 L 0.10556 2.7012E-6 " pathEditMode="relative" rAng="0" ptsTypes="AA">
                                      <p:cBhvr>
                                        <p:cTn id="87" dur="2000" fill="hold"/>
                                        <p:tgtEl>
                                          <p:spTgt spid="2"/>
                                        </p:tgtEl>
                                        <p:attrNameLst>
                                          <p:attrName>ppt_x</p:attrName>
                                          <p:attrName>ppt_y</p:attrName>
                                        </p:attrNameLst>
                                      </p:cBhvr>
                                      <p:rCtr x="53" y="0"/>
                                    </p:animMotion>
                                  </p:childTnLst>
                                </p:cTn>
                              </p:par>
                            </p:childTnLst>
                          </p:cTn>
                        </p:par>
                        <p:par>
                          <p:cTn id="88" fill="hold">
                            <p:stCondLst>
                              <p:cond delay="2000"/>
                            </p:stCondLst>
                            <p:childTnLst>
                              <p:par>
                                <p:cTn id="89" presetID="3" presetClass="entr" presetSubtype="10" fill="hold" grpId="0" nodeType="afterEffect">
                                  <p:stCondLst>
                                    <p:cond delay="0"/>
                                  </p:stCondLst>
                                  <p:childTnLst>
                                    <p:set>
                                      <p:cBhvr>
                                        <p:cTn id="90" dur="1" fill="hold">
                                          <p:stCondLst>
                                            <p:cond delay="0"/>
                                          </p:stCondLst>
                                        </p:cTn>
                                        <p:tgtEl>
                                          <p:spTgt spid="208"/>
                                        </p:tgtEl>
                                        <p:attrNameLst>
                                          <p:attrName>style.visibility</p:attrName>
                                        </p:attrNameLst>
                                      </p:cBhvr>
                                      <p:to>
                                        <p:strVal val="visible"/>
                                      </p:to>
                                    </p:set>
                                    <p:animEffect transition="in" filter="blinds(horizontal)">
                                      <p:cBhvr>
                                        <p:cTn id="91"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animBg="1"/>
      <p:bldP spid="204" grpId="0" animBg="1"/>
      <p:bldP spid="204" grpId="1" animBg="1"/>
      <p:bldP spid="205" grpId="0" animBg="1"/>
      <p:bldP spid="205" grpId="1" animBg="1"/>
      <p:bldP spid="206" grpId="0" animBg="1"/>
      <p:bldP spid="206" grpId="1" animBg="1"/>
      <p:bldP spid="207" grpId="0" animBg="1"/>
      <p:bldP spid="207" grpId="1" animBg="1"/>
      <p:bldP spid="208" grpId="0" animBg="1"/>
      <p:bldP spid="209" grpId="0" animBg="1"/>
      <p:bldP spid="2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a:t>路由表的形成</a:t>
            </a:r>
          </a:p>
        </p:txBody>
      </p:sp>
      <p:sp>
        <p:nvSpPr>
          <p:cNvPr id="46" name="内容占位符 45"/>
          <p:cNvSpPr>
            <a:spLocks noGrp="1"/>
          </p:cNvSpPr>
          <p:nvPr>
            <p:ph idx="1"/>
          </p:nvPr>
        </p:nvSpPr>
        <p:spPr>
          <a:xfrm>
            <a:off x="1738313" y="1143001"/>
            <a:ext cx="8501062" cy="3286125"/>
          </a:xfrm>
        </p:spPr>
        <p:txBody>
          <a:bodyPr/>
          <a:lstStyle/>
          <a:p>
            <a:pPr>
              <a:spcBef>
                <a:spcPts val="675"/>
              </a:spcBef>
            </a:pPr>
            <a:r>
              <a:rPr lang="zh-CN" altLang="en-US">
                <a:cs typeface="Arial" pitchFamily="34" charset="0"/>
              </a:rPr>
              <a:t>路由表</a:t>
            </a:r>
            <a:endParaRPr lang="en-US" altLang="zh-CN">
              <a:cs typeface="Arial" pitchFamily="34" charset="0"/>
            </a:endParaRPr>
          </a:p>
          <a:p>
            <a:pPr lvl="1">
              <a:spcBef>
                <a:spcPts val="475"/>
              </a:spcBef>
            </a:pPr>
            <a:r>
              <a:rPr lang="zh-CN" altLang="en-US">
                <a:cs typeface="Arial" pitchFamily="34" charset="0"/>
              </a:rPr>
              <a:t>路由器中维护的路由条目的集合</a:t>
            </a:r>
            <a:endParaRPr lang="en-US" altLang="zh-CN">
              <a:cs typeface="Arial" pitchFamily="34" charset="0"/>
            </a:endParaRPr>
          </a:p>
          <a:p>
            <a:pPr lvl="1">
              <a:spcBef>
                <a:spcPts val="475"/>
              </a:spcBef>
            </a:pPr>
            <a:r>
              <a:rPr lang="zh-CN" altLang="en-US">
                <a:cs typeface="Arial" pitchFamily="34" charset="0"/>
              </a:rPr>
              <a:t>路由器根据路由表做路径选择</a:t>
            </a:r>
          </a:p>
          <a:p>
            <a:pPr>
              <a:spcBef>
                <a:spcPts val="675"/>
              </a:spcBef>
            </a:pPr>
            <a:r>
              <a:rPr lang="zh-CN" altLang="en-US">
                <a:cs typeface="Arial" pitchFamily="34" charset="0"/>
              </a:rPr>
              <a:t>路由表的形成</a:t>
            </a:r>
            <a:endParaRPr lang="en-US" altLang="zh-CN">
              <a:cs typeface="Arial" pitchFamily="34" charset="0"/>
            </a:endParaRPr>
          </a:p>
          <a:p>
            <a:pPr lvl="1">
              <a:spcBef>
                <a:spcPts val="475"/>
              </a:spcBef>
            </a:pPr>
            <a:r>
              <a:rPr lang="zh-CN" altLang="en-US">
                <a:cs typeface="Arial" pitchFamily="34" charset="0"/>
              </a:rPr>
              <a:t>直连网段</a:t>
            </a:r>
            <a:endParaRPr lang="en-US" altLang="zh-CN">
              <a:cs typeface="Arial" pitchFamily="34" charset="0"/>
            </a:endParaRPr>
          </a:p>
          <a:p>
            <a:pPr lvl="2">
              <a:spcBef>
                <a:spcPct val="0"/>
              </a:spcBef>
            </a:pPr>
            <a:r>
              <a:rPr lang="zh-CN" altLang="en-US">
                <a:cs typeface="Arial" pitchFamily="34" charset="0"/>
              </a:rPr>
              <a:t>配置</a:t>
            </a:r>
            <a:r>
              <a:rPr lang="en-US" altLang="zh-CN">
                <a:cs typeface="Arial" pitchFamily="34" charset="0"/>
              </a:rPr>
              <a:t>IP</a:t>
            </a:r>
            <a:r>
              <a:rPr lang="zh-CN" altLang="en-US">
                <a:cs typeface="Arial" pitchFamily="34" charset="0"/>
              </a:rPr>
              <a:t>地址，端口</a:t>
            </a:r>
            <a:r>
              <a:rPr lang="en-US" altLang="zh-CN">
                <a:cs typeface="Arial" pitchFamily="34" charset="0"/>
              </a:rPr>
              <a:t>UP</a:t>
            </a:r>
            <a:r>
              <a:rPr lang="zh-CN" altLang="en-US">
                <a:cs typeface="Arial" pitchFamily="34" charset="0"/>
              </a:rPr>
              <a:t>状态，形成直连路由</a:t>
            </a:r>
            <a:endParaRPr lang="en-US" altLang="zh-CN">
              <a:cs typeface="Arial" pitchFamily="34" charset="0"/>
            </a:endParaRPr>
          </a:p>
          <a:p>
            <a:pPr lvl="1">
              <a:spcBef>
                <a:spcPts val="475"/>
              </a:spcBef>
            </a:pPr>
            <a:r>
              <a:rPr lang="zh-CN" altLang="en-US">
                <a:cs typeface="Arial" pitchFamily="34" charset="0"/>
              </a:rPr>
              <a:t>非直连网段</a:t>
            </a:r>
          </a:p>
        </p:txBody>
      </p:sp>
      <p:graphicFrame>
        <p:nvGraphicFramePr>
          <p:cNvPr id="53" name="Group 31"/>
          <p:cNvGraphicFramePr>
            <a:graphicFrameLocks/>
          </p:cNvGraphicFramePr>
          <p:nvPr/>
        </p:nvGraphicFramePr>
        <p:xfrm>
          <a:off x="6486525" y="4572000"/>
          <a:ext cx="4038600" cy="1584960"/>
        </p:xfrm>
        <a:graphic>
          <a:graphicData uri="http://schemas.openxmlformats.org/drawingml/2006/table">
            <a:tbl>
              <a:tblPr/>
              <a:tblGrid>
                <a:gridCol w="20193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tblGrid>
              <a:tr h="184150">
                <a:tc gridSpan="2">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400" b="1" i="0" u="none" strike="noStrike" cap="none" normalizeH="0" baseline="0" dirty="0">
                          <a:ln>
                            <a:noFill/>
                          </a:ln>
                          <a:solidFill>
                            <a:schemeClr val="tx2"/>
                          </a:solidFill>
                          <a:effectLst/>
                          <a:latin typeface="Arial" charset="0"/>
                          <a:ea typeface="楷体_GB2312" pitchFamily="49" charset="-122"/>
                        </a:rPr>
                        <a:t>路由表</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extLst>
                  <a:ext uri="{0D108BD9-81ED-4DB2-BD59-A6C34878D82A}">
                    <a16:rowId xmlns:a16="http://schemas.microsoft.com/office/drawing/2014/main" val="10000"/>
                  </a:ext>
                </a:extLst>
              </a:tr>
              <a:tr h="209550">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000" b="1" i="0" u="none" strike="noStrike" cap="none" normalizeH="0" baseline="0">
                          <a:ln>
                            <a:noFill/>
                          </a:ln>
                          <a:solidFill>
                            <a:schemeClr val="tx2"/>
                          </a:solidFill>
                          <a:effectLst/>
                          <a:latin typeface="Arial" charset="0"/>
                          <a:ea typeface="楷体_GB2312" pitchFamily="49" charset="-122"/>
                        </a:rPr>
                        <a:t>网段</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r>
                        <a:rPr kumimoji="0" lang="zh-CN" altLang="en-US" sz="2000" b="1" i="0" u="none" strike="noStrike" cap="none" normalizeH="0" baseline="0" dirty="0">
                          <a:ln>
                            <a:noFill/>
                          </a:ln>
                          <a:solidFill>
                            <a:schemeClr val="tx2"/>
                          </a:solidFill>
                          <a:effectLst/>
                          <a:latin typeface="Arial" charset="0"/>
                          <a:ea typeface="楷体_GB2312" pitchFamily="49" charset="-122"/>
                        </a:rPr>
                        <a:t>接口</a:t>
                      </a: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1950">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800" b="1" i="0" u="none" strike="noStrike" cap="none" normalizeH="0" baseline="0">
                        <a:ln>
                          <a:noFill/>
                        </a:ln>
                        <a:solidFill>
                          <a:schemeClr val="tx2"/>
                        </a:solidFill>
                        <a:effectLst/>
                        <a:latin typeface="Arial" charset="0"/>
                        <a:ea typeface="楷体_GB2312" pitchFamily="49" charset="-122"/>
                      </a:endParaRP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800" b="1" i="0" u="none" strike="noStrike" cap="none" normalizeH="0" baseline="0">
                        <a:ln>
                          <a:noFill/>
                        </a:ln>
                        <a:solidFill>
                          <a:schemeClr val="tx2"/>
                        </a:solidFill>
                        <a:effectLst/>
                        <a:latin typeface="Arial" charset="0"/>
                        <a:ea typeface="楷体_GB2312" pitchFamily="49" charset="-122"/>
                      </a:endParaRP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92088">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800" b="1" i="0" u="none" strike="noStrike" cap="none" normalizeH="0" baseline="0" dirty="0">
                        <a:ln>
                          <a:noFill/>
                        </a:ln>
                        <a:solidFill>
                          <a:schemeClr val="tx2"/>
                        </a:solidFill>
                        <a:effectLst/>
                        <a:latin typeface="Arial" charset="0"/>
                        <a:ea typeface="楷体_GB2312" pitchFamily="49" charset="-122"/>
                      </a:endParaRP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itchFamily="2" charset="2"/>
                        <a:buNone/>
                        <a:tabLst/>
                      </a:pPr>
                      <a:endParaRPr kumimoji="0" lang="en-US" altLang="zh-CN" sz="1800" b="1" i="0" u="none" strike="noStrike" cap="none" normalizeH="0" baseline="0" dirty="0">
                        <a:ln>
                          <a:noFill/>
                        </a:ln>
                        <a:solidFill>
                          <a:schemeClr val="tx2"/>
                        </a:solidFill>
                        <a:effectLst/>
                        <a:latin typeface="Arial" charset="0"/>
                        <a:ea typeface="楷体_GB2312" pitchFamily="49" charset="-122"/>
                      </a:endParaRPr>
                    </a:p>
                  </a:txBody>
                  <a:tcPr horzOverflow="overflow">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54" name="Text Box 33"/>
          <p:cNvSpPr txBox="1">
            <a:spLocks noChangeArrowheads="1"/>
          </p:cNvSpPr>
          <p:nvPr/>
        </p:nvSpPr>
        <p:spPr bwMode="auto">
          <a:xfrm>
            <a:off x="6557964" y="5416550"/>
            <a:ext cx="3887787" cy="369888"/>
          </a:xfrm>
          <a:prstGeom prst="rect">
            <a:avLst/>
          </a:prstGeom>
          <a:noFill/>
          <a:ln w="9525" algn="ctr">
            <a:noFill/>
            <a:miter lim="800000"/>
            <a:headEnd/>
            <a:tailEnd/>
          </a:ln>
          <a:effectLst>
            <a:prstShdw prst="shdw17" dist="17961" dir="2700000">
              <a:srgbClr val="7A7A99"/>
            </a:prstShdw>
          </a:effectLst>
        </p:spPr>
        <p:txBody>
          <a:bodyPr anchor="b">
            <a:spAutoFit/>
          </a:bodyPr>
          <a:lstStyle/>
          <a:p>
            <a:pPr>
              <a:spcBef>
                <a:spcPct val="50000"/>
              </a:spcBef>
            </a:pPr>
            <a:r>
              <a:rPr lang="en-US" altLang="zh-CN" b="1">
                <a:solidFill>
                  <a:schemeClr val="tx2"/>
                </a:solidFill>
                <a:cs typeface="Arial" pitchFamily="34" charset="0"/>
              </a:rPr>
              <a:t>  192.168.1.0/24                f0/0</a:t>
            </a:r>
          </a:p>
        </p:txBody>
      </p:sp>
      <p:sp>
        <p:nvSpPr>
          <p:cNvPr id="55" name="Text Box 37"/>
          <p:cNvSpPr txBox="1">
            <a:spLocks noChangeArrowheads="1"/>
          </p:cNvSpPr>
          <p:nvPr/>
        </p:nvSpPr>
        <p:spPr bwMode="auto">
          <a:xfrm>
            <a:off x="6559550" y="5776914"/>
            <a:ext cx="3887788" cy="369887"/>
          </a:xfrm>
          <a:prstGeom prst="rect">
            <a:avLst/>
          </a:prstGeom>
          <a:noFill/>
          <a:ln w="9525" algn="ctr">
            <a:noFill/>
            <a:miter lim="800000"/>
            <a:headEnd/>
            <a:tailEnd/>
          </a:ln>
          <a:effectLst>
            <a:prstShdw prst="shdw17" dist="17961" dir="2700000">
              <a:srgbClr val="7A7A99"/>
            </a:prstShdw>
          </a:effectLst>
        </p:spPr>
        <p:txBody>
          <a:bodyPr anchor="b">
            <a:spAutoFit/>
          </a:bodyPr>
          <a:lstStyle/>
          <a:p>
            <a:pPr>
              <a:spcBef>
                <a:spcPct val="50000"/>
              </a:spcBef>
            </a:pPr>
            <a:r>
              <a:rPr lang="en-US" altLang="zh-CN" b="1">
                <a:solidFill>
                  <a:schemeClr val="tx2"/>
                </a:solidFill>
                <a:cs typeface="Arial" pitchFamily="34" charset="0"/>
              </a:rPr>
              <a:t>   10.0.0.0/8                       f0/1</a:t>
            </a:r>
          </a:p>
        </p:txBody>
      </p:sp>
      <p:grpSp>
        <p:nvGrpSpPr>
          <p:cNvPr id="2" name="组合 67"/>
          <p:cNvGrpSpPr>
            <a:grpSpLocks/>
          </p:cNvGrpSpPr>
          <p:nvPr/>
        </p:nvGrpSpPr>
        <p:grpSpPr bwMode="auto">
          <a:xfrm>
            <a:off x="1846263" y="5048251"/>
            <a:ext cx="1892300" cy="809625"/>
            <a:chOff x="287338" y="6116641"/>
            <a:chExt cx="1892282" cy="809941"/>
          </a:xfrm>
        </p:grpSpPr>
        <p:sp>
          <p:nvSpPr>
            <p:cNvPr id="57" name="Text Box 38"/>
            <p:cNvSpPr txBox="1">
              <a:spLocks noChangeArrowheads="1"/>
            </p:cNvSpPr>
            <p:nvPr/>
          </p:nvSpPr>
          <p:spPr bwMode="auto">
            <a:xfrm>
              <a:off x="287338" y="6116641"/>
              <a:ext cx="1892282" cy="376385"/>
            </a:xfrm>
            <a:prstGeom prst="rect">
              <a:avLst/>
            </a:prstGeom>
            <a:solidFill>
              <a:schemeClr val="bg1"/>
            </a:solidFill>
            <a:ln w="9525" algn="ctr">
              <a:solidFill>
                <a:srgbClr val="777777"/>
              </a:solidFill>
              <a:miter lim="800000"/>
              <a:headEnd/>
              <a:tailEnd/>
            </a:ln>
            <a:effectLst>
              <a:outerShdw dist="107763" dir="2700000" algn="ctr" rotWithShape="0">
                <a:srgbClr val="808080">
                  <a:alpha val="50000"/>
                </a:srgbClr>
              </a:outerShdw>
            </a:effectLst>
          </p:spPr>
          <p:txBody>
            <a:bodyPr anchor="b">
              <a:spAutoFit/>
            </a:bodyPr>
            <a:lstStyle/>
            <a:p>
              <a:pPr algn="ctr">
                <a:spcBef>
                  <a:spcPct val="50000"/>
                </a:spcBef>
                <a:defRPr/>
              </a:pPr>
              <a:r>
                <a:rPr lang="en-US" altLang="zh-CN" b="1" dirty="0">
                  <a:solidFill>
                    <a:schemeClr val="tx2"/>
                  </a:solidFill>
                  <a:ea typeface="黑体" pitchFamily="2" charset="-122"/>
                  <a:cs typeface="Arial" pitchFamily="34" charset="0"/>
                </a:rPr>
                <a:t>192.168.1.1/24</a:t>
              </a:r>
            </a:p>
          </p:txBody>
        </p:sp>
        <p:sp>
          <p:nvSpPr>
            <p:cNvPr id="14373" name="Line 39"/>
            <p:cNvSpPr>
              <a:spLocks noChangeShapeType="1"/>
            </p:cNvSpPr>
            <p:nvPr/>
          </p:nvSpPr>
          <p:spPr bwMode="auto">
            <a:xfrm>
              <a:off x="1222375" y="6497954"/>
              <a:ext cx="528616" cy="428628"/>
            </a:xfrm>
            <a:prstGeom prst="line">
              <a:avLst/>
            </a:prstGeom>
            <a:noFill/>
            <a:ln w="25400">
              <a:solidFill>
                <a:srgbClr val="FF0000"/>
              </a:solidFill>
              <a:round/>
              <a:headEnd/>
              <a:tailEnd type="triangle" w="med" len="med"/>
            </a:ln>
          </p:spPr>
          <p:txBody>
            <a:bodyPr anchor="b"/>
            <a:lstStyle/>
            <a:p>
              <a:endParaRPr lang="zh-CN" altLang="en-US"/>
            </a:p>
          </p:txBody>
        </p:sp>
      </p:grpSp>
      <p:grpSp>
        <p:nvGrpSpPr>
          <p:cNvPr id="3" name="组合 65"/>
          <p:cNvGrpSpPr>
            <a:grpSpLocks/>
          </p:cNvGrpSpPr>
          <p:nvPr/>
        </p:nvGrpSpPr>
        <p:grpSpPr bwMode="auto">
          <a:xfrm>
            <a:off x="2381251" y="4068763"/>
            <a:ext cx="3025775" cy="2432050"/>
            <a:chOff x="790574" y="3684591"/>
            <a:chExt cx="3025775" cy="2432050"/>
          </a:xfrm>
        </p:grpSpPr>
        <p:pic>
          <p:nvPicPr>
            <p:cNvPr id="14364" name="Picture 4"/>
            <p:cNvPicPr>
              <a:picLocks noChangeArrowheads="1"/>
            </p:cNvPicPr>
            <p:nvPr/>
          </p:nvPicPr>
          <p:blipFill>
            <a:blip r:embed="rId3"/>
            <a:srcRect/>
            <a:stretch>
              <a:fillRect/>
            </a:stretch>
          </p:blipFill>
          <p:spPr bwMode="auto">
            <a:xfrm>
              <a:off x="1798637" y="5324478"/>
              <a:ext cx="1296987" cy="792163"/>
            </a:xfrm>
            <a:prstGeom prst="rect">
              <a:avLst/>
            </a:prstGeom>
            <a:noFill/>
            <a:ln w="9525">
              <a:noFill/>
              <a:miter lim="800000"/>
              <a:headEnd/>
              <a:tailEnd/>
            </a:ln>
          </p:spPr>
        </p:pic>
        <p:sp>
          <p:nvSpPr>
            <p:cNvPr id="14365" name="Line 5"/>
            <p:cNvSpPr>
              <a:spLocks noChangeShapeType="1"/>
            </p:cNvSpPr>
            <p:nvPr/>
          </p:nvSpPr>
          <p:spPr bwMode="auto">
            <a:xfrm flipV="1">
              <a:off x="2735262" y="4764091"/>
              <a:ext cx="360362" cy="576262"/>
            </a:xfrm>
            <a:prstGeom prst="line">
              <a:avLst/>
            </a:prstGeom>
            <a:noFill/>
            <a:ln w="38100">
              <a:solidFill>
                <a:schemeClr val="tx2"/>
              </a:solidFill>
              <a:round/>
              <a:headEnd/>
              <a:tailEnd/>
            </a:ln>
          </p:spPr>
          <p:txBody>
            <a:bodyPr anchor="b"/>
            <a:lstStyle/>
            <a:p>
              <a:endParaRPr lang="zh-CN" altLang="en-US"/>
            </a:p>
          </p:txBody>
        </p:sp>
        <p:sp>
          <p:nvSpPr>
            <p:cNvPr id="14366" name="Line 6"/>
            <p:cNvSpPr>
              <a:spLocks noChangeShapeType="1"/>
            </p:cNvSpPr>
            <p:nvPr/>
          </p:nvSpPr>
          <p:spPr bwMode="auto">
            <a:xfrm>
              <a:off x="790574" y="5756278"/>
              <a:ext cx="1008063" cy="0"/>
            </a:xfrm>
            <a:prstGeom prst="line">
              <a:avLst/>
            </a:prstGeom>
            <a:noFill/>
            <a:ln w="38100">
              <a:solidFill>
                <a:schemeClr val="tx2"/>
              </a:solidFill>
              <a:round/>
              <a:headEnd/>
              <a:tailEnd/>
            </a:ln>
          </p:spPr>
          <p:txBody>
            <a:bodyPr anchor="b"/>
            <a:lstStyle/>
            <a:p>
              <a:endParaRPr lang="zh-CN" altLang="en-US"/>
            </a:p>
          </p:txBody>
        </p:sp>
        <p:sp>
          <p:nvSpPr>
            <p:cNvPr id="14367" name="Text Box 7"/>
            <p:cNvSpPr txBox="1">
              <a:spLocks noChangeArrowheads="1"/>
            </p:cNvSpPr>
            <p:nvPr/>
          </p:nvSpPr>
          <p:spPr bwMode="auto">
            <a:xfrm>
              <a:off x="790574" y="5324478"/>
              <a:ext cx="1295400" cy="366713"/>
            </a:xfrm>
            <a:prstGeom prst="rect">
              <a:avLst/>
            </a:prstGeom>
            <a:noFill/>
            <a:ln w="9525" algn="ctr">
              <a:noFill/>
              <a:miter lim="800000"/>
              <a:headEnd/>
              <a:tailEnd/>
            </a:ln>
            <a:effectLst>
              <a:prstShdw prst="shdw17" dist="17961" dir="2700000">
                <a:srgbClr val="7A7A99"/>
              </a:prstShdw>
            </a:effectLst>
          </p:spPr>
          <p:txBody>
            <a:bodyPr anchor="b">
              <a:spAutoFit/>
            </a:bodyPr>
            <a:lstStyle/>
            <a:p>
              <a:pPr algn="ctr">
                <a:spcBef>
                  <a:spcPct val="50000"/>
                </a:spcBef>
              </a:pPr>
              <a:r>
                <a:rPr lang="en-US" altLang="zh-CN" b="1">
                  <a:solidFill>
                    <a:schemeClr val="tx2"/>
                  </a:solidFill>
                  <a:cs typeface="Arial" pitchFamily="34" charset="0"/>
                </a:rPr>
                <a:t>f0/0</a:t>
              </a:r>
            </a:p>
          </p:txBody>
        </p:sp>
        <p:sp>
          <p:nvSpPr>
            <p:cNvPr id="14368" name="Text Box 8"/>
            <p:cNvSpPr txBox="1">
              <a:spLocks noChangeArrowheads="1"/>
            </p:cNvSpPr>
            <p:nvPr/>
          </p:nvSpPr>
          <p:spPr bwMode="auto">
            <a:xfrm>
              <a:off x="1871662" y="4973641"/>
              <a:ext cx="1295400" cy="366712"/>
            </a:xfrm>
            <a:prstGeom prst="rect">
              <a:avLst/>
            </a:prstGeom>
            <a:noFill/>
            <a:ln w="9525" algn="ctr">
              <a:noFill/>
              <a:miter lim="800000"/>
              <a:headEnd/>
              <a:tailEnd/>
            </a:ln>
            <a:effectLst>
              <a:prstShdw prst="shdw17" dist="17961" dir="2700000">
                <a:srgbClr val="7A7A99"/>
              </a:prstShdw>
            </a:effectLst>
          </p:spPr>
          <p:txBody>
            <a:bodyPr anchor="b">
              <a:spAutoFit/>
            </a:bodyPr>
            <a:lstStyle/>
            <a:p>
              <a:pPr algn="ctr">
                <a:spcBef>
                  <a:spcPct val="50000"/>
                </a:spcBef>
              </a:pPr>
              <a:r>
                <a:rPr lang="en-US" altLang="zh-CN" b="1">
                  <a:solidFill>
                    <a:schemeClr val="tx2"/>
                  </a:solidFill>
                  <a:cs typeface="Arial" pitchFamily="34" charset="0"/>
                </a:rPr>
                <a:t>f0/1</a:t>
              </a:r>
            </a:p>
          </p:txBody>
        </p:sp>
        <p:pic>
          <p:nvPicPr>
            <p:cNvPr id="14369" name="Picture 49"/>
            <p:cNvPicPr>
              <a:picLocks noChangeArrowheads="1"/>
            </p:cNvPicPr>
            <p:nvPr/>
          </p:nvPicPr>
          <p:blipFill>
            <a:blip r:embed="rId3"/>
            <a:srcRect/>
            <a:stretch>
              <a:fillRect/>
            </a:stretch>
          </p:blipFill>
          <p:spPr bwMode="auto">
            <a:xfrm>
              <a:off x="2808287" y="4187828"/>
              <a:ext cx="1008062" cy="647700"/>
            </a:xfrm>
            <a:prstGeom prst="rect">
              <a:avLst/>
            </a:prstGeom>
            <a:noFill/>
            <a:ln w="9525">
              <a:noFill/>
              <a:miter lim="800000"/>
              <a:headEnd/>
              <a:tailEnd/>
            </a:ln>
          </p:spPr>
        </p:pic>
        <p:sp>
          <p:nvSpPr>
            <p:cNvPr id="14370" name="Line 50"/>
            <p:cNvSpPr>
              <a:spLocks noChangeShapeType="1"/>
            </p:cNvSpPr>
            <p:nvPr/>
          </p:nvSpPr>
          <p:spPr bwMode="auto">
            <a:xfrm flipV="1">
              <a:off x="3455987" y="3684591"/>
              <a:ext cx="287337" cy="503237"/>
            </a:xfrm>
            <a:prstGeom prst="line">
              <a:avLst/>
            </a:prstGeom>
            <a:noFill/>
            <a:ln w="38100">
              <a:solidFill>
                <a:schemeClr val="tx2"/>
              </a:solidFill>
              <a:round/>
              <a:headEnd/>
              <a:tailEnd/>
            </a:ln>
          </p:spPr>
          <p:txBody>
            <a:bodyPr anchor="b"/>
            <a:lstStyle/>
            <a:p>
              <a:endParaRPr lang="zh-CN" altLang="en-US"/>
            </a:p>
          </p:txBody>
        </p:sp>
        <p:sp>
          <p:nvSpPr>
            <p:cNvPr id="14371" name="Text Box 51"/>
            <p:cNvSpPr txBox="1">
              <a:spLocks noChangeArrowheads="1"/>
            </p:cNvSpPr>
            <p:nvPr/>
          </p:nvSpPr>
          <p:spPr bwMode="auto">
            <a:xfrm>
              <a:off x="2206645" y="3830625"/>
              <a:ext cx="1584325" cy="366712"/>
            </a:xfrm>
            <a:prstGeom prst="rect">
              <a:avLst/>
            </a:prstGeom>
            <a:noFill/>
            <a:ln w="9525" algn="ctr">
              <a:noFill/>
              <a:miter lim="800000"/>
              <a:headEnd/>
              <a:tailEnd/>
            </a:ln>
            <a:effectLst>
              <a:prstShdw prst="shdw17" dist="17961" dir="2700000">
                <a:srgbClr val="7A7A99"/>
              </a:prstShdw>
            </a:effectLst>
          </p:spPr>
          <p:txBody>
            <a:bodyPr anchor="b">
              <a:spAutoFit/>
            </a:bodyPr>
            <a:lstStyle/>
            <a:p>
              <a:pPr algn="ctr">
                <a:spcBef>
                  <a:spcPct val="50000"/>
                </a:spcBef>
              </a:pPr>
              <a:r>
                <a:rPr lang="en-US" altLang="zh-CN" b="1">
                  <a:solidFill>
                    <a:srgbClr val="0066FF"/>
                  </a:solidFill>
                  <a:cs typeface="Arial" pitchFamily="34" charset="0"/>
                </a:rPr>
                <a:t>20.0.0.0/8</a:t>
              </a:r>
            </a:p>
          </p:txBody>
        </p:sp>
      </p:grpSp>
      <p:sp>
        <p:nvSpPr>
          <p:cNvPr id="65" name="AutoShape 52"/>
          <p:cNvSpPr>
            <a:spLocks noChangeArrowheads="1"/>
          </p:cNvSpPr>
          <p:nvPr/>
        </p:nvSpPr>
        <p:spPr bwMode="auto">
          <a:xfrm>
            <a:off x="5881688" y="3286126"/>
            <a:ext cx="3351212" cy="1152525"/>
          </a:xfrm>
          <a:prstGeom prst="wedgeRoundRectCallout">
            <a:avLst>
              <a:gd name="adj1" fmla="val -70583"/>
              <a:gd name="adj2" fmla="val 52222"/>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对于非直连的网段，需要静态路由或动态路由，将网段添加到路由表中</a:t>
            </a:r>
          </a:p>
        </p:txBody>
      </p:sp>
      <p:grpSp>
        <p:nvGrpSpPr>
          <p:cNvPr id="4" name="组合 66"/>
          <p:cNvGrpSpPr>
            <a:grpSpLocks/>
          </p:cNvGrpSpPr>
          <p:nvPr/>
        </p:nvGrpSpPr>
        <p:grpSpPr bwMode="auto">
          <a:xfrm>
            <a:off x="4452939" y="5643563"/>
            <a:ext cx="1874837" cy="665162"/>
            <a:chOff x="2660652" y="5340352"/>
            <a:chExt cx="1874835" cy="665164"/>
          </a:xfrm>
        </p:grpSpPr>
        <p:sp>
          <p:nvSpPr>
            <p:cNvPr id="60" name="Text Box 42"/>
            <p:cNvSpPr txBox="1">
              <a:spLocks noChangeArrowheads="1"/>
            </p:cNvSpPr>
            <p:nvPr/>
          </p:nvSpPr>
          <p:spPr bwMode="auto">
            <a:xfrm>
              <a:off x="2874964" y="5629278"/>
              <a:ext cx="1660523" cy="376238"/>
            </a:xfrm>
            <a:prstGeom prst="rect">
              <a:avLst/>
            </a:prstGeom>
            <a:solidFill>
              <a:schemeClr val="bg1"/>
            </a:solidFill>
            <a:ln w="9525" algn="ctr">
              <a:solidFill>
                <a:srgbClr val="777777"/>
              </a:solidFill>
              <a:miter lim="800000"/>
              <a:headEnd/>
              <a:tailEnd/>
            </a:ln>
            <a:effectLst>
              <a:outerShdw dist="107763" dir="2700000" algn="ctr" rotWithShape="0">
                <a:srgbClr val="808080">
                  <a:alpha val="50000"/>
                </a:srgbClr>
              </a:outerShdw>
            </a:effectLst>
          </p:spPr>
          <p:txBody>
            <a:bodyPr anchor="b">
              <a:spAutoFit/>
            </a:bodyPr>
            <a:lstStyle/>
            <a:p>
              <a:pPr algn="ctr">
                <a:spcBef>
                  <a:spcPct val="50000"/>
                </a:spcBef>
                <a:defRPr/>
              </a:pPr>
              <a:r>
                <a:rPr lang="en-US" altLang="zh-CN" b="1" dirty="0">
                  <a:solidFill>
                    <a:schemeClr val="tx2"/>
                  </a:solidFill>
                  <a:ea typeface="黑体" pitchFamily="2" charset="-122"/>
                  <a:cs typeface="Arial" pitchFamily="34" charset="0"/>
                </a:rPr>
                <a:t>10.1.1.1/8</a:t>
              </a:r>
            </a:p>
          </p:txBody>
        </p:sp>
        <p:sp>
          <p:nvSpPr>
            <p:cNvPr id="14363" name="Line 43"/>
            <p:cNvSpPr>
              <a:spLocks noChangeShapeType="1"/>
            </p:cNvSpPr>
            <p:nvPr/>
          </p:nvSpPr>
          <p:spPr bwMode="auto">
            <a:xfrm flipH="1" flipV="1">
              <a:off x="2660652" y="5340352"/>
              <a:ext cx="795336" cy="288925"/>
            </a:xfrm>
            <a:prstGeom prst="line">
              <a:avLst/>
            </a:prstGeom>
            <a:noFill/>
            <a:ln w="25400">
              <a:solidFill>
                <a:srgbClr val="FF0000"/>
              </a:solidFill>
              <a:round/>
              <a:headEnd/>
              <a:tailEnd type="triangle" w="med" len="med"/>
            </a:ln>
          </p:spPr>
          <p:txBody>
            <a:bodyPr anchor="b"/>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
                                            <p:txEl>
                                              <p:pRg st="3" end="3"/>
                                            </p:txEl>
                                          </p:spTgt>
                                        </p:tgtEl>
                                        <p:attrNameLst>
                                          <p:attrName>style.visibility</p:attrName>
                                        </p:attrNameLst>
                                      </p:cBhvr>
                                      <p:to>
                                        <p:strVal val="visible"/>
                                      </p:to>
                                    </p:set>
                                    <p:animEffect transition="in" filter="blinds(horizontal)">
                                      <p:cBhvr>
                                        <p:cTn id="7" dur="500"/>
                                        <p:tgtEl>
                                          <p:spTgt spid="46">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6">
                                            <p:txEl>
                                              <p:pRg st="4" end="4"/>
                                            </p:txEl>
                                          </p:spTgt>
                                        </p:tgtEl>
                                        <p:attrNameLst>
                                          <p:attrName>style.visibility</p:attrName>
                                        </p:attrNameLst>
                                      </p:cBhvr>
                                      <p:to>
                                        <p:strVal val="visible"/>
                                      </p:to>
                                    </p:set>
                                    <p:animEffect transition="in" filter="blinds(horizontal)">
                                      <p:cBhvr>
                                        <p:cTn id="10" dur="500"/>
                                        <p:tgtEl>
                                          <p:spTgt spid="46">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6">
                                            <p:txEl>
                                              <p:pRg st="5" end="5"/>
                                            </p:txEl>
                                          </p:spTgt>
                                        </p:tgtEl>
                                        <p:attrNameLst>
                                          <p:attrName>style.visibility</p:attrName>
                                        </p:attrNameLst>
                                      </p:cBhvr>
                                      <p:to>
                                        <p:strVal val="visible"/>
                                      </p:to>
                                    </p:set>
                                    <p:animEffect transition="in" filter="blinds(horizontal)">
                                      <p:cBhvr>
                                        <p:cTn id="13" dur="500"/>
                                        <p:tgtEl>
                                          <p:spTgt spid="46">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6">
                                            <p:txEl>
                                              <p:pRg st="6" end="6"/>
                                            </p:txEl>
                                          </p:spTgt>
                                        </p:tgtEl>
                                        <p:attrNameLst>
                                          <p:attrName>style.visibility</p:attrName>
                                        </p:attrNameLst>
                                      </p:cBhvr>
                                      <p:to>
                                        <p:strVal val="visible"/>
                                      </p:to>
                                    </p:set>
                                    <p:animEffect transition="in" filter="blinds(horizontal)">
                                      <p:cBhvr>
                                        <p:cTn id="16" dur="500"/>
                                        <p:tgtEl>
                                          <p:spTgt spid="46">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par>
                                <p:cTn id="20" presetID="3" presetClass="entr" presetSubtype="10" fill="hold" nodeType="with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blinds(horizontal)">
                                      <p:cBhvr>
                                        <p:cTn id="22" dur="5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blinds(horizontal)">
                                      <p:cBhvr>
                                        <p:cTn id="30" dur="500"/>
                                        <p:tgtEl>
                                          <p:spTgt spid="54"/>
                                        </p:tgtEl>
                                      </p:cBhvr>
                                    </p:animEffect>
                                  </p:childTnLst>
                                </p:cTn>
                              </p:par>
                            </p:childTnLst>
                          </p:cTn>
                        </p:par>
                        <p:par>
                          <p:cTn id="31" fill="hold">
                            <p:stCondLst>
                              <p:cond delay="500"/>
                            </p:stCondLst>
                            <p:childTnLst>
                              <p:par>
                                <p:cTn id="32" presetID="3" presetClass="entr" presetSubtype="10" fill="hold" nodeType="afterEffect">
                                  <p:stCondLst>
                                    <p:cond delay="500"/>
                                  </p:stCondLst>
                                  <p:childTnLst>
                                    <p:set>
                                      <p:cBhvr>
                                        <p:cTn id="33" dur="1" fill="hold">
                                          <p:stCondLst>
                                            <p:cond delay="0"/>
                                          </p:stCondLst>
                                        </p:cTn>
                                        <p:tgtEl>
                                          <p:spTgt spid="4"/>
                                        </p:tgtEl>
                                        <p:attrNameLst>
                                          <p:attrName>style.visibility</p:attrName>
                                        </p:attrNameLst>
                                      </p:cBhvr>
                                      <p:to>
                                        <p:strVal val="visible"/>
                                      </p:to>
                                    </p:set>
                                    <p:animEffect transition="in" filter="blinds(horizontal)">
                                      <p:cBhvr>
                                        <p:cTn id="34" dur="500"/>
                                        <p:tgtEl>
                                          <p:spTgt spid="4"/>
                                        </p:tgtEl>
                                      </p:cBhvr>
                                    </p:animEffect>
                                  </p:childTnLst>
                                </p:cTn>
                              </p:par>
                              <p:par>
                                <p:cTn id="35" presetID="3" presetClass="entr" presetSubtype="10" fill="hold" grpId="0" nodeType="withEffect">
                                  <p:stCondLst>
                                    <p:cond delay="500"/>
                                  </p:stCondLst>
                                  <p:childTnLst>
                                    <p:set>
                                      <p:cBhvr>
                                        <p:cTn id="36" dur="1" fill="hold">
                                          <p:stCondLst>
                                            <p:cond delay="0"/>
                                          </p:stCondLst>
                                        </p:cTn>
                                        <p:tgtEl>
                                          <p:spTgt spid="55"/>
                                        </p:tgtEl>
                                        <p:attrNameLst>
                                          <p:attrName>style.visibility</p:attrName>
                                        </p:attrNameLst>
                                      </p:cBhvr>
                                      <p:to>
                                        <p:strVal val="visible"/>
                                      </p:to>
                                    </p:set>
                                    <p:animEffect transition="in" filter="blinds(horizontal)">
                                      <p:cBhvr>
                                        <p:cTn id="37" dur="500"/>
                                        <p:tgtEl>
                                          <p:spTgt spid="5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65"/>
                                        </p:tgtEl>
                                        <p:attrNameLst>
                                          <p:attrName>style.visibility</p:attrName>
                                        </p:attrNameLst>
                                      </p:cBhvr>
                                      <p:to>
                                        <p:strVal val="visible"/>
                                      </p:to>
                                    </p:set>
                                    <p:animEffect transition="in" filter="dissolve">
                                      <p:cBhvr>
                                        <p:cTn id="42"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P spid="6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a:t>静态路由</a:t>
            </a:r>
          </a:p>
        </p:txBody>
      </p:sp>
      <p:sp>
        <p:nvSpPr>
          <p:cNvPr id="15363" name="内容占位符 115"/>
          <p:cNvSpPr>
            <a:spLocks noGrp="1"/>
          </p:cNvSpPr>
          <p:nvPr>
            <p:ph idx="1"/>
          </p:nvPr>
        </p:nvSpPr>
        <p:spPr>
          <a:xfrm>
            <a:off x="1738313" y="1143000"/>
            <a:ext cx="8501062" cy="5143500"/>
          </a:xfrm>
        </p:spPr>
        <p:txBody>
          <a:bodyPr/>
          <a:lstStyle/>
          <a:p>
            <a:pPr>
              <a:spcBef>
                <a:spcPts val="675"/>
              </a:spcBef>
            </a:pPr>
            <a:r>
              <a:rPr lang="zh-CN" altLang="en-US">
                <a:cs typeface="Arial" pitchFamily="34" charset="0"/>
              </a:rPr>
              <a:t>静态路由</a:t>
            </a:r>
            <a:endParaRPr lang="en-US" altLang="zh-CN">
              <a:cs typeface="Arial" pitchFamily="34" charset="0"/>
            </a:endParaRPr>
          </a:p>
          <a:p>
            <a:pPr lvl="1">
              <a:spcBef>
                <a:spcPts val="475"/>
              </a:spcBef>
            </a:pPr>
            <a:r>
              <a:rPr lang="zh-CN" altLang="en-US">
                <a:cs typeface="Arial" pitchFamily="34" charset="0"/>
              </a:rPr>
              <a:t>由管理员手工配置的，是单向的</a:t>
            </a:r>
            <a:endParaRPr lang="en-US" altLang="zh-CN">
              <a:cs typeface="Arial" pitchFamily="34" charset="0"/>
            </a:endParaRPr>
          </a:p>
          <a:p>
            <a:pPr lvl="1">
              <a:spcBef>
                <a:spcPts val="475"/>
              </a:spcBef>
            </a:pPr>
            <a:r>
              <a:rPr lang="zh-CN" altLang="en-US">
                <a:cs typeface="Arial" pitchFamily="34" charset="0"/>
              </a:rPr>
              <a:t>缺乏灵活性</a:t>
            </a:r>
          </a:p>
        </p:txBody>
      </p:sp>
      <p:sp>
        <p:nvSpPr>
          <p:cNvPr id="15364" name="Oval 47"/>
          <p:cNvSpPr>
            <a:spLocks noChangeArrowheads="1"/>
          </p:cNvSpPr>
          <p:nvPr/>
        </p:nvSpPr>
        <p:spPr bwMode="auto">
          <a:xfrm>
            <a:off x="7386638" y="2260600"/>
            <a:ext cx="2506662" cy="2616200"/>
          </a:xfrm>
          <a:prstGeom prst="ellipse">
            <a:avLst/>
          </a:prstGeom>
          <a:noFill/>
          <a:ln w="19050" algn="ctr">
            <a:solidFill>
              <a:schemeClr val="tx2"/>
            </a:solidFill>
            <a:prstDash val="dash"/>
            <a:round/>
            <a:headEnd/>
            <a:tailEnd/>
          </a:ln>
        </p:spPr>
        <p:txBody>
          <a:bodyPr wrap="none" anchor="ctr"/>
          <a:lstStyle/>
          <a:p>
            <a:endParaRPr lang="zh-CN" altLang="en-US"/>
          </a:p>
        </p:txBody>
      </p:sp>
      <p:pic>
        <p:nvPicPr>
          <p:cNvPr id="15365" name="Picture 8"/>
          <p:cNvPicPr>
            <a:picLocks noChangeArrowheads="1"/>
          </p:cNvPicPr>
          <p:nvPr/>
        </p:nvPicPr>
        <p:blipFill>
          <a:blip r:embed="rId3"/>
          <a:srcRect/>
          <a:stretch>
            <a:fillRect/>
          </a:stretch>
        </p:blipFill>
        <p:spPr bwMode="auto">
          <a:xfrm>
            <a:off x="2590801" y="3024188"/>
            <a:ext cx="1852613" cy="1198562"/>
          </a:xfrm>
          <a:prstGeom prst="rect">
            <a:avLst/>
          </a:prstGeom>
          <a:noFill/>
          <a:ln w="9525">
            <a:noFill/>
            <a:miter lim="800000"/>
            <a:headEnd/>
            <a:tailEnd/>
          </a:ln>
        </p:spPr>
      </p:pic>
      <p:sp>
        <p:nvSpPr>
          <p:cNvPr id="15366" name="Line 49"/>
          <p:cNvSpPr>
            <a:spLocks noChangeShapeType="1"/>
          </p:cNvSpPr>
          <p:nvPr/>
        </p:nvSpPr>
        <p:spPr bwMode="auto">
          <a:xfrm>
            <a:off x="8367713" y="2805114"/>
            <a:ext cx="0" cy="1635125"/>
          </a:xfrm>
          <a:prstGeom prst="line">
            <a:avLst/>
          </a:prstGeom>
          <a:noFill/>
          <a:ln w="38100">
            <a:solidFill>
              <a:schemeClr val="tx2"/>
            </a:solidFill>
            <a:round/>
            <a:headEnd/>
            <a:tailEnd/>
          </a:ln>
        </p:spPr>
        <p:txBody>
          <a:bodyPr/>
          <a:lstStyle/>
          <a:p>
            <a:endParaRPr lang="zh-CN" altLang="en-US"/>
          </a:p>
        </p:txBody>
      </p:sp>
      <p:pic>
        <p:nvPicPr>
          <p:cNvPr id="15367" name="Picture 7"/>
          <p:cNvPicPr>
            <a:picLocks noChangeArrowheads="1"/>
          </p:cNvPicPr>
          <p:nvPr/>
        </p:nvPicPr>
        <p:blipFill>
          <a:blip r:embed="rId4"/>
          <a:srcRect/>
          <a:stretch>
            <a:fillRect/>
          </a:stretch>
        </p:blipFill>
        <p:spPr bwMode="auto">
          <a:xfrm>
            <a:off x="3789363" y="3351214"/>
            <a:ext cx="906462" cy="530225"/>
          </a:xfrm>
          <a:prstGeom prst="rect">
            <a:avLst/>
          </a:prstGeom>
          <a:noFill/>
          <a:ln w="9525">
            <a:noFill/>
            <a:miter lim="800000"/>
            <a:headEnd/>
            <a:tailEnd/>
          </a:ln>
        </p:spPr>
      </p:pic>
      <p:sp>
        <p:nvSpPr>
          <p:cNvPr id="15368" name="Freeform 52"/>
          <p:cNvSpPr>
            <a:spLocks/>
          </p:cNvSpPr>
          <p:nvPr/>
        </p:nvSpPr>
        <p:spPr bwMode="auto">
          <a:xfrm>
            <a:off x="4660901" y="3568700"/>
            <a:ext cx="2181225" cy="109538"/>
          </a:xfrm>
          <a:custGeom>
            <a:avLst/>
            <a:gdLst>
              <a:gd name="T0" fmla="*/ 0 w 2017"/>
              <a:gd name="T1" fmla="*/ 0 h 97"/>
              <a:gd name="T2" fmla="*/ 2147483647 w 2017"/>
              <a:gd name="T3" fmla="*/ 0 h 97"/>
              <a:gd name="T4" fmla="*/ 2147483647 w 2017"/>
              <a:gd name="T5" fmla="*/ 2147483647 h 97"/>
              <a:gd name="T6" fmla="*/ 2147483647 w 2017"/>
              <a:gd name="T7" fmla="*/ 2147483647 h 97"/>
              <a:gd name="T8" fmla="*/ 0 60000 65536"/>
              <a:gd name="T9" fmla="*/ 0 60000 65536"/>
              <a:gd name="T10" fmla="*/ 0 60000 65536"/>
              <a:gd name="T11" fmla="*/ 0 60000 65536"/>
              <a:gd name="T12" fmla="*/ 0 w 2017"/>
              <a:gd name="T13" fmla="*/ 0 h 97"/>
              <a:gd name="T14" fmla="*/ 2017 w 2017"/>
              <a:gd name="T15" fmla="*/ 97 h 97"/>
            </a:gdLst>
            <a:ahLst/>
            <a:cxnLst>
              <a:cxn ang="T8">
                <a:pos x="T0" y="T1"/>
              </a:cxn>
              <a:cxn ang="T9">
                <a:pos x="T2" y="T3"/>
              </a:cxn>
              <a:cxn ang="T10">
                <a:pos x="T4" y="T5"/>
              </a:cxn>
              <a:cxn ang="T11">
                <a:pos x="T6" y="T7"/>
              </a:cxn>
            </a:cxnLst>
            <a:rect l="T12" t="T13" r="T14" b="T15"/>
            <a:pathLst>
              <a:path w="2017" h="97">
                <a:moveTo>
                  <a:pt x="0" y="0"/>
                </a:moveTo>
                <a:lnTo>
                  <a:pt x="1008" y="0"/>
                </a:lnTo>
                <a:lnTo>
                  <a:pt x="912" y="96"/>
                </a:lnTo>
                <a:lnTo>
                  <a:pt x="2016" y="96"/>
                </a:lnTo>
              </a:path>
            </a:pathLst>
          </a:custGeom>
          <a:noFill/>
          <a:ln w="38100" cap="rnd">
            <a:solidFill>
              <a:schemeClr val="tx2"/>
            </a:solidFill>
            <a:round/>
            <a:headEnd type="none" w="sm" len="sm"/>
            <a:tailEnd type="none" w="sm" len="sm"/>
          </a:ln>
        </p:spPr>
        <p:txBody>
          <a:bodyPr/>
          <a:lstStyle/>
          <a:p>
            <a:endParaRPr lang="zh-CN" altLang="en-US"/>
          </a:p>
        </p:txBody>
      </p:sp>
      <p:pic>
        <p:nvPicPr>
          <p:cNvPr id="15369" name="Picture 7"/>
          <p:cNvPicPr>
            <a:picLocks noChangeArrowheads="1"/>
          </p:cNvPicPr>
          <p:nvPr/>
        </p:nvPicPr>
        <p:blipFill>
          <a:blip r:embed="rId4"/>
          <a:srcRect/>
          <a:stretch>
            <a:fillRect/>
          </a:stretch>
        </p:blipFill>
        <p:spPr bwMode="auto">
          <a:xfrm>
            <a:off x="6842126" y="3351214"/>
            <a:ext cx="904875" cy="530225"/>
          </a:xfrm>
          <a:prstGeom prst="rect">
            <a:avLst/>
          </a:prstGeom>
          <a:noFill/>
          <a:ln w="9525">
            <a:noFill/>
            <a:miter lim="800000"/>
            <a:headEnd/>
            <a:tailEnd/>
          </a:ln>
        </p:spPr>
      </p:pic>
      <p:pic>
        <p:nvPicPr>
          <p:cNvPr id="15370" name="Picture 7"/>
          <p:cNvPicPr>
            <a:picLocks noChangeArrowheads="1"/>
          </p:cNvPicPr>
          <p:nvPr/>
        </p:nvPicPr>
        <p:blipFill>
          <a:blip r:embed="rId4"/>
          <a:srcRect/>
          <a:stretch>
            <a:fillRect/>
          </a:stretch>
        </p:blipFill>
        <p:spPr bwMode="auto">
          <a:xfrm>
            <a:off x="2700339" y="2914651"/>
            <a:ext cx="904875" cy="531813"/>
          </a:xfrm>
          <a:prstGeom prst="rect">
            <a:avLst/>
          </a:prstGeom>
          <a:noFill/>
          <a:ln w="9525">
            <a:noFill/>
            <a:miter lim="800000"/>
            <a:headEnd/>
            <a:tailEnd/>
          </a:ln>
        </p:spPr>
      </p:pic>
      <p:pic>
        <p:nvPicPr>
          <p:cNvPr id="15371" name="Picture 7"/>
          <p:cNvPicPr>
            <a:picLocks noChangeArrowheads="1"/>
          </p:cNvPicPr>
          <p:nvPr/>
        </p:nvPicPr>
        <p:blipFill>
          <a:blip r:embed="rId4"/>
          <a:srcRect/>
          <a:stretch>
            <a:fillRect/>
          </a:stretch>
        </p:blipFill>
        <p:spPr bwMode="auto">
          <a:xfrm>
            <a:off x="2700339" y="3786188"/>
            <a:ext cx="904875" cy="531812"/>
          </a:xfrm>
          <a:prstGeom prst="rect">
            <a:avLst/>
          </a:prstGeom>
          <a:noFill/>
          <a:ln w="9525">
            <a:noFill/>
            <a:miter lim="800000"/>
            <a:headEnd/>
            <a:tailEnd/>
          </a:ln>
        </p:spPr>
      </p:pic>
      <p:sp>
        <p:nvSpPr>
          <p:cNvPr id="15372" name="Line 56"/>
          <p:cNvSpPr>
            <a:spLocks noChangeShapeType="1"/>
          </p:cNvSpPr>
          <p:nvPr/>
        </p:nvSpPr>
        <p:spPr bwMode="auto">
          <a:xfrm>
            <a:off x="7713663" y="3678238"/>
            <a:ext cx="654050" cy="0"/>
          </a:xfrm>
          <a:prstGeom prst="line">
            <a:avLst/>
          </a:prstGeom>
          <a:noFill/>
          <a:ln w="38100">
            <a:solidFill>
              <a:schemeClr val="tx2"/>
            </a:solidFill>
            <a:round/>
            <a:headEnd/>
            <a:tailEnd/>
          </a:ln>
        </p:spPr>
        <p:txBody>
          <a:bodyPr/>
          <a:lstStyle/>
          <a:p>
            <a:endParaRPr lang="zh-CN" altLang="en-US"/>
          </a:p>
        </p:txBody>
      </p:sp>
      <p:pic>
        <p:nvPicPr>
          <p:cNvPr id="15373" name="Picture 24"/>
          <p:cNvPicPr>
            <a:picLocks noChangeAspect="1" noChangeArrowheads="1"/>
          </p:cNvPicPr>
          <p:nvPr/>
        </p:nvPicPr>
        <p:blipFill>
          <a:blip r:embed="rId5"/>
          <a:srcRect/>
          <a:stretch>
            <a:fillRect/>
          </a:stretch>
        </p:blipFill>
        <p:spPr bwMode="auto">
          <a:xfrm>
            <a:off x="8802689" y="3830639"/>
            <a:ext cx="623887" cy="592137"/>
          </a:xfrm>
          <a:prstGeom prst="rect">
            <a:avLst/>
          </a:prstGeom>
          <a:noFill/>
          <a:ln w="9525">
            <a:noFill/>
            <a:miter lim="800000"/>
            <a:headEnd/>
            <a:tailEnd/>
          </a:ln>
        </p:spPr>
      </p:pic>
      <p:sp>
        <p:nvSpPr>
          <p:cNvPr id="15374" name="Line 58"/>
          <p:cNvSpPr>
            <a:spLocks noChangeShapeType="1"/>
          </p:cNvSpPr>
          <p:nvPr/>
        </p:nvSpPr>
        <p:spPr bwMode="auto">
          <a:xfrm>
            <a:off x="8367714" y="3100388"/>
            <a:ext cx="434975" cy="0"/>
          </a:xfrm>
          <a:prstGeom prst="line">
            <a:avLst/>
          </a:prstGeom>
          <a:noFill/>
          <a:ln w="38100">
            <a:solidFill>
              <a:schemeClr val="tx2"/>
            </a:solidFill>
            <a:round/>
            <a:headEnd/>
            <a:tailEnd/>
          </a:ln>
        </p:spPr>
        <p:txBody>
          <a:bodyPr/>
          <a:lstStyle/>
          <a:p>
            <a:endParaRPr lang="zh-CN" altLang="en-US"/>
          </a:p>
        </p:txBody>
      </p:sp>
      <p:sp>
        <p:nvSpPr>
          <p:cNvPr id="15375" name="Line 59"/>
          <p:cNvSpPr>
            <a:spLocks noChangeShapeType="1"/>
          </p:cNvSpPr>
          <p:nvPr/>
        </p:nvSpPr>
        <p:spPr bwMode="auto">
          <a:xfrm>
            <a:off x="8367714" y="4113213"/>
            <a:ext cx="434975" cy="0"/>
          </a:xfrm>
          <a:prstGeom prst="line">
            <a:avLst/>
          </a:prstGeom>
          <a:noFill/>
          <a:ln w="38100">
            <a:solidFill>
              <a:schemeClr val="tx2"/>
            </a:solidFill>
            <a:round/>
            <a:headEnd/>
            <a:tailEnd/>
          </a:ln>
        </p:spPr>
        <p:txBody>
          <a:bodyPr/>
          <a:lstStyle/>
          <a:p>
            <a:endParaRPr lang="zh-CN" altLang="en-US"/>
          </a:p>
        </p:txBody>
      </p:sp>
      <p:sp>
        <p:nvSpPr>
          <p:cNvPr id="15376" name="Text Box 60"/>
          <p:cNvSpPr txBox="1">
            <a:spLocks noChangeArrowheads="1"/>
          </p:cNvSpPr>
          <p:nvPr/>
        </p:nvSpPr>
        <p:spPr bwMode="auto">
          <a:xfrm>
            <a:off x="6405564" y="3351214"/>
            <a:ext cx="485775" cy="371475"/>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S0</a:t>
            </a:r>
          </a:p>
        </p:txBody>
      </p:sp>
      <p:sp>
        <p:nvSpPr>
          <p:cNvPr id="15377" name="Text Box 61"/>
          <p:cNvSpPr txBox="1">
            <a:spLocks noChangeArrowheads="1"/>
          </p:cNvSpPr>
          <p:nvPr/>
        </p:nvSpPr>
        <p:spPr bwMode="auto">
          <a:xfrm>
            <a:off x="4660901" y="3241676"/>
            <a:ext cx="485775" cy="371475"/>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S0</a:t>
            </a:r>
          </a:p>
        </p:txBody>
      </p:sp>
      <p:sp>
        <p:nvSpPr>
          <p:cNvPr id="15378" name="Text Box 63"/>
          <p:cNvSpPr txBox="1">
            <a:spLocks noChangeArrowheads="1"/>
          </p:cNvSpPr>
          <p:nvPr/>
        </p:nvSpPr>
        <p:spPr bwMode="auto">
          <a:xfrm>
            <a:off x="7748588" y="2474914"/>
            <a:ext cx="1816100"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192.168.1.0/24</a:t>
            </a:r>
          </a:p>
        </p:txBody>
      </p:sp>
      <p:sp>
        <p:nvSpPr>
          <p:cNvPr id="15379" name="Text Box 64"/>
          <p:cNvSpPr txBox="1">
            <a:spLocks noChangeArrowheads="1"/>
          </p:cNvSpPr>
          <p:nvPr/>
        </p:nvSpPr>
        <p:spPr bwMode="auto">
          <a:xfrm>
            <a:off x="4051301" y="3568701"/>
            <a:ext cx="485775" cy="371475"/>
          </a:xfrm>
          <a:prstGeom prst="rect">
            <a:avLst/>
          </a:prstGeom>
          <a:noFill/>
          <a:ln w="9525">
            <a:noFill/>
            <a:miter lim="800000"/>
            <a:headEnd/>
            <a:tailEnd/>
          </a:ln>
        </p:spPr>
        <p:txBody>
          <a:bodyPr>
            <a:spAutoFit/>
          </a:bodyPr>
          <a:lstStyle/>
          <a:p>
            <a:pPr>
              <a:spcBef>
                <a:spcPct val="50000"/>
              </a:spcBef>
            </a:pPr>
            <a:r>
              <a:rPr lang="en-US" altLang="zh-CN" b="1">
                <a:solidFill>
                  <a:schemeClr val="bg1"/>
                </a:solidFill>
              </a:rPr>
              <a:t>A</a:t>
            </a:r>
          </a:p>
        </p:txBody>
      </p:sp>
      <p:sp>
        <p:nvSpPr>
          <p:cNvPr id="15380" name="Text Box 65"/>
          <p:cNvSpPr txBox="1">
            <a:spLocks noChangeArrowheads="1"/>
          </p:cNvSpPr>
          <p:nvPr/>
        </p:nvSpPr>
        <p:spPr bwMode="auto">
          <a:xfrm>
            <a:off x="7118351" y="3568701"/>
            <a:ext cx="485775" cy="371475"/>
          </a:xfrm>
          <a:prstGeom prst="rect">
            <a:avLst/>
          </a:prstGeom>
          <a:noFill/>
          <a:ln w="9525">
            <a:noFill/>
            <a:miter lim="800000"/>
            <a:headEnd/>
            <a:tailEnd/>
          </a:ln>
        </p:spPr>
        <p:txBody>
          <a:bodyPr>
            <a:spAutoFit/>
          </a:bodyPr>
          <a:lstStyle/>
          <a:p>
            <a:pPr>
              <a:spcBef>
                <a:spcPct val="50000"/>
              </a:spcBef>
            </a:pPr>
            <a:r>
              <a:rPr lang="en-US" altLang="zh-CN" b="1">
                <a:solidFill>
                  <a:schemeClr val="bg1"/>
                </a:solidFill>
              </a:rPr>
              <a:t>B</a:t>
            </a:r>
          </a:p>
        </p:txBody>
      </p:sp>
      <p:sp>
        <p:nvSpPr>
          <p:cNvPr id="15381" name="Text Box 63"/>
          <p:cNvSpPr txBox="1">
            <a:spLocks noChangeArrowheads="1"/>
          </p:cNvSpPr>
          <p:nvPr/>
        </p:nvSpPr>
        <p:spPr bwMode="auto">
          <a:xfrm>
            <a:off x="4343400" y="3794125"/>
            <a:ext cx="1423988" cy="369888"/>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192.168.2.2</a:t>
            </a:r>
          </a:p>
        </p:txBody>
      </p:sp>
      <p:sp>
        <p:nvSpPr>
          <p:cNvPr id="15382" name="Text Box 63"/>
          <p:cNvSpPr txBox="1">
            <a:spLocks noChangeArrowheads="1"/>
          </p:cNvSpPr>
          <p:nvPr/>
        </p:nvSpPr>
        <p:spPr bwMode="auto">
          <a:xfrm>
            <a:off x="5840414" y="3789364"/>
            <a:ext cx="1423987"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192.168.2.1</a:t>
            </a:r>
          </a:p>
        </p:txBody>
      </p:sp>
      <p:pic>
        <p:nvPicPr>
          <p:cNvPr id="15383" name="Picture 24"/>
          <p:cNvPicPr>
            <a:picLocks noChangeAspect="1" noChangeArrowheads="1"/>
          </p:cNvPicPr>
          <p:nvPr/>
        </p:nvPicPr>
        <p:blipFill>
          <a:blip r:embed="rId5"/>
          <a:srcRect/>
          <a:stretch>
            <a:fillRect/>
          </a:stretch>
        </p:blipFill>
        <p:spPr bwMode="auto">
          <a:xfrm>
            <a:off x="8797925" y="2808289"/>
            <a:ext cx="623888" cy="592137"/>
          </a:xfrm>
          <a:prstGeom prst="rect">
            <a:avLst/>
          </a:prstGeom>
          <a:noFill/>
          <a:ln w="9525">
            <a:noFill/>
            <a:miter lim="800000"/>
            <a:headEnd/>
            <a:tailEnd/>
          </a:ln>
        </p:spPr>
      </p:pic>
      <p:sp>
        <p:nvSpPr>
          <p:cNvPr id="15384" name="Line 6"/>
          <p:cNvSpPr>
            <a:spLocks noChangeShapeType="1"/>
          </p:cNvSpPr>
          <p:nvPr/>
        </p:nvSpPr>
        <p:spPr bwMode="auto">
          <a:xfrm>
            <a:off x="4906963" y="2849563"/>
            <a:ext cx="2043112" cy="0"/>
          </a:xfrm>
          <a:prstGeom prst="line">
            <a:avLst/>
          </a:prstGeom>
          <a:noFill/>
          <a:ln w="38100">
            <a:solidFill>
              <a:schemeClr val="tx2"/>
            </a:solidFill>
            <a:round/>
            <a:headEnd type="none" w="sm" len="sm"/>
            <a:tailEnd type="triangle" w="med" len="med"/>
          </a:ln>
        </p:spPr>
        <p:txBody>
          <a:bodyPr wrap="none" anchor="ctr">
            <a:spAutoFit/>
          </a:bodyPr>
          <a:lstStyle/>
          <a:p>
            <a:endParaRPr lang="zh-CN" altLang="en-US"/>
          </a:p>
        </p:txBody>
      </p:sp>
      <p:sp>
        <p:nvSpPr>
          <p:cNvPr id="140" name="Line 33"/>
          <p:cNvSpPr>
            <a:spLocks noChangeShapeType="1"/>
          </p:cNvSpPr>
          <p:nvPr/>
        </p:nvSpPr>
        <p:spPr bwMode="auto">
          <a:xfrm>
            <a:off x="4270375" y="3954464"/>
            <a:ext cx="0" cy="936625"/>
          </a:xfrm>
          <a:prstGeom prst="line">
            <a:avLst/>
          </a:prstGeom>
          <a:noFill/>
          <a:ln w="28575">
            <a:solidFill>
              <a:srgbClr val="000000"/>
            </a:solidFill>
            <a:round/>
            <a:headEnd/>
            <a:tailEnd type="triangle" w="med" len="med"/>
          </a:ln>
        </p:spPr>
        <p:txBody>
          <a:bodyPr wrap="none" lIns="69596" tIns="98595" rIns="69596" bIns="98595"/>
          <a:lstStyle/>
          <a:p>
            <a:endParaRPr lang="zh-CN" altLang="en-US"/>
          </a:p>
        </p:txBody>
      </p:sp>
      <p:sp>
        <p:nvSpPr>
          <p:cNvPr id="141" name="Text Box 103"/>
          <p:cNvSpPr txBox="1">
            <a:spLocks noChangeArrowheads="1"/>
          </p:cNvSpPr>
          <p:nvPr/>
        </p:nvSpPr>
        <p:spPr bwMode="auto">
          <a:xfrm>
            <a:off x="3759200" y="4926013"/>
            <a:ext cx="4464050" cy="730250"/>
          </a:xfrm>
          <a:prstGeom prst="rect">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目的地为</a:t>
            </a:r>
            <a:r>
              <a:rPr lang="en-US" altLang="zh-CN" sz="2000" b="1">
                <a:solidFill>
                  <a:srgbClr val="FF0000"/>
                </a:solidFill>
                <a:latin typeface="楷体_GB2312" pitchFamily="49" charset="-122"/>
                <a:ea typeface="楷体_GB2312" pitchFamily="49" charset="-122"/>
              </a:rPr>
              <a:t>192.168.1.0</a:t>
            </a:r>
            <a:r>
              <a:rPr lang="zh-CN" altLang="en-US" sz="2000" b="1">
                <a:solidFill>
                  <a:schemeClr val="tx2"/>
                </a:solidFill>
                <a:latin typeface="楷体_GB2312" pitchFamily="49" charset="-122"/>
                <a:ea typeface="楷体_GB2312" pitchFamily="49" charset="-122"/>
              </a:rPr>
              <a:t>时，需将数据包转发给</a:t>
            </a:r>
            <a:r>
              <a:rPr lang="zh-CN" altLang="en-US" sz="2000" b="1">
                <a:solidFill>
                  <a:srgbClr val="FF0000"/>
                </a:solidFill>
                <a:latin typeface="楷体_GB2312" pitchFamily="49" charset="-122"/>
                <a:ea typeface="楷体_GB2312" pitchFamily="49" charset="-122"/>
              </a:rPr>
              <a:t>路由器</a:t>
            </a:r>
            <a:r>
              <a:rPr lang="en-US" altLang="zh-CN" sz="2000" b="1">
                <a:solidFill>
                  <a:srgbClr val="FF0000"/>
                </a:solidFill>
                <a:latin typeface="楷体_GB2312" pitchFamily="49" charset="-122"/>
                <a:ea typeface="楷体_GB2312" pitchFamily="49" charset="-122"/>
              </a:rPr>
              <a:t>B</a:t>
            </a:r>
            <a:r>
              <a:rPr lang="zh-CN" altLang="en-US" sz="2000" b="1">
                <a:solidFill>
                  <a:schemeClr val="tx2"/>
                </a:solidFill>
                <a:latin typeface="楷体_GB2312" pitchFamily="49" charset="-122"/>
                <a:ea typeface="楷体_GB2312" pitchFamily="49" charset="-122"/>
              </a:rPr>
              <a:t>的</a:t>
            </a:r>
            <a:r>
              <a:rPr lang="en-US" altLang="zh-CN" sz="2000" b="1">
                <a:solidFill>
                  <a:srgbClr val="FF0000"/>
                </a:solidFill>
                <a:latin typeface="楷体_GB2312" pitchFamily="49" charset="-122"/>
                <a:ea typeface="楷体_GB2312" pitchFamily="49" charset="-122"/>
              </a:rPr>
              <a:t>192.168.2.1</a:t>
            </a:r>
            <a:r>
              <a:rPr lang="zh-CN" altLang="en-US" sz="2000" b="1">
                <a:solidFill>
                  <a:schemeClr val="tx2"/>
                </a:solidFill>
                <a:latin typeface="楷体_GB2312" pitchFamily="49" charset="-122"/>
                <a:ea typeface="楷体_GB2312" pitchFamily="49" charset="-122"/>
              </a:rPr>
              <a:t>的接口</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wipe(up)">
                                      <p:cBhvr>
                                        <p:cTn id="7" dur="500"/>
                                        <p:tgtEl>
                                          <p:spTgt spid="140"/>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41"/>
                                        </p:tgtEl>
                                        <p:attrNameLst>
                                          <p:attrName>style.visibility</p:attrName>
                                        </p:attrNameLst>
                                      </p:cBhvr>
                                      <p:to>
                                        <p:strVal val="visible"/>
                                      </p:to>
                                    </p:set>
                                    <p:animEffect transition="in" filter="wipe(up)">
                                      <p:cBhvr>
                                        <p:cTn id="11"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p:bldP spid="14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a:t>默认路由</a:t>
            </a:r>
          </a:p>
        </p:txBody>
      </p:sp>
      <p:sp>
        <p:nvSpPr>
          <p:cNvPr id="16387" name="内容占位符 34"/>
          <p:cNvSpPr>
            <a:spLocks noGrp="1"/>
          </p:cNvSpPr>
          <p:nvPr>
            <p:ph idx="1"/>
          </p:nvPr>
        </p:nvSpPr>
        <p:spPr>
          <a:xfrm>
            <a:off x="1738313" y="1143000"/>
            <a:ext cx="8501062" cy="5143500"/>
          </a:xfrm>
        </p:spPr>
        <p:txBody>
          <a:bodyPr/>
          <a:lstStyle/>
          <a:p>
            <a:pPr>
              <a:spcBef>
                <a:spcPts val="675"/>
              </a:spcBef>
            </a:pPr>
            <a:r>
              <a:rPr lang="zh-CN" altLang="en-US">
                <a:cs typeface="Arial" pitchFamily="34" charset="0"/>
              </a:rPr>
              <a:t>默认路由</a:t>
            </a:r>
            <a:endParaRPr lang="en-US" altLang="zh-CN">
              <a:cs typeface="Arial" pitchFamily="34" charset="0"/>
            </a:endParaRPr>
          </a:p>
          <a:p>
            <a:pPr lvl="1">
              <a:spcBef>
                <a:spcPts val="475"/>
              </a:spcBef>
            </a:pPr>
            <a:r>
              <a:rPr lang="zh-CN" altLang="en-US">
                <a:cs typeface="Arial" pitchFamily="34" charset="0"/>
              </a:rPr>
              <a:t>当路由器在路由表中找不到目标网络的路由条目时，路由器把请求转发到默认路由接口</a:t>
            </a:r>
          </a:p>
          <a:p>
            <a:pPr lvl="1">
              <a:spcBef>
                <a:spcPts val="475"/>
              </a:spcBef>
            </a:pPr>
            <a:endParaRPr lang="zh-CN" altLang="en-US">
              <a:cs typeface="Arial" pitchFamily="34" charset="0"/>
            </a:endParaRPr>
          </a:p>
        </p:txBody>
      </p:sp>
      <p:sp>
        <p:nvSpPr>
          <p:cNvPr id="16388" name="Oval 47"/>
          <p:cNvSpPr>
            <a:spLocks noChangeArrowheads="1"/>
          </p:cNvSpPr>
          <p:nvPr/>
        </p:nvSpPr>
        <p:spPr bwMode="auto">
          <a:xfrm>
            <a:off x="7386638" y="2808288"/>
            <a:ext cx="2506662" cy="2616200"/>
          </a:xfrm>
          <a:prstGeom prst="ellipse">
            <a:avLst/>
          </a:prstGeom>
          <a:noFill/>
          <a:ln w="19050" algn="ctr">
            <a:solidFill>
              <a:schemeClr val="tx2"/>
            </a:solidFill>
            <a:prstDash val="dash"/>
            <a:round/>
            <a:headEnd/>
            <a:tailEnd/>
          </a:ln>
        </p:spPr>
        <p:txBody>
          <a:bodyPr wrap="none" anchor="ctr"/>
          <a:lstStyle/>
          <a:p>
            <a:endParaRPr lang="zh-CN" altLang="en-US">
              <a:solidFill>
                <a:schemeClr val="tx2"/>
              </a:solidFill>
            </a:endParaRPr>
          </a:p>
        </p:txBody>
      </p:sp>
      <p:pic>
        <p:nvPicPr>
          <p:cNvPr id="16389" name="Picture 8"/>
          <p:cNvPicPr>
            <a:picLocks noChangeArrowheads="1"/>
          </p:cNvPicPr>
          <p:nvPr/>
        </p:nvPicPr>
        <p:blipFill>
          <a:blip r:embed="rId3"/>
          <a:srcRect/>
          <a:stretch>
            <a:fillRect/>
          </a:stretch>
        </p:blipFill>
        <p:spPr bwMode="auto">
          <a:xfrm>
            <a:off x="2590801" y="3571876"/>
            <a:ext cx="1852613" cy="1198563"/>
          </a:xfrm>
          <a:prstGeom prst="rect">
            <a:avLst/>
          </a:prstGeom>
          <a:noFill/>
          <a:ln w="9525">
            <a:noFill/>
            <a:miter lim="800000"/>
            <a:headEnd/>
            <a:tailEnd/>
          </a:ln>
        </p:spPr>
      </p:pic>
      <p:sp>
        <p:nvSpPr>
          <p:cNvPr id="16390" name="Line 49"/>
          <p:cNvSpPr>
            <a:spLocks noChangeShapeType="1"/>
          </p:cNvSpPr>
          <p:nvPr/>
        </p:nvSpPr>
        <p:spPr bwMode="auto">
          <a:xfrm>
            <a:off x="8367713" y="3352801"/>
            <a:ext cx="0" cy="1635125"/>
          </a:xfrm>
          <a:prstGeom prst="line">
            <a:avLst/>
          </a:prstGeom>
          <a:noFill/>
          <a:ln w="38100">
            <a:solidFill>
              <a:schemeClr val="tx2"/>
            </a:solidFill>
            <a:round/>
            <a:headEnd/>
            <a:tailEnd/>
          </a:ln>
        </p:spPr>
        <p:txBody>
          <a:bodyPr/>
          <a:lstStyle/>
          <a:p>
            <a:endParaRPr lang="zh-CN" altLang="en-US"/>
          </a:p>
        </p:txBody>
      </p:sp>
      <p:pic>
        <p:nvPicPr>
          <p:cNvPr id="16391" name="Picture 7"/>
          <p:cNvPicPr>
            <a:picLocks noChangeArrowheads="1"/>
          </p:cNvPicPr>
          <p:nvPr/>
        </p:nvPicPr>
        <p:blipFill>
          <a:blip r:embed="rId4"/>
          <a:srcRect/>
          <a:stretch>
            <a:fillRect/>
          </a:stretch>
        </p:blipFill>
        <p:spPr bwMode="auto">
          <a:xfrm>
            <a:off x="3789363" y="3898901"/>
            <a:ext cx="906462" cy="530225"/>
          </a:xfrm>
          <a:prstGeom prst="rect">
            <a:avLst/>
          </a:prstGeom>
          <a:noFill/>
          <a:ln w="9525">
            <a:noFill/>
            <a:miter lim="800000"/>
            <a:headEnd/>
            <a:tailEnd/>
          </a:ln>
        </p:spPr>
      </p:pic>
      <p:sp>
        <p:nvSpPr>
          <p:cNvPr id="16392" name="Freeform 52"/>
          <p:cNvSpPr>
            <a:spLocks/>
          </p:cNvSpPr>
          <p:nvPr/>
        </p:nvSpPr>
        <p:spPr bwMode="auto">
          <a:xfrm>
            <a:off x="4660901" y="4116389"/>
            <a:ext cx="2181225" cy="109537"/>
          </a:xfrm>
          <a:custGeom>
            <a:avLst/>
            <a:gdLst>
              <a:gd name="T0" fmla="*/ 0 w 2017"/>
              <a:gd name="T1" fmla="*/ 0 h 97"/>
              <a:gd name="T2" fmla="*/ 2147483647 w 2017"/>
              <a:gd name="T3" fmla="*/ 0 h 97"/>
              <a:gd name="T4" fmla="*/ 2147483647 w 2017"/>
              <a:gd name="T5" fmla="*/ 2147483647 h 97"/>
              <a:gd name="T6" fmla="*/ 2147483647 w 2017"/>
              <a:gd name="T7" fmla="*/ 2147483647 h 97"/>
              <a:gd name="T8" fmla="*/ 0 60000 65536"/>
              <a:gd name="T9" fmla="*/ 0 60000 65536"/>
              <a:gd name="T10" fmla="*/ 0 60000 65536"/>
              <a:gd name="T11" fmla="*/ 0 60000 65536"/>
              <a:gd name="T12" fmla="*/ 0 w 2017"/>
              <a:gd name="T13" fmla="*/ 0 h 97"/>
              <a:gd name="T14" fmla="*/ 2017 w 2017"/>
              <a:gd name="T15" fmla="*/ 97 h 97"/>
            </a:gdLst>
            <a:ahLst/>
            <a:cxnLst>
              <a:cxn ang="T8">
                <a:pos x="T0" y="T1"/>
              </a:cxn>
              <a:cxn ang="T9">
                <a:pos x="T2" y="T3"/>
              </a:cxn>
              <a:cxn ang="T10">
                <a:pos x="T4" y="T5"/>
              </a:cxn>
              <a:cxn ang="T11">
                <a:pos x="T6" y="T7"/>
              </a:cxn>
            </a:cxnLst>
            <a:rect l="T12" t="T13" r="T14" b="T15"/>
            <a:pathLst>
              <a:path w="2017" h="97">
                <a:moveTo>
                  <a:pt x="0" y="0"/>
                </a:moveTo>
                <a:lnTo>
                  <a:pt x="1008" y="0"/>
                </a:lnTo>
                <a:lnTo>
                  <a:pt x="912" y="96"/>
                </a:lnTo>
                <a:lnTo>
                  <a:pt x="2016" y="96"/>
                </a:lnTo>
              </a:path>
            </a:pathLst>
          </a:custGeom>
          <a:noFill/>
          <a:ln w="38100" cap="rnd">
            <a:solidFill>
              <a:schemeClr val="tx2"/>
            </a:solidFill>
            <a:round/>
            <a:headEnd type="none" w="sm" len="sm"/>
            <a:tailEnd type="none" w="sm" len="sm"/>
          </a:ln>
        </p:spPr>
        <p:txBody>
          <a:bodyPr/>
          <a:lstStyle/>
          <a:p>
            <a:endParaRPr lang="zh-CN" altLang="en-US"/>
          </a:p>
        </p:txBody>
      </p:sp>
      <p:pic>
        <p:nvPicPr>
          <p:cNvPr id="16393" name="Picture 7"/>
          <p:cNvPicPr>
            <a:picLocks noChangeArrowheads="1"/>
          </p:cNvPicPr>
          <p:nvPr/>
        </p:nvPicPr>
        <p:blipFill>
          <a:blip r:embed="rId4"/>
          <a:srcRect/>
          <a:stretch>
            <a:fillRect/>
          </a:stretch>
        </p:blipFill>
        <p:spPr bwMode="auto">
          <a:xfrm>
            <a:off x="6842126" y="3898901"/>
            <a:ext cx="904875" cy="530225"/>
          </a:xfrm>
          <a:prstGeom prst="rect">
            <a:avLst/>
          </a:prstGeom>
          <a:noFill/>
          <a:ln w="9525">
            <a:noFill/>
            <a:miter lim="800000"/>
            <a:headEnd/>
            <a:tailEnd/>
          </a:ln>
        </p:spPr>
      </p:pic>
      <p:pic>
        <p:nvPicPr>
          <p:cNvPr id="16394" name="Picture 7"/>
          <p:cNvPicPr>
            <a:picLocks noChangeArrowheads="1"/>
          </p:cNvPicPr>
          <p:nvPr/>
        </p:nvPicPr>
        <p:blipFill>
          <a:blip r:embed="rId4"/>
          <a:srcRect/>
          <a:stretch>
            <a:fillRect/>
          </a:stretch>
        </p:blipFill>
        <p:spPr bwMode="auto">
          <a:xfrm>
            <a:off x="2700339" y="3462338"/>
            <a:ext cx="904875" cy="531812"/>
          </a:xfrm>
          <a:prstGeom prst="rect">
            <a:avLst/>
          </a:prstGeom>
          <a:noFill/>
          <a:ln w="9525">
            <a:noFill/>
            <a:miter lim="800000"/>
            <a:headEnd/>
            <a:tailEnd/>
          </a:ln>
        </p:spPr>
      </p:pic>
      <p:pic>
        <p:nvPicPr>
          <p:cNvPr id="16395" name="Picture 7"/>
          <p:cNvPicPr>
            <a:picLocks noChangeArrowheads="1"/>
          </p:cNvPicPr>
          <p:nvPr/>
        </p:nvPicPr>
        <p:blipFill>
          <a:blip r:embed="rId4"/>
          <a:srcRect/>
          <a:stretch>
            <a:fillRect/>
          </a:stretch>
        </p:blipFill>
        <p:spPr bwMode="auto">
          <a:xfrm>
            <a:off x="2700339" y="4333876"/>
            <a:ext cx="904875" cy="531813"/>
          </a:xfrm>
          <a:prstGeom prst="rect">
            <a:avLst/>
          </a:prstGeom>
          <a:noFill/>
          <a:ln w="9525">
            <a:noFill/>
            <a:miter lim="800000"/>
            <a:headEnd/>
            <a:tailEnd/>
          </a:ln>
        </p:spPr>
      </p:pic>
      <p:sp>
        <p:nvSpPr>
          <p:cNvPr id="16396" name="Line 56"/>
          <p:cNvSpPr>
            <a:spLocks noChangeShapeType="1"/>
          </p:cNvSpPr>
          <p:nvPr/>
        </p:nvSpPr>
        <p:spPr bwMode="auto">
          <a:xfrm>
            <a:off x="7713663" y="4225925"/>
            <a:ext cx="654050" cy="0"/>
          </a:xfrm>
          <a:prstGeom prst="line">
            <a:avLst/>
          </a:prstGeom>
          <a:noFill/>
          <a:ln w="38100">
            <a:solidFill>
              <a:schemeClr val="tx2"/>
            </a:solidFill>
            <a:round/>
            <a:headEnd/>
            <a:tailEnd/>
          </a:ln>
        </p:spPr>
        <p:txBody>
          <a:bodyPr/>
          <a:lstStyle/>
          <a:p>
            <a:endParaRPr lang="zh-CN" altLang="en-US"/>
          </a:p>
        </p:txBody>
      </p:sp>
      <p:pic>
        <p:nvPicPr>
          <p:cNvPr id="16397" name="Picture 24"/>
          <p:cNvPicPr>
            <a:picLocks noChangeAspect="1" noChangeArrowheads="1"/>
          </p:cNvPicPr>
          <p:nvPr/>
        </p:nvPicPr>
        <p:blipFill>
          <a:blip r:embed="rId5"/>
          <a:srcRect/>
          <a:stretch>
            <a:fillRect/>
          </a:stretch>
        </p:blipFill>
        <p:spPr bwMode="auto">
          <a:xfrm>
            <a:off x="8802689" y="4378325"/>
            <a:ext cx="623887" cy="592138"/>
          </a:xfrm>
          <a:prstGeom prst="rect">
            <a:avLst/>
          </a:prstGeom>
          <a:noFill/>
          <a:ln w="9525">
            <a:noFill/>
            <a:miter lim="800000"/>
            <a:headEnd/>
            <a:tailEnd/>
          </a:ln>
        </p:spPr>
      </p:pic>
      <p:sp>
        <p:nvSpPr>
          <p:cNvPr id="16398" name="Line 58"/>
          <p:cNvSpPr>
            <a:spLocks noChangeShapeType="1"/>
          </p:cNvSpPr>
          <p:nvPr/>
        </p:nvSpPr>
        <p:spPr bwMode="auto">
          <a:xfrm>
            <a:off x="8367714" y="3648075"/>
            <a:ext cx="434975" cy="0"/>
          </a:xfrm>
          <a:prstGeom prst="line">
            <a:avLst/>
          </a:prstGeom>
          <a:noFill/>
          <a:ln w="38100">
            <a:solidFill>
              <a:schemeClr val="tx2"/>
            </a:solidFill>
            <a:round/>
            <a:headEnd/>
            <a:tailEnd/>
          </a:ln>
        </p:spPr>
        <p:txBody>
          <a:bodyPr/>
          <a:lstStyle/>
          <a:p>
            <a:endParaRPr lang="zh-CN" altLang="en-US"/>
          </a:p>
        </p:txBody>
      </p:sp>
      <p:sp>
        <p:nvSpPr>
          <p:cNvPr id="16399" name="Line 59"/>
          <p:cNvSpPr>
            <a:spLocks noChangeShapeType="1"/>
          </p:cNvSpPr>
          <p:nvPr/>
        </p:nvSpPr>
        <p:spPr bwMode="auto">
          <a:xfrm>
            <a:off x="8367714" y="4660900"/>
            <a:ext cx="434975" cy="0"/>
          </a:xfrm>
          <a:prstGeom prst="line">
            <a:avLst/>
          </a:prstGeom>
          <a:noFill/>
          <a:ln w="38100">
            <a:solidFill>
              <a:schemeClr val="tx2"/>
            </a:solidFill>
            <a:round/>
            <a:headEnd/>
            <a:tailEnd/>
          </a:ln>
        </p:spPr>
        <p:txBody>
          <a:bodyPr/>
          <a:lstStyle/>
          <a:p>
            <a:endParaRPr lang="zh-CN" altLang="en-US"/>
          </a:p>
        </p:txBody>
      </p:sp>
      <p:sp>
        <p:nvSpPr>
          <p:cNvPr id="16400" name="Text Box 60"/>
          <p:cNvSpPr txBox="1">
            <a:spLocks noChangeArrowheads="1"/>
          </p:cNvSpPr>
          <p:nvPr/>
        </p:nvSpPr>
        <p:spPr bwMode="auto">
          <a:xfrm>
            <a:off x="6405564" y="3898901"/>
            <a:ext cx="485775" cy="371475"/>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S0</a:t>
            </a:r>
          </a:p>
        </p:txBody>
      </p:sp>
      <p:sp>
        <p:nvSpPr>
          <p:cNvPr id="16401" name="Text Box 61"/>
          <p:cNvSpPr txBox="1">
            <a:spLocks noChangeArrowheads="1"/>
          </p:cNvSpPr>
          <p:nvPr/>
        </p:nvSpPr>
        <p:spPr bwMode="auto">
          <a:xfrm>
            <a:off x="4660901" y="3789364"/>
            <a:ext cx="485775" cy="371475"/>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S0</a:t>
            </a:r>
          </a:p>
        </p:txBody>
      </p:sp>
      <p:sp>
        <p:nvSpPr>
          <p:cNvPr id="16402" name="Text Box 63"/>
          <p:cNvSpPr txBox="1">
            <a:spLocks noChangeArrowheads="1"/>
          </p:cNvSpPr>
          <p:nvPr/>
        </p:nvSpPr>
        <p:spPr bwMode="auto">
          <a:xfrm>
            <a:off x="7748588" y="3022600"/>
            <a:ext cx="1816100" cy="369888"/>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192.168.1.0/24</a:t>
            </a:r>
          </a:p>
        </p:txBody>
      </p:sp>
      <p:sp>
        <p:nvSpPr>
          <p:cNvPr id="16403" name="Text Box 64"/>
          <p:cNvSpPr txBox="1">
            <a:spLocks noChangeArrowheads="1"/>
          </p:cNvSpPr>
          <p:nvPr/>
        </p:nvSpPr>
        <p:spPr bwMode="auto">
          <a:xfrm>
            <a:off x="4094164" y="4144963"/>
            <a:ext cx="485775" cy="336550"/>
          </a:xfrm>
          <a:prstGeom prst="rect">
            <a:avLst/>
          </a:prstGeom>
          <a:noFill/>
          <a:ln w="9525">
            <a:noFill/>
            <a:miter lim="800000"/>
            <a:headEnd/>
            <a:tailEnd/>
          </a:ln>
        </p:spPr>
        <p:txBody>
          <a:bodyPr>
            <a:spAutoFit/>
          </a:bodyPr>
          <a:lstStyle/>
          <a:p>
            <a:pPr>
              <a:spcBef>
                <a:spcPct val="50000"/>
              </a:spcBef>
            </a:pPr>
            <a:r>
              <a:rPr lang="en-US" altLang="zh-CN" sz="1600" b="1">
                <a:solidFill>
                  <a:schemeClr val="bg1"/>
                </a:solidFill>
              </a:rPr>
              <a:t>A</a:t>
            </a:r>
          </a:p>
        </p:txBody>
      </p:sp>
      <p:sp>
        <p:nvSpPr>
          <p:cNvPr id="16404" name="Text Box 65"/>
          <p:cNvSpPr txBox="1">
            <a:spLocks noChangeArrowheads="1"/>
          </p:cNvSpPr>
          <p:nvPr/>
        </p:nvSpPr>
        <p:spPr bwMode="auto">
          <a:xfrm>
            <a:off x="7143751" y="4164013"/>
            <a:ext cx="485775" cy="336550"/>
          </a:xfrm>
          <a:prstGeom prst="rect">
            <a:avLst/>
          </a:prstGeom>
          <a:noFill/>
          <a:ln w="9525">
            <a:noFill/>
            <a:miter lim="800000"/>
            <a:headEnd/>
            <a:tailEnd/>
          </a:ln>
        </p:spPr>
        <p:txBody>
          <a:bodyPr>
            <a:spAutoFit/>
          </a:bodyPr>
          <a:lstStyle/>
          <a:p>
            <a:pPr>
              <a:spcBef>
                <a:spcPct val="50000"/>
              </a:spcBef>
            </a:pPr>
            <a:r>
              <a:rPr lang="en-US" altLang="zh-CN" sz="1600" b="1">
                <a:solidFill>
                  <a:schemeClr val="bg1"/>
                </a:solidFill>
              </a:rPr>
              <a:t>B</a:t>
            </a:r>
          </a:p>
        </p:txBody>
      </p:sp>
      <p:sp>
        <p:nvSpPr>
          <p:cNvPr id="16405" name="Text Box 63"/>
          <p:cNvSpPr txBox="1">
            <a:spLocks noChangeArrowheads="1"/>
          </p:cNvSpPr>
          <p:nvPr/>
        </p:nvSpPr>
        <p:spPr bwMode="auto">
          <a:xfrm>
            <a:off x="4343400" y="4341814"/>
            <a:ext cx="1423988" cy="369887"/>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192.168.2.2</a:t>
            </a:r>
          </a:p>
        </p:txBody>
      </p:sp>
      <p:sp>
        <p:nvSpPr>
          <p:cNvPr id="16406" name="Text Box 63"/>
          <p:cNvSpPr txBox="1">
            <a:spLocks noChangeArrowheads="1"/>
          </p:cNvSpPr>
          <p:nvPr/>
        </p:nvSpPr>
        <p:spPr bwMode="auto">
          <a:xfrm>
            <a:off x="5840414" y="4337050"/>
            <a:ext cx="1423987" cy="369888"/>
          </a:xfrm>
          <a:prstGeom prst="rect">
            <a:avLst/>
          </a:prstGeom>
          <a:noFill/>
          <a:ln w="9525">
            <a:noFill/>
            <a:miter lim="800000"/>
            <a:headEnd/>
            <a:tailEnd/>
          </a:ln>
        </p:spPr>
        <p:txBody>
          <a:bodyPr>
            <a:spAutoFit/>
          </a:bodyPr>
          <a:lstStyle/>
          <a:p>
            <a:pPr>
              <a:spcBef>
                <a:spcPct val="50000"/>
              </a:spcBef>
            </a:pPr>
            <a:r>
              <a:rPr lang="en-US" altLang="zh-CN" b="1">
                <a:solidFill>
                  <a:schemeClr val="tx2"/>
                </a:solidFill>
              </a:rPr>
              <a:t>192.168.2.1</a:t>
            </a:r>
          </a:p>
        </p:txBody>
      </p:sp>
      <p:pic>
        <p:nvPicPr>
          <p:cNvPr id="16407" name="Picture 24"/>
          <p:cNvPicPr>
            <a:picLocks noChangeAspect="1" noChangeArrowheads="1"/>
          </p:cNvPicPr>
          <p:nvPr/>
        </p:nvPicPr>
        <p:blipFill>
          <a:blip r:embed="rId5"/>
          <a:srcRect/>
          <a:stretch>
            <a:fillRect/>
          </a:stretch>
        </p:blipFill>
        <p:spPr bwMode="auto">
          <a:xfrm>
            <a:off x="8797925" y="3355975"/>
            <a:ext cx="623888" cy="592138"/>
          </a:xfrm>
          <a:prstGeom prst="rect">
            <a:avLst/>
          </a:prstGeom>
          <a:noFill/>
          <a:ln w="9525">
            <a:noFill/>
            <a:miter lim="800000"/>
            <a:headEnd/>
            <a:tailEnd/>
          </a:ln>
        </p:spPr>
      </p:pic>
      <p:sp>
        <p:nvSpPr>
          <p:cNvPr id="16408" name="Line 6"/>
          <p:cNvSpPr>
            <a:spLocks noChangeShapeType="1"/>
          </p:cNvSpPr>
          <p:nvPr/>
        </p:nvSpPr>
        <p:spPr bwMode="auto">
          <a:xfrm flipH="1">
            <a:off x="4818063" y="4962525"/>
            <a:ext cx="2043112" cy="0"/>
          </a:xfrm>
          <a:prstGeom prst="line">
            <a:avLst/>
          </a:prstGeom>
          <a:noFill/>
          <a:ln w="38100">
            <a:solidFill>
              <a:schemeClr val="tx2"/>
            </a:solidFill>
            <a:round/>
            <a:headEnd type="none" w="sm" len="sm"/>
            <a:tailEnd type="triangle" w="med" len="med"/>
          </a:ln>
        </p:spPr>
        <p:txBody>
          <a:bodyPr wrap="none" anchor="ctr">
            <a:spAutoFit/>
          </a:bodyPr>
          <a:lstStyle/>
          <a:p>
            <a:endParaRPr lang="zh-CN" altLang="en-US"/>
          </a:p>
        </p:txBody>
      </p:sp>
      <p:sp>
        <p:nvSpPr>
          <p:cNvPr id="32" name="Line 33"/>
          <p:cNvSpPr>
            <a:spLocks noChangeShapeType="1"/>
          </p:cNvSpPr>
          <p:nvPr/>
        </p:nvSpPr>
        <p:spPr bwMode="auto">
          <a:xfrm>
            <a:off x="7337425" y="4502151"/>
            <a:ext cx="0" cy="936625"/>
          </a:xfrm>
          <a:prstGeom prst="line">
            <a:avLst/>
          </a:prstGeom>
          <a:noFill/>
          <a:ln w="28575">
            <a:solidFill>
              <a:srgbClr val="000000"/>
            </a:solidFill>
            <a:round/>
            <a:headEnd/>
            <a:tailEnd type="triangle" w="med" len="med"/>
          </a:ln>
        </p:spPr>
        <p:txBody>
          <a:bodyPr wrap="none" lIns="69596" tIns="98595" rIns="69596" bIns="98595"/>
          <a:lstStyle/>
          <a:p>
            <a:endParaRPr lang="zh-CN" altLang="en-US"/>
          </a:p>
        </p:txBody>
      </p:sp>
      <p:sp>
        <p:nvSpPr>
          <p:cNvPr id="33" name="Text Box 103"/>
          <p:cNvSpPr txBox="1">
            <a:spLocks noChangeArrowheads="1"/>
          </p:cNvSpPr>
          <p:nvPr/>
        </p:nvSpPr>
        <p:spPr bwMode="auto">
          <a:xfrm>
            <a:off x="3759200" y="5473700"/>
            <a:ext cx="4464050" cy="730250"/>
          </a:xfrm>
          <a:prstGeom prst="rect">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目的地为庞大的地址集合，可将数据包转发给</a:t>
            </a:r>
            <a:r>
              <a:rPr lang="zh-CN" altLang="en-US" sz="2000" b="1">
                <a:solidFill>
                  <a:srgbClr val="FF0000"/>
                </a:solidFill>
                <a:latin typeface="楷体_GB2312" pitchFamily="49" charset="-122"/>
                <a:ea typeface="楷体_GB2312" pitchFamily="49" charset="-122"/>
              </a:rPr>
              <a:t>路由器</a:t>
            </a:r>
            <a:r>
              <a:rPr lang="en-US" altLang="zh-CN" sz="2000" b="1">
                <a:solidFill>
                  <a:srgbClr val="FF0000"/>
                </a:solidFill>
                <a:latin typeface="楷体_GB2312" pitchFamily="49" charset="-122"/>
                <a:ea typeface="楷体_GB2312" pitchFamily="49" charset="-122"/>
              </a:rPr>
              <a:t>A</a:t>
            </a:r>
            <a:r>
              <a:rPr lang="zh-CN" altLang="en-US" sz="2000" b="1">
                <a:solidFill>
                  <a:schemeClr val="tx2"/>
                </a:solidFill>
                <a:latin typeface="楷体_GB2312" pitchFamily="49" charset="-122"/>
                <a:ea typeface="楷体_GB2312" pitchFamily="49" charset="-122"/>
              </a:rPr>
              <a:t>的</a:t>
            </a:r>
            <a:r>
              <a:rPr lang="en-US" altLang="zh-CN" sz="2000" b="1">
                <a:solidFill>
                  <a:srgbClr val="FF0000"/>
                </a:solidFill>
                <a:latin typeface="楷体_GB2312" pitchFamily="49" charset="-122"/>
                <a:ea typeface="楷体_GB2312" pitchFamily="49" charset="-122"/>
              </a:rPr>
              <a:t>192.168.2.2</a:t>
            </a:r>
            <a:r>
              <a:rPr lang="zh-CN" altLang="en-US" sz="2000" b="1">
                <a:solidFill>
                  <a:schemeClr val="tx2"/>
                </a:solidFill>
                <a:latin typeface="楷体_GB2312" pitchFamily="49" charset="-122"/>
                <a:ea typeface="楷体_GB2312" pitchFamily="49" charset="-122"/>
              </a:rPr>
              <a:t>接口</a:t>
            </a:r>
          </a:p>
        </p:txBody>
      </p:sp>
      <p:sp>
        <p:nvSpPr>
          <p:cNvPr id="16411" name="Rectangle 6"/>
          <p:cNvSpPr>
            <a:spLocks noChangeArrowheads="1"/>
          </p:cNvSpPr>
          <p:nvPr/>
        </p:nvSpPr>
        <p:spPr bwMode="auto">
          <a:xfrm>
            <a:off x="7326313" y="2516189"/>
            <a:ext cx="2493962" cy="257175"/>
          </a:xfrm>
          <a:prstGeom prst="rect">
            <a:avLst/>
          </a:prstGeom>
          <a:noFill/>
          <a:ln w="12700">
            <a:noFill/>
            <a:miter lim="800000"/>
            <a:headEnd/>
            <a:tailEnd/>
          </a:ln>
        </p:spPr>
        <p:txBody>
          <a:bodyPr wrap="none" lIns="0" tIns="0" rIns="0" bIns="0">
            <a:spAutoFit/>
          </a:bodyPr>
          <a:lstStyle/>
          <a:p>
            <a:pPr defTabSz="1028700" eaLnBrk="0" hangingPunct="0">
              <a:lnSpc>
                <a:spcPts val="2000"/>
              </a:lnSpc>
              <a:tabLst>
                <a:tab pos="514350" algn="l"/>
                <a:tab pos="1028700" algn="l"/>
                <a:tab pos="1543050" algn="l"/>
              </a:tabLst>
            </a:pPr>
            <a:r>
              <a:rPr lang="en-US" altLang="zh-CN" b="1">
                <a:solidFill>
                  <a:schemeClr val="tx2"/>
                </a:solidFill>
                <a:cs typeface="Arial" pitchFamily="34" charset="0"/>
              </a:rPr>
              <a:t>Stub Network-</a:t>
            </a:r>
            <a:r>
              <a:rPr lang="zh-CN" altLang="en-US" b="1">
                <a:solidFill>
                  <a:schemeClr val="tx2"/>
                </a:solidFill>
                <a:cs typeface="Arial" pitchFamily="34" charset="0"/>
              </a:rPr>
              <a:t>末节网络</a:t>
            </a:r>
            <a:endParaRPr lang="en-US" altLang="zh-CN" b="1">
              <a:solidFill>
                <a:schemeClr val="tx2"/>
              </a:solidFill>
              <a:cs typeface="Arial"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up)">
                                      <p:cBhvr>
                                        <p:cTn id="1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标题 1"/>
          <p:cNvSpPr>
            <a:spLocks noGrp="1"/>
          </p:cNvSpPr>
          <p:nvPr>
            <p:ph type="title"/>
          </p:nvPr>
        </p:nvSpPr>
        <p:spPr/>
        <p:txBody>
          <a:bodyPr/>
          <a:lstStyle/>
          <a:p>
            <a:r>
              <a:rPr lang="zh-CN" altLang="en-US"/>
              <a:t>路由器转发数据包的封装过程</a:t>
            </a:r>
          </a:p>
        </p:txBody>
      </p:sp>
      <p:sp>
        <p:nvSpPr>
          <p:cNvPr id="1030" name="Line 11"/>
          <p:cNvSpPr>
            <a:spLocks noChangeShapeType="1"/>
          </p:cNvSpPr>
          <p:nvPr/>
        </p:nvSpPr>
        <p:spPr bwMode="auto">
          <a:xfrm>
            <a:off x="4727575" y="3527425"/>
            <a:ext cx="0" cy="719138"/>
          </a:xfrm>
          <a:prstGeom prst="line">
            <a:avLst/>
          </a:prstGeom>
          <a:noFill/>
          <a:ln w="38100">
            <a:solidFill>
              <a:schemeClr val="tx2"/>
            </a:solidFill>
            <a:round/>
            <a:headEnd type="none" w="sm" len="sm"/>
            <a:tailEnd type="none" w="sm" len="sm"/>
          </a:ln>
        </p:spPr>
        <p:txBody>
          <a:bodyPr anchor="ctr">
            <a:spAutoFit/>
          </a:bodyPr>
          <a:lstStyle/>
          <a:p>
            <a:endParaRPr lang="zh-CN" altLang="en-US"/>
          </a:p>
        </p:txBody>
      </p:sp>
      <p:sp>
        <p:nvSpPr>
          <p:cNvPr id="1031" name="Line 6"/>
          <p:cNvSpPr>
            <a:spLocks noChangeShapeType="1"/>
          </p:cNvSpPr>
          <p:nvPr/>
        </p:nvSpPr>
        <p:spPr bwMode="auto">
          <a:xfrm>
            <a:off x="5664200" y="1870076"/>
            <a:ext cx="0" cy="1584325"/>
          </a:xfrm>
          <a:prstGeom prst="line">
            <a:avLst/>
          </a:prstGeom>
          <a:noFill/>
          <a:ln w="38100">
            <a:solidFill>
              <a:schemeClr val="tx2"/>
            </a:solidFill>
            <a:round/>
            <a:headEnd type="none" w="sm" len="sm"/>
            <a:tailEnd type="none" w="sm" len="sm"/>
          </a:ln>
        </p:spPr>
        <p:txBody>
          <a:bodyPr anchor="ctr">
            <a:spAutoFit/>
          </a:bodyPr>
          <a:lstStyle/>
          <a:p>
            <a:endParaRPr lang="zh-CN" altLang="en-US"/>
          </a:p>
        </p:txBody>
      </p:sp>
      <p:sp>
        <p:nvSpPr>
          <p:cNvPr id="1032" name="Line 7"/>
          <p:cNvSpPr>
            <a:spLocks noChangeShapeType="1"/>
          </p:cNvSpPr>
          <p:nvPr/>
        </p:nvSpPr>
        <p:spPr bwMode="auto">
          <a:xfrm>
            <a:off x="4041776" y="2098675"/>
            <a:ext cx="1622425" cy="0"/>
          </a:xfrm>
          <a:prstGeom prst="line">
            <a:avLst/>
          </a:prstGeom>
          <a:noFill/>
          <a:ln w="38100">
            <a:solidFill>
              <a:schemeClr val="tx2"/>
            </a:solidFill>
            <a:round/>
            <a:headEnd type="none" w="sm" len="sm"/>
            <a:tailEnd type="none" w="sm" len="sm"/>
          </a:ln>
        </p:spPr>
        <p:txBody>
          <a:bodyPr anchor="ctr">
            <a:spAutoFit/>
          </a:bodyPr>
          <a:lstStyle/>
          <a:p>
            <a:endParaRPr lang="zh-CN" altLang="en-US"/>
          </a:p>
        </p:txBody>
      </p:sp>
      <p:sp>
        <p:nvSpPr>
          <p:cNvPr id="1033" name="Line 13"/>
          <p:cNvSpPr>
            <a:spLocks noChangeShapeType="1"/>
          </p:cNvSpPr>
          <p:nvPr/>
        </p:nvSpPr>
        <p:spPr bwMode="auto">
          <a:xfrm>
            <a:off x="5664200" y="4168775"/>
            <a:ext cx="0" cy="1512888"/>
          </a:xfrm>
          <a:prstGeom prst="line">
            <a:avLst/>
          </a:prstGeom>
          <a:noFill/>
          <a:ln w="38100">
            <a:solidFill>
              <a:schemeClr val="tx2"/>
            </a:solidFill>
            <a:round/>
            <a:headEnd type="none" w="sm" len="sm"/>
            <a:tailEnd type="none" w="sm" len="sm"/>
          </a:ln>
        </p:spPr>
        <p:txBody>
          <a:bodyPr anchor="ctr">
            <a:spAutoFit/>
          </a:bodyPr>
          <a:lstStyle/>
          <a:p>
            <a:endParaRPr lang="zh-CN" altLang="en-US"/>
          </a:p>
        </p:txBody>
      </p:sp>
      <p:sp>
        <p:nvSpPr>
          <p:cNvPr id="1034" name="Line 15"/>
          <p:cNvSpPr>
            <a:spLocks noChangeShapeType="1"/>
          </p:cNvSpPr>
          <p:nvPr/>
        </p:nvSpPr>
        <p:spPr bwMode="auto">
          <a:xfrm flipV="1">
            <a:off x="4008439" y="5473700"/>
            <a:ext cx="1622425" cy="1588"/>
          </a:xfrm>
          <a:prstGeom prst="line">
            <a:avLst/>
          </a:prstGeom>
          <a:noFill/>
          <a:ln w="38100">
            <a:solidFill>
              <a:schemeClr val="tx2"/>
            </a:solidFill>
            <a:round/>
            <a:headEnd type="none" w="sm" len="sm"/>
            <a:tailEnd type="none" w="sm" len="sm"/>
          </a:ln>
        </p:spPr>
        <p:txBody>
          <a:bodyPr anchor="ctr">
            <a:spAutoFit/>
          </a:bodyPr>
          <a:lstStyle/>
          <a:p>
            <a:endParaRPr lang="zh-CN" altLang="en-US"/>
          </a:p>
        </p:txBody>
      </p:sp>
      <p:sp>
        <p:nvSpPr>
          <p:cNvPr id="1035" name="Line 18"/>
          <p:cNvSpPr>
            <a:spLocks noChangeShapeType="1"/>
          </p:cNvSpPr>
          <p:nvPr/>
        </p:nvSpPr>
        <p:spPr bwMode="auto">
          <a:xfrm>
            <a:off x="4943475" y="3309938"/>
            <a:ext cx="685800" cy="0"/>
          </a:xfrm>
          <a:prstGeom prst="line">
            <a:avLst/>
          </a:prstGeom>
          <a:noFill/>
          <a:ln w="38100">
            <a:solidFill>
              <a:schemeClr val="tx2"/>
            </a:solidFill>
            <a:round/>
            <a:headEnd type="none" w="sm" len="sm"/>
            <a:tailEnd type="none" w="sm" len="sm"/>
          </a:ln>
        </p:spPr>
        <p:txBody>
          <a:bodyPr wrap="none" anchor="ctr">
            <a:spAutoFit/>
          </a:bodyPr>
          <a:lstStyle/>
          <a:p>
            <a:endParaRPr lang="zh-CN" altLang="en-US"/>
          </a:p>
        </p:txBody>
      </p:sp>
      <p:pic>
        <p:nvPicPr>
          <p:cNvPr id="1036" name="Picture 8"/>
          <p:cNvPicPr>
            <a:picLocks noChangeArrowheads="1"/>
          </p:cNvPicPr>
          <p:nvPr/>
        </p:nvPicPr>
        <p:blipFill>
          <a:blip r:embed="rId3"/>
          <a:srcRect/>
          <a:stretch>
            <a:fillRect/>
          </a:stretch>
        </p:blipFill>
        <p:spPr bwMode="auto">
          <a:xfrm>
            <a:off x="4295776" y="3022600"/>
            <a:ext cx="906463" cy="533400"/>
          </a:xfrm>
          <a:prstGeom prst="rect">
            <a:avLst/>
          </a:prstGeom>
          <a:noFill/>
          <a:ln w="9525">
            <a:noFill/>
            <a:miter lim="800000"/>
            <a:headEnd/>
            <a:tailEnd/>
          </a:ln>
        </p:spPr>
      </p:pic>
      <p:sp>
        <p:nvSpPr>
          <p:cNvPr id="1037" name="Line 19"/>
          <p:cNvSpPr>
            <a:spLocks noChangeShapeType="1"/>
          </p:cNvSpPr>
          <p:nvPr/>
        </p:nvSpPr>
        <p:spPr bwMode="auto">
          <a:xfrm>
            <a:off x="4943475" y="4462463"/>
            <a:ext cx="685800" cy="0"/>
          </a:xfrm>
          <a:prstGeom prst="line">
            <a:avLst/>
          </a:prstGeom>
          <a:noFill/>
          <a:ln w="38100">
            <a:solidFill>
              <a:schemeClr val="tx2"/>
            </a:solidFill>
            <a:round/>
            <a:headEnd type="none" w="sm" len="sm"/>
            <a:tailEnd type="none" w="sm" len="sm"/>
          </a:ln>
        </p:spPr>
        <p:txBody>
          <a:bodyPr wrap="none" anchor="ctr">
            <a:spAutoFit/>
          </a:bodyPr>
          <a:lstStyle/>
          <a:p>
            <a:endParaRPr lang="zh-CN" altLang="en-US"/>
          </a:p>
        </p:txBody>
      </p:sp>
      <p:pic>
        <p:nvPicPr>
          <p:cNvPr id="1038" name="Picture 9"/>
          <p:cNvPicPr>
            <a:picLocks noChangeArrowheads="1"/>
          </p:cNvPicPr>
          <p:nvPr/>
        </p:nvPicPr>
        <p:blipFill>
          <a:blip r:embed="rId3"/>
          <a:srcRect/>
          <a:stretch>
            <a:fillRect/>
          </a:stretch>
        </p:blipFill>
        <p:spPr bwMode="auto">
          <a:xfrm>
            <a:off x="4295776" y="4175125"/>
            <a:ext cx="906463" cy="533400"/>
          </a:xfrm>
          <a:prstGeom prst="rect">
            <a:avLst/>
          </a:prstGeom>
          <a:noFill/>
          <a:ln w="9525">
            <a:noFill/>
            <a:miter lim="800000"/>
            <a:headEnd/>
            <a:tailEnd/>
          </a:ln>
        </p:spPr>
      </p:pic>
      <p:sp>
        <p:nvSpPr>
          <p:cNvPr id="1039" name="Text Box 20"/>
          <p:cNvSpPr txBox="1">
            <a:spLocks noChangeArrowheads="1"/>
          </p:cNvSpPr>
          <p:nvPr/>
        </p:nvSpPr>
        <p:spPr bwMode="auto">
          <a:xfrm>
            <a:off x="2927351" y="1384300"/>
            <a:ext cx="1439863" cy="336550"/>
          </a:xfrm>
          <a:prstGeom prst="rect">
            <a:avLst/>
          </a:prstGeom>
          <a:noFill/>
          <a:ln w="19050" algn="ctr">
            <a:noFill/>
            <a:miter lim="800000"/>
            <a:headEnd/>
            <a:tailEnd/>
          </a:ln>
        </p:spPr>
        <p:txBody>
          <a:bodyPr>
            <a:spAutoFit/>
          </a:bodyPr>
          <a:lstStyle/>
          <a:p>
            <a:pPr algn="ctr" defTabSz="1028700" eaLnBrk="0" hangingPunct="0">
              <a:spcBef>
                <a:spcPct val="50000"/>
              </a:spcBef>
            </a:pPr>
            <a:r>
              <a:rPr lang="en-US" altLang="zh-CN" sz="1600" b="1">
                <a:solidFill>
                  <a:schemeClr val="tx2"/>
                </a:solidFill>
                <a:latin typeface="Helvetica"/>
              </a:rPr>
              <a:t>Host A</a:t>
            </a:r>
          </a:p>
        </p:txBody>
      </p:sp>
      <p:sp>
        <p:nvSpPr>
          <p:cNvPr id="1040" name="Text Box 21"/>
          <p:cNvSpPr txBox="1">
            <a:spLocks noChangeArrowheads="1"/>
          </p:cNvSpPr>
          <p:nvPr/>
        </p:nvSpPr>
        <p:spPr bwMode="auto">
          <a:xfrm>
            <a:off x="2927351" y="5851525"/>
            <a:ext cx="1439863" cy="336550"/>
          </a:xfrm>
          <a:prstGeom prst="rect">
            <a:avLst/>
          </a:prstGeom>
          <a:noFill/>
          <a:ln w="19050" algn="ctr">
            <a:noFill/>
            <a:miter lim="800000"/>
            <a:headEnd/>
            <a:tailEnd/>
          </a:ln>
        </p:spPr>
        <p:txBody>
          <a:bodyPr>
            <a:spAutoFit/>
          </a:bodyPr>
          <a:lstStyle/>
          <a:p>
            <a:pPr algn="ctr" defTabSz="1028700" eaLnBrk="0" hangingPunct="0">
              <a:spcBef>
                <a:spcPct val="50000"/>
              </a:spcBef>
            </a:pPr>
            <a:r>
              <a:rPr lang="en-US" altLang="zh-CN" sz="1600" b="1">
                <a:solidFill>
                  <a:schemeClr val="tx2"/>
                </a:solidFill>
                <a:latin typeface="Helvetica"/>
              </a:rPr>
              <a:t>Host B</a:t>
            </a:r>
          </a:p>
        </p:txBody>
      </p:sp>
      <p:sp>
        <p:nvSpPr>
          <p:cNvPr id="1041" name="Text Box 22"/>
          <p:cNvSpPr txBox="1">
            <a:spLocks noChangeArrowheads="1"/>
          </p:cNvSpPr>
          <p:nvPr/>
        </p:nvSpPr>
        <p:spPr bwMode="auto">
          <a:xfrm>
            <a:off x="4008438" y="3268663"/>
            <a:ext cx="1439862" cy="336550"/>
          </a:xfrm>
          <a:prstGeom prst="rect">
            <a:avLst/>
          </a:prstGeom>
          <a:noFill/>
          <a:ln w="19050" algn="ctr">
            <a:noFill/>
            <a:miter lim="800000"/>
            <a:headEnd/>
            <a:tailEnd/>
          </a:ln>
        </p:spPr>
        <p:txBody>
          <a:bodyPr>
            <a:spAutoFit/>
          </a:bodyPr>
          <a:lstStyle/>
          <a:p>
            <a:pPr algn="ctr" defTabSz="1028700" eaLnBrk="0" hangingPunct="0">
              <a:spcBef>
                <a:spcPct val="50000"/>
              </a:spcBef>
            </a:pPr>
            <a:r>
              <a:rPr lang="en-US" altLang="zh-CN" sz="1600" b="1">
                <a:solidFill>
                  <a:schemeClr val="bg1"/>
                </a:solidFill>
                <a:latin typeface="Helvetica"/>
              </a:rPr>
              <a:t>A</a:t>
            </a:r>
          </a:p>
        </p:txBody>
      </p:sp>
      <p:sp>
        <p:nvSpPr>
          <p:cNvPr id="1042" name="Text Box 23"/>
          <p:cNvSpPr txBox="1">
            <a:spLocks noChangeArrowheads="1"/>
          </p:cNvSpPr>
          <p:nvPr/>
        </p:nvSpPr>
        <p:spPr bwMode="auto">
          <a:xfrm>
            <a:off x="4008438" y="4414838"/>
            <a:ext cx="1439862" cy="336550"/>
          </a:xfrm>
          <a:prstGeom prst="rect">
            <a:avLst/>
          </a:prstGeom>
          <a:noFill/>
          <a:ln w="19050" algn="ctr">
            <a:noFill/>
            <a:miter lim="800000"/>
            <a:headEnd/>
            <a:tailEnd/>
          </a:ln>
        </p:spPr>
        <p:txBody>
          <a:bodyPr>
            <a:spAutoFit/>
          </a:bodyPr>
          <a:lstStyle/>
          <a:p>
            <a:pPr algn="ctr" defTabSz="1028700" eaLnBrk="0" hangingPunct="0">
              <a:spcBef>
                <a:spcPct val="50000"/>
              </a:spcBef>
            </a:pPr>
            <a:r>
              <a:rPr lang="en-US" altLang="zh-CN" sz="1600" b="1">
                <a:solidFill>
                  <a:schemeClr val="bg1"/>
                </a:solidFill>
                <a:latin typeface="Helvetica"/>
              </a:rPr>
              <a:t>B</a:t>
            </a:r>
          </a:p>
        </p:txBody>
      </p:sp>
      <p:sp>
        <p:nvSpPr>
          <p:cNvPr id="1043" name="Text Box 24"/>
          <p:cNvSpPr txBox="1">
            <a:spLocks noChangeArrowheads="1"/>
          </p:cNvSpPr>
          <p:nvPr/>
        </p:nvSpPr>
        <p:spPr bwMode="auto">
          <a:xfrm>
            <a:off x="5073651" y="3014663"/>
            <a:ext cx="557213" cy="336550"/>
          </a:xfrm>
          <a:prstGeom prst="rect">
            <a:avLst/>
          </a:prstGeom>
          <a:noFill/>
          <a:ln w="19050" algn="ctr">
            <a:noFill/>
            <a:miter lim="800000"/>
            <a:headEnd/>
            <a:tailEnd/>
          </a:ln>
        </p:spPr>
        <p:txBody>
          <a:bodyPr>
            <a:spAutoFit/>
          </a:bodyPr>
          <a:lstStyle/>
          <a:p>
            <a:pPr algn="ctr" defTabSz="1028700" eaLnBrk="0" hangingPunct="0">
              <a:spcBef>
                <a:spcPct val="50000"/>
              </a:spcBef>
            </a:pPr>
            <a:r>
              <a:rPr lang="en-US" altLang="zh-CN" sz="1600" b="1">
                <a:solidFill>
                  <a:schemeClr val="tx2"/>
                </a:solidFill>
                <a:latin typeface="Helvetica"/>
              </a:rPr>
              <a:t>E0</a:t>
            </a:r>
          </a:p>
        </p:txBody>
      </p:sp>
      <p:sp>
        <p:nvSpPr>
          <p:cNvPr id="1044" name="Text Box 25"/>
          <p:cNvSpPr txBox="1">
            <a:spLocks noChangeArrowheads="1"/>
          </p:cNvSpPr>
          <p:nvPr/>
        </p:nvSpPr>
        <p:spPr bwMode="auto">
          <a:xfrm>
            <a:off x="4699001" y="3502025"/>
            <a:ext cx="557213" cy="336550"/>
          </a:xfrm>
          <a:prstGeom prst="rect">
            <a:avLst/>
          </a:prstGeom>
          <a:noFill/>
          <a:ln w="19050" algn="ctr">
            <a:noFill/>
            <a:miter lim="800000"/>
            <a:headEnd/>
            <a:tailEnd/>
          </a:ln>
        </p:spPr>
        <p:txBody>
          <a:bodyPr>
            <a:spAutoFit/>
          </a:bodyPr>
          <a:lstStyle/>
          <a:p>
            <a:pPr algn="ctr" defTabSz="1028700" eaLnBrk="0" hangingPunct="0">
              <a:spcBef>
                <a:spcPct val="50000"/>
              </a:spcBef>
            </a:pPr>
            <a:r>
              <a:rPr lang="en-US" altLang="zh-CN" sz="1600" b="1">
                <a:solidFill>
                  <a:schemeClr val="tx2"/>
                </a:solidFill>
                <a:latin typeface="Helvetica"/>
              </a:rPr>
              <a:t>E1</a:t>
            </a:r>
          </a:p>
        </p:txBody>
      </p:sp>
      <p:sp>
        <p:nvSpPr>
          <p:cNvPr id="1045" name="Text Box 26"/>
          <p:cNvSpPr txBox="1">
            <a:spLocks noChangeArrowheads="1"/>
          </p:cNvSpPr>
          <p:nvPr/>
        </p:nvSpPr>
        <p:spPr bwMode="auto">
          <a:xfrm>
            <a:off x="5064126" y="4456113"/>
            <a:ext cx="557213" cy="336550"/>
          </a:xfrm>
          <a:prstGeom prst="rect">
            <a:avLst/>
          </a:prstGeom>
          <a:noFill/>
          <a:ln w="19050" algn="ctr">
            <a:noFill/>
            <a:miter lim="800000"/>
            <a:headEnd/>
            <a:tailEnd/>
          </a:ln>
        </p:spPr>
        <p:txBody>
          <a:bodyPr>
            <a:spAutoFit/>
          </a:bodyPr>
          <a:lstStyle/>
          <a:p>
            <a:pPr algn="ctr" defTabSz="1028700" eaLnBrk="0" hangingPunct="0">
              <a:spcBef>
                <a:spcPct val="50000"/>
              </a:spcBef>
            </a:pPr>
            <a:r>
              <a:rPr lang="en-US" altLang="zh-CN" sz="1600" b="1">
                <a:solidFill>
                  <a:schemeClr val="tx2"/>
                </a:solidFill>
                <a:latin typeface="Helvetica"/>
              </a:rPr>
              <a:t>E0</a:t>
            </a:r>
          </a:p>
        </p:txBody>
      </p:sp>
      <p:sp>
        <p:nvSpPr>
          <p:cNvPr id="1046" name="Text Box 27"/>
          <p:cNvSpPr txBox="1">
            <a:spLocks noChangeArrowheads="1"/>
          </p:cNvSpPr>
          <p:nvPr/>
        </p:nvSpPr>
        <p:spPr bwMode="auto">
          <a:xfrm>
            <a:off x="4672013" y="3903663"/>
            <a:ext cx="557212" cy="336550"/>
          </a:xfrm>
          <a:prstGeom prst="rect">
            <a:avLst/>
          </a:prstGeom>
          <a:noFill/>
          <a:ln w="19050" algn="ctr">
            <a:noFill/>
            <a:miter lim="800000"/>
            <a:headEnd/>
            <a:tailEnd/>
          </a:ln>
        </p:spPr>
        <p:txBody>
          <a:bodyPr>
            <a:spAutoFit/>
          </a:bodyPr>
          <a:lstStyle/>
          <a:p>
            <a:pPr algn="ctr" defTabSz="1028700" eaLnBrk="0" hangingPunct="0">
              <a:spcBef>
                <a:spcPct val="50000"/>
              </a:spcBef>
            </a:pPr>
            <a:r>
              <a:rPr lang="en-US" altLang="zh-CN" sz="1600" b="1">
                <a:solidFill>
                  <a:schemeClr val="tx2"/>
                </a:solidFill>
                <a:latin typeface="Helvetica"/>
              </a:rPr>
              <a:t>E1</a:t>
            </a:r>
          </a:p>
        </p:txBody>
      </p:sp>
      <p:sp>
        <p:nvSpPr>
          <p:cNvPr id="1047" name="Text Box 28"/>
          <p:cNvSpPr txBox="1">
            <a:spLocks noChangeArrowheads="1"/>
          </p:cNvSpPr>
          <p:nvPr/>
        </p:nvSpPr>
        <p:spPr bwMode="auto">
          <a:xfrm>
            <a:off x="1568450" y="1727201"/>
            <a:ext cx="1974850" cy="523875"/>
          </a:xfrm>
          <a:prstGeom prst="rect">
            <a:avLst/>
          </a:prstGeom>
          <a:noFill/>
          <a:ln w="19050" algn="ctr">
            <a:noFill/>
            <a:miter lim="800000"/>
            <a:headEnd/>
            <a:tailEnd/>
          </a:ln>
        </p:spPr>
        <p:txBody>
          <a:bodyPr>
            <a:spAutoFit/>
          </a:bodyPr>
          <a:lstStyle/>
          <a:p>
            <a:pPr algn="ctr" defTabSz="1028700" eaLnBrk="0" hangingPunct="0"/>
            <a:r>
              <a:rPr lang="en-US" altLang="zh-CN" sz="1400" b="1">
                <a:solidFill>
                  <a:schemeClr val="tx2"/>
                </a:solidFill>
                <a:cs typeface="Arial" pitchFamily="34" charset="0"/>
              </a:rPr>
              <a:t>192.168.1.2/24</a:t>
            </a:r>
          </a:p>
          <a:p>
            <a:pPr algn="ctr" defTabSz="1028700" eaLnBrk="0" hangingPunct="0"/>
            <a:r>
              <a:rPr lang="en-US" altLang="zh-CN" sz="1400" b="1">
                <a:solidFill>
                  <a:schemeClr val="tx2"/>
                </a:solidFill>
                <a:cs typeface="Arial" pitchFamily="34" charset="0"/>
              </a:rPr>
              <a:t>00-11-12-21-11-11</a:t>
            </a:r>
          </a:p>
        </p:txBody>
      </p:sp>
      <p:sp>
        <p:nvSpPr>
          <p:cNvPr id="1048" name="Text Box 29"/>
          <p:cNvSpPr txBox="1">
            <a:spLocks noChangeArrowheads="1"/>
          </p:cNvSpPr>
          <p:nvPr/>
        </p:nvSpPr>
        <p:spPr bwMode="auto">
          <a:xfrm>
            <a:off x="3463926" y="2519364"/>
            <a:ext cx="2449513" cy="523875"/>
          </a:xfrm>
          <a:prstGeom prst="rect">
            <a:avLst/>
          </a:prstGeom>
          <a:noFill/>
          <a:ln w="19050" algn="ctr">
            <a:noFill/>
            <a:miter lim="800000"/>
            <a:headEnd/>
            <a:tailEnd/>
          </a:ln>
        </p:spPr>
        <p:txBody>
          <a:bodyPr>
            <a:spAutoFit/>
          </a:bodyPr>
          <a:lstStyle/>
          <a:p>
            <a:pPr algn="ctr" defTabSz="1028700" eaLnBrk="0" hangingPunct="0"/>
            <a:r>
              <a:rPr lang="en-US" altLang="zh-CN" sz="1400" b="1">
                <a:solidFill>
                  <a:schemeClr val="tx2"/>
                </a:solidFill>
                <a:cs typeface="Arial" pitchFamily="34" charset="0"/>
              </a:rPr>
              <a:t>192.168.1.1/24</a:t>
            </a:r>
          </a:p>
          <a:p>
            <a:pPr algn="ctr" defTabSz="1028700" eaLnBrk="0" hangingPunct="0"/>
            <a:r>
              <a:rPr lang="en-US" altLang="zh-CN" sz="1400" b="1">
                <a:solidFill>
                  <a:schemeClr val="tx2"/>
                </a:solidFill>
                <a:cs typeface="Arial" pitchFamily="34" charset="0"/>
              </a:rPr>
              <a:t>00-11-12-21-22-22</a:t>
            </a:r>
          </a:p>
        </p:txBody>
      </p:sp>
      <p:sp>
        <p:nvSpPr>
          <p:cNvPr id="1049" name="Text Box 30"/>
          <p:cNvSpPr txBox="1">
            <a:spLocks noChangeArrowheads="1"/>
          </p:cNvSpPr>
          <p:nvPr/>
        </p:nvSpPr>
        <p:spPr bwMode="auto">
          <a:xfrm>
            <a:off x="2667001" y="3209926"/>
            <a:ext cx="1865313" cy="523875"/>
          </a:xfrm>
          <a:prstGeom prst="rect">
            <a:avLst/>
          </a:prstGeom>
          <a:noFill/>
          <a:ln w="19050" algn="ctr">
            <a:noFill/>
            <a:miter lim="800000"/>
            <a:headEnd/>
            <a:tailEnd/>
          </a:ln>
        </p:spPr>
        <p:txBody>
          <a:bodyPr>
            <a:spAutoFit/>
          </a:bodyPr>
          <a:lstStyle/>
          <a:p>
            <a:pPr algn="ctr" defTabSz="1028700" eaLnBrk="0" hangingPunct="0"/>
            <a:r>
              <a:rPr lang="en-US" altLang="zh-CN" sz="1400" b="1">
                <a:solidFill>
                  <a:schemeClr val="tx2"/>
                </a:solidFill>
                <a:cs typeface="Arial" pitchFamily="34" charset="0"/>
              </a:rPr>
              <a:t>10.1.1.1/8</a:t>
            </a:r>
          </a:p>
          <a:p>
            <a:pPr algn="ctr" defTabSz="1028700" eaLnBrk="0" hangingPunct="0"/>
            <a:r>
              <a:rPr lang="en-US" altLang="zh-CN" sz="1400" b="1">
                <a:solidFill>
                  <a:schemeClr val="tx2"/>
                </a:solidFill>
                <a:cs typeface="Arial" pitchFamily="34" charset="0"/>
              </a:rPr>
              <a:t>00-11-12-21-33-33</a:t>
            </a:r>
            <a:endParaRPr lang="zh-CN" altLang="en-US" sz="1400" b="1">
              <a:solidFill>
                <a:schemeClr val="tx2"/>
              </a:solidFill>
              <a:cs typeface="Arial" pitchFamily="34" charset="0"/>
            </a:endParaRPr>
          </a:p>
        </p:txBody>
      </p:sp>
      <p:sp>
        <p:nvSpPr>
          <p:cNvPr id="1050" name="Text Box 31"/>
          <p:cNvSpPr txBox="1">
            <a:spLocks noChangeArrowheads="1"/>
          </p:cNvSpPr>
          <p:nvPr/>
        </p:nvSpPr>
        <p:spPr bwMode="auto">
          <a:xfrm>
            <a:off x="2700339" y="3830639"/>
            <a:ext cx="1792287" cy="523875"/>
          </a:xfrm>
          <a:prstGeom prst="rect">
            <a:avLst/>
          </a:prstGeom>
          <a:noFill/>
          <a:ln w="19050" algn="ctr">
            <a:noFill/>
            <a:miter lim="800000"/>
            <a:headEnd/>
            <a:tailEnd/>
          </a:ln>
        </p:spPr>
        <p:txBody>
          <a:bodyPr>
            <a:spAutoFit/>
          </a:bodyPr>
          <a:lstStyle/>
          <a:p>
            <a:pPr algn="ctr" defTabSz="1028700" eaLnBrk="0" hangingPunct="0"/>
            <a:r>
              <a:rPr lang="en-US" altLang="zh-CN" sz="1400" b="1">
                <a:solidFill>
                  <a:schemeClr val="tx2"/>
                </a:solidFill>
                <a:cs typeface="Arial" pitchFamily="34" charset="0"/>
              </a:rPr>
              <a:t>10.1.1.2/8</a:t>
            </a:r>
          </a:p>
          <a:p>
            <a:pPr algn="ctr" defTabSz="1028700" eaLnBrk="0" hangingPunct="0"/>
            <a:r>
              <a:rPr lang="en-US" altLang="zh-CN" sz="1400" b="1">
                <a:solidFill>
                  <a:schemeClr val="tx2"/>
                </a:solidFill>
                <a:cs typeface="Arial" pitchFamily="34" charset="0"/>
              </a:rPr>
              <a:t>00-11-12-21-44-44</a:t>
            </a:r>
          </a:p>
        </p:txBody>
      </p:sp>
      <p:sp>
        <p:nvSpPr>
          <p:cNvPr id="1051" name="Text Box 32"/>
          <p:cNvSpPr txBox="1">
            <a:spLocks noChangeArrowheads="1"/>
          </p:cNvSpPr>
          <p:nvPr/>
        </p:nvSpPr>
        <p:spPr bwMode="auto">
          <a:xfrm>
            <a:off x="3394076" y="4706939"/>
            <a:ext cx="2449513" cy="523875"/>
          </a:xfrm>
          <a:prstGeom prst="rect">
            <a:avLst/>
          </a:prstGeom>
          <a:noFill/>
          <a:ln w="19050" algn="ctr">
            <a:noFill/>
            <a:miter lim="800000"/>
            <a:headEnd/>
            <a:tailEnd/>
          </a:ln>
        </p:spPr>
        <p:txBody>
          <a:bodyPr>
            <a:spAutoFit/>
          </a:bodyPr>
          <a:lstStyle/>
          <a:p>
            <a:pPr algn="ctr" defTabSz="1028700" eaLnBrk="0" hangingPunct="0"/>
            <a:r>
              <a:rPr lang="en-US" altLang="zh-CN" sz="1400" b="1">
                <a:solidFill>
                  <a:schemeClr val="tx2"/>
                </a:solidFill>
                <a:cs typeface="Arial" pitchFamily="34" charset="0"/>
              </a:rPr>
              <a:t>192.168.2.1/24</a:t>
            </a:r>
          </a:p>
          <a:p>
            <a:pPr algn="ctr" defTabSz="1028700" eaLnBrk="0" hangingPunct="0"/>
            <a:r>
              <a:rPr lang="en-US" altLang="zh-CN" sz="1400" b="1">
                <a:solidFill>
                  <a:schemeClr val="tx2"/>
                </a:solidFill>
                <a:cs typeface="Arial" pitchFamily="34" charset="0"/>
              </a:rPr>
              <a:t>00-11-12-21-55-55</a:t>
            </a:r>
          </a:p>
        </p:txBody>
      </p:sp>
      <p:sp>
        <p:nvSpPr>
          <p:cNvPr id="1052" name="Text Box 33"/>
          <p:cNvSpPr txBox="1">
            <a:spLocks noChangeArrowheads="1"/>
          </p:cNvSpPr>
          <p:nvPr/>
        </p:nvSpPr>
        <p:spPr bwMode="auto">
          <a:xfrm>
            <a:off x="1711326" y="5327651"/>
            <a:ext cx="1719263" cy="523875"/>
          </a:xfrm>
          <a:prstGeom prst="rect">
            <a:avLst/>
          </a:prstGeom>
          <a:noFill/>
          <a:ln w="19050" algn="ctr">
            <a:noFill/>
            <a:miter lim="800000"/>
            <a:headEnd/>
            <a:tailEnd/>
          </a:ln>
        </p:spPr>
        <p:txBody>
          <a:bodyPr>
            <a:spAutoFit/>
          </a:bodyPr>
          <a:lstStyle/>
          <a:p>
            <a:pPr algn="ctr" defTabSz="1028700" eaLnBrk="0" hangingPunct="0"/>
            <a:r>
              <a:rPr lang="en-US" altLang="zh-CN" sz="1400" b="1">
                <a:solidFill>
                  <a:schemeClr val="tx2"/>
                </a:solidFill>
                <a:cs typeface="Arial" pitchFamily="34" charset="0"/>
              </a:rPr>
              <a:t>192.168.2.2/24</a:t>
            </a:r>
          </a:p>
          <a:p>
            <a:pPr algn="ctr" defTabSz="1028700" eaLnBrk="0" hangingPunct="0"/>
            <a:r>
              <a:rPr lang="en-US" altLang="zh-CN" sz="1400" b="1">
                <a:solidFill>
                  <a:schemeClr val="tx2"/>
                </a:solidFill>
                <a:cs typeface="Arial" pitchFamily="34" charset="0"/>
              </a:rPr>
              <a:t>00-11-12-21-66-66</a:t>
            </a:r>
          </a:p>
        </p:txBody>
      </p:sp>
      <p:grpSp>
        <p:nvGrpSpPr>
          <p:cNvPr id="2" name="Group 65"/>
          <p:cNvGrpSpPr>
            <a:grpSpLocks/>
          </p:cNvGrpSpPr>
          <p:nvPr/>
        </p:nvGrpSpPr>
        <p:grpSpPr bwMode="auto">
          <a:xfrm>
            <a:off x="5951538" y="4305301"/>
            <a:ext cx="4487862" cy="2227263"/>
            <a:chOff x="2820" y="795"/>
            <a:chExt cx="2827" cy="1403"/>
          </a:xfrm>
        </p:grpSpPr>
        <p:sp>
          <p:nvSpPr>
            <p:cNvPr id="1092" name="Rectangle 66"/>
            <p:cNvSpPr>
              <a:spLocks noChangeArrowheads="1"/>
            </p:cNvSpPr>
            <p:nvPr/>
          </p:nvSpPr>
          <p:spPr bwMode="auto">
            <a:xfrm>
              <a:off x="3515" y="1842"/>
              <a:ext cx="940"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00-11-12-21-55-55</a:t>
              </a:r>
              <a:endParaRPr lang="zh-CN" altLang="en-US" sz="1200" b="1">
                <a:solidFill>
                  <a:schemeClr val="tx2"/>
                </a:solidFill>
                <a:latin typeface="Helvetica"/>
              </a:endParaRPr>
            </a:p>
          </p:txBody>
        </p:sp>
        <p:sp>
          <p:nvSpPr>
            <p:cNvPr id="1093" name="Rectangle 67"/>
            <p:cNvSpPr>
              <a:spLocks noChangeArrowheads="1"/>
            </p:cNvSpPr>
            <p:nvPr/>
          </p:nvSpPr>
          <p:spPr bwMode="auto">
            <a:xfrm>
              <a:off x="3061" y="2024"/>
              <a:ext cx="940"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00-11-12-21-66-66</a:t>
              </a:r>
            </a:p>
          </p:txBody>
        </p:sp>
        <p:sp>
          <p:nvSpPr>
            <p:cNvPr id="1094" name="Line 68"/>
            <p:cNvSpPr>
              <a:spLocks noChangeShapeType="1"/>
            </p:cNvSpPr>
            <p:nvPr/>
          </p:nvSpPr>
          <p:spPr bwMode="auto">
            <a:xfrm>
              <a:off x="3152" y="1525"/>
              <a:ext cx="0" cy="499"/>
            </a:xfrm>
            <a:prstGeom prst="line">
              <a:avLst/>
            </a:prstGeom>
            <a:noFill/>
            <a:ln w="19050">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grpSp>
          <p:nvGrpSpPr>
            <p:cNvPr id="3" name="Group 69"/>
            <p:cNvGrpSpPr>
              <a:grpSpLocks/>
            </p:cNvGrpSpPr>
            <p:nvPr/>
          </p:nvGrpSpPr>
          <p:grpSpPr bwMode="auto">
            <a:xfrm>
              <a:off x="3379" y="1525"/>
              <a:ext cx="136" cy="408"/>
              <a:chOff x="3379" y="1525"/>
              <a:chExt cx="136" cy="136"/>
            </a:xfrm>
          </p:grpSpPr>
          <p:sp>
            <p:nvSpPr>
              <p:cNvPr id="1102" name="Line 70"/>
              <p:cNvSpPr>
                <a:spLocks noChangeShapeType="1"/>
              </p:cNvSpPr>
              <p:nvPr/>
            </p:nvSpPr>
            <p:spPr bwMode="auto">
              <a:xfrm>
                <a:off x="3379" y="1525"/>
                <a:ext cx="0" cy="136"/>
              </a:xfrm>
              <a:prstGeom prst="line">
                <a:avLst/>
              </a:prstGeom>
              <a:noFill/>
              <a:ln w="28575">
                <a:solidFill>
                  <a:srgbClr val="FF3300"/>
                </a:solidFill>
                <a:round/>
                <a:headEnd/>
                <a:tailEnd/>
              </a:ln>
              <a:effectLst>
                <a:prstShdw prst="shdw17" dist="17961" dir="2700000">
                  <a:srgbClr val="991F00"/>
                </a:prstShdw>
              </a:effectLst>
            </p:spPr>
            <p:txBody>
              <a:bodyPr>
                <a:spAutoFit/>
              </a:bodyPr>
              <a:lstStyle/>
              <a:p>
                <a:endParaRPr lang="zh-CN" altLang="en-US"/>
              </a:p>
            </p:txBody>
          </p:sp>
          <p:sp>
            <p:nvSpPr>
              <p:cNvPr id="1103" name="Line 71"/>
              <p:cNvSpPr>
                <a:spLocks noChangeShapeType="1"/>
              </p:cNvSpPr>
              <p:nvPr/>
            </p:nvSpPr>
            <p:spPr bwMode="auto">
              <a:xfrm>
                <a:off x="3379" y="1661"/>
                <a:ext cx="136" cy="0"/>
              </a:xfrm>
              <a:prstGeom prst="line">
                <a:avLst/>
              </a:prstGeom>
              <a:noFill/>
              <a:ln w="28575">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grpSp>
        <p:graphicFrame>
          <p:nvGraphicFramePr>
            <p:cNvPr id="1028" name="Object 111"/>
            <p:cNvGraphicFramePr>
              <a:graphicFrameLocks noChangeAspect="1"/>
            </p:cNvGraphicFramePr>
            <p:nvPr/>
          </p:nvGraphicFramePr>
          <p:xfrm>
            <a:off x="2820" y="795"/>
            <a:ext cx="2827" cy="730"/>
          </p:xfrm>
          <a:graphic>
            <a:graphicData uri="http://schemas.openxmlformats.org/presentationml/2006/ole">
              <mc:AlternateContent xmlns:mc="http://schemas.openxmlformats.org/markup-compatibility/2006">
                <mc:Choice xmlns:v="urn:schemas-microsoft-com:vml" Requires="v">
                  <p:oleObj name="Visio" r:id="rId4" imgW="4820412" imgH="1216914" progId="Visio.Drawing.11">
                    <p:embed/>
                  </p:oleObj>
                </mc:Choice>
                <mc:Fallback>
                  <p:oleObj name="Visio" r:id="rId4" imgW="4820412" imgH="1216914" progId="Visio.Drawing.11">
                    <p:embed/>
                    <p:pic>
                      <p:nvPicPr>
                        <p:cNvPr id="1028" name="Object 1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0" y="795"/>
                          <a:ext cx="2827" cy="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96" name="Line 73"/>
            <p:cNvSpPr>
              <a:spLocks noChangeShapeType="1"/>
            </p:cNvSpPr>
            <p:nvPr/>
          </p:nvSpPr>
          <p:spPr bwMode="auto">
            <a:xfrm>
              <a:off x="3969" y="1525"/>
              <a:ext cx="0" cy="227"/>
            </a:xfrm>
            <a:prstGeom prst="line">
              <a:avLst/>
            </a:prstGeom>
            <a:noFill/>
            <a:ln w="19050">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grpSp>
          <p:nvGrpSpPr>
            <p:cNvPr id="4" name="Group 74"/>
            <p:cNvGrpSpPr>
              <a:grpSpLocks/>
            </p:cNvGrpSpPr>
            <p:nvPr/>
          </p:nvGrpSpPr>
          <p:grpSpPr bwMode="auto">
            <a:xfrm>
              <a:off x="4105" y="1525"/>
              <a:ext cx="136" cy="91"/>
              <a:chOff x="3379" y="1525"/>
              <a:chExt cx="136" cy="136"/>
            </a:xfrm>
          </p:grpSpPr>
          <p:sp>
            <p:nvSpPr>
              <p:cNvPr id="1100" name="Line 75"/>
              <p:cNvSpPr>
                <a:spLocks noChangeShapeType="1"/>
              </p:cNvSpPr>
              <p:nvPr/>
            </p:nvSpPr>
            <p:spPr bwMode="auto">
              <a:xfrm>
                <a:off x="3379" y="1525"/>
                <a:ext cx="0" cy="136"/>
              </a:xfrm>
              <a:prstGeom prst="line">
                <a:avLst/>
              </a:prstGeom>
              <a:noFill/>
              <a:ln w="28575">
                <a:solidFill>
                  <a:srgbClr val="FF3300"/>
                </a:solidFill>
                <a:round/>
                <a:headEnd/>
                <a:tailEnd/>
              </a:ln>
              <a:effectLst>
                <a:prstShdw prst="shdw17" dist="17961" dir="2700000">
                  <a:srgbClr val="991F00"/>
                </a:prstShdw>
              </a:effectLst>
            </p:spPr>
            <p:txBody>
              <a:bodyPr>
                <a:spAutoFit/>
              </a:bodyPr>
              <a:lstStyle/>
              <a:p>
                <a:endParaRPr lang="zh-CN" altLang="en-US"/>
              </a:p>
            </p:txBody>
          </p:sp>
          <p:sp>
            <p:nvSpPr>
              <p:cNvPr id="1101" name="Line 76"/>
              <p:cNvSpPr>
                <a:spLocks noChangeShapeType="1"/>
              </p:cNvSpPr>
              <p:nvPr/>
            </p:nvSpPr>
            <p:spPr bwMode="auto">
              <a:xfrm>
                <a:off x="3379" y="1661"/>
                <a:ext cx="136" cy="0"/>
              </a:xfrm>
              <a:prstGeom prst="line">
                <a:avLst/>
              </a:prstGeom>
              <a:noFill/>
              <a:ln w="28575">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grpSp>
        <p:sp>
          <p:nvSpPr>
            <p:cNvPr id="1098" name="Rectangle 77"/>
            <p:cNvSpPr>
              <a:spLocks noChangeArrowheads="1"/>
            </p:cNvSpPr>
            <p:nvPr/>
          </p:nvSpPr>
          <p:spPr bwMode="auto">
            <a:xfrm>
              <a:off x="3969" y="1706"/>
              <a:ext cx="940"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SA:192.168.1.2/24</a:t>
              </a:r>
            </a:p>
          </p:txBody>
        </p:sp>
        <p:sp>
          <p:nvSpPr>
            <p:cNvPr id="1099" name="Rectangle 78"/>
            <p:cNvSpPr>
              <a:spLocks noChangeArrowheads="1"/>
            </p:cNvSpPr>
            <p:nvPr/>
          </p:nvSpPr>
          <p:spPr bwMode="auto">
            <a:xfrm>
              <a:off x="4195" y="1533"/>
              <a:ext cx="932"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DA:192.168.2.2/24</a:t>
              </a:r>
            </a:p>
          </p:txBody>
        </p:sp>
      </p:grpSp>
      <p:grpSp>
        <p:nvGrpSpPr>
          <p:cNvPr id="5" name="Group 51"/>
          <p:cNvGrpSpPr>
            <a:grpSpLocks/>
          </p:cNvGrpSpPr>
          <p:nvPr/>
        </p:nvGrpSpPr>
        <p:grpSpPr bwMode="auto">
          <a:xfrm>
            <a:off x="5951538" y="2846388"/>
            <a:ext cx="4487862" cy="2227262"/>
            <a:chOff x="2820" y="795"/>
            <a:chExt cx="2827" cy="1403"/>
          </a:xfrm>
        </p:grpSpPr>
        <p:sp>
          <p:nvSpPr>
            <p:cNvPr id="1080" name="Rectangle 52"/>
            <p:cNvSpPr>
              <a:spLocks noChangeArrowheads="1"/>
            </p:cNvSpPr>
            <p:nvPr/>
          </p:nvSpPr>
          <p:spPr bwMode="auto">
            <a:xfrm>
              <a:off x="3515" y="1842"/>
              <a:ext cx="940"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00-11-12-21-33-33</a:t>
              </a:r>
              <a:endParaRPr lang="zh-CN" altLang="en-US" sz="1200" b="1">
                <a:solidFill>
                  <a:schemeClr val="tx2"/>
                </a:solidFill>
                <a:latin typeface="Helvetica"/>
              </a:endParaRPr>
            </a:p>
          </p:txBody>
        </p:sp>
        <p:sp>
          <p:nvSpPr>
            <p:cNvPr id="1081" name="Rectangle 53"/>
            <p:cNvSpPr>
              <a:spLocks noChangeArrowheads="1"/>
            </p:cNvSpPr>
            <p:nvPr/>
          </p:nvSpPr>
          <p:spPr bwMode="auto">
            <a:xfrm>
              <a:off x="3061" y="2024"/>
              <a:ext cx="940"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00-11-12-21-44-44</a:t>
              </a:r>
            </a:p>
          </p:txBody>
        </p:sp>
        <p:sp>
          <p:nvSpPr>
            <p:cNvPr id="1082" name="Line 54"/>
            <p:cNvSpPr>
              <a:spLocks noChangeShapeType="1"/>
            </p:cNvSpPr>
            <p:nvPr/>
          </p:nvSpPr>
          <p:spPr bwMode="auto">
            <a:xfrm>
              <a:off x="3152" y="1525"/>
              <a:ext cx="0" cy="499"/>
            </a:xfrm>
            <a:prstGeom prst="line">
              <a:avLst/>
            </a:prstGeom>
            <a:noFill/>
            <a:ln w="19050">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grpSp>
          <p:nvGrpSpPr>
            <p:cNvPr id="6" name="Group 55"/>
            <p:cNvGrpSpPr>
              <a:grpSpLocks/>
            </p:cNvGrpSpPr>
            <p:nvPr/>
          </p:nvGrpSpPr>
          <p:grpSpPr bwMode="auto">
            <a:xfrm>
              <a:off x="3379" y="1525"/>
              <a:ext cx="136" cy="408"/>
              <a:chOff x="3379" y="1525"/>
              <a:chExt cx="136" cy="136"/>
            </a:xfrm>
          </p:grpSpPr>
          <p:sp>
            <p:nvSpPr>
              <p:cNvPr id="1090" name="Line 56"/>
              <p:cNvSpPr>
                <a:spLocks noChangeShapeType="1"/>
              </p:cNvSpPr>
              <p:nvPr/>
            </p:nvSpPr>
            <p:spPr bwMode="auto">
              <a:xfrm>
                <a:off x="3379" y="1525"/>
                <a:ext cx="0" cy="136"/>
              </a:xfrm>
              <a:prstGeom prst="line">
                <a:avLst/>
              </a:prstGeom>
              <a:noFill/>
              <a:ln w="28575">
                <a:solidFill>
                  <a:srgbClr val="FF3300"/>
                </a:solidFill>
                <a:round/>
                <a:headEnd/>
                <a:tailEnd/>
              </a:ln>
              <a:effectLst>
                <a:prstShdw prst="shdw17" dist="17961" dir="2700000">
                  <a:srgbClr val="991F00"/>
                </a:prstShdw>
              </a:effectLst>
            </p:spPr>
            <p:txBody>
              <a:bodyPr>
                <a:spAutoFit/>
              </a:bodyPr>
              <a:lstStyle/>
              <a:p>
                <a:endParaRPr lang="zh-CN" altLang="en-US"/>
              </a:p>
            </p:txBody>
          </p:sp>
          <p:sp>
            <p:nvSpPr>
              <p:cNvPr id="1091" name="Line 57"/>
              <p:cNvSpPr>
                <a:spLocks noChangeShapeType="1"/>
              </p:cNvSpPr>
              <p:nvPr/>
            </p:nvSpPr>
            <p:spPr bwMode="auto">
              <a:xfrm>
                <a:off x="3379" y="1661"/>
                <a:ext cx="136" cy="0"/>
              </a:xfrm>
              <a:prstGeom prst="line">
                <a:avLst/>
              </a:prstGeom>
              <a:noFill/>
              <a:ln w="28575">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grpSp>
        <p:graphicFrame>
          <p:nvGraphicFramePr>
            <p:cNvPr id="1027" name="Object 112"/>
            <p:cNvGraphicFramePr>
              <a:graphicFrameLocks noChangeAspect="1"/>
            </p:cNvGraphicFramePr>
            <p:nvPr/>
          </p:nvGraphicFramePr>
          <p:xfrm>
            <a:off x="2820" y="795"/>
            <a:ext cx="2827" cy="730"/>
          </p:xfrm>
          <a:graphic>
            <a:graphicData uri="http://schemas.openxmlformats.org/presentationml/2006/ole">
              <mc:AlternateContent xmlns:mc="http://schemas.openxmlformats.org/markup-compatibility/2006">
                <mc:Choice xmlns:v="urn:schemas-microsoft-com:vml" Requires="v">
                  <p:oleObj name="Visio" r:id="rId6" imgW="4820412" imgH="1216914" progId="Visio.Drawing.11">
                    <p:embed/>
                  </p:oleObj>
                </mc:Choice>
                <mc:Fallback>
                  <p:oleObj name="Visio" r:id="rId6" imgW="4820412" imgH="1216914" progId="Visio.Drawing.11">
                    <p:embed/>
                    <p:pic>
                      <p:nvPicPr>
                        <p:cNvPr id="1027" name="Object 1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20" y="795"/>
                          <a:ext cx="2827" cy="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4" name="Line 59"/>
            <p:cNvSpPr>
              <a:spLocks noChangeShapeType="1"/>
            </p:cNvSpPr>
            <p:nvPr/>
          </p:nvSpPr>
          <p:spPr bwMode="auto">
            <a:xfrm>
              <a:off x="3969" y="1525"/>
              <a:ext cx="0" cy="227"/>
            </a:xfrm>
            <a:prstGeom prst="line">
              <a:avLst/>
            </a:prstGeom>
            <a:noFill/>
            <a:ln w="19050">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grpSp>
          <p:nvGrpSpPr>
            <p:cNvPr id="7" name="Group 60"/>
            <p:cNvGrpSpPr>
              <a:grpSpLocks/>
            </p:cNvGrpSpPr>
            <p:nvPr/>
          </p:nvGrpSpPr>
          <p:grpSpPr bwMode="auto">
            <a:xfrm>
              <a:off x="4105" y="1525"/>
              <a:ext cx="136" cy="91"/>
              <a:chOff x="3379" y="1525"/>
              <a:chExt cx="136" cy="136"/>
            </a:xfrm>
          </p:grpSpPr>
          <p:sp>
            <p:nvSpPr>
              <p:cNvPr id="1088" name="Line 61"/>
              <p:cNvSpPr>
                <a:spLocks noChangeShapeType="1"/>
              </p:cNvSpPr>
              <p:nvPr/>
            </p:nvSpPr>
            <p:spPr bwMode="auto">
              <a:xfrm>
                <a:off x="3379" y="1525"/>
                <a:ext cx="0" cy="136"/>
              </a:xfrm>
              <a:prstGeom prst="line">
                <a:avLst/>
              </a:prstGeom>
              <a:noFill/>
              <a:ln w="28575">
                <a:solidFill>
                  <a:srgbClr val="FF3300"/>
                </a:solidFill>
                <a:round/>
                <a:headEnd/>
                <a:tailEnd/>
              </a:ln>
              <a:effectLst>
                <a:prstShdw prst="shdw17" dist="17961" dir="2700000">
                  <a:srgbClr val="991F00"/>
                </a:prstShdw>
              </a:effectLst>
            </p:spPr>
            <p:txBody>
              <a:bodyPr>
                <a:spAutoFit/>
              </a:bodyPr>
              <a:lstStyle/>
              <a:p>
                <a:endParaRPr lang="zh-CN" altLang="en-US"/>
              </a:p>
            </p:txBody>
          </p:sp>
          <p:sp>
            <p:nvSpPr>
              <p:cNvPr id="1089" name="Line 62"/>
              <p:cNvSpPr>
                <a:spLocks noChangeShapeType="1"/>
              </p:cNvSpPr>
              <p:nvPr/>
            </p:nvSpPr>
            <p:spPr bwMode="auto">
              <a:xfrm>
                <a:off x="3379" y="1661"/>
                <a:ext cx="136" cy="0"/>
              </a:xfrm>
              <a:prstGeom prst="line">
                <a:avLst/>
              </a:prstGeom>
              <a:noFill/>
              <a:ln w="28575">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grpSp>
        <p:sp>
          <p:nvSpPr>
            <p:cNvPr id="1086" name="Rectangle 63"/>
            <p:cNvSpPr>
              <a:spLocks noChangeArrowheads="1"/>
            </p:cNvSpPr>
            <p:nvPr/>
          </p:nvSpPr>
          <p:spPr bwMode="auto">
            <a:xfrm>
              <a:off x="3969" y="1706"/>
              <a:ext cx="940"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SA:192.168.1.2/24</a:t>
              </a:r>
            </a:p>
          </p:txBody>
        </p:sp>
        <p:sp>
          <p:nvSpPr>
            <p:cNvPr id="1087" name="Rectangle 64"/>
            <p:cNvSpPr>
              <a:spLocks noChangeArrowheads="1"/>
            </p:cNvSpPr>
            <p:nvPr/>
          </p:nvSpPr>
          <p:spPr bwMode="auto">
            <a:xfrm>
              <a:off x="4195" y="1533"/>
              <a:ext cx="932"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DA:192.168.2.2/24</a:t>
              </a:r>
            </a:p>
          </p:txBody>
        </p:sp>
      </p:grpSp>
      <p:grpSp>
        <p:nvGrpSpPr>
          <p:cNvPr id="8" name="组合 259"/>
          <p:cNvGrpSpPr>
            <a:grpSpLocks/>
          </p:cNvGrpSpPr>
          <p:nvPr/>
        </p:nvGrpSpPr>
        <p:grpSpPr bwMode="auto">
          <a:xfrm>
            <a:off x="5949951" y="1323976"/>
            <a:ext cx="4487863" cy="2187575"/>
            <a:chOff x="4476752" y="812793"/>
            <a:chExt cx="4487863" cy="2187563"/>
          </a:xfrm>
        </p:grpSpPr>
        <p:grpSp>
          <p:nvGrpSpPr>
            <p:cNvPr id="9" name="Group 79"/>
            <p:cNvGrpSpPr>
              <a:grpSpLocks/>
            </p:cNvGrpSpPr>
            <p:nvPr/>
          </p:nvGrpSpPr>
          <p:grpSpPr bwMode="auto">
            <a:xfrm>
              <a:off x="4859338" y="1931968"/>
              <a:ext cx="1492250" cy="1068388"/>
              <a:chOff x="3061" y="1525"/>
              <a:chExt cx="940" cy="673"/>
            </a:xfrm>
          </p:grpSpPr>
          <p:sp>
            <p:nvSpPr>
              <p:cNvPr id="1078" name="Rectangle 37"/>
              <p:cNvSpPr>
                <a:spLocks noChangeArrowheads="1"/>
              </p:cNvSpPr>
              <p:nvPr/>
            </p:nvSpPr>
            <p:spPr bwMode="auto">
              <a:xfrm>
                <a:off x="3061" y="2024"/>
                <a:ext cx="940"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00-11-12-21-22-22</a:t>
                </a:r>
              </a:p>
            </p:txBody>
          </p:sp>
          <p:sp>
            <p:nvSpPr>
              <p:cNvPr id="1079" name="Line 38"/>
              <p:cNvSpPr>
                <a:spLocks noChangeShapeType="1"/>
              </p:cNvSpPr>
              <p:nvPr/>
            </p:nvSpPr>
            <p:spPr bwMode="auto">
              <a:xfrm>
                <a:off x="3152" y="1525"/>
                <a:ext cx="0" cy="499"/>
              </a:xfrm>
              <a:prstGeom prst="line">
                <a:avLst/>
              </a:prstGeom>
              <a:noFill/>
              <a:ln w="19050">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grpSp>
        <p:grpSp>
          <p:nvGrpSpPr>
            <p:cNvPr id="10" name="Group 80"/>
            <p:cNvGrpSpPr>
              <a:grpSpLocks/>
            </p:cNvGrpSpPr>
            <p:nvPr/>
          </p:nvGrpSpPr>
          <p:grpSpPr bwMode="auto">
            <a:xfrm>
              <a:off x="5364163" y="1958941"/>
              <a:ext cx="1708150" cy="779463"/>
              <a:chOff x="3379" y="1525"/>
              <a:chExt cx="1076" cy="491"/>
            </a:xfrm>
          </p:grpSpPr>
          <p:sp>
            <p:nvSpPr>
              <p:cNvPr id="1074" name="Rectangle 36"/>
              <p:cNvSpPr>
                <a:spLocks noChangeArrowheads="1"/>
              </p:cNvSpPr>
              <p:nvPr/>
            </p:nvSpPr>
            <p:spPr bwMode="auto">
              <a:xfrm>
                <a:off x="3515" y="1842"/>
                <a:ext cx="940"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00-11-12-21-11-11</a:t>
                </a:r>
                <a:endParaRPr lang="zh-CN" altLang="en-US" sz="1200" b="1">
                  <a:solidFill>
                    <a:schemeClr val="tx2"/>
                  </a:solidFill>
                  <a:latin typeface="Helvetica"/>
                </a:endParaRPr>
              </a:p>
            </p:txBody>
          </p:sp>
          <p:grpSp>
            <p:nvGrpSpPr>
              <p:cNvPr id="11" name="Group 41"/>
              <p:cNvGrpSpPr>
                <a:grpSpLocks/>
              </p:cNvGrpSpPr>
              <p:nvPr/>
            </p:nvGrpSpPr>
            <p:grpSpPr bwMode="auto">
              <a:xfrm>
                <a:off x="3379" y="1525"/>
                <a:ext cx="136" cy="408"/>
                <a:chOff x="3379" y="1525"/>
                <a:chExt cx="136" cy="136"/>
              </a:xfrm>
            </p:grpSpPr>
            <p:sp>
              <p:nvSpPr>
                <p:cNvPr id="1076" name="Line 39"/>
                <p:cNvSpPr>
                  <a:spLocks noChangeShapeType="1"/>
                </p:cNvSpPr>
                <p:nvPr/>
              </p:nvSpPr>
              <p:spPr bwMode="auto">
                <a:xfrm>
                  <a:off x="3379" y="1525"/>
                  <a:ext cx="0" cy="136"/>
                </a:xfrm>
                <a:prstGeom prst="line">
                  <a:avLst/>
                </a:prstGeom>
                <a:noFill/>
                <a:ln w="28575">
                  <a:solidFill>
                    <a:srgbClr val="FF3300"/>
                  </a:solidFill>
                  <a:round/>
                  <a:headEnd/>
                  <a:tailEnd/>
                </a:ln>
                <a:effectLst>
                  <a:prstShdw prst="shdw17" dist="17961" dir="2700000">
                    <a:srgbClr val="991F00"/>
                  </a:prstShdw>
                </a:effectLst>
              </p:spPr>
              <p:txBody>
                <a:bodyPr>
                  <a:spAutoFit/>
                </a:bodyPr>
                <a:lstStyle/>
                <a:p>
                  <a:endParaRPr lang="zh-CN" altLang="en-US"/>
                </a:p>
              </p:txBody>
            </p:sp>
            <p:sp>
              <p:nvSpPr>
                <p:cNvPr id="1077" name="Line 40"/>
                <p:cNvSpPr>
                  <a:spLocks noChangeShapeType="1"/>
                </p:cNvSpPr>
                <p:nvPr/>
              </p:nvSpPr>
              <p:spPr bwMode="auto">
                <a:xfrm>
                  <a:off x="3379" y="1661"/>
                  <a:ext cx="136" cy="0"/>
                </a:xfrm>
                <a:prstGeom prst="line">
                  <a:avLst/>
                </a:prstGeom>
                <a:noFill/>
                <a:ln w="28575">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grpSp>
        </p:grpSp>
        <p:grpSp>
          <p:nvGrpSpPr>
            <p:cNvPr id="12" name="Group 81"/>
            <p:cNvGrpSpPr>
              <a:grpSpLocks/>
            </p:cNvGrpSpPr>
            <p:nvPr/>
          </p:nvGrpSpPr>
          <p:grpSpPr bwMode="auto">
            <a:xfrm>
              <a:off x="6300792" y="1958941"/>
              <a:ext cx="1492251" cy="563563"/>
              <a:chOff x="3969" y="1525"/>
              <a:chExt cx="940" cy="355"/>
            </a:xfrm>
          </p:grpSpPr>
          <p:sp>
            <p:nvSpPr>
              <p:cNvPr id="1072" name="Line 43"/>
              <p:cNvSpPr>
                <a:spLocks noChangeShapeType="1"/>
              </p:cNvSpPr>
              <p:nvPr/>
            </p:nvSpPr>
            <p:spPr bwMode="auto">
              <a:xfrm>
                <a:off x="3969" y="1525"/>
                <a:ext cx="0" cy="227"/>
              </a:xfrm>
              <a:prstGeom prst="line">
                <a:avLst/>
              </a:prstGeom>
              <a:noFill/>
              <a:ln w="19050">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sp>
            <p:nvSpPr>
              <p:cNvPr id="1073" name="Rectangle 47"/>
              <p:cNvSpPr>
                <a:spLocks noChangeArrowheads="1"/>
              </p:cNvSpPr>
              <p:nvPr/>
            </p:nvSpPr>
            <p:spPr bwMode="auto">
              <a:xfrm>
                <a:off x="3969" y="1706"/>
                <a:ext cx="940"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SA:192.168.1.2/24</a:t>
                </a:r>
              </a:p>
            </p:txBody>
          </p:sp>
        </p:grpSp>
        <p:grpSp>
          <p:nvGrpSpPr>
            <p:cNvPr id="13" name="Group 82"/>
            <p:cNvGrpSpPr>
              <a:grpSpLocks/>
            </p:cNvGrpSpPr>
            <p:nvPr/>
          </p:nvGrpSpPr>
          <p:grpSpPr bwMode="auto">
            <a:xfrm>
              <a:off x="6516686" y="1958935"/>
              <a:ext cx="1622424" cy="288924"/>
              <a:chOff x="4105" y="1525"/>
              <a:chExt cx="1022" cy="182"/>
            </a:xfrm>
          </p:grpSpPr>
          <p:grpSp>
            <p:nvGrpSpPr>
              <p:cNvPr id="14" name="Group 44"/>
              <p:cNvGrpSpPr>
                <a:grpSpLocks/>
              </p:cNvGrpSpPr>
              <p:nvPr/>
            </p:nvGrpSpPr>
            <p:grpSpPr bwMode="auto">
              <a:xfrm>
                <a:off x="4105" y="1525"/>
                <a:ext cx="136" cy="91"/>
                <a:chOff x="3379" y="1525"/>
                <a:chExt cx="136" cy="136"/>
              </a:xfrm>
            </p:grpSpPr>
            <p:sp>
              <p:nvSpPr>
                <p:cNvPr id="1070" name="Line 45"/>
                <p:cNvSpPr>
                  <a:spLocks noChangeShapeType="1"/>
                </p:cNvSpPr>
                <p:nvPr/>
              </p:nvSpPr>
              <p:spPr bwMode="auto">
                <a:xfrm>
                  <a:off x="3379" y="1525"/>
                  <a:ext cx="0" cy="136"/>
                </a:xfrm>
                <a:prstGeom prst="line">
                  <a:avLst/>
                </a:prstGeom>
                <a:noFill/>
                <a:ln w="28575">
                  <a:solidFill>
                    <a:srgbClr val="FF3300"/>
                  </a:solidFill>
                  <a:round/>
                  <a:headEnd/>
                  <a:tailEnd/>
                </a:ln>
                <a:effectLst>
                  <a:prstShdw prst="shdw17" dist="17961" dir="2700000">
                    <a:srgbClr val="991F00"/>
                  </a:prstShdw>
                </a:effectLst>
              </p:spPr>
              <p:txBody>
                <a:bodyPr>
                  <a:spAutoFit/>
                </a:bodyPr>
                <a:lstStyle/>
                <a:p>
                  <a:endParaRPr lang="zh-CN" altLang="en-US"/>
                </a:p>
              </p:txBody>
            </p:sp>
            <p:sp>
              <p:nvSpPr>
                <p:cNvPr id="1071" name="Line 46"/>
                <p:cNvSpPr>
                  <a:spLocks noChangeShapeType="1"/>
                </p:cNvSpPr>
                <p:nvPr/>
              </p:nvSpPr>
              <p:spPr bwMode="auto">
                <a:xfrm>
                  <a:off x="3379" y="1661"/>
                  <a:ext cx="136" cy="0"/>
                </a:xfrm>
                <a:prstGeom prst="line">
                  <a:avLst/>
                </a:prstGeom>
                <a:noFill/>
                <a:ln w="28575">
                  <a:solidFill>
                    <a:srgbClr val="FF3300"/>
                  </a:solidFill>
                  <a:round/>
                  <a:headEnd/>
                  <a:tailEnd type="triangle" w="med" len="med"/>
                </a:ln>
                <a:effectLst>
                  <a:prstShdw prst="shdw17" dist="17961" dir="2700000">
                    <a:srgbClr val="991F00"/>
                  </a:prstShdw>
                </a:effectLst>
              </p:spPr>
              <p:txBody>
                <a:bodyPr>
                  <a:spAutoFit/>
                </a:bodyPr>
                <a:lstStyle/>
                <a:p>
                  <a:endParaRPr lang="zh-CN" altLang="en-US"/>
                </a:p>
              </p:txBody>
            </p:sp>
          </p:grpSp>
          <p:sp>
            <p:nvSpPr>
              <p:cNvPr id="1069" name="Rectangle 48"/>
              <p:cNvSpPr>
                <a:spLocks noChangeArrowheads="1"/>
              </p:cNvSpPr>
              <p:nvPr/>
            </p:nvSpPr>
            <p:spPr bwMode="auto">
              <a:xfrm>
                <a:off x="4195" y="1533"/>
                <a:ext cx="932" cy="174"/>
              </a:xfrm>
              <a:prstGeom prst="rect">
                <a:avLst/>
              </a:prstGeom>
              <a:noFill/>
              <a:ln w="19050" algn="ctr">
                <a:noFill/>
                <a:miter lim="800000"/>
                <a:headEnd/>
                <a:tailEnd/>
              </a:ln>
            </p:spPr>
            <p:txBody>
              <a:bodyPr wrap="none">
                <a:spAutoFit/>
              </a:bodyPr>
              <a:lstStyle/>
              <a:p>
                <a:pPr algn="ctr" defTabSz="1028700" eaLnBrk="0" hangingPunct="0">
                  <a:spcBef>
                    <a:spcPct val="50000"/>
                  </a:spcBef>
                </a:pPr>
                <a:r>
                  <a:rPr lang="en-US" altLang="zh-CN" sz="1200" b="1">
                    <a:solidFill>
                      <a:schemeClr val="tx2"/>
                    </a:solidFill>
                    <a:latin typeface="Helvetica"/>
                  </a:rPr>
                  <a:t>DA:192.168.2.2/24</a:t>
                </a:r>
              </a:p>
            </p:txBody>
          </p:sp>
        </p:grpSp>
        <p:graphicFrame>
          <p:nvGraphicFramePr>
            <p:cNvPr id="1026" name="Object 113"/>
            <p:cNvGraphicFramePr>
              <a:graphicFrameLocks noChangeAspect="1"/>
            </p:cNvGraphicFramePr>
            <p:nvPr/>
          </p:nvGraphicFramePr>
          <p:xfrm>
            <a:off x="4476752" y="812793"/>
            <a:ext cx="4487863" cy="1133475"/>
          </p:xfrm>
          <a:graphic>
            <a:graphicData uri="http://schemas.openxmlformats.org/presentationml/2006/ole">
              <mc:AlternateContent xmlns:mc="http://schemas.openxmlformats.org/markup-compatibility/2006">
                <mc:Choice xmlns:v="urn:schemas-microsoft-com:vml" Requires="v">
                  <p:oleObj name="Visio" r:id="rId8" imgW="4820412" imgH="1216914" progId="Visio.Drawing.11">
                    <p:embed/>
                  </p:oleObj>
                </mc:Choice>
                <mc:Fallback>
                  <p:oleObj name="Visio" r:id="rId8" imgW="4820412" imgH="1216914" progId="Visio.Drawing.11">
                    <p:embed/>
                    <p:pic>
                      <p:nvPicPr>
                        <p:cNvPr id="1026" name="Object 1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76752" y="812793"/>
                          <a:ext cx="4487863" cy="1133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pic>
        <p:nvPicPr>
          <p:cNvPr id="1056" name="图片 11" descr="asdf.png"/>
          <p:cNvPicPr>
            <a:picLocks noChangeAspect="1"/>
          </p:cNvPicPr>
          <p:nvPr/>
        </p:nvPicPr>
        <p:blipFill>
          <a:blip r:embed="rId10"/>
          <a:srcRect/>
          <a:stretch>
            <a:fillRect/>
          </a:stretch>
        </p:blipFill>
        <p:spPr bwMode="auto">
          <a:xfrm>
            <a:off x="3248025" y="1724026"/>
            <a:ext cx="839788" cy="798513"/>
          </a:xfrm>
          <a:prstGeom prst="rect">
            <a:avLst/>
          </a:prstGeom>
          <a:noFill/>
          <a:ln w="9525">
            <a:noFill/>
            <a:miter lim="800000"/>
            <a:headEnd/>
            <a:tailEnd/>
          </a:ln>
        </p:spPr>
      </p:pic>
      <p:pic>
        <p:nvPicPr>
          <p:cNvPr id="1057" name="图片 11" descr="asdf.png"/>
          <p:cNvPicPr>
            <a:picLocks noChangeAspect="1"/>
          </p:cNvPicPr>
          <p:nvPr/>
        </p:nvPicPr>
        <p:blipFill>
          <a:blip r:embed="rId10"/>
          <a:srcRect/>
          <a:stretch>
            <a:fillRect/>
          </a:stretch>
        </p:blipFill>
        <p:spPr bwMode="auto">
          <a:xfrm>
            <a:off x="3248025" y="5119688"/>
            <a:ext cx="839788" cy="798512"/>
          </a:xfrm>
          <a:prstGeom prst="rect">
            <a:avLst/>
          </a:prstGeom>
          <a:noFill/>
          <a:ln w="9525">
            <a:noFill/>
            <a:miter lim="800000"/>
            <a:headEnd/>
            <a:tailEnd/>
          </a:ln>
        </p:spPr>
      </p:pic>
      <p:sp>
        <p:nvSpPr>
          <p:cNvPr id="268" name="圆角矩形 267"/>
          <p:cNvSpPr>
            <a:spLocks noChangeArrowheads="1"/>
          </p:cNvSpPr>
          <p:nvPr/>
        </p:nvSpPr>
        <p:spPr bwMode="auto">
          <a:xfrm>
            <a:off x="1787526" y="1962151"/>
            <a:ext cx="1533525" cy="252413"/>
          </a:xfrm>
          <a:prstGeom prst="roundRect">
            <a:avLst>
              <a:gd name="adj" fmla="val 16667"/>
            </a:avLst>
          </a:prstGeom>
          <a:noFill/>
          <a:ln w="31750" algn="ctr">
            <a:solidFill>
              <a:srgbClr val="FF0000"/>
            </a:solidFill>
            <a:round/>
            <a:headEnd/>
            <a:tailEnd/>
          </a:ln>
        </p:spPr>
        <p:txBody>
          <a:bodyPr wrap="none" anchor="ctr" anchorCtr="1"/>
          <a:lstStyle/>
          <a:p>
            <a:pPr algn="ctr"/>
            <a:endParaRPr lang="zh-CN" altLang="en-US">
              <a:solidFill>
                <a:schemeClr val="tx2"/>
              </a:solidFill>
            </a:endParaRPr>
          </a:p>
        </p:txBody>
      </p:sp>
      <p:sp>
        <p:nvSpPr>
          <p:cNvPr id="269" name="圆角矩形 268"/>
          <p:cNvSpPr>
            <a:spLocks noChangeArrowheads="1"/>
          </p:cNvSpPr>
          <p:nvPr/>
        </p:nvSpPr>
        <p:spPr bwMode="auto">
          <a:xfrm>
            <a:off x="3905251" y="2765426"/>
            <a:ext cx="1533525" cy="252413"/>
          </a:xfrm>
          <a:prstGeom prst="roundRect">
            <a:avLst>
              <a:gd name="adj" fmla="val 16667"/>
            </a:avLst>
          </a:prstGeom>
          <a:noFill/>
          <a:ln w="31750" algn="ctr">
            <a:solidFill>
              <a:srgbClr val="FF0000"/>
            </a:solidFill>
            <a:round/>
            <a:headEnd/>
            <a:tailEnd/>
          </a:ln>
        </p:spPr>
        <p:txBody>
          <a:bodyPr wrap="none" anchor="ctr" anchorCtr="1"/>
          <a:lstStyle/>
          <a:p>
            <a:pPr algn="ctr"/>
            <a:endParaRPr lang="zh-CN" altLang="en-US">
              <a:solidFill>
                <a:schemeClr val="tx2"/>
              </a:solidFill>
            </a:endParaRPr>
          </a:p>
        </p:txBody>
      </p:sp>
      <p:sp>
        <p:nvSpPr>
          <p:cNvPr id="270" name="圆角矩形 269"/>
          <p:cNvSpPr>
            <a:spLocks noChangeArrowheads="1"/>
          </p:cNvSpPr>
          <p:nvPr/>
        </p:nvSpPr>
        <p:spPr bwMode="auto">
          <a:xfrm>
            <a:off x="2813051" y="3459163"/>
            <a:ext cx="1533525" cy="252412"/>
          </a:xfrm>
          <a:prstGeom prst="roundRect">
            <a:avLst>
              <a:gd name="adj" fmla="val 16667"/>
            </a:avLst>
          </a:prstGeom>
          <a:noFill/>
          <a:ln w="31750" algn="ctr">
            <a:solidFill>
              <a:srgbClr val="FF0000"/>
            </a:solidFill>
            <a:round/>
            <a:headEnd/>
            <a:tailEnd/>
          </a:ln>
        </p:spPr>
        <p:txBody>
          <a:bodyPr wrap="none" anchor="ctr" anchorCtr="1"/>
          <a:lstStyle/>
          <a:p>
            <a:pPr algn="ctr"/>
            <a:endParaRPr lang="zh-CN" altLang="en-US">
              <a:solidFill>
                <a:schemeClr val="tx2"/>
              </a:solidFill>
            </a:endParaRPr>
          </a:p>
        </p:txBody>
      </p:sp>
      <p:sp>
        <p:nvSpPr>
          <p:cNvPr id="271" name="圆角矩形 270"/>
          <p:cNvSpPr>
            <a:spLocks noChangeArrowheads="1"/>
          </p:cNvSpPr>
          <p:nvPr/>
        </p:nvSpPr>
        <p:spPr bwMode="auto">
          <a:xfrm>
            <a:off x="2813051" y="4079876"/>
            <a:ext cx="1533525" cy="252413"/>
          </a:xfrm>
          <a:prstGeom prst="roundRect">
            <a:avLst>
              <a:gd name="adj" fmla="val 16667"/>
            </a:avLst>
          </a:prstGeom>
          <a:noFill/>
          <a:ln w="31750" algn="ctr">
            <a:solidFill>
              <a:srgbClr val="FF0000"/>
            </a:solidFill>
            <a:round/>
            <a:headEnd/>
            <a:tailEnd/>
          </a:ln>
        </p:spPr>
        <p:txBody>
          <a:bodyPr wrap="none" anchor="ctr" anchorCtr="1"/>
          <a:lstStyle/>
          <a:p>
            <a:pPr algn="ctr"/>
            <a:endParaRPr lang="zh-CN" altLang="en-US">
              <a:solidFill>
                <a:schemeClr val="tx2"/>
              </a:solidFill>
            </a:endParaRPr>
          </a:p>
        </p:txBody>
      </p:sp>
      <p:sp>
        <p:nvSpPr>
          <p:cNvPr id="272" name="圆角矩形 271"/>
          <p:cNvSpPr>
            <a:spLocks noChangeArrowheads="1"/>
          </p:cNvSpPr>
          <p:nvPr/>
        </p:nvSpPr>
        <p:spPr bwMode="auto">
          <a:xfrm>
            <a:off x="3832226" y="4956176"/>
            <a:ext cx="1533525" cy="252413"/>
          </a:xfrm>
          <a:prstGeom prst="roundRect">
            <a:avLst>
              <a:gd name="adj" fmla="val 16667"/>
            </a:avLst>
          </a:prstGeom>
          <a:noFill/>
          <a:ln w="31750" algn="ctr">
            <a:solidFill>
              <a:srgbClr val="FF0000"/>
            </a:solidFill>
            <a:round/>
            <a:headEnd/>
            <a:tailEnd/>
          </a:ln>
        </p:spPr>
        <p:txBody>
          <a:bodyPr wrap="none" anchor="ctr" anchorCtr="1"/>
          <a:lstStyle/>
          <a:p>
            <a:pPr algn="ctr"/>
            <a:endParaRPr lang="zh-CN" altLang="en-US">
              <a:solidFill>
                <a:schemeClr val="tx2"/>
              </a:solidFill>
            </a:endParaRPr>
          </a:p>
        </p:txBody>
      </p:sp>
      <p:sp>
        <p:nvSpPr>
          <p:cNvPr id="273" name="圆角矩形 272"/>
          <p:cNvSpPr>
            <a:spLocks noChangeArrowheads="1"/>
          </p:cNvSpPr>
          <p:nvPr/>
        </p:nvSpPr>
        <p:spPr bwMode="auto">
          <a:xfrm>
            <a:off x="1787526" y="5586413"/>
            <a:ext cx="1533525" cy="252412"/>
          </a:xfrm>
          <a:prstGeom prst="roundRect">
            <a:avLst>
              <a:gd name="adj" fmla="val 16667"/>
            </a:avLst>
          </a:prstGeom>
          <a:noFill/>
          <a:ln w="31750" algn="ctr">
            <a:solidFill>
              <a:srgbClr val="FF0000"/>
            </a:solidFill>
            <a:round/>
            <a:headEnd/>
            <a:tailEnd/>
          </a:ln>
        </p:spPr>
        <p:txBody>
          <a:bodyPr wrap="none" anchor="ctr" anchorCtr="1"/>
          <a:lstStyle/>
          <a:p>
            <a:pPr algn="ctr"/>
            <a:endParaRPr lang="zh-CN" altLang="en-US">
              <a:solidFill>
                <a:schemeClr val="tx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9"/>
                                        </p:tgtEl>
                                        <p:attrNameLst>
                                          <p:attrName>style.visibility</p:attrName>
                                        </p:attrNameLst>
                                      </p:cBhvr>
                                      <p:to>
                                        <p:strVal val="visible"/>
                                      </p:to>
                                    </p:set>
                                    <p:animEffect transition="in" filter="blinds(horizontal)">
                                      <p:cBhvr>
                                        <p:cTn id="10" dur="500"/>
                                        <p:tgtEl>
                                          <p:spTgt spid="269"/>
                                        </p:tgtEl>
                                      </p:cBhvr>
                                    </p:animEffect>
                                  </p:childTnLst>
                                </p:cTn>
                              </p:par>
                              <p:par>
                                <p:cTn id="11" presetID="3" presetClass="entr" presetSubtype="10" fill="hold" grpId="1" nodeType="withEffect">
                                  <p:stCondLst>
                                    <p:cond delay="0"/>
                                  </p:stCondLst>
                                  <p:childTnLst>
                                    <p:set>
                                      <p:cBhvr>
                                        <p:cTn id="12" dur="1" fill="hold">
                                          <p:stCondLst>
                                            <p:cond delay="0"/>
                                          </p:stCondLst>
                                        </p:cTn>
                                        <p:tgtEl>
                                          <p:spTgt spid="268"/>
                                        </p:tgtEl>
                                        <p:attrNameLst>
                                          <p:attrName>style.visibility</p:attrName>
                                        </p:attrNameLst>
                                      </p:cBhvr>
                                      <p:to>
                                        <p:strVal val="visible"/>
                                      </p:to>
                                    </p:set>
                                    <p:animEffect transition="in" filter="blinds(horizontal)">
                                      <p:cBhvr>
                                        <p:cTn id="13" dur="500"/>
                                        <p:tgtEl>
                                          <p:spTgt spid="26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71"/>
                                        </p:tgtEl>
                                        <p:attrNameLst>
                                          <p:attrName>style.visibility</p:attrName>
                                        </p:attrNameLst>
                                      </p:cBhvr>
                                      <p:to>
                                        <p:strVal val="visible"/>
                                      </p:to>
                                    </p:set>
                                    <p:animEffect transition="in" filter="blinds(horizontal)">
                                      <p:cBhvr>
                                        <p:cTn id="21" dur="500"/>
                                        <p:tgtEl>
                                          <p:spTgt spid="27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70"/>
                                        </p:tgtEl>
                                        <p:attrNameLst>
                                          <p:attrName>style.visibility</p:attrName>
                                        </p:attrNameLst>
                                      </p:cBhvr>
                                      <p:to>
                                        <p:strVal val="visible"/>
                                      </p:to>
                                    </p:set>
                                    <p:animEffect transition="in" filter="blinds(horizontal)">
                                      <p:cBhvr>
                                        <p:cTn id="24" dur="500"/>
                                        <p:tgtEl>
                                          <p:spTgt spid="270"/>
                                        </p:tgtEl>
                                      </p:cBhvr>
                                    </p:animEffect>
                                  </p:childTnLst>
                                </p:cTn>
                              </p:par>
                              <p:par>
                                <p:cTn id="25" presetID="3" presetClass="exit" presetSubtype="10" fill="hold" nodeType="withEffect">
                                  <p:stCondLst>
                                    <p:cond delay="0"/>
                                  </p:stCondLst>
                                  <p:childTnLst>
                                    <p:animEffect transition="out" filter="blinds(horizontal)">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par>
                                <p:cTn id="28" presetID="3" presetClass="exit" presetSubtype="10" fill="hold" grpId="1" nodeType="withEffect">
                                  <p:stCondLst>
                                    <p:cond delay="0"/>
                                  </p:stCondLst>
                                  <p:childTnLst>
                                    <p:animEffect transition="out" filter="blinds(horizontal)">
                                      <p:cBhvr>
                                        <p:cTn id="29" dur="500"/>
                                        <p:tgtEl>
                                          <p:spTgt spid="269"/>
                                        </p:tgtEl>
                                      </p:cBhvr>
                                    </p:animEffect>
                                    <p:set>
                                      <p:cBhvr>
                                        <p:cTn id="30" dur="1" fill="hold">
                                          <p:stCondLst>
                                            <p:cond delay="499"/>
                                          </p:stCondLst>
                                        </p:cTn>
                                        <p:tgtEl>
                                          <p:spTgt spid="269"/>
                                        </p:tgtEl>
                                        <p:attrNameLst>
                                          <p:attrName>style.visibility</p:attrName>
                                        </p:attrNameLst>
                                      </p:cBhvr>
                                      <p:to>
                                        <p:strVal val="hidden"/>
                                      </p:to>
                                    </p:set>
                                  </p:childTnLst>
                                </p:cTn>
                              </p:par>
                              <p:par>
                                <p:cTn id="31" presetID="3" presetClass="exit" presetSubtype="10" fill="hold" grpId="0" nodeType="withEffect">
                                  <p:stCondLst>
                                    <p:cond delay="0"/>
                                  </p:stCondLst>
                                  <p:childTnLst>
                                    <p:animEffect transition="out" filter="blinds(horizontal)">
                                      <p:cBhvr>
                                        <p:cTn id="32" dur="500"/>
                                        <p:tgtEl>
                                          <p:spTgt spid="268"/>
                                        </p:tgtEl>
                                      </p:cBhvr>
                                    </p:animEffect>
                                    <p:set>
                                      <p:cBhvr>
                                        <p:cTn id="33" dur="1" fill="hold">
                                          <p:stCondLst>
                                            <p:cond delay="499"/>
                                          </p:stCondLst>
                                        </p:cTn>
                                        <p:tgtEl>
                                          <p:spTgt spid="268"/>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linds(horizontal)">
                                      <p:cBhvr>
                                        <p:cTn id="38" dur="500"/>
                                        <p:tgtEl>
                                          <p:spTgt spid="2"/>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73"/>
                                        </p:tgtEl>
                                        <p:attrNameLst>
                                          <p:attrName>style.visibility</p:attrName>
                                        </p:attrNameLst>
                                      </p:cBhvr>
                                      <p:to>
                                        <p:strVal val="visible"/>
                                      </p:to>
                                    </p:set>
                                    <p:animEffect transition="in" filter="blinds(horizontal)">
                                      <p:cBhvr>
                                        <p:cTn id="41" dur="500"/>
                                        <p:tgtEl>
                                          <p:spTgt spid="273"/>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72"/>
                                        </p:tgtEl>
                                        <p:attrNameLst>
                                          <p:attrName>style.visibility</p:attrName>
                                        </p:attrNameLst>
                                      </p:cBhvr>
                                      <p:to>
                                        <p:strVal val="visible"/>
                                      </p:to>
                                    </p:set>
                                    <p:animEffect transition="in" filter="blinds(horizontal)">
                                      <p:cBhvr>
                                        <p:cTn id="44" dur="500"/>
                                        <p:tgtEl>
                                          <p:spTgt spid="272"/>
                                        </p:tgtEl>
                                      </p:cBhvr>
                                    </p:animEffect>
                                  </p:childTnLst>
                                </p:cTn>
                              </p:par>
                              <p:par>
                                <p:cTn id="45" presetID="3" presetClass="exit" presetSubtype="10" fill="hold" nodeType="withEffect">
                                  <p:stCondLst>
                                    <p:cond delay="0"/>
                                  </p:stCondLst>
                                  <p:childTnLst>
                                    <p:animEffect transition="out" filter="blinds(horizontal)">
                                      <p:cBhvr>
                                        <p:cTn id="46" dur="500"/>
                                        <p:tgtEl>
                                          <p:spTgt spid="5"/>
                                        </p:tgtEl>
                                      </p:cBhvr>
                                    </p:animEffect>
                                    <p:set>
                                      <p:cBhvr>
                                        <p:cTn id="47" dur="1" fill="hold">
                                          <p:stCondLst>
                                            <p:cond delay="499"/>
                                          </p:stCondLst>
                                        </p:cTn>
                                        <p:tgtEl>
                                          <p:spTgt spid="5"/>
                                        </p:tgtEl>
                                        <p:attrNameLst>
                                          <p:attrName>style.visibility</p:attrName>
                                        </p:attrNameLst>
                                      </p:cBhvr>
                                      <p:to>
                                        <p:strVal val="hidden"/>
                                      </p:to>
                                    </p:set>
                                  </p:childTnLst>
                                </p:cTn>
                              </p:par>
                              <p:par>
                                <p:cTn id="48" presetID="3" presetClass="exit" presetSubtype="10" fill="hold" grpId="1" nodeType="withEffect">
                                  <p:stCondLst>
                                    <p:cond delay="0"/>
                                  </p:stCondLst>
                                  <p:childTnLst>
                                    <p:animEffect transition="out" filter="blinds(horizontal)">
                                      <p:cBhvr>
                                        <p:cTn id="49" dur="500"/>
                                        <p:tgtEl>
                                          <p:spTgt spid="271"/>
                                        </p:tgtEl>
                                      </p:cBhvr>
                                    </p:animEffect>
                                    <p:set>
                                      <p:cBhvr>
                                        <p:cTn id="50" dur="1" fill="hold">
                                          <p:stCondLst>
                                            <p:cond delay="499"/>
                                          </p:stCondLst>
                                        </p:cTn>
                                        <p:tgtEl>
                                          <p:spTgt spid="271"/>
                                        </p:tgtEl>
                                        <p:attrNameLst>
                                          <p:attrName>style.visibility</p:attrName>
                                        </p:attrNameLst>
                                      </p:cBhvr>
                                      <p:to>
                                        <p:strVal val="hidden"/>
                                      </p:to>
                                    </p:set>
                                  </p:childTnLst>
                                </p:cTn>
                              </p:par>
                              <p:par>
                                <p:cTn id="51" presetID="3" presetClass="exit" presetSubtype="10" fill="hold" grpId="1" nodeType="withEffect">
                                  <p:stCondLst>
                                    <p:cond delay="0"/>
                                  </p:stCondLst>
                                  <p:childTnLst>
                                    <p:animEffect transition="out" filter="blinds(horizontal)">
                                      <p:cBhvr>
                                        <p:cTn id="52" dur="500"/>
                                        <p:tgtEl>
                                          <p:spTgt spid="270"/>
                                        </p:tgtEl>
                                      </p:cBhvr>
                                    </p:animEffect>
                                    <p:set>
                                      <p:cBhvr>
                                        <p:cTn id="53" dur="1" fill="hold">
                                          <p:stCondLst>
                                            <p:cond delay="499"/>
                                          </p:stCondLst>
                                        </p:cTn>
                                        <p:tgtEl>
                                          <p:spTgt spid="2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 grpId="0" animBg="1"/>
      <p:bldP spid="268" grpId="1" animBg="1"/>
      <p:bldP spid="269" grpId="0" animBg="1"/>
      <p:bldP spid="269" grpId="1" animBg="1"/>
      <p:bldP spid="270" grpId="0" animBg="1"/>
      <p:bldP spid="270" grpId="1" animBg="1"/>
      <p:bldP spid="271" grpId="0" animBg="1"/>
      <p:bldP spid="271" grpId="1" animBg="1"/>
      <p:bldP spid="272" grpId="0" animBg="1"/>
      <p:bldP spid="27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a:t>交换与路由对比</a:t>
            </a:r>
          </a:p>
        </p:txBody>
      </p:sp>
      <p:sp>
        <p:nvSpPr>
          <p:cNvPr id="17411" name="内容占位符 18"/>
          <p:cNvSpPr>
            <a:spLocks noGrp="1"/>
          </p:cNvSpPr>
          <p:nvPr>
            <p:ph idx="1"/>
          </p:nvPr>
        </p:nvSpPr>
        <p:spPr>
          <a:xfrm>
            <a:off x="1738313" y="1143000"/>
            <a:ext cx="8501062" cy="5143500"/>
          </a:xfrm>
        </p:spPr>
        <p:txBody>
          <a:bodyPr/>
          <a:lstStyle/>
          <a:p>
            <a:pPr>
              <a:spcBef>
                <a:spcPts val="675"/>
              </a:spcBef>
            </a:pPr>
            <a:r>
              <a:rPr lang="zh-CN" altLang="en-US">
                <a:cs typeface="Arial" pitchFamily="34" charset="0"/>
              </a:rPr>
              <a:t>路由工作在网络层</a:t>
            </a:r>
          </a:p>
          <a:p>
            <a:pPr lvl="1">
              <a:spcBef>
                <a:spcPts val="475"/>
              </a:spcBef>
            </a:pPr>
            <a:r>
              <a:rPr lang="zh-CN" altLang="en-US">
                <a:cs typeface="Arial" pitchFamily="34" charset="0"/>
              </a:rPr>
              <a:t>根据“路由表”转发数据</a:t>
            </a:r>
          </a:p>
          <a:p>
            <a:pPr lvl="1">
              <a:spcBef>
                <a:spcPts val="475"/>
              </a:spcBef>
            </a:pPr>
            <a:r>
              <a:rPr lang="zh-CN" altLang="en-US">
                <a:cs typeface="Arial" pitchFamily="34" charset="0"/>
              </a:rPr>
              <a:t>路由选择</a:t>
            </a:r>
          </a:p>
          <a:p>
            <a:pPr lvl="1">
              <a:spcBef>
                <a:spcPts val="475"/>
              </a:spcBef>
            </a:pPr>
            <a:r>
              <a:rPr lang="zh-CN" altLang="en-US">
                <a:cs typeface="Arial" pitchFamily="34" charset="0"/>
              </a:rPr>
              <a:t>路由转发</a:t>
            </a:r>
          </a:p>
          <a:p>
            <a:pPr>
              <a:spcBef>
                <a:spcPts val="675"/>
              </a:spcBef>
            </a:pPr>
            <a:endParaRPr lang="zh-CN" altLang="en-US">
              <a:cs typeface="Arial" pitchFamily="34" charset="0"/>
            </a:endParaRPr>
          </a:p>
          <a:p>
            <a:pPr>
              <a:spcBef>
                <a:spcPts val="675"/>
              </a:spcBef>
            </a:pPr>
            <a:r>
              <a:rPr lang="zh-CN" altLang="en-US">
                <a:cs typeface="Arial" pitchFamily="34" charset="0"/>
              </a:rPr>
              <a:t>交换工作在数据链路层</a:t>
            </a:r>
          </a:p>
          <a:p>
            <a:pPr lvl="1">
              <a:spcBef>
                <a:spcPts val="475"/>
              </a:spcBef>
            </a:pPr>
            <a:r>
              <a:rPr lang="zh-CN" altLang="en-US">
                <a:cs typeface="Arial" pitchFamily="34" charset="0"/>
              </a:rPr>
              <a:t>根据“</a:t>
            </a:r>
            <a:r>
              <a:rPr lang="en-US" altLang="zh-CN">
                <a:cs typeface="Arial" pitchFamily="34" charset="0"/>
              </a:rPr>
              <a:t>MAC</a:t>
            </a:r>
            <a:r>
              <a:rPr lang="zh-CN" altLang="en-US">
                <a:cs typeface="Arial" pitchFamily="34" charset="0"/>
              </a:rPr>
              <a:t>地址表”转发数据</a:t>
            </a:r>
          </a:p>
          <a:p>
            <a:pPr lvl="1">
              <a:spcBef>
                <a:spcPts val="475"/>
              </a:spcBef>
            </a:pPr>
            <a:r>
              <a:rPr lang="zh-CN" altLang="en-US">
                <a:cs typeface="Arial" pitchFamily="34" charset="0"/>
              </a:rPr>
              <a:t>硬件转发</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a:t>静态路由和默认路由的配置</a:t>
            </a:r>
          </a:p>
        </p:txBody>
      </p:sp>
      <p:sp>
        <p:nvSpPr>
          <p:cNvPr id="19459" name="内容占位符 13"/>
          <p:cNvSpPr>
            <a:spLocks noGrp="1"/>
          </p:cNvSpPr>
          <p:nvPr>
            <p:ph idx="1"/>
          </p:nvPr>
        </p:nvSpPr>
        <p:spPr>
          <a:xfrm>
            <a:off x="1738313" y="1143000"/>
            <a:ext cx="8286750" cy="1500188"/>
          </a:xfrm>
        </p:spPr>
        <p:txBody>
          <a:bodyPr/>
          <a:lstStyle/>
          <a:p>
            <a:pPr>
              <a:spcBef>
                <a:spcPts val="675"/>
              </a:spcBef>
            </a:pPr>
            <a:r>
              <a:rPr lang="zh-CN" altLang="en-US">
                <a:cs typeface="Arial" pitchFamily="34" charset="0"/>
              </a:rPr>
              <a:t>静态路由的配置</a:t>
            </a:r>
          </a:p>
          <a:p>
            <a:pPr lvl="1">
              <a:spcBef>
                <a:spcPts val="475"/>
              </a:spcBef>
              <a:buNone/>
            </a:pPr>
            <a:endParaRPr lang="en-US" altLang="zh-CN">
              <a:cs typeface="Arial" pitchFamily="34" charset="0"/>
            </a:endParaRPr>
          </a:p>
          <a:p>
            <a:pPr>
              <a:spcBef>
                <a:spcPts val="675"/>
              </a:spcBef>
            </a:pPr>
            <a:r>
              <a:rPr lang="zh-CN" altLang="en-US">
                <a:cs typeface="Arial" pitchFamily="34" charset="0"/>
              </a:rPr>
              <a:t>默认路由的配置</a:t>
            </a:r>
            <a:endParaRPr lang="en-US" altLang="zh-CN">
              <a:cs typeface="Arial" pitchFamily="34" charset="0"/>
            </a:endParaRPr>
          </a:p>
        </p:txBody>
      </p:sp>
      <p:cxnSp>
        <p:nvCxnSpPr>
          <p:cNvPr id="19460" name="直接连接符 24"/>
          <p:cNvCxnSpPr>
            <a:cxnSpLocks noChangeShapeType="1"/>
          </p:cNvCxnSpPr>
          <p:nvPr/>
        </p:nvCxnSpPr>
        <p:spPr bwMode="auto">
          <a:xfrm>
            <a:off x="5238751" y="3041650"/>
            <a:ext cx="1476375" cy="1588"/>
          </a:xfrm>
          <a:prstGeom prst="line">
            <a:avLst/>
          </a:prstGeom>
          <a:noFill/>
          <a:ln w="38100" algn="ctr">
            <a:solidFill>
              <a:srgbClr val="FF0000"/>
            </a:solidFill>
            <a:round/>
            <a:headEnd/>
            <a:tailEnd/>
          </a:ln>
        </p:spPr>
      </p:cxnSp>
      <p:cxnSp>
        <p:nvCxnSpPr>
          <p:cNvPr id="19461" name="直接连接符 26"/>
          <p:cNvCxnSpPr>
            <a:cxnSpLocks noChangeShapeType="1"/>
          </p:cNvCxnSpPr>
          <p:nvPr/>
        </p:nvCxnSpPr>
        <p:spPr bwMode="auto">
          <a:xfrm rot="5400000">
            <a:off x="5703095" y="3328195"/>
            <a:ext cx="574675" cy="1587"/>
          </a:xfrm>
          <a:prstGeom prst="line">
            <a:avLst/>
          </a:prstGeom>
          <a:noFill/>
          <a:ln w="38100" algn="ctr">
            <a:solidFill>
              <a:srgbClr val="FF0000"/>
            </a:solidFill>
            <a:round/>
            <a:headEnd/>
            <a:tailEnd/>
          </a:ln>
        </p:spPr>
      </p:cxnSp>
      <p:sp>
        <p:nvSpPr>
          <p:cNvPr id="19462" name="矩形 27"/>
          <p:cNvSpPr>
            <a:spLocks noChangeArrowheads="1"/>
          </p:cNvSpPr>
          <p:nvPr/>
        </p:nvSpPr>
        <p:spPr bwMode="auto">
          <a:xfrm>
            <a:off x="5133975" y="3544888"/>
            <a:ext cx="1733550" cy="400050"/>
          </a:xfrm>
          <a:prstGeom prst="rect">
            <a:avLst/>
          </a:prstGeom>
          <a:noFill/>
          <a:ln w="9525">
            <a:noFill/>
            <a:miter lim="800000"/>
            <a:headEnd/>
            <a:tailEnd/>
          </a:ln>
        </p:spPr>
        <p:txBody>
          <a:bodyPr wrap="none">
            <a:spAutoFit/>
          </a:bodyPr>
          <a:lstStyle/>
          <a:p>
            <a:r>
              <a:rPr lang="zh-CN" altLang="en-US" sz="2000" b="1">
                <a:solidFill>
                  <a:srgbClr val="FF0000"/>
                </a:solidFill>
                <a:latin typeface="黑体" pitchFamily="49" charset="-122"/>
              </a:rPr>
              <a:t>代表任何网络</a:t>
            </a:r>
          </a:p>
        </p:txBody>
      </p:sp>
      <p:sp>
        <p:nvSpPr>
          <p:cNvPr id="19463" name="AutoShape 16"/>
          <p:cNvSpPr>
            <a:spLocks noChangeArrowheads="1"/>
          </p:cNvSpPr>
          <p:nvPr/>
        </p:nvSpPr>
        <p:spPr bwMode="auto">
          <a:xfrm>
            <a:off x="2109788" y="1714500"/>
            <a:ext cx="7848600" cy="369888"/>
          </a:xfrm>
          <a:prstGeom prst="roundRect">
            <a:avLst>
              <a:gd name="adj" fmla="val 1269"/>
            </a:avLst>
          </a:prstGeom>
          <a:gradFill rotWithShape="1">
            <a:gsLst>
              <a:gs pos="0">
                <a:srgbClr val="CCFFFF"/>
              </a:gs>
              <a:gs pos="100000">
                <a:srgbClr val="FFFFFF"/>
              </a:gs>
            </a:gsLst>
            <a:lin ang="5400000" scaled="1"/>
          </a:gradFill>
          <a:ln w="9525" algn="ctr">
            <a:solidFill>
              <a:srgbClr val="008080"/>
            </a:solidFill>
            <a:round/>
            <a:headEnd/>
            <a:tailEnd/>
          </a:ln>
        </p:spPr>
        <p:txBody>
          <a:bodyPr>
            <a:spAutoFit/>
          </a:bodyPr>
          <a:lstStyle/>
          <a:p>
            <a:pPr marL="95250" lvl="1"/>
            <a:r>
              <a:rPr lang="en-US" altLang="zh-CN" b="1">
                <a:solidFill>
                  <a:schemeClr val="tx2"/>
                </a:solidFill>
              </a:rPr>
              <a:t>Router(config)# ip route </a:t>
            </a:r>
            <a:r>
              <a:rPr lang="en-US" altLang="zh-CN" b="1" i="1">
                <a:solidFill>
                  <a:schemeClr val="tx2"/>
                </a:solidFill>
              </a:rPr>
              <a:t>network mask </a:t>
            </a:r>
            <a:r>
              <a:rPr lang="en-US" altLang="zh-CN" b="1">
                <a:solidFill>
                  <a:schemeClr val="tx2"/>
                </a:solidFill>
              </a:rPr>
              <a:t>{</a:t>
            </a:r>
            <a:r>
              <a:rPr lang="en-US" altLang="zh-CN" b="1" i="1">
                <a:solidFill>
                  <a:schemeClr val="tx2"/>
                </a:solidFill>
              </a:rPr>
              <a:t>address</a:t>
            </a:r>
            <a:r>
              <a:rPr lang="en-US" altLang="zh-CN" b="1">
                <a:solidFill>
                  <a:schemeClr val="tx2"/>
                </a:solidFill>
              </a:rPr>
              <a:t> | </a:t>
            </a:r>
            <a:r>
              <a:rPr lang="en-US" altLang="zh-CN" b="1" i="1">
                <a:solidFill>
                  <a:schemeClr val="tx2"/>
                </a:solidFill>
              </a:rPr>
              <a:t>interface</a:t>
            </a:r>
            <a:r>
              <a:rPr lang="en-US" altLang="zh-CN" b="1">
                <a:solidFill>
                  <a:schemeClr val="tx2"/>
                </a:solidFill>
              </a:rPr>
              <a:t>}</a:t>
            </a:r>
          </a:p>
        </p:txBody>
      </p:sp>
      <p:sp>
        <p:nvSpPr>
          <p:cNvPr id="19464" name="AutoShape 16"/>
          <p:cNvSpPr>
            <a:spLocks noChangeArrowheads="1"/>
          </p:cNvSpPr>
          <p:nvPr/>
        </p:nvSpPr>
        <p:spPr bwMode="auto">
          <a:xfrm>
            <a:off x="2109788" y="2643189"/>
            <a:ext cx="7848600" cy="369887"/>
          </a:xfrm>
          <a:prstGeom prst="roundRect">
            <a:avLst>
              <a:gd name="adj" fmla="val 1269"/>
            </a:avLst>
          </a:prstGeom>
          <a:gradFill rotWithShape="1">
            <a:gsLst>
              <a:gs pos="0">
                <a:srgbClr val="CCFFFF"/>
              </a:gs>
              <a:gs pos="100000">
                <a:srgbClr val="FFFFFF"/>
              </a:gs>
            </a:gsLst>
            <a:lin ang="5400000" scaled="1"/>
          </a:gradFill>
          <a:ln w="9525" algn="ctr">
            <a:solidFill>
              <a:srgbClr val="008080"/>
            </a:solidFill>
            <a:round/>
            <a:headEnd/>
            <a:tailEnd/>
          </a:ln>
        </p:spPr>
        <p:txBody>
          <a:bodyPr>
            <a:spAutoFit/>
          </a:bodyPr>
          <a:lstStyle/>
          <a:p>
            <a:pPr marL="95250" lvl="1"/>
            <a:r>
              <a:rPr lang="fr-FR" altLang="zh-CN" b="1">
                <a:solidFill>
                  <a:schemeClr val="tx2"/>
                </a:solidFill>
              </a:rPr>
              <a:t>Router</a:t>
            </a:r>
            <a:r>
              <a:rPr lang="zh-CN" altLang="en-US" b="1">
                <a:solidFill>
                  <a:schemeClr val="tx2"/>
                </a:solidFill>
              </a:rPr>
              <a:t>（</a:t>
            </a:r>
            <a:r>
              <a:rPr lang="fr-FR" altLang="zh-CN" b="1">
                <a:solidFill>
                  <a:schemeClr val="tx2"/>
                </a:solidFill>
              </a:rPr>
              <a:t>config</a:t>
            </a:r>
            <a:r>
              <a:rPr lang="zh-CN" altLang="en-US" b="1">
                <a:solidFill>
                  <a:schemeClr val="tx2"/>
                </a:solidFill>
              </a:rPr>
              <a:t>）</a:t>
            </a:r>
            <a:r>
              <a:rPr lang="fr-FR" altLang="zh-CN" b="1">
                <a:solidFill>
                  <a:schemeClr val="tx2"/>
                </a:solidFill>
              </a:rPr>
              <a:t># ip route 0.0.0.0 0.0.0.0 </a:t>
            </a:r>
            <a:r>
              <a:rPr lang="fr-FR" altLang="zh-CN" b="1" i="1">
                <a:solidFill>
                  <a:schemeClr val="tx2"/>
                </a:solidFill>
              </a:rPr>
              <a:t>address</a:t>
            </a:r>
            <a:endParaRPr lang="zh-CN" altLang="en-US" b="1" i="1">
              <a:solidFill>
                <a:schemeClr val="tx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38313" y="1143000"/>
            <a:ext cx="8501062" cy="5143500"/>
          </a:xfrm>
        </p:spPr>
        <p:txBody>
          <a:bodyPr/>
          <a:lstStyle/>
          <a:p>
            <a:pPr>
              <a:spcBef>
                <a:spcPts val="675"/>
              </a:spcBef>
            </a:pPr>
            <a:r>
              <a:rPr lang="zh-CN" altLang="en-US"/>
              <a:t>实现两台主机互通</a:t>
            </a:r>
            <a:endParaRPr lang="en-US" altLang="zh-CN"/>
          </a:p>
          <a:p>
            <a:pPr lvl="1">
              <a:spcBef>
                <a:spcPts val="475"/>
              </a:spcBef>
            </a:pPr>
            <a:r>
              <a:rPr lang="zh-CN" altLang="en-US"/>
              <a:t>在没有配置路由条目的情况下</a:t>
            </a:r>
            <a:endParaRPr lang="en-US" altLang="zh-CN"/>
          </a:p>
          <a:p>
            <a:pPr lvl="1">
              <a:spcBef>
                <a:spcPts val="475"/>
              </a:spcBef>
            </a:pPr>
            <a:r>
              <a:rPr lang="zh-CN" altLang="en-US"/>
              <a:t>让</a:t>
            </a:r>
            <a:r>
              <a:rPr lang="en-US" altLang="zh-CN"/>
              <a:t>R1</a:t>
            </a:r>
            <a:r>
              <a:rPr lang="zh-CN" altLang="en-US"/>
              <a:t>知道</a:t>
            </a:r>
            <a:r>
              <a:rPr lang="en-US" altLang="zh-CN"/>
              <a:t>30.0.0.0</a:t>
            </a:r>
            <a:r>
              <a:rPr lang="zh-CN" altLang="en-US"/>
              <a:t>，让</a:t>
            </a:r>
            <a:r>
              <a:rPr lang="en-US" altLang="zh-CN"/>
              <a:t>R2</a:t>
            </a:r>
            <a:r>
              <a:rPr lang="zh-CN" altLang="en-US"/>
              <a:t>知道</a:t>
            </a:r>
            <a:r>
              <a:rPr lang="en-US" altLang="zh-CN"/>
              <a:t>10.0.0.0</a:t>
            </a:r>
            <a:endParaRPr lang="zh-CN" altLang="en-US"/>
          </a:p>
        </p:txBody>
      </p:sp>
      <p:sp>
        <p:nvSpPr>
          <p:cNvPr id="20483" name="标题 2"/>
          <p:cNvSpPr>
            <a:spLocks noGrp="1"/>
          </p:cNvSpPr>
          <p:nvPr>
            <p:ph type="title"/>
          </p:nvPr>
        </p:nvSpPr>
        <p:spPr/>
        <p:txBody>
          <a:bodyPr/>
          <a:lstStyle/>
          <a:p>
            <a:r>
              <a:rPr lang="zh-CN" altLang="en-US"/>
              <a:t>配置实例一</a:t>
            </a:r>
          </a:p>
        </p:txBody>
      </p:sp>
      <p:grpSp>
        <p:nvGrpSpPr>
          <p:cNvPr id="3" name="组合 33"/>
          <p:cNvGrpSpPr>
            <a:grpSpLocks/>
          </p:cNvGrpSpPr>
          <p:nvPr/>
        </p:nvGrpSpPr>
        <p:grpSpPr bwMode="auto">
          <a:xfrm>
            <a:off x="3081338" y="3214689"/>
            <a:ext cx="5721350" cy="2816225"/>
            <a:chOff x="1557955" y="2000240"/>
            <a:chExt cx="5721049" cy="2816861"/>
          </a:xfrm>
        </p:grpSpPr>
        <p:pic>
          <p:nvPicPr>
            <p:cNvPr id="20493" name="Picture 4" descr="电脑图标"/>
            <p:cNvPicPr>
              <a:picLocks noChangeAspect="1" noChangeArrowheads="1"/>
            </p:cNvPicPr>
            <p:nvPr/>
          </p:nvPicPr>
          <p:blipFill>
            <a:blip r:embed="rId3"/>
            <a:srcRect/>
            <a:stretch>
              <a:fillRect/>
            </a:stretch>
          </p:blipFill>
          <p:spPr bwMode="auto">
            <a:xfrm>
              <a:off x="1807184" y="3662888"/>
              <a:ext cx="732199" cy="766244"/>
            </a:xfrm>
            <a:prstGeom prst="rect">
              <a:avLst/>
            </a:prstGeom>
            <a:noFill/>
            <a:ln w="9525">
              <a:noFill/>
              <a:miter lim="800000"/>
              <a:headEnd/>
              <a:tailEnd/>
            </a:ln>
          </p:spPr>
        </p:pic>
        <p:cxnSp>
          <p:nvCxnSpPr>
            <p:cNvPr id="20494" name="直接连接符 11"/>
            <p:cNvCxnSpPr>
              <a:cxnSpLocks noChangeShapeType="1"/>
            </p:cNvCxnSpPr>
            <p:nvPr/>
          </p:nvCxnSpPr>
          <p:spPr bwMode="auto">
            <a:xfrm>
              <a:off x="2698649" y="2322346"/>
              <a:ext cx="3302111" cy="1588"/>
            </a:xfrm>
            <a:prstGeom prst="line">
              <a:avLst/>
            </a:prstGeom>
            <a:noFill/>
            <a:ln w="22225" algn="ctr">
              <a:solidFill>
                <a:srgbClr val="FF0000"/>
              </a:solidFill>
              <a:round/>
              <a:headEnd/>
              <a:tailEnd/>
            </a:ln>
          </p:spPr>
        </p:cxnSp>
        <p:sp>
          <p:nvSpPr>
            <p:cNvPr id="20495" name="TextBox 20"/>
            <p:cNvSpPr txBox="1">
              <a:spLocks noChangeArrowheads="1"/>
            </p:cNvSpPr>
            <p:nvPr/>
          </p:nvSpPr>
          <p:spPr bwMode="auto">
            <a:xfrm>
              <a:off x="1643063" y="2569197"/>
              <a:ext cx="642942" cy="338556"/>
            </a:xfrm>
            <a:prstGeom prst="rect">
              <a:avLst/>
            </a:prstGeom>
            <a:noFill/>
            <a:ln w="9525">
              <a:noFill/>
              <a:miter lim="800000"/>
              <a:headEnd/>
              <a:tailEnd/>
            </a:ln>
          </p:spPr>
          <p:txBody>
            <a:bodyPr>
              <a:spAutoFit/>
            </a:bodyPr>
            <a:lstStyle/>
            <a:p>
              <a:r>
                <a:rPr lang="en-US" altLang="zh-CN" sz="1600" b="1">
                  <a:solidFill>
                    <a:schemeClr val="tx2"/>
                  </a:solidFill>
                </a:rPr>
                <a:t>F0/0</a:t>
              </a:r>
              <a:endParaRPr lang="zh-CN" altLang="en-US" sz="1600" b="1">
                <a:solidFill>
                  <a:schemeClr val="tx2"/>
                </a:solidFill>
              </a:endParaRPr>
            </a:p>
          </p:txBody>
        </p:sp>
        <p:sp>
          <p:nvSpPr>
            <p:cNvPr id="20496" name="TextBox 21"/>
            <p:cNvSpPr txBox="1">
              <a:spLocks noChangeArrowheads="1"/>
            </p:cNvSpPr>
            <p:nvPr/>
          </p:nvSpPr>
          <p:spPr bwMode="auto">
            <a:xfrm>
              <a:off x="2643174" y="2335405"/>
              <a:ext cx="643022" cy="338556"/>
            </a:xfrm>
            <a:prstGeom prst="rect">
              <a:avLst/>
            </a:prstGeom>
            <a:noFill/>
            <a:ln w="9525">
              <a:noFill/>
              <a:miter lim="800000"/>
              <a:headEnd/>
              <a:tailEnd/>
            </a:ln>
          </p:spPr>
          <p:txBody>
            <a:bodyPr>
              <a:spAutoFit/>
            </a:bodyPr>
            <a:lstStyle/>
            <a:p>
              <a:r>
                <a:rPr lang="en-US" altLang="zh-CN" sz="1600" b="1">
                  <a:solidFill>
                    <a:schemeClr val="tx2"/>
                  </a:solidFill>
                </a:rPr>
                <a:t>F0/1</a:t>
              </a:r>
              <a:endParaRPr lang="zh-CN" altLang="en-US" sz="1600" b="1">
                <a:solidFill>
                  <a:schemeClr val="tx2"/>
                </a:solidFill>
              </a:endParaRPr>
            </a:p>
          </p:txBody>
        </p:sp>
        <p:sp>
          <p:nvSpPr>
            <p:cNvPr id="20497" name="TextBox 22"/>
            <p:cNvSpPr txBox="1">
              <a:spLocks noChangeArrowheads="1"/>
            </p:cNvSpPr>
            <p:nvPr/>
          </p:nvSpPr>
          <p:spPr bwMode="auto">
            <a:xfrm>
              <a:off x="5429256" y="2049653"/>
              <a:ext cx="656912" cy="338556"/>
            </a:xfrm>
            <a:prstGeom prst="rect">
              <a:avLst/>
            </a:prstGeom>
            <a:noFill/>
            <a:ln w="9525">
              <a:noFill/>
              <a:miter lim="800000"/>
              <a:headEnd/>
              <a:tailEnd/>
            </a:ln>
          </p:spPr>
          <p:txBody>
            <a:bodyPr>
              <a:spAutoFit/>
            </a:bodyPr>
            <a:lstStyle/>
            <a:p>
              <a:r>
                <a:rPr lang="en-US" altLang="zh-CN" sz="1600" b="1">
                  <a:solidFill>
                    <a:schemeClr val="tx2"/>
                  </a:solidFill>
                </a:rPr>
                <a:t>F0/1</a:t>
              </a:r>
              <a:endParaRPr lang="zh-CN" altLang="en-US" sz="1600" b="1">
                <a:solidFill>
                  <a:schemeClr val="tx2"/>
                </a:solidFill>
              </a:endParaRPr>
            </a:p>
          </p:txBody>
        </p:sp>
        <p:grpSp>
          <p:nvGrpSpPr>
            <p:cNvPr id="4" name="组合 21"/>
            <p:cNvGrpSpPr>
              <a:grpSpLocks/>
            </p:cNvGrpSpPr>
            <p:nvPr/>
          </p:nvGrpSpPr>
          <p:grpSpPr bwMode="auto">
            <a:xfrm>
              <a:off x="6000760" y="2000240"/>
              <a:ext cx="1055607" cy="653575"/>
              <a:chOff x="7643834" y="1785926"/>
              <a:chExt cx="1055607" cy="653575"/>
            </a:xfrm>
          </p:grpSpPr>
          <p:pic>
            <p:nvPicPr>
              <p:cNvPr id="20509" name="Picture 4"/>
              <p:cNvPicPr>
                <a:picLocks noChangeArrowheads="1"/>
              </p:cNvPicPr>
              <p:nvPr/>
            </p:nvPicPr>
            <p:blipFill>
              <a:blip r:embed="rId4"/>
              <a:srcRect/>
              <a:stretch>
                <a:fillRect/>
              </a:stretch>
            </p:blipFill>
            <p:spPr bwMode="auto">
              <a:xfrm>
                <a:off x="7643834" y="1785926"/>
                <a:ext cx="1055607" cy="644211"/>
              </a:xfrm>
              <a:prstGeom prst="rect">
                <a:avLst/>
              </a:prstGeom>
              <a:noFill/>
              <a:ln w="9525">
                <a:noFill/>
                <a:miter lim="800000"/>
                <a:headEnd/>
                <a:tailEnd/>
              </a:ln>
            </p:spPr>
          </p:pic>
          <p:sp>
            <p:nvSpPr>
              <p:cNvPr id="20510" name="TextBox 24"/>
              <p:cNvSpPr txBox="1">
                <a:spLocks noChangeArrowheads="1"/>
              </p:cNvSpPr>
              <p:nvPr/>
            </p:nvSpPr>
            <p:spPr bwMode="auto">
              <a:xfrm>
                <a:off x="7929586" y="2100947"/>
                <a:ext cx="642942" cy="338554"/>
              </a:xfrm>
              <a:prstGeom prst="rect">
                <a:avLst/>
              </a:prstGeom>
              <a:noFill/>
              <a:ln w="9525">
                <a:noFill/>
                <a:miter lim="800000"/>
                <a:headEnd/>
                <a:tailEnd/>
              </a:ln>
            </p:spPr>
            <p:txBody>
              <a:bodyPr>
                <a:spAutoFit/>
              </a:bodyPr>
              <a:lstStyle/>
              <a:p>
                <a:r>
                  <a:rPr lang="en-US" altLang="zh-CN" sz="1600" b="1">
                    <a:solidFill>
                      <a:schemeClr val="bg1"/>
                    </a:solidFill>
                  </a:rPr>
                  <a:t>R2</a:t>
                </a:r>
                <a:endParaRPr lang="zh-CN" altLang="en-US" sz="1600" b="1">
                  <a:solidFill>
                    <a:schemeClr val="bg1"/>
                  </a:solidFill>
                </a:endParaRPr>
              </a:p>
            </p:txBody>
          </p:sp>
        </p:grpSp>
        <p:pic>
          <p:nvPicPr>
            <p:cNvPr id="20499" name="Picture 4" descr="电脑图标"/>
            <p:cNvPicPr>
              <a:picLocks noChangeAspect="1" noChangeArrowheads="1"/>
            </p:cNvPicPr>
            <p:nvPr/>
          </p:nvPicPr>
          <p:blipFill>
            <a:blip r:embed="rId3"/>
            <a:srcRect/>
            <a:stretch>
              <a:fillRect/>
            </a:stretch>
          </p:blipFill>
          <p:spPr bwMode="auto">
            <a:xfrm>
              <a:off x="6165358" y="3734326"/>
              <a:ext cx="732197" cy="766244"/>
            </a:xfrm>
            <a:prstGeom prst="rect">
              <a:avLst/>
            </a:prstGeom>
            <a:noFill/>
            <a:ln w="9525">
              <a:noFill/>
              <a:miter lim="800000"/>
              <a:headEnd/>
              <a:tailEnd/>
            </a:ln>
          </p:spPr>
        </p:pic>
        <p:cxnSp>
          <p:nvCxnSpPr>
            <p:cNvPr id="20500" name="直接连接符 28"/>
            <p:cNvCxnSpPr>
              <a:cxnSpLocks noChangeShapeType="1"/>
            </p:cNvCxnSpPr>
            <p:nvPr/>
          </p:nvCxnSpPr>
          <p:spPr bwMode="auto">
            <a:xfrm rot="16200000" flipH="1">
              <a:off x="1662847" y="3152450"/>
              <a:ext cx="1018437" cy="2438"/>
            </a:xfrm>
            <a:prstGeom prst="line">
              <a:avLst/>
            </a:prstGeom>
            <a:noFill/>
            <a:ln w="22225" algn="ctr">
              <a:solidFill>
                <a:srgbClr val="FF0000"/>
              </a:solidFill>
              <a:round/>
              <a:headEnd/>
              <a:tailEnd/>
            </a:ln>
          </p:spPr>
        </p:cxnSp>
        <p:cxnSp>
          <p:nvCxnSpPr>
            <p:cNvPr id="20501" name="直接连接符 30"/>
            <p:cNvCxnSpPr>
              <a:cxnSpLocks noChangeShapeType="1"/>
            </p:cNvCxnSpPr>
            <p:nvPr/>
          </p:nvCxnSpPr>
          <p:spPr bwMode="auto">
            <a:xfrm rot="16200000" flipH="1">
              <a:off x="5985073" y="3187941"/>
              <a:ext cx="1089875" cy="2893"/>
            </a:xfrm>
            <a:prstGeom prst="line">
              <a:avLst/>
            </a:prstGeom>
            <a:noFill/>
            <a:ln w="22225" algn="ctr">
              <a:solidFill>
                <a:srgbClr val="FF0000"/>
              </a:solidFill>
              <a:round/>
              <a:headEnd/>
              <a:tailEnd/>
            </a:ln>
          </p:spPr>
        </p:cxnSp>
        <p:sp>
          <p:nvSpPr>
            <p:cNvPr id="20502" name="TextBox 31"/>
            <p:cNvSpPr txBox="1">
              <a:spLocks noChangeArrowheads="1"/>
            </p:cNvSpPr>
            <p:nvPr/>
          </p:nvSpPr>
          <p:spPr bwMode="auto">
            <a:xfrm>
              <a:off x="6493186" y="2571744"/>
              <a:ext cx="785818" cy="338556"/>
            </a:xfrm>
            <a:prstGeom prst="rect">
              <a:avLst/>
            </a:prstGeom>
            <a:noFill/>
            <a:ln w="9525">
              <a:noFill/>
              <a:miter lim="800000"/>
              <a:headEnd/>
              <a:tailEnd/>
            </a:ln>
          </p:spPr>
          <p:txBody>
            <a:bodyPr>
              <a:spAutoFit/>
            </a:bodyPr>
            <a:lstStyle/>
            <a:p>
              <a:r>
                <a:rPr lang="en-US" altLang="zh-CN" sz="1600" b="1">
                  <a:solidFill>
                    <a:schemeClr val="tx2"/>
                  </a:solidFill>
                </a:rPr>
                <a:t>F0/0</a:t>
              </a:r>
              <a:endParaRPr lang="zh-CN" altLang="en-US" sz="1600" b="1">
                <a:solidFill>
                  <a:schemeClr val="tx2"/>
                </a:solidFill>
              </a:endParaRPr>
            </a:p>
          </p:txBody>
        </p:sp>
        <p:sp>
          <p:nvSpPr>
            <p:cNvPr id="20503" name="TextBox 33"/>
            <p:cNvSpPr txBox="1">
              <a:spLocks noChangeArrowheads="1"/>
            </p:cNvSpPr>
            <p:nvPr/>
          </p:nvSpPr>
          <p:spPr bwMode="auto">
            <a:xfrm>
              <a:off x="1557955" y="4357694"/>
              <a:ext cx="1239313" cy="338556"/>
            </a:xfrm>
            <a:prstGeom prst="rect">
              <a:avLst/>
            </a:prstGeom>
            <a:noFill/>
            <a:ln w="9525">
              <a:noFill/>
              <a:miter lim="800000"/>
              <a:headEnd/>
              <a:tailEnd/>
            </a:ln>
          </p:spPr>
          <p:txBody>
            <a:bodyPr>
              <a:spAutoFit/>
            </a:bodyPr>
            <a:lstStyle/>
            <a:p>
              <a:r>
                <a:rPr lang="en-US" altLang="zh-CN" sz="1600" b="1">
                  <a:solidFill>
                    <a:schemeClr val="tx2"/>
                  </a:solidFill>
                </a:rPr>
                <a:t>10.0.0.0/24</a:t>
              </a:r>
              <a:endParaRPr lang="zh-CN" altLang="en-US" sz="1600" b="1">
                <a:solidFill>
                  <a:schemeClr val="tx2"/>
                </a:solidFill>
              </a:endParaRPr>
            </a:p>
          </p:txBody>
        </p:sp>
        <p:sp>
          <p:nvSpPr>
            <p:cNvPr id="20504" name="TextBox 34"/>
            <p:cNvSpPr txBox="1">
              <a:spLocks noChangeArrowheads="1"/>
            </p:cNvSpPr>
            <p:nvPr/>
          </p:nvSpPr>
          <p:spPr bwMode="auto">
            <a:xfrm>
              <a:off x="5929558" y="4478545"/>
              <a:ext cx="1214759" cy="338556"/>
            </a:xfrm>
            <a:prstGeom prst="rect">
              <a:avLst/>
            </a:prstGeom>
            <a:noFill/>
            <a:ln w="9525">
              <a:noFill/>
              <a:miter lim="800000"/>
              <a:headEnd/>
              <a:tailEnd/>
            </a:ln>
          </p:spPr>
          <p:txBody>
            <a:bodyPr>
              <a:spAutoFit/>
            </a:bodyPr>
            <a:lstStyle/>
            <a:p>
              <a:r>
                <a:rPr lang="en-US" altLang="zh-CN" sz="1600" b="1">
                  <a:solidFill>
                    <a:schemeClr val="tx2"/>
                  </a:solidFill>
                </a:rPr>
                <a:t>30.0.0.0/24</a:t>
              </a:r>
              <a:endParaRPr lang="zh-CN" altLang="en-US" sz="1600" b="1">
                <a:solidFill>
                  <a:schemeClr val="tx2"/>
                </a:solidFill>
              </a:endParaRPr>
            </a:p>
          </p:txBody>
        </p:sp>
        <p:sp>
          <p:nvSpPr>
            <p:cNvPr id="20505" name="TextBox 35"/>
            <p:cNvSpPr txBox="1">
              <a:spLocks noChangeArrowheads="1"/>
            </p:cNvSpPr>
            <p:nvPr/>
          </p:nvSpPr>
          <p:spPr bwMode="auto">
            <a:xfrm>
              <a:off x="3714850" y="2000240"/>
              <a:ext cx="1214632" cy="338556"/>
            </a:xfrm>
            <a:prstGeom prst="rect">
              <a:avLst/>
            </a:prstGeom>
            <a:noFill/>
            <a:ln w="9525">
              <a:noFill/>
              <a:miter lim="800000"/>
              <a:headEnd/>
              <a:tailEnd/>
            </a:ln>
          </p:spPr>
          <p:txBody>
            <a:bodyPr>
              <a:spAutoFit/>
            </a:bodyPr>
            <a:lstStyle/>
            <a:p>
              <a:r>
                <a:rPr lang="en-US" altLang="zh-CN" sz="1600" b="1">
                  <a:solidFill>
                    <a:schemeClr val="tx2"/>
                  </a:solidFill>
                </a:rPr>
                <a:t>20.0.0.0/24</a:t>
              </a:r>
              <a:endParaRPr lang="zh-CN" altLang="en-US" sz="1600" b="1">
                <a:solidFill>
                  <a:schemeClr val="tx2"/>
                </a:solidFill>
              </a:endParaRPr>
            </a:p>
          </p:txBody>
        </p:sp>
        <p:grpSp>
          <p:nvGrpSpPr>
            <p:cNvPr id="5" name="组合 22"/>
            <p:cNvGrpSpPr>
              <a:grpSpLocks/>
            </p:cNvGrpSpPr>
            <p:nvPr/>
          </p:nvGrpSpPr>
          <p:grpSpPr bwMode="auto">
            <a:xfrm>
              <a:off x="1643042" y="2000240"/>
              <a:ext cx="1055607" cy="685111"/>
              <a:chOff x="7643834" y="1785926"/>
              <a:chExt cx="1055607" cy="685111"/>
            </a:xfrm>
          </p:grpSpPr>
          <p:pic>
            <p:nvPicPr>
              <p:cNvPr id="20507" name="Picture 4"/>
              <p:cNvPicPr>
                <a:picLocks noChangeArrowheads="1"/>
              </p:cNvPicPr>
              <p:nvPr/>
            </p:nvPicPr>
            <p:blipFill>
              <a:blip r:embed="rId4"/>
              <a:srcRect/>
              <a:stretch>
                <a:fillRect/>
              </a:stretch>
            </p:blipFill>
            <p:spPr bwMode="auto">
              <a:xfrm>
                <a:off x="7643834" y="1785926"/>
                <a:ext cx="1055607" cy="644211"/>
              </a:xfrm>
              <a:prstGeom prst="rect">
                <a:avLst/>
              </a:prstGeom>
              <a:noFill/>
              <a:ln w="9525">
                <a:noFill/>
                <a:miter lim="800000"/>
                <a:headEnd/>
                <a:tailEnd/>
              </a:ln>
            </p:spPr>
          </p:pic>
          <p:sp>
            <p:nvSpPr>
              <p:cNvPr id="20508" name="TextBox 24"/>
              <p:cNvSpPr txBox="1">
                <a:spLocks noChangeArrowheads="1"/>
              </p:cNvSpPr>
              <p:nvPr/>
            </p:nvSpPr>
            <p:spPr bwMode="auto">
              <a:xfrm>
                <a:off x="7953845" y="2132483"/>
                <a:ext cx="642942" cy="338554"/>
              </a:xfrm>
              <a:prstGeom prst="rect">
                <a:avLst/>
              </a:prstGeom>
              <a:noFill/>
              <a:ln w="9525">
                <a:noFill/>
                <a:miter lim="800000"/>
                <a:headEnd/>
                <a:tailEnd/>
              </a:ln>
            </p:spPr>
            <p:txBody>
              <a:bodyPr>
                <a:spAutoFit/>
              </a:bodyPr>
              <a:lstStyle/>
              <a:p>
                <a:r>
                  <a:rPr lang="en-US" altLang="zh-CN" sz="1600" b="1">
                    <a:solidFill>
                      <a:schemeClr val="bg1"/>
                    </a:solidFill>
                  </a:rPr>
                  <a:t>R1</a:t>
                </a:r>
                <a:endParaRPr lang="zh-CN" altLang="en-US" sz="1600" b="1">
                  <a:solidFill>
                    <a:schemeClr val="bg1"/>
                  </a:solidFill>
                </a:endParaRPr>
              </a:p>
            </p:txBody>
          </p:sp>
        </p:grpSp>
      </p:grpSp>
      <p:sp>
        <p:nvSpPr>
          <p:cNvPr id="36" name="AutoShape 191"/>
          <p:cNvSpPr>
            <a:spLocks noChangeArrowheads="1"/>
          </p:cNvSpPr>
          <p:nvPr/>
        </p:nvSpPr>
        <p:spPr bwMode="auto">
          <a:xfrm>
            <a:off x="3810001" y="4357688"/>
            <a:ext cx="2143125" cy="500062"/>
          </a:xfrm>
          <a:prstGeom prst="wedgeRoundRectCallout">
            <a:avLst>
              <a:gd name="adj1" fmla="val -33847"/>
              <a:gd name="adj2" fmla="val 100264"/>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我想去</a:t>
            </a:r>
            <a:r>
              <a:rPr lang="en-US" altLang="zh-CN" sz="2000" b="1">
                <a:solidFill>
                  <a:schemeClr val="tx2"/>
                </a:solidFill>
                <a:latin typeface="楷体_GB2312" pitchFamily="49" charset="-122"/>
                <a:ea typeface="楷体_GB2312" pitchFamily="49" charset="-122"/>
              </a:rPr>
              <a:t>30.0.0.0</a:t>
            </a:r>
            <a:endParaRPr lang="zh-CN" altLang="en-US" sz="2000" b="1">
              <a:solidFill>
                <a:schemeClr val="tx2"/>
              </a:solidFill>
              <a:latin typeface="楷体_GB2312" pitchFamily="49" charset="-122"/>
              <a:ea typeface="楷体_GB2312" pitchFamily="49" charset="-122"/>
            </a:endParaRPr>
          </a:p>
        </p:txBody>
      </p:sp>
      <p:sp>
        <p:nvSpPr>
          <p:cNvPr id="37" name="AutoShape 191"/>
          <p:cNvSpPr>
            <a:spLocks noChangeArrowheads="1"/>
          </p:cNvSpPr>
          <p:nvPr/>
        </p:nvSpPr>
        <p:spPr bwMode="auto">
          <a:xfrm>
            <a:off x="3738564" y="2571751"/>
            <a:ext cx="2357437" cy="500063"/>
          </a:xfrm>
          <a:prstGeom prst="wedgeRoundRectCallout">
            <a:avLst>
              <a:gd name="adj1" fmla="val -33847"/>
              <a:gd name="adj2" fmla="val 100264"/>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我不知道</a:t>
            </a:r>
            <a:r>
              <a:rPr lang="en-US" altLang="zh-CN" sz="2000" b="1">
                <a:solidFill>
                  <a:schemeClr val="tx2"/>
                </a:solidFill>
                <a:latin typeface="楷体_GB2312" pitchFamily="49" charset="-122"/>
                <a:ea typeface="楷体_GB2312" pitchFamily="49" charset="-122"/>
              </a:rPr>
              <a:t>30.0.0.0</a:t>
            </a:r>
            <a:endParaRPr lang="zh-CN" altLang="en-US" sz="2000" b="1">
              <a:solidFill>
                <a:schemeClr val="tx2"/>
              </a:solidFill>
              <a:latin typeface="楷体_GB2312" pitchFamily="49" charset="-122"/>
              <a:ea typeface="楷体_GB2312" pitchFamily="49" charset="-122"/>
            </a:endParaRPr>
          </a:p>
        </p:txBody>
      </p:sp>
      <p:sp>
        <p:nvSpPr>
          <p:cNvPr id="38" name="AutoShape 8"/>
          <p:cNvSpPr>
            <a:spLocks noChangeArrowheads="1"/>
          </p:cNvSpPr>
          <p:nvPr/>
        </p:nvSpPr>
        <p:spPr bwMode="auto">
          <a:xfrm>
            <a:off x="2881313" y="4000501"/>
            <a:ext cx="6000750" cy="968375"/>
          </a:xfrm>
          <a:prstGeom prst="roundRect">
            <a:avLst>
              <a:gd name="adj" fmla="val 9060"/>
            </a:avLst>
          </a:prstGeom>
          <a:gradFill rotWithShape="1">
            <a:gsLst>
              <a:gs pos="0">
                <a:srgbClr val="CCFFFF"/>
              </a:gs>
              <a:gs pos="100000">
                <a:srgbClr val="FFFFFF"/>
              </a:gs>
            </a:gsLst>
            <a:lin ang="5400000" scaled="1"/>
          </a:gradFill>
          <a:ln w="9525" algn="ctr">
            <a:solidFill>
              <a:srgbClr val="008080"/>
            </a:solidFill>
            <a:round/>
            <a:headEnd/>
            <a:tailEnd/>
          </a:ln>
        </p:spPr>
        <p:txBody>
          <a:bodyPr>
            <a:spAutoFit/>
          </a:bodyPr>
          <a:lstStyle/>
          <a:p>
            <a:pPr marL="95250" lvl="1"/>
            <a:r>
              <a:rPr lang="en-GB" altLang="zh-CN" b="1">
                <a:solidFill>
                  <a:schemeClr val="tx2"/>
                </a:solidFill>
              </a:rPr>
              <a:t>R1(config)#ip route 30.0.0.0 255.255.255.0 20.0.0.2</a:t>
            </a:r>
          </a:p>
          <a:p>
            <a:pPr marL="95250" lvl="1"/>
            <a:endParaRPr lang="zh-CN" altLang="en-US" b="1">
              <a:solidFill>
                <a:schemeClr val="tx2"/>
              </a:solidFill>
            </a:endParaRPr>
          </a:p>
          <a:p>
            <a:pPr marL="95250" lvl="1"/>
            <a:r>
              <a:rPr lang="en-GB" altLang="zh-CN" b="1">
                <a:solidFill>
                  <a:schemeClr val="tx2"/>
                </a:solidFill>
              </a:rPr>
              <a:t>R2(config)#ip route 10.0.0.0 255.255.255.0 20.0.0.1</a:t>
            </a:r>
            <a:endParaRPr lang="zh-CN" altLang="en-US" b="1">
              <a:solidFill>
                <a:schemeClr val="tx2"/>
              </a:solidFill>
            </a:endParaRPr>
          </a:p>
        </p:txBody>
      </p:sp>
      <p:sp>
        <p:nvSpPr>
          <p:cNvPr id="40" name="AutoShape 8"/>
          <p:cNvSpPr>
            <a:spLocks noChangeArrowheads="1"/>
          </p:cNvSpPr>
          <p:nvPr/>
        </p:nvSpPr>
        <p:spPr bwMode="auto">
          <a:xfrm>
            <a:off x="1982789" y="1673226"/>
            <a:ext cx="8027987" cy="4443413"/>
          </a:xfrm>
          <a:prstGeom prst="roundRect">
            <a:avLst>
              <a:gd name="adj" fmla="val 1972"/>
            </a:avLst>
          </a:prstGeom>
          <a:gradFill rotWithShape="1">
            <a:gsLst>
              <a:gs pos="0">
                <a:srgbClr val="CCFFFF"/>
              </a:gs>
              <a:gs pos="100000">
                <a:srgbClr val="FFFFFF"/>
              </a:gs>
            </a:gsLst>
            <a:lin ang="5400000" scaled="1"/>
          </a:gradFill>
          <a:ln w="9525" algn="ctr">
            <a:solidFill>
              <a:srgbClr val="008080"/>
            </a:solidFill>
            <a:round/>
            <a:headEnd/>
            <a:tailEnd/>
          </a:ln>
        </p:spPr>
        <p:txBody>
          <a:bodyPr>
            <a:spAutoFit/>
          </a:bodyPr>
          <a:lstStyle/>
          <a:p>
            <a:pPr marL="95250" lvl="1"/>
            <a:r>
              <a:rPr lang="en-GB" altLang="zh-CN" sz="1600" b="1">
                <a:solidFill>
                  <a:schemeClr val="tx2"/>
                </a:solidFill>
              </a:rPr>
              <a:t>R1# show ip route</a:t>
            </a:r>
            <a:endParaRPr lang="zh-CN" altLang="en-US" sz="1600" b="1">
              <a:solidFill>
                <a:schemeClr val="tx2"/>
              </a:solidFill>
            </a:endParaRPr>
          </a:p>
          <a:p>
            <a:pPr marL="95250" lvl="1"/>
            <a:r>
              <a:rPr lang="en-GB" altLang="zh-CN" sz="1600" b="1">
                <a:solidFill>
                  <a:schemeClr val="tx2"/>
                </a:solidFill>
              </a:rPr>
              <a:t>Codes: C - connected, S - static, R - RIP, M - mobile, B - BGP</a:t>
            </a:r>
            <a:endParaRPr lang="zh-CN" altLang="en-US" sz="1600" b="1">
              <a:solidFill>
                <a:schemeClr val="tx2"/>
              </a:solidFill>
            </a:endParaRPr>
          </a:p>
          <a:p>
            <a:pPr marL="95250" lvl="1"/>
            <a:r>
              <a:rPr lang="en-GB" altLang="zh-CN" sz="1600" b="1">
                <a:solidFill>
                  <a:schemeClr val="tx2"/>
                </a:solidFill>
              </a:rPr>
              <a:t>       D - EIGRP, EX - EIGRP external, O - OSPF, IA - OSPF inter area</a:t>
            </a:r>
            <a:endParaRPr lang="zh-CN" altLang="en-US" sz="1600" b="1">
              <a:solidFill>
                <a:schemeClr val="tx2"/>
              </a:solidFill>
            </a:endParaRPr>
          </a:p>
          <a:p>
            <a:pPr marL="95250" lvl="1"/>
            <a:r>
              <a:rPr lang="en-GB" altLang="zh-CN" sz="1600" b="1">
                <a:solidFill>
                  <a:schemeClr val="tx2"/>
                </a:solidFill>
              </a:rPr>
              <a:t>       N1 - OSPF NSSA external type 1, N2 - OSPF NSSA external type 2</a:t>
            </a:r>
            <a:endParaRPr lang="zh-CN" altLang="en-US" sz="1600" b="1">
              <a:solidFill>
                <a:schemeClr val="tx2"/>
              </a:solidFill>
            </a:endParaRPr>
          </a:p>
          <a:p>
            <a:pPr marL="95250" lvl="1"/>
            <a:r>
              <a:rPr lang="en-GB" altLang="zh-CN" sz="1600" b="1">
                <a:solidFill>
                  <a:schemeClr val="tx2"/>
                </a:solidFill>
              </a:rPr>
              <a:t>       E1 - OSPF external type 1, E2 - OSPF external type 2</a:t>
            </a:r>
            <a:endParaRPr lang="zh-CN" altLang="en-US" sz="1600" b="1">
              <a:solidFill>
                <a:schemeClr val="tx2"/>
              </a:solidFill>
            </a:endParaRPr>
          </a:p>
          <a:p>
            <a:pPr marL="95250" lvl="1"/>
            <a:r>
              <a:rPr lang="en-GB" altLang="zh-CN" sz="1600" b="1">
                <a:solidFill>
                  <a:schemeClr val="tx2"/>
                </a:solidFill>
              </a:rPr>
              <a:t>       i - IS-IS, su - IS-IS summary, L1 - IS-IS level-1, L2 - IS-IS level-2</a:t>
            </a:r>
            <a:endParaRPr lang="zh-CN" altLang="en-US" sz="1600" b="1">
              <a:solidFill>
                <a:schemeClr val="tx2"/>
              </a:solidFill>
            </a:endParaRPr>
          </a:p>
          <a:p>
            <a:pPr marL="95250" lvl="1"/>
            <a:r>
              <a:rPr lang="en-GB" altLang="zh-CN" sz="1600" b="1">
                <a:solidFill>
                  <a:schemeClr val="tx2"/>
                </a:solidFill>
              </a:rPr>
              <a:t>       ia - -IS inter area, * - candidate default, U - per-user static route</a:t>
            </a:r>
            <a:endParaRPr lang="zh-CN" altLang="en-US" sz="1600" b="1">
              <a:solidFill>
                <a:schemeClr val="tx2"/>
              </a:solidFill>
            </a:endParaRPr>
          </a:p>
          <a:p>
            <a:pPr marL="95250" lvl="1"/>
            <a:r>
              <a:rPr lang="en-GB" altLang="zh-CN" sz="1600" b="1">
                <a:solidFill>
                  <a:schemeClr val="tx2"/>
                </a:solidFill>
              </a:rPr>
              <a:t>       o - ODR, P - periodic downloaded static route</a:t>
            </a:r>
            <a:endParaRPr lang="zh-CN" altLang="en-US" sz="1600" b="1">
              <a:solidFill>
                <a:schemeClr val="tx2"/>
              </a:solidFill>
            </a:endParaRPr>
          </a:p>
          <a:p>
            <a:pPr marL="95250" lvl="1"/>
            <a:r>
              <a:rPr lang="en-GB" altLang="zh-CN" sz="1600" b="1">
                <a:solidFill>
                  <a:schemeClr val="tx2"/>
                </a:solidFill>
              </a:rPr>
              <a:t> </a:t>
            </a:r>
            <a:endParaRPr lang="zh-CN" altLang="en-US" sz="1600" b="1">
              <a:solidFill>
                <a:schemeClr val="tx2"/>
              </a:solidFill>
            </a:endParaRPr>
          </a:p>
          <a:p>
            <a:pPr marL="95250" lvl="1"/>
            <a:r>
              <a:rPr lang="en-GB" altLang="zh-CN" sz="1600" b="1">
                <a:solidFill>
                  <a:schemeClr val="tx2"/>
                </a:solidFill>
              </a:rPr>
              <a:t>Gateway of last resort is not set</a:t>
            </a:r>
            <a:endParaRPr lang="zh-CN" altLang="en-US" sz="1600" b="1">
              <a:solidFill>
                <a:schemeClr val="tx2"/>
              </a:solidFill>
            </a:endParaRPr>
          </a:p>
          <a:p>
            <a:pPr marL="95250" lvl="1"/>
            <a:r>
              <a:rPr lang="en-GB" altLang="zh-CN" sz="1600" b="1">
                <a:solidFill>
                  <a:schemeClr val="tx2"/>
                </a:solidFill>
              </a:rPr>
              <a:t> </a:t>
            </a:r>
            <a:endParaRPr lang="zh-CN" altLang="en-US" sz="1600" b="1">
              <a:solidFill>
                <a:schemeClr val="tx2"/>
              </a:solidFill>
            </a:endParaRPr>
          </a:p>
          <a:p>
            <a:pPr marL="95250" lvl="1"/>
            <a:r>
              <a:rPr lang="en-GB" altLang="zh-CN" sz="1600" b="1">
                <a:solidFill>
                  <a:schemeClr val="tx2"/>
                </a:solidFill>
              </a:rPr>
              <a:t>           10.0.0.0/24 is subnetted, 1 subnets</a:t>
            </a:r>
            <a:endParaRPr lang="zh-CN" altLang="en-US" sz="1600" b="1">
              <a:solidFill>
                <a:schemeClr val="tx2"/>
              </a:solidFill>
            </a:endParaRPr>
          </a:p>
          <a:p>
            <a:pPr marL="95250" lvl="1"/>
            <a:r>
              <a:rPr lang="en-GB" altLang="zh-CN" sz="1600" b="1">
                <a:solidFill>
                  <a:srgbClr val="FF0000"/>
                </a:solidFill>
              </a:rPr>
              <a:t>C</a:t>
            </a:r>
            <a:r>
              <a:rPr lang="en-GB" altLang="zh-CN" sz="1600" b="1">
                <a:solidFill>
                  <a:schemeClr val="tx2"/>
                </a:solidFill>
              </a:rPr>
              <a:t>    	  10.0.0.0 is directly connected, </a:t>
            </a:r>
            <a:r>
              <a:rPr lang="en-GB" altLang="zh-CN" sz="1600" b="1">
                <a:solidFill>
                  <a:srgbClr val="FF0000"/>
                </a:solidFill>
              </a:rPr>
              <a:t>FastEthernet0/0</a:t>
            </a:r>
            <a:endParaRPr lang="zh-CN" altLang="en-US" sz="1600" b="1">
              <a:solidFill>
                <a:srgbClr val="FF0000"/>
              </a:solidFill>
            </a:endParaRPr>
          </a:p>
          <a:p>
            <a:pPr marL="95250" lvl="1"/>
            <a:r>
              <a:rPr lang="en-GB" altLang="zh-CN" sz="1600" b="1">
                <a:solidFill>
                  <a:schemeClr val="tx2"/>
                </a:solidFill>
              </a:rPr>
              <a:t>           20.0.0.0/24 is subnetted, 1 subnets</a:t>
            </a:r>
            <a:endParaRPr lang="zh-CN" altLang="en-US" sz="1600" b="1">
              <a:solidFill>
                <a:schemeClr val="tx2"/>
              </a:solidFill>
            </a:endParaRPr>
          </a:p>
          <a:p>
            <a:pPr marL="95250" lvl="1"/>
            <a:r>
              <a:rPr lang="en-GB" altLang="zh-CN" sz="1600" b="1">
                <a:solidFill>
                  <a:schemeClr val="tx2"/>
                </a:solidFill>
              </a:rPr>
              <a:t>C    	  20.0.0.0 is directly connected, FastEthernet0/1</a:t>
            </a:r>
            <a:endParaRPr lang="zh-CN" altLang="en-US" sz="1600" b="1">
              <a:solidFill>
                <a:schemeClr val="tx2"/>
              </a:solidFill>
            </a:endParaRPr>
          </a:p>
          <a:p>
            <a:pPr marL="95250" lvl="1"/>
            <a:r>
              <a:rPr lang="en-GB" altLang="zh-CN" sz="1600" b="1">
                <a:solidFill>
                  <a:schemeClr val="tx2"/>
                </a:solidFill>
              </a:rPr>
              <a:t>           30.0.0.0/24 is subnetted, 1 subnets</a:t>
            </a:r>
            <a:endParaRPr lang="zh-CN" altLang="en-US" sz="1600" b="1">
              <a:solidFill>
                <a:schemeClr val="tx2"/>
              </a:solidFill>
            </a:endParaRPr>
          </a:p>
          <a:p>
            <a:pPr marL="95250" lvl="1"/>
            <a:r>
              <a:rPr lang="en-GB" altLang="zh-CN" sz="1600" b="1">
                <a:solidFill>
                  <a:srgbClr val="FF0000"/>
                </a:solidFill>
              </a:rPr>
              <a:t>S</a:t>
            </a:r>
            <a:r>
              <a:rPr lang="en-GB" altLang="zh-CN" sz="1600" b="1">
                <a:solidFill>
                  <a:schemeClr val="tx2"/>
                </a:solidFill>
              </a:rPr>
              <a:t>    	  30.0.0.0 [1/0] via </a:t>
            </a:r>
            <a:r>
              <a:rPr lang="en-GB" altLang="zh-CN" sz="1600" b="1">
                <a:solidFill>
                  <a:srgbClr val="FF0000"/>
                </a:solidFill>
              </a:rPr>
              <a:t>20.0.0.1</a:t>
            </a:r>
            <a:endParaRPr lang="zh-CN" altLang="zh-CN" sz="1600" b="1">
              <a:solidFill>
                <a:srgbClr val="FF0000"/>
              </a:solidFill>
            </a:endParaRPr>
          </a:p>
        </p:txBody>
      </p:sp>
      <p:sp>
        <p:nvSpPr>
          <p:cNvPr id="47" name="AutoShape 52"/>
          <p:cNvSpPr>
            <a:spLocks noChangeArrowheads="1"/>
          </p:cNvSpPr>
          <p:nvPr/>
        </p:nvSpPr>
        <p:spPr bwMode="auto">
          <a:xfrm>
            <a:off x="1703388" y="3749676"/>
            <a:ext cx="1319212" cy="474663"/>
          </a:xfrm>
          <a:prstGeom prst="wedgeRoundRectCallout">
            <a:avLst>
              <a:gd name="adj1" fmla="val -10736"/>
              <a:gd name="adj2" fmla="val 144208"/>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直连路由</a:t>
            </a:r>
          </a:p>
        </p:txBody>
      </p:sp>
      <p:sp>
        <p:nvSpPr>
          <p:cNvPr id="48" name="AutoShape 52"/>
          <p:cNvSpPr>
            <a:spLocks noChangeArrowheads="1"/>
          </p:cNvSpPr>
          <p:nvPr/>
        </p:nvSpPr>
        <p:spPr bwMode="auto">
          <a:xfrm>
            <a:off x="1741488" y="6196013"/>
            <a:ext cx="1319212" cy="474662"/>
          </a:xfrm>
          <a:prstGeom prst="wedgeRoundRectCallout">
            <a:avLst>
              <a:gd name="adj1" fmla="val -8667"/>
              <a:gd name="adj2" fmla="val -114560"/>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静态路由</a:t>
            </a:r>
          </a:p>
        </p:txBody>
      </p:sp>
      <p:sp>
        <p:nvSpPr>
          <p:cNvPr id="49" name="AutoShape 52"/>
          <p:cNvSpPr>
            <a:spLocks noChangeArrowheads="1"/>
          </p:cNvSpPr>
          <p:nvPr/>
        </p:nvSpPr>
        <p:spPr bwMode="auto">
          <a:xfrm>
            <a:off x="7524750" y="3714751"/>
            <a:ext cx="1885950" cy="657225"/>
          </a:xfrm>
          <a:prstGeom prst="wedgeRoundRectCallout">
            <a:avLst>
              <a:gd name="adj1" fmla="val -56245"/>
              <a:gd name="adj2" fmla="val 101880"/>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直连路由网段所在端口</a:t>
            </a:r>
          </a:p>
        </p:txBody>
      </p:sp>
      <p:sp>
        <p:nvSpPr>
          <p:cNvPr id="50" name="AutoShape 52"/>
          <p:cNvSpPr>
            <a:spLocks noChangeArrowheads="1"/>
          </p:cNvSpPr>
          <p:nvPr/>
        </p:nvSpPr>
        <p:spPr bwMode="auto">
          <a:xfrm>
            <a:off x="6167439" y="5988050"/>
            <a:ext cx="1620837" cy="584200"/>
          </a:xfrm>
          <a:prstGeom prst="wedgeRoundRectCallout">
            <a:avLst>
              <a:gd name="adj1" fmla="val -88764"/>
              <a:gd name="adj2" fmla="val -85810"/>
              <a:gd name="adj3" fmla="val 16667"/>
            </a:avLst>
          </a:prstGeom>
          <a:gradFill rotWithShape="1">
            <a:gsLst>
              <a:gs pos="0">
                <a:srgbClr val="FFFF99"/>
              </a:gs>
              <a:gs pos="100000">
                <a:srgbClr val="FFFFFF"/>
              </a:gs>
            </a:gsLst>
            <a:lin ang="5400000" scaled="1"/>
          </a:gradFill>
          <a:ln w="9525" algn="ctr">
            <a:solidFill>
              <a:srgbClr val="FF9900"/>
            </a:solidFill>
            <a:miter lim="800000"/>
            <a:headEnd/>
            <a:tailEnd/>
          </a:ln>
        </p:spPr>
        <p:txBody>
          <a:bodyPr anchor="ctr" anchorCtr="1"/>
          <a:lstStyle/>
          <a:p>
            <a:r>
              <a:rPr lang="zh-CN" altLang="en-US" sz="2000" b="1">
                <a:solidFill>
                  <a:schemeClr val="tx2"/>
                </a:solidFill>
                <a:latin typeface="楷体_GB2312" pitchFamily="49" charset="-122"/>
                <a:ea typeface="楷体_GB2312" pitchFamily="49" charset="-122"/>
              </a:rPr>
              <a:t>静态路由下一跳地址</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up)">
                                      <p:cBhvr>
                                        <p:cTn id="7" dur="500"/>
                                        <p:tgtEl>
                                          <p:spTgt spid="2">
                                            <p:txEl>
                                              <p:pRg st="1" end="1"/>
                                            </p:txEl>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blinds(horizontal)">
                                      <p:cBhvr>
                                        <p:cTn id="11" dur="500"/>
                                        <p:tgtEl>
                                          <p:spTgt spid="36"/>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blinds(horizontal)">
                                      <p:cBhvr>
                                        <p:cTn id="15" dur="500"/>
                                        <p:tgtEl>
                                          <p:spTgt spid="37"/>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xit" presetSubtype="10" fill="hold" grpId="1" nodeType="clickEffect">
                                  <p:stCondLst>
                                    <p:cond delay="0"/>
                                  </p:stCondLst>
                                  <p:childTnLst>
                                    <p:animEffect transition="out" filter="blinds(horizontal)">
                                      <p:cBhvr>
                                        <p:cTn id="19" dur="500"/>
                                        <p:tgtEl>
                                          <p:spTgt spid="36"/>
                                        </p:tgtEl>
                                      </p:cBhvr>
                                    </p:animEffect>
                                    <p:set>
                                      <p:cBhvr>
                                        <p:cTn id="20" dur="1" fill="hold">
                                          <p:stCondLst>
                                            <p:cond delay="499"/>
                                          </p:stCondLst>
                                        </p:cTn>
                                        <p:tgtEl>
                                          <p:spTgt spid="36"/>
                                        </p:tgtEl>
                                        <p:attrNameLst>
                                          <p:attrName>style.visibility</p:attrName>
                                        </p:attrNameLst>
                                      </p:cBhvr>
                                      <p:to>
                                        <p:strVal val="hidden"/>
                                      </p:to>
                                    </p:set>
                                  </p:childTnLst>
                                </p:cTn>
                              </p:par>
                              <p:par>
                                <p:cTn id="21" presetID="3" presetClass="exit" presetSubtype="10" fill="hold" grpId="1" nodeType="withEffect">
                                  <p:stCondLst>
                                    <p:cond delay="0"/>
                                  </p:stCondLst>
                                  <p:childTnLst>
                                    <p:animEffect transition="out" filter="blinds(horizontal)">
                                      <p:cBhvr>
                                        <p:cTn id="22" dur="500"/>
                                        <p:tgtEl>
                                          <p:spTgt spid="37"/>
                                        </p:tgtEl>
                                      </p:cBhvr>
                                    </p:animEffect>
                                    <p:set>
                                      <p:cBhvr>
                                        <p:cTn id="23" dur="1" fill="hold">
                                          <p:stCondLst>
                                            <p:cond delay="499"/>
                                          </p:stCondLst>
                                        </p:cTn>
                                        <p:tgtEl>
                                          <p:spTgt spid="37"/>
                                        </p:tgtEl>
                                        <p:attrNameLst>
                                          <p:attrName>style.visibility</p:attrName>
                                        </p:attrNameLst>
                                      </p:cBhvr>
                                      <p:to>
                                        <p:strVal val="hidden"/>
                                      </p:to>
                                    </p:set>
                                  </p:childTnLst>
                                </p:cTn>
                              </p:par>
                            </p:childTnLst>
                          </p:cTn>
                        </p:par>
                        <p:par>
                          <p:cTn id="24" fill="hold">
                            <p:stCondLst>
                              <p:cond delay="500"/>
                            </p:stCondLst>
                            <p:childTnLst>
                              <p:par>
                                <p:cTn id="25" presetID="22" presetClass="entr" presetSubtype="1" fill="hold" nodeType="after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wipe(up)">
                                      <p:cBhvr>
                                        <p:cTn id="27" dur="500"/>
                                        <p:tgtEl>
                                          <p:spTgt spid="2">
                                            <p:txEl>
                                              <p:pRg st="2" end="2"/>
                                            </p:txEl>
                                          </p:spTgt>
                                        </p:tgtEl>
                                      </p:cBhvr>
                                    </p:animEffect>
                                  </p:childTnLst>
                                </p:cTn>
                              </p:par>
                            </p:childTnLst>
                          </p:cTn>
                        </p:par>
                        <p:par>
                          <p:cTn id="28" fill="hold">
                            <p:stCondLst>
                              <p:cond delay="1000"/>
                            </p:stCondLst>
                            <p:childTnLst>
                              <p:par>
                                <p:cTn id="29" presetID="22" presetClass="entr" presetSubtype="1" fill="hold" grpId="0"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up)">
                                      <p:cBhvr>
                                        <p:cTn id="31" dur="5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wipe(up)">
                                      <p:cBhvr>
                                        <p:cTn id="36" dur="500"/>
                                        <p:tgtEl>
                                          <p:spTgt spid="40"/>
                                        </p:tgtEl>
                                      </p:cBhvr>
                                    </p:animEffect>
                                  </p:childTnLst>
                                </p:cTn>
                              </p:par>
                            </p:childTnLst>
                          </p:cTn>
                        </p:par>
                        <p:par>
                          <p:cTn id="37" fill="hold">
                            <p:stCondLst>
                              <p:cond delay="500"/>
                            </p:stCondLst>
                            <p:childTnLst>
                              <p:par>
                                <p:cTn id="38" presetID="1" presetClass="entr" presetSubtype="0" fill="hold" grpId="0" nodeType="afterEffect">
                                  <p:stCondLst>
                                    <p:cond delay="0"/>
                                  </p:stCondLst>
                                  <p:childTnLst>
                                    <p:set>
                                      <p:cBhvr>
                                        <p:cTn id="39" dur="1" fill="hold">
                                          <p:stCondLst>
                                            <p:cond delay="0"/>
                                          </p:stCondLst>
                                        </p:cTn>
                                        <p:tgtEl>
                                          <p:spTgt spid="4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4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5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7" grpId="0" animBg="1"/>
      <p:bldP spid="37" grpId="1" animBg="1"/>
      <p:bldP spid="38" grpId="0" animBg="1"/>
      <p:bldP spid="40" grpId="0" animBg="1"/>
      <p:bldP spid="47" grpId="0" animBg="1"/>
      <p:bldP spid="48" grpId="0" animBg="1"/>
      <p:bldP spid="49" grpId="0" animBg="1"/>
      <p:bldP spid="5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1"/>
          <p:cNvSpPr>
            <a:spLocks noGrp="1"/>
          </p:cNvSpPr>
          <p:nvPr>
            <p:ph idx="1"/>
          </p:nvPr>
        </p:nvSpPr>
        <p:spPr>
          <a:xfrm>
            <a:off x="1738313" y="1143000"/>
            <a:ext cx="8501062" cy="5143500"/>
          </a:xfrm>
        </p:spPr>
        <p:txBody>
          <a:bodyPr/>
          <a:lstStyle/>
          <a:p>
            <a:pPr>
              <a:spcBef>
                <a:spcPts val="675"/>
              </a:spcBef>
            </a:pPr>
            <a:r>
              <a:rPr lang="zh-CN" altLang="en-US"/>
              <a:t>实现内网主机访问</a:t>
            </a:r>
            <a:r>
              <a:rPr lang="en-US" altLang="zh-CN"/>
              <a:t>Internet</a:t>
            </a:r>
            <a:r>
              <a:rPr lang="zh-CN" altLang="en-US"/>
              <a:t>服务器</a:t>
            </a:r>
          </a:p>
        </p:txBody>
      </p:sp>
      <p:sp>
        <p:nvSpPr>
          <p:cNvPr id="21507" name="标题 2"/>
          <p:cNvSpPr>
            <a:spLocks noGrp="1"/>
          </p:cNvSpPr>
          <p:nvPr>
            <p:ph type="title"/>
          </p:nvPr>
        </p:nvSpPr>
        <p:spPr/>
        <p:txBody>
          <a:bodyPr/>
          <a:lstStyle/>
          <a:p>
            <a:r>
              <a:rPr lang="zh-CN" altLang="en-US"/>
              <a:t>配置实例二</a:t>
            </a:r>
          </a:p>
        </p:txBody>
      </p:sp>
      <p:sp>
        <p:nvSpPr>
          <p:cNvPr id="4" name="椭圆 3"/>
          <p:cNvSpPr/>
          <p:nvPr/>
        </p:nvSpPr>
        <p:spPr bwMode="auto">
          <a:xfrm>
            <a:off x="3167042" y="1643050"/>
            <a:ext cx="1071570" cy="3000396"/>
          </a:xfrm>
          <a:prstGeom prst="ellipse">
            <a:avLst/>
          </a:prstGeom>
          <a:gradFill flip="none" rotWithShape="1">
            <a:gsLst>
              <a:gs pos="50000">
                <a:srgbClr val="CCFF99"/>
              </a:gs>
              <a:gs pos="100000">
                <a:schemeClr val="bg1"/>
              </a:gs>
            </a:gsLst>
            <a:path path="circle">
              <a:fillToRect l="50000" t="50000" r="50000" b="50000"/>
            </a:path>
            <a:tileRect/>
          </a:gradFill>
          <a:ln w="15875" cap="flat" cmpd="sng" algn="ctr">
            <a:solidFill>
              <a:srgbClr val="92D050"/>
            </a:solidFill>
            <a:prstDash val="solid"/>
            <a:round/>
            <a:headEnd type="none" w="med" len="med"/>
            <a:tailEnd type="none" w="med" len="med"/>
          </a:ln>
          <a:effectLst/>
        </p:spPr>
        <p:txBody>
          <a:bodyPr wrap="none" anchor="ctr" anchorCtr="1"/>
          <a:lstStyle/>
          <a:p>
            <a:pPr>
              <a:defRPr/>
            </a:pPr>
            <a:endParaRPr lang="zh-CN" altLang="en-US" b="1">
              <a:latin typeface="Arial" charset="0"/>
              <a:ea typeface="黑体" pitchFamily="2" charset="-122"/>
            </a:endParaRPr>
          </a:p>
        </p:txBody>
      </p:sp>
      <p:pic>
        <p:nvPicPr>
          <p:cNvPr id="21511" name="Picture 4"/>
          <p:cNvPicPr>
            <a:picLocks noChangeArrowheads="1"/>
          </p:cNvPicPr>
          <p:nvPr/>
        </p:nvPicPr>
        <p:blipFill>
          <a:blip r:embed="rId2"/>
          <a:srcRect/>
          <a:stretch>
            <a:fillRect/>
          </a:stretch>
        </p:blipFill>
        <p:spPr bwMode="auto">
          <a:xfrm>
            <a:off x="5343525" y="2954338"/>
            <a:ext cx="647700" cy="360362"/>
          </a:xfrm>
          <a:prstGeom prst="rect">
            <a:avLst/>
          </a:prstGeom>
          <a:noFill/>
          <a:ln w="9525">
            <a:noFill/>
            <a:miter lim="800000"/>
            <a:headEnd/>
            <a:tailEnd/>
          </a:ln>
        </p:spPr>
      </p:pic>
      <p:pic>
        <p:nvPicPr>
          <p:cNvPr id="21512" name="Picture 4" descr="电脑图标"/>
          <p:cNvPicPr>
            <a:picLocks noChangeAspect="1" noChangeArrowheads="1"/>
          </p:cNvPicPr>
          <p:nvPr/>
        </p:nvPicPr>
        <p:blipFill>
          <a:blip r:embed="rId3"/>
          <a:srcRect/>
          <a:stretch>
            <a:fillRect/>
          </a:stretch>
        </p:blipFill>
        <p:spPr bwMode="auto">
          <a:xfrm>
            <a:off x="3343275" y="2025650"/>
            <a:ext cx="647700" cy="617538"/>
          </a:xfrm>
          <a:prstGeom prst="rect">
            <a:avLst/>
          </a:prstGeom>
          <a:noFill/>
          <a:ln w="9525">
            <a:noFill/>
            <a:miter lim="800000"/>
            <a:headEnd/>
            <a:tailEnd/>
          </a:ln>
        </p:spPr>
      </p:pic>
      <p:pic>
        <p:nvPicPr>
          <p:cNvPr id="21513" name="Picture 4" descr="电脑图标"/>
          <p:cNvPicPr>
            <a:picLocks noChangeAspect="1" noChangeArrowheads="1"/>
          </p:cNvPicPr>
          <p:nvPr/>
        </p:nvPicPr>
        <p:blipFill>
          <a:blip r:embed="rId3"/>
          <a:srcRect/>
          <a:stretch>
            <a:fillRect/>
          </a:stretch>
        </p:blipFill>
        <p:spPr bwMode="auto">
          <a:xfrm>
            <a:off x="3343275" y="3597275"/>
            <a:ext cx="647700" cy="617538"/>
          </a:xfrm>
          <a:prstGeom prst="rect">
            <a:avLst/>
          </a:prstGeom>
          <a:noFill/>
          <a:ln w="9525">
            <a:noFill/>
            <a:miter lim="800000"/>
            <a:headEnd/>
            <a:tailEnd/>
          </a:ln>
        </p:spPr>
      </p:pic>
      <p:cxnSp>
        <p:nvCxnSpPr>
          <p:cNvPr id="21514" name="肘形连接符 8"/>
          <p:cNvCxnSpPr>
            <a:cxnSpLocks noChangeShapeType="1"/>
          </p:cNvCxnSpPr>
          <p:nvPr/>
        </p:nvCxnSpPr>
        <p:spPr bwMode="auto">
          <a:xfrm>
            <a:off x="3990975" y="2333625"/>
            <a:ext cx="1352550" cy="800100"/>
          </a:xfrm>
          <a:prstGeom prst="bentConnector3">
            <a:avLst>
              <a:gd name="adj1" fmla="val 50000"/>
            </a:avLst>
          </a:prstGeom>
          <a:noFill/>
          <a:ln w="22225" algn="ctr">
            <a:solidFill>
              <a:srgbClr val="FF0000"/>
            </a:solidFill>
            <a:round/>
            <a:headEnd/>
            <a:tailEnd/>
          </a:ln>
        </p:spPr>
      </p:cxnSp>
      <p:cxnSp>
        <p:nvCxnSpPr>
          <p:cNvPr id="21515" name="肘形连接符 11"/>
          <p:cNvCxnSpPr>
            <a:cxnSpLocks noChangeShapeType="1"/>
          </p:cNvCxnSpPr>
          <p:nvPr/>
        </p:nvCxnSpPr>
        <p:spPr bwMode="auto">
          <a:xfrm flipV="1">
            <a:off x="3990975" y="3133726"/>
            <a:ext cx="1352550" cy="773113"/>
          </a:xfrm>
          <a:prstGeom prst="bentConnector3">
            <a:avLst>
              <a:gd name="adj1" fmla="val 50000"/>
            </a:avLst>
          </a:prstGeom>
          <a:noFill/>
          <a:ln w="22225" algn="ctr">
            <a:solidFill>
              <a:srgbClr val="FF0000"/>
            </a:solidFill>
            <a:round/>
            <a:headEnd/>
            <a:tailEnd/>
          </a:ln>
        </p:spPr>
      </p:cxnSp>
      <p:cxnSp>
        <p:nvCxnSpPr>
          <p:cNvPr id="21516" name="直接连接符 11"/>
          <p:cNvCxnSpPr>
            <a:cxnSpLocks noChangeShapeType="1"/>
          </p:cNvCxnSpPr>
          <p:nvPr/>
        </p:nvCxnSpPr>
        <p:spPr bwMode="auto">
          <a:xfrm>
            <a:off x="5991226" y="3135314"/>
            <a:ext cx="1033463" cy="1587"/>
          </a:xfrm>
          <a:prstGeom prst="line">
            <a:avLst/>
          </a:prstGeom>
          <a:noFill/>
          <a:ln w="22225" algn="ctr">
            <a:solidFill>
              <a:srgbClr val="FF0000"/>
            </a:solidFill>
            <a:round/>
            <a:headEnd/>
            <a:tailEnd/>
          </a:ln>
        </p:spPr>
      </p:cxnSp>
      <p:pic>
        <p:nvPicPr>
          <p:cNvPr id="21517" name="Picture 6"/>
          <p:cNvPicPr>
            <a:picLocks noChangeArrowheads="1"/>
          </p:cNvPicPr>
          <p:nvPr/>
        </p:nvPicPr>
        <p:blipFill>
          <a:blip r:embed="rId4"/>
          <a:srcRect/>
          <a:stretch>
            <a:fillRect/>
          </a:stretch>
        </p:blipFill>
        <p:spPr bwMode="auto">
          <a:xfrm>
            <a:off x="7348538" y="2571750"/>
            <a:ext cx="1181100" cy="712788"/>
          </a:xfrm>
          <a:prstGeom prst="rect">
            <a:avLst/>
          </a:prstGeom>
          <a:noFill/>
          <a:ln w="9525">
            <a:noFill/>
            <a:miter lim="800000"/>
            <a:headEnd/>
            <a:tailEnd/>
          </a:ln>
        </p:spPr>
      </p:pic>
      <p:pic>
        <p:nvPicPr>
          <p:cNvPr id="21518" name="Picture 4"/>
          <p:cNvPicPr>
            <a:picLocks noChangeArrowheads="1"/>
          </p:cNvPicPr>
          <p:nvPr/>
        </p:nvPicPr>
        <p:blipFill>
          <a:blip r:embed="rId2"/>
          <a:srcRect/>
          <a:stretch>
            <a:fillRect/>
          </a:stretch>
        </p:blipFill>
        <p:spPr bwMode="auto">
          <a:xfrm>
            <a:off x="7024688" y="2954338"/>
            <a:ext cx="647700" cy="360362"/>
          </a:xfrm>
          <a:prstGeom prst="rect">
            <a:avLst/>
          </a:prstGeom>
          <a:noFill/>
          <a:ln w="9525">
            <a:noFill/>
            <a:miter lim="800000"/>
            <a:headEnd/>
            <a:tailEnd/>
          </a:ln>
        </p:spPr>
      </p:pic>
      <p:pic>
        <p:nvPicPr>
          <p:cNvPr id="21519" name="Picture 20" descr="black_server"/>
          <p:cNvPicPr>
            <a:picLocks noChangeAspect="1" noChangeArrowheads="1"/>
          </p:cNvPicPr>
          <p:nvPr/>
        </p:nvPicPr>
        <p:blipFill>
          <a:blip r:embed="rId5"/>
          <a:srcRect/>
          <a:stretch>
            <a:fillRect/>
          </a:stretch>
        </p:blipFill>
        <p:spPr bwMode="auto">
          <a:xfrm>
            <a:off x="8096251" y="2428876"/>
            <a:ext cx="500063" cy="500063"/>
          </a:xfrm>
          <a:prstGeom prst="rect">
            <a:avLst/>
          </a:prstGeom>
          <a:noFill/>
          <a:ln w="9525">
            <a:noFill/>
            <a:miter lim="800000"/>
            <a:headEnd/>
            <a:tailEnd/>
          </a:ln>
        </p:spPr>
      </p:pic>
      <p:sp>
        <p:nvSpPr>
          <p:cNvPr id="21520" name="TextBox 18"/>
          <p:cNvSpPr txBox="1">
            <a:spLocks noChangeArrowheads="1"/>
          </p:cNvSpPr>
          <p:nvPr/>
        </p:nvSpPr>
        <p:spPr bwMode="auto">
          <a:xfrm>
            <a:off x="2809876" y="2571750"/>
            <a:ext cx="1857375" cy="369888"/>
          </a:xfrm>
          <a:prstGeom prst="rect">
            <a:avLst/>
          </a:prstGeom>
          <a:noFill/>
          <a:ln w="9525">
            <a:noFill/>
            <a:miter lim="800000"/>
            <a:headEnd/>
            <a:tailEnd/>
          </a:ln>
        </p:spPr>
        <p:txBody>
          <a:bodyPr>
            <a:spAutoFit/>
          </a:bodyPr>
          <a:lstStyle/>
          <a:p>
            <a:r>
              <a:rPr lang="en-US" altLang="zh-CN" b="1">
                <a:solidFill>
                  <a:schemeClr val="tx2"/>
                </a:solidFill>
              </a:rPr>
              <a:t>192.168.1.1/24</a:t>
            </a:r>
            <a:endParaRPr lang="zh-CN" altLang="en-US" b="1">
              <a:solidFill>
                <a:schemeClr val="tx2"/>
              </a:solidFill>
            </a:endParaRPr>
          </a:p>
        </p:txBody>
      </p:sp>
      <p:sp>
        <p:nvSpPr>
          <p:cNvPr id="21521" name="TextBox 19"/>
          <p:cNvSpPr txBox="1">
            <a:spLocks noChangeArrowheads="1"/>
          </p:cNvSpPr>
          <p:nvPr/>
        </p:nvSpPr>
        <p:spPr bwMode="auto">
          <a:xfrm>
            <a:off x="2809876" y="4214814"/>
            <a:ext cx="1857375" cy="369887"/>
          </a:xfrm>
          <a:prstGeom prst="rect">
            <a:avLst/>
          </a:prstGeom>
          <a:noFill/>
          <a:ln w="9525">
            <a:noFill/>
            <a:miter lim="800000"/>
            <a:headEnd/>
            <a:tailEnd/>
          </a:ln>
        </p:spPr>
        <p:txBody>
          <a:bodyPr>
            <a:spAutoFit/>
          </a:bodyPr>
          <a:lstStyle/>
          <a:p>
            <a:r>
              <a:rPr lang="en-US" altLang="zh-CN" b="1">
                <a:solidFill>
                  <a:schemeClr val="tx2"/>
                </a:solidFill>
              </a:rPr>
              <a:t>192.168.1.2/24</a:t>
            </a:r>
            <a:endParaRPr lang="zh-CN" altLang="en-US" b="1">
              <a:solidFill>
                <a:schemeClr val="tx2"/>
              </a:solidFill>
            </a:endParaRPr>
          </a:p>
        </p:txBody>
      </p:sp>
      <p:sp>
        <p:nvSpPr>
          <p:cNvPr id="21522" name="TextBox 20"/>
          <p:cNvSpPr txBox="1">
            <a:spLocks noChangeArrowheads="1"/>
          </p:cNvSpPr>
          <p:nvPr/>
        </p:nvSpPr>
        <p:spPr bwMode="auto">
          <a:xfrm>
            <a:off x="4819651" y="2870200"/>
            <a:ext cx="677863" cy="338138"/>
          </a:xfrm>
          <a:prstGeom prst="rect">
            <a:avLst/>
          </a:prstGeom>
          <a:noFill/>
          <a:ln w="9525">
            <a:noFill/>
            <a:miter lim="800000"/>
            <a:headEnd/>
            <a:tailEnd/>
          </a:ln>
        </p:spPr>
        <p:txBody>
          <a:bodyPr>
            <a:spAutoFit/>
          </a:bodyPr>
          <a:lstStyle/>
          <a:p>
            <a:r>
              <a:rPr lang="en-US" altLang="zh-CN" sz="1600" b="1">
                <a:solidFill>
                  <a:schemeClr val="tx2"/>
                </a:solidFill>
              </a:rPr>
              <a:t>F0/0</a:t>
            </a:r>
            <a:endParaRPr lang="zh-CN" altLang="en-US" sz="1600" b="1">
              <a:solidFill>
                <a:schemeClr val="tx2"/>
              </a:solidFill>
            </a:endParaRPr>
          </a:p>
        </p:txBody>
      </p:sp>
      <p:sp>
        <p:nvSpPr>
          <p:cNvPr id="21523" name="TextBox 21"/>
          <p:cNvSpPr txBox="1">
            <a:spLocks noChangeArrowheads="1"/>
          </p:cNvSpPr>
          <p:nvPr/>
        </p:nvSpPr>
        <p:spPr bwMode="auto">
          <a:xfrm>
            <a:off x="5888039" y="3114675"/>
            <a:ext cx="714375" cy="338138"/>
          </a:xfrm>
          <a:prstGeom prst="rect">
            <a:avLst/>
          </a:prstGeom>
          <a:noFill/>
          <a:ln w="9525">
            <a:noFill/>
            <a:miter lim="800000"/>
            <a:headEnd/>
            <a:tailEnd/>
          </a:ln>
        </p:spPr>
        <p:txBody>
          <a:bodyPr>
            <a:spAutoFit/>
          </a:bodyPr>
          <a:lstStyle/>
          <a:p>
            <a:r>
              <a:rPr lang="en-US" altLang="zh-CN" sz="1600" b="1">
                <a:solidFill>
                  <a:schemeClr val="tx2"/>
                </a:solidFill>
              </a:rPr>
              <a:t>F0/1</a:t>
            </a:r>
            <a:endParaRPr lang="zh-CN" altLang="en-US" sz="1600" b="1">
              <a:solidFill>
                <a:schemeClr val="tx2"/>
              </a:solidFill>
            </a:endParaRPr>
          </a:p>
        </p:txBody>
      </p:sp>
      <p:sp>
        <p:nvSpPr>
          <p:cNvPr id="21524" name="TextBox 22"/>
          <p:cNvSpPr txBox="1">
            <a:spLocks noChangeArrowheads="1"/>
          </p:cNvSpPr>
          <p:nvPr/>
        </p:nvSpPr>
        <p:spPr bwMode="auto">
          <a:xfrm>
            <a:off x="6523039" y="2874964"/>
            <a:ext cx="714375" cy="339725"/>
          </a:xfrm>
          <a:prstGeom prst="rect">
            <a:avLst/>
          </a:prstGeom>
          <a:noFill/>
          <a:ln w="9525">
            <a:noFill/>
            <a:miter lim="800000"/>
            <a:headEnd/>
            <a:tailEnd/>
          </a:ln>
        </p:spPr>
        <p:txBody>
          <a:bodyPr>
            <a:spAutoFit/>
          </a:bodyPr>
          <a:lstStyle/>
          <a:p>
            <a:r>
              <a:rPr lang="en-US" altLang="zh-CN" sz="1600" b="1">
                <a:solidFill>
                  <a:schemeClr val="tx2"/>
                </a:solidFill>
              </a:rPr>
              <a:t>F0/1</a:t>
            </a:r>
            <a:endParaRPr lang="zh-CN" altLang="en-US" sz="1600" b="1">
              <a:solidFill>
                <a:schemeClr val="tx2"/>
              </a:solidFill>
            </a:endParaRPr>
          </a:p>
        </p:txBody>
      </p:sp>
      <p:sp>
        <p:nvSpPr>
          <p:cNvPr id="21525" name="TextBox 23"/>
          <p:cNvSpPr txBox="1">
            <a:spLocks noChangeArrowheads="1"/>
          </p:cNvSpPr>
          <p:nvPr/>
        </p:nvSpPr>
        <p:spPr bwMode="auto">
          <a:xfrm>
            <a:off x="5465763" y="3090864"/>
            <a:ext cx="487362" cy="276225"/>
          </a:xfrm>
          <a:prstGeom prst="rect">
            <a:avLst/>
          </a:prstGeom>
          <a:noFill/>
          <a:ln w="9525">
            <a:noFill/>
            <a:miter lim="800000"/>
            <a:headEnd/>
            <a:tailEnd/>
          </a:ln>
        </p:spPr>
        <p:txBody>
          <a:bodyPr>
            <a:spAutoFit/>
          </a:bodyPr>
          <a:lstStyle/>
          <a:p>
            <a:r>
              <a:rPr lang="en-US" altLang="zh-CN" sz="1200" b="1">
                <a:solidFill>
                  <a:schemeClr val="bg1"/>
                </a:solidFill>
              </a:rPr>
              <a:t>R1</a:t>
            </a:r>
            <a:endParaRPr lang="zh-CN" altLang="en-US" sz="1200" b="1">
              <a:solidFill>
                <a:schemeClr val="bg1"/>
              </a:solidFill>
            </a:endParaRPr>
          </a:p>
        </p:txBody>
      </p:sp>
      <p:sp>
        <p:nvSpPr>
          <p:cNvPr id="21526" name="TextBox 24"/>
          <p:cNvSpPr txBox="1">
            <a:spLocks noChangeArrowheads="1"/>
          </p:cNvSpPr>
          <p:nvPr/>
        </p:nvSpPr>
        <p:spPr bwMode="auto">
          <a:xfrm>
            <a:off x="7146926" y="3090864"/>
            <a:ext cx="449263" cy="276225"/>
          </a:xfrm>
          <a:prstGeom prst="rect">
            <a:avLst/>
          </a:prstGeom>
          <a:noFill/>
          <a:ln w="9525">
            <a:noFill/>
            <a:miter lim="800000"/>
            <a:headEnd/>
            <a:tailEnd/>
          </a:ln>
        </p:spPr>
        <p:txBody>
          <a:bodyPr>
            <a:spAutoFit/>
          </a:bodyPr>
          <a:lstStyle/>
          <a:p>
            <a:r>
              <a:rPr lang="en-US" altLang="zh-CN" sz="1200" b="1">
                <a:solidFill>
                  <a:schemeClr val="bg1"/>
                </a:solidFill>
              </a:rPr>
              <a:t>R2</a:t>
            </a:r>
            <a:endParaRPr lang="zh-CN" altLang="en-US" sz="1200" b="1">
              <a:solidFill>
                <a:schemeClr val="bg1"/>
              </a:solidFill>
            </a:endParaRPr>
          </a:p>
        </p:txBody>
      </p:sp>
      <p:sp>
        <p:nvSpPr>
          <p:cNvPr id="21527" name="TextBox 25"/>
          <p:cNvSpPr txBox="1">
            <a:spLocks noChangeArrowheads="1"/>
          </p:cNvSpPr>
          <p:nvPr/>
        </p:nvSpPr>
        <p:spPr bwMode="auto">
          <a:xfrm>
            <a:off x="5738814" y="3571876"/>
            <a:ext cx="3214687" cy="923925"/>
          </a:xfrm>
          <a:prstGeom prst="rect">
            <a:avLst/>
          </a:prstGeom>
          <a:noFill/>
          <a:ln w="9525">
            <a:noFill/>
            <a:miter lim="800000"/>
            <a:headEnd/>
            <a:tailEnd/>
          </a:ln>
        </p:spPr>
        <p:txBody>
          <a:bodyPr>
            <a:spAutoFit/>
          </a:bodyPr>
          <a:lstStyle/>
          <a:p>
            <a:r>
              <a:rPr lang="en-US" altLang="zh-CN" b="1">
                <a:solidFill>
                  <a:schemeClr val="tx2"/>
                </a:solidFill>
              </a:rPr>
              <a:t>R1</a:t>
            </a:r>
            <a:r>
              <a:rPr lang="zh-CN" altLang="en-US" b="1">
                <a:solidFill>
                  <a:schemeClr val="tx2"/>
                </a:solidFill>
              </a:rPr>
              <a:t>的</a:t>
            </a:r>
            <a:r>
              <a:rPr lang="en-US" altLang="zh-CN" b="1">
                <a:solidFill>
                  <a:schemeClr val="tx2"/>
                </a:solidFill>
              </a:rPr>
              <a:t>F0/0</a:t>
            </a:r>
            <a:r>
              <a:rPr lang="zh-CN" altLang="en-US" b="1">
                <a:solidFill>
                  <a:schemeClr val="tx2"/>
                </a:solidFill>
              </a:rPr>
              <a:t>：</a:t>
            </a:r>
            <a:r>
              <a:rPr lang="en-US" altLang="zh-CN" b="1">
                <a:solidFill>
                  <a:schemeClr val="tx2"/>
                </a:solidFill>
              </a:rPr>
              <a:t>192.168.1.254/24</a:t>
            </a:r>
          </a:p>
          <a:p>
            <a:r>
              <a:rPr lang="en-US" altLang="zh-CN" b="1">
                <a:solidFill>
                  <a:schemeClr val="tx2"/>
                </a:solidFill>
              </a:rPr>
              <a:t>R1</a:t>
            </a:r>
            <a:r>
              <a:rPr lang="zh-CN" altLang="en-US" b="1">
                <a:solidFill>
                  <a:schemeClr val="tx2"/>
                </a:solidFill>
              </a:rPr>
              <a:t>的</a:t>
            </a:r>
            <a:r>
              <a:rPr lang="en-US" altLang="zh-CN" b="1">
                <a:solidFill>
                  <a:schemeClr val="tx2"/>
                </a:solidFill>
              </a:rPr>
              <a:t>F0/1</a:t>
            </a:r>
            <a:r>
              <a:rPr lang="zh-CN" altLang="en-US" b="1">
                <a:solidFill>
                  <a:schemeClr val="tx2"/>
                </a:solidFill>
              </a:rPr>
              <a:t>：</a:t>
            </a:r>
            <a:r>
              <a:rPr lang="en-US" altLang="zh-CN" b="1">
                <a:solidFill>
                  <a:schemeClr val="tx2"/>
                </a:solidFill>
              </a:rPr>
              <a:t>200.0.0.1/24</a:t>
            </a:r>
          </a:p>
          <a:p>
            <a:r>
              <a:rPr lang="en-US" altLang="zh-CN" b="1">
                <a:solidFill>
                  <a:schemeClr val="tx2"/>
                </a:solidFill>
              </a:rPr>
              <a:t>R2</a:t>
            </a:r>
            <a:r>
              <a:rPr lang="zh-CN" altLang="en-US" b="1">
                <a:solidFill>
                  <a:schemeClr val="tx2"/>
                </a:solidFill>
              </a:rPr>
              <a:t>的</a:t>
            </a:r>
            <a:r>
              <a:rPr lang="en-US" altLang="zh-CN" b="1">
                <a:solidFill>
                  <a:schemeClr val="tx2"/>
                </a:solidFill>
              </a:rPr>
              <a:t>F0/1</a:t>
            </a:r>
            <a:r>
              <a:rPr lang="zh-CN" altLang="en-US" b="1">
                <a:solidFill>
                  <a:schemeClr val="tx2"/>
                </a:solidFill>
              </a:rPr>
              <a:t>：</a:t>
            </a:r>
            <a:r>
              <a:rPr lang="en-US" altLang="zh-CN" b="1">
                <a:solidFill>
                  <a:schemeClr val="tx2"/>
                </a:solidFill>
              </a:rPr>
              <a:t>200.0.0.2/24</a:t>
            </a:r>
          </a:p>
        </p:txBody>
      </p:sp>
      <p:sp>
        <p:nvSpPr>
          <p:cNvPr id="21528" name="AutoShape 8"/>
          <p:cNvSpPr>
            <a:spLocks noChangeArrowheads="1"/>
          </p:cNvSpPr>
          <p:nvPr/>
        </p:nvSpPr>
        <p:spPr bwMode="auto">
          <a:xfrm>
            <a:off x="2033589" y="4929188"/>
            <a:ext cx="7920037" cy="1003300"/>
          </a:xfrm>
          <a:prstGeom prst="roundRect">
            <a:avLst>
              <a:gd name="adj" fmla="val 10370"/>
            </a:avLst>
          </a:prstGeom>
          <a:gradFill rotWithShape="1">
            <a:gsLst>
              <a:gs pos="0">
                <a:srgbClr val="CCFFFF"/>
              </a:gs>
              <a:gs pos="100000">
                <a:srgbClr val="FFFFFF"/>
              </a:gs>
            </a:gsLst>
            <a:lin ang="5400000" scaled="1"/>
          </a:gradFill>
          <a:ln w="9525" algn="ctr">
            <a:solidFill>
              <a:srgbClr val="008080"/>
            </a:solidFill>
            <a:round/>
            <a:headEnd/>
            <a:tailEnd/>
          </a:ln>
        </p:spPr>
        <p:txBody>
          <a:bodyPr>
            <a:spAutoFit/>
          </a:bodyPr>
          <a:lstStyle/>
          <a:p>
            <a:pPr marL="95250" lvl="1"/>
            <a:r>
              <a:rPr lang="en-GB" altLang="zh-CN" b="1">
                <a:solidFill>
                  <a:schemeClr val="tx2"/>
                </a:solidFill>
              </a:rPr>
              <a:t>R1(config)#ip route 0.0.0.0 0.0.0.0 200.0.0.2</a:t>
            </a:r>
            <a:endParaRPr lang="zh-CN" altLang="en-US" b="1">
              <a:solidFill>
                <a:schemeClr val="tx2"/>
              </a:solidFill>
            </a:endParaRPr>
          </a:p>
          <a:p>
            <a:pPr marL="95250" lvl="1"/>
            <a:r>
              <a:rPr lang="en-GB" altLang="zh-CN" b="1">
                <a:solidFill>
                  <a:schemeClr val="tx2"/>
                </a:solidFill>
              </a:rPr>
              <a:t> </a:t>
            </a:r>
            <a:endParaRPr lang="zh-CN" altLang="en-US" b="1">
              <a:solidFill>
                <a:schemeClr val="tx2"/>
              </a:solidFill>
            </a:endParaRPr>
          </a:p>
          <a:p>
            <a:pPr marL="95250" lvl="1"/>
            <a:r>
              <a:rPr lang="en-GB" altLang="zh-CN" b="1">
                <a:solidFill>
                  <a:schemeClr val="tx2"/>
                </a:solidFill>
              </a:rPr>
              <a:t>R2(config)#ip route 192.168.1.0 255.255.255.0 200.0.0.1</a:t>
            </a:r>
            <a:endParaRPr lang="zh-CN" altLang="zh-CN" b="1">
              <a:solidFill>
                <a:schemeClr val="tx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zh-CN" altLang="en-US"/>
              <a:t>故障排查</a:t>
            </a:r>
            <a:endParaRPr lang="zh-CN" altLang="zh-CN"/>
          </a:p>
        </p:txBody>
      </p:sp>
      <p:sp>
        <p:nvSpPr>
          <p:cNvPr id="22531" name="内容占位符 31"/>
          <p:cNvSpPr>
            <a:spLocks noGrp="1"/>
          </p:cNvSpPr>
          <p:nvPr>
            <p:ph idx="1"/>
          </p:nvPr>
        </p:nvSpPr>
        <p:spPr>
          <a:xfrm>
            <a:off x="1738313" y="1143000"/>
            <a:ext cx="8501062" cy="5143500"/>
          </a:xfrm>
        </p:spPr>
        <p:txBody>
          <a:bodyPr/>
          <a:lstStyle/>
          <a:p>
            <a:pPr>
              <a:spcBef>
                <a:spcPts val="675"/>
              </a:spcBef>
            </a:pPr>
            <a:r>
              <a:rPr lang="zh-CN" altLang="en-US">
                <a:cs typeface="Arial" pitchFamily="34" charset="0"/>
              </a:rPr>
              <a:t>分层检查</a:t>
            </a:r>
            <a:endParaRPr lang="en-US" altLang="zh-CN">
              <a:cs typeface="Arial" pitchFamily="34" charset="0"/>
            </a:endParaRPr>
          </a:p>
          <a:p>
            <a:pPr lvl="1">
              <a:spcBef>
                <a:spcPts val="475"/>
              </a:spcBef>
            </a:pPr>
            <a:r>
              <a:rPr lang="zh-CN" altLang="en-US">
                <a:cs typeface="Arial" pitchFamily="34" charset="0"/>
              </a:rPr>
              <a:t>从物理层检查，查看端口状态来排除接口、线缆等问题 </a:t>
            </a:r>
          </a:p>
          <a:p>
            <a:pPr lvl="1">
              <a:spcBef>
                <a:spcPts val="475"/>
              </a:spcBef>
            </a:pPr>
            <a:r>
              <a:rPr lang="zh-CN" altLang="en-US">
                <a:cs typeface="Arial" pitchFamily="34" charset="0"/>
              </a:rPr>
              <a:t>查看</a:t>
            </a:r>
            <a:r>
              <a:rPr lang="en-US" altLang="zh-CN">
                <a:cs typeface="Arial" pitchFamily="34" charset="0"/>
              </a:rPr>
              <a:t>IP</a:t>
            </a:r>
            <a:r>
              <a:rPr lang="zh-CN" altLang="en-US">
                <a:cs typeface="Arial" pitchFamily="34" charset="0"/>
              </a:rPr>
              <a:t>地址和路由等的配置是否正确 </a:t>
            </a:r>
          </a:p>
          <a:p>
            <a:pPr lvl="1">
              <a:spcBef>
                <a:spcPts val="475"/>
              </a:spcBef>
            </a:pPr>
            <a:endParaRPr lang="en-US" altLang="zh-CN">
              <a:cs typeface="Arial" pitchFamily="34" charset="0"/>
            </a:endParaRPr>
          </a:p>
          <a:p>
            <a:pPr>
              <a:spcBef>
                <a:spcPts val="675"/>
              </a:spcBef>
            </a:pPr>
            <a:r>
              <a:rPr lang="zh-CN" altLang="en-US">
                <a:cs typeface="Arial" pitchFamily="34" charset="0"/>
              </a:rPr>
              <a:t>分段检查</a:t>
            </a:r>
          </a:p>
          <a:p>
            <a:pPr lvl="1">
              <a:spcBef>
                <a:spcPts val="475"/>
              </a:spcBef>
            </a:pPr>
            <a:r>
              <a:rPr lang="zh-CN" altLang="en-US">
                <a:cs typeface="Arial" pitchFamily="34" charset="0"/>
              </a:rPr>
              <a:t>将网络划分成多个小的段，逐段排除错误 </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a:t>故障排除案例一</a:t>
            </a:r>
            <a:endParaRPr lang="zh-CN" altLang="zh-CN"/>
          </a:p>
        </p:txBody>
      </p:sp>
      <p:sp>
        <p:nvSpPr>
          <p:cNvPr id="23555" name="内容占位符 23"/>
          <p:cNvSpPr>
            <a:spLocks noGrp="1"/>
          </p:cNvSpPr>
          <p:nvPr>
            <p:ph idx="1"/>
          </p:nvPr>
        </p:nvSpPr>
        <p:spPr>
          <a:xfrm>
            <a:off x="1738313" y="1143000"/>
            <a:ext cx="8501062" cy="5143500"/>
          </a:xfrm>
        </p:spPr>
        <p:txBody>
          <a:bodyPr/>
          <a:lstStyle/>
          <a:p>
            <a:pPr>
              <a:spcBef>
                <a:spcPts val="675"/>
              </a:spcBef>
            </a:pPr>
            <a:r>
              <a:rPr lang="zh-CN" altLang="en-US" dirty="0">
                <a:cs typeface="Arial" pitchFamily="34" charset="0"/>
              </a:rPr>
              <a:t>需求分析</a:t>
            </a:r>
            <a:endParaRPr lang="en-US" altLang="zh-CN" dirty="0">
              <a:cs typeface="Arial" pitchFamily="34" charset="0"/>
            </a:endParaRPr>
          </a:p>
          <a:p>
            <a:pPr lvl="1">
              <a:spcBef>
                <a:spcPts val="475"/>
              </a:spcBef>
            </a:pPr>
            <a:r>
              <a:rPr lang="en-US" altLang="zh-CN" dirty="0">
                <a:cs typeface="Arial" pitchFamily="34" charset="0"/>
              </a:rPr>
              <a:t>R1</a:t>
            </a:r>
            <a:r>
              <a:rPr lang="zh-CN" altLang="en-US" dirty="0">
                <a:cs typeface="Arial" pitchFamily="34" charset="0"/>
              </a:rPr>
              <a:t>与</a:t>
            </a:r>
            <a:r>
              <a:rPr lang="en-US" altLang="zh-CN" dirty="0">
                <a:cs typeface="Arial" pitchFamily="34" charset="0"/>
              </a:rPr>
              <a:t>R2</a:t>
            </a:r>
            <a:r>
              <a:rPr lang="zh-CN" altLang="en-US" dirty="0">
                <a:cs typeface="Arial" pitchFamily="34" charset="0"/>
              </a:rPr>
              <a:t>无法正常通信</a:t>
            </a:r>
            <a:endParaRPr lang="en-US" altLang="zh-CN" dirty="0">
              <a:cs typeface="Arial" pitchFamily="34" charset="0"/>
            </a:endParaRPr>
          </a:p>
          <a:p>
            <a:pPr lvl="1">
              <a:spcBef>
                <a:spcPts val="475"/>
              </a:spcBef>
            </a:pPr>
            <a:endParaRPr lang="en-US" altLang="zh-CN" dirty="0">
              <a:cs typeface="Arial" pitchFamily="34" charset="0"/>
            </a:endParaRPr>
          </a:p>
          <a:p>
            <a:pPr lvl="1">
              <a:spcBef>
                <a:spcPts val="475"/>
              </a:spcBef>
            </a:pPr>
            <a:endParaRPr lang="en-US" altLang="zh-CN" dirty="0">
              <a:cs typeface="Arial" pitchFamily="34" charset="0"/>
            </a:endParaRPr>
          </a:p>
          <a:p>
            <a:pPr lvl="1">
              <a:spcBef>
                <a:spcPts val="475"/>
              </a:spcBef>
            </a:pPr>
            <a:endParaRPr lang="en-US" altLang="zh-CN" dirty="0">
              <a:cs typeface="Arial" pitchFamily="34" charset="0"/>
            </a:endParaRPr>
          </a:p>
          <a:p>
            <a:pPr lvl="1">
              <a:spcBef>
                <a:spcPts val="475"/>
              </a:spcBef>
            </a:pPr>
            <a:endParaRPr lang="en-US" altLang="zh-CN" dirty="0">
              <a:cs typeface="Arial" pitchFamily="34" charset="0"/>
            </a:endParaRPr>
          </a:p>
          <a:p>
            <a:pPr>
              <a:spcBef>
                <a:spcPts val="675"/>
              </a:spcBef>
            </a:pPr>
            <a:r>
              <a:rPr lang="zh-CN" altLang="en-US" dirty="0">
                <a:cs typeface="Arial" pitchFamily="34" charset="0"/>
              </a:rPr>
              <a:t>排除步骤</a:t>
            </a:r>
            <a:endParaRPr lang="en-US" altLang="zh-CN" dirty="0">
              <a:cs typeface="Arial" pitchFamily="34" charset="0"/>
            </a:endParaRPr>
          </a:p>
          <a:p>
            <a:pPr lvl="1">
              <a:spcBef>
                <a:spcPts val="475"/>
              </a:spcBef>
            </a:pPr>
            <a:r>
              <a:rPr lang="zh-CN" altLang="en-US" dirty="0">
                <a:cs typeface="Arial" pitchFamily="34" charset="0"/>
              </a:rPr>
              <a:t>排除物理故障</a:t>
            </a:r>
            <a:endParaRPr lang="en-US" altLang="zh-CN" dirty="0">
              <a:cs typeface="Arial" pitchFamily="34" charset="0"/>
            </a:endParaRPr>
          </a:p>
          <a:p>
            <a:pPr lvl="1">
              <a:spcBef>
                <a:spcPts val="475"/>
              </a:spcBef>
            </a:pPr>
            <a:r>
              <a:rPr lang="zh-CN" altLang="en-US" dirty="0">
                <a:cs typeface="Arial" pitchFamily="34" charset="0"/>
              </a:rPr>
              <a:t>排除</a:t>
            </a:r>
            <a:r>
              <a:rPr lang="en-US" altLang="zh-CN" dirty="0">
                <a:cs typeface="Arial" pitchFamily="34" charset="0"/>
              </a:rPr>
              <a:t>IP</a:t>
            </a:r>
            <a:r>
              <a:rPr lang="zh-CN" altLang="en-US" dirty="0">
                <a:cs typeface="Arial" pitchFamily="34" charset="0"/>
              </a:rPr>
              <a:t>地址故障</a:t>
            </a:r>
          </a:p>
        </p:txBody>
      </p:sp>
      <p:grpSp>
        <p:nvGrpSpPr>
          <p:cNvPr id="2" name="组合 21"/>
          <p:cNvGrpSpPr>
            <a:grpSpLocks/>
          </p:cNvGrpSpPr>
          <p:nvPr/>
        </p:nvGrpSpPr>
        <p:grpSpPr bwMode="auto">
          <a:xfrm>
            <a:off x="3759201" y="2241551"/>
            <a:ext cx="4416425" cy="1330325"/>
            <a:chOff x="2281238" y="2954331"/>
            <a:chExt cx="4416425" cy="1330748"/>
          </a:xfrm>
        </p:grpSpPr>
        <p:pic>
          <p:nvPicPr>
            <p:cNvPr id="23557" name="Picture 4"/>
            <p:cNvPicPr>
              <a:picLocks noChangeArrowheads="1"/>
            </p:cNvPicPr>
            <p:nvPr/>
          </p:nvPicPr>
          <p:blipFill>
            <a:blip r:embed="rId3"/>
            <a:srcRect/>
            <a:stretch>
              <a:fillRect/>
            </a:stretch>
          </p:blipFill>
          <p:spPr bwMode="auto">
            <a:xfrm>
              <a:off x="2339975" y="2997200"/>
              <a:ext cx="906463" cy="533400"/>
            </a:xfrm>
            <a:prstGeom prst="rect">
              <a:avLst/>
            </a:prstGeom>
            <a:noFill/>
            <a:ln w="9525">
              <a:noFill/>
              <a:miter lim="800000"/>
              <a:headEnd/>
              <a:tailEnd/>
            </a:ln>
          </p:spPr>
        </p:pic>
        <p:pic>
          <p:nvPicPr>
            <p:cNvPr id="23558" name="Picture 5"/>
            <p:cNvPicPr>
              <a:picLocks noChangeArrowheads="1"/>
            </p:cNvPicPr>
            <p:nvPr/>
          </p:nvPicPr>
          <p:blipFill>
            <a:blip r:embed="rId3"/>
            <a:srcRect/>
            <a:stretch>
              <a:fillRect/>
            </a:stretch>
          </p:blipFill>
          <p:spPr bwMode="auto">
            <a:xfrm>
              <a:off x="5724525" y="2997200"/>
              <a:ext cx="906463" cy="533400"/>
            </a:xfrm>
            <a:prstGeom prst="rect">
              <a:avLst/>
            </a:prstGeom>
            <a:noFill/>
            <a:ln w="9525">
              <a:noFill/>
              <a:miter lim="800000"/>
              <a:headEnd/>
              <a:tailEnd/>
            </a:ln>
          </p:spPr>
        </p:pic>
        <p:cxnSp>
          <p:nvCxnSpPr>
            <p:cNvPr id="23559" name="AutoShape 6"/>
            <p:cNvCxnSpPr>
              <a:cxnSpLocks noChangeShapeType="1"/>
            </p:cNvCxnSpPr>
            <p:nvPr/>
          </p:nvCxnSpPr>
          <p:spPr bwMode="auto">
            <a:xfrm>
              <a:off x="3246438" y="3263900"/>
              <a:ext cx="2478087" cy="0"/>
            </a:xfrm>
            <a:prstGeom prst="straightConnector1">
              <a:avLst/>
            </a:prstGeom>
            <a:noFill/>
            <a:ln w="38100">
              <a:solidFill>
                <a:srgbClr val="FF0000"/>
              </a:solidFill>
              <a:round/>
              <a:headEnd/>
              <a:tailEnd/>
            </a:ln>
          </p:spPr>
        </p:cxnSp>
        <p:sp>
          <p:nvSpPr>
            <p:cNvPr id="15" name="Text Box 7"/>
            <p:cNvSpPr txBox="1">
              <a:spLocks noChangeArrowheads="1"/>
            </p:cNvSpPr>
            <p:nvPr/>
          </p:nvSpPr>
          <p:spPr bwMode="auto">
            <a:xfrm>
              <a:off x="2746376" y="3934130"/>
              <a:ext cx="1008062" cy="338245"/>
            </a:xfrm>
            <a:prstGeom prst="rect">
              <a:avLst/>
            </a:prstGeom>
            <a:noFill/>
            <a:ln w="9525" algn="ctr">
              <a:noFill/>
              <a:miter lim="800000"/>
              <a:headEnd/>
              <a:tailEnd/>
            </a:ln>
            <a:effectLst/>
          </p:spPr>
          <p:txBody>
            <a:bodyPr anchorCtr="1">
              <a:spAutoFit/>
            </a:bodyPr>
            <a:lstStyle/>
            <a:p>
              <a:pPr>
                <a:defRPr/>
              </a:pPr>
              <a:r>
                <a:rPr lang="en-US" altLang="zh-CN" sz="1600" b="1">
                  <a:solidFill>
                    <a:schemeClr val="tx2"/>
                  </a:solidFill>
                </a:rPr>
                <a:t>F0/0</a:t>
              </a:r>
            </a:p>
          </p:txBody>
        </p:sp>
        <p:sp>
          <p:nvSpPr>
            <p:cNvPr id="16" name="AutoShape 8"/>
            <p:cNvSpPr>
              <a:spLocks noChangeArrowheads="1"/>
            </p:cNvSpPr>
            <p:nvPr/>
          </p:nvSpPr>
          <p:spPr bwMode="auto">
            <a:xfrm>
              <a:off x="2720976" y="3416441"/>
              <a:ext cx="1008062" cy="576445"/>
            </a:xfrm>
            <a:prstGeom prst="flowChartExtract">
              <a:avLst/>
            </a:prstGeom>
            <a:gradFill rotWithShape="1">
              <a:gsLst>
                <a:gs pos="0">
                  <a:srgbClr val="FF6600"/>
                </a:gs>
                <a:gs pos="100000">
                  <a:srgbClr val="FFFFFF"/>
                </a:gs>
              </a:gsLst>
              <a:lin ang="5400000" scaled="1"/>
            </a:gradFill>
            <a:ln w="9525" algn="ctr">
              <a:noFill/>
              <a:miter lim="800000"/>
              <a:headEnd/>
              <a:tailEnd/>
            </a:ln>
            <a:effectLst/>
          </p:spPr>
          <p:txBody>
            <a:bodyPr wrap="none" anchor="ctr"/>
            <a:lstStyle/>
            <a:p>
              <a:pPr>
                <a:defRPr/>
              </a:pPr>
              <a:endParaRPr lang="zh-CN" altLang="en-US" sz="1600" b="1">
                <a:latin typeface="+mj-lt"/>
                <a:ea typeface="黑体" pitchFamily="2" charset="-122"/>
              </a:endParaRPr>
            </a:p>
          </p:txBody>
        </p:sp>
        <p:sp>
          <p:nvSpPr>
            <p:cNvPr id="17" name="Text Box 9"/>
            <p:cNvSpPr txBox="1">
              <a:spLocks noChangeArrowheads="1"/>
            </p:cNvSpPr>
            <p:nvPr/>
          </p:nvSpPr>
          <p:spPr bwMode="auto">
            <a:xfrm>
              <a:off x="5219701" y="3946834"/>
              <a:ext cx="1008062" cy="338245"/>
            </a:xfrm>
            <a:prstGeom prst="rect">
              <a:avLst/>
            </a:prstGeom>
            <a:noFill/>
            <a:ln w="9525" algn="ctr">
              <a:noFill/>
              <a:miter lim="800000"/>
              <a:headEnd/>
              <a:tailEnd/>
            </a:ln>
            <a:effectLst/>
          </p:spPr>
          <p:txBody>
            <a:bodyPr anchorCtr="1">
              <a:spAutoFit/>
            </a:bodyPr>
            <a:lstStyle/>
            <a:p>
              <a:pPr>
                <a:defRPr/>
              </a:pPr>
              <a:r>
                <a:rPr lang="en-US" altLang="zh-CN" sz="1600" b="1">
                  <a:solidFill>
                    <a:schemeClr val="tx2"/>
                  </a:solidFill>
                </a:rPr>
                <a:t>F0/0</a:t>
              </a:r>
            </a:p>
          </p:txBody>
        </p:sp>
        <p:sp>
          <p:nvSpPr>
            <p:cNvPr id="18" name="AutoShape 10"/>
            <p:cNvSpPr>
              <a:spLocks noChangeArrowheads="1"/>
            </p:cNvSpPr>
            <p:nvPr/>
          </p:nvSpPr>
          <p:spPr bwMode="auto">
            <a:xfrm>
              <a:off x="5219701" y="3429145"/>
              <a:ext cx="1008062" cy="576445"/>
            </a:xfrm>
            <a:prstGeom prst="flowChartExtract">
              <a:avLst/>
            </a:prstGeom>
            <a:gradFill rotWithShape="1">
              <a:gsLst>
                <a:gs pos="0">
                  <a:srgbClr val="FF6600"/>
                </a:gs>
                <a:gs pos="100000">
                  <a:srgbClr val="FFFFFF"/>
                </a:gs>
              </a:gsLst>
              <a:lin ang="5400000" scaled="1"/>
            </a:gradFill>
            <a:ln w="9525" algn="ctr">
              <a:noFill/>
              <a:miter lim="800000"/>
              <a:headEnd/>
              <a:tailEnd/>
            </a:ln>
            <a:effectLst/>
          </p:spPr>
          <p:txBody>
            <a:bodyPr wrap="none" anchor="ctr"/>
            <a:lstStyle/>
            <a:p>
              <a:pPr>
                <a:defRPr/>
              </a:pPr>
              <a:endParaRPr lang="zh-CN" altLang="en-US" sz="1600" b="1">
                <a:latin typeface="+mj-lt"/>
                <a:ea typeface="黑体" pitchFamily="2" charset="-122"/>
              </a:endParaRPr>
            </a:p>
          </p:txBody>
        </p:sp>
        <p:sp>
          <p:nvSpPr>
            <p:cNvPr id="19" name="Text Box 11"/>
            <p:cNvSpPr txBox="1">
              <a:spLocks noChangeArrowheads="1"/>
            </p:cNvSpPr>
            <p:nvPr/>
          </p:nvSpPr>
          <p:spPr bwMode="auto">
            <a:xfrm>
              <a:off x="2281238" y="3244936"/>
              <a:ext cx="1008063" cy="338245"/>
            </a:xfrm>
            <a:prstGeom prst="rect">
              <a:avLst/>
            </a:prstGeom>
            <a:noFill/>
            <a:ln w="9525" algn="ctr">
              <a:noFill/>
              <a:miter lim="800000"/>
              <a:headEnd/>
              <a:tailEnd/>
            </a:ln>
            <a:effectLst/>
          </p:spPr>
          <p:txBody>
            <a:bodyPr anchorCtr="1">
              <a:spAutoFit/>
            </a:bodyPr>
            <a:lstStyle/>
            <a:p>
              <a:pPr>
                <a:defRPr/>
              </a:pPr>
              <a:r>
                <a:rPr lang="en-US" altLang="zh-CN" sz="1600" b="1" dirty="0">
                  <a:solidFill>
                    <a:schemeClr val="bg1"/>
                  </a:solidFill>
                  <a:ea typeface="黑体" pitchFamily="2" charset="-122"/>
                </a:rPr>
                <a:t>R1</a:t>
              </a:r>
            </a:p>
          </p:txBody>
        </p:sp>
        <p:sp>
          <p:nvSpPr>
            <p:cNvPr id="20" name="Text Box 12"/>
            <p:cNvSpPr txBox="1">
              <a:spLocks noChangeArrowheads="1"/>
            </p:cNvSpPr>
            <p:nvPr/>
          </p:nvSpPr>
          <p:spPr bwMode="auto">
            <a:xfrm>
              <a:off x="5689601" y="3244936"/>
              <a:ext cx="1008062" cy="338245"/>
            </a:xfrm>
            <a:prstGeom prst="rect">
              <a:avLst/>
            </a:prstGeom>
            <a:noFill/>
            <a:ln w="9525" algn="ctr">
              <a:noFill/>
              <a:miter lim="800000"/>
              <a:headEnd/>
              <a:tailEnd/>
            </a:ln>
            <a:effectLst/>
          </p:spPr>
          <p:txBody>
            <a:bodyPr anchorCtr="1">
              <a:spAutoFit/>
            </a:bodyPr>
            <a:lstStyle/>
            <a:p>
              <a:pPr>
                <a:defRPr/>
              </a:pPr>
              <a:r>
                <a:rPr lang="en-US" altLang="zh-CN" sz="1600" b="1" dirty="0">
                  <a:solidFill>
                    <a:schemeClr val="bg1"/>
                  </a:solidFill>
                  <a:ea typeface="黑体" pitchFamily="2" charset="-122"/>
                </a:rPr>
                <a:t>R2</a:t>
              </a:r>
            </a:p>
          </p:txBody>
        </p:sp>
        <p:sp>
          <p:nvSpPr>
            <p:cNvPr id="21" name="Text Box 13"/>
            <p:cNvSpPr txBox="1">
              <a:spLocks noChangeArrowheads="1"/>
            </p:cNvSpPr>
            <p:nvPr/>
          </p:nvSpPr>
          <p:spPr bwMode="auto">
            <a:xfrm>
              <a:off x="3732213" y="2954331"/>
              <a:ext cx="1743075" cy="338246"/>
            </a:xfrm>
            <a:prstGeom prst="rect">
              <a:avLst/>
            </a:prstGeom>
            <a:noFill/>
            <a:ln w="9525" algn="ctr">
              <a:noFill/>
              <a:miter lim="800000"/>
              <a:headEnd/>
              <a:tailEnd/>
            </a:ln>
            <a:effectLst/>
          </p:spPr>
          <p:txBody>
            <a:bodyPr anchorCtr="1">
              <a:spAutoFit/>
            </a:bodyPr>
            <a:lstStyle/>
            <a:p>
              <a:pPr>
                <a:defRPr/>
              </a:pPr>
              <a:r>
                <a:rPr lang="en-US" altLang="zh-CN" sz="1600" b="1" dirty="0">
                  <a:solidFill>
                    <a:schemeClr val="tx2"/>
                  </a:solidFill>
                </a:rPr>
                <a:t>192.168.1.0/24</a:t>
              </a:r>
            </a:p>
          </p:txBody>
        </p: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en-US"/>
              <a:t>故障排除案例二</a:t>
            </a:r>
            <a:endParaRPr lang="zh-CN" altLang="zh-CN"/>
          </a:p>
        </p:txBody>
      </p:sp>
      <p:sp>
        <p:nvSpPr>
          <p:cNvPr id="24579" name="内容占位符 23"/>
          <p:cNvSpPr>
            <a:spLocks noGrp="1"/>
          </p:cNvSpPr>
          <p:nvPr>
            <p:ph idx="1"/>
          </p:nvPr>
        </p:nvSpPr>
        <p:spPr>
          <a:xfrm>
            <a:off x="1738313" y="1143000"/>
            <a:ext cx="8501062" cy="5143500"/>
          </a:xfrm>
        </p:spPr>
        <p:txBody>
          <a:bodyPr/>
          <a:lstStyle/>
          <a:p>
            <a:pPr>
              <a:spcBef>
                <a:spcPts val="675"/>
              </a:spcBef>
            </a:pPr>
            <a:r>
              <a:rPr lang="zh-CN" altLang="en-US">
                <a:cs typeface="Arial" pitchFamily="34" charset="0"/>
              </a:rPr>
              <a:t>需求分析</a:t>
            </a:r>
            <a:endParaRPr lang="en-US" altLang="zh-CN">
              <a:cs typeface="Arial" pitchFamily="34" charset="0"/>
            </a:endParaRPr>
          </a:p>
          <a:p>
            <a:pPr lvl="1">
              <a:spcBef>
                <a:spcPts val="475"/>
              </a:spcBef>
            </a:pPr>
            <a:r>
              <a:rPr lang="en-US" altLang="zh-CN">
                <a:cs typeface="Arial" pitchFamily="34" charset="0"/>
              </a:rPr>
              <a:t>R1</a:t>
            </a:r>
            <a:r>
              <a:rPr lang="zh-CN" altLang="en-US">
                <a:cs typeface="Arial" pitchFamily="34" charset="0"/>
              </a:rPr>
              <a:t>为分公司网关；</a:t>
            </a:r>
            <a:r>
              <a:rPr lang="en-US" altLang="zh-CN">
                <a:cs typeface="Arial" pitchFamily="34" charset="0"/>
              </a:rPr>
              <a:t>R2</a:t>
            </a:r>
            <a:r>
              <a:rPr lang="zh-CN" altLang="en-US">
                <a:cs typeface="Arial" pitchFamily="34" charset="0"/>
              </a:rPr>
              <a:t>为总公司网关</a:t>
            </a:r>
            <a:endParaRPr lang="en-US" altLang="zh-CN">
              <a:cs typeface="Arial" pitchFamily="34" charset="0"/>
            </a:endParaRPr>
          </a:p>
          <a:p>
            <a:pPr lvl="1">
              <a:spcBef>
                <a:spcPts val="475"/>
              </a:spcBef>
            </a:pPr>
            <a:r>
              <a:rPr lang="zh-CN" altLang="en-US">
                <a:cs typeface="Arial" pitchFamily="34" charset="0"/>
              </a:rPr>
              <a:t>通过静态路由实现网络互通</a:t>
            </a:r>
            <a:endParaRPr lang="en-US" altLang="zh-CN">
              <a:cs typeface="Arial" pitchFamily="34" charset="0"/>
            </a:endParaRPr>
          </a:p>
          <a:p>
            <a:pPr lvl="1">
              <a:spcBef>
                <a:spcPts val="475"/>
              </a:spcBef>
            </a:pPr>
            <a:endParaRPr lang="en-US" altLang="zh-CN">
              <a:cs typeface="Arial" pitchFamily="34" charset="0"/>
            </a:endParaRPr>
          </a:p>
          <a:p>
            <a:pPr lvl="1">
              <a:spcBef>
                <a:spcPts val="475"/>
              </a:spcBef>
            </a:pPr>
            <a:endParaRPr lang="en-US" altLang="zh-CN">
              <a:cs typeface="Arial" pitchFamily="34" charset="0"/>
            </a:endParaRPr>
          </a:p>
          <a:p>
            <a:pPr lvl="1">
              <a:spcBef>
                <a:spcPts val="475"/>
              </a:spcBef>
            </a:pPr>
            <a:endParaRPr lang="en-US" altLang="zh-CN">
              <a:cs typeface="Arial" pitchFamily="34" charset="0"/>
            </a:endParaRPr>
          </a:p>
          <a:p>
            <a:pPr lvl="1">
              <a:spcBef>
                <a:spcPts val="475"/>
              </a:spcBef>
            </a:pPr>
            <a:endParaRPr lang="en-US" altLang="zh-CN">
              <a:cs typeface="Arial" pitchFamily="34" charset="0"/>
            </a:endParaRPr>
          </a:p>
          <a:p>
            <a:pPr>
              <a:spcBef>
                <a:spcPts val="675"/>
              </a:spcBef>
            </a:pPr>
            <a:r>
              <a:rPr lang="zh-CN" altLang="en-US">
                <a:cs typeface="Arial" pitchFamily="34" charset="0"/>
              </a:rPr>
              <a:t>请思考</a:t>
            </a:r>
            <a:endParaRPr lang="en-US" altLang="zh-CN">
              <a:cs typeface="Arial" pitchFamily="34" charset="0"/>
            </a:endParaRPr>
          </a:p>
          <a:p>
            <a:pPr lvl="1">
              <a:spcBef>
                <a:spcPts val="475"/>
              </a:spcBef>
            </a:pPr>
            <a:r>
              <a:rPr lang="zh-CN" altLang="en-US">
                <a:cs typeface="Arial" pitchFamily="34" charset="0"/>
              </a:rPr>
              <a:t>是否只在</a:t>
            </a:r>
            <a:r>
              <a:rPr lang="en-US" altLang="zh-CN">
                <a:cs typeface="Arial" pitchFamily="34" charset="0"/>
              </a:rPr>
              <a:t>R1</a:t>
            </a:r>
            <a:r>
              <a:rPr lang="zh-CN" altLang="en-US">
                <a:cs typeface="Arial" pitchFamily="34" charset="0"/>
              </a:rPr>
              <a:t>上配置默认路由，而不需要在</a:t>
            </a:r>
            <a:r>
              <a:rPr lang="en-US" altLang="zh-CN">
                <a:cs typeface="Arial" pitchFamily="34" charset="0"/>
              </a:rPr>
              <a:t>R2</a:t>
            </a:r>
            <a:r>
              <a:rPr lang="zh-CN" altLang="en-US">
                <a:cs typeface="Arial" pitchFamily="34" charset="0"/>
              </a:rPr>
              <a:t>上配置？</a:t>
            </a:r>
            <a:endParaRPr lang="en-US" altLang="zh-CN">
              <a:cs typeface="Arial" pitchFamily="34" charset="0"/>
            </a:endParaRPr>
          </a:p>
          <a:p>
            <a:pPr lvl="1">
              <a:spcBef>
                <a:spcPts val="475"/>
              </a:spcBef>
            </a:pPr>
            <a:r>
              <a:rPr lang="zh-CN" altLang="en-US">
                <a:cs typeface="Arial" pitchFamily="34" charset="0"/>
              </a:rPr>
              <a:t>在</a:t>
            </a:r>
            <a:r>
              <a:rPr lang="en-US" altLang="zh-CN">
                <a:cs typeface="Arial" pitchFamily="34" charset="0"/>
              </a:rPr>
              <a:t>R1</a:t>
            </a:r>
            <a:r>
              <a:rPr lang="zh-CN" altLang="en-US">
                <a:cs typeface="Arial" pitchFamily="34" charset="0"/>
              </a:rPr>
              <a:t>和</a:t>
            </a:r>
            <a:r>
              <a:rPr lang="en-US" altLang="zh-CN">
                <a:cs typeface="Arial" pitchFamily="34" charset="0"/>
              </a:rPr>
              <a:t>R2</a:t>
            </a:r>
            <a:r>
              <a:rPr lang="zh-CN" altLang="en-US">
                <a:cs typeface="Arial" pitchFamily="34" charset="0"/>
              </a:rPr>
              <a:t>路由器上都配置默认路由，这种部署对网络通信是否有影响？</a:t>
            </a:r>
          </a:p>
        </p:txBody>
      </p:sp>
      <p:grpSp>
        <p:nvGrpSpPr>
          <p:cNvPr id="2" name="组合 19"/>
          <p:cNvGrpSpPr>
            <a:grpSpLocks/>
          </p:cNvGrpSpPr>
          <p:nvPr/>
        </p:nvGrpSpPr>
        <p:grpSpPr bwMode="auto">
          <a:xfrm>
            <a:off x="2738439" y="2513013"/>
            <a:ext cx="6726237" cy="1987550"/>
            <a:chOff x="1214414" y="2513020"/>
            <a:chExt cx="6726238" cy="1987550"/>
          </a:xfrm>
        </p:grpSpPr>
        <p:cxnSp>
          <p:nvCxnSpPr>
            <p:cNvPr id="24581" name="AutoShape 6"/>
            <p:cNvCxnSpPr>
              <a:cxnSpLocks noChangeShapeType="1"/>
            </p:cNvCxnSpPr>
            <p:nvPr/>
          </p:nvCxnSpPr>
          <p:spPr bwMode="auto">
            <a:xfrm>
              <a:off x="3343252" y="3479807"/>
              <a:ext cx="2779712" cy="1588"/>
            </a:xfrm>
            <a:prstGeom prst="straightConnector1">
              <a:avLst/>
            </a:prstGeom>
            <a:noFill/>
            <a:ln w="38100">
              <a:solidFill>
                <a:srgbClr val="FF0000"/>
              </a:solidFill>
              <a:round/>
              <a:headEnd/>
              <a:tailEnd/>
            </a:ln>
          </p:spPr>
        </p:cxnSp>
        <p:cxnSp>
          <p:nvCxnSpPr>
            <p:cNvPr id="24582" name="AutoShape 15"/>
            <p:cNvCxnSpPr>
              <a:cxnSpLocks noChangeShapeType="1"/>
            </p:cNvCxnSpPr>
            <p:nvPr/>
          </p:nvCxnSpPr>
          <p:spPr bwMode="auto">
            <a:xfrm rot="16200000" flipV="1">
              <a:off x="2051027" y="3094045"/>
              <a:ext cx="411162" cy="360362"/>
            </a:xfrm>
            <a:prstGeom prst="bentConnector3">
              <a:avLst>
                <a:gd name="adj1" fmla="val -3477"/>
              </a:avLst>
            </a:prstGeom>
            <a:noFill/>
            <a:ln w="38100">
              <a:solidFill>
                <a:srgbClr val="FF0000"/>
              </a:solidFill>
              <a:miter lim="800000"/>
              <a:headEnd/>
              <a:tailEnd/>
            </a:ln>
          </p:spPr>
        </p:cxnSp>
        <p:cxnSp>
          <p:nvCxnSpPr>
            <p:cNvPr id="24583" name="AutoShape 16"/>
            <p:cNvCxnSpPr>
              <a:cxnSpLocks noChangeShapeType="1"/>
            </p:cNvCxnSpPr>
            <p:nvPr/>
          </p:nvCxnSpPr>
          <p:spPr bwMode="auto">
            <a:xfrm rot="5400000" flipH="1" flipV="1">
              <a:off x="6680971" y="3115476"/>
              <a:ext cx="411162" cy="317500"/>
            </a:xfrm>
            <a:prstGeom prst="bentConnector3">
              <a:avLst>
                <a:gd name="adj1" fmla="val 3472"/>
              </a:avLst>
            </a:prstGeom>
            <a:noFill/>
            <a:ln w="38100">
              <a:solidFill>
                <a:srgbClr val="FF0000"/>
              </a:solidFill>
              <a:miter lim="800000"/>
              <a:headEnd/>
              <a:tailEnd/>
            </a:ln>
          </p:spPr>
        </p:cxnSp>
        <p:sp>
          <p:nvSpPr>
            <p:cNvPr id="24584" name="Line 17"/>
            <p:cNvSpPr>
              <a:spLocks noChangeShapeType="1"/>
            </p:cNvSpPr>
            <p:nvPr/>
          </p:nvSpPr>
          <p:spPr bwMode="auto">
            <a:xfrm>
              <a:off x="1835127" y="3068645"/>
              <a:ext cx="565150" cy="0"/>
            </a:xfrm>
            <a:prstGeom prst="line">
              <a:avLst/>
            </a:prstGeom>
            <a:noFill/>
            <a:ln w="38100">
              <a:solidFill>
                <a:srgbClr val="FF0000"/>
              </a:solidFill>
              <a:round/>
              <a:headEnd/>
              <a:tailEnd/>
            </a:ln>
          </p:spPr>
          <p:txBody>
            <a:bodyPr wrap="none" anchor="ctr" anchorCtr="1"/>
            <a:lstStyle/>
            <a:p>
              <a:endParaRPr lang="zh-CN" altLang="en-US"/>
            </a:p>
          </p:txBody>
        </p:sp>
        <p:sp>
          <p:nvSpPr>
            <p:cNvPr id="24585" name="Line 18"/>
            <p:cNvSpPr>
              <a:spLocks noChangeShapeType="1"/>
            </p:cNvSpPr>
            <p:nvPr/>
          </p:nvSpPr>
          <p:spPr bwMode="auto">
            <a:xfrm>
              <a:off x="6757964" y="3068645"/>
              <a:ext cx="565150" cy="0"/>
            </a:xfrm>
            <a:prstGeom prst="line">
              <a:avLst/>
            </a:prstGeom>
            <a:noFill/>
            <a:ln w="38100">
              <a:solidFill>
                <a:srgbClr val="FF0000"/>
              </a:solidFill>
              <a:round/>
              <a:headEnd/>
              <a:tailEnd/>
            </a:ln>
          </p:spPr>
          <p:txBody>
            <a:bodyPr wrap="none" anchor="ctr" anchorCtr="1"/>
            <a:lstStyle/>
            <a:p>
              <a:endParaRPr lang="zh-CN" altLang="en-US"/>
            </a:p>
          </p:txBody>
        </p:sp>
        <p:sp>
          <p:nvSpPr>
            <p:cNvPr id="24586" name="Text Box 19"/>
            <p:cNvSpPr txBox="1">
              <a:spLocks noChangeArrowheads="1"/>
            </p:cNvSpPr>
            <p:nvPr/>
          </p:nvSpPr>
          <p:spPr bwMode="auto">
            <a:xfrm>
              <a:off x="1214414" y="2513020"/>
              <a:ext cx="1774825" cy="581025"/>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Loopback 0</a:t>
              </a:r>
            </a:p>
            <a:p>
              <a:pPr algn="ctr"/>
              <a:r>
                <a:rPr lang="en-US" altLang="zh-CN" sz="1600" b="1">
                  <a:solidFill>
                    <a:schemeClr val="tx2"/>
                  </a:solidFill>
                  <a:cs typeface="Arial" pitchFamily="34" charset="0"/>
                </a:rPr>
                <a:t>192.168.10.0/24</a:t>
              </a:r>
            </a:p>
          </p:txBody>
        </p:sp>
        <p:sp>
          <p:nvSpPr>
            <p:cNvPr id="24587" name="Text Box 20"/>
            <p:cNvSpPr txBox="1">
              <a:spLocks noChangeArrowheads="1"/>
            </p:cNvSpPr>
            <p:nvPr/>
          </p:nvSpPr>
          <p:spPr bwMode="auto">
            <a:xfrm>
              <a:off x="6165827" y="2525720"/>
              <a:ext cx="1774825" cy="581025"/>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Loopback 0</a:t>
              </a:r>
            </a:p>
            <a:p>
              <a:pPr algn="ctr"/>
              <a:r>
                <a:rPr lang="en-US" altLang="zh-CN" sz="1600" b="1">
                  <a:solidFill>
                    <a:schemeClr val="tx2"/>
                  </a:solidFill>
                  <a:cs typeface="Arial" pitchFamily="34" charset="0"/>
                </a:rPr>
                <a:t>192.168.20.0/24</a:t>
              </a:r>
            </a:p>
          </p:txBody>
        </p:sp>
        <p:pic>
          <p:nvPicPr>
            <p:cNvPr id="24588" name="Picture 4"/>
            <p:cNvPicPr>
              <a:picLocks noChangeArrowheads="1"/>
            </p:cNvPicPr>
            <p:nvPr/>
          </p:nvPicPr>
          <p:blipFill>
            <a:blip r:embed="rId3"/>
            <a:srcRect/>
            <a:stretch>
              <a:fillRect/>
            </a:stretch>
          </p:blipFill>
          <p:spPr bwMode="auto">
            <a:xfrm>
              <a:off x="2436789" y="3213107"/>
              <a:ext cx="1017588" cy="533400"/>
            </a:xfrm>
            <a:prstGeom prst="rect">
              <a:avLst/>
            </a:prstGeom>
            <a:noFill/>
            <a:ln w="9525">
              <a:noFill/>
              <a:miter lim="800000"/>
              <a:headEnd/>
              <a:tailEnd/>
            </a:ln>
          </p:spPr>
        </p:pic>
        <p:pic>
          <p:nvPicPr>
            <p:cNvPr id="24589" name="Picture 5"/>
            <p:cNvPicPr>
              <a:picLocks noChangeArrowheads="1"/>
            </p:cNvPicPr>
            <p:nvPr/>
          </p:nvPicPr>
          <p:blipFill>
            <a:blip r:embed="rId3"/>
            <a:srcRect/>
            <a:stretch>
              <a:fillRect/>
            </a:stretch>
          </p:blipFill>
          <p:spPr bwMode="auto">
            <a:xfrm>
              <a:off x="5821339" y="3213107"/>
              <a:ext cx="1017588" cy="533400"/>
            </a:xfrm>
            <a:prstGeom prst="rect">
              <a:avLst/>
            </a:prstGeom>
            <a:noFill/>
            <a:ln w="9525">
              <a:noFill/>
              <a:miter lim="800000"/>
              <a:headEnd/>
              <a:tailEnd/>
            </a:ln>
          </p:spPr>
        </p:pic>
        <p:sp>
          <p:nvSpPr>
            <p:cNvPr id="24590" name="Text Box 7"/>
            <p:cNvSpPr txBox="1">
              <a:spLocks noChangeArrowheads="1"/>
            </p:cNvSpPr>
            <p:nvPr/>
          </p:nvSpPr>
          <p:spPr bwMode="auto">
            <a:xfrm>
              <a:off x="2843189" y="4149732"/>
              <a:ext cx="1130300" cy="338138"/>
            </a:xfrm>
            <a:prstGeom prst="rect">
              <a:avLst/>
            </a:prstGeom>
            <a:noFill/>
            <a:ln w="9525" algn="ctr">
              <a:noFill/>
              <a:miter lim="800000"/>
              <a:headEnd/>
              <a:tailEnd/>
            </a:ln>
          </p:spPr>
          <p:txBody>
            <a:bodyPr anchorCtr="1">
              <a:spAutoFit/>
            </a:bodyPr>
            <a:lstStyle/>
            <a:p>
              <a:r>
                <a:rPr lang="en-US" altLang="zh-CN" sz="1600" b="1">
                  <a:solidFill>
                    <a:schemeClr val="tx2"/>
                  </a:solidFill>
                  <a:cs typeface="Arial" pitchFamily="34" charset="0"/>
                </a:rPr>
                <a:t>F0/0</a:t>
              </a:r>
            </a:p>
          </p:txBody>
        </p:sp>
        <p:sp>
          <p:nvSpPr>
            <p:cNvPr id="24591" name="AutoShape 8"/>
            <p:cNvSpPr>
              <a:spLocks noChangeArrowheads="1"/>
            </p:cNvSpPr>
            <p:nvPr/>
          </p:nvSpPr>
          <p:spPr bwMode="auto">
            <a:xfrm>
              <a:off x="2817789" y="3632207"/>
              <a:ext cx="1130300" cy="576263"/>
            </a:xfrm>
            <a:prstGeom prst="flowChartExtract">
              <a:avLst/>
            </a:prstGeom>
            <a:gradFill rotWithShape="1">
              <a:gsLst>
                <a:gs pos="0">
                  <a:srgbClr val="FF6600"/>
                </a:gs>
                <a:gs pos="100000">
                  <a:srgbClr val="FFFFFF"/>
                </a:gs>
              </a:gsLst>
              <a:lin ang="5400000" scaled="1"/>
            </a:gradFill>
            <a:ln w="9525" algn="ctr">
              <a:noFill/>
              <a:miter lim="800000"/>
              <a:headEnd/>
              <a:tailEnd/>
            </a:ln>
          </p:spPr>
          <p:txBody>
            <a:bodyPr wrap="none" anchor="ctr"/>
            <a:lstStyle/>
            <a:p>
              <a:endParaRPr lang="zh-CN" altLang="en-US" sz="1600" b="1">
                <a:cs typeface="Arial" pitchFamily="34" charset="0"/>
              </a:endParaRPr>
            </a:p>
          </p:txBody>
        </p:sp>
        <p:sp>
          <p:nvSpPr>
            <p:cNvPr id="24592" name="Text Box 9"/>
            <p:cNvSpPr txBox="1">
              <a:spLocks noChangeArrowheads="1"/>
            </p:cNvSpPr>
            <p:nvPr/>
          </p:nvSpPr>
          <p:spPr bwMode="auto">
            <a:xfrm>
              <a:off x="5316514" y="4162432"/>
              <a:ext cx="1130300" cy="338138"/>
            </a:xfrm>
            <a:prstGeom prst="rect">
              <a:avLst/>
            </a:prstGeom>
            <a:noFill/>
            <a:ln w="9525" algn="ctr">
              <a:noFill/>
              <a:miter lim="800000"/>
              <a:headEnd/>
              <a:tailEnd/>
            </a:ln>
          </p:spPr>
          <p:txBody>
            <a:bodyPr anchorCtr="1">
              <a:spAutoFit/>
            </a:bodyPr>
            <a:lstStyle/>
            <a:p>
              <a:r>
                <a:rPr lang="en-US" altLang="zh-CN" sz="1600" b="1">
                  <a:solidFill>
                    <a:schemeClr val="tx2"/>
                  </a:solidFill>
                  <a:ea typeface="楷体_GB2312" pitchFamily="49" charset="-122"/>
                  <a:cs typeface="Arial" pitchFamily="34" charset="0"/>
                </a:rPr>
                <a:t>F0/0</a:t>
              </a:r>
            </a:p>
          </p:txBody>
        </p:sp>
        <p:sp>
          <p:nvSpPr>
            <p:cNvPr id="24593" name="AutoShape 10"/>
            <p:cNvSpPr>
              <a:spLocks noChangeArrowheads="1"/>
            </p:cNvSpPr>
            <p:nvPr/>
          </p:nvSpPr>
          <p:spPr bwMode="auto">
            <a:xfrm>
              <a:off x="5316514" y="3644907"/>
              <a:ext cx="1130300" cy="576263"/>
            </a:xfrm>
            <a:prstGeom prst="flowChartExtract">
              <a:avLst/>
            </a:prstGeom>
            <a:gradFill rotWithShape="1">
              <a:gsLst>
                <a:gs pos="0">
                  <a:srgbClr val="FF6600"/>
                </a:gs>
                <a:gs pos="100000">
                  <a:srgbClr val="FFFFFF"/>
                </a:gs>
              </a:gsLst>
              <a:lin ang="5400000" scaled="1"/>
            </a:gradFill>
            <a:ln w="9525" algn="ctr">
              <a:noFill/>
              <a:miter lim="800000"/>
              <a:headEnd/>
              <a:tailEnd/>
            </a:ln>
          </p:spPr>
          <p:txBody>
            <a:bodyPr wrap="none" anchor="ctr"/>
            <a:lstStyle/>
            <a:p>
              <a:endParaRPr lang="zh-CN" altLang="en-US" sz="1600" b="1">
                <a:cs typeface="Arial" pitchFamily="34" charset="0"/>
              </a:endParaRPr>
            </a:p>
          </p:txBody>
        </p:sp>
        <p:sp>
          <p:nvSpPr>
            <p:cNvPr id="24594" name="Text Box 11"/>
            <p:cNvSpPr txBox="1">
              <a:spLocks noChangeArrowheads="1"/>
            </p:cNvSpPr>
            <p:nvPr/>
          </p:nvSpPr>
          <p:spPr bwMode="auto">
            <a:xfrm>
              <a:off x="2363764" y="3460757"/>
              <a:ext cx="1131888" cy="338138"/>
            </a:xfrm>
            <a:prstGeom prst="rect">
              <a:avLst/>
            </a:prstGeom>
            <a:noFill/>
            <a:ln w="9525" algn="ctr">
              <a:noFill/>
              <a:miter lim="800000"/>
              <a:headEnd/>
              <a:tailEnd/>
            </a:ln>
          </p:spPr>
          <p:txBody>
            <a:bodyPr anchorCtr="1">
              <a:spAutoFit/>
            </a:bodyPr>
            <a:lstStyle/>
            <a:p>
              <a:r>
                <a:rPr lang="en-US" altLang="zh-CN" sz="1600" b="1">
                  <a:solidFill>
                    <a:schemeClr val="bg1"/>
                  </a:solidFill>
                  <a:cs typeface="Arial" pitchFamily="34" charset="0"/>
                </a:rPr>
                <a:t>R1</a:t>
              </a:r>
            </a:p>
          </p:txBody>
        </p:sp>
        <p:sp>
          <p:nvSpPr>
            <p:cNvPr id="24595" name="Text Box 12"/>
            <p:cNvSpPr txBox="1">
              <a:spLocks noChangeArrowheads="1"/>
            </p:cNvSpPr>
            <p:nvPr/>
          </p:nvSpPr>
          <p:spPr bwMode="auto">
            <a:xfrm>
              <a:off x="5759427" y="3460757"/>
              <a:ext cx="1130300" cy="338138"/>
            </a:xfrm>
            <a:prstGeom prst="rect">
              <a:avLst/>
            </a:prstGeom>
            <a:noFill/>
            <a:ln w="9525" algn="ctr">
              <a:noFill/>
              <a:miter lim="800000"/>
              <a:headEnd/>
              <a:tailEnd/>
            </a:ln>
          </p:spPr>
          <p:txBody>
            <a:bodyPr anchorCtr="1">
              <a:spAutoFit/>
            </a:bodyPr>
            <a:lstStyle/>
            <a:p>
              <a:r>
                <a:rPr lang="en-US" altLang="zh-CN" sz="1600" b="1">
                  <a:solidFill>
                    <a:schemeClr val="bg1"/>
                  </a:solidFill>
                  <a:cs typeface="Arial" pitchFamily="34" charset="0"/>
                </a:rPr>
                <a:t>R2</a:t>
              </a:r>
            </a:p>
          </p:txBody>
        </p:sp>
        <p:sp>
          <p:nvSpPr>
            <p:cNvPr id="24596" name="Text Box 13"/>
            <p:cNvSpPr txBox="1">
              <a:spLocks noChangeArrowheads="1"/>
            </p:cNvSpPr>
            <p:nvPr/>
          </p:nvSpPr>
          <p:spPr bwMode="auto">
            <a:xfrm>
              <a:off x="3865539" y="3206757"/>
              <a:ext cx="1598613" cy="338138"/>
            </a:xfrm>
            <a:prstGeom prst="rect">
              <a:avLst/>
            </a:prstGeom>
            <a:noFill/>
            <a:ln w="9525" algn="ctr">
              <a:noFill/>
              <a:miter lim="800000"/>
              <a:headEnd/>
              <a:tailEnd/>
            </a:ln>
          </p:spPr>
          <p:txBody>
            <a:bodyPr anchorCtr="1">
              <a:spAutoFit/>
            </a:bodyPr>
            <a:lstStyle/>
            <a:p>
              <a:r>
                <a:rPr lang="en-US" altLang="zh-CN" sz="1600" b="1">
                  <a:solidFill>
                    <a:schemeClr val="tx2"/>
                  </a:solidFill>
                  <a:cs typeface="Arial" pitchFamily="34" charset="0"/>
                </a:rPr>
                <a:t>192.168.1.0/24</a:t>
              </a:r>
            </a:p>
          </p:txBody>
        </p: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内容占位符 1"/>
          <p:cNvSpPr>
            <a:spLocks noGrp="1"/>
          </p:cNvSpPr>
          <p:nvPr>
            <p:ph idx="1"/>
          </p:nvPr>
        </p:nvSpPr>
        <p:spPr>
          <a:xfrm>
            <a:off x="1738313" y="1143000"/>
            <a:ext cx="8572500" cy="3929074"/>
          </a:xfrm>
        </p:spPr>
        <p:txBody>
          <a:bodyPr/>
          <a:lstStyle/>
          <a:p>
            <a:pPr>
              <a:spcBef>
                <a:spcPts val="675"/>
              </a:spcBef>
            </a:pPr>
            <a:r>
              <a:rPr lang="zh-CN" altLang="en-US"/>
              <a:t>什么是直连路由？</a:t>
            </a:r>
          </a:p>
          <a:p>
            <a:pPr>
              <a:spcBef>
                <a:spcPts val="675"/>
              </a:spcBef>
            </a:pPr>
            <a:r>
              <a:rPr lang="zh-CN" altLang="en-US"/>
              <a:t>简述静态路由和默认路由的特点和使用环境？</a:t>
            </a:r>
          </a:p>
          <a:p>
            <a:pPr>
              <a:spcBef>
                <a:spcPts val="675"/>
              </a:spcBef>
            </a:pPr>
            <a:r>
              <a:rPr lang="zh-CN" altLang="en-US"/>
              <a:t>配置默认路由的命令中“</a:t>
            </a:r>
            <a:r>
              <a:rPr lang="en-US" altLang="zh-CN"/>
              <a:t>0.0.0.0 0.0.0.0”</a:t>
            </a:r>
            <a:r>
              <a:rPr lang="zh-CN" altLang="en-US"/>
              <a:t>表示什么意思？</a:t>
            </a:r>
          </a:p>
        </p:txBody>
      </p:sp>
      <p:sp>
        <p:nvSpPr>
          <p:cNvPr id="36867" name="标题 2"/>
          <p:cNvSpPr>
            <a:spLocks noGrp="1"/>
          </p:cNvSpPr>
          <p:nvPr>
            <p:ph type="title"/>
          </p:nvPr>
        </p:nvSpPr>
        <p:spPr>
          <a:xfrm>
            <a:off x="1752600" y="146051"/>
            <a:ext cx="8763000" cy="639763"/>
          </a:xfrm>
        </p:spPr>
        <p:txBody>
          <a:bodyPr/>
          <a:lstStyle/>
          <a:p>
            <a:r>
              <a:rPr lang="zh-CN" altLang="en-US"/>
              <a:t>考题</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38"/>
          <p:cNvSpPr>
            <a:spLocks noGrp="1"/>
          </p:cNvSpPr>
          <p:nvPr>
            <p:ph idx="1"/>
          </p:nvPr>
        </p:nvSpPr>
        <p:spPr>
          <a:xfrm>
            <a:off x="1738313" y="1143000"/>
            <a:ext cx="8501062" cy="5143500"/>
          </a:xfrm>
        </p:spPr>
        <p:txBody>
          <a:bodyPr/>
          <a:lstStyle/>
          <a:p>
            <a:pPr>
              <a:spcBef>
                <a:spcPts val="675"/>
              </a:spcBef>
            </a:pPr>
            <a:r>
              <a:rPr lang="zh-CN" altLang="en-US">
                <a:cs typeface="Arial" pitchFamily="34" charset="0"/>
              </a:rPr>
              <a:t>需求描述</a:t>
            </a:r>
            <a:endParaRPr lang="en-US" altLang="zh-CN">
              <a:cs typeface="Arial" pitchFamily="34" charset="0"/>
            </a:endParaRPr>
          </a:p>
          <a:p>
            <a:pPr lvl="1">
              <a:spcBef>
                <a:spcPts val="475"/>
              </a:spcBef>
            </a:pPr>
            <a:r>
              <a:rPr lang="en-US" altLang="zh-CN">
                <a:cs typeface="Arial" pitchFamily="34" charset="0"/>
              </a:rPr>
              <a:t>Loopback</a:t>
            </a:r>
            <a:r>
              <a:rPr lang="zh-CN" altLang="en-US">
                <a:cs typeface="Arial" pitchFamily="34" charset="0"/>
              </a:rPr>
              <a:t>地址模拟网络环境</a:t>
            </a:r>
            <a:endParaRPr lang="en-US" altLang="zh-CN">
              <a:cs typeface="Arial" pitchFamily="34" charset="0"/>
            </a:endParaRPr>
          </a:p>
          <a:p>
            <a:pPr lvl="1">
              <a:spcBef>
                <a:spcPts val="475"/>
              </a:spcBef>
            </a:pPr>
            <a:r>
              <a:rPr lang="zh-CN" altLang="en-US">
                <a:cs typeface="Arial" pitchFamily="34" charset="0"/>
              </a:rPr>
              <a:t>配置静态路由，实现各网段互通</a:t>
            </a:r>
            <a:endParaRPr lang="en-US" altLang="zh-CN">
              <a:cs typeface="Arial" pitchFamily="34" charset="0"/>
            </a:endParaRPr>
          </a:p>
          <a:p>
            <a:pPr lvl="1">
              <a:spcBef>
                <a:spcPts val="475"/>
              </a:spcBef>
            </a:pPr>
            <a:endParaRPr lang="zh-CN" altLang="en-US">
              <a:cs typeface="Arial" pitchFamily="34" charset="0"/>
            </a:endParaRPr>
          </a:p>
        </p:txBody>
      </p:sp>
      <p:sp>
        <p:nvSpPr>
          <p:cNvPr id="28675" name="Rectangle 2"/>
          <p:cNvSpPr>
            <a:spLocks noGrp="1" noChangeArrowheads="1"/>
          </p:cNvSpPr>
          <p:nvPr>
            <p:ph type="title"/>
          </p:nvPr>
        </p:nvSpPr>
        <p:spPr/>
        <p:txBody>
          <a:bodyPr/>
          <a:lstStyle/>
          <a:p>
            <a:r>
              <a:rPr lang="zh-CN" altLang="en-US" dirty="0"/>
              <a:t>实验</a:t>
            </a:r>
            <a:r>
              <a:rPr lang="en-US" altLang="zh-CN" dirty="0"/>
              <a:t>1:</a:t>
            </a:r>
            <a:r>
              <a:rPr lang="zh-CN" altLang="en-US" dirty="0"/>
              <a:t>配置静态路由实现全网互通</a:t>
            </a:r>
            <a:r>
              <a:rPr lang="en-US" altLang="zh-CN" dirty="0"/>
              <a:t>2-1</a:t>
            </a:r>
          </a:p>
        </p:txBody>
      </p:sp>
      <p:grpSp>
        <p:nvGrpSpPr>
          <p:cNvPr id="2" name="组合 62"/>
          <p:cNvGrpSpPr>
            <a:grpSpLocks/>
          </p:cNvGrpSpPr>
          <p:nvPr/>
        </p:nvGrpSpPr>
        <p:grpSpPr bwMode="auto">
          <a:xfrm>
            <a:off x="1933575" y="2917825"/>
            <a:ext cx="8383588" cy="2382838"/>
            <a:chOff x="409518" y="3278206"/>
            <a:chExt cx="8383493" cy="2384037"/>
          </a:xfrm>
        </p:grpSpPr>
        <p:sp>
          <p:nvSpPr>
            <p:cNvPr id="61" name="Line 21"/>
            <p:cNvSpPr>
              <a:spLocks noChangeShapeType="1"/>
            </p:cNvSpPr>
            <p:nvPr/>
          </p:nvSpPr>
          <p:spPr bwMode="auto">
            <a:xfrm>
              <a:off x="6464174" y="5314405"/>
              <a:ext cx="687380" cy="0"/>
            </a:xfrm>
            <a:prstGeom prst="line">
              <a:avLst/>
            </a:prstGeom>
            <a:noFill/>
            <a:ln w="38100">
              <a:solidFill>
                <a:srgbClr val="FF0000"/>
              </a:solidFill>
              <a:round/>
              <a:headEnd/>
              <a:tailEnd/>
            </a:ln>
            <a:effectLst/>
          </p:spPr>
          <p:txBody>
            <a:bodyPr wrap="none" anchor="ctr" anchorCtr="1"/>
            <a:lstStyle/>
            <a:p>
              <a:pPr algn="ctr">
                <a:defRPr/>
              </a:pPr>
              <a:endParaRPr lang="zh-CN" altLang="en-US" sz="1600" b="1">
                <a:solidFill>
                  <a:schemeClr val="tx2"/>
                </a:solidFill>
                <a:ea typeface="黑体" pitchFamily="2" charset="-122"/>
              </a:endParaRPr>
            </a:p>
          </p:txBody>
        </p:sp>
        <p:sp>
          <p:nvSpPr>
            <p:cNvPr id="50" name="Line 21"/>
            <p:cNvSpPr>
              <a:spLocks noChangeShapeType="1"/>
            </p:cNvSpPr>
            <p:nvPr/>
          </p:nvSpPr>
          <p:spPr bwMode="auto">
            <a:xfrm>
              <a:off x="2022400" y="5314405"/>
              <a:ext cx="687380" cy="0"/>
            </a:xfrm>
            <a:prstGeom prst="line">
              <a:avLst/>
            </a:prstGeom>
            <a:noFill/>
            <a:ln w="38100">
              <a:solidFill>
                <a:srgbClr val="FF0000"/>
              </a:solidFill>
              <a:round/>
              <a:headEnd/>
              <a:tailEnd/>
            </a:ln>
            <a:effectLst/>
          </p:spPr>
          <p:txBody>
            <a:bodyPr wrap="none" anchor="ctr" anchorCtr="1"/>
            <a:lstStyle/>
            <a:p>
              <a:pPr algn="ctr">
                <a:defRPr/>
              </a:pPr>
              <a:endParaRPr lang="zh-CN" altLang="en-US" sz="1600" b="1">
                <a:solidFill>
                  <a:schemeClr val="tx2"/>
                </a:solidFill>
                <a:ea typeface="黑体" pitchFamily="2" charset="-122"/>
              </a:endParaRPr>
            </a:p>
          </p:txBody>
        </p:sp>
        <p:sp>
          <p:nvSpPr>
            <p:cNvPr id="54" name="Text Box 26"/>
            <p:cNvSpPr txBox="1">
              <a:spLocks noChangeArrowheads="1"/>
            </p:cNvSpPr>
            <p:nvPr/>
          </p:nvSpPr>
          <p:spPr bwMode="auto">
            <a:xfrm>
              <a:off x="409518" y="5036453"/>
              <a:ext cx="1752580" cy="584494"/>
            </a:xfrm>
            <a:prstGeom prst="rect">
              <a:avLst/>
            </a:prstGeom>
            <a:noFill/>
            <a:ln w="9525" algn="ctr">
              <a:noFill/>
              <a:miter lim="800000"/>
              <a:headEnd/>
              <a:tailEnd/>
            </a:ln>
            <a:effectLst/>
          </p:spPr>
          <p:txBody>
            <a:bodyPr anchorCtr="1">
              <a:spAutoFit/>
            </a:bodyPr>
            <a:lstStyle/>
            <a:p>
              <a:pPr algn="ctr">
                <a:defRPr/>
              </a:pPr>
              <a:r>
                <a:rPr lang="en-US" altLang="zh-CN" sz="1600" b="1" dirty="0">
                  <a:solidFill>
                    <a:schemeClr val="tx2"/>
                  </a:solidFill>
                  <a:ea typeface="黑体" pitchFamily="2" charset="-122"/>
                </a:rPr>
                <a:t>Loopback 0</a:t>
              </a:r>
            </a:p>
            <a:p>
              <a:pPr algn="ctr">
                <a:defRPr/>
              </a:pPr>
              <a:r>
                <a:rPr lang="en-US" altLang="zh-CN" sz="1600" b="1" dirty="0">
                  <a:solidFill>
                    <a:schemeClr val="tx2"/>
                  </a:solidFill>
                  <a:ea typeface="黑体" pitchFamily="2" charset="-122"/>
                </a:rPr>
                <a:t>192.168.20.0/24</a:t>
              </a:r>
            </a:p>
          </p:txBody>
        </p:sp>
        <p:sp>
          <p:nvSpPr>
            <p:cNvPr id="51" name="Line 24"/>
            <p:cNvSpPr>
              <a:spLocks noChangeShapeType="1"/>
            </p:cNvSpPr>
            <p:nvPr/>
          </p:nvSpPr>
          <p:spPr bwMode="auto">
            <a:xfrm>
              <a:off x="3652744" y="3589513"/>
              <a:ext cx="773103" cy="0"/>
            </a:xfrm>
            <a:prstGeom prst="line">
              <a:avLst/>
            </a:prstGeom>
            <a:noFill/>
            <a:ln w="38100">
              <a:solidFill>
                <a:srgbClr val="FF0000"/>
              </a:solidFill>
              <a:round/>
              <a:headEnd/>
              <a:tailEnd/>
            </a:ln>
            <a:effectLst/>
          </p:spPr>
          <p:txBody>
            <a:bodyPr wrap="none" anchor="ctr" anchorCtr="1"/>
            <a:lstStyle/>
            <a:p>
              <a:pPr algn="ctr">
                <a:defRPr/>
              </a:pPr>
              <a:endParaRPr lang="zh-CN" altLang="en-US" sz="1600" b="1">
                <a:solidFill>
                  <a:schemeClr val="tx2"/>
                </a:solidFill>
                <a:ea typeface="黑体" pitchFamily="2" charset="-122"/>
              </a:endParaRPr>
            </a:p>
          </p:txBody>
        </p:sp>
        <p:sp>
          <p:nvSpPr>
            <p:cNvPr id="29" name="Line 23"/>
            <p:cNvSpPr>
              <a:spLocks noChangeShapeType="1"/>
            </p:cNvSpPr>
            <p:nvPr/>
          </p:nvSpPr>
          <p:spPr bwMode="auto">
            <a:xfrm>
              <a:off x="3659094" y="3363974"/>
              <a:ext cx="0" cy="430429"/>
            </a:xfrm>
            <a:prstGeom prst="line">
              <a:avLst/>
            </a:prstGeom>
            <a:noFill/>
            <a:ln w="38100">
              <a:solidFill>
                <a:srgbClr val="FF0000"/>
              </a:solidFill>
              <a:round/>
              <a:headEnd/>
              <a:tailEnd/>
            </a:ln>
            <a:effectLst/>
          </p:spPr>
          <p:txBody>
            <a:bodyPr wrap="none" anchor="ctr" anchorCtr="1"/>
            <a:lstStyle/>
            <a:p>
              <a:pPr algn="ctr">
                <a:defRPr/>
              </a:pPr>
              <a:endParaRPr lang="zh-CN" altLang="en-US" sz="1600" b="1">
                <a:solidFill>
                  <a:schemeClr val="tx2"/>
                </a:solidFill>
                <a:ea typeface="黑体" pitchFamily="2" charset="-122"/>
              </a:endParaRPr>
            </a:p>
          </p:txBody>
        </p:sp>
        <p:pic>
          <p:nvPicPr>
            <p:cNvPr id="28682" name="Picture 6"/>
            <p:cNvPicPr>
              <a:picLocks noChangeArrowheads="1"/>
            </p:cNvPicPr>
            <p:nvPr/>
          </p:nvPicPr>
          <p:blipFill>
            <a:blip r:embed="rId3"/>
            <a:srcRect/>
            <a:stretch>
              <a:fillRect/>
            </a:stretch>
          </p:blipFill>
          <p:spPr bwMode="auto">
            <a:xfrm>
              <a:off x="4088781" y="3278206"/>
              <a:ext cx="1080240" cy="635658"/>
            </a:xfrm>
            <a:prstGeom prst="rect">
              <a:avLst/>
            </a:prstGeom>
            <a:noFill/>
            <a:ln w="9525">
              <a:noFill/>
              <a:miter lim="800000"/>
              <a:headEnd/>
              <a:tailEnd/>
            </a:ln>
          </p:spPr>
        </p:pic>
        <p:pic>
          <p:nvPicPr>
            <p:cNvPr id="28683" name="Picture 4"/>
            <p:cNvPicPr>
              <a:picLocks noChangeArrowheads="1"/>
            </p:cNvPicPr>
            <p:nvPr/>
          </p:nvPicPr>
          <p:blipFill>
            <a:blip r:embed="rId3"/>
            <a:srcRect/>
            <a:stretch>
              <a:fillRect/>
            </a:stretch>
          </p:blipFill>
          <p:spPr bwMode="auto">
            <a:xfrm>
              <a:off x="2458015" y="4995996"/>
              <a:ext cx="1080240" cy="635658"/>
            </a:xfrm>
            <a:prstGeom prst="rect">
              <a:avLst/>
            </a:prstGeom>
            <a:noFill/>
            <a:ln w="9525">
              <a:noFill/>
              <a:miter lim="800000"/>
              <a:headEnd/>
              <a:tailEnd/>
            </a:ln>
          </p:spPr>
        </p:pic>
        <p:sp>
          <p:nvSpPr>
            <p:cNvPr id="32" name="Text Box 5"/>
            <p:cNvSpPr txBox="1">
              <a:spLocks noChangeArrowheads="1"/>
            </p:cNvSpPr>
            <p:nvPr/>
          </p:nvSpPr>
          <p:spPr bwMode="auto">
            <a:xfrm>
              <a:off x="2387521" y="5323935"/>
              <a:ext cx="1201724" cy="338308"/>
            </a:xfrm>
            <a:prstGeom prst="rect">
              <a:avLst/>
            </a:prstGeom>
            <a:noFill/>
            <a:ln w="9525" algn="ctr">
              <a:noFill/>
              <a:miter lim="800000"/>
              <a:headEnd/>
              <a:tailEnd/>
            </a:ln>
            <a:effectLst/>
          </p:spPr>
          <p:txBody>
            <a:bodyPr anchorCtr="1">
              <a:spAutoFit/>
            </a:bodyPr>
            <a:lstStyle/>
            <a:p>
              <a:pPr algn="ctr">
                <a:defRPr/>
              </a:pPr>
              <a:r>
                <a:rPr lang="en-US" altLang="zh-CN" sz="1600" b="1" dirty="0">
                  <a:solidFill>
                    <a:schemeClr val="bg1"/>
                  </a:solidFill>
                  <a:ea typeface="黑体" pitchFamily="2" charset="-122"/>
                </a:rPr>
                <a:t>R2</a:t>
              </a:r>
            </a:p>
          </p:txBody>
        </p:sp>
        <p:sp>
          <p:nvSpPr>
            <p:cNvPr id="33" name="Text Box 7"/>
            <p:cNvSpPr txBox="1">
              <a:spLocks noChangeArrowheads="1"/>
            </p:cNvSpPr>
            <p:nvPr/>
          </p:nvSpPr>
          <p:spPr bwMode="auto">
            <a:xfrm>
              <a:off x="4019452" y="3605396"/>
              <a:ext cx="1200136" cy="338308"/>
            </a:xfrm>
            <a:prstGeom prst="rect">
              <a:avLst/>
            </a:prstGeom>
            <a:noFill/>
            <a:ln w="9525" algn="ctr">
              <a:noFill/>
              <a:miter lim="800000"/>
              <a:headEnd/>
              <a:tailEnd/>
            </a:ln>
            <a:effectLst/>
          </p:spPr>
          <p:txBody>
            <a:bodyPr anchorCtr="1">
              <a:spAutoFit/>
            </a:bodyPr>
            <a:lstStyle/>
            <a:p>
              <a:pPr algn="ctr">
                <a:defRPr/>
              </a:pPr>
              <a:r>
                <a:rPr lang="en-US" altLang="zh-CN" sz="1600" b="1">
                  <a:solidFill>
                    <a:schemeClr val="bg1"/>
                  </a:solidFill>
                  <a:ea typeface="黑体" pitchFamily="2" charset="-122"/>
                </a:rPr>
                <a:t>R1</a:t>
              </a:r>
            </a:p>
          </p:txBody>
        </p:sp>
        <p:pic>
          <p:nvPicPr>
            <p:cNvPr id="28686" name="Picture 8"/>
            <p:cNvPicPr>
              <a:picLocks noChangeArrowheads="1"/>
            </p:cNvPicPr>
            <p:nvPr/>
          </p:nvPicPr>
          <p:blipFill>
            <a:blip r:embed="rId3"/>
            <a:srcRect/>
            <a:stretch>
              <a:fillRect/>
            </a:stretch>
          </p:blipFill>
          <p:spPr bwMode="auto">
            <a:xfrm>
              <a:off x="5734681" y="4995996"/>
              <a:ext cx="1080240" cy="635658"/>
            </a:xfrm>
            <a:prstGeom prst="rect">
              <a:avLst/>
            </a:prstGeom>
            <a:noFill/>
            <a:ln w="9525">
              <a:noFill/>
              <a:miter lim="800000"/>
              <a:headEnd/>
              <a:tailEnd/>
            </a:ln>
          </p:spPr>
        </p:pic>
        <p:sp>
          <p:nvSpPr>
            <p:cNvPr id="35" name="Text Box 9"/>
            <p:cNvSpPr txBox="1">
              <a:spLocks noChangeArrowheads="1"/>
            </p:cNvSpPr>
            <p:nvPr/>
          </p:nvSpPr>
          <p:spPr bwMode="auto">
            <a:xfrm>
              <a:off x="5664083" y="5323935"/>
              <a:ext cx="1201724" cy="338308"/>
            </a:xfrm>
            <a:prstGeom prst="rect">
              <a:avLst/>
            </a:prstGeom>
            <a:noFill/>
            <a:ln w="9525" algn="ctr">
              <a:noFill/>
              <a:miter lim="800000"/>
              <a:headEnd/>
              <a:tailEnd/>
            </a:ln>
            <a:effectLst/>
          </p:spPr>
          <p:txBody>
            <a:bodyPr anchorCtr="1">
              <a:spAutoFit/>
            </a:bodyPr>
            <a:lstStyle/>
            <a:p>
              <a:pPr algn="ctr">
                <a:defRPr/>
              </a:pPr>
              <a:r>
                <a:rPr lang="en-US" altLang="zh-CN" sz="1600" b="1">
                  <a:solidFill>
                    <a:schemeClr val="bg1"/>
                  </a:solidFill>
                  <a:ea typeface="黑体" pitchFamily="2" charset="-122"/>
                </a:rPr>
                <a:t>R3</a:t>
              </a:r>
            </a:p>
          </p:txBody>
        </p:sp>
        <p:cxnSp>
          <p:nvCxnSpPr>
            <p:cNvPr id="28688" name="AutoShape 10"/>
            <p:cNvCxnSpPr>
              <a:cxnSpLocks noChangeShapeType="1"/>
              <a:stCxn id="33" idx="2"/>
            </p:cNvCxnSpPr>
            <p:nvPr/>
          </p:nvCxnSpPr>
          <p:spPr bwMode="auto">
            <a:xfrm rot="5400000">
              <a:off x="3393981" y="4088285"/>
              <a:ext cx="1369820" cy="1081259"/>
            </a:xfrm>
            <a:prstGeom prst="straightConnector1">
              <a:avLst/>
            </a:prstGeom>
            <a:noFill/>
            <a:ln w="38100">
              <a:solidFill>
                <a:srgbClr val="FF0000"/>
              </a:solidFill>
              <a:round/>
              <a:headEnd/>
              <a:tailEnd/>
            </a:ln>
          </p:spPr>
        </p:cxnSp>
        <p:cxnSp>
          <p:nvCxnSpPr>
            <p:cNvPr id="28689" name="AutoShape 11"/>
            <p:cNvCxnSpPr>
              <a:cxnSpLocks noChangeShapeType="1"/>
            </p:cNvCxnSpPr>
            <p:nvPr/>
          </p:nvCxnSpPr>
          <p:spPr bwMode="auto">
            <a:xfrm>
              <a:off x="3538255" y="5313825"/>
              <a:ext cx="2196426" cy="0"/>
            </a:xfrm>
            <a:prstGeom prst="straightConnector1">
              <a:avLst/>
            </a:prstGeom>
            <a:noFill/>
            <a:ln w="38100">
              <a:solidFill>
                <a:srgbClr val="FF0000"/>
              </a:solidFill>
              <a:round/>
              <a:headEnd/>
              <a:tailEnd/>
            </a:ln>
          </p:spPr>
        </p:cxnSp>
        <p:cxnSp>
          <p:nvCxnSpPr>
            <p:cNvPr id="28690" name="AutoShape 13"/>
            <p:cNvCxnSpPr>
              <a:cxnSpLocks noChangeShapeType="1"/>
              <a:stCxn id="33" idx="2"/>
            </p:cNvCxnSpPr>
            <p:nvPr/>
          </p:nvCxnSpPr>
          <p:spPr bwMode="auto">
            <a:xfrm rot="16200000" flipH="1">
              <a:off x="4492191" y="4071333"/>
              <a:ext cx="1369819" cy="1115159"/>
            </a:xfrm>
            <a:prstGeom prst="straightConnector1">
              <a:avLst/>
            </a:prstGeom>
            <a:noFill/>
            <a:ln w="38100">
              <a:solidFill>
                <a:srgbClr val="FF0000"/>
              </a:solidFill>
              <a:round/>
              <a:headEnd/>
              <a:tailEnd/>
            </a:ln>
          </p:spPr>
        </p:cxnSp>
        <p:sp>
          <p:nvSpPr>
            <p:cNvPr id="53" name="Text Box 25"/>
            <p:cNvSpPr txBox="1">
              <a:spLocks noChangeArrowheads="1"/>
            </p:cNvSpPr>
            <p:nvPr/>
          </p:nvSpPr>
          <p:spPr bwMode="auto">
            <a:xfrm>
              <a:off x="2057324" y="3319502"/>
              <a:ext cx="1716069" cy="584494"/>
            </a:xfrm>
            <a:prstGeom prst="rect">
              <a:avLst/>
            </a:prstGeom>
            <a:noFill/>
            <a:ln w="9525" algn="ctr">
              <a:noFill/>
              <a:miter lim="800000"/>
              <a:headEnd/>
              <a:tailEnd/>
            </a:ln>
            <a:effectLst/>
          </p:spPr>
          <p:txBody>
            <a:bodyPr anchorCtr="1">
              <a:spAutoFit/>
            </a:bodyPr>
            <a:lstStyle/>
            <a:p>
              <a:pPr algn="ctr">
                <a:defRPr/>
              </a:pPr>
              <a:r>
                <a:rPr lang="en-US" altLang="zh-CN" sz="1600" b="1" dirty="0">
                  <a:solidFill>
                    <a:schemeClr val="tx2"/>
                  </a:solidFill>
                  <a:ea typeface="黑体" pitchFamily="2" charset="-122"/>
                </a:rPr>
                <a:t>Loopback 0</a:t>
              </a:r>
            </a:p>
            <a:p>
              <a:pPr algn="ctr">
                <a:defRPr/>
              </a:pPr>
              <a:r>
                <a:rPr lang="en-US" altLang="zh-CN" sz="1600" b="1" dirty="0">
                  <a:solidFill>
                    <a:schemeClr val="tx2"/>
                  </a:solidFill>
                  <a:ea typeface="黑体" pitchFamily="2" charset="-122"/>
                </a:rPr>
                <a:t>192.168.10.0/24</a:t>
              </a:r>
            </a:p>
          </p:txBody>
        </p:sp>
        <p:sp>
          <p:nvSpPr>
            <p:cNvPr id="55" name="Text Box 27"/>
            <p:cNvSpPr txBox="1">
              <a:spLocks noChangeArrowheads="1"/>
            </p:cNvSpPr>
            <p:nvPr/>
          </p:nvSpPr>
          <p:spPr bwMode="auto">
            <a:xfrm>
              <a:off x="6981694" y="5034864"/>
              <a:ext cx="1811317" cy="584494"/>
            </a:xfrm>
            <a:prstGeom prst="rect">
              <a:avLst/>
            </a:prstGeom>
            <a:noFill/>
            <a:ln w="9525" algn="ctr">
              <a:noFill/>
              <a:miter lim="800000"/>
              <a:headEnd/>
              <a:tailEnd/>
            </a:ln>
            <a:effectLst/>
          </p:spPr>
          <p:txBody>
            <a:bodyPr anchorCtr="1">
              <a:spAutoFit/>
            </a:bodyPr>
            <a:lstStyle/>
            <a:p>
              <a:pPr algn="ctr">
                <a:defRPr/>
              </a:pPr>
              <a:r>
                <a:rPr lang="en-US" altLang="zh-CN" sz="1600" b="1" dirty="0">
                  <a:solidFill>
                    <a:schemeClr val="tx2"/>
                  </a:solidFill>
                  <a:ea typeface="黑体" pitchFamily="2" charset="-122"/>
                </a:rPr>
                <a:t>Loopback 0</a:t>
              </a:r>
            </a:p>
            <a:p>
              <a:pPr algn="ctr">
                <a:defRPr/>
              </a:pPr>
              <a:r>
                <a:rPr lang="en-US" altLang="zh-CN" sz="1600" b="1" dirty="0">
                  <a:solidFill>
                    <a:schemeClr val="tx2"/>
                  </a:solidFill>
                  <a:ea typeface="黑体" pitchFamily="2" charset="-122"/>
                </a:rPr>
                <a:t>192.168.30.0/24</a:t>
              </a:r>
            </a:p>
          </p:txBody>
        </p:sp>
        <p:sp>
          <p:nvSpPr>
            <p:cNvPr id="56" name="Text Box 28"/>
            <p:cNvSpPr txBox="1">
              <a:spLocks noChangeArrowheads="1"/>
            </p:cNvSpPr>
            <p:nvPr/>
          </p:nvSpPr>
          <p:spPr bwMode="auto">
            <a:xfrm rot="18482823">
              <a:off x="3190366" y="4337689"/>
              <a:ext cx="1634359" cy="338134"/>
            </a:xfrm>
            <a:prstGeom prst="rect">
              <a:avLst/>
            </a:prstGeom>
            <a:noFill/>
            <a:ln w="9525" algn="ctr">
              <a:noFill/>
              <a:miter lim="800000"/>
              <a:headEnd/>
              <a:tailEnd/>
            </a:ln>
            <a:effectLst/>
          </p:spPr>
          <p:txBody>
            <a:bodyPr anchorCtr="1">
              <a:spAutoFit/>
            </a:bodyPr>
            <a:lstStyle/>
            <a:p>
              <a:pPr algn="ctr">
                <a:defRPr/>
              </a:pPr>
              <a:r>
                <a:rPr lang="en-US" altLang="zh-CN" sz="1600" b="1" dirty="0">
                  <a:solidFill>
                    <a:schemeClr val="tx2"/>
                  </a:solidFill>
                  <a:ea typeface="黑体" pitchFamily="2" charset="-122"/>
                </a:rPr>
                <a:t>192.168.1.0/24</a:t>
              </a:r>
            </a:p>
          </p:txBody>
        </p:sp>
        <p:sp>
          <p:nvSpPr>
            <p:cNvPr id="57" name="Text Box 29"/>
            <p:cNvSpPr txBox="1">
              <a:spLocks noChangeArrowheads="1"/>
            </p:cNvSpPr>
            <p:nvPr/>
          </p:nvSpPr>
          <p:spPr bwMode="auto">
            <a:xfrm rot="3077254">
              <a:off x="4474645" y="4361513"/>
              <a:ext cx="1615300" cy="338133"/>
            </a:xfrm>
            <a:prstGeom prst="rect">
              <a:avLst/>
            </a:prstGeom>
            <a:noFill/>
            <a:ln w="9525" algn="ctr">
              <a:noFill/>
              <a:miter lim="800000"/>
              <a:headEnd/>
              <a:tailEnd/>
            </a:ln>
            <a:effectLst/>
          </p:spPr>
          <p:txBody>
            <a:bodyPr anchorCtr="1">
              <a:spAutoFit/>
            </a:bodyPr>
            <a:lstStyle/>
            <a:p>
              <a:pPr algn="ctr">
                <a:defRPr/>
              </a:pPr>
              <a:r>
                <a:rPr lang="en-US" altLang="zh-CN" sz="1600" b="1" dirty="0">
                  <a:solidFill>
                    <a:schemeClr val="tx2"/>
                  </a:solidFill>
                  <a:ea typeface="黑体" pitchFamily="2" charset="-122"/>
                </a:rPr>
                <a:t>192.168.2.0/24</a:t>
              </a:r>
            </a:p>
          </p:txBody>
        </p:sp>
        <p:sp>
          <p:nvSpPr>
            <p:cNvPr id="58" name="Text Box 30"/>
            <p:cNvSpPr txBox="1">
              <a:spLocks noChangeArrowheads="1"/>
            </p:cNvSpPr>
            <p:nvPr/>
          </p:nvSpPr>
          <p:spPr bwMode="auto">
            <a:xfrm>
              <a:off x="3841654" y="5281051"/>
              <a:ext cx="1649394" cy="338307"/>
            </a:xfrm>
            <a:prstGeom prst="rect">
              <a:avLst/>
            </a:prstGeom>
            <a:noFill/>
            <a:ln w="9525" algn="ctr">
              <a:noFill/>
              <a:miter lim="800000"/>
              <a:headEnd/>
              <a:tailEnd/>
            </a:ln>
            <a:effectLst/>
          </p:spPr>
          <p:txBody>
            <a:bodyPr anchorCtr="1">
              <a:spAutoFit/>
            </a:bodyPr>
            <a:lstStyle/>
            <a:p>
              <a:pPr algn="ctr">
                <a:defRPr/>
              </a:pPr>
              <a:r>
                <a:rPr lang="en-US" altLang="zh-CN" sz="1600" b="1" dirty="0">
                  <a:solidFill>
                    <a:schemeClr val="tx2"/>
                  </a:solidFill>
                  <a:ea typeface="黑体" pitchFamily="2" charset="-122"/>
                </a:rPr>
                <a:t>192.168.3.0/24</a:t>
              </a:r>
            </a:p>
          </p:txBody>
        </p:sp>
        <p:sp>
          <p:nvSpPr>
            <p:cNvPr id="60" name="Line 23"/>
            <p:cNvSpPr>
              <a:spLocks noChangeShapeType="1"/>
            </p:cNvSpPr>
            <p:nvPr/>
          </p:nvSpPr>
          <p:spPr bwMode="auto">
            <a:xfrm>
              <a:off x="2016050" y="5072984"/>
              <a:ext cx="0" cy="428841"/>
            </a:xfrm>
            <a:prstGeom prst="line">
              <a:avLst/>
            </a:prstGeom>
            <a:noFill/>
            <a:ln w="38100">
              <a:solidFill>
                <a:srgbClr val="FF0000"/>
              </a:solidFill>
              <a:round/>
              <a:headEnd/>
              <a:tailEnd/>
            </a:ln>
            <a:effectLst/>
          </p:spPr>
          <p:txBody>
            <a:bodyPr wrap="none" anchor="ctr" anchorCtr="1"/>
            <a:lstStyle/>
            <a:p>
              <a:pPr algn="ctr">
                <a:defRPr/>
              </a:pPr>
              <a:endParaRPr lang="zh-CN" altLang="en-US" sz="1600" b="1">
                <a:solidFill>
                  <a:schemeClr val="tx2"/>
                </a:solidFill>
                <a:ea typeface="黑体" pitchFamily="2" charset="-122"/>
              </a:endParaRPr>
            </a:p>
          </p:txBody>
        </p:sp>
        <p:sp>
          <p:nvSpPr>
            <p:cNvPr id="62" name="Line 23"/>
            <p:cNvSpPr>
              <a:spLocks noChangeShapeType="1"/>
            </p:cNvSpPr>
            <p:nvPr/>
          </p:nvSpPr>
          <p:spPr bwMode="auto">
            <a:xfrm>
              <a:off x="7151555" y="5072984"/>
              <a:ext cx="0" cy="428841"/>
            </a:xfrm>
            <a:prstGeom prst="line">
              <a:avLst/>
            </a:prstGeom>
            <a:noFill/>
            <a:ln w="38100">
              <a:solidFill>
                <a:srgbClr val="FF0000"/>
              </a:solidFill>
              <a:round/>
              <a:headEnd/>
              <a:tailEnd/>
            </a:ln>
            <a:effectLst/>
          </p:spPr>
          <p:txBody>
            <a:bodyPr wrap="none" anchor="ctr" anchorCtr="1"/>
            <a:lstStyle/>
            <a:p>
              <a:pPr algn="ctr">
                <a:defRPr/>
              </a:pPr>
              <a:endParaRPr lang="zh-CN" altLang="en-US" sz="1600" b="1">
                <a:solidFill>
                  <a:schemeClr val="tx2"/>
                </a:solidFill>
                <a:ea typeface="黑体"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17"/>
          <p:cNvSpPr>
            <a:spLocks noGrp="1"/>
          </p:cNvSpPr>
          <p:nvPr>
            <p:ph idx="1"/>
          </p:nvPr>
        </p:nvSpPr>
        <p:spPr>
          <a:xfrm>
            <a:off x="1738313" y="1143000"/>
            <a:ext cx="8501062" cy="5143500"/>
          </a:xfrm>
        </p:spPr>
        <p:txBody>
          <a:bodyPr/>
          <a:lstStyle/>
          <a:p>
            <a:pPr>
              <a:spcBef>
                <a:spcPts val="675"/>
              </a:spcBef>
            </a:pPr>
            <a:r>
              <a:rPr lang="zh-CN" altLang="en-US">
                <a:cs typeface="Arial" pitchFamily="34" charset="0"/>
              </a:rPr>
              <a:t>实现思路</a:t>
            </a:r>
            <a:endParaRPr lang="en-US" altLang="zh-CN">
              <a:cs typeface="Arial" pitchFamily="34" charset="0"/>
            </a:endParaRPr>
          </a:p>
          <a:p>
            <a:pPr lvl="1">
              <a:spcBef>
                <a:spcPts val="475"/>
              </a:spcBef>
            </a:pPr>
            <a:r>
              <a:rPr lang="zh-CN" altLang="en-US">
                <a:cs typeface="Arial" pitchFamily="34" charset="0"/>
              </a:rPr>
              <a:t>非直连网段需要配置静态路由</a:t>
            </a:r>
            <a:endParaRPr lang="en-US" altLang="zh-CN">
              <a:cs typeface="Arial" pitchFamily="34" charset="0"/>
            </a:endParaRPr>
          </a:p>
          <a:p>
            <a:pPr lvl="1">
              <a:spcBef>
                <a:spcPts val="475"/>
              </a:spcBef>
            </a:pPr>
            <a:r>
              <a:rPr lang="zh-CN" altLang="en-US">
                <a:cs typeface="Arial" pitchFamily="34" charset="0"/>
              </a:rPr>
              <a:t>配置完成后，使用</a:t>
            </a:r>
            <a:r>
              <a:rPr lang="en-US" altLang="zh-CN">
                <a:cs typeface="Arial" pitchFamily="34" charset="0"/>
              </a:rPr>
              <a:t>ping</a:t>
            </a:r>
            <a:r>
              <a:rPr lang="zh-CN" altLang="en-US">
                <a:cs typeface="Arial" pitchFamily="34" charset="0"/>
              </a:rPr>
              <a:t>命令进行测试</a:t>
            </a:r>
            <a:endParaRPr lang="en-US" altLang="zh-CN">
              <a:cs typeface="Arial" pitchFamily="34" charset="0"/>
            </a:endParaRPr>
          </a:p>
          <a:p>
            <a:pPr lvl="1">
              <a:spcBef>
                <a:spcPts val="475"/>
              </a:spcBef>
            </a:pPr>
            <a:endParaRPr lang="en-US" altLang="zh-CN">
              <a:cs typeface="Arial" pitchFamily="34" charset="0"/>
            </a:endParaRPr>
          </a:p>
          <a:p>
            <a:pPr lvl="1">
              <a:spcBef>
                <a:spcPts val="475"/>
              </a:spcBef>
            </a:pPr>
            <a:endParaRPr lang="en-US" altLang="zh-CN">
              <a:cs typeface="Arial" pitchFamily="34" charset="0"/>
            </a:endParaRPr>
          </a:p>
          <a:p>
            <a:pPr>
              <a:spcBef>
                <a:spcPts val="675"/>
              </a:spcBef>
            </a:pPr>
            <a:r>
              <a:rPr lang="zh-CN" altLang="en-US">
                <a:cs typeface="Arial" pitchFamily="34" charset="0"/>
              </a:rPr>
              <a:t>学员练习</a:t>
            </a:r>
          </a:p>
        </p:txBody>
      </p:sp>
      <p:sp>
        <p:nvSpPr>
          <p:cNvPr id="29699" name="Rectangle 2"/>
          <p:cNvSpPr>
            <a:spLocks noGrp="1" noChangeArrowheads="1"/>
          </p:cNvSpPr>
          <p:nvPr>
            <p:ph type="title"/>
          </p:nvPr>
        </p:nvSpPr>
        <p:spPr/>
        <p:txBody>
          <a:bodyPr/>
          <a:lstStyle/>
          <a:p>
            <a:r>
              <a:rPr lang="zh-CN" altLang="en-US" dirty="0"/>
              <a:t>实验</a:t>
            </a:r>
            <a:r>
              <a:rPr lang="en-US" altLang="zh-CN" dirty="0"/>
              <a:t>1:</a:t>
            </a:r>
            <a:r>
              <a:rPr lang="zh-CN" altLang="en-US" dirty="0"/>
              <a:t>配置静态路由实现全网互通</a:t>
            </a:r>
            <a:r>
              <a:rPr lang="en-US" altLang="zh-CN" dirty="0"/>
              <a:t>2-2</a:t>
            </a:r>
          </a:p>
        </p:txBody>
      </p:sp>
      <p:pic>
        <p:nvPicPr>
          <p:cNvPr id="29700" name="Picture 4" descr="练习"/>
          <p:cNvPicPr>
            <a:picLocks noChangeAspect="1" noChangeArrowheads="1"/>
          </p:cNvPicPr>
          <p:nvPr/>
        </p:nvPicPr>
        <p:blipFill>
          <a:blip r:embed="rId3"/>
          <a:srcRect/>
          <a:stretch>
            <a:fillRect/>
          </a:stretch>
        </p:blipFill>
        <p:spPr bwMode="auto">
          <a:xfrm>
            <a:off x="2387601" y="4121150"/>
            <a:ext cx="1008063" cy="914400"/>
          </a:xfrm>
          <a:prstGeom prst="rect">
            <a:avLst/>
          </a:prstGeom>
          <a:noFill/>
          <a:ln w="9525">
            <a:noFill/>
            <a:miter lim="800000"/>
            <a:headEnd/>
            <a:tailEnd/>
          </a:ln>
        </p:spPr>
      </p:pic>
      <p:sp>
        <p:nvSpPr>
          <p:cNvPr id="29701" name="Rectangle 5"/>
          <p:cNvSpPr>
            <a:spLocks noChangeArrowheads="1"/>
          </p:cNvSpPr>
          <p:nvPr/>
        </p:nvSpPr>
        <p:spPr bwMode="auto">
          <a:xfrm>
            <a:off x="3143251" y="4338639"/>
            <a:ext cx="2735263" cy="433387"/>
          </a:xfrm>
          <a:prstGeom prst="rect">
            <a:avLst/>
          </a:prstGeom>
          <a:noFill/>
          <a:ln w="9525">
            <a:noFill/>
            <a:miter lim="800000"/>
            <a:headEnd/>
            <a:tailEnd/>
          </a:ln>
        </p:spPr>
        <p:txBody>
          <a:bodyPr/>
          <a:lstStyle/>
          <a:p>
            <a:pPr marL="342900" indent="-342900">
              <a:spcBef>
                <a:spcPct val="20000"/>
              </a:spcBef>
              <a:buClr>
                <a:srgbClr val="006600"/>
              </a:buClr>
              <a:buSzPct val="80000"/>
            </a:pPr>
            <a:r>
              <a:rPr lang="en-US" altLang="zh-CN" sz="2400" b="1">
                <a:solidFill>
                  <a:srgbClr val="FF9933"/>
                </a:solidFill>
                <a:latin typeface="黑体" pitchFamily="49" charset="-122"/>
              </a:rPr>
              <a:t>40</a:t>
            </a:r>
            <a:r>
              <a:rPr lang="zh-CN" altLang="en-US" sz="2400" b="1">
                <a:solidFill>
                  <a:srgbClr val="FF9933"/>
                </a:solidFill>
                <a:latin typeface="黑体" pitchFamily="49" charset="-122"/>
              </a:rPr>
              <a:t>分钟完成</a:t>
            </a: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1"/>
          <p:cNvSpPr>
            <a:spLocks noGrp="1"/>
          </p:cNvSpPr>
          <p:nvPr>
            <p:ph idx="1"/>
          </p:nvPr>
        </p:nvSpPr>
        <p:spPr>
          <a:xfrm>
            <a:off x="1738313" y="1143000"/>
            <a:ext cx="8572500" cy="5143500"/>
          </a:xfrm>
        </p:spPr>
        <p:txBody>
          <a:bodyPr/>
          <a:lstStyle/>
          <a:p>
            <a:pPr>
              <a:spcBef>
                <a:spcPts val="675"/>
              </a:spcBef>
            </a:pPr>
            <a:r>
              <a:rPr lang="zh-CN" altLang="en-US">
                <a:cs typeface="Arial" pitchFamily="34" charset="0"/>
              </a:rPr>
              <a:t>需求描述</a:t>
            </a:r>
            <a:endParaRPr lang="en-US" altLang="zh-CN">
              <a:cs typeface="Arial" pitchFamily="34" charset="0"/>
            </a:endParaRPr>
          </a:p>
          <a:p>
            <a:pPr lvl="1">
              <a:spcBef>
                <a:spcPts val="475"/>
              </a:spcBef>
            </a:pPr>
            <a:r>
              <a:rPr lang="zh-CN" altLang="en-US">
                <a:cs typeface="Arial" pitchFamily="34" charset="0"/>
              </a:rPr>
              <a:t>全网配置静态路由互通，并实现以下要求</a:t>
            </a:r>
            <a:endParaRPr lang="en-US" altLang="zh-CN">
              <a:cs typeface="Arial" pitchFamily="34" charset="0"/>
            </a:endParaRPr>
          </a:p>
          <a:p>
            <a:pPr lvl="2">
              <a:spcBef>
                <a:spcPct val="0"/>
              </a:spcBef>
            </a:pPr>
            <a:r>
              <a:rPr lang="en-US" altLang="zh-CN">
                <a:cs typeface="Arial" pitchFamily="34" charset="0"/>
              </a:rPr>
              <a:t>192.168.20.0/24</a:t>
            </a:r>
            <a:r>
              <a:rPr lang="zh-CN" altLang="en-US">
                <a:cs typeface="Arial" pitchFamily="34" charset="0"/>
              </a:rPr>
              <a:t>访问</a:t>
            </a:r>
            <a:r>
              <a:rPr lang="en-US" altLang="zh-CN">
                <a:cs typeface="Arial" pitchFamily="34" charset="0"/>
              </a:rPr>
              <a:t>192.168.30.0/24</a:t>
            </a:r>
            <a:r>
              <a:rPr lang="zh-CN" altLang="en-US">
                <a:cs typeface="Arial" pitchFamily="34" charset="0"/>
              </a:rPr>
              <a:t>时，数据从</a:t>
            </a:r>
            <a:r>
              <a:rPr lang="en-US" altLang="zh-CN">
                <a:cs typeface="Arial" pitchFamily="34" charset="0"/>
              </a:rPr>
              <a:t>R2</a:t>
            </a:r>
            <a:r>
              <a:rPr lang="zh-CN" altLang="en-US">
                <a:cs typeface="Arial" pitchFamily="34" charset="0"/>
              </a:rPr>
              <a:t>到</a:t>
            </a:r>
            <a:r>
              <a:rPr lang="en-US" altLang="zh-CN">
                <a:cs typeface="Arial" pitchFamily="34" charset="0"/>
              </a:rPr>
              <a:t>R3</a:t>
            </a:r>
          </a:p>
          <a:p>
            <a:pPr lvl="2">
              <a:spcBef>
                <a:spcPct val="0"/>
              </a:spcBef>
            </a:pPr>
            <a:r>
              <a:rPr lang="en-US" altLang="zh-CN">
                <a:cs typeface="Arial" pitchFamily="34" charset="0"/>
              </a:rPr>
              <a:t>192.168.20.0/24</a:t>
            </a:r>
            <a:r>
              <a:rPr lang="zh-CN" altLang="en-US">
                <a:cs typeface="Arial" pitchFamily="34" charset="0"/>
              </a:rPr>
              <a:t>访问</a:t>
            </a:r>
            <a:r>
              <a:rPr lang="en-US" altLang="zh-CN">
                <a:cs typeface="Arial" pitchFamily="34" charset="0"/>
              </a:rPr>
              <a:t>192.168.10.0/24</a:t>
            </a:r>
            <a:r>
              <a:rPr lang="zh-CN" altLang="en-US">
                <a:cs typeface="Arial" pitchFamily="34" charset="0"/>
              </a:rPr>
              <a:t>时，数据从</a:t>
            </a:r>
            <a:r>
              <a:rPr lang="en-US" altLang="zh-CN">
                <a:cs typeface="Arial" pitchFamily="34" charset="0"/>
              </a:rPr>
              <a:t>R2</a:t>
            </a:r>
            <a:r>
              <a:rPr lang="zh-CN" altLang="en-US">
                <a:cs typeface="Arial" pitchFamily="34" charset="0"/>
              </a:rPr>
              <a:t>经过</a:t>
            </a:r>
            <a:r>
              <a:rPr lang="en-US" altLang="zh-CN">
                <a:cs typeface="Arial" pitchFamily="34" charset="0"/>
              </a:rPr>
              <a:t>R1</a:t>
            </a:r>
            <a:r>
              <a:rPr lang="zh-CN" altLang="en-US">
                <a:cs typeface="Arial" pitchFamily="34" charset="0"/>
              </a:rPr>
              <a:t>到</a:t>
            </a:r>
            <a:r>
              <a:rPr lang="en-US" altLang="zh-CN">
                <a:cs typeface="Arial" pitchFamily="34" charset="0"/>
              </a:rPr>
              <a:t>R3</a:t>
            </a:r>
            <a:endParaRPr lang="zh-CN" altLang="en-US">
              <a:cs typeface="Arial" pitchFamily="34" charset="0"/>
            </a:endParaRPr>
          </a:p>
        </p:txBody>
      </p:sp>
      <p:sp>
        <p:nvSpPr>
          <p:cNvPr id="30723" name="Rectangle 2"/>
          <p:cNvSpPr>
            <a:spLocks noGrp="1" noChangeArrowheads="1"/>
          </p:cNvSpPr>
          <p:nvPr>
            <p:ph type="title"/>
          </p:nvPr>
        </p:nvSpPr>
        <p:spPr/>
        <p:txBody>
          <a:bodyPr/>
          <a:lstStyle/>
          <a:p>
            <a:r>
              <a:rPr lang="zh-CN" altLang="en-US" dirty="0"/>
              <a:t>实验</a:t>
            </a:r>
            <a:r>
              <a:rPr lang="en-US" altLang="zh-CN" dirty="0"/>
              <a:t>2</a:t>
            </a:r>
            <a:r>
              <a:rPr lang="zh-CN" altLang="en-US" dirty="0"/>
              <a:t>：实现路由选路</a:t>
            </a:r>
            <a:r>
              <a:rPr lang="en-US" altLang="zh-CN" dirty="0"/>
              <a:t>2-1</a:t>
            </a:r>
          </a:p>
        </p:txBody>
      </p:sp>
      <p:grpSp>
        <p:nvGrpSpPr>
          <p:cNvPr id="2" name="组合 51"/>
          <p:cNvGrpSpPr>
            <a:grpSpLocks/>
          </p:cNvGrpSpPr>
          <p:nvPr/>
        </p:nvGrpSpPr>
        <p:grpSpPr bwMode="auto">
          <a:xfrm>
            <a:off x="2413000" y="3067051"/>
            <a:ext cx="6897688" cy="3076575"/>
            <a:chOff x="1180205" y="3209922"/>
            <a:chExt cx="6897043" cy="3077002"/>
          </a:xfrm>
        </p:grpSpPr>
        <p:sp>
          <p:nvSpPr>
            <p:cNvPr id="30725" name="AutoShape 31"/>
            <p:cNvSpPr>
              <a:spLocks noChangeArrowheads="1"/>
            </p:cNvSpPr>
            <p:nvPr/>
          </p:nvSpPr>
          <p:spPr bwMode="auto">
            <a:xfrm rot="5400000">
              <a:off x="3685131" y="3587061"/>
              <a:ext cx="764534" cy="508444"/>
            </a:xfrm>
            <a:prstGeom prst="flowChartExtract">
              <a:avLst/>
            </a:prstGeom>
            <a:gradFill rotWithShape="1">
              <a:gsLst>
                <a:gs pos="0">
                  <a:srgbClr val="FF6600"/>
                </a:gs>
                <a:gs pos="100000">
                  <a:srgbClr val="FFFFFF"/>
                </a:gs>
              </a:gsLst>
              <a:lin ang="5400000" scaled="1"/>
            </a:gradFill>
            <a:ln w="9525" algn="ctr">
              <a:noFill/>
              <a:miter lim="800000"/>
              <a:headEnd/>
              <a:tailEnd/>
            </a:ln>
          </p:spPr>
          <p:txBody>
            <a:bodyPr wrap="none" anchor="ctr"/>
            <a:lstStyle/>
            <a:p>
              <a:pPr algn="ctr"/>
              <a:endParaRPr lang="zh-CN" altLang="en-US" sz="1600" b="1">
                <a:solidFill>
                  <a:schemeClr val="tx2"/>
                </a:solidFill>
                <a:cs typeface="Arial" pitchFamily="34" charset="0"/>
              </a:endParaRPr>
            </a:p>
          </p:txBody>
        </p:sp>
        <p:sp>
          <p:nvSpPr>
            <p:cNvPr id="30726" name="AutoShape 32"/>
            <p:cNvSpPr>
              <a:spLocks noChangeArrowheads="1"/>
            </p:cNvSpPr>
            <p:nvPr/>
          </p:nvSpPr>
          <p:spPr bwMode="auto">
            <a:xfrm rot="-5400000">
              <a:off x="4754358" y="3620708"/>
              <a:ext cx="764534" cy="508444"/>
            </a:xfrm>
            <a:prstGeom prst="flowChartExtract">
              <a:avLst/>
            </a:prstGeom>
            <a:gradFill rotWithShape="1">
              <a:gsLst>
                <a:gs pos="0">
                  <a:srgbClr val="FF6600"/>
                </a:gs>
                <a:gs pos="100000">
                  <a:srgbClr val="FFFFFF"/>
                </a:gs>
              </a:gsLst>
              <a:lin ang="5400000" scaled="1"/>
            </a:gradFill>
            <a:ln w="9525" algn="ctr">
              <a:noFill/>
              <a:miter lim="800000"/>
              <a:headEnd/>
              <a:tailEnd/>
            </a:ln>
          </p:spPr>
          <p:txBody>
            <a:bodyPr wrap="none" anchor="ctr"/>
            <a:lstStyle/>
            <a:p>
              <a:pPr algn="ctr"/>
              <a:endParaRPr lang="zh-CN" altLang="en-US" sz="1600" b="1">
                <a:solidFill>
                  <a:schemeClr val="tx2"/>
                </a:solidFill>
                <a:cs typeface="Arial" pitchFamily="34" charset="0"/>
              </a:endParaRPr>
            </a:p>
          </p:txBody>
        </p:sp>
        <p:cxnSp>
          <p:nvCxnSpPr>
            <p:cNvPr id="30727" name="AutoShape 11"/>
            <p:cNvCxnSpPr>
              <a:cxnSpLocks noChangeShapeType="1"/>
              <a:stCxn id="30751" idx="2"/>
            </p:cNvCxnSpPr>
            <p:nvPr/>
          </p:nvCxnSpPr>
          <p:spPr bwMode="auto">
            <a:xfrm rot="5400000">
              <a:off x="3401577" y="4020373"/>
              <a:ext cx="1349403" cy="1068292"/>
            </a:xfrm>
            <a:prstGeom prst="straightConnector1">
              <a:avLst/>
            </a:prstGeom>
            <a:noFill/>
            <a:ln w="38100">
              <a:solidFill>
                <a:srgbClr val="FF0000"/>
              </a:solidFill>
              <a:round/>
              <a:headEnd/>
              <a:tailEnd/>
            </a:ln>
          </p:spPr>
        </p:cxnSp>
        <p:cxnSp>
          <p:nvCxnSpPr>
            <p:cNvPr id="30728" name="AutoShape 12"/>
            <p:cNvCxnSpPr>
              <a:cxnSpLocks noChangeShapeType="1"/>
            </p:cNvCxnSpPr>
            <p:nvPr/>
          </p:nvCxnSpPr>
          <p:spPr bwMode="auto">
            <a:xfrm>
              <a:off x="3542131" y="5229221"/>
              <a:ext cx="2170232" cy="0"/>
            </a:xfrm>
            <a:prstGeom prst="straightConnector1">
              <a:avLst/>
            </a:prstGeom>
            <a:noFill/>
            <a:ln w="38100">
              <a:solidFill>
                <a:srgbClr val="FF0000"/>
              </a:solidFill>
              <a:round/>
              <a:headEnd/>
              <a:tailEnd/>
            </a:ln>
          </p:spPr>
        </p:cxnSp>
        <p:cxnSp>
          <p:nvCxnSpPr>
            <p:cNvPr id="30729" name="AutoShape 13"/>
            <p:cNvCxnSpPr>
              <a:cxnSpLocks noChangeShapeType="1"/>
              <a:stCxn id="30751" idx="2"/>
            </p:cNvCxnSpPr>
            <p:nvPr/>
          </p:nvCxnSpPr>
          <p:spPr bwMode="auto">
            <a:xfrm rot="16200000" flipH="1">
              <a:off x="4486692" y="4003549"/>
              <a:ext cx="1349403" cy="1101939"/>
            </a:xfrm>
            <a:prstGeom prst="straightConnector1">
              <a:avLst/>
            </a:prstGeom>
            <a:noFill/>
            <a:ln w="38100">
              <a:solidFill>
                <a:srgbClr val="FF0000"/>
              </a:solidFill>
              <a:round/>
              <a:headEnd/>
              <a:tailEnd/>
            </a:ln>
          </p:spPr>
        </p:cxnSp>
        <p:cxnSp>
          <p:nvCxnSpPr>
            <p:cNvPr id="30730" name="AutoShape 15"/>
            <p:cNvCxnSpPr>
              <a:cxnSpLocks noChangeShapeType="1"/>
            </p:cNvCxnSpPr>
            <p:nvPr/>
          </p:nvCxnSpPr>
          <p:spPr bwMode="auto">
            <a:xfrm>
              <a:off x="6770375" y="5223614"/>
              <a:ext cx="424326" cy="484142"/>
            </a:xfrm>
            <a:prstGeom prst="bentConnector2">
              <a:avLst/>
            </a:prstGeom>
            <a:noFill/>
            <a:ln w="38100">
              <a:solidFill>
                <a:srgbClr val="FF0000"/>
              </a:solidFill>
              <a:miter lim="800000"/>
              <a:headEnd/>
              <a:tailEnd/>
            </a:ln>
          </p:spPr>
        </p:cxnSp>
        <p:sp>
          <p:nvSpPr>
            <p:cNvPr id="30731" name="Line 16"/>
            <p:cNvSpPr>
              <a:spLocks noChangeShapeType="1"/>
            </p:cNvSpPr>
            <p:nvPr/>
          </p:nvSpPr>
          <p:spPr bwMode="auto">
            <a:xfrm rot="10800000">
              <a:off x="6886270" y="5707756"/>
              <a:ext cx="592561" cy="0"/>
            </a:xfrm>
            <a:prstGeom prst="line">
              <a:avLst/>
            </a:prstGeom>
            <a:noFill/>
            <a:ln w="38100">
              <a:solidFill>
                <a:srgbClr val="FF0000"/>
              </a:solidFill>
              <a:round/>
              <a:headEnd/>
              <a:tailEnd/>
            </a:ln>
          </p:spPr>
          <p:txBody>
            <a:bodyPr wrap="none" anchor="ctr" anchorCtr="1"/>
            <a:lstStyle/>
            <a:p>
              <a:endParaRPr lang="zh-CN" altLang="en-US"/>
            </a:p>
          </p:txBody>
        </p:sp>
        <p:cxnSp>
          <p:nvCxnSpPr>
            <p:cNvPr id="30732" name="AutoShape 17"/>
            <p:cNvCxnSpPr>
              <a:cxnSpLocks noChangeShapeType="1"/>
            </p:cNvCxnSpPr>
            <p:nvPr/>
          </p:nvCxnSpPr>
          <p:spPr bwMode="auto">
            <a:xfrm rot="10800000" flipV="1">
              <a:off x="2067272" y="5229221"/>
              <a:ext cx="407503" cy="502836"/>
            </a:xfrm>
            <a:prstGeom prst="bentConnector2">
              <a:avLst/>
            </a:prstGeom>
            <a:noFill/>
            <a:ln w="38100">
              <a:solidFill>
                <a:srgbClr val="FF0000"/>
              </a:solidFill>
              <a:miter lim="800000"/>
              <a:headEnd/>
              <a:tailEnd/>
            </a:ln>
          </p:spPr>
        </p:cxnSp>
        <p:sp>
          <p:nvSpPr>
            <p:cNvPr id="30733" name="Line 18"/>
            <p:cNvSpPr>
              <a:spLocks noChangeShapeType="1"/>
            </p:cNvSpPr>
            <p:nvPr/>
          </p:nvSpPr>
          <p:spPr bwMode="auto">
            <a:xfrm>
              <a:off x="1727063" y="5732057"/>
              <a:ext cx="678547" cy="0"/>
            </a:xfrm>
            <a:prstGeom prst="line">
              <a:avLst/>
            </a:prstGeom>
            <a:noFill/>
            <a:ln w="38100">
              <a:solidFill>
                <a:srgbClr val="FF0000"/>
              </a:solidFill>
              <a:round/>
              <a:headEnd/>
              <a:tailEnd/>
            </a:ln>
          </p:spPr>
          <p:txBody>
            <a:bodyPr wrap="none" anchor="ctr" anchorCtr="1"/>
            <a:lstStyle/>
            <a:p>
              <a:endParaRPr lang="zh-CN" altLang="en-US"/>
            </a:p>
          </p:txBody>
        </p:sp>
        <p:sp>
          <p:nvSpPr>
            <p:cNvPr id="30734" name="Text Box 20"/>
            <p:cNvSpPr txBox="1">
              <a:spLocks noChangeArrowheads="1"/>
            </p:cNvSpPr>
            <p:nvPr/>
          </p:nvSpPr>
          <p:spPr bwMode="auto">
            <a:xfrm>
              <a:off x="6266512" y="4086234"/>
              <a:ext cx="1795782" cy="584775"/>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Loopback 0</a:t>
              </a:r>
            </a:p>
            <a:p>
              <a:pPr algn="ctr"/>
              <a:r>
                <a:rPr lang="en-US" altLang="zh-CN" sz="1600" b="1">
                  <a:solidFill>
                    <a:schemeClr val="tx2"/>
                  </a:solidFill>
                  <a:cs typeface="Arial" pitchFamily="34" charset="0"/>
                </a:rPr>
                <a:t>192.168.10.0/24</a:t>
              </a:r>
            </a:p>
          </p:txBody>
        </p:sp>
        <p:sp>
          <p:nvSpPr>
            <p:cNvPr id="30735" name="Text Box 21"/>
            <p:cNvSpPr txBox="1">
              <a:spLocks noChangeArrowheads="1"/>
            </p:cNvSpPr>
            <p:nvPr/>
          </p:nvSpPr>
          <p:spPr bwMode="auto">
            <a:xfrm>
              <a:off x="1180205" y="5702149"/>
              <a:ext cx="1795783" cy="584775"/>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Loopback 0</a:t>
              </a:r>
            </a:p>
            <a:p>
              <a:pPr algn="ctr"/>
              <a:r>
                <a:rPr lang="en-US" altLang="zh-CN" sz="1600" b="1">
                  <a:solidFill>
                    <a:schemeClr val="tx2"/>
                  </a:solidFill>
                  <a:cs typeface="Arial" pitchFamily="34" charset="0"/>
                </a:rPr>
                <a:t>192.168.20.0/24</a:t>
              </a:r>
            </a:p>
          </p:txBody>
        </p:sp>
        <p:sp>
          <p:nvSpPr>
            <p:cNvPr id="30736" name="Text Box 22"/>
            <p:cNvSpPr txBox="1">
              <a:spLocks noChangeArrowheads="1"/>
            </p:cNvSpPr>
            <p:nvPr/>
          </p:nvSpPr>
          <p:spPr bwMode="auto">
            <a:xfrm>
              <a:off x="6281466" y="5702149"/>
              <a:ext cx="1795782" cy="584775"/>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Loopback 1</a:t>
              </a:r>
            </a:p>
            <a:p>
              <a:pPr algn="ctr"/>
              <a:r>
                <a:rPr lang="en-US" altLang="zh-CN" sz="1600" b="1">
                  <a:solidFill>
                    <a:schemeClr val="tx2"/>
                  </a:solidFill>
                  <a:cs typeface="Arial" pitchFamily="34" charset="0"/>
                </a:rPr>
                <a:t>192.168.30.0/24</a:t>
              </a:r>
            </a:p>
          </p:txBody>
        </p:sp>
        <p:sp>
          <p:nvSpPr>
            <p:cNvPr id="30737" name="Text Box 23"/>
            <p:cNvSpPr txBox="1">
              <a:spLocks noChangeArrowheads="1"/>
            </p:cNvSpPr>
            <p:nvPr/>
          </p:nvSpPr>
          <p:spPr bwMode="auto">
            <a:xfrm rot="-3117177">
              <a:off x="3096359" y="4327540"/>
              <a:ext cx="1659687" cy="338554"/>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192.168.1.0/24</a:t>
              </a:r>
            </a:p>
          </p:txBody>
        </p:sp>
        <p:sp>
          <p:nvSpPr>
            <p:cNvPr id="30738" name="Text Box 24"/>
            <p:cNvSpPr txBox="1">
              <a:spLocks noChangeArrowheads="1"/>
            </p:cNvSpPr>
            <p:nvPr/>
          </p:nvSpPr>
          <p:spPr bwMode="auto">
            <a:xfrm rot="3077254">
              <a:off x="4457718" y="4294601"/>
              <a:ext cx="1632475" cy="338554"/>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192.168.2.0/24</a:t>
              </a:r>
            </a:p>
          </p:txBody>
        </p:sp>
        <p:sp>
          <p:nvSpPr>
            <p:cNvPr id="30739" name="Text Box 25"/>
            <p:cNvSpPr txBox="1">
              <a:spLocks noChangeArrowheads="1"/>
            </p:cNvSpPr>
            <p:nvPr/>
          </p:nvSpPr>
          <p:spPr bwMode="auto">
            <a:xfrm>
              <a:off x="3888103" y="5223614"/>
              <a:ext cx="1577436" cy="338554"/>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192.168.3.0/24</a:t>
              </a:r>
            </a:p>
          </p:txBody>
        </p:sp>
        <p:cxnSp>
          <p:nvCxnSpPr>
            <p:cNvPr id="30740" name="AutoShape 26"/>
            <p:cNvCxnSpPr>
              <a:cxnSpLocks noChangeShapeType="1"/>
            </p:cNvCxnSpPr>
            <p:nvPr/>
          </p:nvCxnSpPr>
          <p:spPr bwMode="auto">
            <a:xfrm flipV="1">
              <a:off x="6774114" y="4634791"/>
              <a:ext cx="407502" cy="502836"/>
            </a:xfrm>
            <a:prstGeom prst="bentConnector2">
              <a:avLst/>
            </a:prstGeom>
            <a:noFill/>
            <a:ln w="38100">
              <a:solidFill>
                <a:srgbClr val="FF0000"/>
              </a:solidFill>
              <a:miter lim="800000"/>
              <a:headEnd/>
              <a:tailEnd/>
            </a:ln>
          </p:spPr>
        </p:cxnSp>
        <p:sp>
          <p:nvSpPr>
            <p:cNvPr id="30741" name="Line 27"/>
            <p:cNvSpPr>
              <a:spLocks noChangeShapeType="1"/>
            </p:cNvSpPr>
            <p:nvPr/>
          </p:nvSpPr>
          <p:spPr bwMode="auto">
            <a:xfrm rot="10800000">
              <a:off x="6843277" y="4634791"/>
              <a:ext cx="678548" cy="0"/>
            </a:xfrm>
            <a:prstGeom prst="line">
              <a:avLst/>
            </a:prstGeom>
            <a:noFill/>
            <a:ln w="38100">
              <a:solidFill>
                <a:srgbClr val="FF0000"/>
              </a:solidFill>
              <a:round/>
              <a:headEnd/>
              <a:tailEnd/>
            </a:ln>
          </p:spPr>
          <p:txBody>
            <a:bodyPr wrap="none" anchor="ctr" anchorCtr="1"/>
            <a:lstStyle/>
            <a:p>
              <a:endParaRPr lang="zh-CN" altLang="en-US"/>
            </a:p>
          </p:txBody>
        </p:sp>
        <p:sp>
          <p:nvSpPr>
            <p:cNvPr id="30742" name="AutoShape 29"/>
            <p:cNvSpPr>
              <a:spLocks noChangeArrowheads="1"/>
            </p:cNvSpPr>
            <p:nvPr/>
          </p:nvSpPr>
          <p:spPr bwMode="auto">
            <a:xfrm>
              <a:off x="3168276" y="5307731"/>
              <a:ext cx="764535" cy="508444"/>
            </a:xfrm>
            <a:prstGeom prst="flowChartExtract">
              <a:avLst/>
            </a:prstGeom>
            <a:gradFill rotWithShape="1">
              <a:gsLst>
                <a:gs pos="0">
                  <a:srgbClr val="FF6600"/>
                </a:gs>
                <a:gs pos="100000">
                  <a:srgbClr val="FFFFFF"/>
                </a:gs>
              </a:gsLst>
              <a:lin ang="5400000" scaled="1"/>
            </a:gradFill>
            <a:ln w="9525" algn="ctr">
              <a:noFill/>
              <a:miter lim="800000"/>
              <a:headEnd/>
              <a:tailEnd/>
            </a:ln>
          </p:spPr>
          <p:txBody>
            <a:bodyPr wrap="none" anchor="ctr"/>
            <a:lstStyle/>
            <a:p>
              <a:pPr algn="ctr"/>
              <a:endParaRPr lang="zh-CN" altLang="en-US" sz="1600" b="1">
                <a:solidFill>
                  <a:schemeClr val="tx2"/>
                </a:solidFill>
                <a:cs typeface="Arial" pitchFamily="34" charset="0"/>
              </a:endParaRPr>
            </a:p>
          </p:txBody>
        </p:sp>
        <p:sp>
          <p:nvSpPr>
            <p:cNvPr id="30743" name="AutoShape 30"/>
            <p:cNvSpPr>
              <a:spLocks noChangeArrowheads="1"/>
            </p:cNvSpPr>
            <p:nvPr/>
          </p:nvSpPr>
          <p:spPr bwMode="auto">
            <a:xfrm>
              <a:off x="5288037" y="5307731"/>
              <a:ext cx="764535" cy="508444"/>
            </a:xfrm>
            <a:prstGeom prst="flowChartExtract">
              <a:avLst/>
            </a:prstGeom>
            <a:gradFill rotWithShape="1">
              <a:gsLst>
                <a:gs pos="0">
                  <a:srgbClr val="FF6600"/>
                </a:gs>
                <a:gs pos="100000">
                  <a:srgbClr val="FFFFFF"/>
                </a:gs>
              </a:gsLst>
              <a:lin ang="5400000" scaled="1"/>
            </a:gradFill>
            <a:ln w="9525" algn="ctr">
              <a:noFill/>
              <a:miter lim="800000"/>
              <a:headEnd/>
              <a:tailEnd/>
            </a:ln>
          </p:spPr>
          <p:txBody>
            <a:bodyPr wrap="none" anchor="ctr"/>
            <a:lstStyle/>
            <a:p>
              <a:pPr algn="ctr"/>
              <a:endParaRPr lang="zh-CN" altLang="en-US" sz="1600" b="1">
                <a:solidFill>
                  <a:schemeClr val="tx2"/>
                </a:solidFill>
                <a:cs typeface="Arial" pitchFamily="34" charset="0"/>
              </a:endParaRPr>
            </a:p>
          </p:txBody>
        </p:sp>
        <p:sp>
          <p:nvSpPr>
            <p:cNvPr id="30744" name="AutoShape 33"/>
            <p:cNvSpPr>
              <a:spLocks noChangeArrowheads="1"/>
            </p:cNvSpPr>
            <p:nvPr/>
          </p:nvSpPr>
          <p:spPr bwMode="auto">
            <a:xfrm rot="7531025">
              <a:off x="2870126" y="4588994"/>
              <a:ext cx="764534" cy="508444"/>
            </a:xfrm>
            <a:prstGeom prst="flowChartExtract">
              <a:avLst/>
            </a:prstGeom>
            <a:gradFill rotWithShape="1">
              <a:gsLst>
                <a:gs pos="0">
                  <a:srgbClr val="FF6600"/>
                </a:gs>
                <a:gs pos="100000">
                  <a:srgbClr val="FFFFFF"/>
                </a:gs>
              </a:gsLst>
              <a:lin ang="5400000" scaled="1"/>
            </a:gradFill>
            <a:ln w="9525" algn="ctr">
              <a:noFill/>
              <a:miter lim="800000"/>
              <a:headEnd/>
              <a:tailEnd/>
            </a:ln>
          </p:spPr>
          <p:txBody>
            <a:bodyPr wrap="none" anchor="ctr"/>
            <a:lstStyle/>
            <a:p>
              <a:pPr algn="ctr"/>
              <a:endParaRPr lang="zh-CN" altLang="en-US" sz="1600" b="1">
                <a:solidFill>
                  <a:schemeClr val="tx2"/>
                </a:solidFill>
                <a:cs typeface="Arial" pitchFamily="34" charset="0"/>
              </a:endParaRPr>
            </a:p>
          </p:txBody>
        </p:sp>
        <p:sp>
          <p:nvSpPr>
            <p:cNvPr id="30745" name="AutoShape 34"/>
            <p:cNvSpPr>
              <a:spLocks noChangeArrowheads="1"/>
            </p:cNvSpPr>
            <p:nvPr/>
          </p:nvSpPr>
          <p:spPr bwMode="auto">
            <a:xfrm rot="-7967328">
              <a:off x="5500200" y="4588994"/>
              <a:ext cx="764534" cy="508444"/>
            </a:xfrm>
            <a:prstGeom prst="flowChartExtract">
              <a:avLst/>
            </a:prstGeom>
            <a:gradFill rotWithShape="1">
              <a:gsLst>
                <a:gs pos="0">
                  <a:srgbClr val="FF6600"/>
                </a:gs>
                <a:gs pos="100000">
                  <a:srgbClr val="FFFFFF"/>
                </a:gs>
              </a:gsLst>
              <a:lin ang="5400000" scaled="1"/>
            </a:gradFill>
            <a:ln w="9525" algn="ctr">
              <a:noFill/>
              <a:miter lim="800000"/>
              <a:headEnd/>
              <a:tailEnd/>
            </a:ln>
          </p:spPr>
          <p:txBody>
            <a:bodyPr wrap="none" anchor="ctr"/>
            <a:lstStyle/>
            <a:p>
              <a:pPr algn="ctr"/>
              <a:endParaRPr lang="zh-CN" altLang="en-US" sz="1600" b="1">
                <a:solidFill>
                  <a:schemeClr val="tx2"/>
                </a:solidFill>
                <a:cs typeface="Arial" pitchFamily="34" charset="0"/>
              </a:endParaRPr>
            </a:p>
          </p:txBody>
        </p:sp>
        <p:pic>
          <p:nvPicPr>
            <p:cNvPr id="30746" name="Picture 6"/>
            <p:cNvPicPr>
              <a:picLocks noChangeArrowheads="1"/>
            </p:cNvPicPr>
            <p:nvPr/>
          </p:nvPicPr>
          <p:blipFill>
            <a:blip r:embed="rId3"/>
            <a:srcRect/>
            <a:stretch>
              <a:fillRect/>
            </a:stretch>
          </p:blipFill>
          <p:spPr bwMode="auto">
            <a:xfrm>
              <a:off x="2474774" y="4915182"/>
              <a:ext cx="1067357" cy="628077"/>
            </a:xfrm>
            <a:prstGeom prst="rect">
              <a:avLst/>
            </a:prstGeom>
            <a:noFill/>
            <a:ln w="9525">
              <a:noFill/>
              <a:miter lim="800000"/>
              <a:headEnd/>
              <a:tailEnd/>
            </a:ln>
          </p:spPr>
        </p:pic>
        <p:sp>
          <p:nvSpPr>
            <p:cNvPr id="30747" name="Text Box 7"/>
            <p:cNvSpPr txBox="1">
              <a:spLocks noChangeArrowheads="1"/>
            </p:cNvSpPr>
            <p:nvPr/>
          </p:nvSpPr>
          <p:spPr bwMode="auto">
            <a:xfrm>
              <a:off x="2405610" y="5238568"/>
              <a:ext cx="1186992" cy="338554"/>
            </a:xfrm>
            <a:prstGeom prst="rect">
              <a:avLst/>
            </a:prstGeom>
            <a:noFill/>
            <a:ln w="9525" algn="ctr">
              <a:noFill/>
              <a:miter lim="800000"/>
              <a:headEnd/>
              <a:tailEnd/>
            </a:ln>
          </p:spPr>
          <p:txBody>
            <a:bodyPr anchorCtr="1">
              <a:spAutoFit/>
            </a:bodyPr>
            <a:lstStyle/>
            <a:p>
              <a:pPr algn="ctr"/>
              <a:r>
                <a:rPr lang="en-US" altLang="zh-CN" sz="1600" b="1">
                  <a:solidFill>
                    <a:schemeClr val="bg1"/>
                  </a:solidFill>
                  <a:cs typeface="Arial" pitchFamily="34" charset="0"/>
                </a:rPr>
                <a:t>R2</a:t>
              </a:r>
            </a:p>
          </p:txBody>
        </p:sp>
        <p:pic>
          <p:nvPicPr>
            <p:cNvPr id="30748" name="Picture 9"/>
            <p:cNvPicPr>
              <a:picLocks noChangeArrowheads="1"/>
            </p:cNvPicPr>
            <p:nvPr/>
          </p:nvPicPr>
          <p:blipFill>
            <a:blip r:embed="rId3"/>
            <a:srcRect/>
            <a:stretch>
              <a:fillRect/>
            </a:stretch>
          </p:blipFill>
          <p:spPr bwMode="auto">
            <a:xfrm>
              <a:off x="5712364" y="4915182"/>
              <a:ext cx="1067357" cy="628077"/>
            </a:xfrm>
            <a:prstGeom prst="rect">
              <a:avLst/>
            </a:prstGeom>
            <a:noFill/>
            <a:ln w="9525">
              <a:noFill/>
              <a:miter lim="800000"/>
              <a:headEnd/>
              <a:tailEnd/>
            </a:ln>
          </p:spPr>
        </p:pic>
        <p:sp>
          <p:nvSpPr>
            <p:cNvPr id="30749" name="Text Box 10"/>
            <p:cNvSpPr txBox="1">
              <a:spLocks noChangeArrowheads="1"/>
            </p:cNvSpPr>
            <p:nvPr/>
          </p:nvSpPr>
          <p:spPr bwMode="auto">
            <a:xfrm>
              <a:off x="5643200" y="5238568"/>
              <a:ext cx="1186992" cy="338554"/>
            </a:xfrm>
            <a:prstGeom prst="rect">
              <a:avLst/>
            </a:prstGeom>
            <a:noFill/>
            <a:ln w="9525" algn="ctr">
              <a:noFill/>
              <a:miter lim="800000"/>
              <a:headEnd/>
              <a:tailEnd/>
            </a:ln>
          </p:spPr>
          <p:txBody>
            <a:bodyPr anchorCtr="1">
              <a:spAutoFit/>
            </a:bodyPr>
            <a:lstStyle/>
            <a:p>
              <a:pPr algn="ctr"/>
              <a:r>
                <a:rPr lang="en-US" altLang="zh-CN" sz="1600" b="1">
                  <a:solidFill>
                    <a:schemeClr val="bg1"/>
                  </a:solidFill>
                  <a:cs typeface="Arial" pitchFamily="34" charset="0"/>
                </a:rPr>
                <a:t>R3</a:t>
              </a:r>
            </a:p>
          </p:txBody>
        </p:sp>
        <p:pic>
          <p:nvPicPr>
            <p:cNvPr id="30750" name="Picture 5"/>
            <p:cNvPicPr>
              <a:picLocks noChangeArrowheads="1"/>
            </p:cNvPicPr>
            <p:nvPr/>
          </p:nvPicPr>
          <p:blipFill>
            <a:blip r:embed="rId3"/>
            <a:srcRect/>
            <a:stretch>
              <a:fillRect/>
            </a:stretch>
          </p:blipFill>
          <p:spPr bwMode="auto">
            <a:xfrm>
              <a:off x="4086092" y="3209922"/>
              <a:ext cx="1067357" cy="628077"/>
            </a:xfrm>
            <a:prstGeom prst="rect">
              <a:avLst/>
            </a:prstGeom>
            <a:noFill/>
            <a:ln w="9525">
              <a:noFill/>
              <a:miter lim="800000"/>
              <a:headEnd/>
              <a:tailEnd/>
            </a:ln>
          </p:spPr>
        </p:pic>
        <p:sp>
          <p:nvSpPr>
            <p:cNvPr id="30751" name="Text Box 8"/>
            <p:cNvSpPr txBox="1">
              <a:spLocks noChangeArrowheads="1"/>
            </p:cNvSpPr>
            <p:nvPr/>
          </p:nvSpPr>
          <p:spPr bwMode="auto">
            <a:xfrm>
              <a:off x="4016928" y="3541264"/>
              <a:ext cx="1186992" cy="338554"/>
            </a:xfrm>
            <a:prstGeom prst="rect">
              <a:avLst/>
            </a:prstGeom>
            <a:noFill/>
            <a:ln w="9525" algn="ctr">
              <a:noFill/>
              <a:miter lim="800000"/>
              <a:headEnd/>
              <a:tailEnd/>
            </a:ln>
          </p:spPr>
          <p:txBody>
            <a:bodyPr anchorCtr="1">
              <a:spAutoFit/>
            </a:bodyPr>
            <a:lstStyle/>
            <a:p>
              <a:pPr algn="ctr"/>
              <a:r>
                <a:rPr lang="en-US" altLang="zh-CN" sz="1600" b="1">
                  <a:solidFill>
                    <a:schemeClr val="bg1"/>
                  </a:solidFill>
                  <a:cs typeface="Arial" pitchFamily="34" charset="0"/>
                </a:rPr>
                <a:t>R1</a:t>
              </a:r>
            </a:p>
          </p:txBody>
        </p:sp>
        <p:sp>
          <p:nvSpPr>
            <p:cNvPr id="30752" name="Text Box 35"/>
            <p:cNvSpPr txBox="1">
              <a:spLocks noChangeArrowheads="1"/>
            </p:cNvSpPr>
            <p:nvPr/>
          </p:nvSpPr>
          <p:spPr bwMode="auto">
            <a:xfrm>
              <a:off x="3084159" y="3612296"/>
              <a:ext cx="1186991" cy="338554"/>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F0/0</a:t>
              </a:r>
            </a:p>
          </p:txBody>
        </p:sp>
        <p:sp>
          <p:nvSpPr>
            <p:cNvPr id="30753" name="Text Box 36"/>
            <p:cNvSpPr txBox="1">
              <a:spLocks noChangeArrowheads="1"/>
            </p:cNvSpPr>
            <p:nvPr/>
          </p:nvSpPr>
          <p:spPr bwMode="auto">
            <a:xfrm>
              <a:off x="2947701" y="5766525"/>
              <a:ext cx="1186992" cy="338554"/>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F0/0</a:t>
              </a:r>
            </a:p>
          </p:txBody>
        </p:sp>
        <p:sp>
          <p:nvSpPr>
            <p:cNvPr id="30754" name="Text Box 37"/>
            <p:cNvSpPr txBox="1">
              <a:spLocks noChangeArrowheads="1"/>
            </p:cNvSpPr>
            <p:nvPr/>
          </p:nvSpPr>
          <p:spPr bwMode="auto">
            <a:xfrm>
              <a:off x="5114767" y="5765805"/>
              <a:ext cx="1186992" cy="338554"/>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F0/0</a:t>
              </a:r>
            </a:p>
          </p:txBody>
        </p:sp>
        <p:sp>
          <p:nvSpPr>
            <p:cNvPr id="30755" name="Text Box 38"/>
            <p:cNvSpPr txBox="1">
              <a:spLocks noChangeArrowheads="1"/>
            </p:cNvSpPr>
            <p:nvPr/>
          </p:nvSpPr>
          <p:spPr bwMode="auto">
            <a:xfrm>
              <a:off x="4916051" y="3679590"/>
              <a:ext cx="1186991" cy="338554"/>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F0/1</a:t>
              </a:r>
            </a:p>
          </p:txBody>
        </p:sp>
        <p:sp>
          <p:nvSpPr>
            <p:cNvPr id="30756" name="Text Box 39"/>
            <p:cNvSpPr txBox="1">
              <a:spLocks noChangeArrowheads="1"/>
            </p:cNvSpPr>
            <p:nvPr/>
          </p:nvSpPr>
          <p:spPr bwMode="auto">
            <a:xfrm>
              <a:off x="2321493" y="4545065"/>
              <a:ext cx="1186991" cy="338554"/>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F0/1</a:t>
              </a:r>
            </a:p>
          </p:txBody>
        </p:sp>
        <p:sp>
          <p:nvSpPr>
            <p:cNvPr id="30757" name="Text Box 40"/>
            <p:cNvSpPr txBox="1">
              <a:spLocks noChangeArrowheads="1"/>
            </p:cNvSpPr>
            <p:nvPr/>
          </p:nvSpPr>
          <p:spPr bwMode="auto">
            <a:xfrm>
              <a:off x="5594599" y="4560903"/>
              <a:ext cx="1186992" cy="338554"/>
            </a:xfrm>
            <a:prstGeom prst="rect">
              <a:avLst/>
            </a:prstGeom>
            <a:noFill/>
            <a:ln w="9525" algn="ctr">
              <a:noFill/>
              <a:miter lim="800000"/>
              <a:headEnd/>
              <a:tailEnd/>
            </a:ln>
          </p:spPr>
          <p:txBody>
            <a:bodyPr anchorCtr="1">
              <a:spAutoFit/>
            </a:bodyPr>
            <a:lstStyle/>
            <a:p>
              <a:pPr algn="ctr"/>
              <a:r>
                <a:rPr lang="en-US" altLang="zh-CN" sz="1600" b="1">
                  <a:solidFill>
                    <a:schemeClr val="tx2"/>
                  </a:solidFill>
                  <a:cs typeface="Arial" pitchFamily="34" charset="0"/>
                </a:rPr>
                <a:t>F0/1</a:t>
              </a:r>
            </a:p>
          </p:txBody>
        </p:sp>
      </p:gr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38"/>
          <p:cNvSpPr>
            <a:spLocks noGrp="1"/>
          </p:cNvSpPr>
          <p:nvPr>
            <p:ph idx="1"/>
          </p:nvPr>
        </p:nvSpPr>
        <p:spPr>
          <a:xfrm>
            <a:off x="1738313" y="1143000"/>
            <a:ext cx="8501062" cy="5143500"/>
          </a:xfrm>
        </p:spPr>
        <p:txBody>
          <a:bodyPr/>
          <a:lstStyle/>
          <a:p>
            <a:pPr>
              <a:spcBef>
                <a:spcPts val="675"/>
              </a:spcBef>
            </a:pPr>
            <a:r>
              <a:rPr lang="zh-CN" altLang="en-US" dirty="0">
                <a:cs typeface="Arial" pitchFamily="34" charset="0"/>
              </a:rPr>
              <a:t>实现思路</a:t>
            </a:r>
            <a:endParaRPr lang="en-US" altLang="zh-CN" dirty="0">
              <a:cs typeface="Arial" pitchFamily="34" charset="0"/>
            </a:endParaRPr>
          </a:p>
          <a:p>
            <a:pPr lvl="1">
              <a:spcBef>
                <a:spcPts val="475"/>
              </a:spcBef>
            </a:pPr>
            <a:r>
              <a:rPr lang="zh-CN" altLang="en-US" dirty="0">
                <a:cs typeface="Arial" pitchFamily="34" charset="0"/>
              </a:rPr>
              <a:t>在</a:t>
            </a:r>
            <a:r>
              <a:rPr lang="en-US" altLang="zh-CN" dirty="0">
                <a:cs typeface="Arial" pitchFamily="34" charset="0"/>
              </a:rPr>
              <a:t>R2</a:t>
            </a:r>
            <a:r>
              <a:rPr lang="zh-CN" altLang="en-US" dirty="0">
                <a:cs typeface="Arial" pitchFamily="34" charset="0"/>
              </a:rPr>
              <a:t>、</a:t>
            </a:r>
            <a:r>
              <a:rPr lang="en-US" altLang="zh-CN" dirty="0">
                <a:cs typeface="Arial" pitchFamily="34" charset="0"/>
              </a:rPr>
              <a:t>R1</a:t>
            </a:r>
            <a:r>
              <a:rPr lang="zh-CN" altLang="en-US" dirty="0">
                <a:cs typeface="Arial" pitchFamily="34" charset="0"/>
              </a:rPr>
              <a:t>上配置静态路由</a:t>
            </a:r>
            <a:endParaRPr lang="en-US" altLang="zh-CN" dirty="0">
              <a:cs typeface="Arial" pitchFamily="34" charset="0"/>
            </a:endParaRPr>
          </a:p>
          <a:p>
            <a:pPr lvl="1">
              <a:spcBef>
                <a:spcPts val="475"/>
              </a:spcBef>
            </a:pPr>
            <a:r>
              <a:rPr lang="zh-CN" altLang="en-US" dirty="0">
                <a:cs typeface="Arial" pitchFamily="34" charset="0"/>
              </a:rPr>
              <a:t>在</a:t>
            </a:r>
            <a:r>
              <a:rPr lang="en-US" altLang="zh-CN" dirty="0">
                <a:cs typeface="Arial" pitchFamily="34" charset="0"/>
              </a:rPr>
              <a:t>R3</a:t>
            </a:r>
            <a:r>
              <a:rPr lang="zh-CN" altLang="en-US" dirty="0">
                <a:cs typeface="Arial" pitchFamily="34" charset="0"/>
              </a:rPr>
              <a:t>上配置回程的静态路由</a:t>
            </a:r>
            <a:endParaRPr lang="en-US" altLang="zh-CN" dirty="0">
              <a:cs typeface="Arial" pitchFamily="34" charset="0"/>
            </a:endParaRPr>
          </a:p>
          <a:p>
            <a:pPr lvl="1">
              <a:spcBef>
                <a:spcPts val="475"/>
              </a:spcBef>
            </a:pPr>
            <a:endParaRPr lang="en-US" altLang="zh-CN" dirty="0">
              <a:cs typeface="Arial" pitchFamily="34" charset="0"/>
            </a:endParaRPr>
          </a:p>
          <a:p>
            <a:pPr lvl="1">
              <a:spcBef>
                <a:spcPts val="475"/>
              </a:spcBef>
            </a:pPr>
            <a:endParaRPr lang="en-US" altLang="zh-CN" dirty="0">
              <a:cs typeface="Arial" pitchFamily="34" charset="0"/>
            </a:endParaRPr>
          </a:p>
        </p:txBody>
      </p:sp>
      <p:sp>
        <p:nvSpPr>
          <p:cNvPr id="31747" name="Rectangle 2"/>
          <p:cNvSpPr>
            <a:spLocks noGrp="1" noChangeArrowheads="1"/>
          </p:cNvSpPr>
          <p:nvPr>
            <p:ph type="title"/>
          </p:nvPr>
        </p:nvSpPr>
        <p:spPr/>
        <p:txBody>
          <a:bodyPr/>
          <a:lstStyle/>
          <a:p>
            <a:r>
              <a:rPr lang="zh-CN" altLang="en-US" dirty="0"/>
              <a:t>实验</a:t>
            </a:r>
            <a:r>
              <a:rPr lang="en-US" altLang="zh-CN" dirty="0"/>
              <a:t>2</a:t>
            </a:r>
            <a:r>
              <a:rPr lang="zh-CN" altLang="en-US" dirty="0"/>
              <a:t>：实现路由选路</a:t>
            </a:r>
            <a:r>
              <a:rPr lang="en-US" altLang="zh-CN" dirty="0"/>
              <a:t>2-2</a:t>
            </a:r>
          </a:p>
        </p:txBody>
      </p:sp>
      <p:sp>
        <p:nvSpPr>
          <p:cNvPr id="31749" name="Rectangle 5"/>
          <p:cNvSpPr>
            <a:spLocks noChangeArrowheads="1"/>
          </p:cNvSpPr>
          <p:nvPr/>
        </p:nvSpPr>
        <p:spPr bwMode="auto">
          <a:xfrm>
            <a:off x="3179763" y="4702175"/>
            <a:ext cx="2735262" cy="433388"/>
          </a:xfrm>
          <a:prstGeom prst="rect">
            <a:avLst/>
          </a:prstGeom>
          <a:noFill/>
          <a:ln w="9525">
            <a:noFill/>
            <a:miter lim="800000"/>
            <a:headEnd/>
            <a:tailEnd/>
          </a:ln>
        </p:spPr>
        <p:txBody>
          <a:bodyPr/>
          <a:lstStyle/>
          <a:p>
            <a:pPr marL="342900" indent="-342900">
              <a:spcBef>
                <a:spcPct val="20000"/>
              </a:spcBef>
              <a:buClr>
                <a:srgbClr val="006600"/>
              </a:buClr>
              <a:buSzPct val="80000"/>
            </a:pPr>
            <a:endParaRPr lang="zh-CN" altLang="en-US" sz="2400" b="1" dirty="0">
              <a:solidFill>
                <a:srgbClr val="FF9933"/>
              </a:solidFill>
              <a:latin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835318-A86B-4409-944A-1726D62CC60E}"/>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16435D2E-46A2-4568-AD7C-3760BC95CF9D}"/>
              </a:ext>
            </a:extLst>
          </p:cNvPr>
          <p:cNvSpPr>
            <a:spLocks noGrp="1"/>
          </p:cNvSpPr>
          <p:nvPr>
            <p:ph idx="1"/>
          </p:nvPr>
        </p:nvSpPr>
        <p:spPr>
          <a:xfrm>
            <a:off x="491146" y="2551193"/>
            <a:ext cx="10972440" cy="751405"/>
          </a:xfrm>
        </p:spPr>
        <p:txBody>
          <a:bodyPr>
            <a:normAutofit/>
          </a:bodyPr>
          <a:lstStyle/>
          <a:p>
            <a:pPr marL="0" indent="0" algn="ctr">
              <a:buNone/>
            </a:pPr>
            <a:r>
              <a:rPr lang="zh-CN" altLang="en-US" sz="4800" dirty="0"/>
              <a:t>谢谢</a:t>
            </a:r>
          </a:p>
        </p:txBody>
      </p:sp>
    </p:spTree>
    <p:extLst>
      <p:ext uri="{BB962C8B-B14F-4D97-AF65-F5344CB8AC3E}">
        <p14:creationId xmlns:p14="http://schemas.microsoft.com/office/powerpoint/2010/main" val="3404734476"/>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6614</TotalTime>
  <Words>2500</Words>
  <Application>Microsoft Office PowerPoint</Application>
  <PresentationFormat>宽屏</PresentationFormat>
  <Paragraphs>394</Paragraphs>
  <Slides>21</Slides>
  <Notes>20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21</vt:i4>
      </vt:variant>
    </vt:vector>
  </HeadingPairs>
  <TitlesOfParts>
    <vt:vector size="33" baseType="lpstr">
      <vt:lpstr>Myriad Pro</vt:lpstr>
      <vt:lpstr>包图粗黑体</vt:lpstr>
      <vt:lpstr>黑体</vt:lpstr>
      <vt:lpstr>楷体_GB2312</vt:lpstr>
      <vt:lpstr>微软雅黑</vt:lpstr>
      <vt:lpstr>Arial</vt:lpstr>
      <vt:lpstr>Helvetica</vt:lpstr>
      <vt:lpstr>Symbol</vt:lpstr>
      <vt:lpstr>Times New Roman</vt:lpstr>
      <vt:lpstr>Wingdings</vt:lpstr>
      <vt:lpstr>Office Theme</vt:lpstr>
      <vt:lpstr>Visio</vt:lpstr>
      <vt:lpstr>PowerPoint 演示文稿</vt:lpstr>
      <vt:lpstr>本章结构</vt:lpstr>
      <vt:lpstr>路由概述</vt:lpstr>
      <vt:lpstr>路由器的工作原理</vt:lpstr>
      <vt:lpstr>路由表的形成</vt:lpstr>
      <vt:lpstr>静态路由</vt:lpstr>
      <vt:lpstr>默认路由</vt:lpstr>
      <vt:lpstr>路由器转发数据包的封装过程</vt:lpstr>
      <vt:lpstr>交换与路由对比</vt:lpstr>
      <vt:lpstr>静态路由和默认路由的配置</vt:lpstr>
      <vt:lpstr>配置实例一</vt:lpstr>
      <vt:lpstr>配置实例二</vt:lpstr>
      <vt:lpstr>故障排查</vt:lpstr>
      <vt:lpstr>故障排除案例一</vt:lpstr>
      <vt:lpstr>故障排除案例二</vt:lpstr>
      <vt:lpstr>考题</vt:lpstr>
      <vt:lpstr>实验1:配置静态路由实现全网互通2-1</vt:lpstr>
      <vt:lpstr>实验1:配置静态路由实现全网互通2-2</vt:lpstr>
      <vt:lpstr>实验2：实现路由选路2-1</vt:lpstr>
      <vt:lpstr>实验2：实现路由选路2-2</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cuiyongxin</dc:creator>
  <dc:description/>
  <cp:lastModifiedBy>Jason Chen</cp:lastModifiedBy>
  <cp:revision>168</cp:revision>
  <dcterms:created xsi:type="dcterms:W3CDTF">2019-12-12T13:30:13Z</dcterms:created>
  <dcterms:modified xsi:type="dcterms:W3CDTF">2021-10-14T05:35:15Z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KSOProductBuildVer">
    <vt:lpwstr>2052-1.2.1.1575</vt:lpwstr>
  </property>
  <property fmtid="{D5CDD505-2E9C-101B-9397-08002B2CF9AE}" pid="6" name="LinksUpToDate">
    <vt:bool>false</vt:bool>
  </property>
  <property fmtid="{D5CDD505-2E9C-101B-9397-08002B2CF9AE}" pid="7" name="MMClips">
    <vt:i4>0</vt:i4>
  </property>
  <property fmtid="{D5CDD505-2E9C-101B-9397-08002B2CF9AE}" pid="8" name="Notes">
    <vt:i4>4</vt:i4>
  </property>
  <property fmtid="{D5CDD505-2E9C-101B-9397-08002B2CF9AE}" pid="9" name="PresentationFormat">
    <vt:lpwstr>宽屏</vt:lpwstr>
  </property>
  <property fmtid="{D5CDD505-2E9C-101B-9397-08002B2CF9AE}" pid="10" name="ScaleCrop">
    <vt:bool>false</vt:bool>
  </property>
  <property fmtid="{D5CDD505-2E9C-101B-9397-08002B2CF9AE}" pid="11" name="ShareDoc">
    <vt:bool>false</vt:bool>
  </property>
  <property fmtid="{D5CDD505-2E9C-101B-9397-08002B2CF9AE}" pid="12" name="Slides">
    <vt:i4>24</vt:i4>
  </property>
</Properties>
</file>