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27"/>
  </p:notesMasterIdLst>
  <p:sldIdLst>
    <p:sldId id="490" r:id="rId2"/>
    <p:sldId id="491" r:id="rId3"/>
    <p:sldId id="492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06" r:id="rId18"/>
    <p:sldId id="507" r:id="rId19"/>
    <p:sldId id="508" r:id="rId20"/>
    <p:sldId id="509" r:id="rId21"/>
    <p:sldId id="513" r:id="rId22"/>
    <p:sldId id="510" r:id="rId23"/>
    <p:sldId id="511" r:id="rId24"/>
    <p:sldId id="512" r:id="rId25"/>
    <p:sldId id="29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40" d="100"/>
          <a:sy n="40" d="100"/>
        </p:scale>
        <p:origin x="8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3CE65E-5986-4BC3-9585-B58DB84509E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latin typeface="Arial" pitchFamily="34" charset="0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E36716-5321-461C-A29F-1BDA8F90E1A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当三层设备接收到一个数据帧，会拆除原三层交换机需要转发的数据帧，</a:t>
            </a:r>
            <a:r>
              <a:rPr lang="en-US" altLang="zh-CN">
                <a:latin typeface="Arial" pitchFamily="34" charset="0"/>
              </a:rPr>
              <a:t>2</a:t>
            </a:r>
            <a:r>
              <a:rPr lang="zh-CN" altLang="en-US">
                <a:latin typeface="Arial" pitchFamily="34" charset="0"/>
              </a:rPr>
              <a:t>个</a:t>
            </a:r>
            <a:r>
              <a:rPr lang="en-US" altLang="zh-CN">
                <a:latin typeface="Arial" pitchFamily="34" charset="0"/>
              </a:rPr>
              <a:t>VLAN</a:t>
            </a:r>
            <a:r>
              <a:rPr lang="zh-CN" altLang="en-US">
                <a:latin typeface="Arial" pitchFamily="34" charset="0"/>
              </a:rPr>
              <a:t>的帧格式相同，都是以太网的帧格式，但是需要封装新的源</a:t>
            </a:r>
            <a:r>
              <a:rPr lang="en-US" altLang="zh-CN">
                <a:latin typeface="Arial" pitchFamily="34" charset="0"/>
              </a:rPr>
              <a:t>MAC</a:t>
            </a:r>
            <a:r>
              <a:rPr lang="zh-CN" altLang="en-US">
                <a:latin typeface="Arial" pitchFamily="34" charset="0"/>
              </a:rPr>
              <a:t>地址和目标</a:t>
            </a:r>
            <a:r>
              <a:rPr lang="en-US" altLang="zh-CN">
                <a:latin typeface="Arial" pitchFamily="34" charset="0"/>
              </a:rPr>
              <a:t>MAC</a:t>
            </a:r>
            <a:r>
              <a:rPr lang="zh-CN" altLang="en-US">
                <a:latin typeface="Arial" pitchFamily="34" charset="0"/>
              </a:rPr>
              <a:t>地址，并且，因为帧头部的信息发生变化，最后的帧校验</a:t>
            </a:r>
            <a:r>
              <a:rPr lang="en-US" altLang="zh-CN">
                <a:latin typeface="Arial" pitchFamily="34" charset="0"/>
              </a:rPr>
              <a:t>CRC</a:t>
            </a:r>
            <a:r>
              <a:rPr lang="zh-CN" altLang="en-US">
                <a:latin typeface="Arial" pitchFamily="34" charset="0"/>
              </a:rPr>
              <a:t>也应当随之改变</a:t>
            </a:r>
          </a:p>
          <a:p>
            <a:r>
              <a:rPr lang="zh-CN" altLang="en-US">
                <a:latin typeface="Arial" pitchFamily="34" charset="0"/>
              </a:rPr>
              <a:t>在这个流中的多个数据包，其中只有第一个数据包是有三层交换机的三层引擎来处理的，处理的方式是软件方式，与路由器相同，三层引擎获取了新的</a:t>
            </a:r>
            <a:r>
              <a:rPr lang="en-US" altLang="zh-CN">
                <a:latin typeface="Arial" pitchFamily="34" charset="0"/>
              </a:rPr>
              <a:t>2</a:t>
            </a:r>
            <a:r>
              <a:rPr lang="zh-CN" altLang="en-US">
                <a:latin typeface="Arial" pitchFamily="34" charset="0"/>
              </a:rPr>
              <a:t>层封装信息后，路由这个数据包。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AABECD-AC59-43EE-8C3A-49E9239D8089}" type="slidenum">
              <a:rPr lang="en-US" altLang="zh-CN" smtClean="0">
                <a:latin typeface="Arial" pitchFamily="34" charset="0"/>
              </a:rPr>
              <a:pPr>
                <a:defRPr/>
              </a:pPr>
              <a:t>7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在第一个数据包转发完成后，在硬件中创建一个条目，用于后续的数据包由硬件执行的重新封装和快速转发有的</a:t>
            </a:r>
            <a:r>
              <a:rPr lang="en-US" altLang="zh-CN">
                <a:latin typeface="Arial" pitchFamily="34" charset="0"/>
              </a:rPr>
              <a:t>2</a:t>
            </a:r>
            <a:r>
              <a:rPr lang="zh-CN" altLang="en-US">
                <a:latin typeface="Arial" pitchFamily="34" charset="0"/>
              </a:rPr>
              <a:t>层封装，重新封装为需要转发的下一个网段的帧格式</a:t>
            </a:r>
            <a:endParaRPr lang="en-US" altLang="zh-CN">
              <a:latin typeface="Arial" pitchFamily="34" charset="0"/>
            </a:endParaRPr>
          </a:p>
          <a:p>
            <a:endParaRPr lang="en-US" altLang="zh-CN">
              <a:latin typeface="Arial" pitchFamily="34" charset="0"/>
            </a:endParaRPr>
          </a:p>
          <a:p>
            <a:r>
              <a:rPr lang="zh-CN" altLang="en-US">
                <a:latin typeface="Arial" pitchFamily="34" charset="0"/>
              </a:rPr>
              <a:t>明确</a:t>
            </a:r>
            <a:r>
              <a:rPr lang="en-US" altLang="zh-CN">
                <a:latin typeface="Arial" pitchFamily="34" charset="0"/>
              </a:rPr>
              <a:t>MLS</a:t>
            </a:r>
            <a:r>
              <a:rPr lang="zh-CN" altLang="en-US">
                <a:latin typeface="Arial" pitchFamily="34" charset="0"/>
              </a:rPr>
              <a:t>“一次路由，多次交换”的原理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5BDFED-C3FB-451C-85E1-2CDFEB68F118}" type="slidenum">
              <a:rPr lang="en-US" altLang="zh-CN" smtClean="0">
                <a:latin typeface="Arial" pitchFamily="34" charset="0"/>
              </a:rPr>
              <a:pPr>
                <a:defRPr/>
              </a:pPr>
              <a:t>8</a:t>
            </a:fld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CN" altLang="en-US">
                <a:latin typeface="Arial" pitchFamily="34" charset="0"/>
              </a:rPr>
              <a:t>讲解基于</a:t>
            </a:r>
            <a:r>
              <a:rPr lang="en-US" altLang="zh-CN">
                <a:latin typeface="Arial" pitchFamily="34" charset="0"/>
              </a:rPr>
              <a:t>CEF</a:t>
            </a:r>
            <a:r>
              <a:rPr lang="zh-CN" altLang="en-US">
                <a:latin typeface="Arial" pitchFamily="34" charset="0"/>
              </a:rPr>
              <a:t>的</a:t>
            </a:r>
            <a:r>
              <a:rPr lang="en-US" altLang="zh-CN">
                <a:latin typeface="Arial" pitchFamily="34" charset="0"/>
              </a:rPr>
              <a:t>MLS</a:t>
            </a:r>
            <a:r>
              <a:rPr lang="zh-CN" altLang="en-US">
                <a:latin typeface="Arial" pitchFamily="34" charset="0"/>
              </a:rPr>
              <a:t>，其关键是两张转发信息表，其中</a:t>
            </a:r>
            <a:r>
              <a:rPr lang="en-US" altLang="zh-CN">
                <a:latin typeface="Arial" pitchFamily="34" charset="0"/>
              </a:rPr>
              <a:t>FIB</a:t>
            </a:r>
            <a:r>
              <a:rPr lang="zh-CN" altLang="en-US">
                <a:latin typeface="Arial" pitchFamily="34" charset="0"/>
              </a:rPr>
              <a:t>与路由表一一对应，是路由表的一个镜像。路由表更新时，</a:t>
            </a:r>
            <a:r>
              <a:rPr lang="en-US" altLang="zh-CN">
                <a:latin typeface="Arial" pitchFamily="34" charset="0"/>
              </a:rPr>
              <a:t>FIB</a:t>
            </a:r>
            <a:r>
              <a:rPr lang="zh-CN" altLang="en-US">
                <a:latin typeface="Arial" pitchFamily="34" charset="0"/>
              </a:rPr>
              <a:t>随之变化。而邻接关系表包含二层重写信息。</a:t>
            </a:r>
          </a:p>
          <a:p>
            <a:pPr>
              <a:buFont typeface="Wingdings" pitchFamily="2" charset="2"/>
              <a:buChar char="l"/>
            </a:pPr>
            <a:r>
              <a:rPr lang="zh-CN" altLang="en-US">
                <a:latin typeface="Arial" pitchFamily="34" charset="0"/>
              </a:rPr>
              <a:t>基于</a:t>
            </a:r>
            <a:r>
              <a:rPr lang="en-US" altLang="zh-CN">
                <a:latin typeface="Arial" pitchFamily="34" charset="0"/>
              </a:rPr>
              <a:t>CEF</a:t>
            </a:r>
            <a:r>
              <a:rPr lang="zh-CN" altLang="en-US">
                <a:latin typeface="Arial" pitchFamily="34" charset="0"/>
              </a:rPr>
              <a:t>的</a:t>
            </a:r>
            <a:r>
              <a:rPr lang="en-US" altLang="zh-CN">
                <a:latin typeface="Arial" pitchFamily="34" charset="0"/>
              </a:rPr>
              <a:t>MLS</a:t>
            </a:r>
            <a:r>
              <a:rPr lang="zh-CN" altLang="en-US">
                <a:latin typeface="Arial" pitchFamily="34" charset="0"/>
              </a:rPr>
              <a:t>转发过程，即发送单播，然后查找</a:t>
            </a:r>
            <a:r>
              <a:rPr lang="en-US" altLang="zh-CN">
                <a:latin typeface="Arial" pitchFamily="34" charset="0"/>
              </a:rPr>
              <a:t>FIB</a:t>
            </a:r>
            <a:r>
              <a:rPr lang="zh-CN" altLang="en-US">
                <a:latin typeface="Arial" pitchFamily="34" charset="0"/>
              </a:rPr>
              <a:t>和邻接关系表，重新封装数据帧，最后从相应端口进行转发。</a:t>
            </a:r>
            <a:endParaRPr lang="zh-CN" altLang="en-US" b="1">
              <a:latin typeface="Arial" pitchFamily="34" charset="0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E1C5DA-C83A-407C-B493-908053037E69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主要说明其灵活性！下页中的过程可以有所体现，尤其是接口为</a:t>
            </a:r>
            <a:r>
              <a:rPr lang="en-US" altLang="zh-CN">
                <a:latin typeface="Arial" pitchFamily="34" charset="0"/>
              </a:rPr>
              <a:t>Trunk</a:t>
            </a:r>
            <a:r>
              <a:rPr lang="zh-CN" altLang="en-US">
                <a:latin typeface="Arial" pitchFamily="34" charset="0"/>
              </a:rPr>
              <a:t>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CA548E-97E2-4064-AC88-D6C1AEAD37CC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F145E4-96DD-4FE6-85A6-333DB780D0D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Arial" pitchFamily="34" charset="0"/>
              </a:rPr>
              <a:t>其余</a:t>
            </a:r>
            <a:r>
              <a:rPr lang="en-US" altLang="zh-CN">
                <a:latin typeface="Arial" pitchFamily="34" charset="0"/>
              </a:rPr>
              <a:t>vlan</a:t>
            </a:r>
            <a:r>
              <a:rPr lang="zh-CN" altLang="en-US">
                <a:latin typeface="Arial" pitchFamily="34" charset="0"/>
              </a:rPr>
              <a:t>、</a:t>
            </a:r>
            <a:r>
              <a:rPr lang="en-US" altLang="zh-CN">
                <a:latin typeface="Arial" pitchFamily="34" charset="0"/>
              </a:rPr>
              <a:t>trunk</a:t>
            </a:r>
            <a:r>
              <a:rPr lang="zh-CN" altLang="en-US">
                <a:latin typeface="Arial" pitchFamily="34" charset="0"/>
              </a:rPr>
              <a:t>命令和二层交换机相同。</a:t>
            </a:r>
            <a:endParaRPr lang="en-US" altLang="zh-CN">
              <a:latin typeface="Arial" pitchFamily="34" charset="0"/>
            </a:endParaRPr>
          </a:p>
          <a:p>
            <a:r>
              <a:rPr lang="zh-CN" altLang="en-US">
                <a:latin typeface="Arial" pitchFamily="34" charset="0"/>
              </a:rPr>
              <a:t>如果启用接口路由功能，则和路由器接口相同，可以配置</a:t>
            </a:r>
            <a:r>
              <a:rPr lang="en-US" altLang="zh-CN">
                <a:latin typeface="Arial" pitchFamily="34" charset="0"/>
              </a:rPr>
              <a:t>IP</a:t>
            </a:r>
            <a:r>
              <a:rPr lang="zh-CN" altLang="en-US">
                <a:latin typeface="Arial" pitchFamily="34" charset="0"/>
              </a:rPr>
              <a:t>地址等。</a:t>
            </a:r>
          </a:p>
          <a:p>
            <a:endParaRPr lang="zh-CN" altLang="en-US">
              <a:latin typeface="Arial" pitchFamily="34" charset="0"/>
            </a:endParaRPr>
          </a:p>
          <a:p>
            <a:r>
              <a:rPr lang="zh-CN" altLang="en-US" b="1">
                <a:latin typeface="Arial" pitchFamily="34" charset="0"/>
              </a:rPr>
              <a:t>这里重点讲解</a:t>
            </a:r>
            <a:r>
              <a:rPr lang="en-US" altLang="zh-CN" b="1">
                <a:latin typeface="Arial" pitchFamily="34" charset="0"/>
              </a:rPr>
              <a:t>VLAN</a:t>
            </a:r>
            <a:r>
              <a:rPr lang="zh-CN" altLang="en-US" b="1">
                <a:latin typeface="Arial" pitchFamily="34" charset="0"/>
              </a:rPr>
              <a:t>虚接口的内容，说明</a:t>
            </a:r>
            <a:r>
              <a:rPr lang="en-US" altLang="zh-CN" b="1">
                <a:latin typeface="Arial" pitchFamily="34" charset="0"/>
              </a:rPr>
              <a:t>3</a:t>
            </a:r>
            <a:r>
              <a:rPr lang="zh-CN" altLang="en-US" b="1">
                <a:latin typeface="Arial" pitchFamily="34" charset="0"/>
              </a:rPr>
              <a:t>类接口：</a:t>
            </a:r>
          </a:p>
          <a:p>
            <a:r>
              <a:rPr lang="en-US" altLang="zh-CN" b="1">
                <a:latin typeface="Arial" pitchFamily="34" charset="0"/>
              </a:rPr>
              <a:t>1.</a:t>
            </a:r>
            <a:r>
              <a:rPr lang="zh-CN" altLang="en-US" b="1">
                <a:latin typeface="Arial" pitchFamily="34" charset="0"/>
              </a:rPr>
              <a:t>二层接口</a:t>
            </a:r>
          </a:p>
          <a:p>
            <a:r>
              <a:rPr lang="en-US" altLang="zh-CN" b="1">
                <a:latin typeface="Arial" pitchFamily="34" charset="0"/>
              </a:rPr>
              <a:t>2.</a:t>
            </a:r>
            <a:r>
              <a:rPr lang="zh-CN" altLang="en-US" b="1">
                <a:latin typeface="Arial" pitchFamily="34" charset="0"/>
              </a:rPr>
              <a:t>三层接口</a:t>
            </a:r>
          </a:p>
          <a:p>
            <a:r>
              <a:rPr lang="en-US" altLang="zh-CN" b="1">
                <a:latin typeface="Arial" pitchFamily="34" charset="0"/>
              </a:rPr>
              <a:t>3.</a:t>
            </a:r>
            <a:r>
              <a:rPr lang="zh-CN" altLang="en-US" b="1">
                <a:latin typeface="Arial" pitchFamily="34" charset="0"/>
              </a:rPr>
              <a:t>虚接口</a:t>
            </a:r>
          </a:p>
          <a:p>
            <a:r>
              <a:rPr lang="zh-CN" altLang="en-US" b="1">
                <a:latin typeface="Arial" pitchFamily="34" charset="0"/>
              </a:rPr>
              <a:t>对比虚接口和三层接口的区别，强调灵活性</a:t>
            </a:r>
          </a:p>
          <a:p>
            <a:endParaRPr lang="zh-CN" altLang="en-US" b="1">
              <a:latin typeface="Arial" pitchFamily="34" charset="0"/>
            </a:endParaRPr>
          </a:p>
          <a:p>
            <a:r>
              <a:rPr lang="zh-CN" altLang="en-US" b="1">
                <a:latin typeface="Arial" pitchFamily="34" charset="0"/>
              </a:rPr>
              <a:t>讲解如果接口配置的是固定的</a:t>
            </a:r>
            <a:r>
              <a:rPr lang="en-US" altLang="zh-CN" b="1">
                <a:latin typeface="Arial" pitchFamily="34" charset="0"/>
              </a:rPr>
              <a:t>IP</a:t>
            </a:r>
            <a:r>
              <a:rPr lang="zh-CN" altLang="en-US" b="1">
                <a:latin typeface="Arial" pitchFamily="34" charset="0"/>
              </a:rPr>
              <a:t>地址会出现怎样的问题，对比来说明虚接口的灵活性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6C84DD-C197-4C41-A569-F12E94BB8F21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DD6AC7-8CC3-47C7-8821-6E6C10AD7CC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83C8A0-176A-4A96-BFD2-9A2EEF9C88C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>
              <a:latin typeface="Arial" pitchFamily="34" charset="0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FA3DA6-8E1D-4989-98A1-579233E0ACE0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0648B2-F3FF-4C60-B81B-FBAD90E62BDF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0B9C59-07D8-47C2-867E-FB6AE58F2D1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491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6FBD57B-F5CE-4FC1-AEF7-C72DB0B2B059}" type="slidenum">
              <a:rPr lang="en-US" altLang="zh-CN" sz="1200">
                <a:ea typeface="宋体" pitchFamily="2" charset="-122"/>
              </a:rPr>
              <a:pPr algn="r"/>
              <a:t>23</a:t>
            </a:fld>
            <a:endParaRPr lang="en-US" altLang="zh-CN" sz="1200">
              <a:ea typeface="宋体" pitchFamily="2" charset="-122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zh-CN">
              <a:solidFill>
                <a:srgbClr val="000066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B77A1B-9F89-42EE-B425-1495C4109FE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C373A54-093F-4607-8B52-31D58BB1B34B}" type="slidenum">
              <a:rPr lang="en-US" altLang="zh-CN" sz="1200">
                <a:ea typeface="宋体" pitchFamily="2" charset="-122"/>
              </a:rPr>
              <a:pPr algn="r"/>
              <a:t>24</a:t>
            </a:fld>
            <a:endParaRPr lang="en-US" altLang="zh-CN" sz="1200">
              <a:ea typeface="宋体" pitchFamily="2" charset="-122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25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wmf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wmf"/><Relationship Id="rId5" Type="http://schemas.openxmlformats.org/officeDocument/2006/relationships/image" Target="../media/image9.png"/><Relationship Id="rId4" Type="http://schemas.openxmlformats.org/officeDocument/2006/relationships/image" Target="../media/image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理解三层交换转发原理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会配置三层交换机实现</a:t>
            </a:r>
            <a:r>
              <a:rPr lang="en-US" altLang="zh-CN" dirty="0"/>
              <a:t>VLAN</a:t>
            </a:r>
            <a:r>
              <a:rPr lang="zh-CN" altLang="en-US" dirty="0"/>
              <a:t>间路由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目标</a:t>
            </a:r>
            <a:endParaRPr lang="en-US" altLang="zh-CN" sz="4400" b="1" spc="-1" dirty="0">
              <a:solidFill>
                <a:srgbClr val="4472C4"/>
              </a:solidFill>
              <a:latin typeface="微软雅黑"/>
              <a:ea typeface="微软雅黑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859589" y="2574925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867526" y="4022725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296" name="Line 26"/>
          <p:cNvSpPr>
            <a:spLocks noChangeShapeType="1"/>
          </p:cNvSpPr>
          <p:nvPr/>
        </p:nvSpPr>
        <p:spPr bwMode="auto">
          <a:xfrm flipV="1">
            <a:off x="6881813" y="4606926"/>
            <a:ext cx="3492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4441826" y="4303713"/>
            <a:ext cx="24288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4010025" y="3552825"/>
            <a:ext cx="431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02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本章结构</a:t>
            </a: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695812" y="4102437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三层交换的应用</a:t>
            </a: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870700" y="2563814"/>
            <a:ext cx="0" cy="612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7191361" y="384398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ea typeface="楷体_GB2312" pitchFamily="49" charset="-122"/>
              </a:rPr>
              <a:t>三层交换机的配置</a:t>
            </a:r>
          </a:p>
        </p:txBody>
      </p:sp>
      <p:sp>
        <p:nvSpPr>
          <p:cNvPr id="12310" name="AutoShape 28"/>
          <p:cNvSpPr>
            <a:spLocks noChangeArrowheads="1"/>
          </p:cNvSpPr>
          <p:nvPr/>
        </p:nvSpPr>
        <p:spPr bwMode="auto">
          <a:xfrm>
            <a:off x="7191361" y="444278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三层交换机配置</a:t>
            </a:r>
            <a:r>
              <a:rPr lang="en-US" altLang="zh-CN" sz="1600" b="1" dirty="0">
                <a:solidFill>
                  <a:srgbClr val="000000"/>
                </a:solidFill>
                <a:ea typeface="楷体_GB2312" pitchFamily="49" charset="-122"/>
              </a:rPr>
              <a:t>DHCP</a:t>
            </a: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中继</a:t>
            </a: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2024034" y="3357563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441825" y="2874963"/>
            <a:ext cx="0" cy="14398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870700" y="4016375"/>
            <a:ext cx="0" cy="6111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16" name="Line 8"/>
          <p:cNvSpPr>
            <a:spLocks noChangeShapeType="1"/>
          </p:cNvSpPr>
          <p:nvPr/>
        </p:nvSpPr>
        <p:spPr bwMode="auto">
          <a:xfrm>
            <a:off x="4441826" y="2889250"/>
            <a:ext cx="241141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7191361" y="241148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单臂路由的缺陷</a:t>
            </a: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684700" y="2697161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初识三层交换</a:t>
            </a:r>
          </a:p>
        </p:txBody>
      </p:sp>
      <p:sp>
        <p:nvSpPr>
          <p:cNvPr id="36" name="Line 16"/>
          <p:cNvSpPr>
            <a:spLocks noChangeShapeType="1"/>
          </p:cNvSpPr>
          <p:nvPr/>
        </p:nvSpPr>
        <p:spPr bwMode="auto">
          <a:xfrm>
            <a:off x="6856414" y="3167063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7191361" y="2982992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ea typeface="楷体_GB2312" pitchFamily="49" charset="-122"/>
              </a:rPr>
              <a:t>三层交换机的转发原理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8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3" grpId="0" animBg="1"/>
      <p:bldP spid="12308" grpId="0" animBg="1"/>
      <p:bldP spid="12310" grpId="0" animBg="1"/>
      <p:bldP spid="12311" grpId="0" animBg="1"/>
      <p:bldP spid="12317" grpId="0" animBg="1"/>
      <p:bldP spid="12320" grpId="0" animBg="1"/>
      <p:bldP spid="123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VLAN</a:t>
            </a:r>
            <a:r>
              <a:rPr lang="zh-CN" altLang="en-US"/>
              <a:t>之间的通信需要路由器来完成</a:t>
            </a:r>
          </a:p>
          <a:p>
            <a:pPr lvl="1">
              <a:spcBef>
                <a:spcPts val="675"/>
              </a:spcBef>
            </a:pPr>
            <a:r>
              <a:rPr lang="en-US" altLang="zh-CN"/>
              <a:t>VLAN</a:t>
            </a:r>
            <a:r>
              <a:rPr lang="zh-CN" altLang="en-US"/>
              <a:t>增加导致数据量增大</a:t>
            </a:r>
            <a:endParaRPr lang="en-US" altLang="zh-CN"/>
          </a:p>
          <a:p>
            <a:pPr lvl="1">
              <a:spcBef>
                <a:spcPts val="675"/>
              </a:spcBef>
            </a:pPr>
            <a:r>
              <a:rPr lang="zh-CN" altLang="en-US"/>
              <a:t>路由器与交换机之间路径成为整个网络的瓶颈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单臂路由产生的瓶颈</a:t>
            </a:r>
            <a:r>
              <a:rPr lang="en-US" altLang="zh-CN"/>
              <a:t>3-1</a:t>
            </a:r>
            <a:endParaRPr lang="zh-CN" altLang="en-US"/>
          </a:p>
        </p:txBody>
      </p:sp>
      <p:pic>
        <p:nvPicPr>
          <p:cNvPr id="399385" name="Picture 2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1538" y="5476875"/>
            <a:ext cx="1439862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84" name="Picture 2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1538" y="5157788"/>
            <a:ext cx="1439862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83" name="Picture 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1538" y="4829175"/>
            <a:ext cx="1439862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4413" y="2944814"/>
            <a:ext cx="1257300" cy="69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1538" y="4503738"/>
            <a:ext cx="1439862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6202364" y="4035426"/>
            <a:ext cx="866775" cy="73025"/>
            <a:chOff x="793" y="2840"/>
            <a:chExt cx="546" cy="0"/>
          </a:xfrm>
        </p:grpSpPr>
        <p:sp>
          <p:nvSpPr>
            <p:cNvPr id="11329" name="Line 7"/>
            <p:cNvSpPr>
              <a:spLocks noChangeShapeType="1"/>
            </p:cNvSpPr>
            <p:nvPr/>
          </p:nvSpPr>
          <p:spPr bwMode="auto">
            <a:xfrm>
              <a:off x="793" y="2840"/>
              <a:ext cx="9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1330" name="Line 8"/>
            <p:cNvSpPr>
              <a:spLocks noChangeShapeType="1"/>
            </p:cNvSpPr>
            <p:nvPr/>
          </p:nvSpPr>
          <p:spPr bwMode="auto">
            <a:xfrm>
              <a:off x="884" y="2840"/>
              <a:ext cx="91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1331" name="Line 9"/>
            <p:cNvSpPr>
              <a:spLocks noChangeShapeType="1"/>
            </p:cNvSpPr>
            <p:nvPr/>
          </p:nvSpPr>
          <p:spPr bwMode="auto">
            <a:xfrm>
              <a:off x="975" y="2840"/>
              <a:ext cx="91" cy="0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1332" name="Line 10"/>
            <p:cNvSpPr>
              <a:spLocks noChangeShapeType="1"/>
            </p:cNvSpPr>
            <p:nvPr/>
          </p:nvSpPr>
          <p:spPr bwMode="auto">
            <a:xfrm>
              <a:off x="1066" y="2840"/>
              <a:ext cx="9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1333" name="Line 11"/>
            <p:cNvSpPr>
              <a:spLocks noChangeShapeType="1"/>
            </p:cNvSpPr>
            <p:nvPr/>
          </p:nvSpPr>
          <p:spPr bwMode="auto">
            <a:xfrm>
              <a:off x="1157" y="2840"/>
              <a:ext cx="91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11334" name="Line 12"/>
            <p:cNvSpPr>
              <a:spLocks noChangeShapeType="1"/>
            </p:cNvSpPr>
            <p:nvPr/>
          </p:nvSpPr>
          <p:spPr bwMode="auto">
            <a:xfrm>
              <a:off x="1248" y="2840"/>
              <a:ext cx="91" cy="0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</p:grpSp>
      <p:sp>
        <p:nvSpPr>
          <p:cNvPr id="12299" name="Line 13"/>
          <p:cNvSpPr>
            <a:spLocks noChangeShapeType="1"/>
          </p:cNvSpPr>
          <p:nvPr/>
        </p:nvSpPr>
        <p:spPr bwMode="auto">
          <a:xfrm flipH="1">
            <a:off x="5086350" y="5013325"/>
            <a:ext cx="865188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374" name="Line 14"/>
          <p:cNvSpPr>
            <a:spLocks noChangeShapeType="1"/>
          </p:cNvSpPr>
          <p:nvPr/>
        </p:nvSpPr>
        <p:spPr bwMode="auto">
          <a:xfrm>
            <a:off x="7246939" y="4862513"/>
            <a:ext cx="936625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11276" name="Text Box 15"/>
          <p:cNvSpPr txBox="1">
            <a:spLocks noChangeArrowheads="1"/>
          </p:cNvSpPr>
          <p:nvPr/>
        </p:nvSpPr>
        <p:spPr bwMode="auto">
          <a:xfrm>
            <a:off x="4146551" y="4791075"/>
            <a:ext cx="1020763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1</a:t>
            </a:r>
          </a:p>
        </p:txBody>
      </p:sp>
      <p:sp>
        <p:nvSpPr>
          <p:cNvPr id="11277" name="Text Box 16"/>
          <p:cNvSpPr txBox="1">
            <a:spLocks noChangeArrowheads="1"/>
          </p:cNvSpPr>
          <p:nvPr/>
        </p:nvSpPr>
        <p:spPr bwMode="auto">
          <a:xfrm>
            <a:off x="8113713" y="4670425"/>
            <a:ext cx="10541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2</a:t>
            </a:r>
          </a:p>
        </p:txBody>
      </p:sp>
      <p:grpSp>
        <p:nvGrpSpPr>
          <p:cNvPr id="3" name="Group 97"/>
          <p:cNvGrpSpPr>
            <a:grpSpLocks/>
          </p:cNvGrpSpPr>
          <p:nvPr/>
        </p:nvGrpSpPr>
        <p:grpSpPr bwMode="auto">
          <a:xfrm>
            <a:off x="6303925" y="3053411"/>
            <a:ext cx="748769" cy="2071005"/>
            <a:chOff x="1057" y="1868"/>
            <a:chExt cx="594" cy="1632"/>
          </a:xfrm>
        </p:grpSpPr>
        <p:grpSp>
          <p:nvGrpSpPr>
            <p:cNvPr id="4" name="Group 28"/>
            <p:cNvGrpSpPr>
              <a:grpSpLocks/>
            </p:cNvGrpSpPr>
            <p:nvPr/>
          </p:nvGrpSpPr>
          <p:grpSpPr bwMode="auto">
            <a:xfrm rot="5244914">
              <a:off x="1229" y="1732"/>
              <a:ext cx="152" cy="423"/>
              <a:chOff x="2563" y="2607"/>
              <a:chExt cx="152" cy="423"/>
            </a:xfrm>
          </p:grpSpPr>
          <p:sp>
            <p:nvSpPr>
              <p:cNvPr id="11327" name="Freeform 29"/>
              <p:cNvSpPr>
                <a:spLocks/>
              </p:cNvSpPr>
              <p:nvPr/>
            </p:nvSpPr>
            <p:spPr bwMode="auto">
              <a:xfrm>
                <a:off x="2563" y="2607"/>
                <a:ext cx="146" cy="293"/>
              </a:xfrm>
              <a:custGeom>
                <a:avLst/>
                <a:gdLst>
                  <a:gd name="T0" fmla="*/ 6 w 85"/>
                  <a:gd name="T1" fmla="*/ 0 h 122"/>
                  <a:gd name="T2" fmla="*/ 73 w 85"/>
                  <a:gd name="T3" fmla="*/ 12 h 122"/>
                  <a:gd name="T4" fmla="*/ 84 w 85"/>
                  <a:gd name="T5" fmla="*/ 46 h 122"/>
                  <a:gd name="T6" fmla="*/ 84 w 85"/>
                  <a:gd name="T7" fmla="*/ 87 h 122"/>
                  <a:gd name="T8" fmla="*/ 73 w 85"/>
                  <a:gd name="T9" fmla="*/ 110 h 122"/>
                  <a:gd name="T10" fmla="*/ 62 w 85"/>
                  <a:gd name="T11" fmla="*/ 121 h 122"/>
                  <a:gd name="T12" fmla="*/ 45 w 85"/>
                  <a:gd name="T13" fmla="*/ 110 h 122"/>
                  <a:gd name="T14" fmla="*/ 34 w 85"/>
                  <a:gd name="T15" fmla="*/ 98 h 122"/>
                  <a:gd name="T16" fmla="*/ 17 w 85"/>
                  <a:gd name="T17" fmla="*/ 69 h 122"/>
                  <a:gd name="T18" fmla="*/ 17 w 85"/>
                  <a:gd name="T19" fmla="*/ 23 h 122"/>
                  <a:gd name="T20" fmla="*/ 17 w 85"/>
                  <a:gd name="T21" fmla="*/ 12 h 122"/>
                  <a:gd name="T22" fmla="*/ 0 w 85"/>
                  <a:gd name="T23" fmla="*/ 0 h 122"/>
                  <a:gd name="T24" fmla="*/ 6 w 85"/>
                  <a:gd name="T25" fmla="*/ 0 h 122"/>
                  <a:gd name="T26" fmla="*/ 6 w 85"/>
                  <a:gd name="T27" fmla="*/ 0 h 12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5"/>
                  <a:gd name="T43" fmla="*/ 0 h 122"/>
                  <a:gd name="T44" fmla="*/ 85 w 85"/>
                  <a:gd name="T45" fmla="*/ 122 h 12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5" h="122">
                    <a:moveTo>
                      <a:pt x="6" y="0"/>
                    </a:moveTo>
                    <a:lnTo>
                      <a:pt x="73" y="12"/>
                    </a:lnTo>
                    <a:lnTo>
                      <a:pt x="84" y="46"/>
                    </a:lnTo>
                    <a:lnTo>
                      <a:pt x="84" y="87"/>
                    </a:lnTo>
                    <a:lnTo>
                      <a:pt x="73" y="110"/>
                    </a:lnTo>
                    <a:lnTo>
                      <a:pt x="62" y="121"/>
                    </a:lnTo>
                    <a:lnTo>
                      <a:pt x="45" y="110"/>
                    </a:lnTo>
                    <a:lnTo>
                      <a:pt x="34" y="98"/>
                    </a:lnTo>
                    <a:lnTo>
                      <a:pt x="17" y="69"/>
                    </a:lnTo>
                    <a:lnTo>
                      <a:pt x="17" y="23"/>
                    </a:lnTo>
                    <a:lnTo>
                      <a:pt x="17" y="12"/>
                    </a:lnTo>
                    <a:lnTo>
                      <a:pt x="0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888888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8" name="Freeform 30"/>
              <p:cNvSpPr>
                <a:spLocks/>
              </p:cNvSpPr>
              <p:nvPr/>
            </p:nvSpPr>
            <p:spPr bwMode="auto">
              <a:xfrm>
                <a:off x="2569" y="2737"/>
                <a:ext cx="146" cy="293"/>
              </a:xfrm>
              <a:custGeom>
                <a:avLst/>
                <a:gdLst>
                  <a:gd name="T0" fmla="*/ 0 w 63"/>
                  <a:gd name="T1" fmla="*/ 11 h 70"/>
                  <a:gd name="T2" fmla="*/ 0 w 63"/>
                  <a:gd name="T3" fmla="*/ 11 h 70"/>
                  <a:gd name="T4" fmla="*/ 5 w 63"/>
                  <a:gd name="T5" fmla="*/ 11 h 70"/>
                  <a:gd name="T6" fmla="*/ 5 w 63"/>
                  <a:gd name="T7" fmla="*/ 11 h 70"/>
                  <a:gd name="T8" fmla="*/ 11 w 63"/>
                  <a:gd name="T9" fmla="*/ 11 h 70"/>
                  <a:gd name="T10" fmla="*/ 11 w 63"/>
                  <a:gd name="T11" fmla="*/ 11 h 70"/>
                  <a:gd name="T12" fmla="*/ 17 w 63"/>
                  <a:gd name="T13" fmla="*/ 17 h 70"/>
                  <a:gd name="T14" fmla="*/ 17 w 63"/>
                  <a:gd name="T15" fmla="*/ 23 h 70"/>
                  <a:gd name="T16" fmla="*/ 22 w 63"/>
                  <a:gd name="T17" fmla="*/ 28 h 70"/>
                  <a:gd name="T18" fmla="*/ 34 w 63"/>
                  <a:gd name="T19" fmla="*/ 40 h 70"/>
                  <a:gd name="T20" fmla="*/ 39 w 63"/>
                  <a:gd name="T21" fmla="*/ 57 h 70"/>
                  <a:gd name="T22" fmla="*/ 39 w 63"/>
                  <a:gd name="T23" fmla="*/ 57 h 70"/>
                  <a:gd name="T24" fmla="*/ 39 w 63"/>
                  <a:gd name="T25" fmla="*/ 57 h 70"/>
                  <a:gd name="T26" fmla="*/ 45 w 63"/>
                  <a:gd name="T27" fmla="*/ 57 h 70"/>
                  <a:gd name="T28" fmla="*/ 45 w 63"/>
                  <a:gd name="T29" fmla="*/ 57 h 70"/>
                  <a:gd name="T30" fmla="*/ 45 w 63"/>
                  <a:gd name="T31" fmla="*/ 57 h 70"/>
                  <a:gd name="T32" fmla="*/ 51 w 63"/>
                  <a:gd name="T33" fmla="*/ 69 h 70"/>
                  <a:gd name="T34" fmla="*/ 51 w 63"/>
                  <a:gd name="T35" fmla="*/ 69 h 70"/>
                  <a:gd name="T36" fmla="*/ 56 w 63"/>
                  <a:gd name="T37" fmla="*/ 57 h 70"/>
                  <a:gd name="T38" fmla="*/ 56 w 63"/>
                  <a:gd name="T39" fmla="*/ 57 h 70"/>
                  <a:gd name="T40" fmla="*/ 56 w 63"/>
                  <a:gd name="T41" fmla="*/ 57 h 70"/>
                  <a:gd name="T42" fmla="*/ 62 w 63"/>
                  <a:gd name="T43" fmla="*/ 57 h 70"/>
                  <a:gd name="T44" fmla="*/ 62 w 63"/>
                  <a:gd name="T45" fmla="*/ 57 h 70"/>
                  <a:gd name="T46" fmla="*/ 62 w 63"/>
                  <a:gd name="T47" fmla="*/ 57 h 70"/>
                  <a:gd name="T48" fmla="*/ 62 w 63"/>
                  <a:gd name="T49" fmla="*/ 57 h 70"/>
                  <a:gd name="T50" fmla="*/ 62 w 63"/>
                  <a:gd name="T51" fmla="*/ 46 h 70"/>
                  <a:gd name="T52" fmla="*/ 62 w 63"/>
                  <a:gd name="T53" fmla="*/ 40 h 70"/>
                  <a:gd name="T54" fmla="*/ 62 w 63"/>
                  <a:gd name="T55" fmla="*/ 34 h 70"/>
                  <a:gd name="T56" fmla="*/ 62 w 63"/>
                  <a:gd name="T57" fmla="*/ 28 h 70"/>
                  <a:gd name="T58" fmla="*/ 62 w 63"/>
                  <a:gd name="T59" fmla="*/ 23 h 70"/>
                  <a:gd name="T60" fmla="*/ 56 w 63"/>
                  <a:gd name="T61" fmla="*/ 11 h 70"/>
                  <a:gd name="T62" fmla="*/ 51 w 63"/>
                  <a:gd name="T63" fmla="*/ 0 h 70"/>
                  <a:gd name="T64" fmla="*/ 0 w 63"/>
                  <a:gd name="T65" fmla="*/ 11 h 70"/>
                  <a:gd name="T66" fmla="*/ 0 w 63"/>
                  <a:gd name="T67" fmla="*/ 11 h 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63"/>
                  <a:gd name="T103" fmla="*/ 0 h 70"/>
                  <a:gd name="T104" fmla="*/ 63 w 63"/>
                  <a:gd name="T105" fmla="*/ 70 h 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63" h="70">
                    <a:moveTo>
                      <a:pt x="0" y="11"/>
                    </a:moveTo>
                    <a:lnTo>
                      <a:pt x="0" y="11"/>
                    </a:lnTo>
                    <a:lnTo>
                      <a:pt x="5" y="11"/>
                    </a:lnTo>
                    <a:lnTo>
                      <a:pt x="11" y="11"/>
                    </a:lnTo>
                    <a:lnTo>
                      <a:pt x="17" y="17"/>
                    </a:lnTo>
                    <a:lnTo>
                      <a:pt x="17" y="23"/>
                    </a:lnTo>
                    <a:lnTo>
                      <a:pt x="22" y="28"/>
                    </a:lnTo>
                    <a:lnTo>
                      <a:pt x="34" y="40"/>
                    </a:lnTo>
                    <a:lnTo>
                      <a:pt x="39" y="57"/>
                    </a:lnTo>
                    <a:lnTo>
                      <a:pt x="45" y="57"/>
                    </a:lnTo>
                    <a:lnTo>
                      <a:pt x="51" y="69"/>
                    </a:lnTo>
                    <a:lnTo>
                      <a:pt x="56" y="57"/>
                    </a:lnTo>
                    <a:lnTo>
                      <a:pt x="62" y="57"/>
                    </a:lnTo>
                    <a:lnTo>
                      <a:pt x="62" y="46"/>
                    </a:lnTo>
                    <a:lnTo>
                      <a:pt x="62" y="40"/>
                    </a:lnTo>
                    <a:lnTo>
                      <a:pt x="62" y="34"/>
                    </a:lnTo>
                    <a:lnTo>
                      <a:pt x="62" y="28"/>
                    </a:lnTo>
                    <a:lnTo>
                      <a:pt x="62" y="23"/>
                    </a:lnTo>
                    <a:lnTo>
                      <a:pt x="56" y="11"/>
                    </a:lnTo>
                    <a:lnTo>
                      <a:pt x="51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888888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31"/>
            <p:cNvGrpSpPr>
              <a:grpSpLocks/>
            </p:cNvGrpSpPr>
            <p:nvPr/>
          </p:nvGrpSpPr>
          <p:grpSpPr bwMode="auto">
            <a:xfrm rot="5244914">
              <a:off x="1150" y="1777"/>
              <a:ext cx="315" cy="501"/>
              <a:chOff x="2566" y="2569"/>
              <a:chExt cx="315" cy="501"/>
            </a:xfrm>
          </p:grpSpPr>
          <p:sp>
            <p:nvSpPr>
              <p:cNvPr id="11324" name="Freeform 32"/>
              <p:cNvSpPr>
                <a:spLocks/>
              </p:cNvSpPr>
              <p:nvPr/>
            </p:nvSpPr>
            <p:spPr bwMode="auto">
              <a:xfrm>
                <a:off x="2735" y="2569"/>
                <a:ext cx="146" cy="293"/>
              </a:xfrm>
              <a:custGeom>
                <a:avLst/>
                <a:gdLst>
                  <a:gd name="T0" fmla="*/ 23 w 317"/>
                  <a:gd name="T1" fmla="*/ 184 h 185"/>
                  <a:gd name="T2" fmla="*/ 34 w 317"/>
                  <a:gd name="T3" fmla="*/ 179 h 185"/>
                  <a:gd name="T4" fmla="*/ 45 w 317"/>
                  <a:gd name="T5" fmla="*/ 167 h 185"/>
                  <a:gd name="T6" fmla="*/ 45 w 317"/>
                  <a:gd name="T7" fmla="*/ 138 h 185"/>
                  <a:gd name="T8" fmla="*/ 45 w 317"/>
                  <a:gd name="T9" fmla="*/ 104 h 185"/>
                  <a:gd name="T10" fmla="*/ 45 w 317"/>
                  <a:gd name="T11" fmla="*/ 98 h 185"/>
                  <a:gd name="T12" fmla="*/ 45 w 317"/>
                  <a:gd name="T13" fmla="*/ 86 h 185"/>
                  <a:gd name="T14" fmla="*/ 45 w 317"/>
                  <a:gd name="T15" fmla="*/ 69 h 185"/>
                  <a:gd name="T16" fmla="*/ 45 w 317"/>
                  <a:gd name="T17" fmla="*/ 52 h 185"/>
                  <a:gd name="T18" fmla="*/ 316 w 317"/>
                  <a:gd name="T19" fmla="*/ 109 h 185"/>
                  <a:gd name="T20" fmla="*/ 316 w 317"/>
                  <a:gd name="T21" fmla="*/ 98 h 185"/>
                  <a:gd name="T22" fmla="*/ 316 w 317"/>
                  <a:gd name="T23" fmla="*/ 98 h 185"/>
                  <a:gd name="T24" fmla="*/ 316 w 317"/>
                  <a:gd name="T25" fmla="*/ 75 h 185"/>
                  <a:gd name="T26" fmla="*/ 226 w 317"/>
                  <a:gd name="T27" fmla="*/ 58 h 185"/>
                  <a:gd name="T28" fmla="*/ 124 w 317"/>
                  <a:gd name="T29" fmla="*/ 29 h 185"/>
                  <a:gd name="T30" fmla="*/ 68 w 317"/>
                  <a:gd name="T31" fmla="*/ 17 h 185"/>
                  <a:gd name="T32" fmla="*/ 23 w 317"/>
                  <a:gd name="T33" fmla="*/ 0 h 185"/>
                  <a:gd name="T34" fmla="*/ 23 w 317"/>
                  <a:gd name="T35" fmla="*/ 12 h 185"/>
                  <a:gd name="T36" fmla="*/ 17 w 317"/>
                  <a:gd name="T37" fmla="*/ 40 h 185"/>
                  <a:gd name="T38" fmla="*/ 17 w 317"/>
                  <a:gd name="T39" fmla="*/ 75 h 185"/>
                  <a:gd name="T40" fmla="*/ 23 w 317"/>
                  <a:gd name="T41" fmla="*/ 92 h 185"/>
                  <a:gd name="T42" fmla="*/ 23 w 317"/>
                  <a:gd name="T43" fmla="*/ 104 h 185"/>
                  <a:gd name="T44" fmla="*/ 23 w 317"/>
                  <a:gd name="T45" fmla="*/ 121 h 185"/>
                  <a:gd name="T46" fmla="*/ 23 w 317"/>
                  <a:gd name="T47" fmla="*/ 138 h 185"/>
                  <a:gd name="T48" fmla="*/ 23 w 317"/>
                  <a:gd name="T49" fmla="*/ 150 h 185"/>
                  <a:gd name="T50" fmla="*/ 17 w 317"/>
                  <a:gd name="T51" fmla="*/ 173 h 185"/>
                  <a:gd name="T52" fmla="*/ 0 w 317"/>
                  <a:gd name="T53" fmla="*/ 184 h 185"/>
                  <a:gd name="T54" fmla="*/ 23 w 317"/>
                  <a:gd name="T55" fmla="*/ 184 h 185"/>
                  <a:gd name="T56" fmla="*/ 23 w 317"/>
                  <a:gd name="T57" fmla="*/ 184 h 1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317"/>
                  <a:gd name="T88" fmla="*/ 0 h 185"/>
                  <a:gd name="T89" fmla="*/ 317 w 317"/>
                  <a:gd name="T90" fmla="*/ 185 h 18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317" h="185">
                    <a:moveTo>
                      <a:pt x="23" y="184"/>
                    </a:moveTo>
                    <a:lnTo>
                      <a:pt x="34" y="179"/>
                    </a:lnTo>
                    <a:lnTo>
                      <a:pt x="45" y="167"/>
                    </a:lnTo>
                    <a:lnTo>
                      <a:pt x="45" y="138"/>
                    </a:lnTo>
                    <a:lnTo>
                      <a:pt x="45" y="104"/>
                    </a:lnTo>
                    <a:lnTo>
                      <a:pt x="45" y="98"/>
                    </a:lnTo>
                    <a:lnTo>
                      <a:pt x="45" y="86"/>
                    </a:lnTo>
                    <a:lnTo>
                      <a:pt x="45" y="69"/>
                    </a:lnTo>
                    <a:lnTo>
                      <a:pt x="45" y="52"/>
                    </a:lnTo>
                    <a:lnTo>
                      <a:pt x="316" y="109"/>
                    </a:lnTo>
                    <a:lnTo>
                      <a:pt x="316" y="98"/>
                    </a:lnTo>
                    <a:lnTo>
                      <a:pt x="316" y="75"/>
                    </a:lnTo>
                    <a:lnTo>
                      <a:pt x="226" y="58"/>
                    </a:lnTo>
                    <a:lnTo>
                      <a:pt x="124" y="29"/>
                    </a:lnTo>
                    <a:lnTo>
                      <a:pt x="68" y="17"/>
                    </a:lnTo>
                    <a:lnTo>
                      <a:pt x="23" y="0"/>
                    </a:lnTo>
                    <a:lnTo>
                      <a:pt x="23" y="12"/>
                    </a:lnTo>
                    <a:lnTo>
                      <a:pt x="17" y="40"/>
                    </a:lnTo>
                    <a:lnTo>
                      <a:pt x="17" y="75"/>
                    </a:lnTo>
                    <a:lnTo>
                      <a:pt x="23" y="92"/>
                    </a:lnTo>
                    <a:lnTo>
                      <a:pt x="23" y="104"/>
                    </a:lnTo>
                    <a:lnTo>
                      <a:pt x="23" y="121"/>
                    </a:lnTo>
                    <a:lnTo>
                      <a:pt x="23" y="138"/>
                    </a:lnTo>
                    <a:lnTo>
                      <a:pt x="23" y="150"/>
                    </a:lnTo>
                    <a:lnTo>
                      <a:pt x="17" y="173"/>
                    </a:lnTo>
                    <a:lnTo>
                      <a:pt x="0" y="184"/>
                    </a:lnTo>
                    <a:lnTo>
                      <a:pt x="23" y="184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5" name="Freeform 33"/>
              <p:cNvSpPr>
                <a:spLocks/>
              </p:cNvSpPr>
              <p:nvPr/>
            </p:nvSpPr>
            <p:spPr bwMode="auto">
              <a:xfrm>
                <a:off x="2732" y="2777"/>
                <a:ext cx="146" cy="293"/>
              </a:xfrm>
              <a:custGeom>
                <a:avLst/>
                <a:gdLst>
                  <a:gd name="T0" fmla="*/ 405 w 412"/>
                  <a:gd name="T1" fmla="*/ 0 h 174"/>
                  <a:gd name="T2" fmla="*/ 411 w 412"/>
                  <a:gd name="T3" fmla="*/ 23 h 174"/>
                  <a:gd name="T4" fmla="*/ 84 w 412"/>
                  <a:gd name="T5" fmla="*/ 173 h 174"/>
                  <a:gd name="T6" fmla="*/ 45 w 412"/>
                  <a:gd name="T7" fmla="*/ 138 h 174"/>
                  <a:gd name="T8" fmla="*/ 16 w 412"/>
                  <a:gd name="T9" fmla="*/ 104 h 174"/>
                  <a:gd name="T10" fmla="*/ 5 w 412"/>
                  <a:gd name="T11" fmla="*/ 75 h 174"/>
                  <a:gd name="T12" fmla="*/ 0 w 412"/>
                  <a:gd name="T13" fmla="*/ 52 h 174"/>
                  <a:gd name="T14" fmla="*/ 0 w 412"/>
                  <a:gd name="T15" fmla="*/ 40 h 174"/>
                  <a:gd name="T16" fmla="*/ 5 w 412"/>
                  <a:gd name="T17" fmla="*/ 29 h 174"/>
                  <a:gd name="T18" fmla="*/ 11 w 412"/>
                  <a:gd name="T19" fmla="*/ 23 h 174"/>
                  <a:gd name="T20" fmla="*/ 11 w 412"/>
                  <a:gd name="T21" fmla="*/ 23 h 174"/>
                  <a:gd name="T22" fmla="*/ 16 w 412"/>
                  <a:gd name="T23" fmla="*/ 23 h 174"/>
                  <a:gd name="T24" fmla="*/ 16 w 412"/>
                  <a:gd name="T25" fmla="*/ 23 h 174"/>
                  <a:gd name="T26" fmla="*/ 22 w 412"/>
                  <a:gd name="T27" fmla="*/ 23 h 174"/>
                  <a:gd name="T28" fmla="*/ 22 w 412"/>
                  <a:gd name="T29" fmla="*/ 23 h 174"/>
                  <a:gd name="T30" fmla="*/ 28 w 412"/>
                  <a:gd name="T31" fmla="*/ 29 h 174"/>
                  <a:gd name="T32" fmla="*/ 28 w 412"/>
                  <a:gd name="T33" fmla="*/ 35 h 174"/>
                  <a:gd name="T34" fmla="*/ 33 w 412"/>
                  <a:gd name="T35" fmla="*/ 40 h 174"/>
                  <a:gd name="T36" fmla="*/ 45 w 412"/>
                  <a:gd name="T37" fmla="*/ 52 h 174"/>
                  <a:gd name="T38" fmla="*/ 50 w 412"/>
                  <a:gd name="T39" fmla="*/ 69 h 174"/>
                  <a:gd name="T40" fmla="*/ 50 w 412"/>
                  <a:gd name="T41" fmla="*/ 69 h 174"/>
                  <a:gd name="T42" fmla="*/ 73 w 412"/>
                  <a:gd name="T43" fmla="*/ 110 h 174"/>
                  <a:gd name="T44" fmla="*/ 90 w 412"/>
                  <a:gd name="T45" fmla="*/ 127 h 174"/>
                  <a:gd name="T46" fmla="*/ 95 w 412"/>
                  <a:gd name="T47" fmla="*/ 127 h 174"/>
                  <a:gd name="T48" fmla="*/ 405 w 412"/>
                  <a:gd name="T49" fmla="*/ 0 h 174"/>
                  <a:gd name="T50" fmla="*/ 405 w 412"/>
                  <a:gd name="T51" fmla="*/ 0 h 174"/>
                  <a:gd name="T52" fmla="*/ 405 w 412"/>
                  <a:gd name="T53" fmla="*/ 0 h 17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412"/>
                  <a:gd name="T82" fmla="*/ 0 h 174"/>
                  <a:gd name="T83" fmla="*/ 412 w 412"/>
                  <a:gd name="T84" fmla="*/ 174 h 174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412" h="174">
                    <a:moveTo>
                      <a:pt x="405" y="0"/>
                    </a:moveTo>
                    <a:lnTo>
                      <a:pt x="411" y="23"/>
                    </a:lnTo>
                    <a:lnTo>
                      <a:pt x="84" y="173"/>
                    </a:lnTo>
                    <a:lnTo>
                      <a:pt x="45" y="138"/>
                    </a:lnTo>
                    <a:lnTo>
                      <a:pt x="16" y="104"/>
                    </a:lnTo>
                    <a:lnTo>
                      <a:pt x="5" y="75"/>
                    </a:lnTo>
                    <a:lnTo>
                      <a:pt x="0" y="52"/>
                    </a:lnTo>
                    <a:lnTo>
                      <a:pt x="0" y="40"/>
                    </a:lnTo>
                    <a:lnTo>
                      <a:pt x="5" y="29"/>
                    </a:lnTo>
                    <a:lnTo>
                      <a:pt x="11" y="23"/>
                    </a:lnTo>
                    <a:lnTo>
                      <a:pt x="16" y="23"/>
                    </a:lnTo>
                    <a:lnTo>
                      <a:pt x="22" y="23"/>
                    </a:lnTo>
                    <a:lnTo>
                      <a:pt x="28" y="29"/>
                    </a:lnTo>
                    <a:lnTo>
                      <a:pt x="28" y="35"/>
                    </a:lnTo>
                    <a:lnTo>
                      <a:pt x="33" y="40"/>
                    </a:lnTo>
                    <a:lnTo>
                      <a:pt x="45" y="52"/>
                    </a:lnTo>
                    <a:lnTo>
                      <a:pt x="50" y="69"/>
                    </a:lnTo>
                    <a:lnTo>
                      <a:pt x="73" y="110"/>
                    </a:lnTo>
                    <a:lnTo>
                      <a:pt x="90" y="127"/>
                    </a:lnTo>
                    <a:lnTo>
                      <a:pt x="95" y="127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6" name="Freeform 34"/>
              <p:cNvSpPr>
                <a:spLocks/>
              </p:cNvSpPr>
              <p:nvPr/>
            </p:nvSpPr>
            <p:spPr bwMode="auto">
              <a:xfrm>
                <a:off x="2566" y="2656"/>
                <a:ext cx="146" cy="293"/>
              </a:xfrm>
              <a:custGeom>
                <a:avLst/>
                <a:gdLst>
                  <a:gd name="T0" fmla="*/ 17 w 125"/>
                  <a:gd name="T1" fmla="*/ 0 h 220"/>
                  <a:gd name="T2" fmla="*/ 17 w 125"/>
                  <a:gd name="T3" fmla="*/ 0 h 220"/>
                  <a:gd name="T4" fmla="*/ 6 w 125"/>
                  <a:gd name="T5" fmla="*/ 29 h 220"/>
                  <a:gd name="T6" fmla="*/ 0 w 125"/>
                  <a:gd name="T7" fmla="*/ 52 h 220"/>
                  <a:gd name="T8" fmla="*/ 6 w 125"/>
                  <a:gd name="T9" fmla="*/ 92 h 220"/>
                  <a:gd name="T10" fmla="*/ 11 w 125"/>
                  <a:gd name="T11" fmla="*/ 110 h 220"/>
                  <a:gd name="T12" fmla="*/ 34 w 125"/>
                  <a:gd name="T13" fmla="*/ 133 h 220"/>
                  <a:gd name="T14" fmla="*/ 56 w 125"/>
                  <a:gd name="T15" fmla="*/ 144 h 220"/>
                  <a:gd name="T16" fmla="*/ 79 w 125"/>
                  <a:gd name="T17" fmla="*/ 150 h 220"/>
                  <a:gd name="T18" fmla="*/ 85 w 125"/>
                  <a:gd name="T19" fmla="*/ 156 h 220"/>
                  <a:gd name="T20" fmla="*/ 90 w 125"/>
                  <a:gd name="T21" fmla="*/ 167 h 220"/>
                  <a:gd name="T22" fmla="*/ 96 w 125"/>
                  <a:gd name="T23" fmla="*/ 190 h 220"/>
                  <a:gd name="T24" fmla="*/ 96 w 125"/>
                  <a:gd name="T25" fmla="*/ 202 h 220"/>
                  <a:gd name="T26" fmla="*/ 96 w 125"/>
                  <a:gd name="T27" fmla="*/ 213 h 220"/>
                  <a:gd name="T28" fmla="*/ 96 w 125"/>
                  <a:gd name="T29" fmla="*/ 213 h 220"/>
                  <a:gd name="T30" fmla="*/ 85 w 125"/>
                  <a:gd name="T31" fmla="*/ 219 h 220"/>
                  <a:gd name="T32" fmla="*/ 85 w 125"/>
                  <a:gd name="T33" fmla="*/ 219 h 220"/>
                  <a:gd name="T34" fmla="*/ 118 w 125"/>
                  <a:gd name="T35" fmla="*/ 213 h 220"/>
                  <a:gd name="T36" fmla="*/ 118 w 125"/>
                  <a:gd name="T37" fmla="*/ 213 h 220"/>
                  <a:gd name="T38" fmla="*/ 124 w 125"/>
                  <a:gd name="T39" fmla="*/ 202 h 220"/>
                  <a:gd name="T40" fmla="*/ 124 w 125"/>
                  <a:gd name="T41" fmla="*/ 196 h 220"/>
                  <a:gd name="T42" fmla="*/ 124 w 125"/>
                  <a:gd name="T43" fmla="*/ 196 h 220"/>
                  <a:gd name="T44" fmla="*/ 124 w 125"/>
                  <a:gd name="T45" fmla="*/ 196 h 220"/>
                  <a:gd name="T46" fmla="*/ 124 w 125"/>
                  <a:gd name="T47" fmla="*/ 196 h 220"/>
                  <a:gd name="T48" fmla="*/ 124 w 125"/>
                  <a:gd name="T49" fmla="*/ 190 h 220"/>
                  <a:gd name="T50" fmla="*/ 118 w 125"/>
                  <a:gd name="T51" fmla="*/ 173 h 220"/>
                  <a:gd name="T52" fmla="*/ 113 w 125"/>
                  <a:gd name="T53" fmla="*/ 156 h 220"/>
                  <a:gd name="T54" fmla="*/ 96 w 125"/>
                  <a:gd name="T55" fmla="*/ 144 h 220"/>
                  <a:gd name="T56" fmla="*/ 85 w 125"/>
                  <a:gd name="T57" fmla="*/ 133 h 220"/>
                  <a:gd name="T58" fmla="*/ 56 w 125"/>
                  <a:gd name="T59" fmla="*/ 127 h 220"/>
                  <a:gd name="T60" fmla="*/ 34 w 125"/>
                  <a:gd name="T61" fmla="*/ 98 h 220"/>
                  <a:gd name="T62" fmla="*/ 28 w 125"/>
                  <a:gd name="T63" fmla="*/ 52 h 220"/>
                  <a:gd name="T64" fmla="*/ 28 w 125"/>
                  <a:gd name="T65" fmla="*/ 40 h 220"/>
                  <a:gd name="T66" fmla="*/ 34 w 125"/>
                  <a:gd name="T67" fmla="*/ 29 h 220"/>
                  <a:gd name="T68" fmla="*/ 34 w 125"/>
                  <a:gd name="T69" fmla="*/ 23 h 220"/>
                  <a:gd name="T70" fmla="*/ 34 w 125"/>
                  <a:gd name="T71" fmla="*/ 17 h 220"/>
                  <a:gd name="T72" fmla="*/ 28 w 125"/>
                  <a:gd name="T73" fmla="*/ 6 h 220"/>
                  <a:gd name="T74" fmla="*/ 17 w 125"/>
                  <a:gd name="T75" fmla="*/ 0 h 220"/>
                  <a:gd name="T76" fmla="*/ 17 w 125"/>
                  <a:gd name="T77" fmla="*/ 0 h 22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5"/>
                  <a:gd name="T118" fmla="*/ 0 h 220"/>
                  <a:gd name="T119" fmla="*/ 125 w 125"/>
                  <a:gd name="T120" fmla="*/ 220 h 220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5" h="220">
                    <a:moveTo>
                      <a:pt x="17" y="0"/>
                    </a:moveTo>
                    <a:lnTo>
                      <a:pt x="17" y="0"/>
                    </a:lnTo>
                    <a:lnTo>
                      <a:pt x="6" y="29"/>
                    </a:lnTo>
                    <a:lnTo>
                      <a:pt x="0" y="52"/>
                    </a:lnTo>
                    <a:lnTo>
                      <a:pt x="6" y="92"/>
                    </a:lnTo>
                    <a:lnTo>
                      <a:pt x="11" y="110"/>
                    </a:lnTo>
                    <a:lnTo>
                      <a:pt x="34" y="133"/>
                    </a:lnTo>
                    <a:lnTo>
                      <a:pt x="56" y="144"/>
                    </a:lnTo>
                    <a:lnTo>
                      <a:pt x="79" y="150"/>
                    </a:lnTo>
                    <a:lnTo>
                      <a:pt x="85" y="156"/>
                    </a:lnTo>
                    <a:lnTo>
                      <a:pt x="90" y="167"/>
                    </a:lnTo>
                    <a:lnTo>
                      <a:pt x="96" y="190"/>
                    </a:lnTo>
                    <a:lnTo>
                      <a:pt x="96" y="202"/>
                    </a:lnTo>
                    <a:lnTo>
                      <a:pt x="96" y="213"/>
                    </a:lnTo>
                    <a:lnTo>
                      <a:pt x="85" y="219"/>
                    </a:lnTo>
                    <a:lnTo>
                      <a:pt x="118" y="213"/>
                    </a:lnTo>
                    <a:lnTo>
                      <a:pt x="124" y="202"/>
                    </a:lnTo>
                    <a:lnTo>
                      <a:pt x="124" y="196"/>
                    </a:lnTo>
                    <a:lnTo>
                      <a:pt x="124" y="190"/>
                    </a:lnTo>
                    <a:lnTo>
                      <a:pt x="118" y="173"/>
                    </a:lnTo>
                    <a:lnTo>
                      <a:pt x="113" y="156"/>
                    </a:lnTo>
                    <a:lnTo>
                      <a:pt x="96" y="144"/>
                    </a:lnTo>
                    <a:lnTo>
                      <a:pt x="85" y="133"/>
                    </a:lnTo>
                    <a:lnTo>
                      <a:pt x="56" y="127"/>
                    </a:lnTo>
                    <a:lnTo>
                      <a:pt x="34" y="98"/>
                    </a:lnTo>
                    <a:lnTo>
                      <a:pt x="28" y="52"/>
                    </a:lnTo>
                    <a:lnTo>
                      <a:pt x="28" y="40"/>
                    </a:lnTo>
                    <a:lnTo>
                      <a:pt x="34" y="29"/>
                    </a:lnTo>
                    <a:lnTo>
                      <a:pt x="34" y="23"/>
                    </a:lnTo>
                    <a:lnTo>
                      <a:pt x="34" y="17"/>
                    </a:lnTo>
                    <a:lnTo>
                      <a:pt x="28" y="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93" name="Freeform 35"/>
            <p:cNvSpPr>
              <a:spLocks/>
            </p:cNvSpPr>
            <p:nvPr/>
          </p:nvSpPr>
          <p:spPr bwMode="auto">
            <a:xfrm rot="5244914">
              <a:off x="1239" y="1962"/>
              <a:ext cx="146" cy="293"/>
            </a:xfrm>
            <a:custGeom>
              <a:avLst/>
              <a:gdLst>
                <a:gd name="T0" fmla="*/ 372 w 401"/>
                <a:gd name="T1" fmla="*/ 92 h 289"/>
                <a:gd name="T2" fmla="*/ 395 w 401"/>
                <a:gd name="T3" fmla="*/ 155 h 289"/>
                <a:gd name="T4" fmla="*/ 400 w 401"/>
                <a:gd name="T5" fmla="*/ 161 h 289"/>
                <a:gd name="T6" fmla="*/ 90 w 401"/>
                <a:gd name="T7" fmla="*/ 288 h 289"/>
                <a:gd name="T8" fmla="*/ 85 w 401"/>
                <a:gd name="T9" fmla="*/ 288 h 289"/>
                <a:gd name="T10" fmla="*/ 73 w 401"/>
                <a:gd name="T11" fmla="*/ 276 h 289"/>
                <a:gd name="T12" fmla="*/ 68 w 401"/>
                <a:gd name="T13" fmla="*/ 276 h 289"/>
                <a:gd name="T14" fmla="*/ 45 w 401"/>
                <a:gd name="T15" fmla="*/ 230 h 289"/>
                <a:gd name="T16" fmla="*/ 45 w 401"/>
                <a:gd name="T17" fmla="*/ 230 h 289"/>
                <a:gd name="T18" fmla="*/ 51 w 401"/>
                <a:gd name="T19" fmla="*/ 230 h 289"/>
                <a:gd name="T20" fmla="*/ 51 w 401"/>
                <a:gd name="T21" fmla="*/ 230 h 289"/>
                <a:gd name="T22" fmla="*/ 51 w 401"/>
                <a:gd name="T23" fmla="*/ 230 h 289"/>
                <a:gd name="T24" fmla="*/ 57 w 401"/>
                <a:gd name="T25" fmla="*/ 230 h 289"/>
                <a:gd name="T26" fmla="*/ 57 w 401"/>
                <a:gd name="T27" fmla="*/ 230 h 289"/>
                <a:gd name="T28" fmla="*/ 62 w 401"/>
                <a:gd name="T29" fmla="*/ 230 h 289"/>
                <a:gd name="T30" fmla="*/ 90 w 401"/>
                <a:gd name="T31" fmla="*/ 230 h 289"/>
                <a:gd name="T32" fmla="*/ 90 w 401"/>
                <a:gd name="T33" fmla="*/ 225 h 289"/>
                <a:gd name="T34" fmla="*/ 90 w 401"/>
                <a:gd name="T35" fmla="*/ 225 h 289"/>
                <a:gd name="T36" fmla="*/ 96 w 401"/>
                <a:gd name="T37" fmla="*/ 219 h 289"/>
                <a:gd name="T38" fmla="*/ 96 w 401"/>
                <a:gd name="T39" fmla="*/ 213 h 289"/>
                <a:gd name="T40" fmla="*/ 96 w 401"/>
                <a:gd name="T41" fmla="*/ 213 h 289"/>
                <a:gd name="T42" fmla="*/ 96 w 401"/>
                <a:gd name="T43" fmla="*/ 213 h 289"/>
                <a:gd name="T44" fmla="*/ 96 w 401"/>
                <a:gd name="T45" fmla="*/ 213 h 289"/>
                <a:gd name="T46" fmla="*/ 96 w 401"/>
                <a:gd name="T47" fmla="*/ 207 h 289"/>
                <a:gd name="T48" fmla="*/ 90 w 401"/>
                <a:gd name="T49" fmla="*/ 201 h 289"/>
                <a:gd name="T50" fmla="*/ 90 w 401"/>
                <a:gd name="T51" fmla="*/ 190 h 289"/>
                <a:gd name="T52" fmla="*/ 85 w 401"/>
                <a:gd name="T53" fmla="*/ 173 h 289"/>
                <a:gd name="T54" fmla="*/ 68 w 401"/>
                <a:gd name="T55" fmla="*/ 161 h 289"/>
                <a:gd name="T56" fmla="*/ 57 w 401"/>
                <a:gd name="T57" fmla="*/ 150 h 289"/>
                <a:gd name="T58" fmla="*/ 28 w 401"/>
                <a:gd name="T59" fmla="*/ 144 h 289"/>
                <a:gd name="T60" fmla="*/ 6 w 401"/>
                <a:gd name="T61" fmla="*/ 115 h 289"/>
                <a:gd name="T62" fmla="*/ 0 w 401"/>
                <a:gd name="T63" fmla="*/ 69 h 289"/>
                <a:gd name="T64" fmla="*/ 0 w 401"/>
                <a:gd name="T65" fmla="*/ 57 h 289"/>
                <a:gd name="T66" fmla="*/ 6 w 401"/>
                <a:gd name="T67" fmla="*/ 46 h 289"/>
                <a:gd name="T68" fmla="*/ 6 w 401"/>
                <a:gd name="T69" fmla="*/ 34 h 289"/>
                <a:gd name="T70" fmla="*/ 11 w 401"/>
                <a:gd name="T71" fmla="*/ 46 h 289"/>
                <a:gd name="T72" fmla="*/ 11 w 401"/>
                <a:gd name="T73" fmla="*/ 81 h 289"/>
                <a:gd name="T74" fmla="*/ 23 w 401"/>
                <a:gd name="T75" fmla="*/ 109 h 289"/>
                <a:gd name="T76" fmla="*/ 28 w 401"/>
                <a:gd name="T77" fmla="*/ 121 h 289"/>
                <a:gd name="T78" fmla="*/ 45 w 401"/>
                <a:gd name="T79" fmla="*/ 132 h 289"/>
                <a:gd name="T80" fmla="*/ 68 w 401"/>
                <a:gd name="T81" fmla="*/ 132 h 289"/>
                <a:gd name="T82" fmla="*/ 79 w 401"/>
                <a:gd name="T83" fmla="*/ 127 h 289"/>
                <a:gd name="T84" fmla="*/ 90 w 401"/>
                <a:gd name="T85" fmla="*/ 115 h 289"/>
                <a:gd name="T86" fmla="*/ 90 w 401"/>
                <a:gd name="T87" fmla="*/ 86 h 289"/>
                <a:gd name="T88" fmla="*/ 90 w 401"/>
                <a:gd name="T89" fmla="*/ 52 h 289"/>
                <a:gd name="T90" fmla="*/ 90 w 401"/>
                <a:gd name="T91" fmla="*/ 46 h 289"/>
                <a:gd name="T92" fmla="*/ 90 w 401"/>
                <a:gd name="T93" fmla="*/ 34 h 289"/>
                <a:gd name="T94" fmla="*/ 90 w 401"/>
                <a:gd name="T95" fmla="*/ 17 h 289"/>
                <a:gd name="T96" fmla="*/ 90 w 401"/>
                <a:gd name="T97" fmla="*/ 0 h 289"/>
                <a:gd name="T98" fmla="*/ 361 w 401"/>
                <a:gd name="T99" fmla="*/ 57 h 289"/>
                <a:gd name="T100" fmla="*/ 372 w 401"/>
                <a:gd name="T101" fmla="*/ 92 h 289"/>
                <a:gd name="T102" fmla="*/ 372 w 401"/>
                <a:gd name="T103" fmla="*/ 92 h 28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401"/>
                <a:gd name="T157" fmla="*/ 0 h 289"/>
                <a:gd name="T158" fmla="*/ 401 w 401"/>
                <a:gd name="T159" fmla="*/ 289 h 289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401" h="289">
                  <a:moveTo>
                    <a:pt x="372" y="92"/>
                  </a:moveTo>
                  <a:lnTo>
                    <a:pt x="395" y="155"/>
                  </a:lnTo>
                  <a:lnTo>
                    <a:pt x="400" y="161"/>
                  </a:lnTo>
                  <a:lnTo>
                    <a:pt x="90" y="288"/>
                  </a:lnTo>
                  <a:lnTo>
                    <a:pt x="85" y="288"/>
                  </a:lnTo>
                  <a:lnTo>
                    <a:pt x="73" y="276"/>
                  </a:lnTo>
                  <a:lnTo>
                    <a:pt x="68" y="276"/>
                  </a:lnTo>
                  <a:lnTo>
                    <a:pt x="45" y="230"/>
                  </a:lnTo>
                  <a:lnTo>
                    <a:pt x="51" y="230"/>
                  </a:lnTo>
                  <a:lnTo>
                    <a:pt x="57" y="230"/>
                  </a:lnTo>
                  <a:lnTo>
                    <a:pt x="62" y="230"/>
                  </a:lnTo>
                  <a:lnTo>
                    <a:pt x="90" y="230"/>
                  </a:lnTo>
                  <a:lnTo>
                    <a:pt x="90" y="225"/>
                  </a:lnTo>
                  <a:lnTo>
                    <a:pt x="96" y="219"/>
                  </a:lnTo>
                  <a:lnTo>
                    <a:pt x="96" y="213"/>
                  </a:lnTo>
                  <a:lnTo>
                    <a:pt x="96" y="207"/>
                  </a:lnTo>
                  <a:lnTo>
                    <a:pt x="90" y="201"/>
                  </a:lnTo>
                  <a:lnTo>
                    <a:pt x="90" y="190"/>
                  </a:lnTo>
                  <a:lnTo>
                    <a:pt x="85" y="173"/>
                  </a:lnTo>
                  <a:lnTo>
                    <a:pt x="68" y="161"/>
                  </a:lnTo>
                  <a:lnTo>
                    <a:pt x="57" y="150"/>
                  </a:lnTo>
                  <a:lnTo>
                    <a:pt x="28" y="144"/>
                  </a:lnTo>
                  <a:lnTo>
                    <a:pt x="6" y="115"/>
                  </a:lnTo>
                  <a:lnTo>
                    <a:pt x="0" y="69"/>
                  </a:lnTo>
                  <a:lnTo>
                    <a:pt x="0" y="57"/>
                  </a:lnTo>
                  <a:lnTo>
                    <a:pt x="6" y="46"/>
                  </a:lnTo>
                  <a:lnTo>
                    <a:pt x="6" y="34"/>
                  </a:lnTo>
                  <a:lnTo>
                    <a:pt x="11" y="46"/>
                  </a:lnTo>
                  <a:lnTo>
                    <a:pt x="11" y="81"/>
                  </a:lnTo>
                  <a:lnTo>
                    <a:pt x="23" y="109"/>
                  </a:lnTo>
                  <a:lnTo>
                    <a:pt x="28" y="121"/>
                  </a:lnTo>
                  <a:lnTo>
                    <a:pt x="45" y="132"/>
                  </a:lnTo>
                  <a:lnTo>
                    <a:pt x="68" y="132"/>
                  </a:lnTo>
                  <a:lnTo>
                    <a:pt x="79" y="127"/>
                  </a:lnTo>
                  <a:lnTo>
                    <a:pt x="90" y="115"/>
                  </a:lnTo>
                  <a:lnTo>
                    <a:pt x="90" y="86"/>
                  </a:lnTo>
                  <a:lnTo>
                    <a:pt x="90" y="52"/>
                  </a:lnTo>
                  <a:lnTo>
                    <a:pt x="90" y="46"/>
                  </a:lnTo>
                  <a:lnTo>
                    <a:pt x="90" y="34"/>
                  </a:lnTo>
                  <a:lnTo>
                    <a:pt x="90" y="17"/>
                  </a:lnTo>
                  <a:lnTo>
                    <a:pt x="90" y="0"/>
                  </a:lnTo>
                  <a:lnTo>
                    <a:pt x="361" y="57"/>
                  </a:lnTo>
                  <a:lnTo>
                    <a:pt x="372" y="92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" name="Group 37"/>
            <p:cNvGrpSpPr>
              <a:grpSpLocks/>
            </p:cNvGrpSpPr>
            <p:nvPr/>
          </p:nvGrpSpPr>
          <p:grpSpPr bwMode="auto">
            <a:xfrm rot="5244914">
              <a:off x="1048" y="2454"/>
              <a:ext cx="577" cy="414"/>
              <a:chOff x="3070" y="2613"/>
              <a:chExt cx="577" cy="414"/>
            </a:xfrm>
          </p:grpSpPr>
          <p:sp>
            <p:nvSpPr>
              <p:cNvPr id="11321" name="Freeform 38"/>
              <p:cNvSpPr>
                <a:spLocks/>
              </p:cNvSpPr>
              <p:nvPr/>
            </p:nvSpPr>
            <p:spPr bwMode="auto">
              <a:xfrm>
                <a:off x="3070" y="2636"/>
                <a:ext cx="146" cy="293"/>
              </a:xfrm>
              <a:custGeom>
                <a:avLst/>
                <a:gdLst>
                  <a:gd name="T0" fmla="*/ 0 w 356"/>
                  <a:gd name="T1" fmla="*/ 109 h 340"/>
                  <a:gd name="T2" fmla="*/ 0 w 356"/>
                  <a:gd name="T3" fmla="*/ 109 h 340"/>
                  <a:gd name="T4" fmla="*/ 0 w 356"/>
                  <a:gd name="T5" fmla="*/ 86 h 340"/>
                  <a:gd name="T6" fmla="*/ 39 w 356"/>
                  <a:gd name="T7" fmla="*/ 34 h 340"/>
                  <a:gd name="T8" fmla="*/ 101 w 356"/>
                  <a:gd name="T9" fmla="*/ 5 h 340"/>
                  <a:gd name="T10" fmla="*/ 107 w 356"/>
                  <a:gd name="T11" fmla="*/ 5 h 340"/>
                  <a:gd name="T12" fmla="*/ 152 w 356"/>
                  <a:gd name="T13" fmla="*/ 0 h 340"/>
                  <a:gd name="T14" fmla="*/ 203 w 356"/>
                  <a:gd name="T15" fmla="*/ 11 h 340"/>
                  <a:gd name="T16" fmla="*/ 276 w 356"/>
                  <a:gd name="T17" fmla="*/ 28 h 340"/>
                  <a:gd name="T18" fmla="*/ 299 w 356"/>
                  <a:gd name="T19" fmla="*/ 51 h 340"/>
                  <a:gd name="T20" fmla="*/ 310 w 356"/>
                  <a:gd name="T21" fmla="*/ 69 h 340"/>
                  <a:gd name="T22" fmla="*/ 321 w 356"/>
                  <a:gd name="T23" fmla="*/ 109 h 340"/>
                  <a:gd name="T24" fmla="*/ 321 w 356"/>
                  <a:gd name="T25" fmla="*/ 201 h 340"/>
                  <a:gd name="T26" fmla="*/ 316 w 356"/>
                  <a:gd name="T27" fmla="*/ 241 h 340"/>
                  <a:gd name="T28" fmla="*/ 310 w 356"/>
                  <a:gd name="T29" fmla="*/ 247 h 340"/>
                  <a:gd name="T30" fmla="*/ 310 w 356"/>
                  <a:gd name="T31" fmla="*/ 247 h 340"/>
                  <a:gd name="T32" fmla="*/ 333 w 356"/>
                  <a:gd name="T33" fmla="*/ 247 h 340"/>
                  <a:gd name="T34" fmla="*/ 355 w 356"/>
                  <a:gd name="T35" fmla="*/ 247 h 340"/>
                  <a:gd name="T36" fmla="*/ 355 w 356"/>
                  <a:gd name="T37" fmla="*/ 247 h 340"/>
                  <a:gd name="T38" fmla="*/ 355 w 356"/>
                  <a:gd name="T39" fmla="*/ 247 h 340"/>
                  <a:gd name="T40" fmla="*/ 355 w 356"/>
                  <a:gd name="T41" fmla="*/ 264 h 340"/>
                  <a:gd name="T42" fmla="*/ 349 w 356"/>
                  <a:gd name="T43" fmla="*/ 270 h 340"/>
                  <a:gd name="T44" fmla="*/ 349 w 356"/>
                  <a:gd name="T45" fmla="*/ 270 h 340"/>
                  <a:gd name="T46" fmla="*/ 293 w 356"/>
                  <a:gd name="T47" fmla="*/ 328 h 340"/>
                  <a:gd name="T48" fmla="*/ 287 w 356"/>
                  <a:gd name="T49" fmla="*/ 339 h 340"/>
                  <a:gd name="T50" fmla="*/ 265 w 356"/>
                  <a:gd name="T51" fmla="*/ 339 h 340"/>
                  <a:gd name="T52" fmla="*/ 248 w 356"/>
                  <a:gd name="T53" fmla="*/ 328 h 340"/>
                  <a:gd name="T54" fmla="*/ 248 w 356"/>
                  <a:gd name="T55" fmla="*/ 311 h 340"/>
                  <a:gd name="T56" fmla="*/ 248 w 356"/>
                  <a:gd name="T57" fmla="*/ 293 h 340"/>
                  <a:gd name="T58" fmla="*/ 254 w 356"/>
                  <a:gd name="T59" fmla="*/ 276 h 340"/>
                  <a:gd name="T60" fmla="*/ 237 w 356"/>
                  <a:gd name="T61" fmla="*/ 276 h 340"/>
                  <a:gd name="T62" fmla="*/ 231 w 356"/>
                  <a:gd name="T63" fmla="*/ 276 h 340"/>
                  <a:gd name="T64" fmla="*/ 225 w 356"/>
                  <a:gd name="T65" fmla="*/ 282 h 340"/>
                  <a:gd name="T66" fmla="*/ 197 w 356"/>
                  <a:gd name="T67" fmla="*/ 288 h 340"/>
                  <a:gd name="T68" fmla="*/ 175 w 356"/>
                  <a:gd name="T69" fmla="*/ 282 h 340"/>
                  <a:gd name="T70" fmla="*/ 163 w 356"/>
                  <a:gd name="T71" fmla="*/ 264 h 340"/>
                  <a:gd name="T72" fmla="*/ 163 w 356"/>
                  <a:gd name="T73" fmla="*/ 247 h 340"/>
                  <a:gd name="T74" fmla="*/ 163 w 356"/>
                  <a:gd name="T75" fmla="*/ 253 h 340"/>
                  <a:gd name="T76" fmla="*/ 141 w 356"/>
                  <a:gd name="T77" fmla="*/ 270 h 340"/>
                  <a:gd name="T78" fmla="*/ 118 w 356"/>
                  <a:gd name="T79" fmla="*/ 270 h 340"/>
                  <a:gd name="T80" fmla="*/ 107 w 356"/>
                  <a:gd name="T81" fmla="*/ 264 h 340"/>
                  <a:gd name="T82" fmla="*/ 101 w 356"/>
                  <a:gd name="T83" fmla="*/ 253 h 340"/>
                  <a:gd name="T84" fmla="*/ 96 w 356"/>
                  <a:gd name="T85" fmla="*/ 259 h 340"/>
                  <a:gd name="T86" fmla="*/ 79 w 356"/>
                  <a:gd name="T87" fmla="*/ 264 h 340"/>
                  <a:gd name="T88" fmla="*/ 51 w 356"/>
                  <a:gd name="T89" fmla="*/ 253 h 340"/>
                  <a:gd name="T90" fmla="*/ 45 w 356"/>
                  <a:gd name="T91" fmla="*/ 247 h 340"/>
                  <a:gd name="T92" fmla="*/ 39 w 356"/>
                  <a:gd name="T93" fmla="*/ 224 h 340"/>
                  <a:gd name="T94" fmla="*/ 34 w 356"/>
                  <a:gd name="T95" fmla="*/ 218 h 340"/>
                  <a:gd name="T96" fmla="*/ 17 w 356"/>
                  <a:gd name="T97" fmla="*/ 172 h 340"/>
                  <a:gd name="T98" fmla="*/ 0 w 356"/>
                  <a:gd name="T99" fmla="*/ 120 h 340"/>
                  <a:gd name="T100" fmla="*/ 0 w 356"/>
                  <a:gd name="T101" fmla="*/ 109 h 340"/>
                  <a:gd name="T102" fmla="*/ 0 w 356"/>
                  <a:gd name="T103" fmla="*/ 109 h 340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56"/>
                  <a:gd name="T157" fmla="*/ 0 h 340"/>
                  <a:gd name="T158" fmla="*/ 356 w 356"/>
                  <a:gd name="T159" fmla="*/ 340 h 340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56" h="340">
                    <a:moveTo>
                      <a:pt x="0" y="109"/>
                    </a:moveTo>
                    <a:lnTo>
                      <a:pt x="0" y="109"/>
                    </a:lnTo>
                    <a:lnTo>
                      <a:pt x="0" y="86"/>
                    </a:lnTo>
                    <a:lnTo>
                      <a:pt x="39" y="34"/>
                    </a:lnTo>
                    <a:lnTo>
                      <a:pt x="101" y="5"/>
                    </a:lnTo>
                    <a:lnTo>
                      <a:pt x="107" y="5"/>
                    </a:lnTo>
                    <a:lnTo>
                      <a:pt x="152" y="0"/>
                    </a:lnTo>
                    <a:lnTo>
                      <a:pt x="203" y="11"/>
                    </a:lnTo>
                    <a:lnTo>
                      <a:pt x="276" y="28"/>
                    </a:lnTo>
                    <a:lnTo>
                      <a:pt x="299" y="51"/>
                    </a:lnTo>
                    <a:lnTo>
                      <a:pt x="310" y="69"/>
                    </a:lnTo>
                    <a:lnTo>
                      <a:pt x="321" y="109"/>
                    </a:lnTo>
                    <a:lnTo>
                      <a:pt x="321" y="201"/>
                    </a:lnTo>
                    <a:lnTo>
                      <a:pt x="316" y="241"/>
                    </a:lnTo>
                    <a:lnTo>
                      <a:pt x="310" y="247"/>
                    </a:lnTo>
                    <a:lnTo>
                      <a:pt x="333" y="247"/>
                    </a:lnTo>
                    <a:lnTo>
                      <a:pt x="355" y="247"/>
                    </a:lnTo>
                    <a:lnTo>
                      <a:pt x="355" y="264"/>
                    </a:lnTo>
                    <a:lnTo>
                      <a:pt x="349" y="270"/>
                    </a:lnTo>
                    <a:lnTo>
                      <a:pt x="293" y="328"/>
                    </a:lnTo>
                    <a:lnTo>
                      <a:pt x="287" y="339"/>
                    </a:lnTo>
                    <a:lnTo>
                      <a:pt x="265" y="339"/>
                    </a:lnTo>
                    <a:lnTo>
                      <a:pt x="248" y="328"/>
                    </a:lnTo>
                    <a:lnTo>
                      <a:pt x="248" y="311"/>
                    </a:lnTo>
                    <a:lnTo>
                      <a:pt x="248" y="293"/>
                    </a:lnTo>
                    <a:lnTo>
                      <a:pt x="254" y="276"/>
                    </a:lnTo>
                    <a:lnTo>
                      <a:pt x="237" y="276"/>
                    </a:lnTo>
                    <a:lnTo>
                      <a:pt x="231" y="276"/>
                    </a:lnTo>
                    <a:lnTo>
                      <a:pt x="225" y="282"/>
                    </a:lnTo>
                    <a:lnTo>
                      <a:pt x="197" y="288"/>
                    </a:lnTo>
                    <a:lnTo>
                      <a:pt x="175" y="282"/>
                    </a:lnTo>
                    <a:lnTo>
                      <a:pt x="163" y="264"/>
                    </a:lnTo>
                    <a:lnTo>
                      <a:pt x="163" y="247"/>
                    </a:lnTo>
                    <a:lnTo>
                      <a:pt x="163" y="253"/>
                    </a:lnTo>
                    <a:lnTo>
                      <a:pt x="141" y="270"/>
                    </a:lnTo>
                    <a:lnTo>
                      <a:pt x="118" y="270"/>
                    </a:lnTo>
                    <a:lnTo>
                      <a:pt x="107" y="264"/>
                    </a:lnTo>
                    <a:lnTo>
                      <a:pt x="101" y="253"/>
                    </a:lnTo>
                    <a:lnTo>
                      <a:pt x="96" y="259"/>
                    </a:lnTo>
                    <a:lnTo>
                      <a:pt x="79" y="264"/>
                    </a:lnTo>
                    <a:lnTo>
                      <a:pt x="51" y="253"/>
                    </a:lnTo>
                    <a:lnTo>
                      <a:pt x="45" y="247"/>
                    </a:lnTo>
                    <a:lnTo>
                      <a:pt x="39" y="224"/>
                    </a:lnTo>
                    <a:lnTo>
                      <a:pt x="34" y="218"/>
                    </a:lnTo>
                    <a:lnTo>
                      <a:pt x="17" y="172"/>
                    </a:lnTo>
                    <a:lnTo>
                      <a:pt x="0" y="120"/>
                    </a:lnTo>
                    <a:lnTo>
                      <a:pt x="0" y="109"/>
                    </a:lnTo>
                    <a:close/>
                  </a:path>
                </a:pathLst>
              </a:custGeom>
              <a:solidFill>
                <a:srgbClr val="FFCC99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2" name="Freeform 39"/>
              <p:cNvSpPr>
                <a:spLocks/>
              </p:cNvSpPr>
              <p:nvPr/>
            </p:nvSpPr>
            <p:spPr bwMode="auto">
              <a:xfrm>
                <a:off x="3163" y="2734"/>
                <a:ext cx="146" cy="293"/>
              </a:xfrm>
              <a:custGeom>
                <a:avLst/>
                <a:gdLst>
                  <a:gd name="T0" fmla="*/ 0 w 68"/>
                  <a:gd name="T1" fmla="*/ 0 h 42"/>
                  <a:gd name="T2" fmla="*/ 5 w 68"/>
                  <a:gd name="T3" fmla="*/ 0 h 42"/>
                  <a:gd name="T4" fmla="*/ 11 w 68"/>
                  <a:gd name="T5" fmla="*/ 6 h 42"/>
                  <a:gd name="T6" fmla="*/ 39 w 68"/>
                  <a:gd name="T7" fmla="*/ 12 h 42"/>
                  <a:gd name="T8" fmla="*/ 67 w 68"/>
                  <a:gd name="T9" fmla="*/ 0 h 42"/>
                  <a:gd name="T10" fmla="*/ 67 w 68"/>
                  <a:gd name="T11" fmla="*/ 0 h 42"/>
                  <a:gd name="T12" fmla="*/ 67 w 68"/>
                  <a:gd name="T13" fmla="*/ 6 h 42"/>
                  <a:gd name="T14" fmla="*/ 56 w 68"/>
                  <a:gd name="T15" fmla="*/ 29 h 42"/>
                  <a:gd name="T16" fmla="*/ 28 w 68"/>
                  <a:gd name="T17" fmla="*/ 41 h 42"/>
                  <a:gd name="T18" fmla="*/ 0 w 68"/>
                  <a:gd name="T19" fmla="*/ 29 h 42"/>
                  <a:gd name="T20" fmla="*/ 0 w 68"/>
                  <a:gd name="T21" fmla="*/ 0 h 42"/>
                  <a:gd name="T22" fmla="*/ 0 w 68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8"/>
                  <a:gd name="T37" fmla="*/ 0 h 42"/>
                  <a:gd name="T38" fmla="*/ 68 w 68"/>
                  <a:gd name="T39" fmla="*/ 42 h 4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8" h="42">
                    <a:moveTo>
                      <a:pt x="0" y="0"/>
                    </a:moveTo>
                    <a:lnTo>
                      <a:pt x="5" y="0"/>
                    </a:lnTo>
                    <a:lnTo>
                      <a:pt x="11" y="6"/>
                    </a:lnTo>
                    <a:lnTo>
                      <a:pt x="39" y="12"/>
                    </a:lnTo>
                    <a:lnTo>
                      <a:pt x="67" y="0"/>
                    </a:lnTo>
                    <a:lnTo>
                      <a:pt x="67" y="6"/>
                    </a:lnTo>
                    <a:lnTo>
                      <a:pt x="56" y="29"/>
                    </a:lnTo>
                    <a:lnTo>
                      <a:pt x="28" y="41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C99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3" name="Freeform 40"/>
              <p:cNvSpPr>
                <a:spLocks/>
              </p:cNvSpPr>
              <p:nvPr/>
            </p:nvSpPr>
            <p:spPr bwMode="auto">
              <a:xfrm>
                <a:off x="3501" y="2613"/>
                <a:ext cx="146" cy="293"/>
              </a:xfrm>
              <a:custGeom>
                <a:avLst/>
                <a:gdLst>
                  <a:gd name="T0" fmla="*/ 344 w 362"/>
                  <a:gd name="T1" fmla="*/ 132 h 318"/>
                  <a:gd name="T2" fmla="*/ 316 w 362"/>
                  <a:gd name="T3" fmla="*/ 161 h 318"/>
                  <a:gd name="T4" fmla="*/ 293 w 362"/>
                  <a:gd name="T5" fmla="*/ 242 h 318"/>
                  <a:gd name="T6" fmla="*/ 293 w 362"/>
                  <a:gd name="T7" fmla="*/ 259 h 318"/>
                  <a:gd name="T8" fmla="*/ 277 w 362"/>
                  <a:gd name="T9" fmla="*/ 282 h 318"/>
                  <a:gd name="T10" fmla="*/ 260 w 362"/>
                  <a:gd name="T11" fmla="*/ 282 h 318"/>
                  <a:gd name="T12" fmla="*/ 254 w 362"/>
                  <a:gd name="T13" fmla="*/ 276 h 318"/>
                  <a:gd name="T14" fmla="*/ 248 w 362"/>
                  <a:gd name="T15" fmla="*/ 282 h 318"/>
                  <a:gd name="T16" fmla="*/ 243 w 362"/>
                  <a:gd name="T17" fmla="*/ 294 h 318"/>
                  <a:gd name="T18" fmla="*/ 226 w 362"/>
                  <a:gd name="T19" fmla="*/ 300 h 318"/>
                  <a:gd name="T20" fmla="*/ 203 w 362"/>
                  <a:gd name="T21" fmla="*/ 288 h 318"/>
                  <a:gd name="T22" fmla="*/ 198 w 362"/>
                  <a:gd name="T23" fmla="*/ 259 h 318"/>
                  <a:gd name="T24" fmla="*/ 186 w 362"/>
                  <a:gd name="T25" fmla="*/ 282 h 318"/>
                  <a:gd name="T26" fmla="*/ 169 w 362"/>
                  <a:gd name="T27" fmla="*/ 288 h 318"/>
                  <a:gd name="T28" fmla="*/ 147 w 362"/>
                  <a:gd name="T29" fmla="*/ 282 h 318"/>
                  <a:gd name="T30" fmla="*/ 141 w 362"/>
                  <a:gd name="T31" fmla="*/ 288 h 318"/>
                  <a:gd name="T32" fmla="*/ 136 w 362"/>
                  <a:gd name="T33" fmla="*/ 294 h 318"/>
                  <a:gd name="T34" fmla="*/ 113 w 362"/>
                  <a:gd name="T35" fmla="*/ 305 h 318"/>
                  <a:gd name="T36" fmla="*/ 96 w 362"/>
                  <a:gd name="T37" fmla="*/ 311 h 318"/>
                  <a:gd name="T38" fmla="*/ 57 w 362"/>
                  <a:gd name="T39" fmla="*/ 317 h 318"/>
                  <a:gd name="T40" fmla="*/ 29 w 362"/>
                  <a:gd name="T41" fmla="*/ 300 h 318"/>
                  <a:gd name="T42" fmla="*/ 17 w 362"/>
                  <a:gd name="T43" fmla="*/ 271 h 318"/>
                  <a:gd name="T44" fmla="*/ 23 w 362"/>
                  <a:gd name="T45" fmla="*/ 259 h 318"/>
                  <a:gd name="T46" fmla="*/ 23 w 362"/>
                  <a:gd name="T47" fmla="*/ 259 h 318"/>
                  <a:gd name="T48" fmla="*/ 29 w 362"/>
                  <a:gd name="T49" fmla="*/ 242 h 318"/>
                  <a:gd name="T50" fmla="*/ 45 w 362"/>
                  <a:gd name="T51" fmla="*/ 236 h 318"/>
                  <a:gd name="T52" fmla="*/ 29 w 362"/>
                  <a:gd name="T53" fmla="*/ 219 h 318"/>
                  <a:gd name="T54" fmla="*/ 6 w 362"/>
                  <a:gd name="T55" fmla="*/ 173 h 318"/>
                  <a:gd name="T56" fmla="*/ 0 w 362"/>
                  <a:gd name="T57" fmla="*/ 138 h 318"/>
                  <a:gd name="T58" fmla="*/ 23 w 362"/>
                  <a:gd name="T59" fmla="*/ 81 h 318"/>
                  <a:gd name="T60" fmla="*/ 62 w 362"/>
                  <a:gd name="T61" fmla="*/ 29 h 318"/>
                  <a:gd name="T62" fmla="*/ 79 w 362"/>
                  <a:gd name="T63" fmla="*/ 29 h 318"/>
                  <a:gd name="T64" fmla="*/ 91 w 362"/>
                  <a:gd name="T65" fmla="*/ 29 h 318"/>
                  <a:gd name="T66" fmla="*/ 113 w 362"/>
                  <a:gd name="T67" fmla="*/ 23 h 318"/>
                  <a:gd name="T68" fmla="*/ 119 w 362"/>
                  <a:gd name="T69" fmla="*/ 6 h 318"/>
                  <a:gd name="T70" fmla="*/ 141 w 362"/>
                  <a:gd name="T71" fmla="*/ 0 h 318"/>
                  <a:gd name="T72" fmla="*/ 164 w 362"/>
                  <a:gd name="T73" fmla="*/ 12 h 318"/>
                  <a:gd name="T74" fmla="*/ 175 w 362"/>
                  <a:gd name="T75" fmla="*/ 17 h 318"/>
                  <a:gd name="T76" fmla="*/ 186 w 362"/>
                  <a:gd name="T77" fmla="*/ 17 h 318"/>
                  <a:gd name="T78" fmla="*/ 226 w 362"/>
                  <a:gd name="T79" fmla="*/ 12 h 318"/>
                  <a:gd name="T80" fmla="*/ 243 w 362"/>
                  <a:gd name="T81" fmla="*/ 12 h 318"/>
                  <a:gd name="T82" fmla="*/ 277 w 362"/>
                  <a:gd name="T83" fmla="*/ 40 h 318"/>
                  <a:gd name="T84" fmla="*/ 299 w 362"/>
                  <a:gd name="T85" fmla="*/ 40 h 318"/>
                  <a:gd name="T86" fmla="*/ 322 w 362"/>
                  <a:gd name="T87" fmla="*/ 52 h 318"/>
                  <a:gd name="T88" fmla="*/ 350 w 362"/>
                  <a:gd name="T89" fmla="*/ 81 h 318"/>
                  <a:gd name="T90" fmla="*/ 361 w 362"/>
                  <a:gd name="T91" fmla="*/ 98 h 318"/>
                  <a:gd name="T92" fmla="*/ 361 w 362"/>
                  <a:gd name="T93" fmla="*/ 109 h 318"/>
                  <a:gd name="T94" fmla="*/ 355 w 362"/>
                  <a:gd name="T95" fmla="*/ 121 h 318"/>
                  <a:gd name="T96" fmla="*/ 344 w 362"/>
                  <a:gd name="T97" fmla="*/ 132 h 318"/>
                  <a:gd name="T98" fmla="*/ 344 w 362"/>
                  <a:gd name="T99" fmla="*/ 132 h 31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62"/>
                  <a:gd name="T151" fmla="*/ 0 h 318"/>
                  <a:gd name="T152" fmla="*/ 362 w 362"/>
                  <a:gd name="T153" fmla="*/ 318 h 318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62" h="318">
                    <a:moveTo>
                      <a:pt x="344" y="132"/>
                    </a:moveTo>
                    <a:lnTo>
                      <a:pt x="316" y="161"/>
                    </a:lnTo>
                    <a:lnTo>
                      <a:pt x="293" y="242"/>
                    </a:lnTo>
                    <a:lnTo>
                      <a:pt x="293" y="259"/>
                    </a:lnTo>
                    <a:lnTo>
                      <a:pt x="277" y="282"/>
                    </a:lnTo>
                    <a:lnTo>
                      <a:pt x="260" y="282"/>
                    </a:lnTo>
                    <a:lnTo>
                      <a:pt x="254" y="276"/>
                    </a:lnTo>
                    <a:lnTo>
                      <a:pt x="248" y="282"/>
                    </a:lnTo>
                    <a:lnTo>
                      <a:pt x="243" y="294"/>
                    </a:lnTo>
                    <a:lnTo>
                      <a:pt x="226" y="300"/>
                    </a:lnTo>
                    <a:lnTo>
                      <a:pt x="203" y="288"/>
                    </a:lnTo>
                    <a:lnTo>
                      <a:pt x="198" y="259"/>
                    </a:lnTo>
                    <a:lnTo>
                      <a:pt x="186" y="282"/>
                    </a:lnTo>
                    <a:lnTo>
                      <a:pt x="169" y="288"/>
                    </a:lnTo>
                    <a:lnTo>
                      <a:pt x="147" y="282"/>
                    </a:lnTo>
                    <a:lnTo>
                      <a:pt x="141" y="288"/>
                    </a:lnTo>
                    <a:lnTo>
                      <a:pt x="136" y="294"/>
                    </a:lnTo>
                    <a:lnTo>
                      <a:pt x="113" y="305"/>
                    </a:lnTo>
                    <a:lnTo>
                      <a:pt x="96" y="311"/>
                    </a:lnTo>
                    <a:lnTo>
                      <a:pt x="57" y="317"/>
                    </a:lnTo>
                    <a:lnTo>
                      <a:pt x="29" y="300"/>
                    </a:lnTo>
                    <a:lnTo>
                      <a:pt x="17" y="271"/>
                    </a:lnTo>
                    <a:lnTo>
                      <a:pt x="23" y="259"/>
                    </a:lnTo>
                    <a:lnTo>
                      <a:pt x="29" y="242"/>
                    </a:lnTo>
                    <a:lnTo>
                      <a:pt x="45" y="236"/>
                    </a:lnTo>
                    <a:lnTo>
                      <a:pt x="29" y="219"/>
                    </a:lnTo>
                    <a:lnTo>
                      <a:pt x="6" y="173"/>
                    </a:lnTo>
                    <a:lnTo>
                      <a:pt x="0" y="138"/>
                    </a:lnTo>
                    <a:lnTo>
                      <a:pt x="23" y="81"/>
                    </a:lnTo>
                    <a:lnTo>
                      <a:pt x="62" y="29"/>
                    </a:lnTo>
                    <a:lnTo>
                      <a:pt x="79" y="29"/>
                    </a:lnTo>
                    <a:lnTo>
                      <a:pt x="91" y="29"/>
                    </a:lnTo>
                    <a:lnTo>
                      <a:pt x="113" y="23"/>
                    </a:lnTo>
                    <a:lnTo>
                      <a:pt x="119" y="6"/>
                    </a:lnTo>
                    <a:lnTo>
                      <a:pt x="141" y="0"/>
                    </a:lnTo>
                    <a:lnTo>
                      <a:pt x="164" y="12"/>
                    </a:lnTo>
                    <a:lnTo>
                      <a:pt x="175" y="17"/>
                    </a:lnTo>
                    <a:lnTo>
                      <a:pt x="186" y="17"/>
                    </a:lnTo>
                    <a:lnTo>
                      <a:pt x="226" y="12"/>
                    </a:lnTo>
                    <a:lnTo>
                      <a:pt x="243" y="12"/>
                    </a:lnTo>
                    <a:lnTo>
                      <a:pt x="277" y="40"/>
                    </a:lnTo>
                    <a:lnTo>
                      <a:pt x="299" y="40"/>
                    </a:lnTo>
                    <a:lnTo>
                      <a:pt x="322" y="52"/>
                    </a:lnTo>
                    <a:lnTo>
                      <a:pt x="350" y="81"/>
                    </a:lnTo>
                    <a:lnTo>
                      <a:pt x="361" y="98"/>
                    </a:lnTo>
                    <a:lnTo>
                      <a:pt x="361" y="109"/>
                    </a:lnTo>
                    <a:lnTo>
                      <a:pt x="355" y="121"/>
                    </a:lnTo>
                    <a:lnTo>
                      <a:pt x="344" y="132"/>
                    </a:lnTo>
                    <a:close/>
                  </a:path>
                </a:pathLst>
              </a:custGeom>
              <a:solidFill>
                <a:srgbClr val="FFCC99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95" name="Freeform 41"/>
            <p:cNvSpPr>
              <a:spLocks/>
            </p:cNvSpPr>
            <p:nvPr/>
          </p:nvSpPr>
          <p:spPr bwMode="auto">
            <a:xfrm rot="5244914">
              <a:off x="1281" y="3067"/>
              <a:ext cx="146" cy="293"/>
            </a:xfrm>
            <a:custGeom>
              <a:avLst/>
              <a:gdLst>
                <a:gd name="T0" fmla="*/ 0 w 447"/>
                <a:gd name="T1" fmla="*/ 173 h 318"/>
                <a:gd name="T2" fmla="*/ 23 w 447"/>
                <a:gd name="T3" fmla="*/ 92 h 318"/>
                <a:gd name="T4" fmla="*/ 51 w 447"/>
                <a:gd name="T5" fmla="*/ 63 h 318"/>
                <a:gd name="T6" fmla="*/ 91 w 447"/>
                <a:gd name="T7" fmla="*/ 58 h 318"/>
                <a:gd name="T8" fmla="*/ 136 w 447"/>
                <a:gd name="T9" fmla="*/ 52 h 318"/>
                <a:gd name="T10" fmla="*/ 254 w 447"/>
                <a:gd name="T11" fmla="*/ 35 h 318"/>
                <a:gd name="T12" fmla="*/ 378 w 447"/>
                <a:gd name="T13" fmla="*/ 6 h 318"/>
                <a:gd name="T14" fmla="*/ 384 w 447"/>
                <a:gd name="T15" fmla="*/ 0 h 318"/>
                <a:gd name="T16" fmla="*/ 384 w 447"/>
                <a:gd name="T17" fmla="*/ 58 h 318"/>
                <a:gd name="T18" fmla="*/ 418 w 447"/>
                <a:gd name="T19" fmla="*/ 52 h 318"/>
                <a:gd name="T20" fmla="*/ 429 w 447"/>
                <a:gd name="T21" fmla="*/ 63 h 318"/>
                <a:gd name="T22" fmla="*/ 446 w 447"/>
                <a:gd name="T23" fmla="*/ 81 h 318"/>
                <a:gd name="T24" fmla="*/ 446 w 447"/>
                <a:gd name="T25" fmla="*/ 104 h 318"/>
                <a:gd name="T26" fmla="*/ 446 w 447"/>
                <a:gd name="T27" fmla="*/ 121 h 318"/>
                <a:gd name="T28" fmla="*/ 435 w 447"/>
                <a:gd name="T29" fmla="*/ 161 h 318"/>
                <a:gd name="T30" fmla="*/ 401 w 447"/>
                <a:gd name="T31" fmla="*/ 190 h 318"/>
                <a:gd name="T32" fmla="*/ 384 w 447"/>
                <a:gd name="T33" fmla="*/ 207 h 318"/>
                <a:gd name="T34" fmla="*/ 389 w 447"/>
                <a:gd name="T35" fmla="*/ 213 h 318"/>
                <a:gd name="T36" fmla="*/ 401 w 447"/>
                <a:gd name="T37" fmla="*/ 219 h 318"/>
                <a:gd name="T38" fmla="*/ 401 w 447"/>
                <a:gd name="T39" fmla="*/ 231 h 318"/>
                <a:gd name="T40" fmla="*/ 401 w 447"/>
                <a:gd name="T41" fmla="*/ 242 h 318"/>
                <a:gd name="T42" fmla="*/ 401 w 447"/>
                <a:gd name="T43" fmla="*/ 259 h 318"/>
                <a:gd name="T44" fmla="*/ 389 w 447"/>
                <a:gd name="T45" fmla="*/ 282 h 318"/>
                <a:gd name="T46" fmla="*/ 367 w 447"/>
                <a:gd name="T47" fmla="*/ 317 h 318"/>
                <a:gd name="T48" fmla="*/ 322 w 447"/>
                <a:gd name="T49" fmla="*/ 300 h 318"/>
                <a:gd name="T50" fmla="*/ 299 w 447"/>
                <a:gd name="T51" fmla="*/ 288 h 318"/>
                <a:gd name="T52" fmla="*/ 277 w 447"/>
                <a:gd name="T53" fmla="*/ 277 h 318"/>
                <a:gd name="T54" fmla="*/ 147 w 447"/>
                <a:gd name="T55" fmla="*/ 219 h 318"/>
                <a:gd name="T56" fmla="*/ 0 w 447"/>
                <a:gd name="T57" fmla="*/ 173 h 318"/>
                <a:gd name="T58" fmla="*/ 0 w 447"/>
                <a:gd name="T59" fmla="*/ 173 h 318"/>
                <a:gd name="T60" fmla="*/ 0 w 447"/>
                <a:gd name="T61" fmla="*/ 173 h 31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47"/>
                <a:gd name="T94" fmla="*/ 0 h 318"/>
                <a:gd name="T95" fmla="*/ 447 w 447"/>
                <a:gd name="T96" fmla="*/ 318 h 31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47" h="318">
                  <a:moveTo>
                    <a:pt x="0" y="173"/>
                  </a:moveTo>
                  <a:lnTo>
                    <a:pt x="23" y="92"/>
                  </a:lnTo>
                  <a:lnTo>
                    <a:pt x="51" y="63"/>
                  </a:lnTo>
                  <a:lnTo>
                    <a:pt x="91" y="58"/>
                  </a:lnTo>
                  <a:lnTo>
                    <a:pt x="136" y="52"/>
                  </a:lnTo>
                  <a:lnTo>
                    <a:pt x="254" y="35"/>
                  </a:lnTo>
                  <a:lnTo>
                    <a:pt x="378" y="6"/>
                  </a:lnTo>
                  <a:lnTo>
                    <a:pt x="384" y="0"/>
                  </a:lnTo>
                  <a:lnTo>
                    <a:pt x="384" y="58"/>
                  </a:lnTo>
                  <a:lnTo>
                    <a:pt x="418" y="52"/>
                  </a:lnTo>
                  <a:lnTo>
                    <a:pt x="429" y="63"/>
                  </a:lnTo>
                  <a:lnTo>
                    <a:pt x="446" y="81"/>
                  </a:lnTo>
                  <a:lnTo>
                    <a:pt x="446" y="104"/>
                  </a:lnTo>
                  <a:lnTo>
                    <a:pt x="446" y="121"/>
                  </a:lnTo>
                  <a:lnTo>
                    <a:pt x="435" y="161"/>
                  </a:lnTo>
                  <a:lnTo>
                    <a:pt x="401" y="190"/>
                  </a:lnTo>
                  <a:lnTo>
                    <a:pt x="384" y="207"/>
                  </a:lnTo>
                  <a:lnTo>
                    <a:pt x="389" y="213"/>
                  </a:lnTo>
                  <a:lnTo>
                    <a:pt x="401" y="219"/>
                  </a:lnTo>
                  <a:lnTo>
                    <a:pt x="401" y="231"/>
                  </a:lnTo>
                  <a:lnTo>
                    <a:pt x="401" y="242"/>
                  </a:lnTo>
                  <a:lnTo>
                    <a:pt x="401" y="259"/>
                  </a:lnTo>
                  <a:lnTo>
                    <a:pt x="389" y="282"/>
                  </a:lnTo>
                  <a:lnTo>
                    <a:pt x="367" y="317"/>
                  </a:lnTo>
                  <a:lnTo>
                    <a:pt x="322" y="300"/>
                  </a:lnTo>
                  <a:lnTo>
                    <a:pt x="299" y="288"/>
                  </a:lnTo>
                  <a:lnTo>
                    <a:pt x="277" y="277"/>
                  </a:lnTo>
                  <a:lnTo>
                    <a:pt x="147" y="219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" name="Group 42"/>
            <p:cNvGrpSpPr>
              <a:grpSpLocks/>
            </p:cNvGrpSpPr>
            <p:nvPr/>
          </p:nvGrpSpPr>
          <p:grpSpPr bwMode="auto">
            <a:xfrm rot="5244914">
              <a:off x="1192" y="3041"/>
              <a:ext cx="363" cy="555"/>
              <a:chOff x="3834" y="2535"/>
              <a:chExt cx="363" cy="555"/>
            </a:xfrm>
          </p:grpSpPr>
          <p:sp>
            <p:nvSpPr>
              <p:cNvPr id="11318" name="Freeform 43"/>
              <p:cNvSpPr>
                <a:spLocks/>
              </p:cNvSpPr>
              <p:nvPr/>
            </p:nvSpPr>
            <p:spPr bwMode="auto">
              <a:xfrm>
                <a:off x="3848" y="2535"/>
                <a:ext cx="146" cy="293"/>
              </a:xfrm>
              <a:custGeom>
                <a:avLst/>
                <a:gdLst>
                  <a:gd name="T0" fmla="*/ 367 w 368"/>
                  <a:gd name="T1" fmla="*/ 92 h 104"/>
                  <a:gd name="T2" fmla="*/ 367 w 368"/>
                  <a:gd name="T3" fmla="*/ 75 h 104"/>
                  <a:gd name="T4" fmla="*/ 367 w 368"/>
                  <a:gd name="T5" fmla="*/ 40 h 104"/>
                  <a:gd name="T6" fmla="*/ 361 w 368"/>
                  <a:gd name="T7" fmla="*/ 23 h 104"/>
                  <a:gd name="T8" fmla="*/ 355 w 368"/>
                  <a:gd name="T9" fmla="*/ 0 h 104"/>
                  <a:gd name="T10" fmla="*/ 186 w 368"/>
                  <a:gd name="T11" fmla="*/ 52 h 104"/>
                  <a:gd name="T12" fmla="*/ 17 w 368"/>
                  <a:gd name="T13" fmla="*/ 86 h 104"/>
                  <a:gd name="T14" fmla="*/ 11 w 368"/>
                  <a:gd name="T15" fmla="*/ 92 h 104"/>
                  <a:gd name="T16" fmla="*/ 0 w 368"/>
                  <a:gd name="T17" fmla="*/ 103 h 104"/>
                  <a:gd name="T18" fmla="*/ 40 w 368"/>
                  <a:gd name="T19" fmla="*/ 98 h 104"/>
                  <a:gd name="T20" fmla="*/ 85 w 368"/>
                  <a:gd name="T21" fmla="*/ 92 h 104"/>
                  <a:gd name="T22" fmla="*/ 203 w 368"/>
                  <a:gd name="T23" fmla="*/ 75 h 104"/>
                  <a:gd name="T24" fmla="*/ 327 w 368"/>
                  <a:gd name="T25" fmla="*/ 46 h 104"/>
                  <a:gd name="T26" fmla="*/ 333 w 368"/>
                  <a:gd name="T27" fmla="*/ 40 h 104"/>
                  <a:gd name="T28" fmla="*/ 333 w 368"/>
                  <a:gd name="T29" fmla="*/ 98 h 104"/>
                  <a:gd name="T30" fmla="*/ 367 w 368"/>
                  <a:gd name="T31" fmla="*/ 92 h 104"/>
                  <a:gd name="T32" fmla="*/ 367 w 368"/>
                  <a:gd name="T33" fmla="*/ 92 h 1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8"/>
                  <a:gd name="T52" fmla="*/ 0 h 104"/>
                  <a:gd name="T53" fmla="*/ 368 w 368"/>
                  <a:gd name="T54" fmla="*/ 104 h 10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8" h="104">
                    <a:moveTo>
                      <a:pt x="367" y="92"/>
                    </a:moveTo>
                    <a:lnTo>
                      <a:pt x="367" y="75"/>
                    </a:lnTo>
                    <a:lnTo>
                      <a:pt x="367" y="40"/>
                    </a:lnTo>
                    <a:lnTo>
                      <a:pt x="361" y="23"/>
                    </a:lnTo>
                    <a:lnTo>
                      <a:pt x="355" y="0"/>
                    </a:lnTo>
                    <a:lnTo>
                      <a:pt x="186" y="52"/>
                    </a:lnTo>
                    <a:lnTo>
                      <a:pt x="17" y="86"/>
                    </a:lnTo>
                    <a:lnTo>
                      <a:pt x="11" y="92"/>
                    </a:lnTo>
                    <a:lnTo>
                      <a:pt x="0" y="103"/>
                    </a:lnTo>
                    <a:lnTo>
                      <a:pt x="40" y="98"/>
                    </a:lnTo>
                    <a:lnTo>
                      <a:pt x="85" y="92"/>
                    </a:lnTo>
                    <a:lnTo>
                      <a:pt x="203" y="75"/>
                    </a:lnTo>
                    <a:lnTo>
                      <a:pt x="327" y="46"/>
                    </a:lnTo>
                    <a:lnTo>
                      <a:pt x="333" y="40"/>
                    </a:lnTo>
                    <a:lnTo>
                      <a:pt x="333" y="98"/>
                    </a:lnTo>
                    <a:lnTo>
                      <a:pt x="367" y="92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19" name="Freeform 44"/>
              <p:cNvSpPr>
                <a:spLocks/>
              </p:cNvSpPr>
              <p:nvPr/>
            </p:nvSpPr>
            <p:spPr bwMode="auto">
              <a:xfrm>
                <a:off x="3834" y="2797"/>
                <a:ext cx="146" cy="293"/>
              </a:xfrm>
              <a:custGeom>
                <a:avLst/>
                <a:gdLst>
                  <a:gd name="T0" fmla="*/ 389 w 441"/>
                  <a:gd name="T1" fmla="*/ 40 h 203"/>
                  <a:gd name="T2" fmla="*/ 401 w 441"/>
                  <a:gd name="T3" fmla="*/ 46 h 203"/>
                  <a:gd name="T4" fmla="*/ 401 w 441"/>
                  <a:gd name="T5" fmla="*/ 69 h 203"/>
                  <a:gd name="T6" fmla="*/ 401 w 441"/>
                  <a:gd name="T7" fmla="*/ 86 h 203"/>
                  <a:gd name="T8" fmla="*/ 389 w 441"/>
                  <a:gd name="T9" fmla="*/ 109 h 203"/>
                  <a:gd name="T10" fmla="*/ 367 w 441"/>
                  <a:gd name="T11" fmla="*/ 144 h 203"/>
                  <a:gd name="T12" fmla="*/ 322 w 441"/>
                  <a:gd name="T13" fmla="*/ 127 h 203"/>
                  <a:gd name="T14" fmla="*/ 299 w 441"/>
                  <a:gd name="T15" fmla="*/ 115 h 203"/>
                  <a:gd name="T16" fmla="*/ 277 w 441"/>
                  <a:gd name="T17" fmla="*/ 104 h 203"/>
                  <a:gd name="T18" fmla="*/ 147 w 441"/>
                  <a:gd name="T19" fmla="*/ 46 h 203"/>
                  <a:gd name="T20" fmla="*/ 0 w 441"/>
                  <a:gd name="T21" fmla="*/ 0 h 203"/>
                  <a:gd name="T22" fmla="*/ 0 w 441"/>
                  <a:gd name="T23" fmla="*/ 17 h 203"/>
                  <a:gd name="T24" fmla="*/ 12 w 441"/>
                  <a:gd name="T25" fmla="*/ 29 h 203"/>
                  <a:gd name="T26" fmla="*/ 68 w 441"/>
                  <a:gd name="T27" fmla="*/ 46 h 203"/>
                  <a:gd name="T28" fmla="*/ 130 w 441"/>
                  <a:gd name="T29" fmla="*/ 75 h 203"/>
                  <a:gd name="T30" fmla="*/ 254 w 441"/>
                  <a:gd name="T31" fmla="*/ 132 h 203"/>
                  <a:gd name="T32" fmla="*/ 384 w 441"/>
                  <a:gd name="T33" fmla="*/ 202 h 203"/>
                  <a:gd name="T34" fmla="*/ 429 w 441"/>
                  <a:gd name="T35" fmla="*/ 115 h 203"/>
                  <a:gd name="T36" fmla="*/ 440 w 441"/>
                  <a:gd name="T37" fmla="*/ 86 h 203"/>
                  <a:gd name="T38" fmla="*/ 440 w 441"/>
                  <a:gd name="T39" fmla="*/ 52 h 203"/>
                  <a:gd name="T40" fmla="*/ 440 w 441"/>
                  <a:gd name="T41" fmla="*/ 46 h 203"/>
                  <a:gd name="T42" fmla="*/ 429 w 441"/>
                  <a:gd name="T43" fmla="*/ 40 h 203"/>
                  <a:gd name="T44" fmla="*/ 389 w 441"/>
                  <a:gd name="T45" fmla="*/ 40 h 203"/>
                  <a:gd name="T46" fmla="*/ 389 w 441"/>
                  <a:gd name="T47" fmla="*/ 40 h 20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41"/>
                  <a:gd name="T73" fmla="*/ 0 h 203"/>
                  <a:gd name="T74" fmla="*/ 441 w 441"/>
                  <a:gd name="T75" fmla="*/ 203 h 20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41" h="203">
                    <a:moveTo>
                      <a:pt x="389" y="40"/>
                    </a:moveTo>
                    <a:lnTo>
                      <a:pt x="401" y="46"/>
                    </a:lnTo>
                    <a:lnTo>
                      <a:pt x="401" y="69"/>
                    </a:lnTo>
                    <a:lnTo>
                      <a:pt x="401" y="86"/>
                    </a:lnTo>
                    <a:lnTo>
                      <a:pt x="389" y="109"/>
                    </a:lnTo>
                    <a:lnTo>
                      <a:pt x="367" y="144"/>
                    </a:lnTo>
                    <a:lnTo>
                      <a:pt x="322" y="127"/>
                    </a:lnTo>
                    <a:lnTo>
                      <a:pt x="299" y="115"/>
                    </a:lnTo>
                    <a:lnTo>
                      <a:pt x="277" y="104"/>
                    </a:lnTo>
                    <a:lnTo>
                      <a:pt x="147" y="46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12" y="29"/>
                    </a:lnTo>
                    <a:lnTo>
                      <a:pt x="68" y="46"/>
                    </a:lnTo>
                    <a:lnTo>
                      <a:pt x="130" y="75"/>
                    </a:lnTo>
                    <a:lnTo>
                      <a:pt x="254" y="132"/>
                    </a:lnTo>
                    <a:lnTo>
                      <a:pt x="384" y="202"/>
                    </a:lnTo>
                    <a:lnTo>
                      <a:pt x="429" y="115"/>
                    </a:lnTo>
                    <a:lnTo>
                      <a:pt x="440" y="86"/>
                    </a:lnTo>
                    <a:lnTo>
                      <a:pt x="440" y="52"/>
                    </a:lnTo>
                    <a:lnTo>
                      <a:pt x="440" y="46"/>
                    </a:lnTo>
                    <a:lnTo>
                      <a:pt x="429" y="40"/>
                    </a:lnTo>
                    <a:lnTo>
                      <a:pt x="389" y="40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20" name="Freeform 45"/>
              <p:cNvSpPr>
                <a:spLocks/>
              </p:cNvSpPr>
              <p:nvPr/>
            </p:nvSpPr>
            <p:spPr bwMode="auto">
              <a:xfrm>
                <a:off x="4051" y="2641"/>
                <a:ext cx="146" cy="293"/>
              </a:xfrm>
              <a:custGeom>
                <a:avLst/>
                <a:gdLst>
                  <a:gd name="T0" fmla="*/ 50 w 74"/>
                  <a:gd name="T1" fmla="*/ 0 h 145"/>
                  <a:gd name="T2" fmla="*/ 67 w 74"/>
                  <a:gd name="T3" fmla="*/ 6 h 145"/>
                  <a:gd name="T4" fmla="*/ 73 w 74"/>
                  <a:gd name="T5" fmla="*/ 29 h 145"/>
                  <a:gd name="T6" fmla="*/ 73 w 74"/>
                  <a:gd name="T7" fmla="*/ 58 h 145"/>
                  <a:gd name="T8" fmla="*/ 73 w 74"/>
                  <a:gd name="T9" fmla="*/ 98 h 145"/>
                  <a:gd name="T10" fmla="*/ 62 w 74"/>
                  <a:gd name="T11" fmla="*/ 121 h 145"/>
                  <a:gd name="T12" fmla="*/ 45 w 74"/>
                  <a:gd name="T13" fmla="*/ 138 h 145"/>
                  <a:gd name="T14" fmla="*/ 28 w 74"/>
                  <a:gd name="T15" fmla="*/ 144 h 145"/>
                  <a:gd name="T16" fmla="*/ 0 w 74"/>
                  <a:gd name="T17" fmla="*/ 144 h 145"/>
                  <a:gd name="T18" fmla="*/ 28 w 74"/>
                  <a:gd name="T19" fmla="*/ 98 h 145"/>
                  <a:gd name="T20" fmla="*/ 34 w 74"/>
                  <a:gd name="T21" fmla="*/ 46 h 145"/>
                  <a:gd name="T22" fmla="*/ 28 w 74"/>
                  <a:gd name="T23" fmla="*/ 23 h 145"/>
                  <a:gd name="T24" fmla="*/ 17 w 74"/>
                  <a:gd name="T25" fmla="*/ 6 h 145"/>
                  <a:gd name="T26" fmla="*/ 50 w 74"/>
                  <a:gd name="T27" fmla="*/ 0 h 145"/>
                  <a:gd name="T28" fmla="*/ 50 w 74"/>
                  <a:gd name="T29" fmla="*/ 0 h 14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45"/>
                  <a:gd name="T47" fmla="*/ 74 w 74"/>
                  <a:gd name="T48" fmla="*/ 145 h 14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45">
                    <a:moveTo>
                      <a:pt x="50" y="0"/>
                    </a:moveTo>
                    <a:lnTo>
                      <a:pt x="67" y="6"/>
                    </a:lnTo>
                    <a:lnTo>
                      <a:pt x="73" y="29"/>
                    </a:lnTo>
                    <a:lnTo>
                      <a:pt x="73" y="58"/>
                    </a:lnTo>
                    <a:lnTo>
                      <a:pt x="73" y="98"/>
                    </a:lnTo>
                    <a:lnTo>
                      <a:pt x="62" y="121"/>
                    </a:lnTo>
                    <a:lnTo>
                      <a:pt x="45" y="138"/>
                    </a:lnTo>
                    <a:lnTo>
                      <a:pt x="28" y="144"/>
                    </a:lnTo>
                    <a:lnTo>
                      <a:pt x="0" y="144"/>
                    </a:lnTo>
                    <a:lnTo>
                      <a:pt x="28" y="98"/>
                    </a:lnTo>
                    <a:lnTo>
                      <a:pt x="34" y="46"/>
                    </a:lnTo>
                    <a:lnTo>
                      <a:pt x="28" y="23"/>
                    </a:lnTo>
                    <a:lnTo>
                      <a:pt x="17" y="6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BBBBBB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297" name="Freeform 66"/>
            <p:cNvSpPr>
              <a:spLocks/>
            </p:cNvSpPr>
            <p:nvPr/>
          </p:nvSpPr>
          <p:spPr bwMode="auto">
            <a:xfrm rot="5244914">
              <a:off x="1305" y="2081"/>
              <a:ext cx="146" cy="293"/>
            </a:xfrm>
            <a:custGeom>
              <a:avLst/>
              <a:gdLst>
                <a:gd name="T0" fmla="*/ 0 w 102"/>
                <a:gd name="T1" fmla="*/ 0 h 18"/>
                <a:gd name="T2" fmla="*/ 101 w 102"/>
                <a:gd name="T3" fmla="*/ 17 h 18"/>
                <a:gd name="T4" fmla="*/ 0 60000 65536"/>
                <a:gd name="T5" fmla="*/ 0 60000 65536"/>
                <a:gd name="T6" fmla="*/ 0 w 102"/>
                <a:gd name="T7" fmla="*/ 0 h 18"/>
                <a:gd name="T8" fmla="*/ 102 w 102"/>
                <a:gd name="T9" fmla="*/ 18 h 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2" h="18">
                  <a:moveTo>
                    <a:pt x="0" y="0"/>
                  </a:moveTo>
                  <a:lnTo>
                    <a:pt x="101" y="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8" name="Freeform 67"/>
            <p:cNvSpPr>
              <a:spLocks/>
            </p:cNvSpPr>
            <p:nvPr/>
          </p:nvSpPr>
          <p:spPr bwMode="auto">
            <a:xfrm rot="5244914">
              <a:off x="1353" y="2359"/>
              <a:ext cx="1" cy="293"/>
            </a:xfrm>
            <a:custGeom>
              <a:avLst/>
              <a:gdLst>
                <a:gd name="T0" fmla="*/ 0 w 1"/>
                <a:gd name="T1" fmla="*/ 115 h 116"/>
                <a:gd name="T2" fmla="*/ 0 w 1"/>
                <a:gd name="T3" fmla="*/ 0 h 116"/>
                <a:gd name="T4" fmla="*/ 0 60000 65536"/>
                <a:gd name="T5" fmla="*/ 0 60000 65536"/>
                <a:gd name="T6" fmla="*/ 0 w 1"/>
                <a:gd name="T7" fmla="*/ 0 h 116"/>
                <a:gd name="T8" fmla="*/ 1 w 1"/>
                <a:gd name="T9" fmla="*/ 116 h 1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6">
                  <a:moveTo>
                    <a:pt x="0" y="115"/>
                  </a:moveTo>
                  <a:lnTo>
                    <a:pt x="0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9" name="Freeform 68"/>
            <p:cNvSpPr>
              <a:spLocks/>
            </p:cNvSpPr>
            <p:nvPr/>
          </p:nvSpPr>
          <p:spPr bwMode="auto">
            <a:xfrm rot="5244914">
              <a:off x="1274" y="2280"/>
              <a:ext cx="146" cy="293"/>
            </a:xfrm>
            <a:custGeom>
              <a:avLst/>
              <a:gdLst>
                <a:gd name="T0" fmla="*/ 11 w 12"/>
                <a:gd name="T1" fmla="*/ 109 h 110"/>
                <a:gd name="T2" fmla="*/ 0 w 12"/>
                <a:gd name="T3" fmla="*/ 0 h 110"/>
                <a:gd name="T4" fmla="*/ 0 60000 65536"/>
                <a:gd name="T5" fmla="*/ 0 60000 65536"/>
                <a:gd name="T6" fmla="*/ 0 w 12"/>
                <a:gd name="T7" fmla="*/ 0 h 110"/>
                <a:gd name="T8" fmla="*/ 12 w 12"/>
                <a:gd name="T9" fmla="*/ 110 h 1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" h="110">
                  <a:moveTo>
                    <a:pt x="11" y="109"/>
                  </a:moveTo>
                  <a:lnTo>
                    <a:pt x="0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0" name="Freeform 69"/>
            <p:cNvSpPr>
              <a:spLocks/>
            </p:cNvSpPr>
            <p:nvPr/>
          </p:nvSpPr>
          <p:spPr bwMode="auto">
            <a:xfrm rot="5244914">
              <a:off x="1268" y="2213"/>
              <a:ext cx="146" cy="293"/>
            </a:xfrm>
            <a:custGeom>
              <a:avLst/>
              <a:gdLst>
                <a:gd name="T0" fmla="*/ 22 w 23"/>
                <a:gd name="T1" fmla="*/ 81 h 82"/>
                <a:gd name="T2" fmla="*/ 0 w 23"/>
                <a:gd name="T3" fmla="*/ 0 h 82"/>
                <a:gd name="T4" fmla="*/ 0 60000 65536"/>
                <a:gd name="T5" fmla="*/ 0 60000 65536"/>
                <a:gd name="T6" fmla="*/ 0 w 23"/>
                <a:gd name="T7" fmla="*/ 0 h 82"/>
                <a:gd name="T8" fmla="*/ 23 w 23"/>
                <a:gd name="T9" fmla="*/ 82 h 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" h="82">
                  <a:moveTo>
                    <a:pt x="22" y="81"/>
                  </a:moveTo>
                  <a:lnTo>
                    <a:pt x="0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1" name="Freeform 70"/>
            <p:cNvSpPr>
              <a:spLocks/>
            </p:cNvSpPr>
            <p:nvPr/>
          </p:nvSpPr>
          <p:spPr bwMode="auto">
            <a:xfrm rot="5244914">
              <a:off x="1391" y="2255"/>
              <a:ext cx="146" cy="293"/>
            </a:xfrm>
            <a:custGeom>
              <a:avLst/>
              <a:gdLst>
                <a:gd name="T0" fmla="*/ 0 w 277"/>
                <a:gd name="T1" fmla="*/ 81 h 82"/>
                <a:gd name="T2" fmla="*/ 0 w 277"/>
                <a:gd name="T3" fmla="*/ 75 h 82"/>
                <a:gd name="T4" fmla="*/ 6 w 277"/>
                <a:gd name="T5" fmla="*/ 64 h 82"/>
                <a:gd name="T6" fmla="*/ 22 w 277"/>
                <a:gd name="T7" fmla="*/ 52 h 82"/>
                <a:gd name="T8" fmla="*/ 39 w 277"/>
                <a:gd name="T9" fmla="*/ 52 h 82"/>
                <a:gd name="T10" fmla="*/ 56 w 277"/>
                <a:gd name="T11" fmla="*/ 46 h 82"/>
                <a:gd name="T12" fmla="*/ 73 w 277"/>
                <a:gd name="T13" fmla="*/ 29 h 82"/>
                <a:gd name="T14" fmla="*/ 96 w 277"/>
                <a:gd name="T15" fmla="*/ 23 h 82"/>
                <a:gd name="T16" fmla="*/ 118 w 277"/>
                <a:gd name="T17" fmla="*/ 29 h 82"/>
                <a:gd name="T18" fmla="*/ 130 w 277"/>
                <a:gd name="T19" fmla="*/ 29 h 82"/>
                <a:gd name="T20" fmla="*/ 141 w 277"/>
                <a:gd name="T21" fmla="*/ 18 h 82"/>
                <a:gd name="T22" fmla="*/ 158 w 277"/>
                <a:gd name="T23" fmla="*/ 6 h 82"/>
                <a:gd name="T24" fmla="*/ 169 w 277"/>
                <a:gd name="T25" fmla="*/ 0 h 82"/>
                <a:gd name="T26" fmla="*/ 186 w 277"/>
                <a:gd name="T27" fmla="*/ 0 h 82"/>
                <a:gd name="T28" fmla="*/ 203 w 277"/>
                <a:gd name="T29" fmla="*/ 12 h 82"/>
                <a:gd name="T30" fmla="*/ 209 w 277"/>
                <a:gd name="T31" fmla="*/ 18 h 82"/>
                <a:gd name="T32" fmla="*/ 220 w 277"/>
                <a:gd name="T33" fmla="*/ 18 h 82"/>
                <a:gd name="T34" fmla="*/ 248 w 277"/>
                <a:gd name="T35" fmla="*/ 0 h 82"/>
                <a:gd name="T36" fmla="*/ 259 w 277"/>
                <a:gd name="T37" fmla="*/ 0 h 82"/>
                <a:gd name="T38" fmla="*/ 276 w 277"/>
                <a:gd name="T39" fmla="*/ 0 h 8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77"/>
                <a:gd name="T61" fmla="*/ 0 h 82"/>
                <a:gd name="T62" fmla="*/ 277 w 277"/>
                <a:gd name="T63" fmla="*/ 82 h 8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77" h="82">
                  <a:moveTo>
                    <a:pt x="0" y="81"/>
                  </a:moveTo>
                  <a:lnTo>
                    <a:pt x="0" y="75"/>
                  </a:lnTo>
                  <a:lnTo>
                    <a:pt x="6" y="64"/>
                  </a:lnTo>
                  <a:lnTo>
                    <a:pt x="22" y="52"/>
                  </a:lnTo>
                  <a:lnTo>
                    <a:pt x="39" y="52"/>
                  </a:lnTo>
                  <a:lnTo>
                    <a:pt x="56" y="46"/>
                  </a:lnTo>
                  <a:lnTo>
                    <a:pt x="73" y="29"/>
                  </a:lnTo>
                  <a:lnTo>
                    <a:pt x="96" y="23"/>
                  </a:lnTo>
                  <a:lnTo>
                    <a:pt x="118" y="29"/>
                  </a:lnTo>
                  <a:lnTo>
                    <a:pt x="130" y="29"/>
                  </a:lnTo>
                  <a:lnTo>
                    <a:pt x="141" y="18"/>
                  </a:lnTo>
                  <a:lnTo>
                    <a:pt x="158" y="6"/>
                  </a:lnTo>
                  <a:lnTo>
                    <a:pt x="169" y="0"/>
                  </a:lnTo>
                  <a:lnTo>
                    <a:pt x="186" y="0"/>
                  </a:lnTo>
                  <a:lnTo>
                    <a:pt x="203" y="12"/>
                  </a:lnTo>
                  <a:lnTo>
                    <a:pt x="209" y="18"/>
                  </a:lnTo>
                  <a:lnTo>
                    <a:pt x="220" y="18"/>
                  </a:lnTo>
                  <a:lnTo>
                    <a:pt x="248" y="0"/>
                  </a:lnTo>
                  <a:lnTo>
                    <a:pt x="259" y="0"/>
                  </a:lnTo>
                  <a:lnTo>
                    <a:pt x="276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2" name="Freeform 71"/>
            <p:cNvSpPr>
              <a:spLocks/>
            </p:cNvSpPr>
            <p:nvPr/>
          </p:nvSpPr>
          <p:spPr bwMode="auto">
            <a:xfrm rot="5244914">
              <a:off x="1236" y="2648"/>
              <a:ext cx="146" cy="293"/>
            </a:xfrm>
            <a:custGeom>
              <a:avLst/>
              <a:gdLst>
                <a:gd name="T0" fmla="*/ 102 w 103"/>
                <a:gd name="T1" fmla="*/ 46 h 47"/>
                <a:gd name="T2" fmla="*/ 102 w 103"/>
                <a:gd name="T3" fmla="*/ 41 h 47"/>
                <a:gd name="T4" fmla="*/ 91 w 103"/>
                <a:gd name="T5" fmla="*/ 18 h 47"/>
                <a:gd name="T6" fmla="*/ 62 w 103"/>
                <a:gd name="T7" fmla="*/ 0 h 47"/>
                <a:gd name="T8" fmla="*/ 12 w 103"/>
                <a:gd name="T9" fmla="*/ 0 h 47"/>
                <a:gd name="T10" fmla="*/ 0 w 10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"/>
                <a:gd name="T19" fmla="*/ 0 h 47"/>
                <a:gd name="T20" fmla="*/ 103 w 10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" h="47">
                  <a:moveTo>
                    <a:pt x="102" y="46"/>
                  </a:moveTo>
                  <a:lnTo>
                    <a:pt x="102" y="41"/>
                  </a:lnTo>
                  <a:lnTo>
                    <a:pt x="91" y="18"/>
                  </a:lnTo>
                  <a:lnTo>
                    <a:pt x="62" y="0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3" name="Freeform 72"/>
            <p:cNvSpPr>
              <a:spLocks/>
            </p:cNvSpPr>
            <p:nvPr/>
          </p:nvSpPr>
          <p:spPr bwMode="auto">
            <a:xfrm rot="5244914">
              <a:off x="1351" y="2647"/>
              <a:ext cx="146" cy="293"/>
            </a:xfrm>
            <a:custGeom>
              <a:avLst/>
              <a:gdLst>
                <a:gd name="T0" fmla="*/ 16 w 17"/>
                <a:gd name="T1" fmla="*/ 173 h 174"/>
                <a:gd name="T2" fmla="*/ 0 w 17"/>
                <a:gd name="T3" fmla="*/ 104 h 174"/>
                <a:gd name="T4" fmla="*/ 5 w 17"/>
                <a:gd name="T5" fmla="*/ 29 h 174"/>
                <a:gd name="T6" fmla="*/ 5 w 17"/>
                <a:gd name="T7" fmla="*/ 17 h 174"/>
                <a:gd name="T8" fmla="*/ 5 w 17"/>
                <a:gd name="T9" fmla="*/ 0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4"/>
                <a:gd name="T17" fmla="*/ 17 w 17"/>
                <a:gd name="T18" fmla="*/ 174 h 1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4">
                  <a:moveTo>
                    <a:pt x="16" y="173"/>
                  </a:moveTo>
                  <a:lnTo>
                    <a:pt x="0" y="104"/>
                  </a:lnTo>
                  <a:lnTo>
                    <a:pt x="5" y="29"/>
                  </a:lnTo>
                  <a:lnTo>
                    <a:pt x="5" y="17"/>
                  </a:lnTo>
                  <a:lnTo>
                    <a:pt x="5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4" name="Freeform 73"/>
            <p:cNvSpPr>
              <a:spLocks/>
            </p:cNvSpPr>
            <p:nvPr/>
          </p:nvSpPr>
          <p:spPr bwMode="auto">
            <a:xfrm rot="5244914">
              <a:off x="1338" y="2731"/>
              <a:ext cx="146" cy="293"/>
            </a:xfrm>
            <a:custGeom>
              <a:avLst/>
              <a:gdLst>
                <a:gd name="T0" fmla="*/ 29 w 30"/>
                <a:gd name="T1" fmla="*/ 207 h 208"/>
                <a:gd name="T2" fmla="*/ 6 w 30"/>
                <a:gd name="T3" fmla="*/ 104 h 208"/>
                <a:gd name="T4" fmla="*/ 0 w 30"/>
                <a:gd name="T5" fmla="*/ 92 h 208"/>
                <a:gd name="T6" fmla="*/ 12 w 30"/>
                <a:gd name="T7" fmla="*/ 0 h 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208"/>
                <a:gd name="T14" fmla="*/ 30 w 30"/>
                <a:gd name="T15" fmla="*/ 208 h 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208">
                  <a:moveTo>
                    <a:pt x="29" y="207"/>
                  </a:moveTo>
                  <a:lnTo>
                    <a:pt x="6" y="104"/>
                  </a:lnTo>
                  <a:lnTo>
                    <a:pt x="0" y="92"/>
                  </a:lnTo>
                  <a:lnTo>
                    <a:pt x="12" y="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5" name="Freeform 74"/>
            <p:cNvSpPr>
              <a:spLocks/>
            </p:cNvSpPr>
            <p:nvPr/>
          </p:nvSpPr>
          <p:spPr bwMode="auto">
            <a:xfrm rot="5244914">
              <a:off x="1315" y="2804"/>
              <a:ext cx="146" cy="293"/>
            </a:xfrm>
            <a:custGeom>
              <a:avLst/>
              <a:gdLst>
                <a:gd name="T0" fmla="*/ 6 w 18"/>
                <a:gd name="T1" fmla="*/ 190 h 191"/>
                <a:gd name="T2" fmla="*/ 0 w 18"/>
                <a:gd name="T3" fmla="*/ 127 h 191"/>
                <a:gd name="T4" fmla="*/ 0 w 18"/>
                <a:gd name="T5" fmla="*/ 70 h 191"/>
                <a:gd name="T6" fmla="*/ 6 w 18"/>
                <a:gd name="T7" fmla="*/ 6 h 191"/>
                <a:gd name="T8" fmla="*/ 17 w 18"/>
                <a:gd name="T9" fmla="*/ 0 h 191"/>
                <a:gd name="T10" fmla="*/ 0 w 18"/>
                <a:gd name="T11" fmla="*/ 70 h 1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191"/>
                <a:gd name="T20" fmla="*/ 18 w 18"/>
                <a:gd name="T21" fmla="*/ 191 h 19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191">
                  <a:moveTo>
                    <a:pt x="6" y="190"/>
                  </a:moveTo>
                  <a:lnTo>
                    <a:pt x="0" y="127"/>
                  </a:lnTo>
                  <a:lnTo>
                    <a:pt x="0" y="70"/>
                  </a:lnTo>
                  <a:lnTo>
                    <a:pt x="6" y="6"/>
                  </a:lnTo>
                  <a:lnTo>
                    <a:pt x="17" y="0"/>
                  </a:lnTo>
                  <a:lnTo>
                    <a:pt x="0" y="70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6" name="Freeform 75"/>
            <p:cNvSpPr>
              <a:spLocks/>
            </p:cNvSpPr>
            <p:nvPr/>
          </p:nvSpPr>
          <p:spPr bwMode="auto">
            <a:xfrm rot="5244914">
              <a:off x="1218" y="2649"/>
              <a:ext cx="146" cy="293"/>
            </a:xfrm>
            <a:custGeom>
              <a:avLst/>
              <a:gdLst>
                <a:gd name="T0" fmla="*/ 12 w 35"/>
                <a:gd name="T1" fmla="*/ 0 h 47"/>
                <a:gd name="T2" fmla="*/ 6 w 35"/>
                <a:gd name="T3" fmla="*/ 5 h 47"/>
                <a:gd name="T4" fmla="*/ 0 w 35"/>
                <a:gd name="T5" fmla="*/ 28 h 47"/>
                <a:gd name="T6" fmla="*/ 12 w 35"/>
                <a:gd name="T7" fmla="*/ 40 h 47"/>
                <a:gd name="T8" fmla="*/ 34 w 35"/>
                <a:gd name="T9" fmla="*/ 46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7"/>
                <a:gd name="T17" fmla="*/ 35 w 35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7">
                  <a:moveTo>
                    <a:pt x="12" y="0"/>
                  </a:moveTo>
                  <a:lnTo>
                    <a:pt x="6" y="5"/>
                  </a:lnTo>
                  <a:lnTo>
                    <a:pt x="0" y="28"/>
                  </a:lnTo>
                  <a:lnTo>
                    <a:pt x="12" y="40"/>
                  </a:lnTo>
                  <a:lnTo>
                    <a:pt x="34" y="46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7" name="Freeform 76"/>
            <p:cNvSpPr>
              <a:spLocks/>
            </p:cNvSpPr>
            <p:nvPr/>
          </p:nvSpPr>
          <p:spPr bwMode="auto">
            <a:xfrm rot="5244914">
              <a:off x="1342" y="2589"/>
              <a:ext cx="146" cy="293"/>
            </a:xfrm>
            <a:custGeom>
              <a:avLst/>
              <a:gdLst>
                <a:gd name="T0" fmla="*/ 73 w 74"/>
                <a:gd name="T1" fmla="*/ 6 h 25"/>
                <a:gd name="T2" fmla="*/ 68 w 74"/>
                <a:gd name="T3" fmla="*/ 0 h 25"/>
                <a:gd name="T4" fmla="*/ 62 w 74"/>
                <a:gd name="T5" fmla="*/ 0 h 25"/>
                <a:gd name="T6" fmla="*/ 28 w 74"/>
                <a:gd name="T7" fmla="*/ 0 h 25"/>
                <a:gd name="T8" fmla="*/ 0 w 74"/>
                <a:gd name="T9" fmla="*/ 24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"/>
                <a:gd name="T16" fmla="*/ 0 h 25"/>
                <a:gd name="T17" fmla="*/ 74 w 74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" h="25">
                  <a:moveTo>
                    <a:pt x="73" y="6"/>
                  </a:moveTo>
                  <a:lnTo>
                    <a:pt x="68" y="0"/>
                  </a:lnTo>
                  <a:lnTo>
                    <a:pt x="62" y="0"/>
                  </a:lnTo>
                  <a:lnTo>
                    <a:pt x="28" y="0"/>
                  </a:lnTo>
                  <a:lnTo>
                    <a:pt x="0" y="24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8" name="Freeform 77"/>
            <p:cNvSpPr>
              <a:spLocks/>
            </p:cNvSpPr>
            <p:nvPr/>
          </p:nvSpPr>
          <p:spPr bwMode="auto">
            <a:xfrm rot="5244914">
              <a:off x="1340" y="2679"/>
              <a:ext cx="146" cy="293"/>
            </a:xfrm>
            <a:custGeom>
              <a:avLst/>
              <a:gdLst>
                <a:gd name="T0" fmla="*/ 73 w 74"/>
                <a:gd name="T1" fmla="*/ 12 h 13"/>
                <a:gd name="T2" fmla="*/ 62 w 74"/>
                <a:gd name="T3" fmla="*/ 6 h 13"/>
                <a:gd name="T4" fmla="*/ 57 w 74"/>
                <a:gd name="T5" fmla="*/ 6 h 13"/>
                <a:gd name="T6" fmla="*/ 28 w 74"/>
                <a:gd name="T7" fmla="*/ 0 h 13"/>
                <a:gd name="T8" fmla="*/ 0 w 74"/>
                <a:gd name="T9" fmla="*/ 12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"/>
                <a:gd name="T16" fmla="*/ 0 h 13"/>
                <a:gd name="T17" fmla="*/ 74 w 74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" h="13">
                  <a:moveTo>
                    <a:pt x="73" y="12"/>
                  </a:moveTo>
                  <a:lnTo>
                    <a:pt x="62" y="6"/>
                  </a:lnTo>
                  <a:lnTo>
                    <a:pt x="57" y="6"/>
                  </a:lnTo>
                  <a:lnTo>
                    <a:pt x="28" y="0"/>
                  </a:lnTo>
                  <a:lnTo>
                    <a:pt x="0" y="12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9" name="Freeform 78"/>
            <p:cNvSpPr>
              <a:spLocks/>
            </p:cNvSpPr>
            <p:nvPr/>
          </p:nvSpPr>
          <p:spPr bwMode="auto">
            <a:xfrm rot="5244914">
              <a:off x="1339" y="2759"/>
              <a:ext cx="146" cy="293"/>
            </a:xfrm>
            <a:custGeom>
              <a:avLst/>
              <a:gdLst>
                <a:gd name="T0" fmla="*/ 73 w 74"/>
                <a:gd name="T1" fmla="*/ 11 h 12"/>
                <a:gd name="T2" fmla="*/ 62 w 74"/>
                <a:gd name="T3" fmla="*/ 11 h 12"/>
                <a:gd name="T4" fmla="*/ 56 w 74"/>
                <a:gd name="T5" fmla="*/ 6 h 12"/>
                <a:gd name="T6" fmla="*/ 28 w 74"/>
                <a:gd name="T7" fmla="*/ 0 h 12"/>
                <a:gd name="T8" fmla="*/ 0 w 74"/>
                <a:gd name="T9" fmla="*/ 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"/>
                <a:gd name="T16" fmla="*/ 0 h 12"/>
                <a:gd name="T17" fmla="*/ 74 w 74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" h="12">
                  <a:moveTo>
                    <a:pt x="73" y="11"/>
                  </a:moveTo>
                  <a:lnTo>
                    <a:pt x="62" y="11"/>
                  </a:lnTo>
                  <a:lnTo>
                    <a:pt x="56" y="6"/>
                  </a:lnTo>
                  <a:lnTo>
                    <a:pt x="28" y="0"/>
                  </a:lnTo>
                  <a:lnTo>
                    <a:pt x="0" y="6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0" name="Freeform 79"/>
            <p:cNvSpPr>
              <a:spLocks/>
            </p:cNvSpPr>
            <p:nvPr/>
          </p:nvSpPr>
          <p:spPr bwMode="auto">
            <a:xfrm rot="5244914">
              <a:off x="1345" y="2827"/>
              <a:ext cx="146" cy="293"/>
            </a:xfrm>
            <a:custGeom>
              <a:avLst/>
              <a:gdLst>
                <a:gd name="T0" fmla="*/ 51 w 52"/>
                <a:gd name="T1" fmla="*/ 17 h 18"/>
                <a:gd name="T2" fmla="*/ 45 w 52"/>
                <a:gd name="T3" fmla="*/ 12 h 18"/>
                <a:gd name="T4" fmla="*/ 39 w 52"/>
                <a:gd name="T5" fmla="*/ 6 h 18"/>
                <a:gd name="T6" fmla="*/ 23 w 52"/>
                <a:gd name="T7" fmla="*/ 0 h 18"/>
                <a:gd name="T8" fmla="*/ 0 w 52"/>
                <a:gd name="T9" fmla="*/ 1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8"/>
                <a:gd name="T17" fmla="*/ 52 w 52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8">
                  <a:moveTo>
                    <a:pt x="51" y="17"/>
                  </a:moveTo>
                  <a:lnTo>
                    <a:pt x="45" y="12"/>
                  </a:lnTo>
                  <a:lnTo>
                    <a:pt x="39" y="6"/>
                  </a:lnTo>
                  <a:lnTo>
                    <a:pt x="23" y="0"/>
                  </a:lnTo>
                  <a:lnTo>
                    <a:pt x="0" y="12"/>
                  </a:lnTo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1" name="Freeform 80"/>
            <p:cNvSpPr>
              <a:spLocks/>
            </p:cNvSpPr>
            <p:nvPr/>
          </p:nvSpPr>
          <p:spPr bwMode="auto">
            <a:xfrm rot="5244914">
              <a:off x="1363" y="3056"/>
              <a:ext cx="146" cy="293"/>
            </a:xfrm>
            <a:custGeom>
              <a:avLst/>
              <a:gdLst>
                <a:gd name="T0" fmla="*/ 0 w 334"/>
                <a:gd name="T1" fmla="*/ 34 h 35"/>
                <a:gd name="T2" fmla="*/ 102 w 334"/>
                <a:gd name="T3" fmla="*/ 29 h 35"/>
                <a:gd name="T4" fmla="*/ 192 w 334"/>
                <a:gd name="T5" fmla="*/ 17 h 35"/>
                <a:gd name="T6" fmla="*/ 220 w 334"/>
                <a:gd name="T7" fmla="*/ 17 h 35"/>
                <a:gd name="T8" fmla="*/ 243 w 334"/>
                <a:gd name="T9" fmla="*/ 11 h 35"/>
                <a:gd name="T10" fmla="*/ 293 w 334"/>
                <a:gd name="T11" fmla="*/ 5 h 35"/>
                <a:gd name="T12" fmla="*/ 305 w 334"/>
                <a:gd name="T13" fmla="*/ 5 h 35"/>
                <a:gd name="T14" fmla="*/ 316 w 334"/>
                <a:gd name="T15" fmla="*/ 5 h 35"/>
                <a:gd name="T16" fmla="*/ 333 w 334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4"/>
                <a:gd name="T28" fmla="*/ 0 h 35"/>
                <a:gd name="T29" fmla="*/ 334 w 334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4" h="35">
                  <a:moveTo>
                    <a:pt x="0" y="34"/>
                  </a:moveTo>
                  <a:lnTo>
                    <a:pt x="102" y="29"/>
                  </a:lnTo>
                  <a:lnTo>
                    <a:pt x="192" y="17"/>
                  </a:lnTo>
                  <a:lnTo>
                    <a:pt x="220" y="17"/>
                  </a:lnTo>
                  <a:lnTo>
                    <a:pt x="243" y="11"/>
                  </a:lnTo>
                  <a:lnTo>
                    <a:pt x="293" y="5"/>
                  </a:lnTo>
                  <a:lnTo>
                    <a:pt x="305" y="5"/>
                  </a:lnTo>
                  <a:lnTo>
                    <a:pt x="316" y="5"/>
                  </a:lnTo>
                  <a:lnTo>
                    <a:pt x="33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2" name="Freeform 83"/>
            <p:cNvSpPr>
              <a:spLocks/>
            </p:cNvSpPr>
            <p:nvPr/>
          </p:nvSpPr>
          <p:spPr bwMode="auto">
            <a:xfrm rot="5244914">
              <a:off x="1390" y="3186"/>
              <a:ext cx="146" cy="293"/>
            </a:xfrm>
            <a:custGeom>
              <a:avLst/>
              <a:gdLst>
                <a:gd name="T0" fmla="*/ 0 w 29"/>
                <a:gd name="T1" fmla="*/ 6 h 18"/>
                <a:gd name="T2" fmla="*/ 23 w 29"/>
                <a:gd name="T3" fmla="*/ 0 h 18"/>
                <a:gd name="T4" fmla="*/ 28 w 29"/>
                <a:gd name="T5" fmla="*/ 17 h 18"/>
                <a:gd name="T6" fmla="*/ 0 60000 65536"/>
                <a:gd name="T7" fmla="*/ 0 60000 65536"/>
                <a:gd name="T8" fmla="*/ 0 60000 65536"/>
                <a:gd name="T9" fmla="*/ 0 w 29"/>
                <a:gd name="T10" fmla="*/ 0 h 18"/>
                <a:gd name="T11" fmla="*/ 29 w 29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18">
                  <a:moveTo>
                    <a:pt x="0" y="6"/>
                  </a:moveTo>
                  <a:lnTo>
                    <a:pt x="23" y="0"/>
                  </a:lnTo>
                  <a:lnTo>
                    <a:pt x="28" y="17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3" name="Freeform 84"/>
            <p:cNvSpPr>
              <a:spLocks/>
            </p:cNvSpPr>
            <p:nvPr/>
          </p:nvSpPr>
          <p:spPr bwMode="auto">
            <a:xfrm rot="5244914">
              <a:off x="1369" y="3189"/>
              <a:ext cx="146" cy="293"/>
            </a:xfrm>
            <a:custGeom>
              <a:avLst/>
              <a:gdLst>
                <a:gd name="T0" fmla="*/ 12 w 13"/>
                <a:gd name="T1" fmla="*/ 24 h 25"/>
                <a:gd name="T2" fmla="*/ 12 w 13"/>
                <a:gd name="T3" fmla="*/ 18 h 25"/>
                <a:gd name="T4" fmla="*/ 12 w 13"/>
                <a:gd name="T5" fmla="*/ 12 h 25"/>
                <a:gd name="T6" fmla="*/ 6 w 13"/>
                <a:gd name="T7" fmla="*/ 6 h 25"/>
                <a:gd name="T8" fmla="*/ 0 w 1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5"/>
                <a:gd name="T17" fmla="*/ 13 w 1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5">
                  <a:moveTo>
                    <a:pt x="12" y="24"/>
                  </a:moveTo>
                  <a:lnTo>
                    <a:pt x="12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4" name="Freeform 85"/>
            <p:cNvSpPr>
              <a:spLocks/>
            </p:cNvSpPr>
            <p:nvPr/>
          </p:nvSpPr>
          <p:spPr bwMode="auto">
            <a:xfrm rot="5244914">
              <a:off x="1276" y="3230"/>
              <a:ext cx="146" cy="293"/>
            </a:xfrm>
            <a:custGeom>
              <a:avLst/>
              <a:gdLst>
                <a:gd name="T0" fmla="*/ 0 w 6"/>
                <a:gd name="T1" fmla="*/ 40 h 41"/>
                <a:gd name="T2" fmla="*/ 0 w 6"/>
                <a:gd name="T3" fmla="*/ 34 h 41"/>
                <a:gd name="T4" fmla="*/ 5 w 6"/>
                <a:gd name="T5" fmla="*/ 23 h 41"/>
                <a:gd name="T6" fmla="*/ 5 w 6"/>
                <a:gd name="T7" fmla="*/ 11 h 41"/>
                <a:gd name="T8" fmla="*/ 5 w 6"/>
                <a:gd name="T9" fmla="*/ 6 h 41"/>
                <a:gd name="T10" fmla="*/ 5 w 6"/>
                <a:gd name="T11" fmla="*/ 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"/>
                <a:gd name="T19" fmla="*/ 0 h 41"/>
                <a:gd name="T20" fmla="*/ 6 w 6"/>
                <a:gd name="T21" fmla="*/ 41 h 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" h="41">
                  <a:moveTo>
                    <a:pt x="0" y="40"/>
                  </a:moveTo>
                  <a:lnTo>
                    <a:pt x="0" y="34"/>
                  </a:lnTo>
                  <a:lnTo>
                    <a:pt x="5" y="23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5" name="Freeform 86"/>
            <p:cNvSpPr>
              <a:spLocks/>
            </p:cNvSpPr>
            <p:nvPr/>
          </p:nvSpPr>
          <p:spPr bwMode="auto">
            <a:xfrm rot="5244914">
              <a:off x="1302" y="2510"/>
              <a:ext cx="146" cy="293"/>
            </a:xfrm>
            <a:custGeom>
              <a:avLst/>
              <a:gdLst>
                <a:gd name="T0" fmla="*/ 45 w 170"/>
                <a:gd name="T1" fmla="*/ 173 h 180"/>
                <a:gd name="T2" fmla="*/ 23 w 170"/>
                <a:gd name="T3" fmla="*/ 179 h 180"/>
                <a:gd name="T4" fmla="*/ 0 w 170"/>
                <a:gd name="T5" fmla="*/ 173 h 180"/>
                <a:gd name="T6" fmla="*/ 12 w 170"/>
                <a:gd name="T7" fmla="*/ 115 h 180"/>
                <a:gd name="T8" fmla="*/ 12 w 170"/>
                <a:gd name="T9" fmla="*/ 75 h 180"/>
                <a:gd name="T10" fmla="*/ 17 w 170"/>
                <a:gd name="T11" fmla="*/ 29 h 180"/>
                <a:gd name="T12" fmla="*/ 12 w 170"/>
                <a:gd name="T13" fmla="*/ 6 h 180"/>
                <a:gd name="T14" fmla="*/ 34 w 170"/>
                <a:gd name="T15" fmla="*/ 6 h 180"/>
                <a:gd name="T16" fmla="*/ 40 w 170"/>
                <a:gd name="T17" fmla="*/ 6 h 180"/>
                <a:gd name="T18" fmla="*/ 62 w 170"/>
                <a:gd name="T19" fmla="*/ 0 h 180"/>
                <a:gd name="T20" fmla="*/ 85 w 170"/>
                <a:gd name="T21" fmla="*/ 0 h 180"/>
                <a:gd name="T22" fmla="*/ 107 w 170"/>
                <a:gd name="T23" fmla="*/ 17 h 180"/>
                <a:gd name="T24" fmla="*/ 113 w 170"/>
                <a:gd name="T25" fmla="*/ 17 h 180"/>
                <a:gd name="T26" fmla="*/ 124 w 170"/>
                <a:gd name="T27" fmla="*/ 6 h 180"/>
                <a:gd name="T28" fmla="*/ 147 w 170"/>
                <a:gd name="T29" fmla="*/ 6 h 180"/>
                <a:gd name="T30" fmla="*/ 136 w 170"/>
                <a:gd name="T31" fmla="*/ 29 h 180"/>
                <a:gd name="T32" fmla="*/ 130 w 170"/>
                <a:gd name="T33" fmla="*/ 52 h 180"/>
                <a:gd name="T34" fmla="*/ 130 w 170"/>
                <a:gd name="T35" fmla="*/ 58 h 180"/>
                <a:gd name="T36" fmla="*/ 130 w 170"/>
                <a:gd name="T37" fmla="*/ 64 h 180"/>
                <a:gd name="T38" fmla="*/ 147 w 170"/>
                <a:gd name="T39" fmla="*/ 104 h 180"/>
                <a:gd name="T40" fmla="*/ 164 w 170"/>
                <a:gd name="T41" fmla="*/ 133 h 180"/>
                <a:gd name="T42" fmla="*/ 169 w 170"/>
                <a:gd name="T43" fmla="*/ 144 h 180"/>
                <a:gd name="T44" fmla="*/ 158 w 170"/>
                <a:gd name="T45" fmla="*/ 150 h 180"/>
                <a:gd name="T46" fmla="*/ 147 w 170"/>
                <a:gd name="T47" fmla="*/ 161 h 180"/>
                <a:gd name="T48" fmla="*/ 141 w 170"/>
                <a:gd name="T49" fmla="*/ 167 h 180"/>
                <a:gd name="T50" fmla="*/ 113 w 170"/>
                <a:gd name="T51" fmla="*/ 179 h 180"/>
                <a:gd name="T52" fmla="*/ 91 w 170"/>
                <a:gd name="T53" fmla="*/ 173 h 180"/>
                <a:gd name="T54" fmla="*/ 68 w 170"/>
                <a:gd name="T55" fmla="*/ 161 h 180"/>
                <a:gd name="T56" fmla="*/ 51 w 170"/>
                <a:gd name="T57" fmla="*/ 173 h 180"/>
                <a:gd name="T58" fmla="*/ 45 w 170"/>
                <a:gd name="T59" fmla="*/ 173 h 180"/>
                <a:gd name="T60" fmla="*/ 45 w 170"/>
                <a:gd name="T61" fmla="*/ 173 h 18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70"/>
                <a:gd name="T94" fmla="*/ 0 h 180"/>
                <a:gd name="T95" fmla="*/ 170 w 170"/>
                <a:gd name="T96" fmla="*/ 180 h 18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70" h="180">
                  <a:moveTo>
                    <a:pt x="45" y="173"/>
                  </a:moveTo>
                  <a:lnTo>
                    <a:pt x="23" y="179"/>
                  </a:lnTo>
                  <a:lnTo>
                    <a:pt x="0" y="173"/>
                  </a:lnTo>
                  <a:lnTo>
                    <a:pt x="12" y="115"/>
                  </a:lnTo>
                  <a:lnTo>
                    <a:pt x="12" y="75"/>
                  </a:lnTo>
                  <a:lnTo>
                    <a:pt x="17" y="29"/>
                  </a:lnTo>
                  <a:lnTo>
                    <a:pt x="12" y="6"/>
                  </a:lnTo>
                  <a:lnTo>
                    <a:pt x="34" y="6"/>
                  </a:lnTo>
                  <a:lnTo>
                    <a:pt x="40" y="6"/>
                  </a:lnTo>
                  <a:lnTo>
                    <a:pt x="62" y="0"/>
                  </a:lnTo>
                  <a:lnTo>
                    <a:pt x="85" y="0"/>
                  </a:lnTo>
                  <a:lnTo>
                    <a:pt x="107" y="17"/>
                  </a:lnTo>
                  <a:lnTo>
                    <a:pt x="113" y="17"/>
                  </a:lnTo>
                  <a:lnTo>
                    <a:pt x="124" y="6"/>
                  </a:lnTo>
                  <a:lnTo>
                    <a:pt x="147" y="6"/>
                  </a:lnTo>
                  <a:lnTo>
                    <a:pt x="136" y="29"/>
                  </a:lnTo>
                  <a:lnTo>
                    <a:pt x="130" y="52"/>
                  </a:lnTo>
                  <a:lnTo>
                    <a:pt x="130" y="58"/>
                  </a:lnTo>
                  <a:lnTo>
                    <a:pt x="130" y="64"/>
                  </a:lnTo>
                  <a:lnTo>
                    <a:pt x="147" y="104"/>
                  </a:lnTo>
                  <a:lnTo>
                    <a:pt x="164" y="133"/>
                  </a:lnTo>
                  <a:lnTo>
                    <a:pt x="169" y="144"/>
                  </a:lnTo>
                  <a:lnTo>
                    <a:pt x="158" y="150"/>
                  </a:lnTo>
                  <a:lnTo>
                    <a:pt x="147" y="161"/>
                  </a:lnTo>
                  <a:lnTo>
                    <a:pt x="141" y="167"/>
                  </a:lnTo>
                  <a:lnTo>
                    <a:pt x="113" y="179"/>
                  </a:lnTo>
                  <a:lnTo>
                    <a:pt x="91" y="173"/>
                  </a:lnTo>
                  <a:lnTo>
                    <a:pt x="68" y="161"/>
                  </a:lnTo>
                  <a:lnTo>
                    <a:pt x="51" y="173"/>
                  </a:lnTo>
                  <a:lnTo>
                    <a:pt x="45" y="173"/>
                  </a:lnTo>
                  <a:close/>
                </a:path>
              </a:pathLst>
            </a:custGeom>
            <a:solidFill>
              <a:srgbClr val="BBBBBB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6" name="Freeform 87"/>
            <p:cNvSpPr>
              <a:spLocks/>
            </p:cNvSpPr>
            <p:nvPr/>
          </p:nvSpPr>
          <p:spPr bwMode="auto">
            <a:xfrm rot="5244914">
              <a:off x="1257" y="2530"/>
              <a:ext cx="146" cy="293"/>
            </a:xfrm>
            <a:custGeom>
              <a:avLst/>
              <a:gdLst>
                <a:gd name="T0" fmla="*/ 0 w 69"/>
                <a:gd name="T1" fmla="*/ 51 h 52"/>
                <a:gd name="T2" fmla="*/ 68 w 69"/>
                <a:gd name="T3" fmla="*/ 0 h 52"/>
                <a:gd name="T4" fmla="*/ 0 60000 65536"/>
                <a:gd name="T5" fmla="*/ 0 60000 65536"/>
                <a:gd name="T6" fmla="*/ 0 w 69"/>
                <a:gd name="T7" fmla="*/ 0 h 52"/>
                <a:gd name="T8" fmla="*/ 69 w 69"/>
                <a:gd name="T9" fmla="*/ 52 h 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9" h="52">
                  <a:moveTo>
                    <a:pt x="0" y="51"/>
                  </a:moveTo>
                  <a:lnTo>
                    <a:pt x="68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17" name="Freeform 88"/>
            <p:cNvSpPr>
              <a:spLocks/>
            </p:cNvSpPr>
            <p:nvPr/>
          </p:nvSpPr>
          <p:spPr bwMode="auto">
            <a:xfrm rot="5244914">
              <a:off x="1320" y="2481"/>
              <a:ext cx="146" cy="293"/>
            </a:xfrm>
            <a:custGeom>
              <a:avLst/>
              <a:gdLst>
                <a:gd name="T0" fmla="*/ 90 w 91"/>
                <a:gd name="T1" fmla="*/ 17 h 93"/>
                <a:gd name="T2" fmla="*/ 0 w 91"/>
                <a:gd name="T3" fmla="*/ 92 h 93"/>
                <a:gd name="T4" fmla="*/ 90 w 91"/>
                <a:gd name="T5" fmla="*/ 0 h 93"/>
                <a:gd name="T6" fmla="*/ 0 60000 65536"/>
                <a:gd name="T7" fmla="*/ 0 60000 65536"/>
                <a:gd name="T8" fmla="*/ 0 60000 65536"/>
                <a:gd name="T9" fmla="*/ 0 w 91"/>
                <a:gd name="T10" fmla="*/ 0 h 93"/>
                <a:gd name="T11" fmla="*/ 91 w 91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93">
                  <a:moveTo>
                    <a:pt x="90" y="17"/>
                  </a:moveTo>
                  <a:lnTo>
                    <a:pt x="0" y="92"/>
                  </a:lnTo>
                  <a:lnTo>
                    <a:pt x="9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99458" name="Line 98"/>
          <p:cNvSpPr>
            <a:spLocks noChangeShapeType="1"/>
          </p:cNvSpPr>
          <p:nvPr/>
        </p:nvSpPr>
        <p:spPr bwMode="auto">
          <a:xfrm flipH="1">
            <a:off x="5086350" y="5300663"/>
            <a:ext cx="865188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59" name="Line 99"/>
          <p:cNvSpPr>
            <a:spLocks noChangeShapeType="1"/>
          </p:cNvSpPr>
          <p:nvPr/>
        </p:nvSpPr>
        <p:spPr bwMode="auto">
          <a:xfrm>
            <a:off x="7248526" y="5157788"/>
            <a:ext cx="936625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60" name="Line 100"/>
          <p:cNvSpPr>
            <a:spLocks noChangeShapeType="1"/>
          </p:cNvSpPr>
          <p:nvPr/>
        </p:nvSpPr>
        <p:spPr bwMode="auto">
          <a:xfrm>
            <a:off x="7248526" y="5438775"/>
            <a:ext cx="936625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61" name="Line 101"/>
          <p:cNvSpPr>
            <a:spLocks noChangeShapeType="1"/>
          </p:cNvSpPr>
          <p:nvPr/>
        </p:nvSpPr>
        <p:spPr bwMode="auto">
          <a:xfrm>
            <a:off x="7250114" y="5734050"/>
            <a:ext cx="936625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62" name="Line 102"/>
          <p:cNvSpPr>
            <a:spLocks noChangeShapeType="1"/>
          </p:cNvSpPr>
          <p:nvPr/>
        </p:nvSpPr>
        <p:spPr bwMode="auto">
          <a:xfrm flipH="1">
            <a:off x="5086350" y="5589588"/>
            <a:ext cx="865188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63" name="Line 103"/>
          <p:cNvSpPr>
            <a:spLocks noChangeShapeType="1"/>
          </p:cNvSpPr>
          <p:nvPr/>
        </p:nvSpPr>
        <p:spPr bwMode="auto">
          <a:xfrm flipH="1">
            <a:off x="5086350" y="5876925"/>
            <a:ext cx="865188" cy="0"/>
          </a:xfrm>
          <a:prstGeom prst="line">
            <a:avLst/>
          </a:prstGeom>
          <a:ln w="22225">
            <a:solidFill>
              <a:schemeClr val="tx2"/>
            </a:solidFill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>
              <a:defRPr/>
            </a:pPr>
            <a:endParaRPr lang="zh-CN" altLang="en-US"/>
          </a:p>
        </p:txBody>
      </p:sp>
      <p:sp>
        <p:nvSpPr>
          <p:cNvPr id="399470" name="Freeform 110"/>
          <p:cNvSpPr>
            <a:spLocks/>
          </p:cNvSpPr>
          <p:nvPr/>
        </p:nvSpPr>
        <p:spPr bwMode="auto">
          <a:xfrm>
            <a:off x="5303839" y="4222234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9471" name="Freeform 111"/>
          <p:cNvSpPr>
            <a:spLocks/>
          </p:cNvSpPr>
          <p:nvPr/>
        </p:nvSpPr>
        <p:spPr bwMode="auto">
          <a:xfrm rot="4552091">
            <a:off x="6896101" y="4087296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287" name="Freeform 114"/>
          <p:cNvSpPr>
            <a:spLocks/>
          </p:cNvSpPr>
          <p:nvPr/>
        </p:nvSpPr>
        <p:spPr bwMode="auto">
          <a:xfrm>
            <a:off x="5303839" y="3993634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288" name="Freeform 115"/>
          <p:cNvSpPr>
            <a:spLocks/>
          </p:cNvSpPr>
          <p:nvPr/>
        </p:nvSpPr>
        <p:spPr bwMode="auto">
          <a:xfrm rot="4552091">
            <a:off x="6969126" y="3914259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9476" name="Freeform 116"/>
          <p:cNvSpPr>
            <a:spLocks/>
          </p:cNvSpPr>
          <p:nvPr/>
        </p:nvSpPr>
        <p:spPr bwMode="auto">
          <a:xfrm>
            <a:off x="5260976" y="3861871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9477" name="Freeform 117"/>
          <p:cNvSpPr>
            <a:spLocks/>
          </p:cNvSpPr>
          <p:nvPr/>
        </p:nvSpPr>
        <p:spPr bwMode="auto">
          <a:xfrm rot="4552091">
            <a:off x="7040564" y="3769796"/>
            <a:ext cx="1050925" cy="369332"/>
          </a:xfrm>
          <a:custGeom>
            <a:avLst/>
            <a:gdLst>
              <a:gd name="T0" fmla="*/ 2147483647 w 427"/>
              <a:gd name="T1" fmla="*/ 2147483647 h 306"/>
              <a:gd name="T2" fmla="*/ 2147483647 w 427"/>
              <a:gd name="T3" fmla="*/ 2147483647 h 306"/>
              <a:gd name="T4" fmla="*/ 2147483647 w 427"/>
              <a:gd name="T5" fmla="*/ 2147483647 h 306"/>
              <a:gd name="T6" fmla="*/ 2147483647 w 427"/>
              <a:gd name="T7" fmla="*/ 2147483647 h 306"/>
              <a:gd name="T8" fmla="*/ 2147483647 w 427"/>
              <a:gd name="T9" fmla="*/ 2147483647 h 306"/>
              <a:gd name="T10" fmla="*/ 2147483647 w 427"/>
              <a:gd name="T11" fmla="*/ 2147483647 h 306"/>
              <a:gd name="T12" fmla="*/ 2147483647 w 427"/>
              <a:gd name="T13" fmla="*/ 2147483647 h 306"/>
              <a:gd name="T14" fmla="*/ 2147483647 w 427"/>
              <a:gd name="T15" fmla="*/ 2147483647 h 306"/>
              <a:gd name="T16" fmla="*/ 2147483647 w 427"/>
              <a:gd name="T17" fmla="*/ 2147483647 h 306"/>
              <a:gd name="T18" fmla="*/ 2147483647 w 427"/>
              <a:gd name="T19" fmla="*/ 0 h 306"/>
              <a:gd name="T20" fmla="*/ 2147483647 w 427"/>
              <a:gd name="T21" fmla="*/ 2147483647 h 306"/>
              <a:gd name="T22" fmla="*/ 2147483647 w 427"/>
              <a:gd name="T23" fmla="*/ 2147483647 h 306"/>
              <a:gd name="T24" fmla="*/ 2147483647 w 427"/>
              <a:gd name="T25" fmla="*/ 2147483647 h 306"/>
              <a:gd name="T26" fmla="*/ 2147483647 w 427"/>
              <a:gd name="T27" fmla="*/ 2147483647 h 306"/>
              <a:gd name="T28" fmla="*/ 2147483647 w 427"/>
              <a:gd name="T29" fmla="*/ 2147483647 h 306"/>
              <a:gd name="T30" fmla="*/ 2147483647 w 427"/>
              <a:gd name="T31" fmla="*/ 2147483647 h 306"/>
              <a:gd name="T32" fmla="*/ 2147483647 w 427"/>
              <a:gd name="T33" fmla="*/ 2147483647 h 306"/>
              <a:gd name="T34" fmla="*/ 2147483647 w 427"/>
              <a:gd name="T35" fmla="*/ 2147483647 h 306"/>
              <a:gd name="T36" fmla="*/ 2147483647 w 427"/>
              <a:gd name="T37" fmla="*/ 2147483647 h 306"/>
              <a:gd name="T38" fmla="*/ 2147483647 w 427"/>
              <a:gd name="T39" fmla="*/ 2147483647 h 306"/>
              <a:gd name="T40" fmla="*/ 2147483647 w 427"/>
              <a:gd name="T41" fmla="*/ 2147483647 h 306"/>
              <a:gd name="T42" fmla="*/ 2147483647 w 427"/>
              <a:gd name="T43" fmla="*/ 2147483647 h 306"/>
              <a:gd name="T44" fmla="*/ 2147483647 w 427"/>
              <a:gd name="T45" fmla="*/ 2147483647 h 306"/>
              <a:gd name="T46" fmla="*/ 2147483647 w 427"/>
              <a:gd name="T47" fmla="*/ 2147483647 h 306"/>
              <a:gd name="T48" fmla="*/ 2147483647 w 427"/>
              <a:gd name="T49" fmla="*/ 2147483647 h 306"/>
              <a:gd name="T50" fmla="*/ 2147483647 w 427"/>
              <a:gd name="T51" fmla="*/ 2147483647 h 306"/>
              <a:gd name="T52" fmla="*/ 2147483647 w 427"/>
              <a:gd name="T53" fmla="*/ 2147483647 h 306"/>
              <a:gd name="T54" fmla="*/ 2147483647 w 427"/>
              <a:gd name="T55" fmla="*/ 2147483647 h 306"/>
              <a:gd name="T56" fmla="*/ 2147483647 w 427"/>
              <a:gd name="T57" fmla="*/ 2147483647 h 306"/>
              <a:gd name="T58" fmla="*/ 2147483647 w 427"/>
              <a:gd name="T59" fmla="*/ 2147483647 h 306"/>
              <a:gd name="T60" fmla="*/ 2147483647 w 427"/>
              <a:gd name="T61" fmla="*/ 2147483647 h 306"/>
              <a:gd name="T62" fmla="*/ 2147483647 w 427"/>
              <a:gd name="T63" fmla="*/ 2147483647 h 306"/>
              <a:gd name="T64" fmla="*/ 2147483647 w 427"/>
              <a:gd name="T65" fmla="*/ 2147483647 h 306"/>
              <a:gd name="T66" fmla="*/ 2147483647 w 427"/>
              <a:gd name="T67" fmla="*/ 2147483647 h 306"/>
              <a:gd name="T68" fmla="*/ 2147483647 w 427"/>
              <a:gd name="T69" fmla="*/ 2147483647 h 306"/>
              <a:gd name="T70" fmla="*/ 2147483647 w 427"/>
              <a:gd name="T71" fmla="*/ 2147483647 h 306"/>
              <a:gd name="T72" fmla="*/ 2147483647 w 427"/>
              <a:gd name="T73" fmla="*/ 2147483647 h 306"/>
              <a:gd name="T74" fmla="*/ 2147483647 w 427"/>
              <a:gd name="T75" fmla="*/ 2147483647 h 306"/>
              <a:gd name="T76" fmla="*/ 2147483647 w 427"/>
              <a:gd name="T77" fmla="*/ 2147483647 h 306"/>
              <a:gd name="T78" fmla="*/ 2147483647 w 427"/>
              <a:gd name="T79" fmla="*/ 2147483647 h 306"/>
              <a:gd name="T80" fmla="*/ 2147483647 w 427"/>
              <a:gd name="T81" fmla="*/ 2147483647 h 306"/>
              <a:gd name="T82" fmla="*/ 2147483647 w 427"/>
              <a:gd name="T83" fmla="*/ 2147483647 h 306"/>
              <a:gd name="T84" fmla="*/ 2147483647 w 427"/>
              <a:gd name="T85" fmla="*/ 2147483647 h 306"/>
              <a:gd name="T86" fmla="*/ 0 w 427"/>
              <a:gd name="T87" fmla="*/ 2147483647 h 306"/>
              <a:gd name="T88" fmla="*/ 2147483647 w 427"/>
              <a:gd name="T89" fmla="*/ 2147483647 h 306"/>
              <a:gd name="T90" fmla="*/ 2147483647 w 427"/>
              <a:gd name="T91" fmla="*/ 2147483647 h 306"/>
              <a:gd name="T92" fmla="*/ 2147483647 w 427"/>
              <a:gd name="T93" fmla="*/ 2147483647 h 306"/>
              <a:gd name="T94" fmla="*/ 2147483647 w 427"/>
              <a:gd name="T95" fmla="*/ 2147483647 h 306"/>
              <a:gd name="T96" fmla="*/ 2147483647 w 427"/>
              <a:gd name="T97" fmla="*/ 2147483647 h 306"/>
              <a:gd name="T98" fmla="*/ 2147483647 w 427"/>
              <a:gd name="T99" fmla="*/ 2147483647 h 306"/>
              <a:gd name="T100" fmla="*/ 2147483647 w 427"/>
              <a:gd name="T101" fmla="*/ 2147483647 h 306"/>
              <a:gd name="T102" fmla="*/ 2147483647 w 427"/>
              <a:gd name="T103" fmla="*/ 2147483647 h 306"/>
              <a:gd name="T104" fmla="*/ 2147483647 w 427"/>
              <a:gd name="T105" fmla="*/ 2147483647 h 306"/>
              <a:gd name="T106" fmla="*/ 2147483647 w 427"/>
              <a:gd name="T107" fmla="*/ 2147483647 h 306"/>
              <a:gd name="T108" fmla="*/ 2147483647 w 427"/>
              <a:gd name="T109" fmla="*/ 2147483647 h 306"/>
              <a:gd name="T110" fmla="*/ 2147483647 w 427"/>
              <a:gd name="T111" fmla="*/ 2147483647 h 30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427"/>
              <a:gd name="T169" fmla="*/ 0 h 306"/>
              <a:gd name="T170" fmla="*/ 427 w 427"/>
              <a:gd name="T171" fmla="*/ 306 h 30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427" h="306">
                <a:moveTo>
                  <a:pt x="362" y="136"/>
                </a:moveTo>
                <a:lnTo>
                  <a:pt x="362" y="136"/>
                </a:lnTo>
                <a:lnTo>
                  <a:pt x="362" y="137"/>
                </a:lnTo>
                <a:lnTo>
                  <a:pt x="363" y="137"/>
                </a:lnTo>
                <a:lnTo>
                  <a:pt x="363" y="138"/>
                </a:lnTo>
                <a:lnTo>
                  <a:pt x="364" y="139"/>
                </a:lnTo>
                <a:lnTo>
                  <a:pt x="364" y="140"/>
                </a:lnTo>
                <a:lnTo>
                  <a:pt x="365" y="141"/>
                </a:lnTo>
                <a:lnTo>
                  <a:pt x="366" y="142"/>
                </a:lnTo>
                <a:lnTo>
                  <a:pt x="367" y="144"/>
                </a:lnTo>
                <a:lnTo>
                  <a:pt x="368" y="145"/>
                </a:lnTo>
                <a:lnTo>
                  <a:pt x="369" y="147"/>
                </a:lnTo>
                <a:lnTo>
                  <a:pt x="370" y="149"/>
                </a:lnTo>
                <a:lnTo>
                  <a:pt x="371" y="151"/>
                </a:lnTo>
                <a:lnTo>
                  <a:pt x="373" y="154"/>
                </a:lnTo>
                <a:lnTo>
                  <a:pt x="374" y="156"/>
                </a:lnTo>
                <a:lnTo>
                  <a:pt x="375" y="158"/>
                </a:lnTo>
                <a:lnTo>
                  <a:pt x="377" y="161"/>
                </a:lnTo>
                <a:lnTo>
                  <a:pt x="378" y="163"/>
                </a:lnTo>
                <a:lnTo>
                  <a:pt x="379" y="165"/>
                </a:lnTo>
                <a:lnTo>
                  <a:pt x="380" y="167"/>
                </a:lnTo>
                <a:lnTo>
                  <a:pt x="381" y="168"/>
                </a:lnTo>
                <a:lnTo>
                  <a:pt x="382" y="170"/>
                </a:lnTo>
                <a:lnTo>
                  <a:pt x="383" y="171"/>
                </a:lnTo>
                <a:lnTo>
                  <a:pt x="384" y="172"/>
                </a:lnTo>
                <a:lnTo>
                  <a:pt x="384" y="173"/>
                </a:lnTo>
                <a:lnTo>
                  <a:pt x="385" y="174"/>
                </a:lnTo>
                <a:lnTo>
                  <a:pt x="385" y="175"/>
                </a:lnTo>
                <a:lnTo>
                  <a:pt x="386" y="175"/>
                </a:lnTo>
                <a:lnTo>
                  <a:pt x="386" y="176"/>
                </a:lnTo>
                <a:lnTo>
                  <a:pt x="386" y="175"/>
                </a:lnTo>
                <a:lnTo>
                  <a:pt x="387" y="173"/>
                </a:lnTo>
                <a:lnTo>
                  <a:pt x="387" y="172"/>
                </a:lnTo>
                <a:lnTo>
                  <a:pt x="388" y="170"/>
                </a:lnTo>
                <a:lnTo>
                  <a:pt x="389" y="168"/>
                </a:lnTo>
                <a:lnTo>
                  <a:pt x="390" y="166"/>
                </a:lnTo>
                <a:lnTo>
                  <a:pt x="390" y="163"/>
                </a:lnTo>
                <a:lnTo>
                  <a:pt x="391" y="160"/>
                </a:lnTo>
                <a:lnTo>
                  <a:pt x="393" y="157"/>
                </a:lnTo>
                <a:lnTo>
                  <a:pt x="394" y="153"/>
                </a:lnTo>
                <a:lnTo>
                  <a:pt x="395" y="149"/>
                </a:lnTo>
                <a:lnTo>
                  <a:pt x="397" y="145"/>
                </a:lnTo>
                <a:lnTo>
                  <a:pt x="398" y="140"/>
                </a:lnTo>
                <a:lnTo>
                  <a:pt x="400" y="135"/>
                </a:lnTo>
                <a:lnTo>
                  <a:pt x="402" y="130"/>
                </a:lnTo>
                <a:lnTo>
                  <a:pt x="403" y="125"/>
                </a:lnTo>
                <a:lnTo>
                  <a:pt x="405" y="119"/>
                </a:lnTo>
                <a:lnTo>
                  <a:pt x="407" y="114"/>
                </a:lnTo>
                <a:lnTo>
                  <a:pt x="408" y="109"/>
                </a:lnTo>
                <a:lnTo>
                  <a:pt x="409" y="103"/>
                </a:lnTo>
                <a:lnTo>
                  <a:pt x="411" y="98"/>
                </a:lnTo>
                <a:lnTo>
                  <a:pt x="412" y="93"/>
                </a:lnTo>
                <a:lnTo>
                  <a:pt x="413" y="87"/>
                </a:lnTo>
                <a:lnTo>
                  <a:pt x="414" y="81"/>
                </a:lnTo>
                <a:lnTo>
                  <a:pt x="415" y="76"/>
                </a:lnTo>
                <a:lnTo>
                  <a:pt x="417" y="70"/>
                </a:lnTo>
                <a:lnTo>
                  <a:pt x="417" y="64"/>
                </a:lnTo>
                <a:lnTo>
                  <a:pt x="418" y="59"/>
                </a:lnTo>
                <a:lnTo>
                  <a:pt x="419" y="53"/>
                </a:lnTo>
                <a:lnTo>
                  <a:pt x="420" y="47"/>
                </a:lnTo>
                <a:lnTo>
                  <a:pt x="421" y="41"/>
                </a:lnTo>
                <a:lnTo>
                  <a:pt x="421" y="36"/>
                </a:lnTo>
                <a:lnTo>
                  <a:pt x="422" y="31"/>
                </a:lnTo>
                <a:lnTo>
                  <a:pt x="423" y="26"/>
                </a:lnTo>
                <a:lnTo>
                  <a:pt x="423" y="22"/>
                </a:lnTo>
                <a:lnTo>
                  <a:pt x="424" y="18"/>
                </a:lnTo>
                <a:lnTo>
                  <a:pt x="424" y="15"/>
                </a:lnTo>
                <a:lnTo>
                  <a:pt x="425" y="12"/>
                </a:lnTo>
                <a:lnTo>
                  <a:pt x="425" y="9"/>
                </a:lnTo>
                <a:lnTo>
                  <a:pt x="425" y="7"/>
                </a:lnTo>
                <a:lnTo>
                  <a:pt x="425" y="5"/>
                </a:lnTo>
                <a:lnTo>
                  <a:pt x="426" y="3"/>
                </a:lnTo>
                <a:lnTo>
                  <a:pt x="426" y="2"/>
                </a:lnTo>
                <a:lnTo>
                  <a:pt x="426" y="1"/>
                </a:lnTo>
                <a:lnTo>
                  <a:pt x="426" y="0"/>
                </a:lnTo>
                <a:lnTo>
                  <a:pt x="425" y="1"/>
                </a:lnTo>
                <a:lnTo>
                  <a:pt x="424" y="2"/>
                </a:lnTo>
                <a:lnTo>
                  <a:pt x="424" y="3"/>
                </a:lnTo>
                <a:lnTo>
                  <a:pt x="423" y="4"/>
                </a:lnTo>
                <a:lnTo>
                  <a:pt x="422" y="5"/>
                </a:lnTo>
                <a:lnTo>
                  <a:pt x="421" y="6"/>
                </a:lnTo>
                <a:lnTo>
                  <a:pt x="420" y="8"/>
                </a:lnTo>
                <a:lnTo>
                  <a:pt x="418" y="9"/>
                </a:lnTo>
                <a:lnTo>
                  <a:pt x="417" y="11"/>
                </a:lnTo>
                <a:lnTo>
                  <a:pt x="415" y="13"/>
                </a:lnTo>
                <a:lnTo>
                  <a:pt x="414" y="15"/>
                </a:lnTo>
                <a:lnTo>
                  <a:pt x="412" y="17"/>
                </a:lnTo>
                <a:lnTo>
                  <a:pt x="410" y="20"/>
                </a:lnTo>
                <a:lnTo>
                  <a:pt x="408" y="22"/>
                </a:lnTo>
                <a:lnTo>
                  <a:pt x="406" y="24"/>
                </a:lnTo>
                <a:lnTo>
                  <a:pt x="404" y="27"/>
                </a:lnTo>
                <a:lnTo>
                  <a:pt x="401" y="29"/>
                </a:lnTo>
                <a:lnTo>
                  <a:pt x="399" y="32"/>
                </a:lnTo>
                <a:lnTo>
                  <a:pt x="396" y="34"/>
                </a:lnTo>
                <a:lnTo>
                  <a:pt x="394" y="36"/>
                </a:lnTo>
                <a:lnTo>
                  <a:pt x="391" y="39"/>
                </a:lnTo>
                <a:lnTo>
                  <a:pt x="388" y="41"/>
                </a:lnTo>
                <a:lnTo>
                  <a:pt x="385" y="44"/>
                </a:lnTo>
                <a:lnTo>
                  <a:pt x="382" y="46"/>
                </a:lnTo>
                <a:lnTo>
                  <a:pt x="379" y="48"/>
                </a:lnTo>
                <a:lnTo>
                  <a:pt x="376" y="51"/>
                </a:lnTo>
                <a:lnTo>
                  <a:pt x="372" y="53"/>
                </a:lnTo>
                <a:lnTo>
                  <a:pt x="369" y="56"/>
                </a:lnTo>
                <a:lnTo>
                  <a:pt x="366" y="58"/>
                </a:lnTo>
                <a:lnTo>
                  <a:pt x="362" y="60"/>
                </a:lnTo>
                <a:lnTo>
                  <a:pt x="358" y="63"/>
                </a:lnTo>
                <a:lnTo>
                  <a:pt x="355" y="65"/>
                </a:lnTo>
                <a:lnTo>
                  <a:pt x="351" y="67"/>
                </a:lnTo>
                <a:lnTo>
                  <a:pt x="347" y="69"/>
                </a:lnTo>
                <a:lnTo>
                  <a:pt x="343" y="71"/>
                </a:lnTo>
                <a:lnTo>
                  <a:pt x="339" y="73"/>
                </a:lnTo>
                <a:lnTo>
                  <a:pt x="335" y="75"/>
                </a:lnTo>
                <a:lnTo>
                  <a:pt x="331" y="76"/>
                </a:lnTo>
                <a:lnTo>
                  <a:pt x="327" y="78"/>
                </a:lnTo>
                <a:lnTo>
                  <a:pt x="323" y="80"/>
                </a:lnTo>
                <a:lnTo>
                  <a:pt x="319" y="81"/>
                </a:lnTo>
                <a:lnTo>
                  <a:pt x="315" y="83"/>
                </a:lnTo>
                <a:lnTo>
                  <a:pt x="310" y="84"/>
                </a:lnTo>
                <a:lnTo>
                  <a:pt x="306" y="85"/>
                </a:lnTo>
                <a:lnTo>
                  <a:pt x="302" y="87"/>
                </a:lnTo>
                <a:lnTo>
                  <a:pt x="297" y="88"/>
                </a:lnTo>
                <a:lnTo>
                  <a:pt x="293" y="89"/>
                </a:lnTo>
                <a:lnTo>
                  <a:pt x="289" y="90"/>
                </a:lnTo>
                <a:lnTo>
                  <a:pt x="286" y="91"/>
                </a:lnTo>
                <a:lnTo>
                  <a:pt x="283" y="92"/>
                </a:lnTo>
                <a:lnTo>
                  <a:pt x="280" y="92"/>
                </a:lnTo>
                <a:lnTo>
                  <a:pt x="277" y="93"/>
                </a:lnTo>
                <a:lnTo>
                  <a:pt x="275" y="94"/>
                </a:lnTo>
                <a:lnTo>
                  <a:pt x="273" y="94"/>
                </a:lnTo>
                <a:lnTo>
                  <a:pt x="271" y="95"/>
                </a:lnTo>
                <a:lnTo>
                  <a:pt x="269" y="95"/>
                </a:lnTo>
                <a:lnTo>
                  <a:pt x="268" y="95"/>
                </a:lnTo>
                <a:lnTo>
                  <a:pt x="267" y="96"/>
                </a:lnTo>
                <a:lnTo>
                  <a:pt x="266" y="96"/>
                </a:lnTo>
                <a:lnTo>
                  <a:pt x="267" y="96"/>
                </a:lnTo>
                <a:lnTo>
                  <a:pt x="268" y="96"/>
                </a:lnTo>
                <a:lnTo>
                  <a:pt x="269" y="96"/>
                </a:lnTo>
                <a:lnTo>
                  <a:pt x="270" y="97"/>
                </a:lnTo>
                <a:lnTo>
                  <a:pt x="271" y="97"/>
                </a:lnTo>
                <a:lnTo>
                  <a:pt x="273" y="97"/>
                </a:lnTo>
                <a:lnTo>
                  <a:pt x="275" y="97"/>
                </a:lnTo>
                <a:lnTo>
                  <a:pt x="277" y="98"/>
                </a:lnTo>
                <a:lnTo>
                  <a:pt x="279" y="98"/>
                </a:lnTo>
                <a:lnTo>
                  <a:pt x="282" y="98"/>
                </a:lnTo>
                <a:lnTo>
                  <a:pt x="284" y="99"/>
                </a:lnTo>
                <a:lnTo>
                  <a:pt x="287" y="99"/>
                </a:lnTo>
                <a:lnTo>
                  <a:pt x="291" y="100"/>
                </a:lnTo>
                <a:lnTo>
                  <a:pt x="294" y="100"/>
                </a:lnTo>
                <a:lnTo>
                  <a:pt x="297" y="101"/>
                </a:lnTo>
                <a:lnTo>
                  <a:pt x="301" y="101"/>
                </a:lnTo>
                <a:lnTo>
                  <a:pt x="304" y="102"/>
                </a:lnTo>
                <a:lnTo>
                  <a:pt x="307" y="102"/>
                </a:lnTo>
                <a:lnTo>
                  <a:pt x="309" y="103"/>
                </a:lnTo>
                <a:lnTo>
                  <a:pt x="312" y="103"/>
                </a:lnTo>
                <a:lnTo>
                  <a:pt x="314" y="104"/>
                </a:lnTo>
                <a:lnTo>
                  <a:pt x="317" y="105"/>
                </a:lnTo>
                <a:lnTo>
                  <a:pt x="319" y="105"/>
                </a:lnTo>
                <a:lnTo>
                  <a:pt x="320" y="106"/>
                </a:lnTo>
                <a:lnTo>
                  <a:pt x="322" y="106"/>
                </a:lnTo>
                <a:lnTo>
                  <a:pt x="324" y="107"/>
                </a:lnTo>
                <a:lnTo>
                  <a:pt x="325" y="108"/>
                </a:lnTo>
                <a:lnTo>
                  <a:pt x="326" y="109"/>
                </a:lnTo>
                <a:lnTo>
                  <a:pt x="327" y="109"/>
                </a:lnTo>
                <a:lnTo>
                  <a:pt x="328" y="110"/>
                </a:lnTo>
                <a:lnTo>
                  <a:pt x="329" y="111"/>
                </a:lnTo>
                <a:lnTo>
                  <a:pt x="330" y="112"/>
                </a:lnTo>
                <a:lnTo>
                  <a:pt x="331" y="113"/>
                </a:lnTo>
                <a:lnTo>
                  <a:pt x="332" y="114"/>
                </a:lnTo>
                <a:lnTo>
                  <a:pt x="333" y="115"/>
                </a:lnTo>
                <a:lnTo>
                  <a:pt x="334" y="116"/>
                </a:lnTo>
                <a:lnTo>
                  <a:pt x="333" y="117"/>
                </a:lnTo>
                <a:lnTo>
                  <a:pt x="332" y="118"/>
                </a:lnTo>
                <a:lnTo>
                  <a:pt x="331" y="119"/>
                </a:lnTo>
                <a:lnTo>
                  <a:pt x="330" y="120"/>
                </a:lnTo>
                <a:lnTo>
                  <a:pt x="329" y="121"/>
                </a:lnTo>
                <a:lnTo>
                  <a:pt x="328" y="122"/>
                </a:lnTo>
                <a:lnTo>
                  <a:pt x="326" y="123"/>
                </a:lnTo>
                <a:lnTo>
                  <a:pt x="325" y="125"/>
                </a:lnTo>
                <a:lnTo>
                  <a:pt x="323" y="126"/>
                </a:lnTo>
                <a:lnTo>
                  <a:pt x="321" y="128"/>
                </a:lnTo>
                <a:lnTo>
                  <a:pt x="319" y="130"/>
                </a:lnTo>
                <a:lnTo>
                  <a:pt x="317" y="132"/>
                </a:lnTo>
                <a:lnTo>
                  <a:pt x="315" y="135"/>
                </a:lnTo>
                <a:lnTo>
                  <a:pt x="312" y="137"/>
                </a:lnTo>
                <a:lnTo>
                  <a:pt x="309" y="139"/>
                </a:lnTo>
                <a:lnTo>
                  <a:pt x="306" y="141"/>
                </a:lnTo>
                <a:lnTo>
                  <a:pt x="303" y="144"/>
                </a:lnTo>
                <a:lnTo>
                  <a:pt x="300" y="146"/>
                </a:lnTo>
                <a:lnTo>
                  <a:pt x="297" y="149"/>
                </a:lnTo>
                <a:lnTo>
                  <a:pt x="293" y="151"/>
                </a:lnTo>
                <a:lnTo>
                  <a:pt x="289" y="153"/>
                </a:lnTo>
                <a:lnTo>
                  <a:pt x="285" y="156"/>
                </a:lnTo>
                <a:lnTo>
                  <a:pt x="281" y="158"/>
                </a:lnTo>
                <a:lnTo>
                  <a:pt x="277" y="160"/>
                </a:lnTo>
                <a:lnTo>
                  <a:pt x="272" y="163"/>
                </a:lnTo>
                <a:lnTo>
                  <a:pt x="268" y="165"/>
                </a:lnTo>
                <a:lnTo>
                  <a:pt x="263" y="168"/>
                </a:lnTo>
                <a:lnTo>
                  <a:pt x="258" y="170"/>
                </a:lnTo>
                <a:lnTo>
                  <a:pt x="253" y="173"/>
                </a:lnTo>
                <a:lnTo>
                  <a:pt x="247" y="175"/>
                </a:lnTo>
                <a:lnTo>
                  <a:pt x="242" y="177"/>
                </a:lnTo>
                <a:lnTo>
                  <a:pt x="237" y="179"/>
                </a:lnTo>
                <a:lnTo>
                  <a:pt x="232" y="182"/>
                </a:lnTo>
                <a:lnTo>
                  <a:pt x="227" y="184"/>
                </a:lnTo>
                <a:lnTo>
                  <a:pt x="222" y="185"/>
                </a:lnTo>
                <a:lnTo>
                  <a:pt x="218" y="187"/>
                </a:lnTo>
                <a:lnTo>
                  <a:pt x="213" y="189"/>
                </a:lnTo>
                <a:lnTo>
                  <a:pt x="208" y="191"/>
                </a:lnTo>
                <a:lnTo>
                  <a:pt x="204" y="192"/>
                </a:lnTo>
                <a:lnTo>
                  <a:pt x="199" y="194"/>
                </a:lnTo>
                <a:lnTo>
                  <a:pt x="195" y="195"/>
                </a:lnTo>
                <a:lnTo>
                  <a:pt x="191" y="196"/>
                </a:lnTo>
                <a:lnTo>
                  <a:pt x="187" y="197"/>
                </a:lnTo>
                <a:lnTo>
                  <a:pt x="183" y="199"/>
                </a:lnTo>
                <a:lnTo>
                  <a:pt x="179" y="200"/>
                </a:lnTo>
                <a:lnTo>
                  <a:pt x="175" y="200"/>
                </a:lnTo>
                <a:lnTo>
                  <a:pt x="171" y="201"/>
                </a:lnTo>
                <a:lnTo>
                  <a:pt x="167" y="202"/>
                </a:lnTo>
                <a:lnTo>
                  <a:pt x="163" y="203"/>
                </a:lnTo>
                <a:lnTo>
                  <a:pt x="159" y="204"/>
                </a:lnTo>
                <a:lnTo>
                  <a:pt x="154" y="205"/>
                </a:lnTo>
                <a:lnTo>
                  <a:pt x="150" y="205"/>
                </a:lnTo>
                <a:lnTo>
                  <a:pt x="146" y="206"/>
                </a:lnTo>
                <a:lnTo>
                  <a:pt x="141" y="207"/>
                </a:lnTo>
                <a:lnTo>
                  <a:pt x="136" y="208"/>
                </a:lnTo>
                <a:lnTo>
                  <a:pt x="132" y="208"/>
                </a:lnTo>
                <a:lnTo>
                  <a:pt x="127" y="209"/>
                </a:lnTo>
                <a:lnTo>
                  <a:pt x="122" y="210"/>
                </a:lnTo>
                <a:lnTo>
                  <a:pt x="117" y="210"/>
                </a:lnTo>
                <a:lnTo>
                  <a:pt x="112" y="211"/>
                </a:lnTo>
                <a:lnTo>
                  <a:pt x="107" y="212"/>
                </a:lnTo>
                <a:lnTo>
                  <a:pt x="102" y="212"/>
                </a:lnTo>
                <a:lnTo>
                  <a:pt x="97" y="212"/>
                </a:lnTo>
                <a:lnTo>
                  <a:pt x="92" y="213"/>
                </a:lnTo>
                <a:lnTo>
                  <a:pt x="87" y="213"/>
                </a:lnTo>
                <a:lnTo>
                  <a:pt x="82" y="213"/>
                </a:lnTo>
                <a:lnTo>
                  <a:pt x="78" y="213"/>
                </a:lnTo>
                <a:lnTo>
                  <a:pt x="73" y="213"/>
                </a:lnTo>
                <a:lnTo>
                  <a:pt x="68" y="213"/>
                </a:lnTo>
                <a:lnTo>
                  <a:pt x="64" y="213"/>
                </a:lnTo>
                <a:lnTo>
                  <a:pt x="59" y="212"/>
                </a:lnTo>
                <a:lnTo>
                  <a:pt x="55" y="212"/>
                </a:lnTo>
                <a:lnTo>
                  <a:pt x="51" y="211"/>
                </a:lnTo>
                <a:lnTo>
                  <a:pt x="46" y="211"/>
                </a:lnTo>
                <a:lnTo>
                  <a:pt x="42" y="210"/>
                </a:lnTo>
                <a:lnTo>
                  <a:pt x="38" y="209"/>
                </a:lnTo>
                <a:lnTo>
                  <a:pt x="34" y="208"/>
                </a:lnTo>
                <a:lnTo>
                  <a:pt x="30" y="207"/>
                </a:lnTo>
                <a:lnTo>
                  <a:pt x="27" y="206"/>
                </a:lnTo>
                <a:lnTo>
                  <a:pt x="23" y="205"/>
                </a:lnTo>
                <a:lnTo>
                  <a:pt x="20" y="205"/>
                </a:lnTo>
                <a:lnTo>
                  <a:pt x="17" y="204"/>
                </a:lnTo>
                <a:lnTo>
                  <a:pt x="15" y="203"/>
                </a:lnTo>
                <a:lnTo>
                  <a:pt x="12" y="203"/>
                </a:lnTo>
                <a:lnTo>
                  <a:pt x="10" y="202"/>
                </a:lnTo>
                <a:lnTo>
                  <a:pt x="8" y="202"/>
                </a:lnTo>
                <a:lnTo>
                  <a:pt x="7" y="201"/>
                </a:lnTo>
                <a:lnTo>
                  <a:pt x="5" y="201"/>
                </a:lnTo>
                <a:lnTo>
                  <a:pt x="4" y="201"/>
                </a:lnTo>
                <a:lnTo>
                  <a:pt x="3" y="200"/>
                </a:lnTo>
                <a:lnTo>
                  <a:pt x="2" y="200"/>
                </a:lnTo>
                <a:lnTo>
                  <a:pt x="3" y="200"/>
                </a:lnTo>
                <a:lnTo>
                  <a:pt x="4" y="201"/>
                </a:lnTo>
                <a:lnTo>
                  <a:pt x="5" y="202"/>
                </a:lnTo>
                <a:lnTo>
                  <a:pt x="7" y="203"/>
                </a:lnTo>
                <a:lnTo>
                  <a:pt x="9" y="204"/>
                </a:lnTo>
                <a:lnTo>
                  <a:pt x="11" y="205"/>
                </a:lnTo>
                <a:lnTo>
                  <a:pt x="14" y="207"/>
                </a:lnTo>
                <a:lnTo>
                  <a:pt x="17" y="209"/>
                </a:lnTo>
                <a:lnTo>
                  <a:pt x="21" y="211"/>
                </a:lnTo>
                <a:lnTo>
                  <a:pt x="25" y="213"/>
                </a:lnTo>
                <a:lnTo>
                  <a:pt x="29" y="216"/>
                </a:lnTo>
                <a:lnTo>
                  <a:pt x="34" y="218"/>
                </a:lnTo>
                <a:lnTo>
                  <a:pt x="39" y="221"/>
                </a:lnTo>
                <a:lnTo>
                  <a:pt x="44" y="225"/>
                </a:lnTo>
                <a:lnTo>
                  <a:pt x="50" y="228"/>
                </a:lnTo>
                <a:lnTo>
                  <a:pt x="56" y="231"/>
                </a:lnTo>
                <a:lnTo>
                  <a:pt x="61" y="235"/>
                </a:lnTo>
                <a:lnTo>
                  <a:pt x="66" y="238"/>
                </a:lnTo>
                <a:lnTo>
                  <a:pt x="71" y="240"/>
                </a:lnTo>
                <a:lnTo>
                  <a:pt x="75" y="243"/>
                </a:lnTo>
                <a:lnTo>
                  <a:pt x="79" y="245"/>
                </a:lnTo>
                <a:lnTo>
                  <a:pt x="83" y="247"/>
                </a:lnTo>
                <a:lnTo>
                  <a:pt x="86" y="249"/>
                </a:lnTo>
                <a:lnTo>
                  <a:pt x="89" y="251"/>
                </a:lnTo>
                <a:lnTo>
                  <a:pt x="91" y="252"/>
                </a:lnTo>
                <a:lnTo>
                  <a:pt x="93" y="253"/>
                </a:lnTo>
                <a:lnTo>
                  <a:pt x="95" y="254"/>
                </a:lnTo>
                <a:lnTo>
                  <a:pt x="96" y="255"/>
                </a:lnTo>
                <a:lnTo>
                  <a:pt x="97" y="256"/>
                </a:lnTo>
                <a:lnTo>
                  <a:pt x="98" y="256"/>
                </a:lnTo>
                <a:lnTo>
                  <a:pt x="97" y="256"/>
                </a:lnTo>
                <a:lnTo>
                  <a:pt x="96" y="257"/>
                </a:lnTo>
                <a:lnTo>
                  <a:pt x="95" y="258"/>
                </a:lnTo>
                <a:lnTo>
                  <a:pt x="93" y="258"/>
                </a:lnTo>
                <a:lnTo>
                  <a:pt x="91" y="259"/>
                </a:lnTo>
                <a:lnTo>
                  <a:pt x="89" y="261"/>
                </a:lnTo>
                <a:lnTo>
                  <a:pt x="86" y="262"/>
                </a:lnTo>
                <a:lnTo>
                  <a:pt x="82" y="264"/>
                </a:lnTo>
                <a:lnTo>
                  <a:pt x="79" y="266"/>
                </a:lnTo>
                <a:lnTo>
                  <a:pt x="75" y="268"/>
                </a:lnTo>
                <a:lnTo>
                  <a:pt x="70" y="270"/>
                </a:lnTo>
                <a:lnTo>
                  <a:pt x="66" y="272"/>
                </a:lnTo>
                <a:lnTo>
                  <a:pt x="60" y="275"/>
                </a:lnTo>
                <a:lnTo>
                  <a:pt x="55" y="278"/>
                </a:lnTo>
                <a:lnTo>
                  <a:pt x="49" y="281"/>
                </a:lnTo>
                <a:lnTo>
                  <a:pt x="43" y="283"/>
                </a:lnTo>
                <a:lnTo>
                  <a:pt x="38" y="286"/>
                </a:lnTo>
                <a:lnTo>
                  <a:pt x="32" y="289"/>
                </a:lnTo>
                <a:lnTo>
                  <a:pt x="28" y="291"/>
                </a:lnTo>
                <a:lnTo>
                  <a:pt x="23" y="293"/>
                </a:lnTo>
                <a:lnTo>
                  <a:pt x="19" y="295"/>
                </a:lnTo>
                <a:lnTo>
                  <a:pt x="16" y="297"/>
                </a:lnTo>
                <a:lnTo>
                  <a:pt x="12" y="299"/>
                </a:lnTo>
                <a:lnTo>
                  <a:pt x="9" y="300"/>
                </a:lnTo>
                <a:lnTo>
                  <a:pt x="7" y="302"/>
                </a:lnTo>
                <a:lnTo>
                  <a:pt x="5" y="303"/>
                </a:lnTo>
                <a:lnTo>
                  <a:pt x="3" y="303"/>
                </a:lnTo>
                <a:lnTo>
                  <a:pt x="2" y="304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2" y="305"/>
                </a:lnTo>
                <a:lnTo>
                  <a:pt x="3" y="304"/>
                </a:lnTo>
                <a:lnTo>
                  <a:pt x="5" y="304"/>
                </a:lnTo>
                <a:lnTo>
                  <a:pt x="7" y="304"/>
                </a:lnTo>
                <a:lnTo>
                  <a:pt x="10" y="303"/>
                </a:lnTo>
                <a:lnTo>
                  <a:pt x="13" y="303"/>
                </a:lnTo>
                <a:lnTo>
                  <a:pt x="17" y="302"/>
                </a:lnTo>
                <a:lnTo>
                  <a:pt x="21" y="302"/>
                </a:lnTo>
                <a:lnTo>
                  <a:pt x="25" y="301"/>
                </a:lnTo>
                <a:lnTo>
                  <a:pt x="30" y="300"/>
                </a:lnTo>
                <a:lnTo>
                  <a:pt x="35" y="299"/>
                </a:lnTo>
                <a:lnTo>
                  <a:pt x="41" y="298"/>
                </a:lnTo>
                <a:lnTo>
                  <a:pt x="47" y="298"/>
                </a:lnTo>
                <a:lnTo>
                  <a:pt x="53" y="297"/>
                </a:lnTo>
                <a:lnTo>
                  <a:pt x="60" y="295"/>
                </a:lnTo>
                <a:lnTo>
                  <a:pt x="66" y="294"/>
                </a:lnTo>
                <a:lnTo>
                  <a:pt x="72" y="293"/>
                </a:lnTo>
                <a:lnTo>
                  <a:pt x="79" y="292"/>
                </a:lnTo>
                <a:lnTo>
                  <a:pt x="85" y="291"/>
                </a:lnTo>
                <a:lnTo>
                  <a:pt x="91" y="290"/>
                </a:lnTo>
                <a:lnTo>
                  <a:pt x="97" y="288"/>
                </a:lnTo>
                <a:lnTo>
                  <a:pt x="103" y="287"/>
                </a:lnTo>
                <a:lnTo>
                  <a:pt x="109" y="286"/>
                </a:lnTo>
                <a:lnTo>
                  <a:pt x="114" y="285"/>
                </a:lnTo>
                <a:lnTo>
                  <a:pt x="120" y="283"/>
                </a:lnTo>
                <a:lnTo>
                  <a:pt x="125" y="282"/>
                </a:lnTo>
                <a:lnTo>
                  <a:pt x="131" y="280"/>
                </a:lnTo>
                <a:lnTo>
                  <a:pt x="136" y="279"/>
                </a:lnTo>
                <a:lnTo>
                  <a:pt x="141" y="277"/>
                </a:lnTo>
                <a:lnTo>
                  <a:pt x="147" y="276"/>
                </a:lnTo>
                <a:lnTo>
                  <a:pt x="152" y="274"/>
                </a:lnTo>
                <a:lnTo>
                  <a:pt x="156" y="273"/>
                </a:lnTo>
                <a:lnTo>
                  <a:pt x="161" y="271"/>
                </a:lnTo>
                <a:lnTo>
                  <a:pt x="166" y="270"/>
                </a:lnTo>
                <a:lnTo>
                  <a:pt x="171" y="268"/>
                </a:lnTo>
                <a:lnTo>
                  <a:pt x="176" y="266"/>
                </a:lnTo>
                <a:lnTo>
                  <a:pt x="180" y="265"/>
                </a:lnTo>
                <a:lnTo>
                  <a:pt x="185" y="263"/>
                </a:lnTo>
                <a:lnTo>
                  <a:pt x="189" y="261"/>
                </a:lnTo>
                <a:lnTo>
                  <a:pt x="194" y="259"/>
                </a:lnTo>
                <a:lnTo>
                  <a:pt x="198" y="258"/>
                </a:lnTo>
                <a:lnTo>
                  <a:pt x="202" y="256"/>
                </a:lnTo>
                <a:lnTo>
                  <a:pt x="207" y="254"/>
                </a:lnTo>
                <a:lnTo>
                  <a:pt x="211" y="252"/>
                </a:lnTo>
                <a:lnTo>
                  <a:pt x="215" y="250"/>
                </a:lnTo>
                <a:lnTo>
                  <a:pt x="219" y="248"/>
                </a:lnTo>
                <a:lnTo>
                  <a:pt x="223" y="246"/>
                </a:lnTo>
                <a:lnTo>
                  <a:pt x="227" y="244"/>
                </a:lnTo>
                <a:lnTo>
                  <a:pt x="231" y="242"/>
                </a:lnTo>
                <a:lnTo>
                  <a:pt x="234" y="240"/>
                </a:lnTo>
                <a:lnTo>
                  <a:pt x="238" y="238"/>
                </a:lnTo>
                <a:lnTo>
                  <a:pt x="242" y="236"/>
                </a:lnTo>
                <a:lnTo>
                  <a:pt x="245" y="234"/>
                </a:lnTo>
                <a:lnTo>
                  <a:pt x="249" y="232"/>
                </a:lnTo>
                <a:lnTo>
                  <a:pt x="252" y="230"/>
                </a:lnTo>
                <a:lnTo>
                  <a:pt x="255" y="228"/>
                </a:lnTo>
                <a:lnTo>
                  <a:pt x="259" y="226"/>
                </a:lnTo>
                <a:lnTo>
                  <a:pt x="262" y="225"/>
                </a:lnTo>
                <a:lnTo>
                  <a:pt x="265" y="223"/>
                </a:lnTo>
                <a:lnTo>
                  <a:pt x="268" y="221"/>
                </a:lnTo>
                <a:lnTo>
                  <a:pt x="271" y="219"/>
                </a:lnTo>
                <a:lnTo>
                  <a:pt x="274" y="217"/>
                </a:lnTo>
                <a:lnTo>
                  <a:pt x="276" y="215"/>
                </a:lnTo>
                <a:lnTo>
                  <a:pt x="279" y="213"/>
                </a:lnTo>
                <a:lnTo>
                  <a:pt x="282" y="211"/>
                </a:lnTo>
                <a:lnTo>
                  <a:pt x="285" y="208"/>
                </a:lnTo>
                <a:lnTo>
                  <a:pt x="289" y="206"/>
                </a:lnTo>
                <a:lnTo>
                  <a:pt x="292" y="203"/>
                </a:lnTo>
                <a:lnTo>
                  <a:pt x="295" y="200"/>
                </a:lnTo>
                <a:lnTo>
                  <a:pt x="299" y="198"/>
                </a:lnTo>
                <a:lnTo>
                  <a:pt x="302" y="194"/>
                </a:lnTo>
                <a:lnTo>
                  <a:pt x="306" y="191"/>
                </a:lnTo>
                <a:lnTo>
                  <a:pt x="309" y="188"/>
                </a:lnTo>
                <a:lnTo>
                  <a:pt x="313" y="184"/>
                </a:lnTo>
                <a:lnTo>
                  <a:pt x="317" y="181"/>
                </a:lnTo>
                <a:lnTo>
                  <a:pt x="321" y="177"/>
                </a:lnTo>
                <a:lnTo>
                  <a:pt x="325" y="173"/>
                </a:lnTo>
                <a:lnTo>
                  <a:pt x="329" y="169"/>
                </a:lnTo>
                <a:lnTo>
                  <a:pt x="333" y="165"/>
                </a:lnTo>
                <a:lnTo>
                  <a:pt x="337" y="161"/>
                </a:lnTo>
                <a:lnTo>
                  <a:pt x="340" y="158"/>
                </a:lnTo>
                <a:lnTo>
                  <a:pt x="343" y="155"/>
                </a:lnTo>
                <a:lnTo>
                  <a:pt x="346" y="152"/>
                </a:lnTo>
                <a:lnTo>
                  <a:pt x="349" y="149"/>
                </a:lnTo>
                <a:lnTo>
                  <a:pt x="352" y="146"/>
                </a:lnTo>
                <a:lnTo>
                  <a:pt x="354" y="144"/>
                </a:lnTo>
                <a:lnTo>
                  <a:pt x="356" y="142"/>
                </a:lnTo>
                <a:lnTo>
                  <a:pt x="357" y="141"/>
                </a:lnTo>
                <a:lnTo>
                  <a:pt x="359" y="139"/>
                </a:lnTo>
                <a:lnTo>
                  <a:pt x="360" y="138"/>
                </a:lnTo>
                <a:lnTo>
                  <a:pt x="361" y="137"/>
                </a:lnTo>
                <a:lnTo>
                  <a:pt x="362" y="136"/>
                </a:lnTo>
                <a:close/>
              </a:path>
            </a:pathLst>
          </a:custGeom>
          <a:gradFill rotWithShape="1">
            <a:gsLst>
              <a:gs pos="0">
                <a:srgbClr val="BBBBBB">
                  <a:alpha val="0"/>
                </a:srgbClr>
              </a:gs>
              <a:gs pos="100000">
                <a:srgbClr val="575757"/>
              </a:gs>
            </a:gsLst>
            <a:lin ang="0" scaled="1"/>
          </a:gradFill>
          <a:ln w="3175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9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9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9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9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0" grpId="0" animBg="1"/>
      <p:bldP spid="399471" grpId="0" animBg="1"/>
      <p:bldP spid="399476" grpId="0" animBg="1"/>
      <p:bldP spid="3994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增加路由器接口可以缓解流量瓶颈吗？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单臂路由产生的瓶颈</a:t>
            </a:r>
            <a:r>
              <a:rPr lang="en-US" altLang="zh-CN"/>
              <a:t>3-2</a:t>
            </a:r>
            <a:endParaRPr lang="zh-CN" altLang="en-US"/>
          </a:p>
        </p:txBody>
      </p:sp>
      <p:grpSp>
        <p:nvGrpSpPr>
          <p:cNvPr id="2" name="组合 100"/>
          <p:cNvGrpSpPr>
            <a:grpSpLocks/>
          </p:cNvGrpSpPr>
          <p:nvPr/>
        </p:nvGrpSpPr>
        <p:grpSpPr bwMode="auto">
          <a:xfrm>
            <a:off x="2451100" y="1857376"/>
            <a:ext cx="5022850" cy="3032125"/>
            <a:chOff x="1998662" y="2857496"/>
            <a:chExt cx="5022850" cy="3031590"/>
          </a:xfrm>
        </p:grpSpPr>
        <p:pic>
          <p:nvPicPr>
            <p:cNvPr id="12300" name="Picture 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71934" y="2857496"/>
              <a:ext cx="815975" cy="48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1" name="TextBox 23"/>
            <p:cNvSpPr txBox="1">
              <a:spLocks noChangeArrowheads="1"/>
            </p:cNvSpPr>
            <p:nvPr/>
          </p:nvSpPr>
          <p:spPr bwMode="auto">
            <a:xfrm>
              <a:off x="4030665" y="3091194"/>
              <a:ext cx="89852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R1</a:t>
              </a:r>
              <a:endParaRPr lang="zh-CN" altLang="en-US" sz="1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2302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743199" y="3933842"/>
              <a:ext cx="1042988" cy="44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3" name="Text Box 19"/>
            <p:cNvSpPr txBox="1">
              <a:spLocks noChangeArrowheads="1"/>
            </p:cNvSpPr>
            <p:nvPr/>
          </p:nvSpPr>
          <p:spPr bwMode="auto">
            <a:xfrm>
              <a:off x="2652712" y="4121167"/>
              <a:ext cx="1081087" cy="3079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SW1</a:t>
              </a:r>
            </a:p>
          </p:txBody>
        </p:sp>
        <p:cxnSp>
          <p:nvCxnSpPr>
            <p:cNvPr id="12304" name="直接连接符 13"/>
            <p:cNvCxnSpPr>
              <a:cxnSpLocks noChangeShapeType="1"/>
            </p:cNvCxnSpPr>
            <p:nvPr/>
          </p:nvCxnSpPr>
          <p:spPr bwMode="auto">
            <a:xfrm rot="5400000" flipH="1" flipV="1">
              <a:off x="3574640" y="3028561"/>
              <a:ext cx="595334" cy="1215229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2305" name="直接连接符 20"/>
            <p:cNvCxnSpPr>
              <a:cxnSpLocks noChangeShapeType="1"/>
            </p:cNvCxnSpPr>
            <p:nvPr/>
          </p:nvCxnSpPr>
          <p:spPr bwMode="auto">
            <a:xfrm rot="5400000">
              <a:off x="2618581" y="4299760"/>
              <a:ext cx="565150" cy="725487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2306" name="Picture 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14562" y="4945079"/>
              <a:ext cx="647700" cy="617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7" name="Text Box 15"/>
            <p:cNvSpPr txBox="1">
              <a:spLocks noChangeArrowheads="1"/>
            </p:cNvSpPr>
            <p:nvPr/>
          </p:nvSpPr>
          <p:spPr bwMode="auto">
            <a:xfrm>
              <a:off x="1998662" y="5519754"/>
              <a:ext cx="108108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主机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A</a:t>
              </a:r>
            </a:p>
          </p:txBody>
        </p:sp>
        <p:pic>
          <p:nvPicPr>
            <p:cNvPr id="12308" name="Picture 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35374" y="4929204"/>
              <a:ext cx="647700" cy="617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09" name="Text Box 15"/>
            <p:cNvSpPr txBox="1">
              <a:spLocks noChangeArrowheads="1"/>
            </p:cNvSpPr>
            <p:nvPr/>
          </p:nvSpPr>
          <p:spPr bwMode="auto">
            <a:xfrm>
              <a:off x="3419474" y="5503879"/>
              <a:ext cx="108108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主机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B</a:t>
              </a:r>
            </a:p>
          </p:txBody>
        </p:sp>
        <p:cxnSp>
          <p:nvCxnSpPr>
            <p:cNvPr id="12310" name="直接连接符 17"/>
            <p:cNvCxnSpPr>
              <a:cxnSpLocks noChangeShapeType="1"/>
            </p:cNvCxnSpPr>
            <p:nvPr/>
          </p:nvCxnSpPr>
          <p:spPr bwMode="auto">
            <a:xfrm rot="16200000" flipH="1">
              <a:off x="3336924" y="4306904"/>
              <a:ext cx="549275" cy="695325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2311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45100" y="3884629"/>
              <a:ext cx="1042987" cy="446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12" name="Text Box 19"/>
            <p:cNvSpPr txBox="1">
              <a:spLocks noChangeArrowheads="1"/>
            </p:cNvSpPr>
            <p:nvPr/>
          </p:nvSpPr>
          <p:spPr bwMode="auto">
            <a:xfrm>
              <a:off x="5154612" y="4058306"/>
              <a:ext cx="1081088" cy="3079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SW2</a:t>
              </a:r>
            </a:p>
          </p:txBody>
        </p:sp>
        <p:cxnSp>
          <p:nvCxnSpPr>
            <p:cNvPr id="12313" name="直接连接符 13"/>
            <p:cNvCxnSpPr>
              <a:cxnSpLocks noChangeShapeType="1"/>
            </p:cNvCxnSpPr>
            <p:nvPr/>
          </p:nvCxnSpPr>
          <p:spPr bwMode="auto">
            <a:xfrm rot="16200000" flipV="1">
              <a:off x="4850198" y="2968233"/>
              <a:ext cx="546121" cy="1286672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2314" name="直接连接符 20"/>
            <p:cNvCxnSpPr>
              <a:cxnSpLocks noChangeShapeType="1"/>
            </p:cNvCxnSpPr>
            <p:nvPr/>
          </p:nvCxnSpPr>
          <p:spPr bwMode="auto">
            <a:xfrm rot="5400000">
              <a:off x="5121275" y="4249754"/>
              <a:ext cx="565150" cy="727075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pic>
          <p:nvPicPr>
            <p:cNvPr id="12315" name="Picture 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716462" y="4895867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16" name="Text Box 15"/>
            <p:cNvSpPr txBox="1">
              <a:spLocks noChangeArrowheads="1"/>
            </p:cNvSpPr>
            <p:nvPr/>
          </p:nvSpPr>
          <p:spPr bwMode="auto">
            <a:xfrm>
              <a:off x="4500562" y="5470542"/>
              <a:ext cx="108108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主机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C</a:t>
              </a:r>
            </a:p>
          </p:txBody>
        </p:sp>
        <p:pic>
          <p:nvPicPr>
            <p:cNvPr id="12317" name="Picture 6" descr="电脑图标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137275" y="4883167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18" name="Text Box 15"/>
            <p:cNvSpPr txBox="1">
              <a:spLocks noChangeArrowheads="1"/>
            </p:cNvSpPr>
            <p:nvPr/>
          </p:nvSpPr>
          <p:spPr bwMode="auto">
            <a:xfrm>
              <a:off x="5940425" y="5500704"/>
              <a:ext cx="108108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主机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</a:rPr>
                <a:t>D</a:t>
              </a:r>
            </a:p>
          </p:txBody>
        </p:sp>
        <p:cxnSp>
          <p:nvCxnSpPr>
            <p:cNvPr id="12319" name="直接连接符 27"/>
            <p:cNvCxnSpPr>
              <a:cxnSpLocks noChangeShapeType="1"/>
            </p:cNvCxnSpPr>
            <p:nvPr/>
          </p:nvCxnSpPr>
          <p:spPr bwMode="auto">
            <a:xfrm rot="16200000" flipH="1">
              <a:off x="5838031" y="4260073"/>
              <a:ext cx="552450" cy="69373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2320" name="TextBox 23"/>
            <p:cNvSpPr txBox="1">
              <a:spLocks noChangeArrowheads="1"/>
            </p:cNvSpPr>
            <p:nvPr/>
          </p:nvSpPr>
          <p:spPr bwMode="auto">
            <a:xfrm>
              <a:off x="3602037" y="3243594"/>
              <a:ext cx="8985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F0/0</a:t>
              </a:r>
              <a:endParaRPr lang="zh-CN" altLang="en-US" sz="1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21" name="TextBox 23"/>
            <p:cNvSpPr txBox="1">
              <a:spLocks noChangeArrowheads="1"/>
            </p:cNvSpPr>
            <p:nvPr/>
          </p:nvSpPr>
          <p:spPr bwMode="auto">
            <a:xfrm>
              <a:off x="4530731" y="3241982"/>
              <a:ext cx="8985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</a:t>
              </a:r>
              <a:endParaRPr lang="zh-CN" altLang="en-US" sz="1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293" name="AutoShape 19"/>
          <p:cNvSpPr>
            <a:spLocks noChangeArrowheads="1"/>
          </p:cNvSpPr>
          <p:nvPr/>
        </p:nvSpPr>
        <p:spPr bwMode="auto">
          <a:xfrm>
            <a:off x="2024063" y="4929189"/>
            <a:ext cx="1071562" cy="357187"/>
          </a:xfrm>
          <a:prstGeom prst="wedgeRoundRectCallout">
            <a:avLst>
              <a:gd name="adj1" fmla="val 35750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 10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4" name="AutoShape 19"/>
          <p:cNvSpPr>
            <a:spLocks noChangeArrowheads="1"/>
          </p:cNvSpPr>
          <p:nvPr/>
        </p:nvSpPr>
        <p:spPr bwMode="auto">
          <a:xfrm>
            <a:off x="3595688" y="4929189"/>
            <a:ext cx="1071562" cy="357187"/>
          </a:xfrm>
          <a:prstGeom prst="wedgeRoundRectCallout">
            <a:avLst>
              <a:gd name="adj1" fmla="val 35750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 20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5" name="AutoShape 19"/>
          <p:cNvSpPr>
            <a:spLocks noChangeArrowheads="1"/>
          </p:cNvSpPr>
          <p:nvPr/>
        </p:nvSpPr>
        <p:spPr bwMode="auto">
          <a:xfrm>
            <a:off x="5167313" y="4929189"/>
            <a:ext cx="1071562" cy="357187"/>
          </a:xfrm>
          <a:prstGeom prst="wedgeRoundRectCallout">
            <a:avLst>
              <a:gd name="adj1" fmla="val -35574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 30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6" name="AutoShape 19"/>
          <p:cNvSpPr>
            <a:spLocks noChangeArrowheads="1"/>
          </p:cNvSpPr>
          <p:nvPr/>
        </p:nvSpPr>
        <p:spPr bwMode="auto">
          <a:xfrm>
            <a:off x="6596063" y="4929189"/>
            <a:ext cx="1071562" cy="357187"/>
          </a:xfrm>
          <a:prstGeom prst="wedgeRoundRectCallout">
            <a:avLst>
              <a:gd name="adj1" fmla="val -35574"/>
              <a:gd name="adj2" fmla="val -8021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VLAN 40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7" name="Picture 3" descr="C:\Documents and Settings\yongxin.he\桌面\20.jpg"/>
          <p:cNvPicPr>
            <a:picLocks noChangeAspect="1" noChangeArrowheads="1"/>
          </p:cNvPicPr>
          <p:nvPr/>
        </p:nvPicPr>
        <p:blipFill>
          <a:blip r:embed="rId5"/>
          <a:srcRect r="11890" b="8804"/>
          <a:stretch>
            <a:fillRect/>
          </a:stretch>
        </p:blipFill>
        <p:spPr bwMode="auto">
          <a:xfrm>
            <a:off x="9525000" y="5143501"/>
            <a:ext cx="9271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" name="云形标注 106"/>
          <p:cNvSpPr/>
          <p:nvPr/>
        </p:nvSpPr>
        <p:spPr bwMode="auto">
          <a:xfrm>
            <a:off x="7810501" y="4143375"/>
            <a:ext cx="2214563" cy="984250"/>
          </a:xfrm>
          <a:prstGeom prst="cloudCallout">
            <a:avLst>
              <a:gd name="adj1" fmla="val 34391"/>
              <a:gd name="adj2" fmla="val 75866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marL="95250" algn="ctr">
              <a:defRPr/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可以缓解瓶颈问题吗？</a:t>
            </a:r>
          </a:p>
        </p:txBody>
      </p:sp>
      <p:sp>
        <p:nvSpPr>
          <p:cNvPr id="108" name="AutoShape 19"/>
          <p:cNvSpPr>
            <a:spLocks noChangeArrowheads="1"/>
          </p:cNvSpPr>
          <p:nvPr/>
        </p:nvSpPr>
        <p:spPr bwMode="auto">
          <a:xfrm>
            <a:off x="5167313" y="4929189"/>
            <a:ext cx="1071562" cy="357187"/>
          </a:xfrm>
          <a:prstGeom prst="wedgeRoundRectCallout">
            <a:avLst>
              <a:gd name="adj1" fmla="val -35574"/>
              <a:gd name="adj2" fmla="val -8785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VLAN 10</a:t>
            </a:r>
            <a:endParaRPr lang="zh-CN" altLang="en-US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mph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307181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单臂路由的缺陷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“单臂”为网络骨干链路，容易形成网络瓶颈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子接口依然依托于物理接口，应用不灵活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VLAN</a:t>
            </a:r>
            <a:r>
              <a:rPr lang="zh-CN" altLang="en-US"/>
              <a:t>间转发需要查看路由表，严重浪费设备资源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33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单臂路由产生的瓶颈</a:t>
            </a:r>
            <a:r>
              <a:rPr lang="en-US" altLang="zh-CN"/>
              <a:t>3-3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30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使用三层交换技术实现</a:t>
            </a:r>
            <a:r>
              <a:rPr lang="en-US" altLang="zh-CN">
                <a:cs typeface="Arial" pitchFamily="34" charset="0"/>
              </a:rPr>
              <a:t>VLAN</a:t>
            </a:r>
            <a:r>
              <a:rPr lang="zh-CN" altLang="en-US">
                <a:cs typeface="Arial" pitchFamily="34" charset="0"/>
              </a:rPr>
              <a:t>间通信</a:t>
            </a: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三层交换</a:t>
            </a:r>
            <a:r>
              <a:rPr lang="en-US" altLang="zh-CN">
                <a:cs typeface="Arial" pitchFamily="34" charset="0"/>
              </a:rPr>
              <a:t>=</a:t>
            </a:r>
            <a:r>
              <a:rPr lang="zh-CN" altLang="en-US">
                <a:cs typeface="Arial" pitchFamily="34" charset="0"/>
              </a:rPr>
              <a:t>二层交换</a:t>
            </a:r>
            <a:r>
              <a:rPr lang="en-US" altLang="zh-CN">
                <a:cs typeface="Arial" pitchFamily="34" charset="0"/>
              </a:rPr>
              <a:t>+</a:t>
            </a:r>
            <a:r>
              <a:rPr lang="zh-CN" altLang="en-US">
                <a:cs typeface="Arial" pitchFamily="34" charset="0"/>
              </a:rPr>
              <a:t>三层转发</a:t>
            </a: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三层交换技术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9589" y="4752975"/>
            <a:ext cx="2879725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21388" y="2665414"/>
            <a:ext cx="215900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7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49951" y="3168651"/>
            <a:ext cx="2271713" cy="2303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71816" y="4316416"/>
            <a:ext cx="917575" cy="1382714"/>
            <a:chOff x="1973" y="2855"/>
            <a:chExt cx="578" cy="871"/>
          </a:xfrm>
        </p:grpSpPr>
        <p:sp>
          <p:nvSpPr>
            <p:cNvPr id="14345" name="Freeform 9"/>
            <p:cNvSpPr>
              <a:spLocks/>
            </p:cNvSpPr>
            <p:nvPr/>
          </p:nvSpPr>
          <p:spPr bwMode="auto">
            <a:xfrm>
              <a:off x="2289" y="3129"/>
              <a:ext cx="116" cy="233"/>
            </a:xfrm>
            <a:custGeom>
              <a:avLst/>
              <a:gdLst>
                <a:gd name="T0" fmla="*/ 19 w 305"/>
                <a:gd name="T1" fmla="*/ 521 h 587"/>
                <a:gd name="T2" fmla="*/ 32 w 305"/>
                <a:gd name="T3" fmla="*/ 429 h 587"/>
                <a:gd name="T4" fmla="*/ 70 w 305"/>
                <a:gd name="T5" fmla="*/ 325 h 587"/>
                <a:gd name="T6" fmla="*/ 133 w 305"/>
                <a:gd name="T7" fmla="*/ 247 h 587"/>
                <a:gd name="T8" fmla="*/ 177 w 305"/>
                <a:gd name="T9" fmla="*/ 110 h 587"/>
                <a:gd name="T10" fmla="*/ 222 w 305"/>
                <a:gd name="T11" fmla="*/ 45 h 587"/>
                <a:gd name="T12" fmla="*/ 247 w 305"/>
                <a:gd name="T13" fmla="*/ 0 h 587"/>
                <a:gd name="T14" fmla="*/ 291 w 305"/>
                <a:gd name="T15" fmla="*/ 45 h 587"/>
                <a:gd name="T16" fmla="*/ 260 w 305"/>
                <a:gd name="T17" fmla="*/ 110 h 587"/>
                <a:gd name="T18" fmla="*/ 222 w 305"/>
                <a:gd name="T19" fmla="*/ 195 h 587"/>
                <a:gd name="T20" fmla="*/ 247 w 305"/>
                <a:gd name="T21" fmla="*/ 299 h 587"/>
                <a:gd name="T22" fmla="*/ 285 w 305"/>
                <a:gd name="T23" fmla="*/ 325 h 587"/>
                <a:gd name="T24" fmla="*/ 304 w 305"/>
                <a:gd name="T25" fmla="*/ 371 h 587"/>
                <a:gd name="T26" fmla="*/ 272 w 305"/>
                <a:gd name="T27" fmla="*/ 442 h 587"/>
                <a:gd name="T28" fmla="*/ 215 w 305"/>
                <a:gd name="T29" fmla="*/ 488 h 587"/>
                <a:gd name="T30" fmla="*/ 146 w 305"/>
                <a:gd name="T31" fmla="*/ 560 h 587"/>
                <a:gd name="T32" fmla="*/ 76 w 305"/>
                <a:gd name="T33" fmla="*/ 586 h 587"/>
                <a:gd name="T34" fmla="*/ 133 w 305"/>
                <a:gd name="T35" fmla="*/ 540 h 587"/>
                <a:gd name="T36" fmla="*/ 139 w 305"/>
                <a:gd name="T37" fmla="*/ 403 h 587"/>
                <a:gd name="T38" fmla="*/ 165 w 305"/>
                <a:gd name="T39" fmla="*/ 403 h 587"/>
                <a:gd name="T40" fmla="*/ 171 w 305"/>
                <a:gd name="T41" fmla="*/ 429 h 587"/>
                <a:gd name="T42" fmla="*/ 152 w 305"/>
                <a:gd name="T43" fmla="*/ 455 h 587"/>
                <a:gd name="T44" fmla="*/ 152 w 305"/>
                <a:gd name="T45" fmla="*/ 429 h 587"/>
                <a:gd name="T46" fmla="*/ 146 w 305"/>
                <a:gd name="T47" fmla="*/ 475 h 587"/>
                <a:gd name="T48" fmla="*/ 184 w 305"/>
                <a:gd name="T49" fmla="*/ 508 h 587"/>
                <a:gd name="T50" fmla="*/ 215 w 305"/>
                <a:gd name="T51" fmla="*/ 455 h 587"/>
                <a:gd name="T52" fmla="*/ 247 w 305"/>
                <a:gd name="T53" fmla="*/ 429 h 587"/>
                <a:gd name="T54" fmla="*/ 297 w 305"/>
                <a:gd name="T55" fmla="*/ 384 h 587"/>
                <a:gd name="T56" fmla="*/ 291 w 305"/>
                <a:gd name="T57" fmla="*/ 351 h 587"/>
                <a:gd name="T58" fmla="*/ 272 w 305"/>
                <a:gd name="T59" fmla="*/ 332 h 587"/>
                <a:gd name="T60" fmla="*/ 158 w 305"/>
                <a:gd name="T61" fmla="*/ 299 h 587"/>
                <a:gd name="T62" fmla="*/ 127 w 305"/>
                <a:gd name="T63" fmla="*/ 280 h 587"/>
                <a:gd name="T64" fmla="*/ 165 w 305"/>
                <a:gd name="T65" fmla="*/ 299 h 587"/>
                <a:gd name="T66" fmla="*/ 196 w 305"/>
                <a:gd name="T67" fmla="*/ 195 h 587"/>
                <a:gd name="T68" fmla="*/ 253 w 305"/>
                <a:gd name="T69" fmla="*/ 91 h 587"/>
                <a:gd name="T70" fmla="*/ 272 w 305"/>
                <a:gd name="T71" fmla="*/ 13 h 587"/>
                <a:gd name="T72" fmla="*/ 247 w 305"/>
                <a:gd name="T73" fmla="*/ 19 h 587"/>
                <a:gd name="T74" fmla="*/ 260 w 305"/>
                <a:gd name="T75" fmla="*/ 45 h 587"/>
                <a:gd name="T76" fmla="*/ 247 w 305"/>
                <a:gd name="T77" fmla="*/ 26 h 587"/>
                <a:gd name="T78" fmla="*/ 247 w 305"/>
                <a:gd name="T79" fmla="*/ 39 h 587"/>
                <a:gd name="T80" fmla="*/ 222 w 305"/>
                <a:gd name="T81" fmla="*/ 71 h 587"/>
                <a:gd name="T82" fmla="*/ 209 w 305"/>
                <a:gd name="T83" fmla="*/ 97 h 587"/>
                <a:gd name="T84" fmla="*/ 152 w 305"/>
                <a:gd name="T85" fmla="*/ 221 h 587"/>
                <a:gd name="T86" fmla="*/ 95 w 305"/>
                <a:gd name="T87" fmla="*/ 293 h 587"/>
                <a:gd name="T88" fmla="*/ 44 w 305"/>
                <a:gd name="T89" fmla="*/ 495 h 587"/>
                <a:gd name="T90" fmla="*/ 0 w 305"/>
                <a:gd name="T91" fmla="*/ 553 h 58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05"/>
                <a:gd name="T139" fmla="*/ 0 h 587"/>
                <a:gd name="T140" fmla="*/ 305 w 305"/>
                <a:gd name="T141" fmla="*/ 587 h 58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05" h="587">
                  <a:moveTo>
                    <a:pt x="0" y="553"/>
                  </a:moveTo>
                  <a:lnTo>
                    <a:pt x="13" y="534"/>
                  </a:lnTo>
                  <a:lnTo>
                    <a:pt x="19" y="521"/>
                  </a:lnTo>
                  <a:lnTo>
                    <a:pt x="19" y="508"/>
                  </a:lnTo>
                  <a:lnTo>
                    <a:pt x="26" y="495"/>
                  </a:lnTo>
                  <a:lnTo>
                    <a:pt x="32" y="429"/>
                  </a:lnTo>
                  <a:lnTo>
                    <a:pt x="44" y="403"/>
                  </a:lnTo>
                  <a:lnTo>
                    <a:pt x="51" y="377"/>
                  </a:lnTo>
                  <a:lnTo>
                    <a:pt x="70" y="325"/>
                  </a:lnTo>
                  <a:lnTo>
                    <a:pt x="95" y="273"/>
                  </a:lnTo>
                  <a:lnTo>
                    <a:pt x="114" y="273"/>
                  </a:lnTo>
                  <a:lnTo>
                    <a:pt x="133" y="247"/>
                  </a:lnTo>
                  <a:lnTo>
                    <a:pt x="146" y="195"/>
                  </a:lnTo>
                  <a:lnTo>
                    <a:pt x="158" y="143"/>
                  </a:lnTo>
                  <a:lnTo>
                    <a:pt x="177" y="110"/>
                  </a:lnTo>
                  <a:lnTo>
                    <a:pt x="209" y="78"/>
                  </a:lnTo>
                  <a:lnTo>
                    <a:pt x="222" y="65"/>
                  </a:lnTo>
                  <a:lnTo>
                    <a:pt x="222" y="45"/>
                  </a:lnTo>
                  <a:lnTo>
                    <a:pt x="228" y="32"/>
                  </a:lnTo>
                  <a:lnTo>
                    <a:pt x="228" y="13"/>
                  </a:lnTo>
                  <a:lnTo>
                    <a:pt x="247" y="0"/>
                  </a:lnTo>
                  <a:lnTo>
                    <a:pt x="272" y="0"/>
                  </a:lnTo>
                  <a:lnTo>
                    <a:pt x="291" y="13"/>
                  </a:lnTo>
                  <a:lnTo>
                    <a:pt x="291" y="45"/>
                  </a:lnTo>
                  <a:lnTo>
                    <a:pt x="278" y="78"/>
                  </a:lnTo>
                  <a:lnTo>
                    <a:pt x="266" y="97"/>
                  </a:lnTo>
                  <a:lnTo>
                    <a:pt x="260" y="110"/>
                  </a:lnTo>
                  <a:lnTo>
                    <a:pt x="253" y="117"/>
                  </a:lnTo>
                  <a:lnTo>
                    <a:pt x="241" y="162"/>
                  </a:lnTo>
                  <a:lnTo>
                    <a:pt x="222" y="195"/>
                  </a:lnTo>
                  <a:lnTo>
                    <a:pt x="215" y="201"/>
                  </a:lnTo>
                  <a:lnTo>
                    <a:pt x="203" y="299"/>
                  </a:lnTo>
                  <a:lnTo>
                    <a:pt x="247" y="299"/>
                  </a:lnTo>
                  <a:lnTo>
                    <a:pt x="266" y="299"/>
                  </a:lnTo>
                  <a:lnTo>
                    <a:pt x="272" y="312"/>
                  </a:lnTo>
                  <a:lnTo>
                    <a:pt x="285" y="325"/>
                  </a:lnTo>
                  <a:lnTo>
                    <a:pt x="297" y="338"/>
                  </a:lnTo>
                  <a:lnTo>
                    <a:pt x="297" y="345"/>
                  </a:lnTo>
                  <a:lnTo>
                    <a:pt x="304" y="371"/>
                  </a:lnTo>
                  <a:lnTo>
                    <a:pt x="297" y="397"/>
                  </a:lnTo>
                  <a:lnTo>
                    <a:pt x="285" y="416"/>
                  </a:lnTo>
                  <a:lnTo>
                    <a:pt x="272" y="442"/>
                  </a:lnTo>
                  <a:lnTo>
                    <a:pt x="253" y="455"/>
                  </a:lnTo>
                  <a:lnTo>
                    <a:pt x="241" y="455"/>
                  </a:lnTo>
                  <a:lnTo>
                    <a:pt x="215" y="488"/>
                  </a:lnTo>
                  <a:lnTo>
                    <a:pt x="190" y="521"/>
                  </a:lnTo>
                  <a:lnTo>
                    <a:pt x="152" y="521"/>
                  </a:lnTo>
                  <a:lnTo>
                    <a:pt x="146" y="560"/>
                  </a:lnTo>
                  <a:lnTo>
                    <a:pt x="120" y="586"/>
                  </a:lnTo>
                  <a:lnTo>
                    <a:pt x="101" y="586"/>
                  </a:lnTo>
                  <a:lnTo>
                    <a:pt x="76" y="586"/>
                  </a:lnTo>
                  <a:lnTo>
                    <a:pt x="114" y="573"/>
                  </a:lnTo>
                  <a:lnTo>
                    <a:pt x="127" y="560"/>
                  </a:lnTo>
                  <a:lnTo>
                    <a:pt x="133" y="540"/>
                  </a:lnTo>
                  <a:lnTo>
                    <a:pt x="133" y="527"/>
                  </a:lnTo>
                  <a:lnTo>
                    <a:pt x="133" y="462"/>
                  </a:lnTo>
                  <a:lnTo>
                    <a:pt x="139" y="403"/>
                  </a:lnTo>
                  <a:lnTo>
                    <a:pt x="146" y="429"/>
                  </a:lnTo>
                  <a:lnTo>
                    <a:pt x="146" y="423"/>
                  </a:lnTo>
                  <a:lnTo>
                    <a:pt x="165" y="403"/>
                  </a:lnTo>
                  <a:lnTo>
                    <a:pt x="165" y="423"/>
                  </a:lnTo>
                  <a:lnTo>
                    <a:pt x="177" y="416"/>
                  </a:lnTo>
                  <a:lnTo>
                    <a:pt x="171" y="429"/>
                  </a:lnTo>
                  <a:lnTo>
                    <a:pt x="158" y="436"/>
                  </a:lnTo>
                  <a:lnTo>
                    <a:pt x="152" y="436"/>
                  </a:lnTo>
                  <a:lnTo>
                    <a:pt x="152" y="455"/>
                  </a:lnTo>
                  <a:lnTo>
                    <a:pt x="146" y="442"/>
                  </a:lnTo>
                  <a:lnTo>
                    <a:pt x="152" y="429"/>
                  </a:lnTo>
                  <a:lnTo>
                    <a:pt x="146" y="429"/>
                  </a:lnTo>
                  <a:lnTo>
                    <a:pt x="146" y="462"/>
                  </a:lnTo>
                  <a:lnTo>
                    <a:pt x="146" y="475"/>
                  </a:lnTo>
                  <a:lnTo>
                    <a:pt x="146" y="495"/>
                  </a:lnTo>
                  <a:lnTo>
                    <a:pt x="146" y="508"/>
                  </a:lnTo>
                  <a:lnTo>
                    <a:pt x="184" y="508"/>
                  </a:lnTo>
                  <a:lnTo>
                    <a:pt x="196" y="482"/>
                  </a:lnTo>
                  <a:lnTo>
                    <a:pt x="215" y="462"/>
                  </a:lnTo>
                  <a:lnTo>
                    <a:pt x="215" y="455"/>
                  </a:lnTo>
                  <a:lnTo>
                    <a:pt x="234" y="436"/>
                  </a:lnTo>
                  <a:lnTo>
                    <a:pt x="241" y="436"/>
                  </a:lnTo>
                  <a:lnTo>
                    <a:pt x="247" y="429"/>
                  </a:lnTo>
                  <a:lnTo>
                    <a:pt x="266" y="410"/>
                  </a:lnTo>
                  <a:lnTo>
                    <a:pt x="278" y="397"/>
                  </a:lnTo>
                  <a:lnTo>
                    <a:pt x="297" y="384"/>
                  </a:lnTo>
                  <a:lnTo>
                    <a:pt x="297" y="377"/>
                  </a:lnTo>
                  <a:lnTo>
                    <a:pt x="297" y="364"/>
                  </a:lnTo>
                  <a:lnTo>
                    <a:pt x="291" y="351"/>
                  </a:lnTo>
                  <a:lnTo>
                    <a:pt x="278" y="351"/>
                  </a:lnTo>
                  <a:lnTo>
                    <a:pt x="266" y="345"/>
                  </a:lnTo>
                  <a:lnTo>
                    <a:pt x="272" y="332"/>
                  </a:lnTo>
                  <a:lnTo>
                    <a:pt x="266" y="325"/>
                  </a:lnTo>
                  <a:lnTo>
                    <a:pt x="215" y="312"/>
                  </a:lnTo>
                  <a:lnTo>
                    <a:pt x="158" y="299"/>
                  </a:lnTo>
                  <a:lnTo>
                    <a:pt x="146" y="299"/>
                  </a:lnTo>
                  <a:lnTo>
                    <a:pt x="120" y="280"/>
                  </a:lnTo>
                  <a:lnTo>
                    <a:pt x="127" y="280"/>
                  </a:lnTo>
                  <a:lnTo>
                    <a:pt x="133" y="286"/>
                  </a:lnTo>
                  <a:lnTo>
                    <a:pt x="146" y="293"/>
                  </a:lnTo>
                  <a:lnTo>
                    <a:pt x="165" y="299"/>
                  </a:lnTo>
                  <a:lnTo>
                    <a:pt x="190" y="299"/>
                  </a:lnTo>
                  <a:lnTo>
                    <a:pt x="196" y="247"/>
                  </a:lnTo>
                  <a:lnTo>
                    <a:pt x="196" y="195"/>
                  </a:lnTo>
                  <a:lnTo>
                    <a:pt x="222" y="169"/>
                  </a:lnTo>
                  <a:lnTo>
                    <a:pt x="241" y="123"/>
                  </a:lnTo>
                  <a:lnTo>
                    <a:pt x="253" y="91"/>
                  </a:lnTo>
                  <a:lnTo>
                    <a:pt x="272" y="65"/>
                  </a:lnTo>
                  <a:lnTo>
                    <a:pt x="278" y="32"/>
                  </a:lnTo>
                  <a:lnTo>
                    <a:pt x="272" y="13"/>
                  </a:lnTo>
                  <a:lnTo>
                    <a:pt x="260" y="13"/>
                  </a:lnTo>
                  <a:lnTo>
                    <a:pt x="247" y="13"/>
                  </a:lnTo>
                  <a:lnTo>
                    <a:pt x="247" y="19"/>
                  </a:lnTo>
                  <a:lnTo>
                    <a:pt x="247" y="26"/>
                  </a:lnTo>
                  <a:lnTo>
                    <a:pt x="253" y="39"/>
                  </a:lnTo>
                  <a:lnTo>
                    <a:pt x="260" y="45"/>
                  </a:lnTo>
                  <a:lnTo>
                    <a:pt x="253" y="39"/>
                  </a:lnTo>
                  <a:lnTo>
                    <a:pt x="247" y="32"/>
                  </a:lnTo>
                  <a:lnTo>
                    <a:pt x="247" y="26"/>
                  </a:lnTo>
                  <a:lnTo>
                    <a:pt x="247" y="39"/>
                  </a:lnTo>
                  <a:lnTo>
                    <a:pt x="234" y="52"/>
                  </a:lnTo>
                  <a:lnTo>
                    <a:pt x="228" y="65"/>
                  </a:lnTo>
                  <a:lnTo>
                    <a:pt x="222" y="71"/>
                  </a:lnTo>
                  <a:lnTo>
                    <a:pt x="222" y="91"/>
                  </a:lnTo>
                  <a:lnTo>
                    <a:pt x="215" y="91"/>
                  </a:lnTo>
                  <a:lnTo>
                    <a:pt x="209" y="97"/>
                  </a:lnTo>
                  <a:lnTo>
                    <a:pt x="184" y="123"/>
                  </a:lnTo>
                  <a:lnTo>
                    <a:pt x="171" y="156"/>
                  </a:lnTo>
                  <a:lnTo>
                    <a:pt x="152" y="221"/>
                  </a:lnTo>
                  <a:lnTo>
                    <a:pt x="127" y="280"/>
                  </a:lnTo>
                  <a:lnTo>
                    <a:pt x="114" y="286"/>
                  </a:lnTo>
                  <a:lnTo>
                    <a:pt x="95" y="293"/>
                  </a:lnTo>
                  <a:lnTo>
                    <a:pt x="63" y="390"/>
                  </a:lnTo>
                  <a:lnTo>
                    <a:pt x="44" y="442"/>
                  </a:lnTo>
                  <a:lnTo>
                    <a:pt x="44" y="495"/>
                  </a:lnTo>
                  <a:lnTo>
                    <a:pt x="26" y="540"/>
                  </a:lnTo>
                  <a:lnTo>
                    <a:pt x="19" y="560"/>
                  </a:lnTo>
                  <a:lnTo>
                    <a:pt x="0" y="553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6" name="Freeform 10"/>
            <p:cNvSpPr>
              <a:spLocks/>
            </p:cNvSpPr>
            <p:nvPr/>
          </p:nvSpPr>
          <p:spPr bwMode="auto">
            <a:xfrm>
              <a:off x="2017" y="3071"/>
              <a:ext cx="116" cy="233"/>
            </a:xfrm>
            <a:custGeom>
              <a:avLst/>
              <a:gdLst>
                <a:gd name="T0" fmla="*/ 310 w 349"/>
                <a:gd name="T1" fmla="*/ 104 h 496"/>
                <a:gd name="T2" fmla="*/ 291 w 349"/>
                <a:gd name="T3" fmla="*/ 78 h 496"/>
                <a:gd name="T4" fmla="*/ 285 w 349"/>
                <a:gd name="T5" fmla="*/ 39 h 496"/>
                <a:gd name="T6" fmla="*/ 279 w 349"/>
                <a:gd name="T7" fmla="*/ 19 h 496"/>
                <a:gd name="T8" fmla="*/ 272 w 349"/>
                <a:gd name="T9" fmla="*/ 0 h 496"/>
                <a:gd name="T10" fmla="*/ 215 w 349"/>
                <a:gd name="T11" fmla="*/ 0 h 496"/>
                <a:gd name="T12" fmla="*/ 190 w 349"/>
                <a:gd name="T13" fmla="*/ 19 h 496"/>
                <a:gd name="T14" fmla="*/ 171 w 349"/>
                <a:gd name="T15" fmla="*/ 0 h 496"/>
                <a:gd name="T16" fmla="*/ 95 w 349"/>
                <a:gd name="T17" fmla="*/ 0 h 496"/>
                <a:gd name="T18" fmla="*/ 76 w 349"/>
                <a:gd name="T19" fmla="*/ 58 h 496"/>
                <a:gd name="T20" fmla="*/ 76 w 349"/>
                <a:gd name="T21" fmla="*/ 78 h 496"/>
                <a:gd name="T22" fmla="*/ 64 w 349"/>
                <a:gd name="T23" fmla="*/ 91 h 496"/>
                <a:gd name="T24" fmla="*/ 38 w 349"/>
                <a:gd name="T25" fmla="*/ 117 h 496"/>
                <a:gd name="T26" fmla="*/ 26 w 349"/>
                <a:gd name="T27" fmla="*/ 156 h 496"/>
                <a:gd name="T28" fmla="*/ 0 w 349"/>
                <a:gd name="T29" fmla="*/ 208 h 496"/>
                <a:gd name="T30" fmla="*/ 0 w 349"/>
                <a:gd name="T31" fmla="*/ 234 h 496"/>
                <a:gd name="T32" fmla="*/ 7 w 349"/>
                <a:gd name="T33" fmla="*/ 260 h 496"/>
                <a:gd name="T34" fmla="*/ 32 w 349"/>
                <a:gd name="T35" fmla="*/ 306 h 496"/>
                <a:gd name="T36" fmla="*/ 64 w 349"/>
                <a:gd name="T37" fmla="*/ 338 h 496"/>
                <a:gd name="T38" fmla="*/ 57 w 349"/>
                <a:gd name="T39" fmla="*/ 306 h 496"/>
                <a:gd name="T40" fmla="*/ 70 w 349"/>
                <a:gd name="T41" fmla="*/ 325 h 496"/>
                <a:gd name="T42" fmla="*/ 139 w 349"/>
                <a:gd name="T43" fmla="*/ 468 h 496"/>
                <a:gd name="T44" fmla="*/ 152 w 349"/>
                <a:gd name="T45" fmla="*/ 495 h 496"/>
                <a:gd name="T46" fmla="*/ 165 w 349"/>
                <a:gd name="T47" fmla="*/ 495 h 496"/>
                <a:gd name="T48" fmla="*/ 215 w 349"/>
                <a:gd name="T49" fmla="*/ 488 h 496"/>
                <a:gd name="T50" fmla="*/ 228 w 349"/>
                <a:gd name="T51" fmla="*/ 475 h 496"/>
                <a:gd name="T52" fmla="*/ 253 w 349"/>
                <a:gd name="T53" fmla="*/ 390 h 496"/>
                <a:gd name="T54" fmla="*/ 266 w 349"/>
                <a:gd name="T55" fmla="*/ 377 h 496"/>
                <a:gd name="T56" fmla="*/ 291 w 349"/>
                <a:gd name="T57" fmla="*/ 338 h 496"/>
                <a:gd name="T58" fmla="*/ 329 w 349"/>
                <a:gd name="T59" fmla="*/ 306 h 496"/>
                <a:gd name="T60" fmla="*/ 348 w 349"/>
                <a:gd name="T61" fmla="*/ 260 h 496"/>
                <a:gd name="T62" fmla="*/ 348 w 349"/>
                <a:gd name="T63" fmla="*/ 208 h 496"/>
                <a:gd name="T64" fmla="*/ 342 w 349"/>
                <a:gd name="T65" fmla="*/ 195 h 496"/>
                <a:gd name="T66" fmla="*/ 323 w 349"/>
                <a:gd name="T67" fmla="*/ 156 h 496"/>
                <a:gd name="T68" fmla="*/ 316 w 349"/>
                <a:gd name="T69" fmla="*/ 143 h 496"/>
                <a:gd name="T70" fmla="*/ 310 w 349"/>
                <a:gd name="T71" fmla="*/ 104 h 496"/>
                <a:gd name="T72" fmla="*/ 310 w 349"/>
                <a:gd name="T73" fmla="*/ 104 h 49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9"/>
                <a:gd name="T112" fmla="*/ 0 h 496"/>
                <a:gd name="T113" fmla="*/ 349 w 349"/>
                <a:gd name="T114" fmla="*/ 496 h 49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9" h="496">
                  <a:moveTo>
                    <a:pt x="310" y="104"/>
                  </a:moveTo>
                  <a:lnTo>
                    <a:pt x="291" y="78"/>
                  </a:lnTo>
                  <a:lnTo>
                    <a:pt x="285" y="39"/>
                  </a:lnTo>
                  <a:lnTo>
                    <a:pt x="279" y="19"/>
                  </a:lnTo>
                  <a:lnTo>
                    <a:pt x="272" y="0"/>
                  </a:lnTo>
                  <a:lnTo>
                    <a:pt x="215" y="0"/>
                  </a:lnTo>
                  <a:lnTo>
                    <a:pt x="190" y="19"/>
                  </a:lnTo>
                  <a:lnTo>
                    <a:pt x="171" y="0"/>
                  </a:lnTo>
                  <a:lnTo>
                    <a:pt x="95" y="0"/>
                  </a:lnTo>
                  <a:lnTo>
                    <a:pt x="76" y="58"/>
                  </a:lnTo>
                  <a:lnTo>
                    <a:pt x="76" y="78"/>
                  </a:lnTo>
                  <a:lnTo>
                    <a:pt x="64" y="91"/>
                  </a:lnTo>
                  <a:lnTo>
                    <a:pt x="38" y="117"/>
                  </a:lnTo>
                  <a:lnTo>
                    <a:pt x="26" y="156"/>
                  </a:lnTo>
                  <a:lnTo>
                    <a:pt x="0" y="208"/>
                  </a:lnTo>
                  <a:lnTo>
                    <a:pt x="0" y="234"/>
                  </a:lnTo>
                  <a:lnTo>
                    <a:pt x="7" y="260"/>
                  </a:lnTo>
                  <a:lnTo>
                    <a:pt x="32" y="306"/>
                  </a:lnTo>
                  <a:lnTo>
                    <a:pt x="64" y="338"/>
                  </a:lnTo>
                  <a:lnTo>
                    <a:pt x="57" y="306"/>
                  </a:lnTo>
                  <a:lnTo>
                    <a:pt x="70" y="325"/>
                  </a:lnTo>
                  <a:lnTo>
                    <a:pt x="139" y="468"/>
                  </a:lnTo>
                  <a:lnTo>
                    <a:pt x="152" y="495"/>
                  </a:lnTo>
                  <a:lnTo>
                    <a:pt x="165" y="495"/>
                  </a:lnTo>
                  <a:lnTo>
                    <a:pt x="215" y="488"/>
                  </a:lnTo>
                  <a:lnTo>
                    <a:pt x="228" y="475"/>
                  </a:lnTo>
                  <a:lnTo>
                    <a:pt x="253" y="390"/>
                  </a:lnTo>
                  <a:lnTo>
                    <a:pt x="266" y="377"/>
                  </a:lnTo>
                  <a:lnTo>
                    <a:pt x="291" y="338"/>
                  </a:lnTo>
                  <a:lnTo>
                    <a:pt x="329" y="306"/>
                  </a:lnTo>
                  <a:lnTo>
                    <a:pt x="348" y="260"/>
                  </a:lnTo>
                  <a:lnTo>
                    <a:pt x="348" y="208"/>
                  </a:lnTo>
                  <a:lnTo>
                    <a:pt x="342" y="195"/>
                  </a:lnTo>
                  <a:lnTo>
                    <a:pt x="323" y="156"/>
                  </a:lnTo>
                  <a:lnTo>
                    <a:pt x="316" y="143"/>
                  </a:lnTo>
                  <a:lnTo>
                    <a:pt x="310" y="104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7" name="Freeform 11"/>
            <p:cNvSpPr>
              <a:spLocks/>
            </p:cNvSpPr>
            <p:nvPr/>
          </p:nvSpPr>
          <p:spPr bwMode="auto">
            <a:xfrm>
              <a:off x="2005" y="3142"/>
              <a:ext cx="116" cy="233"/>
            </a:xfrm>
            <a:custGeom>
              <a:avLst/>
              <a:gdLst>
                <a:gd name="T0" fmla="*/ 322 w 380"/>
                <a:gd name="T1" fmla="*/ 7 h 444"/>
                <a:gd name="T2" fmla="*/ 335 w 380"/>
                <a:gd name="T3" fmla="*/ 59 h 444"/>
                <a:gd name="T4" fmla="*/ 354 w 380"/>
                <a:gd name="T5" fmla="*/ 85 h 444"/>
                <a:gd name="T6" fmla="*/ 335 w 380"/>
                <a:gd name="T7" fmla="*/ 33 h 444"/>
                <a:gd name="T8" fmla="*/ 347 w 380"/>
                <a:gd name="T9" fmla="*/ 20 h 444"/>
                <a:gd name="T10" fmla="*/ 354 w 380"/>
                <a:gd name="T11" fmla="*/ 26 h 444"/>
                <a:gd name="T12" fmla="*/ 354 w 380"/>
                <a:gd name="T13" fmla="*/ 98 h 444"/>
                <a:gd name="T14" fmla="*/ 360 w 380"/>
                <a:gd name="T15" fmla="*/ 144 h 444"/>
                <a:gd name="T16" fmla="*/ 318 w 380"/>
                <a:gd name="T17" fmla="*/ 229 h 444"/>
                <a:gd name="T18" fmla="*/ 265 w 380"/>
                <a:gd name="T19" fmla="*/ 293 h 444"/>
                <a:gd name="T20" fmla="*/ 227 w 380"/>
                <a:gd name="T21" fmla="*/ 391 h 444"/>
                <a:gd name="T22" fmla="*/ 164 w 380"/>
                <a:gd name="T23" fmla="*/ 398 h 444"/>
                <a:gd name="T24" fmla="*/ 82 w 380"/>
                <a:gd name="T25" fmla="*/ 228 h 444"/>
                <a:gd name="T26" fmla="*/ 76 w 380"/>
                <a:gd name="T27" fmla="*/ 241 h 444"/>
                <a:gd name="T28" fmla="*/ 57 w 380"/>
                <a:gd name="T29" fmla="*/ 222 h 444"/>
                <a:gd name="T30" fmla="*/ 12 w 380"/>
                <a:gd name="T31" fmla="*/ 111 h 444"/>
                <a:gd name="T32" fmla="*/ 19 w 380"/>
                <a:gd name="T33" fmla="*/ 26 h 444"/>
                <a:gd name="T34" fmla="*/ 25 w 380"/>
                <a:gd name="T35" fmla="*/ 20 h 444"/>
                <a:gd name="T36" fmla="*/ 38 w 380"/>
                <a:gd name="T37" fmla="*/ 52 h 444"/>
                <a:gd name="T38" fmla="*/ 12 w 380"/>
                <a:gd name="T39" fmla="*/ 111 h 444"/>
                <a:gd name="T40" fmla="*/ 50 w 380"/>
                <a:gd name="T41" fmla="*/ 46 h 444"/>
                <a:gd name="T42" fmla="*/ 44 w 380"/>
                <a:gd name="T43" fmla="*/ 7 h 444"/>
                <a:gd name="T44" fmla="*/ 0 w 380"/>
                <a:gd name="T45" fmla="*/ 33 h 444"/>
                <a:gd name="T46" fmla="*/ 0 w 380"/>
                <a:gd name="T47" fmla="*/ 111 h 444"/>
                <a:gd name="T48" fmla="*/ 31 w 380"/>
                <a:gd name="T49" fmla="*/ 215 h 444"/>
                <a:gd name="T50" fmla="*/ 94 w 380"/>
                <a:gd name="T51" fmla="*/ 287 h 444"/>
                <a:gd name="T52" fmla="*/ 145 w 380"/>
                <a:gd name="T53" fmla="*/ 391 h 444"/>
                <a:gd name="T54" fmla="*/ 151 w 380"/>
                <a:gd name="T55" fmla="*/ 404 h 444"/>
                <a:gd name="T56" fmla="*/ 158 w 380"/>
                <a:gd name="T57" fmla="*/ 424 h 444"/>
                <a:gd name="T58" fmla="*/ 196 w 380"/>
                <a:gd name="T59" fmla="*/ 443 h 444"/>
                <a:gd name="T60" fmla="*/ 202 w 380"/>
                <a:gd name="T61" fmla="*/ 443 h 444"/>
                <a:gd name="T62" fmla="*/ 227 w 380"/>
                <a:gd name="T63" fmla="*/ 437 h 444"/>
                <a:gd name="T64" fmla="*/ 227 w 380"/>
                <a:gd name="T65" fmla="*/ 417 h 444"/>
                <a:gd name="T66" fmla="*/ 221 w 380"/>
                <a:gd name="T67" fmla="*/ 411 h 444"/>
                <a:gd name="T68" fmla="*/ 215 w 380"/>
                <a:gd name="T69" fmla="*/ 430 h 444"/>
                <a:gd name="T70" fmla="*/ 183 w 380"/>
                <a:gd name="T71" fmla="*/ 437 h 444"/>
                <a:gd name="T72" fmla="*/ 170 w 380"/>
                <a:gd name="T73" fmla="*/ 411 h 444"/>
                <a:gd name="T74" fmla="*/ 227 w 380"/>
                <a:gd name="T75" fmla="*/ 417 h 444"/>
                <a:gd name="T76" fmla="*/ 246 w 380"/>
                <a:gd name="T77" fmla="*/ 404 h 444"/>
                <a:gd name="T78" fmla="*/ 272 w 380"/>
                <a:gd name="T79" fmla="*/ 326 h 444"/>
                <a:gd name="T80" fmla="*/ 354 w 380"/>
                <a:gd name="T81" fmla="*/ 202 h 444"/>
                <a:gd name="T82" fmla="*/ 379 w 380"/>
                <a:gd name="T83" fmla="*/ 163 h 444"/>
                <a:gd name="T84" fmla="*/ 379 w 380"/>
                <a:gd name="T85" fmla="*/ 111 h 444"/>
                <a:gd name="T86" fmla="*/ 379 w 380"/>
                <a:gd name="T87" fmla="*/ 85 h 444"/>
                <a:gd name="T88" fmla="*/ 366 w 380"/>
                <a:gd name="T89" fmla="*/ 13 h 444"/>
                <a:gd name="T90" fmla="*/ 328 w 380"/>
                <a:gd name="T91" fmla="*/ 0 h 44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80"/>
                <a:gd name="T139" fmla="*/ 0 h 444"/>
                <a:gd name="T140" fmla="*/ 380 w 380"/>
                <a:gd name="T141" fmla="*/ 444 h 44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80" h="444">
                  <a:moveTo>
                    <a:pt x="328" y="0"/>
                  </a:moveTo>
                  <a:lnTo>
                    <a:pt x="322" y="7"/>
                  </a:lnTo>
                  <a:lnTo>
                    <a:pt x="328" y="46"/>
                  </a:lnTo>
                  <a:lnTo>
                    <a:pt x="335" y="59"/>
                  </a:lnTo>
                  <a:lnTo>
                    <a:pt x="354" y="98"/>
                  </a:lnTo>
                  <a:lnTo>
                    <a:pt x="354" y="85"/>
                  </a:lnTo>
                  <a:lnTo>
                    <a:pt x="335" y="52"/>
                  </a:lnTo>
                  <a:lnTo>
                    <a:pt x="335" y="33"/>
                  </a:lnTo>
                  <a:lnTo>
                    <a:pt x="335" y="20"/>
                  </a:lnTo>
                  <a:lnTo>
                    <a:pt x="347" y="20"/>
                  </a:lnTo>
                  <a:lnTo>
                    <a:pt x="354" y="20"/>
                  </a:lnTo>
                  <a:lnTo>
                    <a:pt x="354" y="26"/>
                  </a:lnTo>
                  <a:lnTo>
                    <a:pt x="354" y="85"/>
                  </a:lnTo>
                  <a:lnTo>
                    <a:pt x="354" y="98"/>
                  </a:lnTo>
                  <a:lnTo>
                    <a:pt x="360" y="111"/>
                  </a:lnTo>
                  <a:lnTo>
                    <a:pt x="360" y="144"/>
                  </a:lnTo>
                  <a:lnTo>
                    <a:pt x="354" y="170"/>
                  </a:lnTo>
                  <a:lnTo>
                    <a:pt x="318" y="229"/>
                  </a:lnTo>
                  <a:lnTo>
                    <a:pt x="301" y="242"/>
                  </a:lnTo>
                  <a:lnTo>
                    <a:pt x="265" y="293"/>
                  </a:lnTo>
                  <a:lnTo>
                    <a:pt x="240" y="378"/>
                  </a:lnTo>
                  <a:lnTo>
                    <a:pt x="227" y="391"/>
                  </a:lnTo>
                  <a:lnTo>
                    <a:pt x="177" y="398"/>
                  </a:lnTo>
                  <a:lnTo>
                    <a:pt x="164" y="398"/>
                  </a:lnTo>
                  <a:lnTo>
                    <a:pt x="151" y="371"/>
                  </a:lnTo>
                  <a:lnTo>
                    <a:pt x="82" y="228"/>
                  </a:lnTo>
                  <a:lnTo>
                    <a:pt x="69" y="209"/>
                  </a:lnTo>
                  <a:lnTo>
                    <a:pt x="76" y="241"/>
                  </a:lnTo>
                  <a:lnTo>
                    <a:pt x="69" y="228"/>
                  </a:lnTo>
                  <a:lnTo>
                    <a:pt x="57" y="222"/>
                  </a:lnTo>
                  <a:lnTo>
                    <a:pt x="25" y="170"/>
                  </a:lnTo>
                  <a:lnTo>
                    <a:pt x="12" y="111"/>
                  </a:lnTo>
                  <a:lnTo>
                    <a:pt x="19" y="65"/>
                  </a:lnTo>
                  <a:lnTo>
                    <a:pt x="19" y="26"/>
                  </a:lnTo>
                  <a:lnTo>
                    <a:pt x="25" y="20"/>
                  </a:lnTo>
                  <a:lnTo>
                    <a:pt x="44" y="20"/>
                  </a:lnTo>
                  <a:lnTo>
                    <a:pt x="38" y="52"/>
                  </a:lnTo>
                  <a:lnTo>
                    <a:pt x="19" y="85"/>
                  </a:lnTo>
                  <a:lnTo>
                    <a:pt x="12" y="111"/>
                  </a:lnTo>
                  <a:lnTo>
                    <a:pt x="38" y="72"/>
                  </a:lnTo>
                  <a:lnTo>
                    <a:pt x="50" y="46"/>
                  </a:lnTo>
                  <a:lnTo>
                    <a:pt x="50" y="20"/>
                  </a:lnTo>
                  <a:lnTo>
                    <a:pt x="44" y="7"/>
                  </a:lnTo>
                  <a:lnTo>
                    <a:pt x="12" y="7"/>
                  </a:lnTo>
                  <a:lnTo>
                    <a:pt x="0" y="33"/>
                  </a:lnTo>
                  <a:lnTo>
                    <a:pt x="0" y="59"/>
                  </a:lnTo>
                  <a:lnTo>
                    <a:pt x="0" y="111"/>
                  </a:lnTo>
                  <a:lnTo>
                    <a:pt x="0" y="170"/>
                  </a:lnTo>
                  <a:lnTo>
                    <a:pt x="31" y="215"/>
                  </a:lnTo>
                  <a:lnTo>
                    <a:pt x="76" y="254"/>
                  </a:lnTo>
                  <a:lnTo>
                    <a:pt x="94" y="287"/>
                  </a:lnTo>
                  <a:lnTo>
                    <a:pt x="139" y="371"/>
                  </a:lnTo>
                  <a:lnTo>
                    <a:pt x="145" y="391"/>
                  </a:lnTo>
                  <a:lnTo>
                    <a:pt x="151" y="398"/>
                  </a:lnTo>
                  <a:lnTo>
                    <a:pt x="151" y="404"/>
                  </a:lnTo>
                  <a:lnTo>
                    <a:pt x="151" y="417"/>
                  </a:lnTo>
                  <a:lnTo>
                    <a:pt x="158" y="424"/>
                  </a:lnTo>
                  <a:lnTo>
                    <a:pt x="177" y="437"/>
                  </a:lnTo>
                  <a:lnTo>
                    <a:pt x="196" y="443"/>
                  </a:lnTo>
                  <a:lnTo>
                    <a:pt x="202" y="443"/>
                  </a:lnTo>
                  <a:lnTo>
                    <a:pt x="215" y="437"/>
                  </a:lnTo>
                  <a:lnTo>
                    <a:pt x="227" y="437"/>
                  </a:lnTo>
                  <a:lnTo>
                    <a:pt x="227" y="424"/>
                  </a:lnTo>
                  <a:lnTo>
                    <a:pt x="227" y="417"/>
                  </a:lnTo>
                  <a:lnTo>
                    <a:pt x="221" y="411"/>
                  </a:lnTo>
                  <a:lnTo>
                    <a:pt x="221" y="424"/>
                  </a:lnTo>
                  <a:lnTo>
                    <a:pt x="215" y="430"/>
                  </a:lnTo>
                  <a:lnTo>
                    <a:pt x="202" y="437"/>
                  </a:lnTo>
                  <a:lnTo>
                    <a:pt x="183" y="437"/>
                  </a:lnTo>
                  <a:lnTo>
                    <a:pt x="170" y="424"/>
                  </a:lnTo>
                  <a:lnTo>
                    <a:pt x="170" y="411"/>
                  </a:lnTo>
                  <a:lnTo>
                    <a:pt x="221" y="411"/>
                  </a:lnTo>
                  <a:lnTo>
                    <a:pt x="227" y="417"/>
                  </a:lnTo>
                  <a:lnTo>
                    <a:pt x="234" y="411"/>
                  </a:lnTo>
                  <a:lnTo>
                    <a:pt x="246" y="404"/>
                  </a:lnTo>
                  <a:lnTo>
                    <a:pt x="253" y="398"/>
                  </a:lnTo>
                  <a:lnTo>
                    <a:pt x="272" y="326"/>
                  </a:lnTo>
                  <a:lnTo>
                    <a:pt x="310" y="267"/>
                  </a:lnTo>
                  <a:lnTo>
                    <a:pt x="354" y="202"/>
                  </a:lnTo>
                  <a:lnTo>
                    <a:pt x="366" y="189"/>
                  </a:lnTo>
                  <a:lnTo>
                    <a:pt x="379" y="163"/>
                  </a:lnTo>
                  <a:lnTo>
                    <a:pt x="379" y="137"/>
                  </a:lnTo>
                  <a:lnTo>
                    <a:pt x="379" y="111"/>
                  </a:lnTo>
                  <a:lnTo>
                    <a:pt x="373" y="91"/>
                  </a:lnTo>
                  <a:lnTo>
                    <a:pt x="379" y="85"/>
                  </a:lnTo>
                  <a:lnTo>
                    <a:pt x="379" y="46"/>
                  </a:lnTo>
                  <a:lnTo>
                    <a:pt x="366" y="13"/>
                  </a:lnTo>
                  <a:lnTo>
                    <a:pt x="354" y="7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8" name="Freeform 12"/>
            <p:cNvSpPr>
              <a:spLocks/>
            </p:cNvSpPr>
            <p:nvPr/>
          </p:nvSpPr>
          <p:spPr bwMode="auto">
            <a:xfrm>
              <a:off x="2049" y="2855"/>
              <a:ext cx="116" cy="233"/>
            </a:xfrm>
            <a:custGeom>
              <a:avLst/>
              <a:gdLst>
                <a:gd name="T0" fmla="*/ 284 w 285"/>
                <a:gd name="T1" fmla="*/ 150 h 171"/>
                <a:gd name="T2" fmla="*/ 284 w 285"/>
                <a:gd name="T3" fmla="*/ 111 h 171"/>
                <a:gd name="T4" fmla="*/ 259 w 285"/>
                <a:gd name="T5" fmla="*/ 33 h 171"/>
                <a:gd name="T6" fmla="*/ 253 w 285"/>
                <a:gd name="T7" fmla="*/ 14 h 171"/>
                <a:gd name="T8" fmla="*/ 240 w 285"/>
                <a:gd name="T9" fmla="*/ 7 h 171"/>
                <a:gd name="T10" fmla="*/ 190 w 285"/>
                <a:gd name="T11" fmla="*/ 0 h 171"/>
                <a:gd name="T12" fmla="*/ 139 w 285"/>
                <a:gd name="T13" fmla="*/ 0 h 171"/>
                <a:gd name="T14" fmla="*/ 50 w 285"/>
                <a:gd name="T15" fmla="*/ 27 h 171"/>
                <a:gd name="T16" fmla="*/ 32 w 285"/>
                <a:gd name="T17" fmla="*/ 40 h 171"/>
                <a:gd name="T18" fmla="*/ 0 w 285"/>
                <a:gd name="T19" fmla="*/ 157 h 171"/>
                <a:gd name="T20" fmla="*/ 6 w 285"/>
                <a:gd name="T21" fmla="*/ 170 h 171"/>
                <a:gd name="T22" fmla="*/ 26 w 285"/>
                <a:gd name="T23" fmla="*/ 149 h 171"/>
                <a:gd name="T24" fmla="*/ 44 w 285"/>
                <a:gd name="T25" fmla="*/ 131 h 171"/>
                <a:gd name="T26" fmla="*/ 44 w 285"/>
                <a:gd name="T27" fmla="*/ 111 h 171"/>
                <a:gd name="T28" fmla="*/ 63 w 285"/>
                <a:gd name="T29" fmla="*/ 53 h 171"/>
                <a:gd name="T30" fmla="*/ 139 w 285"/>
                <a:gd name="T31" fmla="*/ 53 h 171"/>
                <a:gd name="T32" fmla="*/ 158 w 285"/>
                <a:gd name="T33" fmla="*/ 72 h 171"/>
                <a:gd name="T34" fmla="*/ 183 w 285"/>
                <a:gd name="T35" fmla="*/ 53 h 171"/>
                <a:gd name="T36" fmla="*/ 240 w 285"/>
                <a:gd name="T37" fmla="*/ 53 h 171"/>
                <a:gd name="T38" fmla="*/ 253 w 285"/>
                <a:gd name="T39" fmla="*/ 92 h 171"/>
                <a:gd name="T40" fmla="*/ 256 w 285"/>
                <a:gd name="T41" fmla="*/ 132 h 171"/>
                <a:gd name="T42" fmla="*/ 278 w 285"/>
                <a:gd name="T43" fmla="*/ 157 h 171"/>
                <a:gd name="T44" fmla="*/ 284 w 285"/>
                <a:gd name="T45" fmla="*/ 150 h 171"/>
                <a:gd name="T46" fmla="*/ 284 w 285"/>
                <a:gd name="T47" fmla="*/ 150 h 17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85"/>
                <a:gd name="T73" fmla="*/ 0 h 171"/>
                <a:gd name="T74" fmla="*/ 285 w 285"/>
                <a:gd name="T75" fmla="*/ 171 h 17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85" h="171">
                  <a:moveTo>
                    <a:pt x="284" y="150"/>
                  </a:moveTo>
                  <a:lnTo>
                    <a:pt x="284" y="111"/>
                  </a:lnTo>
                  <a:lnTo>
                    <a:pt x="259" y="33"/>
                  </a:lnTo>
                  <a:lnTo>
                    <a:pt x="253" y="14"/>
                  </a:lnTo>
                  <a:lnTo>
                    <a:pt x="240" y="7"/>
                  </a:lnTo>
                  <a:lnTo>
                    <a:pt x="190" y="0"/>
                  </a:lnTo>
                  <a:lnTo>
                    <a:pt x="139" y="0"/>
                  </a:lnTo>
                  <a:lnTo>
                    <a:pt x="50" y="27"/>
                  </a:lnTo>
                  <a:lnTo>
                    <a:pt x="32" y="40"/>
                  </a:lnTo>
                  <a:lnTo>
                    <a:pt x="0" y="157"/>
                  </a:lnTo>
                  <a:lnTo>
                    <a:pt x="6" y="170"/>
                  </a:lnTo>
                  <a:lnTo>
                    <a:pt x="26" y="149"/>
                  </a:lnTo>
                  <a:lnTo>
                    <a:pt x="44" y="131"/>
                  </a:lnTo>
                  <a:lnTo>
                    <a:pt x="44" y="111"/>
                  </a:lnTo>
                  <a:lnTo>
                    <a:pt x="63" y="53"/>
                  </a:lnTo>
                  <a:lnTo>
                    <a:pt x="139" y="53"/>
                  </a:lnTo>
                  <a:lnTo>
                    <a:pt x="158" y="72"/>
                  </a:lnTo>
                  <a:lnTo>
                    <a:pt x="183" y="53"/>
                  </a:lnTo>
                  <a:lnTo>
                    <a:pt x="240" y="53"/>
                  </a:lnTo>
                  <a:lnTo>
                    <a:pt x="253" y="92"/>
                  </a:lnTo>
                  <a:lnTo>
                    <a:pt x="256" y="132"/>
                  </a:lnTo>
                  <a:lnTo>
                    <a:pt x="278" y="157"/>
                  </a:lnTo>
                  <a:lnTo>
                    <a:pt x="284" y="150"/>
                  </a:ln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9" name="Freeform 13"/>
            <p:cNvSpPr>
              <a:spLocks/>
            </p:cNvSpPr>
            <p:nvPr/>
          </p:nvSpPr>
          <p:spPr bwMode="auto">
            <a:xfrm>
              <a:off x="2416" y="2992"/>
              <a:ext cx="116" cy="233"/>
            </a:xfrm>
            <a:custGeom>
              <a:avLst/>
              <a:gdLst>
                <a:gd name="T0" fmla="*/ 0 w 152"/>
                <a:gd name="T1" fmla="*/ 267 h 287"/>
                <a:gd name="T2" fmla="*/ 25 w 152"/>
                <a:gd name="T3" fmla="*/ 286 h 287"/>
                <a:gd name="T4" fmla="*/ 63 w 152"/>
                <a:gd name="T5" fmla="*/ 286 h 287"/>
                <a:gd name="T6" fmla="*/ 69 w 152"/>
                <a:gd name="T7" fmla="*/ 247 h 287"/>
                <a:gd name="T8" fmla="*/ 69 w 152"/>
                <a:gd name="T9" fmla="*/ 182 h 287"/>
                <a:gd name="T10" fmla="*/ 95 w 152"/>
                <a:gd name="T11" fmla="*/ 156 h 287"/>
                <a:gd name="T12" fmla="*/ 114 w 152"/>
                <a:gd name="T13" fmla="*/ 110 h 287"/>
                <a:gd name="T14" fmla="*/ 126 w 152"/>
                <a:gd name="T15" fmla="*/ 78 h 287"/>
                <a:gd name="T16" fmla="*/ 145 w 152"/>
                <a:gd name="T17" fmla="*/ 52 h 287"/>
                <a:gd name="T18" fmla="*/ 151 w 152"/>
                <a:gd name="T19" fmla="*/ 19 h 287"/>
                <a:gd name="T20" fmla="*/ 145 w 152"/>
                <a:gd name="T21" fmla="*/ 0 h 287"/>
                <a:gd name="T22" fmla="*/ 133 w 152"/>
                <a:gd name="T23" fmla="*/ 0 h 287"/>
                <a:gd name="T24" fmla="*/ 120 w 152"/>
                <a:gd name="T25" fmla="*/ 0 h 287"/>
                <a:gd name="T26" fmla="*/ 120 w 152"/>
                <a:gd name="T27" fmla="*/ 6 h 287"/>
                <a:gd name="T28" fmla="*/ 120 w 152"/>
                <a:gd name="T29" fmla="*/ 13 h 287"/>
                <a:gd name="T30" fmla="*/ 126 w 152"/>
                <a:gd name="T31" fmla="*/ 26 h 287"/>
                <a:gd name="T32" fmla="*/ 133 w 152"/>
                <a:gd name="T33" fmla="*/ 32 h 287"/>
                <a:gd name="T34" fmla="*/ 126 w 152"/>
                <a:gd name="T35" fmla="*/ 32 h 287"/>
                <a:gd name="T36" fmla="*/ 120 w 152"/>
                <a:gd name="T37" fmla="*/ 26 h 287"/>
                <a:gd name="T38" fmla="*/ 120 w 152"/>
                <a:gd name="T39" fmla="*/ 26 h 287"/>
                <a:gd name="T40" fmla="*/ 107 w 152"/>
                <a:gd name="T41" fmla="*/ 39 h 287"/>
                <a:gd name="T42" fmla="*/ 101 w 152"/>
                <a:gd name="T43" fmla="*/ 52 h 287"/>
                <a:gd name="T44" fmla="*/ 95 w 152"/>
                <a:gd name="T45" fmla="*/ 71 h 287"/>
                <a:gd name="T46" fmla="*/ 69 w 152"/>
                <a:gd name="T47" fmla="*/ 97 h 287"/>
                <a:gd name="T48" fmla="*/ 50 w 152"/>
                <a:gd name="T49" fmla="*/ 117 h 287"/>
                <a:gd name="T50" fmla="*/ 44 w 152"/>
                <a:gd name="T51" fmla="*/ 143 h 287"/>
                <a:gd name="T52" fmla="*/ 31 w 152"/>
                <a:gd name="T53" fmla="*/ 175 h 287"/>
                <a:gd name="T54" fmla="*/ 25 w 152"/>
                <a:gd name="T55" fmla="*/ 202 h 287"/>
                <a:gd name="T56" fmla="*/ 0 w 152"/>
                <a:gd name="T57" fmla="*/ 267 h 287"/>
                <a:gd name="T58" fmla="*/ 0 w 152"/>
                <a:gd name="T59" fmla="*/ 267 h 287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52"/>
                <a:gd name="T91" fmla="*/ 0 h 287"/>
                <a:gd name="T92" fmla="*/ 152 w 152"/>
                <a:gd name="T93" fmla="*/ 287 h 287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52" h="287">
                  <a:moveTo>
                    <a:pt x="0" y="267"/>
                  </a:moveTo>
                  <a:lnTo>
                    <a:pt x="25" y="286"/>
                  </a:lnTo>
                  <a:lnTo>
                    <a:pt x="63" y="286"/>
                  </a:lnTo>
                  <a:lnTo>
                    <a:pt x="69" y="247"/>
                  </a:lnTo>
                  <a:lnTo>
                    <a:pt x="69" y="182"/>
                  </a:lnTo>
                  <a:lnTo>
                    <a:pt x="95" y="156"/>
                  </a:lnTo>
                  <a:lnTo>
                    <a:pt x="114" y="110"/>
                  </a:lnTo>
                  <a:lnTo>
                    <a:pt x="126" y="78"/>
                  </a:lnTo>
                  <a:lnTo>
                    <a:pt x="145" y="52"/>
                  </a:lnTo>
                  <a:lnTo>
                    <a:pt x="151" y="19"/>
                  </a:lnTo>
                  <a:lnTo>
                    <a:pt x="145" y="0"/>
                  </a:lnTo>
                  <a:lnTo>
                    <a:pt x="133" y="0"/>
                  </a:lnTo>
                  <a:lnTo>
                    <a:pt x="120" y="0"/>
                  </a:lnTo>
                  <a:lnTo>
                    <a:pt x="120" y="6"/>
                  </a:lnTo>
                  <a:lnTo>
                    <a:pt x="120" y="13"/>
                  </a:lnTo>
                  <a:lnTo>
                    <a:pt x="126" y="26"/>
                  </a:lnTo>
                  <a:lnTo>
                    <a:pt x="133" y="32"/>
                  </a:lnTo>
                  <a:lnTo>
                    <a:pt x="126" y="32"/>
                  </a:lnTo>
                  <a:lnTo>
                    <a:pt x="120" y="26"/>
                  </a:lnTo>
                  <a:lnTo>
                    <a:pt x="107" y="39"/>
                  </a:lnTo>
                  <a:lnTo>
                    <a:pt x="101" y="52"/>
                  </a:lnTo>
                  <a:lnTo>
                    <a:pt x="95" y="71"/>
                  </a:lnTo>
                  <a:lnTo>
                    <a:pt x="69" y="97"/>
                  </a:lnTo>
                  <a:lnTo>
                    <a:pt x="50" y="117"/>
                  </a:lnTo>
                  <a:lnTo>
                    <a:pt x="44" y="143"/>
                  </a:lnTo>
                  <a:lnTo>
                    <a:pt x="31" y="175"/>
                  </a:lnTo>
                  <a:lnTo>
                    <a:pt x="25" y="202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FFFFCC"/>
            </a:solidFill>
            <a:ln w="317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0" name="Freeform 14"/>
            <p:cNvSpPr>
              <a:spLocks/>
            </p:cNvSpPr>
            <p:nvPr/>
          </p:nvSpPr>
          <p:spPr bwMode="auto">
            <a:xfrm>
              <a:off x="1973" y="3448"/>
              <a:ext cx="116" cy="233"/>
            </a:xfrm>
            <a:custGeom>
              <a:avLst/>
              <a:gdLst>
                <a:gd name="T0" fmla="*/ 202 w 203"/>
                <a:gd name="T1" fmla="*/ 260 h 261"/>
                <a:gd name="T2" fmla="*/ 202 w 203"/>
                <a:gd name="T3" fmla="*/ 221 h 261"/>
                <a:gd name="T4" fmla="*/ 183 w 203"/>
                <a:gd name="T5" fmla="*/ 52 h 261"/>
                <a:gd name="T6" fmla="*/ 177 w 203"/>
                <a:gd name="T7" fmla="*/ 19 h 261"/>
                <a:gd name="T8" fmla="*/ 183 w 203"/>
                <a:gd name="T9" fmla="*/ 6 h 261"/>
                <a:gd name="T10" fmla="*/ 183 w 203"/>
                <a:gd name="T11" fmla="*/ 0 h 261"/>
                <a:gd name="T12" fmla="*/ 152 w 203"/>
                <a:gd name="T13" fmla="*/ 39 h 261"/>
                <a:gd name="T14" fmla="*/ 44 w 203"/>
                <a:gd name="T15" fmla="*/ 84 h 261"/>
                <a:gd name="T16" fmla="*/ 38 w 203"/>
                <a:gd name="T17" fmla="*/ 78 h 261"/>
                <a:gd name="T18" fmla="*/ 0 w 203"/>
                <a:gd name="T19" fmla="*/ 104 h 261"/>
                <a:gd name="T20" fmla="*/ 57 w 203"/>
                <a:gd name="T21" fmla="*/ 260 h 261"/>
                <a:gd name="T22" fmla="*/ 202 w 203"/>
                <a:gd name="T23" fmla="*/ 260 h 261"/>
                <a:gd name="T24" fmla="*/ 202 w 203"/>
                <a:gd name="T25" fmla="*/ 260 h 2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3"/>
                <a:gd name="T40" fmla="*/ 0 h 261"/>
                <a:gd name="T41" fmla="*/ 203 w 203"/>
                <a:gd name="T42" fmla="*/ 261 h 26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3" h="261">
                  <a:moveTo>
                    <a:pt x="202" y="260"/>
                  </a:moveTo>
                  <a:lnTo>
                    <a:pt x="202" y="221"/>
                  </a:lnTo>
                  <a:lnTo>
                    <a:pt x="183" y="52"/>
                  </a:lnTo>
                  <a:lnTo>
                    <a:pt x="177" y="19"/>
                  </a:lnTo>
                  <a:lnTo>
                    <a:pt x="183" y="6"/>
                  </a:lnTo>
                  <a:lnTo>
                    <a:pt x="183" y="0"/>
                  </a:lnTo>
                  <a:lnTo>
                    <a:pt x="152" y="39"/>
                  </a:lnTo>
                  <a:lnTo>
                    <a:pt x="44" y="84"/>
                  </a:lnTo>
                  <a:lnTo>
                    <a:pt x="38" y="78"/>
                  </a:lnTo>
                  <a:lnTo>
                    <a:pt x="0" y="104"/>
                  </a:lnTo>
                  <a:lnTo>
                    <a:pt x="57" y="260"/>
                  </a:lnTo>
                  <a:lnTo>
                    <a:pt x="202" y="260"/>
                  </a:lnTo>
                  <a:close/>
                </a:path>
              </a:pathLst>
            </a:custGeom>
            <a:solidFill>
              <a:srgbClr val="996633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1" name="Freeform 15"/>
            <p:cNvSpPr>
              <a:spLocks/>
            </p:cNvSpPr>
            <p:nvPr/>
          </p:nvSpPr>
          <p:spPr bwMode="auto">
            <a:xfrm>
              <a:off x="2226" y="3455"/>
              <a:ext cx="116" cy="233"/>
            </a:xfrm>
            <a:custGeom>
              <a:avLst/>
              <a:gdLst>
                <a:gd name="T0" fmla="*/ 101 w 191"/>
                <a:gd name="T1" fmla="*/ 143 h 248"/>
                <a:gd name="T2" fmla="*/ 82 w 191"/>
                <a:gd name="T3" fmla="*/ 136 h 248"/>
                <a:gd name="T4" fmla="*/ 82 w 191"/>
                <a:gd name="T5" fmla="*/ 117 h 248"/>
                <a:gd name="T6" fmla="*/ 70 w 191"/>
                <a:gd name="T7" fmla="*/ 110 h 248"/>
                <a:gd name="T8" fmla="*/ 70 w 191"/>
                <a:gd name="T9" fmla="*/ 117 h 248"/>
                <a:gd name="T10" fmla="*/ 70 w 191"/>
                <a:gd name="T11" fmla="*/ 123 h 248"/>
                <a:gd name="T12" fmla="*/ 89 w 191"/>
                <a:gd name="T13" fmla="*/ 143 h 248"/>
                <a:gd name="T14" fmla="*/ 107 w 191"/>
                <a:gd name="T15" fmla="*/ 162 h 248"/>
                <a:gd name="T16" fmla="*/ 114 w 191"/>
                <a:gd name="T17" fmla="*/ 156 h 248"/>
                <a:gd name="T18" fmla="*/ 107 w 191"/>
                <a:gd name="T19" fmla="*/ 169 h 248"/>
                <a:gd name="T20" fmla="*/ 107 w 191"/>
                <a:gd name="T21" fmla="*/ 201 h 248"/>
                <a:gd name="T22" fmla="*/ 101 w 191"/>
                <a:gd name="T23" fmla="*/ 214 h 248"/>
                <a:gd name="T24" fmla="*/ 89 w 191"/>
                <a:gd name="T25" fmla="*/ 208 h 248"/>
                <a:gd name="T26" fmla="*/ 82 w 191"/>
                <a:gd name="T27" fmla="*/ 195 h 248"/>
                <a:gd name="T28" fmla="*/ 70 w 191"/>
                <a:gd name="T29" fmla="*/ 188 h 248"/>
                <a:gd name="T30" fmla="*/ 57 w 191"/>
                <a:gd name="T31" fmla="*/ 182 h 248"/>
                <a:gd name="T32" fmla="*/ 38 w 191"/>
                <a:gd name="T33" fmla="*/ 169 h 248"/>
                <a:gd name="T34" fmla="*/ 38 w 191"/>
                <a:gd name="T35" fmla="*/ 162 h 248"/>
                <a:gd name="T36" fmla="*/ 44 w 191"/>
                <a:gd name="T37" fmla="*/ 156 h 248"/>
                <a:gd name="T38" fmla="*/ 51 w 191"/>
                <a:gd name="T39" fmla="*/ 143 h 248"/>
                <a:gd name="T40" fmla="*/ 57 w 191"/>
                <a:gd name="T41" fmla="*/ 143 h 248"/>
                <a:gd name="T42" fmla="*/ 63 w 191"/>
                <a:gd name="T43" fmla="*/ 110 h 248"/>
                <a:gd name="T44" fmla="*/ 63 w 191"/>
                <a:gd name="T45" fmla="*/ 117 h 248"/>
                <a:gd name="T46" fmla="*/ 70 w 191"/>
                <a:gd name="T47" fmla="*/ 117 h 248"/>
                <a:gd name="T48" fmla="*/ 70 w 191"/>
                <a:gd name="T49" fmla="*/ 110 h 248"/>
                <a:gd name="T50" fmla="*/ 82 w 191"/>
                <a:gd name="T51" fmla="*/ 91 h 248"/>
                <a:gd name="T52" fmla="*/ 82 w 191"/>
                <a:gd name="T53" fmla="*/ 65 h 248"/>
                <a:gd name="T54" fmla="*/ 63 w 191"/>
                <a:gd name="T55" fmla="*/ 58 h 248"/>
                <a:gd name="T56" fmla="*/ 57 w 191"/>
                <a:gd name="T57" fmla="*/ 52 h 248"/>
                <a:gd name="T58" fmla="*/ 13 w 191"/>
                <a:gd name="T59" fmla="*/ 0 h 248"/>
                <a:gd name="T60" fmla="*/ 6 w 191"/>
                <a:gd name="T61" fmla="*/ 0 h 248"/>
                <a:gd name="T62" fmla="*/ 19 w 191"/>
                <a:gd name="T63" fmla="*/ 26 h 248"/>
                <a:gd name="T64" fmla="*/ 19 w 191"/>
                <a:gd name="T65" fmla="*/ 26 h 248"/>
                <a:gd name="T66" fmla="*/ 6 w 191"/>
                <a:gd name="T67" fmla="*/ 84 h 248"/>
                <a:gd name="T68" fmla="*/ 6 w 191"/>
                <a:gd name="T69" fmla="*/ 104 h 248"/>
                <a:gd name="T70" fmla="*/ 6 w 191"/>
                <a:gd name="T71" fmla="*/ 123 h 248"/>
                <a:gd name="T72" fmla="*/ 0 w 191"/>
                <a:gd name="T73" fmla="*/ 149 h 248"/>
                <a:gd name="T74" fmla="*/ 6 w 191"/>
                <a:gd name="T75" fmla="*/ 247 h 248"/>
                <a:gd name="T76" fmla="*/ 190 w 191"/>
                <a:gd name="T77" fmla="*/ 247 h 248"/>
                <a:gd name="T78" fmla="*/ 183 w 191"/>
                <a:gd name="T79" fmla="*/ 221 h 248"/>
                <a:gd name="T80" fmla="*/ 177 w 191"/>
                <a:gd name="T81" fmla="*/ 195 h 248"/>
                <a:gd name="T82" fmla="*/ 183 w 191"/>
                <a:gd name="T83" fmla="*/ 169 h 248"/>
                <a:gd name="T84" fmla="*/ 177 w 191"/>
                <a:gd name="T85" fmla="*/ 123 h 248"/>
                <a:gd name="T86" fmla="*/ 171 w 191"/>
                <a:gd name="T87" fmla="*/ 91 h 248"/>
                <a:gd name="T88" fmla="*/ 139 w 191"/>
                <a:gd name="T89" fmla="*/ 91 h 248"/>
                <a:gd name="T90" fmla="*/ 126 w 191"/>
                <a:gd name="T91" fmla="*/ 91 h 248"/>
                <a:gd name="T92" fmla="*/ 145 w 191"/>
                <a:gd name="T93" fmla="*/ 91 h 248"/>
                <a:gd name="T94" fmla="*/ 101 w 191"/>
                <a:gd name="T95" fmla="*/ 143 h 248"/>
                <a:gd name="T96" fmla="*/ 101 w 191"/>
                <a:gd name="T97" fmla="*/ 143 h 2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1"/>
                <a:gd name="T148" fmla="*/ 0 h 248"/>
                <a:gd name="T149" fmla="*/ 191 w 191"/>
                <a:gd name="T150" fmla="*/ 248 h 2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1" h="248">
                  <a:moveTo>
                    <a:pt x="101" y="143"/>
                  </a:moveTo>
                  <a:lnTo>
                    <a:pt x="82" y="136"/>
                  </a:lnTo>
                  <a:lnTo>
                    <a:pt x="82" y="117"/>
                  </a:lnTo>
                  <a:lnTo>
                    <a:pt x="70" y="110"/>
                  </a:lnTo>
                  <a:lnTo>
                    <a:pt x="70" y="117"/>
                  </a:lnTo>
                  <a:lnTo>
                    <a:pt x="70" y="123"/>
                  </a:lnTo>
                  <a:lnTo>
                    <a:pt x="89" y="143"/>
                  </a:lnTo>
                  <a:lnTo>
                    <a:pt x="107" y="162"/>
                  </a:lnTo>
                  <a:lnTo>
                    <a:pt x="114" y="156"/>
                  </a:lnTo>
                  <a:lnTo>
                    <a:pt x="107" y="169"/>
                  </a:lnTo>
                  <a:lnTo>
                    <a:pt x="107" y="201"/>
                  </a:lnTo>
                  <a:lnTo>
                    <a:pt x="101" y="214"/>
                  </a:lnTo>
                  <a:lnTo>
                    <a:pt x="89" y="208"/>
                  </a:lnTo>
                  <a:lnTo>
                    <a:pt x="82" y="195"/>
                  </a:lnTo>
                  <a:lnTo>
                    <a:pt x="70" y="188"/>
                  </a:lnTo>
                  <a:lnTo>
                    <a:pt x="57" y="182"/>
                  </a:lnTo>
                  <a:lnTo>
                    <a:pt x="38" y="169"/>
                  </a:lnTo>
                  <a:lnTo>
                    <a:pt x="38" y="162"/>
                  </a:lnTo>
                  <a:lnTo>
                    <a:pt x="44" y="156"/>
                  </a:lnTo>
                  <a:lnTo>
                    <a:pt x="51" y="143"/>
                  </a:lnTo>
                  <a:lnTo>
                    <a:pt x="57" y="143"/>
                  </a:lnTo>
                  <a:lnTo>
                    <a:pt x="63" y="110"/>
                  </a:lnTo>
                  <a:lnTo>
                    <a:pt x="63" y="117"/>
                  </a:lnTo>
                  <a:lnTo>
                    <a:pt x="70" y="117"/>
                  </a:lnTo>
                  <a:lnTo>
                    <a:pt x="70" y="110"/>
                  </a:lnTo>
                  <a:lnTo>
                    <a:pt x="82" y="91"/>
                  </a:lnTo>
                  <a:lnTo>
                    <a:pt x="82" y="65"/>
                  </a:lnTo>
                  <a:lnTo>
                    <a:pt x="63" y="58"/>
                  </a:lnTo>
                  <a:lnTo>
                    <a:pt x="57" y="5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19" y="26"/>
                  </a:lnTo>
                  <a:lnTo>
                    <a:pt x="6" y="84"/>
                  </a:lnTo>
                  <a:lnTo>
                    <a:pt x="6" y="104"/>
                  </a:lnTo>
                  <a:lnTo>
                    <a:pt x="6" y="123"/>
                  </a:lnTo>
                  <a:lnTo>
                    <a:pt x="0" y="149"/>
                  </a:lnTo>
                  <a:lnTo>
                    <a:pt x="6" y="247"/>
                  </a:lnTo>
                  <a:lnTo>
                    <a:pt x="190" y="247"/>
                  </a:lnTo>
                  <a:lnTo>
                    <a:pt x="183" y="221"/>
                  </a:lnTo>
                  <a:lnTo>
                    <a:pt x="177" y="195"/>
                  </a:lnTo>
                  <a:lnTo>
                    <a:pt x="183" y="169"/>
                  </a:lnTo>
                  <a:lnTo>
                    <a:pt x="177" y="123"/>
                  </a:lnTo>
                  <a:lnTo>
                    <a:pt x="171" y="91"/>
                  </a:lnTo>
                  <a:lnTo>
                    <a:pt x="139" y="91"/>
                  </a:lnTo>
                  <a:lnTo>
                    <a:pt x="126" y="91"/>
                  </a:lnTo>
                  <a:lnTo>
                    <a:pt x="145" y="91"/>
                  </a:lnTo>
                  <a:lnTo>
                    <a:pt x="101" y="143"/>
                  </a:lnTo>
                  <a:close/>
                </a:path>
              </a:pathLst>
            </a:custGeom>
            <a:solidFill>
              <a:srgbClr val="996633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2" name="Freeform 16" descr="花岗岩"/>
            <p:cNvSpPr>
              <a:spLocks/>
            </p:cNvSpPr>
            <p:nvPr/>
          </p:nvSpPr>
          <p:spPr bwMode="auto">
            <a:xfrm>
              <a:off x="2175" y="3471"/>
              <a:ext cx="116" cy="233"/>
            </a:xfrm>
            <a:custGeom>
              <a:avLst/>
              <a:gdLst>
                <a:gd name="T0" fmla="*/ 57 w 58"/>
                <a:gd name="T1" fmla="*/ 215 h 216"/>
                <a:gd name="T2" fmla="*/ 51 w 58"/>
                <a:gd name="T3" fmla="*/ 156 h 216"/>
                <a:gd name="T4" fmla="*/ 51 w 58"/>
                <a:gd name="T5" fmla="*/ 117 h 216"/>
                <a:gd name="T6" fmla="*/ 45 w 58"/>
                <a:gd name="T7" fmla="*/ 98 h 216"/>
                <a:gd name="T8" fmla="*/ 38 w 58"/>
                <a:gd name="T9" fmla="*/ 59 h 216"/>
                <a:gd name="T10" fmla="*/ 45 w 58"/>
                <a:gd name="T11" fmla="*/ 33 h 216"/>
                <a:gd name="T12" fmla="*/ 51 w 58"/>
                <a:gd name="T13" fmla="*/ 33 h 216"/>
                <a:gd name="T14" fmla="*/ 32 w 58"/>
                <a:gd name="T15" fmla="*/ 0 h 216"/>
                <a:gd name="T16" fmla="*/ 32 w 58"/>
                <a:gd name="T17" fmla="*/ 0 h 216"/>
                <a:gd name="T18" fmla="*/ 26 w 58"/>
                <a:gd name="T19" fmla="*/ 0 h 216"/>
                <a:gd name="T20" fmla="*/ 19 w 58"/>
                <a:gd name="T21" fmla="*/ 0 h 216"/>
                <a:gd name="T22" fmla="*/ 7 w 58"/>
                <a:gd name="T23" fmla="*/ 33 h 216"/>
                <a:gd name="T24" fmla="*/ 13 w 58"/>
                <a:gd name="T25" fmla="*/ 39 h 216"/>
                <a:gd name="T26" fmla="*/ 26 w 58"/>
                <a:gd name="T27" fmla="*/ 52 h 216"/>
                <a:gd name="T28" fmla="*/ 0 w 58"/>
                <a:gd name="T29" fmla="*/ 176 h 216"/>
                <a:gd name="T30" fmla="*/ 0 w 58"/>
                <a:gd name="T31" fmla="*/ 176 h 216"/>
                <a:gd name="T32" fmla="*/ 0 w 58"/>
                <a:gd name="T33" fmla="*/ 215 h 216"/>
                <a:gd name="T34" fmla="*/ 57 w 58"/>
                <a:gd name="T35" fmla="*/ 215 h 216"/>
                <a:gd name="T36" fmla="*/ 57 w 58"/>
                <a:gd name="T37" fmla="*/ 215 h 21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8"/>
                <a:gd name="T58" fmla="*/ 0 h 216"/>
                <a:gd name="T59" fmla="*/ 58 w 58"/>
                <a:gd name="T60" fmla="*/ 216 h 21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8" h="216">
                  <a:moveTo>
                    <a:pt x="57" y="215"/>
                  </a:moveTo>
                  <a:lnTo>
                    <a:pt x="51" y="156"/>
                  </a:lnTo>
                  <a:lnTo>
                    <a:pt x="51" y="117"/>
                  </a:lnTo>
                  <a:lnTo>
                    <a:pt x="45" y="98"/>
                  </a:lnTo>
                  <a:lnTo>
                    <a:pt x="38" y="59"/>
                  </a:lnTo>
                  <a:lnTo>
                    <a:pt x="45" y="33"/>
                  </a:lnTo>
                  <a:lnTo>
                    <a:pt x="51" y="33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7" y="33"/>
                  </a:lnTo>
                  <a:lnTo>
                    <a:pt x="13" y="39"/>
                  </a:lnTo>
                  <a:lnTo>
                    <a:pt x="26" y="52"/>
                  </a:lnTo>
                  <a:lnTo>
                    <a:pt x="0" y="176"/>
                  </a:lnTo>
                  <a:lnTo>
                    <a:pt x="0" y="215"/>
                  </a:lnTo>
                  <a:lnTo>
                    <a:pt x="57" y="215"/>
                  </a:lnTo>
                  <a:close/>
                </a:path>
              </a:pathLst>
            </a:custGeom>
            <a:blipFill dpi="0" rotWithShape="1">
              <a:blip r:embed="rId6"/>
              <a:srcRect/>
              <a:tile tx="0" ty="0" sx="100000" sy="100000" flip="none" algn="tl"/>
            </a:blip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3" name="Freeform 17"/>
            <p:cNvSpPr>
              <a:spLocks/>
            </p:cNvSpPr>
            <p:nvPr/>
          </p:nvSpPr>
          <p:spPr bwMode="auto">
            <a:xfrm>
              <a:off x="2099" y="3162"/>
              <a:ext cx="116" cy="233"/>
            </a:xfrm>
            <a:custGeom>
              <a:avLst/>
              <a:gdLst>
                <a:gd name="T0" fmla="*/ 178 w 191"/>
                <a:gd name="T1" fmla="*/ 19 h 118"/>
                <a:gd name="T2" fmla="*/ 184 w 191"/>
                <a:gd name="T3" fmla="*/ 19 h 118"/>
                <a:gd name="T4" fmla="*/ 184 w 191"/>
                <a:gd name="T5" fmla="*/ 26 h 118"/>
                <a:gd name="T6" fmla="*/ 184 w 191"/>
                <a:gd name="T7" fmla="*/ 26 h 118"/>
                <a:gd name="T8" fmla="*/ 184 w 191"/>
                <a:gd name="T9" fmla="*/ 32 h 118"/>
                <a:gd name="T10" fmla="*/ 171 w 191"/>
                <a:gd name="T11" fmla="*/ 58 h 118"/>
                <a:gd name="T12" fmla="*/ 165 w 191"/>
                <a:gd name="T13" fmla="*/ 65 h 118"/>
                <a:gd name="T14" fmla="*/ 165 w 191"/>
                <a:gd name="T15" fmla="*/ 65 h 118"/>
                <a:gd name="T16" fmla="*/ 140 w 191"/>
                <a:gd name="T17" fmla="*/ 97 h 118"/>
                <a:gd name="T18" fmla="*/ 140 w 191"/>
                <a:gd name="T19" fmla="*/ 97 h 118"/>
                <a:gd name="T20" fmla="*/ 133 w 191"/>
                <a:gd name="T21" fmla="*/ 104 h 118"/>
                <a:gd name="T22" fmla="*/ 133 w 191"/>
                <a:gd name="T23" fmla="*/ 104 h 118"/>
                <a:gd name="T24" fmla="*/ 127 w 191"/>
                <a:gd name="T25" fmla="*/ 104 h 118"/>
                <a:gd name="T26" fmla="*/ 114 w 191"/>
                <a:gd name="T27" fmla="*/ 110 h 118"/>
                <a:gd name="T28" fmla="*/ 108 w 191"/>
                <a:gd name="T29" fmla="*/ 110 h 118"/>
                <a:gd name="T30" fmla="*/ 102 w 191"/>
                <a:gd name="T31" fmla="*/ 110 h 118"/>
                <a:gd name="T32" fmla="*/ 89 w 191"/>
                <a:gd name="T33" fmla="*/ 110 h 118"/>
                <a:gd name="T34" fmla="*/ 76 w 191"/>
                <a:gd name="T35" fmla="*/ 104 h 118"/>
                <a:gd name="T36" fmla="*/ 70 w 191"/>
                <a:gd name="T37" fmla="*/ 104 h 118"/>
                <a:gd name="T38" fmla="*/ 64 w 191"/>
                <a:gd name="T39" fmla="*/ 97 h 118"/>
                <a:gd name="T40" fmla="*/ 57 w 191"/>
                <a:gd name="T41" fmla="*/ 91 h 118"/>
                <a:gd name="T42" fmla="*/ 45 w 191"/>
                <a:gd name="T43" fmla="*/ 84 h 118"/>
                <a:gd name="T44" fmla="*/ 32 w 191"/>
                <a:gd name="T45" fmla="*/ 58 h 118"/>
                <a:gd name="T46" fmla="*/ 19 w 191"/>
                <a:gd name="T47" fmla="*/ 32 h 118"/>
                <a:gd name="T48" fmla="*/ 13 w 191"/>
                <a:gd name="T49" fmla="*/ 26 h 118"/>
                <a:gd name="T50" fmla="*/ 7 w 191"/>
                <a:gd name="T51" fmla="*/ 19 h 118"/>
                <a:gd name="T52" fmla="*/ 45 w 191"/>
                <a:gd name="T53" fmla="*/ 97 h 118"/>
                <a:gd name="T54" fmla="*/ 64 w 191"/>
                <a:gd name="T55" fmla="*/ 110 h 118"/>
                <a:gd name="T56" fmla="*/ 108 w 191"/>
                <a:gd name="T57" fmla="*/ 117 h 118"/>
                <a:gd name="T58" fmla="*/ 146 w 191"/>
                <a:gd name="T59" fmla="*/ 110 h 118"/>
                <a:gd name="T60" fmla="*/ 171 w 191"/>
                <a:gd name="T61" fmla="*/ 71 h 118"/>
                <a:gd name="T62" fmla="*/ 184 w 191"/>
                <a:gd name="T63" fmla="*/ 26 h 118"/>
                <a:gd name="T64" fmla="*/ 184 w 191"/>
                <a:gd name="T65" fmla="*/ 26 h 118"/>
                <a:gd name="T66" fmla="*/ 190 w 191"/>
                <a:gd name="T67" fmla="*/ 32 h 118"/>
                <a:gd name="T68" fmla="*/ 184 w 191"/>
                <a:gd name="T69" fmla="*/ 19 h 118"/>
                <a:gd name="T70" fmla="*/ 190 w 191"/>
                <a:gd name="T71" fmla="*/ 6 h 118"/>
                <a:gd name="T72" fmla="*/ 184 w 191"/>
                <a:gd name="T73" fmla="*/ 13 h 118"/>
                <a:gd name="T74" fmla="*/ 178 w 191"/>
                <a:gd name="T75" fmla="*/ 6 h 118"/>
                <a:gd name="T76" fmla="*/ 140 w 191"/>
                <a:gd name="T77" fmla="*/ 6 h 118"/>
                <a:gd name="T78" fmla="*/ 108 w 191"/>
                <a:gd name="T79" fmla="*/ 6 h 118"/>
                <a:gd name="T80" fmla="*/ 76 w 191"/>
                <a:gd name="T81" fmla="*/ 6 h 118"/>
                <a:gd name="T82" fmla="*/ 38 w 191"/>
                <a:gd name="T83" fmla="*/ 0 h 118"/>
                <a:gd name="T84" fmla="*/ 26 w 191"/>
                <a:gd name="T85" fmla="*/ 0 h 118"/>
                <a:gd name="T86" fmla="*/ 7 w 191"/>
                <a:gd name="T87" fmla="*/ 6 h 118"/>
                <a:gd name="T88" fmla="*/ 7 w 191"/>
                <a:gd name="T89" fmla="*/ 6 h 118"/>
                <a:gd name="T90" fmla="*/ 0 w 191"/>
                <a:gd name="T91" fmla="*/ 6 h 118"/>
                <a:gd name="T92" fmla="*/ 7 w 191"/>
                <a:gd name="T93" fmla="*/ 13 h 118"/>
                <a:gd name="T94" fmla="*/ 0 w 191"/>
                <a:gd name="T95" fmla="*/ 19 h 118"/>
                <a:gd name="T96" fmla="*/ 7 w 191"/>
                <a:gd name="T97" fmla="*/ 19 h 118"/>
                <a:gd name="T98" fmla="*/ 19 w 191"/>
                <a:gd name="T99" fmla="*/ 13 h 118"/>
                <a:gd name="T100" fmla="*/ 32 w 191"/>
                <a:gd name="T101" fmla="*/ 6 h 118"/>
                <a:gd name="T102" fmla="*/ 83 w 191"/>
                <a:gd name="T103" fmla="*/ 13 h 118"/>
                <a:gd name="T104" fmla="*/ 140 w 191"/>
                <a:gd name="T105" fmla="*/ 19 h 118"/>
                <a:gd name="T106" fmla="*/ 159 w 191"/>
                <a:gd name="T107" fmla="*/ 13 h 118"/>
                <a:gd name="T108" fmla="*/ 178 w 191"/>
                <a:gd name="T109" fmla="*/ 19 h 118"/>
                <a:gd name="T110" fmla="*/ 178 w 191"/>
                <a:gd name="T111" fmla="*/ 19 h 11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91"/>
                <a:gd name="T169" fmla="*/ 0 h 118"/>
                <a:gd name="T170" fmla="*/ 191 w 191"/>
                <a:gd name="T171" fmla="*/ 118 h 11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91" h="118">
                  <a:moveTo>
                    <a:pt x="178" y="19"/>
                  </a:moveTo>
                  <a:lnTo>
                    <a:pt x="184" y="19"/>
                  </a:lnTo>
                  <a:lnTo>
                    <a:pt x="184" y="26"/>
                  </a:lnTo>
                  <a:lnTo>
                    <a:pt x="184" y="32"/>
                  </a:lnTo>
                  <a:lnTo>
                    <a:pt x="171" y="58"/>
                  </a:lnTo>
                  <a:lnTo>
                    <a:pt x="165" y="65"/>
                  </a:lnTo>
                  <a:lnTo>
                    <a:pt x="140" y="97"/>
                  </a:lnTo>
                  <a:lnTo>
                    <a:pt x="133" y="104"/>
                  </a:lnTo>
                  <a:lnTo>
                    <a:pt x="127" y="104"/>
                  </a:lnTo>
                  <a:lnTo>
                    <a:pt x="114" y="110"/>
                  </a:lnTo>
                  <a:lnTo>
                    <a:pt x="108" y="110"/>
                  </a:lnTo>
                  <a:lnTo>
                    <a:pt x="102" y="110"/>
                  </a:lnTo>
                  <a:lnTo>
                    <a:pt x="89" y="110"/>
                  </a:lnTo>
                  <a:lnTo>
                    <a:pt x="76" y="104"/>
                  </a:lnTo>
                  <a:lnTo>
                    <a:pt x="70" y="104"/>
                  </a:lnTo>
                  <a:lnTo>
                    <a:pt x="64" y="97"/>
                  </a:lnTo>
                  <a:lnTo>
                    <a:pt x="57" y="91"/>
                  </a:lnTo>
                  <a:lnTo>
                    <a:pt x="45" y="84"/>
                  </a:lnTo>
                  <a:lnTo>
                    <a:pt x="32" y="58"/>
                  </a:lnTo>
                  <a:lnTo>
                    <a:pt x="19" y="32"/>
                  </a:lnTo>
                  <a:lnTo>
                    <a:pt x="13" y="26"/>
                  </a:lnTo>
                  <a:lnTo>
                    <a:pt x="7" y="19"/>
                  </a:lnTo>
                  <a:lnTo>
                    <a:pt x="45" y="97"/>
                  </a:lnTo>
                  <a:lnTo>
                    <a:pt x="64" y="110"/>
                  </a:lnTo>
                  <a:lnTo>
                    <a:pt x="108" y="117"/>
                  </a:lnTo>
                  <a:lnTo>
                    <a:pt x="146" y="110"/>
                  </a:lnTo>
                  <a:lnTo>
                    <a:pt x="171" y="71"/>
                  </a:lnTo>
                  <a:lnTo>
                    <a:pt x="184" y="26"/>
                  </a:lnTo>
                  <a:lnTo>
                    <a:pt x="190" y="32"/>
                  </a:lnTo>
                  <a:lnTo>
                    <a:pt x="184" y="19"/>
                  </a:lnTo>
                  <a:lnTo>
                    <a:pt x="190" y="6"/>
                  </a:lnTo>
                  <a:lnTo>
                    <a:pt x="184" y="13"/>
                  </a:lnTo>
                  <a:lnTo>
                    <a:pt x="178" y="6"/>
                  </a:lnTo>
                  <a:lnTo>
                    <a:pt x="140" y="6"/>
                  </a:lnTo>
                  <a:lnTo>
                    <a:pt x="108" y="6"/>
                  </a:lnTo>
                  <a:lnTo>
                    <a:pt x="76" y="6"/>
                  </a:lnTo>
                  <a:lnTo>
                    <a:pt x="38" y="0"/>
                  </a:lnTo>
                  <a:lnTo>
                    <a:pt x="26" y="0"/>
                  </a:lnTo>
                  <a:lnTo>
                    <a:pt x="7" y="6"/>
                  </a:lnTo>
                  <a:lnTo>
                    <a:pt x="0" y="6"/>
                  </a:lnTo>
                  <a:lnTo>
                    <a:pt x="7" y="13"/>
                  </a:lnTo>
                  <a:lnTo>
                    <a:pt x="0" y="19"/>
                  </a:lnTo>
                  <a:lnTo>
                    <a:pt x="7" y="19"/>
                  </a:lnTo>
                  <a:lnTo>
                    <a:pt x="19" y="13"/>
                  </a:lnTo>
                  <a:lnTo>
                    <a:pt x="32" y="6"/>
                  </a:lnTo>
                  <a:lnTo>
                    <a:pt x="83" y="13"/>
                  </a:lnTo>
                  <a:lnTo>
                    <a:pt x="140" y="19"/>
                  </a:lnTo>
                  <a:lnTo>
                    <a:pt x="159" y="13"/>
                  </a:lnTo>
                  <a:lnTo>
                    <a:pt x="178" y="19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4" name="Freeform 18"/>
            <p:cNvSpPr>
              <a:spLocks/>
            </p:cNvSpPr>
            <p:nvPr/>
          </p:nvSpPr>
          <p:spPr bwMode="auto">
            <a:xfrm>
              <a:off x="2106" y="3152"/>
              <a:ext cx="116" cy="233"/>
            </a:xfrm>
            <a:custGeom>
              <a:avLst/>
              <a:gdLst>
                <a:gd name="T0" fmla="*/ 0 w 178"/>
                <a:gd name="T1" fmla="*/ 6 h 72"/>
                <a:gd name="T2" fmla="*/ 6 w 178"/>
                <a:gd name="T3" fmla="*/ 13 h 72"/>
                <a:gd name="T4" fmla="*/ 19 w 178"/>
                <a:gd name="T5" fmla="*/ 19 h 72"/>
                <a:gd name="T6" fmla="*/ 38 w 178"/>
                <a:gd name="T7" fmla="*/ 32 h 72"/>
                <a:gd name="T8" fmla="*/ 57 w 178"/>
                <a:gd name="T9" fmla="*/ 45 h 72"/>
                <a:gd name="T10" fmla="*/ 95 w 178"/>
                <a:gd name="T11" fmla="*/ 52 h 72"/>
                <a:gd name="T12" fmla="*/ 95 w 178"/>
                <a:gd name="T13" fmla="*/ 52 h 72"/>
                <a:gd name="T14" fmla="*/ 107 w 178"/>
                <a:gd name="T15" fmla="*/ 71 h 72"/>
                <a:gd name="T16" fmla="*/ 101 w 178"/>
                <a:gd name="T17" fmla="*/ 58 h 72"/>
                <a:gd name="T18" fmla="*/ 101 w 178"/>
                <a:gd name="T19" fmla="*/ 52 h 72"/>
                <a:gd name="T20" fmla="*/ 107 w 178"/>
                <a:gd name="T21" fmla="*/ 52 h 72"/>
                <a:gd name="T22" fmla="*/ 114 w 178"/>
                <a:gd name="T23" fmla="*/ 52 h 72"/>
                <a:gd name="T24" fmla="*/ 120 w 178"/>
                <a:gd name="T25" fmla="*/ 45 h 72"/>
                <a:gd name="T26" fmla="*/ 126 w 178"/>
                <a:gd name="T27" fmla="*/ 45 h 72"/>
                <a:gd name="T28" fmla="*/ 126 w 178"/>
                <a:gd name="T29" fmla="*/ 45 h 72"/>
                <a:gd name="T30" fmla="*/ 126 w 178"/>
                <a:gd name="T31" fmla="*/ 45 h 72"/>
                <a:gd name="T32" fmla="*/ 133 w 178"/>
                <a:gd name="T33" fmla="*/ 45 h 72"/>
                <a:gd name="T34" fmla="*/ 139 w 178"/>
                <a:gd name="T35" fmla="*/ 45 h 72"/>
                <a:gd name="T36" fmla="*/ 145 w 178"/>
                <a:gd name="T37" fmla="*/ 45 h 72"/>
                <a:gd name="T38" fmla="*/ 152 w 178"/>
                <a:gd name="T39" fmla="*/ 39 h 72"/>
                <a:gd name="T40" fmla="*/ 152 w 178"/>
                <a:gd name="T41" fmla="*/ 32 h 72"/>
                <a:gd name="T42" fmla="*/ 158 w 178"/>
                <a:gd name="T43" fmla="*/ 26 h 72"/>
                <a:gd name="T44" fmla="*/ 158 w 178"/>
                <a:gd name="T45" fmla="*/ 19 h 72"/>
                <a:gd name="T46" fmla="*/ 164 w 178"/>
                <a:gd name="T47" fmla="*/ 19 h 72"/>
                <a:gd name="T48" fmla="*/ 171 w 178"/>
                <a:gd name="T49" fmla="*/ 13 h 72"/>
                <a:gd name="T50" fmla="*/ 177 w 178"/>
                <a:gd name="T51" fmla="*/ 6 h 72"/>
                <a:gd name="T52" fmla="*/ 177 w 178"/>
                <a:gd name="T53" fmla="*/ 6 h 72"/>
                <a:gd name="T54" fmla="*/ 171 w 178"/>
                <a:gd name="T55" fmla="*/ 6 h 72"/>
                <a:gd name="T56" fmla="*/ 158 w 178"/>
                <a:gd name="T57" fmla="*/ 13 h 72"/>
                <a:gd name="T58" fmla="*/ 145 w 178"/>
                <a:gd name="T59" fmla="*/ 19 h 72"/>
                <a:gd name="T60" fmla="*/ 107 w 178"/>
                <a:gd name="T61" fmla="*/ 13 h 72"/>
                <a:gd name="T62" fmla="*/ 76 w 178"/>
                <a:gd name="T63" fmla="*/ 19 h 72"/>
                <a:gd name="T64" fmla="*/ 44 w 178"/>
                <a:gd name="T65" fmla="*/ 6 h 72"/>
                <a:gd name="T66" fmla="*/ 6 w 178"/>
                <a:gd name="T67" fmla="*/ 0 h 72"/>
                <a:gd name="T68" fmla="*/ 0 w 178"/>
                <a:gd name="T69" fmla="*/ 6 h 72"/>
                <a:gd name="T70" fmla="*/ 0 w 178"/>
                <a:gd name="T71" fmla="*/ 6 h 7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78"/>
                <a:gd name="T109" fmla="*/ 0 h 72"/>
                <a:gd name="T110" fmla="*/ 178 w 178"/>
                <a:gd name="T111" fmla="*/ 72 h 7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78" h="72">
                  <a:moveTo>
                    <a:pt x="0" y="6"/>
                  </a:moveTo>
                  <a:lnTo>
                    <a:pt x="6" y="13"/>
                  </a:lnTo>
                  <a:lnTo>
                    <a:pt x="19" y="19"/>
                  </a:lnTo>
                  <a:lnTo>
                    <a:pt x="38" y="32"/>
                  </a:lnTo>
                  <a:lnTo>
                    <a:pt x="57" y="45"/>
                  </a:lnTo>
                  <a:lnTo>
                    <a:pt x="95" y="52"/>
                  </a:lnTo>
                  <a:lnTo>
                    <a:pt x="107" y="71"/>
                  </a:lnTo>
                  <a:lnTo>
                    <a:pt x="101" y="58"/>
                  </a:lnTo>
                  <a:lnTo>
                    <a:pt x="101" y="52"/>
                  </a:lnTo>
                  <a:lnTo>
                    <a:pt x="107" y="52"/>
                  </a:lnTo>
                  <a:lnTo>
                    <a:pt x="114" y="52"/>
                  </a:lnTo>
                  <a:lnTo>
                    <a:pt x="120" y="45"/>
                  </a:lnTo>
                  <a:lnTo>
                    <a:pt x="126" y="45"/>
                  </a:lnTo>
                  <a:lnTo>
                    <a:pt x="133" y="45"/>
                  </a:lnTo>
                  <a:lnTo>
                    <a:pt x="139" y="45"/>
                  </a:lnTo>
                  <a:lnTo>
                    <a:pt x="145" y="45"/>
                  </a:lnTo>
                  <a:lnTo>
                    <a:pt x="152" y="39"/>
                  </a:lnTo>
                  <a:lnTo>
                    <a:pt x="152" y="32"/>
                  </a:lnTo>
                  <a:lnTo>
                    <a:pt x="158" y="26"/>
                  </a:lnTo>
                  <a:lnTo>
                    <a:pt x="158" y="19"/>
                  </a:lnTo>
                  <a:lnTo>
                    <a:pt x="164" y="19"/>
                  </a:lnTo>
                  <a:lnTo>
                    <a:pt x="171" y="13"/>
                  </a:lnTo>
                  <a:lnTo>
                    <a:pt x="177" y="6"/>
                  </a:lnTo>
                  <a:lnTo>
                    <a:pt x="171" y="6"/>
                  </a:lnTo>
                  <a:lnTo>
                    <a:pt x="158" y="13"/>
                  </a:lnTo>
                  <a:lnTo>
                    <a:pt x="145" y="19"/>
                  </a:lnTo>
                  <a:lnTo>
                    <a:pt x="107" y="13"/>
                  </a:lnTo>
                  <a:lnTo>
                    <a:pt x="76" y="19"/>
                  </a:lnTo>
                  <a:lnTo>
                    <a:pt x="44" y="6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5" name="Freeform 19"/>
            <p:cNvSpPr>
              <a:spLocks/>
            </p:cNvSpPr>
            <p:nvPr/>
          </p:nvSpPr>
          <p:spPr bwMode="auto">
            <a:xfrm>
              <a:off x="2106" y="3152"/>
              <a:ext cx="116" cy="233"/>
            </a:xfrm>
            <a:custGeom>
              <a:avLst/>
              <a:gdLst>
                <a:gd name="T0" fmla="*/ 0 w 178"/>
                <a:gd name="T1" fmla="*/ 6 h 72"/>
                <a:gd name="T2" fmla="*/ 6 w 178"/>
                <a:gd name="T3" fmla="*/ 13 h 72"/>
                <a:gd name="T4" fmla="*/ 19 w 178"/>
                <a:gd name="T5" fmla="*/ 19 h 72"/>
                <a:gd name="T6" fmla="*/ 38 w 178"/>
                <a:gd name="T7" fmla="*/ 32 h 72"/>
                <a:gd name="T8" fmla="*/ 57 w 178"/>
                <a:gd name="T9" fmla="*/ 45 h 72"/>
                <a:gd name="T10" fmla="*/ 95 w 178"/>
                <a:gd name="T11" fmla="*/ 52 h 72"/>
                <a:gd name="T12" fmla="*/ 107 w 178"/>
                <a:gd name="T13" fmla="*/ 71 h 72"/>
                <a:gd name="T14" fmla="*/ 101 w 178"/>
                <a:gd name="T15" fmla="*/ 58 h 72"/>
                <a:gd name="T16" fmla="*/ 101 w 178"/>
                <a:gd name="T17" fmla="*/ 52 h 72"/>
                <a:gd name="T18" fmla="*/ 107 w 178"/>
                <a:gd name="T19" fmla="*/ 52 h 72"/>
                <a:gd name="T20" fmla="*/ 114 w 178"/>
                <a:gd name="T21" fmla="*/ 52 h 72"/>
                <a:gd name="T22" fmla="*/ 120 w 178"/>
                <a:gd name="T23" fmla="*/ 45 h 72"/>
                <a:gd name="T24" fmla="*/ 126 w 178"/>
                <a:gd name="T25" fmla="*/ 45 h 72"/>
                <a:gd name="T26" fmla="*/ 133 w 178"/>
                <a:gd name="T27" fmla="*/ 45 h 72"/>
                <a:gd name="T28" fmla="*/ 139 w 178"/>
                <a:gd name="T29" fmla="*/ 45 h 72"/>
                <a:gd name="T30" fmla="*/ 145 w 178"/>
                <a:gd name="T31" fmla="*/ 45 h 72"/>
                <a:gd name="T32" fmla="*/ 152 w 178"/>
                <a:gd name="T33" fmla="*/ 39 h 72"/>
                <a:gd name="T34" fmla="*/ 152 w 178"/>
                <a:gd name="T35" fmla="*/ 32 h 72"/>
                <a:gd name="T36" fmla="*/ 158 w 178"/>
                <a:gd name="T37" fmla="*/ 26 h 72"/>
                <a:gd name="T38" fmla="*/ 158 w 178"/>
                <a:gd name="T39" fmla="*/ 19 h 72"/>
                <a:gd name="T40" fmla="*/ 164 w 178"/>
                <a:gd name="T41" fmla="*/ 19 h 72"/>
                <a:gd name="T42" fmla="*/ 171 w 178"/>
                <a:gd name="T43" fmla="*/ 13 h 72"/>
                <a:gd name="T44" fmla="*/ 177 w 178"/>
                <a:gd name="T45" fmla="*/ 6 h 72"/>
                <a:gd name="T46" fmla="*/ 171 w 178"/>
                <a:gd name="T47" fmla="*/ 6 h 72"/>
                <a:gd name="T48" fmla="*/ 158 w 178"/>
                <a:gd name="T49" fmla="*/ 13 h 72"/>
                <a:gd name="T50" fmla="*/ 145 w 178"/>
                <a:gd name="T51" fmla="*/ 19 h 72"/>
                <a:gd name="T52" fmla="*/ 107 w 178"/>
                <a:gd name="T53" fmla="*/ 13 h 72"/>
                <a:gd name="T54" fmla="*/ 76 w 178"/>
                <a:gd name="T55" fmla="*/ 19 h 72"/>
                <a:gd name="T56" fmla="*/ 44 w 178"/>
                <a:gd name="T57" fmla="*/ 6 h 72"/>
                <a:gd name="T58" fmla="*/ 6 w 178"/>
                <a:gd name="T59" fmla="*/ 0 h 72"/>
                <a:gd name="T60" fmla="*/ 0 w 178"/>
                <a:gd name="T61" fmla="*/ 6 h 7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78"/>
                <a:gd name="T94" fmla="*/ 0 h 72"/>
                <a:gd name="T95" fmla="*/ 178 w 178"/>
                <a:gd name="T96" fmla="*/ 72 h 72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78" h="72">
                  <a:moveTo>
                    <a:pt x="0" y="6"/>
                  </a:moveTo>
                  <a:lnTo>
                    <a:pt x="6" y="13"/>
                  </a:lnTo>
                  <a:lnTo>
                    <a:pt x="19" y="19"/>
                  </a:lnTo>
                  <a:lnTo>
                    <a:pt x="38" y="32"/>
                  </a:lnTo>
                  <a:lnTo>
                    <a:pt x="57" y="45"/>
                  </a:lnTo>
                  <a:lnTo>
                    <a:pt x="95" y="52"/>
                  </a:lnTo>
                  <a:lnTo>
                    <a:pt x="107" y="71"/>
                  </a:lnTo>
                  <a:lnTo>
                    <a:pt x="101" y="58"/>
                  </a:lnTo>
                  <a:lnTo>
                    <a:pt x="101" y="52"/>
                  </a:lnTo>
                  <a:lnTo>
                    <a:pt x="107" y="52"/>
                  </a:lnTo>
                  <a:lnTo>
                    <a:pt x="114" y="52"/>
                  </a:lnTo>
                  <a:lnTo>
                    <a:pt x="120" y="45"/>
                  </a:lnTo>
                  <a:lnTo>
                    <a:pt x="126" y="45"/>
                  </a:lnTo>
                  <a:lnTo>
                    <a:pt x="133" y="45"/>
                  </a:lnTo>
                  <a:lnTo>
                    <a:pt x="139" y="45"/>
                  </a:lnTo>
                  <a:lnTo>
                    <a:pt x="145" y="45"/>
                  </a:lnTo>
                  <a:lnTo>
                    <a:pt x="152" y="39"/>
                  </a:lnTo>
                  <a:lnTo>
                    <a:pt x="152" y="32"/>
                  </a:lnTo>
                  <a:lnTo>
                    <a:pt x="158" y="26"/>
                  </a:lnTo>
                  <a:lnTo>
                    <a:pt x="158" y="19"/>
                  </a:lnTo>
                  <a:lnTo>
                    <a:pt x="164" y="19"/>
                  </a:lnTo>
                  <a:lnTo>
                    <a:pt x="171" y="13"/>
                  </a:lnTo>
                  <a:lnTo>
                    <a:pt x="177" y="6"/>
                  </a:lnTo>
                  <a:lnTo>
                    <a:pt x="171" y="6"/>
                  </a:lnTo>
                  <a:lnTo>
                    <a:pt x="158" y="13"/>
                  </a:lnTo>
                  <a:lnTo>
                    <a:pt x="145" y="19"/>
                  </a:lnTo>
                  <a:lnTo>
                    <a:pt x="107" y="13"/>
                  </a:lnTo>
                  <a:lnTo>
                    <a:pt x="76" y="19"/>
                  </a:lnTo>
                  <a:lnTo>
                    <a:pt x="44" y="6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6" name="Freeform 20" descr="花岗岩"/>
            <p:cNvSpPr>
              <a:spLocks/>
            </p:cNvSpPr>
            <p:nvPr/>
          </p:nvSpPr>
          <p:spPr bwMode="auto">
            <a:xfrm>
              <a:off x="2156" y="3455"/>
              <a:ext cx="116" cy="233"/>
            </a:xfrm>
            <a:custGeom>
              <a:avLst/>
              <a:gdLst>
                <a:gd name="T0" fmla="*/ 0 w 46"/>
                <a:gd name="T1" fmla="*/ 0 h 170"/>
                <a:gd name="T2" fmla="*/ 19 w 46"/>
                <a:gd name="T3" fmla="*/ 169 h 170"/>
                <a:gd name="T4" fmla="*/ 19 w 46"/>
                <a:gd name="T5" fmla="*/ 169 h 170"/>
                <a:gd name="T6" fmla="*/ 45 w 46"/>
                <a:gd name="T7" fmla="*/ 45 h 170"/>
                <a:gd name="T8" fmla="*/ 32 w 46"/>
                <a:gd name="T9" fmla="*/ 32 h 170"/>
                <a:gd name="T10" fmla="*/ 19 w 46"/>
                <a:gd name="T11" fmla="*/ 65 h 170"/>
                <a:gd name="T12" fmla="*/ 0 w 46"/>
                <a:gd name="T13" fmla="*/ 0 h 170"/>
                <a:gd name="T14" fmla="*/ 0 w 46"/>
                <a:gd name="T15" fmla="*/ 0 h 1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"/>
                <a:gd name="T25" fmla="*/ 0 h 170"/>
                <a:gd name="T26" fmla="*/ 46 w 46"/>
                <a:gd name="T27" fmla="*/ 170 h 1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" h="170">
                  <a:moveTo>
                    <a:pt x="0" y="0"/>
                  </a:moveTo>
                  <a:lnTo>
                    <a:pt x="19" y="169"/>
                  </a:lnTo>
                  <a:lnTo>
                    <a:pt x="45" y="45"/>
                  </a:lnTo>
                  <a:lnTo>
                    <a:pt x="32" y="32"/>
                  </a:lnTo>
                  <a:lnTo>
                    <a:pt x="19" y="65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6"/>
              <a:srcRect/>
              <a:tile tx="0" ty="0" sx="100000" sy="100000" flip="none" algn="tl"/>
            </a:blip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7" name="Freeform 21"/>
            <p:cNvSpPr>
              <a:spLocks/>
            </p:cNvSpPr>
            <p:nvPr/>
          </p:nvSpPr>
          <p:spPr bwMode="auto">
            <a:xfrm>
              <a:off x="2435" y="3233"/>
              <a:ext cx="116" cy="233"/>
            </a:xfrm>
            <a:custGeom>
              <a:avLst/>
              <a:gdLst>
                <a:gd name="T0" fmla="*/ 120 w 133"/>
                <a:gd name="T1" fmla="*/ 33 h 171"/>
                <a:gd name="T2" fmla="*/ 107 w 133"/>
                <a:gd name="T3" fmla="*/ 33 h 171"/>
                <a:gd name="T4" fmla="*/ 82 w 133"/>
                <a:gd name="T5" fmla="*/ 20 h 171"/>
                <a:gd name="T6" fmla="*/ 50 w 133"/>
                <a:gd name="T7" fmla="*/ 13 h 171"/>
                <a:gd name="T8" fmla="*/ 31 w 133"/>
                <a:gd name="T9" fmla="*/ 0 h 171"/>
                <a:gd name="T10" fmla="*/ 50 w 133"/>
                <a:gd name="T11" fmla="*/ 13 h 171"/>
                <a:gd name="T12" fmla="*/ 76 w 133"/>
                <a:gd name="T13" fmla="*/ 26 h 171"/>
                <a:gd name="T14" fmla="*/ 101 w 133"/>
                <a:gd name="T15" fmla="*/ 39 h 171"/>
                <a:gd name="T16" fmla="*/ 126 w 133"/>
                <a:gd name="T17" fmla="*/ 39 h 171"/>
                <a:gd name="T18" fmla="*/ 126 w 133"/>
                <a:gd name="T19" fmla="*/ 59 h 171"/>
                <a:gd name="T20" fmla="*/ 120 w 133"/>
                <a:gd name="T21" fmla="*/ 65 h 171"/>
                <a:gd name="T22" fmla="*/ 101 w 133"/>
                <a:gd name="T23" fmla="*/ 78 h 171"/>
                <a:gd name="T24" fmla="*/ 82 w 133"/>
                <a:gd name="T25" fmla="*/ 85 h 171"/>
                <a:gd name="T26" fmla="*/ 38 w 133"/>
                <a:gd name="T27" fmla="*/ 59 h 171"/>
                <a:gd name="T28" fmla="*/ 25 w 133"/>
                <a:gd name="T29" fmla="*/ 46 h 171"/>
                <a:gd name="T30" fmla="*/ 38 w 133"/>
                <a:gd name="T31" fmla="*/ 59 h 171"/>
                <a:gd name="T32" fmla="*/ 82 w 133"/>
                <a:gd name="T33" fmla="*/ 91 h 171"/>
                <a:gd name="T34" fmla="*/ 82 w 133"/>
                <a:gd name="T35" fmla="*/ 91 h 171"/>
                <a:gd name="T36" fmla="*/ 82 w 133"/>
                <a:gd name="T37" fmla="*/ 98 h 171"/>
                <a:gd name="T38" fmla="*/ 76 w 133"/>
                <a:gd name="T39" fmla="*/ 98 h 171"/>
                <a:gd name="T40" fmla="*/ 57 w 133"/>
                <a:gd name="T41" fmla="*/ 117 h 171"/>
                <a:gd name="T42" fmla="*/ 44 w 133"/>
                <a:gd name="T43" fmla="*/ 143 h 171"/>
                <a:gd name="T44" fmla="*/ 31 w 133"/>
                <a:gd name="T45" fmla="*/ 143 h 171"/>
                <a:gd name="T46" fmla="*/ 25 w 133"/>
                <a:gd name="T47" fmla="*/ 156 h 171"/>
                <a:gd name="T48" fmla="*/ 25 w 133"/>
                <a:gd name="T49" fmla="*/ 156 h 171"/>
                <a:gd name="T50" fmla="*/ 0 w 133"/>
                <a:gd name="T51" fmla="*/ 150 h 171"/>
                <a:gd name="T52" fmla="*/ 0 w 133"/>
                <a:gd name="T53" fmla="*/ 163 h 171"/>
                <a:gd name="T54" fmla="*/ 12 w 133"/>
                <a:gd name="T55" fmla="*/ 170 h 171"/>
                <a:gd name="T56" fmla="*/ 31 w 133"/>
                <a:gd name="T57" fmla="*/ 170 h 171"/>
                <a:gd name="T58" fmla="*/ 76 w 133"/>
                <a:gd name="T59" fmla="*/ 117 h 171"/>
                <a:gd name="T60" fmla="*/ 82 w 133"/>
                <a:gd name="T61" fmla="*/ 117 h 171"/>
                <a:gd name="T62" fmla="*/ 88 w 133"/>
                <a:gd name="T63" fmla="*/ 104 h 171"/>
                <a:gd name="T64" fmla="*/ 95 w 133"/>
                <a:gd name="T65" fmla="*/ 104 h 171"/>
                <a:gd name="T66" fmla="*/ 95 w 133"/>
                <a:gd name="T67" fmla="*/ 98 h 171"/>
                <a:gd name="T68" fmla="*/ 114 w 133"/>
                <a:gd name="T69" fmla="*/ 91 h 171"/>
                <a:gd name="T70" fmla="*/ 126 w 133"/>
                <a:gd name="T71" fmla="*/ 72 h 171"/>
                <a:gd name="T72" fmla="*/ 132 w 133"/>
                <a:gd name="T73" fmla="*/ 59 h 171"/>
                <a:gd name="T74" fmla="*/ 132 w 133"/>
                <a:gd name="T75" fmla="*/ 39 h 171"/>
                <a:gd name="T76" fmla="*/ 120 w 133"/>
                <a:gd name="T77" fmla="*/ 33 h 171"/>
                <a:gd name="T78" fmla="*/ 120 w 133"/>
                <a:gd name="T79" fmla="*/ 33 h 17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3"/>
                <a:gd name="T121" fmla="*/ 0 h 171"/>
                <a:gd name="T122" fmla="*/ 133 w 133"/>
                <a:gd name="T123" fmla="*/ 171 h 17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3" h="171">
                  <a:moveTo>
                    <a:pt x="120" y="33"/>
                  </a:moveTo>
                  <a:lnTo>
                    <a:pt x="107" y="33"/>
                  </a:lnTo>
                  <a:lnTo>
                    <a:pt x="82" y="20"/>
                  </a:lnTo>
                  <a:lnTo>
                    <a:pt x="50" y="13"/>
                  </a:lnTo>
                  <a:lnTo>
                    <a:pt x="31" y="0"/>
                  </a:lnTo>
                  <a:lnTo>
                    <a:pt x="50" y="13"/>
                  </a:lnTo>
                  <a:lnTo>
                    <a:pt x="76" y="26"/>
                  </a:lnTo>
                  <a:lnTo>
                    <a:pt x="101" y="39"/>
                  </a:lnTo>
                  <a:lnTo>
                    <a:pt x="126" y="39"/>
                  </a:lnTo>
                  <a:lnTo>
                    <a:pt x="126" y="59"/>
                  </a:lnTo>
                  <a:lnTo>
                    <a:pt x="120" y="65"/>
                  </a:lnTo>
                  <a:lnTo>
                    <a:pt x="101" y="78"/>
                  </a:lnTo>
                  <a:lnTo>
                    <a:pt x="82" y="85"/>
                  </a:lnTo>
                  <a:lnTo>
                    <a:pt x="38" y="59"/>
                  </a:lnTo>
                  <a:lnTo>
                    <a:pt x="25" y="46"/>
                  </a:lnTo>
                  <a:lnTo>
                    <a:pt x="38" y="59"/>
                  </a:lnTo>
                  <a:lnTo>
                    <a:pt x="82" y="91"/>
                  </a:lnTo>
                  <a:lnTo>
                    <a:pt x="82" y="98"/>
                  </a:lnTo>
                  <a:lnTo>
                    <a:pt x="76" y="98"/>
                  </a:lnTo>
                  <a:lnTo>
                    <a:pt x="57" y="117"/>
                  </a:lnTo>
                  <a:lnTo>
                    <a:pt x="44" y="143"/>
                  </a:lnTo>
                  <a:lnTo>
                    <a:pt x="31" y="143"/>
                  </a:lnTo>
                  <a:lnTo>
                    <a:pt x="25" y="156"/>
                  </a:lnTo>
                  <a:lnTo>
                    <a:pt x="0" y="150"/>
                  </a:lnTo>
                  <a:lnTo>
                    <a:pt x="0" y="163"/>
                  </a:lnTo>
                  <a:lnTo>
                    <a:pt x="12" y="170"/>
                  </a:lnTo>
                  <a:lnTo>
                    <a:pt x="31" y="170"/>
                  </a:lnTo>
                  <a:lnTo>
                    <a:pt x="76" y="117"/>
                  </a:lnTo>
                  <a:lnTo>
                    <a:pt x="82" y="117"/>
                  </a:lnTo>
                  <a:lnTo>
                    <a:pt x="88" y="104"/>
                  </a:lnTo>
                  <a:lnTo>
                    <a:pt x="95" y="104"/>
                  </a:lnTo>
                  <a:lnTo>
                    <a:pt x="95" y="98"/>
                  </a:lnTo>
                  <a:lnTo>
                    <a:pt x="114" y="91"/>
                  </a:lnTo>
                  <a:lnTo>
                    <a:pt x="126" y="72"/>
                  </a:lnTo>
                  <a:lnTo>
                    <a:pt x="132" y="59"/>
                  </a:lnTo>
                  <a:lnTo>
                    <a:pt x="132" y="39"/>
                  </a:lnTo>
                  <a:lnTo>
                    <a:pt x="120" y="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8" name="Freeform 22"/>
            <p:cNvSpPr>
              <a:spLocks/>
            </p:cNvSpPr>
            <p:nvPr/>
          </p:nvSpPr>
          <p:spPr bwMode="auto">
            <a:xfrm>
              <a:off x="2112" y="3122"/>
              <a:ext cx="116" cy="233"/>
            </a:xfrm>
            <a:custGeom>
              <a:avLst/>
              <a:gdLst>
                <a:gd name="T0" fmla="*/ 165 w 166"/>
                <a:gd name="T1" fmla="*/ 13 h 27"/>
                <a:gd name="T2" fmla="*/ 146 w 166"/>
                <a:gd name="T3" fmla="*/ 7 h 27"/>
                <a:gd name="T4" fmla="*/ 127 w 166"/>
                <a:gd name="T5" fmla="*/ 13 h 27"/>
                <a:gd name="T6" fmla="*/ 70 w 166"/>
                <a:gd name="T7" fmla="*/ 7 h 27"/>
                <a:gd name="T8" fmla="*/ 19 w 166"/>
                <a:gd name="T9" fmla="*/ 0 h 27"/>
                <a:gd name="T10" fmla="*/ 0 w 166"/>
                <a:gd name="T11" fmla="*/ 7 h 27"/>
                <a:gd name="T12" fmla="*/ 38 w 166"/>
                <a:gd name="T13" fmla="*/ 13 h 27"/>
                <a:gd name="T14" fmla="*/ 70 w 166"/>
                <a:gd name="T15" fmla="*/ 26 h 27"/>
                <a:gd name="T16" fmla="*/ 89 w 166"/>
                <a:gd name="T17" fmla="*/ 20 h 27"/>
                <a:gd name="T18" fmla="*/ 114 w 166"/>
                <a:gd name="T19" fmla="*/ 26 h 27"/>
                <a:gd name="T20" fmla="*/ 139 w 166"/>
                <a:gd name="T21" fmla="*/ 26 h 27"/>
                <a:gd name="T22" fmla="*/ 165 w 166"/>
                <a:gd name="T23" fmla="*/ 13 h 27"/>
                <a:gd name="T24" fmla="*/ 165 w 166"/>
                <a:gd name="T25" fmla="*/ 13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7"/>
                <a:gd name="T41" fmla="*/ 166 w 166"/>
                <a:gd name="T42" fmla="*/ 27 h 2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7">
                  <a:moveTo>
                    <a:pt x="165" y="13"/>
                  </a:moveTo>
                  <a:lnTo>
                    <a:pt x="146" y="7"/>
                  </a:lnTo>
                  <a:lnTo>
                    <a:pt x="127" y="13"/>
                  </a:lnTo>
                  <a:lnTo>
                    <a:pt x="70" y="7"/>
                  </a:lnTo>
                  <a:lnTo>
                    <a:pt x="19" y="0"/>
                  </a:lnTo>
                  <a:lnTo>
                    <a:pt x="0" y="7"/>
                  </a:lnTo>
                  <a:lnTo>
                    <a:pt x="38" y="13"/>
                  </a:lnTo>
                  <a:lnTo>
                    <a:pt x="70" y="26"/>
                  </a:lnTo>
                  <a:lnTo>
                    <a:pt x="89" y="20"/>
                  </a:lnTo>
                  <a:lnTo>
                    <a:pt x="114" y="26"/>
                  </a:lnTo>
                  <a:lnTo>
                    <a:pt x="139" y="26"/>
                  </a:lnTo>
                  <a:lnTo>
                    <a:pt x="165" y="13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59" name="Freeform 23"/>
            <p:cNvSpPr>
              <a:spLocks/>
            </p:cNvSpPr>
            <p:nvPr/>
          </p:nvSpPr>
          <p:spPr bwMode="auto">
            <a:xfrm>
              <a:off x="2435" y="3266"/>
              <a:ext cx="116" cy="233"/>
            </a:xfrm>
            <a:custGeom>
              <a:avLst/>
              <a:gdLst>
                <a:gd name="T0" fmla="*/ 132 w 152"/>
                <a:gd name="T1" fmla="*/ 0 h 158"/>
                <a:gd name="T2" fmla="*/ 132 w 152"/>
                <a:gd name="T3" fmla="*/ 20 h 158"/>
                <a:gd name="T4" fmla="*/ 126 w 152"/>
                <a:gd name="T5" fmla="*/ 33 h 158"/>
                <a:gd name="T6" fmla="*/ 114 w 152"/>
                <a:gd name="T7" fmla="*/ 52 h 158"/>
                <a:gd name="T8" fmla="*/ 95 w 152"/>
                <a:gd name="T9" fmla="*/ 59 h 158"/>
                <a:gd name="T10" fmla="*/ 95 w 152"/>
                <a:gd name="T11" fmla="*/ 65 h 158"/>
                <a:gd name="T12" fmla="*/ 88 w 152"/>
                <a:gd name="T13" fmla="*/ 65 h 158"/>
                <a:gd name="T14" fmla="*/ 82 w 152"/>
                <a:gd name="T15" fmla="*/ 78 h 158"/>
                <a:gd name="T16" fmla="*/ 76 w 152"/>
                <a:gd name="T17" fmla="*/ 78 h 158"/>
                <a:gd name="T18" fmla="*/ 31 w 152"/>
                <a:gd name="T19" fmla="*/ 131 h 158"/>
                <a:gd name="T20" fmla="*/ 12 w 152"/>
                <a:gd name="T21" fmla="*/ 131 h 158"/>
                <a:gd name="T22" fmla="*/ 0 w 152"/>
                <a:gd name="T23" fmla="*/ 124 h 158"/>
                <a:gd name="T24" fmla="*/ 0 w 152"/>
                <a:gd name="T25" fmla="*/ 144 h 158"/>
                <a:gd name="T26" fmla="*/ 0 w 152"/>
                <a:gd name="T27" fmla="*/ 157 h 158"/>
                <a:gd name="T28" fmla="*/ 38 w 152"/>
                <a:gd name="T29" fmla="*/ 157 h 158"/>
                <a:gd name="T30" fmla="*/ 50 w 152"/>
                <a:gd name="T31" fmla="*/ 131 h 158"/>
                <a:gd name="T32" fmla="*/ 69 w 152"/>
                <a:gd name="T33" fmla="*/ 111 h 158"/>
                <a:gd name="T34" fmla="*/ 107 w 152"/>
                <a:gd name="T35" fmla="*/ 78 h 158"/>
                <a:gd name="T36" fmla="*/ 120 w 152"/>
                <a:gd name="T37" fmla="*/ 59 h 158"/>
                <a:gd name="T38" fmla="*/ 132 w 152"/>
                <a:gd name="T39" fmla="*/ 46 h 158"/>
                <a:gd name="T40" fmla="*/ 151 w 152"/>
                <a:gd name="T41" fmla="*/ 33 h 158"/>
                <a:gd name="T42" fmla="*/ 151 w 152"/>
                <a:gd name="T43" fmla="*/ 26 h 158"/>
                <a:gd name="T44" fmla="*/ 151 w 152"/>
                <a:gd name="T45" fmla="*/ 13 h 158"/>
                <a:gd name="T46" fmla="*/ 145 w 152"/>
                <a:gd name="T47" fmla="*/ 0 h 158"/>
                <a:gd name="T48" fmla="*/ 132 w 152"/>
                <a:gd name="T49" fmla="*/ 0 h 158"/>
                <a:gd name="T50" fmla="*/ 132 w 152"/>
                <a:gd name="T51" fmla="*/ 0 h 15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2"/>
                <a:gd name="T79" fmla="*/ 0 h 158"/>
                <a:gd name="T80" fmla="*/ 152 w 152"/>
                <a:gd name="T81" fmla="*/ 158 h 15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2" h="158">
                  <a:moveTo>
                    <a:pt x="132" y="0"/>
                  </a:moveTo>
                  <a:lnTo>
                    <a:pt x="132" y="20"/>
                  </a:lnTo>
                  <a:lnTo>
                    <a:pt x="126" y="33"/>
                  </a:lnTo>
                  <a:lnTo>
                    <a:pt x="114" y="52"/>
                  </a:lnTo>
                  <a:lnTo>
                    <a:pt x="95" y="59"/>
                  </a:lnTo>
                  <a:lnTo>
                    <a:pt x="95" y="65"/>
                  </a:lnTo>
                  <a:lnTo>
                    <a:pt x="88" y="65"/>
                  </a:lnTo>
                  <a:lnTo>
                    <a:pt x="82" y="78"/>
                  </a:lnTo>
                  <a:lnTo>
                    <a:pt x="76" y="78"/>
                  </a:lnTo>
                  <a:lnTo>
                    <a:pt x="31" y="131"/>
                  </a:lnTo>
                  <a:lnTo>
                    <a:pt x="12" y="131"/>
                  </a:lnTo>
                  <a:lnTo>
                    <a:pt x="0" y="124"/>
                  </a:lnTo>
                  <a:lnTo>
                    <a:pt x="0" y="144"/>
                  </a:lnTo>
                  <a:lnTo>
                    <a:pt x="0" y="157"/>
                  </a:lnTo>
                  <a:lnTo>
                    <a:pt x="38" y="157"/>
                  </a:lnTo>
                  <a:lnTo>
                    <a:pt x="50" y="131"/>
                  </a:lnTo>
                  <a:lnTo>
                    <a:pt x="69" y="111"/>
                  </a:lnTo>
                  <a:lnTo>
                    <a:pt x="107" y="78"/>
                  </a:lnTo>
                  <a:lnTo>
                    <a:pt x="120" y="59"/>
                  </a:lnTo>
                  <a:lnTo>
                    <a:pt x="132" y="46"/>
                  </a:lnTo>
                  <a:lnTo>
                    <a:pt x="151" y="33"/>
                  </a:lnTo>
                  <a:lnTo>
                    <a:pt x="151" y="26"/>
                  </a:lnTo>
                  <a:lnTo>
                    <a:pt x="151" y="13"/>
                  </a:lnTo>
                  <a:lnTo>
                    <a:pt x="145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0" name="Freeform 24"/>
            <p:cNvSpPr>
              <a:spLocks/>
            </p:cNvSpPr>
            <p:nvPr/>
          </p:nvSpPr>
          <p:spPr bwMode="auto">
            <a:xfrm>
              <a:off x="2137" y="3048"/>
              <a:ext cx="116" cy="233"/>
            </a:xfrm>
            <a:custGeom>
              <a:avLst/>
              <a:gdLst>
                <a:gd name="T0" fmla="*/ 89 w 141"/>
                <a:gd name="T1" fmla="*/ 6 h 112"/>
                <a:gd name="T2" fmla="*/ 83 w 141"/>
                <a:gd name="T3" fmla="*/ 0 h 112"/>
                <a:gd name="T4" fmla="*/ 95 w 141"/>
                <a:gd name="T5" fmla="*/ 13 h 112"/>
                <a:gd name="T6" fmla="*/ 95 w 141"/>
                <a:gd name="T7" fmla="*/ 13 h 112"/>
                <a:gd name="T8" fmla="*/ 114 w 141"/>
                <a:gd name="T9" fmla="*/ 32 h 112"/>
                <a:gd name="T10" fmla="*/ 121 w 141"/>
                <a:gd name="T11" fmla="*/ 52 h 112"/>
                <a:gd name="T12" fmla="*/ 108 w 141"/>
                <a:gd name="T13" fmla="*/ 78 h 112"/>
                <a:gd name="T14" fmla="*/ 95 w 141"/>
                <a:gd name="T15" fmla="*/ 91 h 112"/>
                <a:gd name="T16" fmla="*/ 57 w 141"/>
                <a:gd name="T17" fmla="*/ 91 h 112"/>
                <a:gd name="T18" fmla="*/ 26 w 141"/>
                <a:gd name="T19" fmla="*/ 65 h 112"/>
                <a:gd name="T20" fmla="*/ 26 w 141"/>
                <a:gd name="T21" fmla="*/ 52 h 112"/>
                <a:gd name="T22" fmla="*/ 26 w 141"/>
                <a:gd name="T23" fmla="*/ 39 h 112"/>
                <a:gd name="T24" fmla="*/ 26 w 141"/>
                <a:gd name="T25" fmla="*/ 45 h 112"/>
                <a:gd name="T26" fmla="*/ 19 w 141"/>
                <a:gd name="T27" fmla="*/ 59 h 112"/>
                <a:gd name="T28" fmla="*/ 19 w 141"/>
                <a:gd name="T29" fmla="*/ 65 h 112"/>
                <a:gd name="T30" fmla="*/ 13 w 141"/>
                <a:gd name="T31" fmla="*/ 59 h 112"/>
                <a:gd name="T32" fmla="*/ 7 w 141"/>
                <a:gd name="T33" fmla="*/ 39 h 112"/>
                <a:gd name="T34" fmla="*/ 13 w 141"/>
                <a:gd name="T35" fmla="*/ 26 h 112"/>
                <a:gd name="T36" fmla="*/ 0 w 141"/>
                <a:gd name="T37" fmla="*/ 32 h 112"/>
                <a:gd name="T38" fmla="*/ 0 w 141"/>
                <a:gd name="T39" fmla="*/ 45 h 112"/>
                <a:gd name="T40" fmla="*/ 7 w 141"/>
                <a:gd name="T41" fmla="*/ 59 h 112"/>
                <a:gd name="T42" fmla="*/ 26 w 141"/>
                <a:gd name="T43" fmla="*/ 72 h 112"/>
                <a:gd name="T44" fmla="*/ 26 w 141"/>
                <a:gd name="T45" fmla="*/ 78 h 112"/>
                <a:gd name="T46" fmla="*/ 32 w 141"/>
                <a:gd name="T47" fmla="*/ 91 h 112"/>
                <a:gd name="T48" fmla="*/ 51 w 141"/>
                <a:gd name="T49" fmla="*/ 104 h 112"/>
                <a:gd name="T50" fmla="*/ 76 w 141"/>
                <a:gd name="T51" fmla="*/ 111 h 112"/>
                <a:gd name="T52" fmla="*/ 102 w 141"/>
                <a:gd name="T53" fmla="*/ 104 h 112"/>
                <a:gd name="T54" fmla="*/ 108 w 141"/>
                <a:gd name="T55" fmla="*/ 98 h 112"/>
                <a:gd name="T56" fmla="*/ 114 w 141"/>
                <a:gd name="T57" fmla="*/ 98 h 112"/>
                <a:gd name="T58" fmla="*/ 121 w 141"/>
                <a:gd name="T59" fmla="*/ 91 h 112"/>
                <a:gd name="T60" fmla="*/ 121 w 141"/>
                <a:gd name="T61" fmla="*/ 78 h 112"/>
                <a:gd name="T62" fmla="*/ 133 w 141"/>
                <a:gd name="T63" fmla="*/ 72 h 112"/>
                <a:gd name="T64" fmla="*/ 140 w 141"/>
                <a:gd name="T65" fmla="*/ 65 h 112"/>
                <a:gd name="T66" fmla="*/ 140 w 141"/>
                <a:gd name="T67" fmla="*/ 52 h 112"/>
                <a:gd name="T68" fmla="*/ 140 w 141"/>
                <a:gd name="T69" fmla="*/ 39 h 112"/>
                <a:gd name="T70" fmla="*/ 133 w 141"/>
                <a:gd name="T71" fmla="*/ 19 h 112"/>
                <a:gd name="T72" fmla="*/ 133 w 141"/>
                <a:gd name="T73" fmla="*/ 39 h 112"/>
                <a:gd name="T74" fmla="*/ 133 w 141"/>
                <a:gd name="T75" fmla="*/ 59 h 112"/>
                <a:gd name="T76" fmla="*/ 127 w 141"/>
                <a:gd name="T77" fmla="*/ 65 h 112"/>
                <a:gd name="T78" fmla="*/ 121 w 141"/>
                <a:gd name="T79" fmla="*/ 32 h 112"/>
                <a:gd name="T80" fmla="*/ 108 w 141"/>
                <a:gd name="T81" fmla="*/ 13 h 112"/>
                <a:gd name="T82" fmla="*/ 89 w 141"/>
                <a:gd name="T83" fmla="*/ 6 h 112"/>
                <a:gd name="T84" fmla="*/ 89 w 141"/>
                <a:gd name="T85" fmla="*/ 6 h 1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41"/>
                <a:gd name="T130" fmla="*/ 0 h 112"/>
                <a:gd name="T131" fmla="*/ 141 w 141"/>
                <a:gd name="T132" fmla="*/ 112 h 1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41" h="112">
                  <a:moveTo>
                    <a:pt x="89" y="6"/>
                  </a:moveTo>
                  <a:lnTo>
                    <a:pt x="83" y="0"/>
                  </a:lnTo>
                  <a:lnTo>
                    <a:pt x="95" y="13"/>
                  </a:lnTo>
                  <a:lnTo>
                    <a:pt x="114" y="32"/>
                  </a:lnTo>
                  <a:lnTo>
                    <a:pt x="121" y="52"/>
                  </a:lnTo>
                  <a:lnTo>
                    <a:pt x="108" y="78"/>
                  </a:lnTo>
                  <a:lnTo>
                    <a:pt x="95" y="91"/>
                  </a:lnTo>
                  <a:lnTo>
                    <a:pt x="57" y="91"/>
                  </a:lnTo>
                  <a:lnTo>
                    <a:pt x="26" y="65"/>
                  </a:lnTo>
                  <a:lnTo>
                    <a:pt x="26" y="52"/>
                  </a:lnTo>
                  <a:lnTo>
                    <a:pt x="26" y="39"/>
                  </a:lnTo>
                  <a:lnTo>
                    <a:pt x="26" y="45"/>
                  </a:lnTo>
                  <a:lnTo>
                    <a:pt x="19" y="59"/>
                  </a:lnTo>
                  <a:lnTo>
                    <a:pt x="19" y="65"/>
                  </a:lnTo>
                  <a:lnTo>
                    <a:pt x="13" y="59"/>
                  </a:lnTo>
                  <a:lnTo>
                    <a:pt x="7" y="39"/>
                  </a:lnTo>
                  <a:lnTo>
                    <a:pt x="13" y="26"/>
                  </a:lnTo>
                  <a:lnTo>
                    <a:pt x="0" y="32"/>
                  </a:lnTo>
                  <a:lnTo>
                    <a:pt x="0" y="45"/>
                  </a:lnTo>
                  <a:lnTo>
                    <a:pt x="7" y="59"/>
                  </a:lnTo>
                  <a:lnTo>
                    <a:pt x="26" y="72"/>
                  </a:lnTo>
                  <a:lnTo>
                    <a:pt x="26" y="78"/>
                  </a:lnTo>
                  <a:lnTo>
                    <a:pt x="32" y="91"/>
                  </a:lnTo>
                  <a:lnTo>
                    <a:pt x="51" y="104"/>
                  </a:lnTo>
                  <a:lnTo>
                    <a:pt x="76" y="111"/>
                  </a:lnTo>
                  <a:lnTo>
                    <a:pt x="102" y="104"/>
                  </a:lnTo>
                  <a:lnTo>
                    <a:pt x="108" y="98"/>
                  </a:lnTo>
                  <a:lnTo>
                    <a:pt x="114" y="98"/>
                  </a:lnTo>
                  <a:lnTo>
                    <a:pt x="121" y="91"/>
                  </a:lnTo>
                  <a:lnTo>
                    <a:pt x="121" y="78"/>
                  </a:lnTo>
                  <a:lnTo>
                    <a:pt x="133" y="72"/>
                  </a:lnTo>
                  <a:lnTo>
                    <a:pt x="140" y="65"/>
                  </a:lnTo>
                  <a:lnTo>
                    <a:pt x="140" y="52"/>
                  </a:lnTo>
                  <a:lnTo>
                    <a:pt x="140" y="39"/>
                  </a:lnTo>
                  <a:lnTo>
                    <a:pt x="133" y="19"/>
                  </a:lnTo>
                  <a:lnTo>
                    <a:pt x="133" y="39"/>
                  </a:lnTo>
                  <a:lnTo>
                    <a:pt x="133" y="59"/>
                  </a:lnTo>
                  <a:lnTo>
                    <a:pt x="127" y="65"/>
                  </a:lnTo>
                  <a:lnTo>
                    <a:pt x="121" y="32"/>
                  </a:lnTo>
                  <a:lnTo>
                    <a:pt x="108" y="13"/>
                  </a:lnTo>
                  <a:lnTo>
                    <a:pt x="89" y="6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1" name="Freeform 25"/>
            <p:cNvSpPr>
              <a:spLocks/>
            </p:cNvSpPr>
            <p:nvPr/>
          </p:nvSpPr>
          <p:spPr bwMode="auto">
            <a:xfrm>
              <a:off x="2150" y="3386"/>
              <a:ext cx="116" cy="233"/>
            </a:xfrm>
            <a:custGeom>
              <a:avLst/>
              <a:gdLst>
                <a:gd name="T0" fmla="*/ 32 w 39"/>
                <a:gd name="T1" fmla="*/ 59 h 99"/>
                <a:gd name="T2" fmla="*/ 25 w 39"/>
                <a:gd name="T3" fmla="*/ 78 h 99"/>
                <a:gd name="T4" fmla="*/ 25 w 39"/>
                <a:gd name="T5" fmla="*/ 72 h 99"/>
                <a:gd name="T6" fmla="*/ 6 w 39"/>
                <a:gd name="T7" fmla="*/ 33 h 99"/>
                <a:gd name="T8" fmla="*/ 0 w 39"/>
                <a:gd name="T9" fmla="*/ 0 h 99"/>
                <a:gd name="T10" fmla="*/ 6 w 39"/>
                <a:gd name="T11" fmla="*/ 26 h 99"/>
                <a:gd name="T12" fmla="*/ 6 w 39"/>
                <a:gd name="T13" fmla="*/ 39 h 99"/>
                <a:gd name="T14" fmla="*/ 13 w 39"/>
                <a:gd name="T15" fmla="*/ 59 h 99"/>
                <a:gd name="T16" fmla="*/ 25 w 39"/>
                <a:gd name="T17" fmla="*/ 98 h 99"/>
                <a:gd name="T18" fmla="*/ 38 w 39"/>
                <a:gd name="T19" fmla="*/ 65 h 99"/>
                <a:gd name="T20" fmla="*/ 32 w 39"/>
                <a:gd name="T21" fmla="*/ 59 h 99"/>
                <a:gd name="T22" fmla="*/ 32 w 39"/>
                <a:gd name="T23" fmla="*/ 59 h 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9"/>
                <a:gd name="T37" fmla="*/ 0 h 99"/>
                <a:gd name="T38" fmla="*/ 39 w 39"/>
                <a:gd name="T39" fmla="*/ 99 h 9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9" h="99">
                  <a:moveTo>
                    <a:pt x="32" y="59"/>
                  </a:moveTo>
                  <a:lnTo>
                    <a:pt x="25" y="78"/>
                  </a:lnTo>
                  <a:lnTo>
                    <a:pt x="25" y="72"/>
                  </a:lnTo>
                  <a:lnTo>
                    <a:pt x="6" y="33"/>
                  </a:lnTo>
                  <a:lnTo>
                    <a:pt x="0" y="0"/>
                  </a:lnTo>
                  <a:lnTo>
                    <a:pt x="6" y="26"/>
                  </a:lnTo>
                  <a:lnTo>
                    <a:pt x="6" y="39"/>
                  </a:lnTo>
                  <a:lnTo>
                    <a:pt x="13" y="59"/>
                  </a:lnTo>
                  <a:lnTo>
                    <a:pt x="25" y="98"/>
                  </a:lnTo>
                  <a:lnTo>
                    <a:pt x="38" y="65"/>
                  </a:lnTo>
                  <a:lnTo>
                    <a:pt x="32" y="59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2" name="Freeform 26"/>
            <p:cNvSpPr>
              <a:spLocks/>
            </p:cNvSpPr>
            <p:nvPr/>
          </p:nvSpPr>
          <p:spPr bwMode="auto">
            <a:xfrm>
              <a:off x="2150" y="3370"/>
              <a:ext cx="116" cy="233"/>
            </a:xfrm>
            <a:custGeom>
              <a:avLst/>
              <a:gdLst>
                <a:gd name="T0" fmla="*/ 44 w 45"/>
                <a:gd name="T1" fmla="*/ 39 h 92"/>
                <a:gd name="T2" fmla="*/ 13 w 45"/>
                <a:gd name="T3" fmla="*/ 20 h 92"/>
                <a:gd name="T4" fmla="*/ 6 w 45"/>
                <a:gd name="T5" fmla="*/ 0 h 92"/>
                <a:gd name="T6" fmla="*/ 0 w 45"/>
                <a:gd name="T7" fmla="*/ 13 h 92"/>
                <a:gd name="T8" fmla="*/ 6 w 45"/>
                <a:gd name="T9" fmla="*/ 46 h 92"/>
                <a:gd name="T10" fmla="*/ 25 w 45"/>
                <a:gd name="T11" fmla="*/ 85 h 92"/>
                <a:gd name="T12" fmla="*/ 25 w 45"/>
                <a:gd name="T13" fmla="*/ 91 h 92"/>
                <a:gd name="T14" fmla="*/ 32 w 45"/>
                <a:gd name="T15" fmla="*/ 72 h 92"/>
                <a:gd name="T16" fmla="*/ 44 w 45"/>
                <a:gd name="T17" fmla="*/ 39 h 92"/>
                <a:gd name="T18" fmla="*/ 44 w 45"/>
                <a:gd name="T19" fmla="*/ 39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5"/>
                <a:gd name="T31" fmla="*/ 0 h 92"/>
                <a:gd name="T32" fmla="*/ 45 w 45"/>
                <a:gd name="T33" fmla="*/ 92 h 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5" h="92">
                  <a:moveTo>
                    <a:pt x="44" y="39"/>
                  </a:moveTo>
                  <a:lnTo>
                    <a:pt x="13" y="20"/>
                  </a:lnTo>
                  <a:lnTo>
                    <a:pt x="6" y="0"/>
                  </a:lnTo>
                  <a:lnTo>
                    <a:pt x="0" y="13"/>
                  </a:lnTo>
                  <a:lnTo>
                    <a:pt x="6" y="46"/>
                  </a:lnTo>
                  <a:lnTo>
                    <a:pt x="25" y="85"/>
                  </a:lnTo>
                  <a:lnTo>
                    <a:pt x="25" y="91"/>
                  </a:lnTo>
                  <a:lnTo>
                    <a:pt x="32" y="72"/>
                  </a:lnTo>
                  <a:lnTo>
                    <a:pt x="44" y="39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3" name="Freeform 27"/>
            <p:cNvSpPr>
              <a:spLocks/>
            </p:cNvSpPr>
            <p:nvPr/>
          </p:nvSpPr>
          <p:spPr bwMode="auto">
            <a:xfrm>
              <a:off x="2093" y="2979"/>
              <a:ext cx="116" cy="233"/>
            </a:xfrm>
            <a:custGeom>
              <a:avLst/>
              <a:gdLst>
                <a:gd name="T0" fmla="*/ 63 w 83"/>
                <a:gd name="T1" fmla="*/ 0 h 14"/>
                <a:gd name="T2" fmla="*/ 63 w 83"/>
                <a:gd name="T3" fmla="*/ 0 h 14"/>
                <a:gd name="T4" fmla="*/ 63 w 83"/>
                <a:gd name="T5" fmla="*/ 0 h 14"/>
                <a:gd name="T6" fmla="*/ 51 w 83"/>
                <a:gd name="T7" fmla="*/ 0 h 14"/>
                <a:gd name="T8" fmla="*/ 38 w 83"/>
                <a:gd name="T9" fmla="*/ 0 h 14"/>
                <a:gd name="T10" fmla="*/ 25 w 83"/>
                <a:gd name="T11" fmla="*/ 0 h 14"/>
                <a:gd name="T12" fmla="*/ 13 w 83"/>
                <a:gd name="T13" fmla="*/ 0 h 14"/>
                <a:gd name="T14" fmla="*/ 6 w 83"/>
                <a:gd name="T15" fmla="*/ 7 h 14"/>
                <a:gd name="T16" fmla="*/ 0 w 83"/>
                <a:gd name="T17" fmla="*/ 13 h 14"/>
                <a:gd name="T18" fmla="*/ 13 w 83"/>
                <a:gd name="T19" fmla="*/ 7 h 14"/>
                <a:gd name="T20" fmla="*/ 19 w 83"/>
                <a:gd name="T21" fmla="*/ 7 h 14"/>
                <a:gd name="T22" fmla="*/ 38 w 83"/>
                <a:gd name="T23" fmla="*/ 0 h 14"/>
                <a:gd name="T24" fmla="*/ 57 w 83"/>
                <a:gd name="T25" fmla="*/ 0 h 14"/>
                <a:gd name="T26" fmla="*/ 70 w 83"/>
                <a:gd name="T27" fmla="*/ 7 h 14"/>
                <a:gd name="T28" fmla="*/ 82 w 83"/>
                <a:gd name="T29" fmla="*/ 7 h 14"/>
                <a:gd name="T30" fmla="*/ 76 w 83"/>
                <a:gd name="T31" fmla="*/ 0 h 14"/>
                <a:gd name="T32" fmla="*/ 63 w 83"/>
                <a:gd name="T33" fmla="*/ 0 h 14"/>
                <a:gd name="T34" fmla="*/ 63 w 83"/>
                <a:gd name="T35" fmla="*/ 0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4"/>
                <a:gd name="T56" fmla="*/ 83 w 83"/>
                <a:gd name="T57" fmla="*/ 14 h 1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4">
                  <a:moveTo>
                    <a:pt x="63" y="0"/>
                  </a:moveTo>
                  <a:lnTo>
                    <a:pt x="63" y="0"/>
                  </a:lnTo>
                  <a:lnTo>
                    <a:pt x="51" y="0"/>
                  </a:lnTo>
                  <a:lnTo>
                    <a:pt x="38" y="0"/>
                  </a:lnTo>
                  <a:lnTo>
                    <a:pt x="25" y="0"/>
                  </a:lnTo>
                  <a:lnTo>
                    <a:pt x="13" y="0"/>
                  </a:lnTo>
                  <a:lnTo>
                    <a:pt x="6" y="7"/>
                  </a:lnTo>
                  <a:lnTo>
                    <a:pt x="0" y="13"/>
                  </a:lnTo>
                  <a:lnTo>
                    <a:pt x="13" y="7"/>
                  </a:lnTo>
                  <a:lnTo>
                    <a:pt x="19" y="7"/>
                  </a:lnTo>
                  <a:lnTo>
                    <a:pt x="38" y="0"/>
                  </a:lnTo>
                  <a:lnTo>
                    <a:pt x="57" y="0"/>
                  </a:lnTo>
                  <a:lnTo>
                    <a:pt x="70" y="7"/>
                  </a:lnTo>
                  <a:lnTo>
                    <a:pt x="82" y="7"/>
                  </a:lnTo>
                  <a:lnTo>
                    <a:pt x="76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4" name="Freeform 28"/>
            <p:cNvSpPr>
              <a:spLocks/>
            </p:cNvSpPr>
            <p:nvPr/>
          </p:nvSpPr>
          <p:spPr bwMode="auto">
            <a:xfrm>
              <a:off x="2207" y="3373"/>
              <a:ext cx="116" cy="233"/>
            </a:xfrm>
            <a:custGeom>
              <a:avLst/>
              <a:gdLst>
                <a:gd name="T0" fmla="*/ 25 w 39"/>
                <a:gd name="T1" fmla="*/ 0 h 85"/>
                <a:gd name="T2" fmla="*/ 25 w 39"/>
                <a:gd name="T3" fmla="*/ 6 h 85"/>
                <a:gd name="T4" fmla="*/ 25 w 39"/>
                <a:gd name="T5" fmla="*/ 13 h 85"/>
                <a:gd name="T6" fmla="*/ 13 w 39"/>
                <a:gd name="T7" fmla="*/ 26 h 85"/>
                <a:gd name="T8" fmla="*/ 0 w 39"/>
                <a:gd name="T9" fmla="*/ 32 h 85"/>
                <a:gd name="T10" fmla="*/ 19 w 39"/>
                <a:gd name="T11" fmla="*/ 65 h 85"/>
                <a:gd name="T12" fmla="*/ 25 w 39"/>
                <a:gd name="T13" fmla="*/ 84 h 85"/>
                <a:gd name="T14" fmla="*/ 38 w 39"/>
                <a:gd name="T15" fmla="*/ 26 h 85"/>
                <a:gd name="T16" fmla="*/ 38 w 39"/>
                <a:gd name="T17" fmla="*/ 26 h 85"/>
                <a:gd name="T18" fmla="*/ 25 w 39"/>
                <a:gd name="T19" fmla="*/ 0 h 85"/>
                <a:gd name="T20" fmla="*/ 25 w 39"/>
                <a:gd name="T21" fmla="*/ 0 h 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9"/>
                <a:gd name="T34" fmla="*/ 0 h 85"/>
                <a:gd name="T35" fmla="*/ 39 w 39"/>
                <a:gd name="T36" fmla="*/ 85 h 8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9" h="85">
                  <a:moveTo>
                    <a:pt x="25" y="0"/>
                  </a:moveTo>
                  <a:lnTo>
                    <a:pt x="25" y="6"/>
                  </a:lnTo>
                  <a:lnTo>
                    <a:pt x="25" y="13"/>
                  </a:lnTo>
                  <a:lnTo>
                    <a:pt x="13" y="26"/>
                  </a:lnTo>
                  <a:lnTo>
                    <a:pt x="0" y="32"/>
                  </a:lnTo>
                  <a:lnTo>
                    <a:pt x="19" y="65"/>
                  </a:lnTo>
                  <a:lnTo>
                    <a:pt x="25" y="84"/>
                  </a:lnTo>
                  <a:lnTo>
                    <a:pt x="38" y="2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5" name="Freeform 29"/>
            <p:cNvSpPr>
              <a:spLocks/>
            </p:cNvSpPr>
            <p:nvPr/>
          </p:nvSpPr>
          <p:spPr bwMode="auto">
            <a:xfrm>
              <a:off x="2213" y="3445"/>
              <a:ext cx="116" cy="233"/>
            </a:xfrm>
            <a:custGeom>
              <a:avLst/>
              <a:gdLst>
                <a:gd name="T0" fmla="*/ 7 w 20"/>
                <a:gd name="T1" fmla="*/ 0 h 98"/>
                <a:gd name="T2" fmla="*/ 0 w 20"/>
                <a:gd name="T3" fmla="*/ 32 h 98"/>
                <a:gd name="T4" fmla="*/ 13 w 20"/>
                <a:gd name="T5" fmla="*/ 97 h 98"/>
                <a:gd name="T6" fmla="*/ 19 w 20"/>
                <a:gd name="T7" fmla="*/ 58 h 98"/>
                <a:gd name="T8" fmla="*/ 19 w 20"/>
                <a:gd name="T9" fmla="*/ 26 h 98"/>
                <a:gd name="T10" fmla="*/ 7 w 20"/>
                <a:gd name="T11" fmla="*/ 0 h 98"/>
                <a:gd name="T12" fmla="*/ 7 w 20"/>
                <a:gd name="T13" fmla="*/ 0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"/>
                <a:gd name="T22" fmla="*/ 0 h 98"/>
                <a:gd name="T23" fmla="*/ 20 w 20"/>
                <a:gd name="T24" fmla="*/ 98 h 9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" h="98">
                  <a:moveTo>
                    <a:pt x="7" y="0"/>
                  </a:moveTo>
                  <a:lnTo>
                    <a:pt x="0" y="32"/>
                  </a:lnTo>
                  <a:lnTo>
                    <a:pt x="13" y="97"/>
                  </a:lnTo>
                  <a:lnTo>
                    <a:pt x="19" y="58"/>
                  </a:lnTo>
                  <a:lnTo>
                    <a:pt x="19" y="2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6" name="Freeform 30"/>
            <p:cNvSpPr>
              <a:spLocks/>
            </p:cNvSpPr>
            <p:nvPr/>
          </p:nvSpPr>
          <p:spPr bwMode="auto">
            <a:xfrm>
              <a:off x="2283" y="3135"/>
              <a:ext cx="116" cy="233"/>
            </a:xfrm>
            <a:custGeom>
              <a:avLst/>
              <a:gdLst>
                <a:gd name="T0" fmla="*/ 57 w 58"/>
                <a:gd name="T1" fmla="*/ 0 h 79"/>
                <a:gd name="T2" fmla="*/ 50 w 58"/>
                <a:gd name="T3" fmla="*/ 0 h 79"/>
                <a:gd name="T4" fmla="*/ 19 w 58"/>
                <a:gd name="T5" fmla="*/ 46 h 79"/>
                <a:gd name="T6" fmla="*/ 6 w 58"/>
                <a:gd name="T7" fmla="*/ 59 h 79"/>
                <a:gd name="T8" fmla="*/ 0 w 58"/>
                <a:gd name="T9" fmla="*/ 78 h 79"/>
                <a:gd name="T10" fmla="*/ 44 w 58"/>
                <a:gd name="T11" fmla="*/ 20 h 79"/>
                <a:gd name="T12" fmla="*/ 57 w 58"/>
                <a:gd name="T13" fmla="*/ 0 h 79"/>
                <a:gd name="T14" fmla="*/ 57 w 58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8"/>
                <a:gd name="T25" fmla="*/ 0 h 79"/>
                <a:gd name="T26" fmla="*/ 58 w 58"/>
                <a:gd name="T27" fmla="*/ 79 h 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8" h="79">
                  <a:moveTo>
                    <a:pt x="57" y="0"/>
                  </a:moveTo>
                  <a:lnTo>
                    <a:pt x="50" y="0"/>
                  </a:lnTo>
                  <a:lnTo>
                    <a:pt x="19" y="46"/>
                  </a:lnTo>
                  <a:lnTo>
                    <a:pt x="6" y="59"/>
                  </a:lnTo>
                  <a:lnTo>
                    <a:pt x="0" y="78"/>
                  </a:lnTo>
                  <a:lnTo>
                    <a:pt x="44" y="2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7" name="Freeform 31"/>
            <p:cNvSpPr>
              <a:spLocks/>
            </p:cNvSpPr>
            <p:nvPr/>
          </p:nvSpPr>
          <p:spPr bwMode="auto">
            <a:xfrm>
              <a:off x="2017" y="2979"/>
              <a:ext cx="116" cy="233"/>
            </a:xfrm>
            <a:custGeom>
              <a:avLst/>
              <a:gdLst>
                <a:gd name="T0" fmla="*/ 0 w 33"/>
                <a:gd name="T1" fmla="*/ 78 h 79"/>
                <a:gd name="T2" fmla="*/ 7 w 33"/>
                <a:gd name="T3" fmla="*/ 39 h 79"/>
                <a:gd name="T4" fmla="*/ 7 w 33"/>
                <a:gd name="T5" fmla="*/ 6 h 79"/>
                <a:gd name="T6" fmla="*/ 13 w 33"/>
                <a:gd name="T7" fmla="*/ 0 h 79"/>
                <a:gd name="T8" fmla="*/ 13 w 33"/>
                <a:gd name="T9" fmla="*/ 0 h 79"/>
                <a:gd name="T10" fmla="*/ 32 w 33"/>
                <a:gd name="T11" fmla="*/ 0 h 79"/>
                <a:gd name="T12" fmla="*/ 26 w 33"/>
                <a:gd name="T13" fmla="*/ 32 h 79"/>
                <a:gd name="T14" fmla="*/ 0 w 33"/>
                <a:gd name="T15" fmla="*/ 78 h 79"/>
                <a:gd name="T16" fmla="*/ 0 w 33"/>
                <a:gd name="T17" fmla="*/ 78 h 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"/>
                <a:gd name="T28" fmla="*/ 0 h 79"/>
                <a:gd name="T29" fmla="*/ 33 w 33"/>
                <a:gd name="T30" fmla="*/ 79 h 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" h="79">
                  <a:moveTo>
                    <a:pt x="0" y="78"/>
                  </a:moveTo>
                  <a:lnTo>
                    <a:pt x="7" y="39"/>
                  </a:lnTo>
                  <a:lnTo>
                    <a:pt x="7" y="6"/>
                  </a:lnTo>
                  <a:lnTo>
                    <a:pt x="13" y="0"/>
                  </a:lnTo>
                  <a:lnTo>
                    <a:pt x="32" y="0"/>
                  </a:lnTo>
                  <a:lnTo>
                    <a:pt x="26" y="3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8" name="Freeform 32"/>
            <p:cNvSpPr>
              <a:spLocks/>
            </p:cNvSpPr>
            <p:nvPr/>
          </p:nvSpPr>
          <p:spPr bwMode="auto">
            <a:xfrm>
              <a:off x="2340" y="2973"/>
              <a:ext cx="116" cy="233"/>
            </a:xfrm>
            <a:custGeom>
              <a:avLst/>
              <a:gdLst>
                <a:gd name="T0" fmla="*/ 19 w 20"/>
                <a:gd name="T1" fmla="*/ 65 h 66"/>
                <a:gd name="T2" fmla="*/ 0 w 20"/>
                <a:gd name="T3" fmla="*/ 32 h 66"/>
                <a:gd name="T4" fmla="*/ 0 w 20"/>
                <a:gd name="T5" fmla="*/ 13 h 66"/>
                <a:gd name="T6" fmla="*/ 0 w 20"/>
                <a:gd name="T7" fmla="*/ 0 h 66"/>
                <a:gd name="T8" fmla="*/ 12 w 20"/>
                <a:gd name="T9" fmla="*/ 0 h 66"/>
                <a:gd name="T10" fmla="*/ 19 w 20"/>
                <a:gd name="T11" fmla="*/ 0 h 66"/>
                <a:gd name="T12" fmla="*/ 19 w 20"/>
                <a:gd name="T13" fmla="*/ 6 h 66"/>
                <a:gd name="T14" fmla="*/ 19 w 20"/>
                <a:gd name="T15" fmla="*/ 65 h 66"/>
                <a:gd name="T16" fmla="*/ 19 w 20"/>
                <a:gd name="T17" fmla="*/ 65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"/>
                <a:gd name="T28" fmla="*/ 0 h 66"/>
                <a:gd name="T29" fmla="*/ 20 w 20"/>
                <a:gd name="T30" fmla="*/ 66 h 6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" h="66">
                  <a:moveTo>
                    <a:pt x="19" y="65"/>
                  </a:moveTo>
                  <a:lnTo>
                    <a:pt x="0" y="32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19" y="65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9" name="Freeform 33"/>
            <p:cNvSpPr>
              <a:spLocks/>
            </p:cNvSpPr>
            <p:nvPr/>
          </p:nvSpPr>
          <p:spPr bwMode="auto">
            <a:xfrm>
              <a:off x="2106" y="2901"/>
              <a:ext cx="116" cy="233"/>
            </a:xfrm>
            <a:custGeom>
              <a:avLst/>
              <a:gdLst>
                <a:gd name="T0" fmla="*/ 57 w 58"/>
                <a:gd name="T1" fmla="*/ 0 h 40"/>
                <a:gd name="T2" fmla="*/ 12 w 58"/>
                <a:gd name="T3" fmla="*/ 20 h 40"/>
                <a:gd name="T4" fmla="*/ 0 w 58"/>
                <a:gd name="T5" fmla="*/ 39 h 40"/>
                <a:gd name="T6" fmla="*/ 19 w 58"/>
                <a:gd name="T7" fmla="*/ 20 h 40"/>
                <a:gd name="T8" fmla="*/ 50 w 58"/>
                <a:gd name="T9" fmla="*/ 20 h 40"/>
                <a:gd name="T10" fmla="*/ 50 w 58"/>
                <a:gd name="T11" fmla="*/ 20 h 40"/>
                <a:gd name="T12" fmla="*/ 57 w 58"/>
                <a:gd name="T13" fmla="*/ 0 h 40"/>
                <a:gd name="T14" fmla="*/ 57 w 58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8"/>
                <a:gd name="T25" fmla="*/ 0 h 40"/>
                <a:gd name="T26" fmla="*/ 58 w 58"/>
                <a:gd name="T27" fmla="*/ 40 h 4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8" h="40">
                  <a:moveTo>
                    <a:pt x="57" y="0"/>
                  </a:moveTo>
                  <a:lnTo>
                    <a:pt x="12" y="20"/>
                  </a:lnTo>
                  <a:lnTo>
                    <a:pt x="0" y="39"/>
                  </a:lnTo>
                  <a:lnTo>
                    <a:pt x="19" y="20"/>
                  </a:lnTo>
                  <a:lnTo>
                    <a:pt x="50" y="2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0" name="Freeform 34"/>
            <p:cNvSpPr>
              <a:spLocks/>
            </p:cNvSpPr>
            <p:nvPr/>
          </p:nvSpPr>
          <p:spPr bwMode="auto">
            <a:xfrm>
              <a:off x="2175" y="3344"/>
              <a:ext cx="116" cy="233"/>
            </a:xfrm>
            <a:custGeom>
              <a:avLst/>
              <a:gdLst>
                <a:gd name="T0" fmla="*/ 51 w 52"/>
                <a:gd name="T1" fmla="*/ 0 h 27"/>
                <a:gd name="T2" fmla="*/ 51 w 52"/>
                <a:gd name="T3" fmla="*/ 13 h 27"/>
                <a:gd name="T4" fmla="*/ 45 w 52"/>
                <a:gd name="T5" fmla="*/ 19 h 27"/>
                <a:gd name="T6" fmla="*/ 32 w 52"/>
                <a:gd name="T7" fmla="*/ 26 h 27"/>
                <a:gd name="T8" fmla="*/ 13 w 52"/>
                <a:gd name="T9" fmla="*/ 26 h 27"/>
                <a:gd name="T10" fmla="*/ 0 w 52"/>
                <a:gd name="T11" fmla="*/ 13 h 27"/>
                <a:gd name="T12" fmla="*/ 0 w 52"/>
                <a:gd name="T13" fmla="*/ 0 h 27"/>
                <a:gd name="T14" fmla="*/ 51 w 52"/>
                <a:gd name="T15" fmla="*/ 0 h 27"/>
                <a:gd name="T16" fmla="*/ 51 w 52"/>
                <a:gd name="T17" fmla="*/ 0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2"/>
                <a:gd name="T28" fmla="*/ 0 h 27"/>
                <a:gd name="T29" fmla="*/ 52 w 52"/>
                <a:gd name="T30" fmla="*/ 27 h 2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2" h="27">
                  <a:moveTo>
                    <a:pt x="51" y="0"/>
                  </a:moveTo>
                  <a:lnTo>
                    <a:pt x="51" y="13"/>
                  </a:lnTo>
                  <a:lnTo>
                    <a:pt x="45" y="19"/>
                  </a:lnTo>
                  <a:lnTo>
                    <a:pt x="32" y="26"/>
                  </a:lnTo>
                  <a:lnTo>
                    <a:pt x="13" y="26"/>
                  </a:lnTo>
                  <a:lnTo>
                    <a:pt x="0" y="13"/>
                  </a:lnTo>
                  <a:lnTo>
                    <a:pt x="0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1" name="Freeform 35"/>
            <p:cNvSpPr>
              <a:spLocks/>
            </p:cNvSpPr>
            <p:nvPr/>
          </p:nvSpPr>
          <p:spPr bwMode="auto">
            <a:xfrm>
              <a:off x="2112" y="2963"/>
              <a:ext cx="116" cy="233"/>
            </a:xfrm>
            <a:custGeom>
              <a:avLst/>
              <a:gdLst>
                <a:gd name="T0" fmla="*/ 44 w 45"/>
                <a:gd name="T1" fmla="*/ 19 h 20"/>
                <a:gd name="T2" fmla="*/ 44 w 45"/>
                <a:gd name="T3" fmla="*/ 6 h 20"/>
                <a:gd name="T4" fmla="*/ 44 w 45"/>
                <a:gd name="T5" fmla="*/ 0 h 20"/>
                <a:gd name="T6" fmla="*/ 38 w 45"/>
                <a:gd name="T7" fmla="*/ 0 h 20"/>
                <a:gd name="T8" fmla="*/ 13 w 45"/>
                <a:gd name="T9" fmla="*/ 0 h 20"/>
                <a:gd name="T10" fmla="*/ 6 w 45"/>
                <a:gd name="T11" fmla="*/ 6 h 20"/>
                <a:gd name="T12" fmla="*/ 0 w 45"/>
                <a:gd name="T13" fmla="*/ 19 h 20"/>
                <a:gd name="T14" fmla="*/ 19 w 45"/>
                <a:gd name="T15" fmla="*/ 19 h 20"/>
                <a:gd name="T16" fmla="*/ 44 w 45"/>
                <a:gd name="T17" fmla="*/ 19 h 20"/>
                <a:gd name="T18" fmla="*/ 44 w 45"/>
                <a:gd name="T19" fmla="*/ 19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5"/>
                <a:gd name="T31" fmla="*/ 0 h 20"/>
                <a:gd name="T32" fmla="*/ 45 w 45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5" h="20">
                  <a:moveTo>
                    <a:pt x="44" y="19"/>
                  </a:moveTo>
                  <a:lnTo>
                    <a:pt x="44" y="6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13" y="0"/>
                  </a:lnTo>
                  <a:lnTo>
                    <a:pt x="6" y="6"/>
                  </a:lnTo>
                  <a:lnTo>
                    <a:pt x="0" y="19"/>
                  </a:lnTo>
                  <a:lnTo>
                    <a:pt x="19" y="19"/>
                  </a:lnTo>
                  <a:lnTo>
                    <a:pt x="44" y="19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2" name="Freeform 36"/>
            <p:cNvSpPr>
              <a:spLocks/>
            </p:cNvSpPr>
            <p:nvPr/>
          </p:nvSpPr>
          <p:spPr bwMode="auto">
            <a:xfrm>
              <a:off x="2106" y="2950"/>
              <a:ext cx="116" cy="233"/>
            </a:xfrm>
            <a:custGeom>
              <a:avLst/>
              <a:gdLst>
                <a:gd name="T0" fmla="*/ 50 w 51"/>
                <a:gd name="T1" fmla="*/ 45 h 46"/>
                <a:gd name="T2" fmla="*/ 50 w 51"/>
                <a:gd name="T3" fmla="*/ 26 h 46"/>
                <a:gd name="T4" fmla="*/ 50 w 51"/>
                <a:gd name="T5" fmla="*/ 19 h 46"/>
                <a:gd name="T6" fmla="*/ 50 w 51"/>
                <a:gd name="T7" fmla="*/ 6 h 46"/>
                <a:gd name="T8" fmla="*/ 44 w 51"/>
                <a:gd name="T9" fmla="*/ 0 h 46"/>
                <a:gd name="T10" fmla="*/ 31 w 51"/>
                <a:gd name="T11" fmla="*/ 0 h 46"/>
                <a:gd name="T12" fmla="*/ 25 w 51"/>
                <a:gd name="T13" fmla="*/ 0 h 46"/>
                <a:gd name="T14" fmla="*/ 12 w 51"/>
                <a:gd name="T15" fmla="*/ 26 h 46"/>
                <a:gd name="T16" fmla="*/ 0 w 51"/>
                <a:gd name="T17" fmla="*/ 45 h 46"/>
                <a:gd name="T18" fmla="*/ 6 w 51"/>
                <a:gd name="T19" fmla="*/ 45 h 46"/>
                <a:gd name="T20" fmla="*/ 6 w 51"/>
                <a:gd name="T21" fmla="*/ 45 h 46"/>
                <a:gd name="T22" fmla="*/ 12 w 51"/>
                <a:gd name="T23" fmla="*/ 32 h 46"/>
                <a:gd name="T24" fmla="*/ 19 w 51"/>
                <a:gd name="T25" fmla="*/ 26 h 46"/>
                <a:gd name="T26" fmla="*/ 25 w 51"/>
                <a:gd name="T27" fmla="*/ 26 h 46"/>
                <a:gd name="T28" fmla="*/ 38 w 51"/>
                <a:gd name="T29" fmla="*/ 32 h 46"/>
                <a:gd name="T30" fmla="*/ 50 w 51"/>
                <a:gd name="T31" fmla="*/ 26 h 46"/>
                <a:gd name="T32" fmla="*/ 50 w 51"/>
                <a:gd name="T33" fmla="*/ 26 h 46"/>
                <a:gd name="T34" fmla="*/ 50 w 51"/>
                <a:gd name="T35" fmla="*/ 32 h 46"/>
                <a:gd name="T36" fmla="*/ 50 w 51"/>
                <a:gd name="T37" fmla="*/ 45 h 46"/>
                <a:gd name="T38" fmla="*/ 50 w 51"/>
                <a:gd name="T39" fmla="*/ 45 h 46"/>
                <a:gd name="T40" fmla="*/ 50 w 51"/>
                <a:gd name="T41" fmla="*/ 45 h 46"/>
                <a:gd name="T42" fmla="*/ 50 w 51"/>
                <a:gd name="T43" fmla="*/ 45 h 4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1"/>
                <a:gd name="T67" fmla="*/ 0 h 46"/>
                <a:gd name="T68" fmla="*/ 51 w 51"/>
                <a:gd name="T69" fmla="*/ 46 h 4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1" h="46">
                  <a:moveTo>
                    <a:pt x="50" y="45"/>
                  </a:moveTo>
                  <a:lnTo>
                    <a:pt x="50" y="26"/>
                  </a:lnTo>
                  <a:lnTo>
                    <a:pt x="50" y="19"/>
                  </a:lnTo>
                  <a:lnTo>
                    <a:pt x="50" y="6"/>
                  </a:lnTo>
                  <a:lnTo>
                    <a:pt x="44" y="0"/>
                  </a:lnTo>
                  <a:lnTo>
                    <a:pt x="31" y="0"/>
                  </a:lnTo>
                  <a:lnTo>
                    <a:pt x="25" y="0"/>
                  </a:lnTo>
                  <a:lnTo>
                    <a:pt x="12" y="26"/>
                  </a:lnTo>
                  <a:lnTo>
                    <a:pt x="0" y="45"/>
                  </a:lnTo>
                  <a:lnTo>
                    <a:pt x="6" y="45"/>
                  </a:lnTo>
                  <a:lnTo>
                    <a:pt x="12" y="32"/>
                  </a:lnTo>
                  <a:lnTo>
                    <a:pt x="19" y="26"/>
                  </a:lnTo>
                  <a:lnTo>
                    <a:pt x="25" y="26"/>
                  </a:lnTo>
                  <a:lnTo>
                    <a:pt x="38" y="32"/>
                  </a:lnTo>
                  <a:lnTo>
                    <a:pt x="50" y="26"/>
                  </a:lnTo>
                  <a:lnTo>
                    <a:pt x="50" y="32"/>
                  </a:lnTo>
                  <a:lnTo>
                    <a:pt x="50" y="45"/>
                  </a:ln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3" name="Freeform 37"/>
            <p:cNvSpPr>
              <a:spLocks/>
            </p:cNvSpPr>
            <p:nvPr/>
          </p:nvSpPr>
          <p:spPr bwMode="auto">
            <a:xfrm>
              <a:off x="2245" y="2882"/>
              <a:ext cx="116" cy="233"/>
            </a:xfrm>
            <a:custGeom>
              <a:avLst/>
              <a:gdLst>
                <a:gd name="T0" fmla="*/ 6 w 58"/>
                <a:gd name="T1" fmla="*/ 0 h 40"/>
                <a:gd name="T2" fmla="*/ 0 w 58"/>
                <a:gd name="T3" fmla="*/ 13 h 40"/>
                <a:gd name="T4" fmla="*/ 32 w 58"/>
                <a:gd name="T5" fmla="*/ 13 h 40"/>
                <a:gd name="T6" fmla="*/ 57 w 58"/>
                <a:gd name="T7" fmla="*/ 39 h 40"/>
                <a:gd name="T8" fmla="*/ 44 w 58"/>
                <a:gd name="T9" fmla="*/ 26 h 40"/>
                <a:gd name="T10" fmla="*/ 38 w 58"/>
                <a:gd name="T11" fmla="*/ 13 h 40"/>
                <a:gd name="T12" fmla="*/ 6 w 58"/>
                <a:gd name="T13" fmla="*/ 0 h 40"/>
                <a:gd name="T14" fmla="*/ 6 w 58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8"/>
                <a:gd name="T25" fmla="*/ 0 h 40"/>
                <a:gd name="T26" fmla="*/ 58 w 58"/>
                <a:gd name="T27" fmla="*/ 40 h 4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8" h="40">
                  <a:moveTo>
                    <a:pt x="6" y="0"/>
                  </a:moveTo>
                  <a:lnTo>
                    <a:pt x="0" y="13"/>
                  </a:lnTo>
                  <a:lnTo>
                    <a:pt x="32" y="13"/>
                  </a:lnTo>
                  <a:lnTo>
                    <a:pt x="57" y="39"/>
                  </a:lnTo>
                  <a:lnTo>
                    <a:pt x="44" y="26"/>
                  </a:lnTo>
                  <a:lnTo>
                    <a:pt x="38" y="1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Freeform 38"/>
            <p:cNvSpPr>
              <a:spLocks/>
            </p:cNvSpPr>
            <p:nvPr/>
          </p:nvSpPr>
          <p:spPr bwMode="auto">
            <a:xfrm>
              <a:off x="2220" y="3416"/>
              <a:ext cx="116" cy="233"/>
            </a:xfrm>
            <a:custGeom>
              <a:avLst/>
              <a:gdLst>
                <a:gd name="T0" fmla="*/ 12 w 13"/>
                <a:gd name="T1" fmla="*/ 19 h 40"/>
                <a:gd name="T2" fmla="*/ 6 w 13"/>
                <a:gd name="T3" fmla="*/ 0 h 40"/>
                <a:gd name="T4" fmla="*/ 0 w 13"/>
                <a:gd name="T5" fmla="*/ 0 h 40"/>
                <a:gd name="T6" fmla="*/ 12 w 13"/>
                <a:gd name="T7" fmla="*/ 39 h 40"/>
                <a:gd name="T8" fmla="*/ 12 w 13"/>
                <a:gd name="T9" fmla="*/ 19 h 40"/>
                <a:gd name="T10" fmla="*/ 12 w 13"/>
                <a:gd name="T11" fmla="*/ 19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40"/>
                <a:gd name="T20" fmla="*/ 13 w 13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40">
                  <a:moveTo>
                    <a:pt x="12" y="19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12" y="39"/>
                  </a:lnTo>
                  <a:lnTo>
                    <a:pt x="12" y="1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Freeform 39"/>
            <p:cNvSpPr>
              <a:spLocks/>
            </p:cNvSpPr>
            <p:nvPr/>
          </p:nvSpPr>
          <p:spPr bwMode="auto">
            <a:xfrm>
              <a:off x="2220" y="3416"/>
              <a:ext cx="116" cy="233"/>
            </a:xfrm>
            <a:custGeom>
              <a:avLst/>
              <a:gdLst>
                <a:gd name="T0" fmla="*/ 12 w 13"/>
                <a:gd name="T1" fmla="*/ 19 h 40"/>
                <a:gd name="T2" fmla="*/ 6 w 13"/>
                <a:gd name="T3" fmla="*/ 0 h 40"/>
                <a:gd name="T4" fmla="*/ 0 w 13"/>
                <a:gd name="T5" fmla="*/ 0 h 40"/>
                <a:gd name="T6" fmla="*/ 12 w 13"/>
                <a:gd name="T7" fmla="*/ 39 h 40"/>
                <a:gd name="T8" fmla="*/ 12 w 13"/>
                <a:gd name="T9" fmla="*/ 1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40"/>
                <a:gd name="T17" fmla="*/ 13 w 13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40">
                  <a:moveTo>
                    <a:pt x="12" y="19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12" y="39"/>
                  </a:lnTo>
                  <a:lnTo>
                    <a:pt x="12" y="19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Freeform 40"/>
            <p:cNvSpPr>
              <a:spLocks/>
            </p:cNvSpPr>
            <p:nvPr/>
          </p:nvSpPr>
          <p:spPr bwMode="auto">
            <a:xfrm>
              <a:off x="2264" y="2959"/>
              <a:ext cx="116" cy="233"/>
            </a:xfrm>
            <a:custGeom>
              <a:avLst/>
              <a:gdLst>
                <a:gd name="T0" fmla="*/ 32 w 33"/>
                <a:gd name="T1" fmla="*/ 26 h 27"/>
                <a:gd name="T2" fmla="*/ 25 w 33"/>
                <a:gd name="T3" fmla="*/ 13 h 27"/>
                <a:gd name="T4" fmla="*/ 25 w 33"/>
                <a:gd name="T5" fmla="*/ 0 h 27"/>
                <a:gd name="T6" fmla="*/ 6 w 33"/>
                <a:gd name="T7" fmla="*/ 0 h 27"/>
                <a:gd name="T8" fmla="*/ 0 w 33"/>
                <a:gd name="T9" fmla="*/ 7 h 27"/>
                <a:gd name="T10" fmla="*/ 0 w 33"/>
                <a:gd name="T11" fmla="*/ 20 h 27"/>
                <a:gd name="T12" fmla="*/ 13 w 33"/>
                <a:gd name="T13" fmla="*/ 20 h 27"/>
                <a:gd name="T14" fmla="*/ 25 w 33"/>
                <a:gd name="T15" fmla="*/ 20 h 27"/>
                <a:gd name="T16" fmla="*/ 32 w 33"/>
                <a:gd name="T17" fmla="*/ 26 h 27"/>
                <a:gd name="T18" fmla="*/ 32 w 33"/>
                <a:gd name="T19" fmla="*/ 26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"/>
                <a:gd name="T31" fmla="*/ 0 h 27"/>
                <a:gd name="T32" fmla="*/ 33 w 33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" h="27">
                  <a:moveTo>
                    <a:pt x="32" y="26"/>
                  </a:moveTo>
                  <a:lnTo>
                    <a:pt x="25" y="13"/>
                  </a:lnTo>
                  <a:lnTo>
                    <a:pt x="25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20"/>
                  </a:lnTo>
                  <a:lnTo>
                    <a:pt x="13" y="20"/>
                  </a:lnTo>
                  <a:lnTo>
                    <a:pt x="25" y="2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Freeform 41"/>
            <p:cNvSpPr>
              <a:spLocks/>
            </p:cNvSpPr>
            <p:nvPr/>
          </p:nvSpPr>
          <p:spPr bwMode="auto">
            <a:xfrm>
              <a:off x="2232" y="2973"/>
              <a:ext cx="116" cy="233"/>
            </a:xfrm>
            <a:custGeom>
              <a:avLst/>
              <a:gdLst>
                <a:gd name="T0" fmla="*/ 70 w 84"/>
                <a:gd name="T1" fmla="*/ 6 h 14"/>
                <a:gd name="T2" fmla="*/ 70 w 84"/>
                <a:gd name="T3" fmla="*/ 6 h 14"/>
                <a:gd name="T4" fmla="*/ 64 w 84"/>
                <a:gd name="T5" fmla="*/ 6 h 14"/>
                <a:gd name="T6" fmla="*/ 57 w 84"/>
                <a:gd name="T7" fmla="*/ 0 h 14"/>
                <a:gd name="T8" fmla="*/ 57 w 84"/>
                <a:gd name="T9" fmla="*/ 0 h 14"/>
                <a:gd name="T10" fmla="*/ 45 w 84"/>
                <a:gd name="T11" fmla="*/ 0 h 14"/>
                <a:gd name="T12" fmla="*/ 32 w 84"/>
                <a:gd name="T13" fmla="*/ 0 h 14"/>
                <a:gd name="T14" fmla="*/ 26 w 84"/>
                <a:gd name="T15" fmla="*/ 0 h 14"/>
                <a:gd name="T16" fmla="*/ 26 w 84"/>
                <a:gd name="T17" fmla="*/ 0 h 14"/>
                <a:gd name="T18" fmla="*/ 13 w 84"/>
                <a:gd name="T19" fmla="*/ 6 h 14"/>
                <a:gd name="T20" fmla="*/ 0 w 84"/>
                <a:gd name="T21" fmla="*/ 13 h 14"/>
                <a:gd name="T22" fmla="*/ 45 w 84"/>
                <a:gd name="T23" fmla="*/ 6 h 14"/>
                <a:gd name="T24" fmla="*/ 83 w 84"/>
                <a:gd name="T25" fmla="*/ 13 h 14"/>
                <a:gd name="T26" fmla="*/ 76 w 84"/>
                <a:gd name="T27" fmla="*/ 13 h 14"/>
                <a:gd name="T28" fmla="*/ 70 w 84"/>
                <a:gd name="T29" fmla="*/ 6 h 14"/>
                <a:gd name="T30" fmla="*/ 70 w 84"/>
                <a:gd name="T31" fmla="*/ 6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4"/>
                <a:gd name="T49" fmla="*/ 0 h 14"/>
                <a:gd name="T50" fmla="*/ 84 w 84"/>
                <a:gd name="T51" fmla="*/ 14 h 1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4" h="14">
                  <a:moveTo>
                    <a:pt x="70" y="6"/>
                  </a:moveTo>
                  <a:lnTo>
                    <a:pt x="70" y="6"/>
                  </a:lnTo>
                  <a:lnTo>
                    <a:pt x="64" y="6"/>
                  </a:lnTo>
                  <a:lnTo>
                    <a:pt x="57" y="0"/>
                  </a:lnTo>
                  <a:lnTo>
                    <a:pt x="45" y="0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3" y="6"/>
                  </a:lnTo>
                  <a:lnTo>
                    <a:pt x="0" y="13"/>
                  </a:lnTo>
                  <a:lnTo>
                    <a:pt x="45" y="6"/>
                  </a:lnTo>
                  <a:lnTo>
                    <a:pt x="83" y="13"/>
                  </a:lnTo>
                  <a:lnTo>
                    <a:pt x="76" y="13"/>
                  </a:lnTo>
                  <a:lnTo>
                    <a:pt x="70" y="6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Freeform 42"/>
            <p:cNvSpPr>
              <a:spLocks/>
            </p:cNvSpPr>
            <p:nvPr/>
          </p:nvSpPr>
          <p:spPr bwMode="auto">
            <a:xfrm>
              <a:off x="2258" y="2950"/>
              <a:ext cx="116" cy="233"/>
            </a:xfrm>
            <a:custGeom>
              <a:avLst/>
              <a:gdLst>
                <a:gd name="T0" fmla="*/ 44 w 45"/>
                <a:gd name="T1" fmla="*/ 45 h 46"/>
                <a:gd name="T2" fmla="*/ 44 w 45"/>
                <a:gd name="T3" fmla="*/ 32 h 46"/>
                <a:gd name="T4" fmla="*/ 38 w 45"/>
                <a:gd name="T5" fmla="*/ 26 h 46"/>
                <a:gd name="T6" fmla="*/ 31 w 45"/>
                <a:gd name="T7" fmla="*/ 13 h 46"/>
                <a:gd name="T8" fmla="*/ 25 w 45"/>
                <a:gd name="T9" fmla="*/ 0 h 46"/>
                <a:gd name="T10" fmla="*/ 25 w 45"/>
                <a:gd name="T11" fmla="*/ 0 h 46"/>
                <a:gd name="T12" fmla="*/ 19 w 45"/>
                <a:gd name="T13" fmla="*/ 0 h 46"/>
                <a:gd name="T14" fmla="*/ 12 w 45"/>
                <a:gd name="T15" fmla="*/ 0 h 46"/>
                <a:gd name="T16" fmla="*/ 12 w 45"/>
                <a:gd name="T17" fmla="*/ 0 h 46"/>
                <a:gd name="T18" fmla="*/ 0 w 45"/>
                <a:gd name="T19" fmla="*/ 26 h 46"/>
                <a:gd name="T20" fmla="*/ 0 w 45"/>
                <a:gd name="T21" fmla="*/ 39 h 46"/>
                <a:gd name="T22" fmla="*/ 0 w 45"/>
                <a:gd name="T23" fmla="*/ 39 h 46"/>
                <a:gd name="T24" fmla="*/ 6 w 45"/>
                <a:gd name="T25" fmla="*/ 39 h 46"/>
                <a:gd name="T26" fmla="*/ 6 w 45"/>
                <a:gd name="T27" fmla="*/ 32 h 46"/>
                <a:gd name="T28" fmla="*/ 6 w 45"/>
                <a:gd name="T29" fmla="*/ 26 h 46"/>
                <a:gd name="T30" fmla="*/ 12 w 45"/>
                <a:gd name="T31" fmla="*/ 19 h 46"/>
                <a:gd name="T32" fmla="*/ 19 w 45"/>
                <a:gd name="T33" fmla="*/ 32 h 46"/>
                <a:gd name="T34" fmla="*/ 31 w 45"/>
                <a:gd name="T35" fmla="*/ 26 h 46"/>
                <a:gd name="T36" fmla="*/ 31 w 45"/>
                <a:gd name="T37" fmla="*/ 26 h 46"/>
                <a:gd name="T38" fmla="*/ 31 w 45"/>
                <a:gd name="T39" fmla="*/ 26 h 46"/>
                <a:gd name="T40" fmla="*/ 38 w 45"/>
                <a:gd name="T41" fmla="*/ 45 h 46"/>
                <a:gd name="T42" fmla="*/ 38 w 45"/>
                <a:gd name="T43" fmla="*/ 45 h 46"/>
                <a:gd name="T44" fmla="*/ 44 w 45"/>
                <a:gd name="T45" fmla="*/ 45 h 46"/>
                <a:gd name="T46" fmla="*/ 44 w 45"/>
                <a:gd name="T47" fmla="*/ 45 h 46"/>
                <a:gd name="T48" fmla="*/ 44 w 45"/>
                <a:gd name="T49" fmla="*/ 45 h 4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"/>
                <a:gd name="T76" fmla="*/ 0 h 46"/>
                <a:gd name="T77" fmla="*/ 45 w 45"/>
                <a:gd name="T78" fmla="*/ 46 h 4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" h="46">
                  <a:moveTo>
                    <a:pt x="44" y="45"/>
                  </a:moveTo>
                  <a:lnTo>
                    <a:pt x="44" y="32"/>
                  </a:lnTo>
                  <a:lnTo>
                    <a:pt x="38" y="26"/>
                  </a:lnTo>
                  <a:lnTo>
                    <a:pt x="31" y="13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0" y="26"/>
                  </a:lnTo>
                  <a:lnTo>
                    <a:pt x="0" y="39"/>
                  </a:lnTo>
                  <a:lnTo>
                    <a:pt x="6" y="39"/>
                  </a:lnTo>
                  <a:lnTo>
                    <a:pt x="6" y="32"/>
                  </a:lnTo>
                  <a:lnTo>
                    <a:pt x="6" y="26"/>
                  </a:lnTo>
                  <a:lnTo>
                    <a:pt x="12" y="19"/>
                  </a:lnTo>
                  <a:lnTo>
                    <a:pt x="19" y="32"/>
                  </a:lnTo>
                  <a:lnTo>
                    <a:pt x="31" y="26"/>
                  </a:lnTo>
                  <a:lnTo>
                    <a:pt x="38" y="45"/>
                  </a:lnTo>
                  <a:lnTo>
                    <a:pt x="44" y="45"/>
                  </a:ln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9" name="Freeform 43"/>
            <p:cNvSpPr>
              <a:spLocks/>
            </p:cNvSpPr>
            <p:nvPr/>
          </p:nvSpPr>
          <p:spPr bwMode="auto">
            <a:xfrm>
              <a:off x="2289" y="3307"/>
              <a:ext cx="116" cy="233"/>
            </a:xfrm>
            <a:custGeom>
              <a:avLst/>
              <a:gdLst>
                <a:gd name="T0" fmla="*/ 108 w 273"/>
                <a:gd name="T1" fmla="*/ 6 h 382"/>
                <a:gd name="T2" fmla="*/ 89 w 273"/>
                <a:gd name="T3" fmla="*/ 45 h 382"/>
                <a:gd name="T4" fmla="*/ 63 w 273"/>
                <a:gd name="T5" fmla="*/ 117 h 382"/>
                <a:gd name="T6" fmla="*/ 44 w 273"/>
                <a:gd name="T7" fmla="*/ 215 h 382"/>
                <a:gd name="T8" fmla="*/ 0 w 273"/>
                <a:gd name="T9" fmla="*/ 351 h 382"/>
                <a:gd name="T10" fmla="*/ 16 w 273"/>
                <a:gd name="T11" fmla="*/ 364 h 382"/>
                <a:gd name="T12" fmla="*/ 82 w 273"/>
                <a:gd name="T13" fmla="*/ 306 h 382"/>
                <a:gd name="T14" fmla="*/ 108 w 273"/>
                <a:gd name="T15" fmla="*/ 299 h 382"/>
                <a:gd name="T16" fmla="*/ 133 w 273"/>
                <a:gd name="T17" fmla="*/ 267 h 382"/>
                <a:gd name="T18" fmla="*/ 133 w 273"/>
                <a:gd name="T19" fmla="*/ 182 h 382"/>
                <a:gd name="T20" fmla="*/ 146 w 273"/>
                <a:gd name="T21" fmla="*/ 149 h 382"/>
                <a:gd name="T22" fmla="*/ 165 w 273"/>
                <a:gd name="T23" fmla="*/ 123 h 382"/>
                <a:gd name="T24" fmla="*/ 177 w 273"/>
                <a:gd name="T25" fmla="*/ 136 h 382"/>
                <a:gd name="T26" fmla="*/ 165 w 273"/>
                <a:gd name="T27" fmla="*/ 149 h 382"/>
                <a:gd name="T28" fmla="*/ 152 w 273"/>
                <a:gd name="T29" fmla="*/ 156 h 382"/>
                <a:gd name="T30" fmla="*/ 152 w 273"/>
                <a:gd name="T31" fmla="*/ 175 h 382"/>
                <a:gd name="T32" fmla="*/ 152 w 273"/>
                <a:gd name="T33" fmla="*/ 149 h 382"/>
                <a:gd name="T34" fmla="*/ 146 w 273"/>
                <a:gd name="T35" fmla="*/ 182 h 382"/>
                <a:gd name="T36" fmla="*/ 171 w 273"/>
                <a:gd name="T37" fmla="*/ 188 h 382"/>
                <a:gd name="T38" fmla="*/ 209 w 273"/>
                <a:gd name="T39" fmla="*/ 149 h 382"/>
                <a:gd name="T40" fmla="*/ 228 w 273"/>
                <a:gd name="T41" fmla="*/ 130 h 382"/>
                <a:gd name="T42" fmla="*/ 228 w 273"/>
                <a:gd name="T43" fmla="*/ 123 h 382"/>
                <a:gd name="T44" fmla="*/ 171 w 273"/>
                <a:gd name="T45" fmla="*/ 78 h 382"/>
                <a:gd name="T46" fmla="*/ 228 w 273"/>
                <a:gd name="T47" fmla="*/ 117 h 382"/>
                <a:gd name="T48" fmla="*/ 260 w 273"/>
                <a:gd name="T49" fmla="*/ 97 h 382"/>
                <a:gd name="T50" fmla="*/ 272 w 273"/>
                <a:gd name="T51" fmla="*/ 71 h 382"/>
                <a:gd name="T52" fmla="*/ 196 w 273"/>
                <a:gd name="T53" fmla="*/ 45 h 382"/>
                <a:gd name="T54" fmla="*/ 253 w 273"/>
                <a:gd name="T55" fmla="*/ 65 h 382"/>
                <a:gd name="T56" fmla="*/ 272 w 273"/>
                <a:gd name="T57" fmla="*/ 52 h 382"/>
                <a:gd name="T58" fmla="*/ 215 w 273"/>
                <a:gd name="T59" fmla="*/ 32 h 382"/>
                <a:gd name="T60" fmla="*/ 146 w 273"/>
                <a:gd name="T61" fmla="*/ 19 h 382"/>
                <a:gd name="T62" fmla="*/ 120 w 273"/>
                <a:gd name="T63" fmla="*/ 0 h 38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73"/>
                <a:gd name="T97" fmla="*/ 0 h 382"/>
                <a:gd name="T98" fmla="*/ 273 w 273"/>
                <a:gd name="T99" fmla="*/ 382 h 38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73" h="382">
                  <a:moveTo>
                    <a:pt x="120" y="0"/>
                  </a:moveTo>
                  <a:lnTo>
                    <a:pt x="108" y="6"/>
                  </a:lnTo>
                  <a:lnTo>
                    <a:pt x="95" y="13"/>
                  </a:lnTo>
                  <a:lnTo>
                    <a:pt x="89" y="45"/>
                  </a:lnTo>
                  <a:lnTo>
                    <a:pt x="76" y="71"/>
                  </a:lnTo>
                  <a:lnTo>
                    <a:pt x="63" y="117"/>
                  </a:lnTo>
                  <a:lnTo>
                    <a:pt x="44" y="162"/>
                  </a:lnTo>
                  <a:lnTo>
                    <a:pt x="44" y="215"/>
                  </a:lnTo>
                  <a:lnTo>
                    <a:pt x="26" y="260"/>
                  </a:lnTo>
                  <a:lnTo>
                    <a:pt x="0" y="351"/>
                  </a:lnTo>
                  <a:lnTo>
                    <a:pt x="10" y="338"/>
                  </a:lnTo>
                  <a:lnTo>
                    <a:pt x="16" y="364"/>
                  </a:lnTo>
                  <a:lnTo>
                    <a:pt x="35" y="381"/>
                  </a:lnTo>
                  <a:lnTo>
                    <a:pt x="82" y="306"/>
                  </a:lnTo>
                  <a:lnTo>
                    <a:pt x="63" y="306"/>
                  </a:lnTo>
                  <a:lnTo>
                    <a:pt x="108" y="299"/>
                  </a:lnTo>
                  <a:lnTo>
                    <a:pt x="127" y="280"/>
                  </a:lnTo>
                  <a:lnTo>
                    <a:pt x="133" y="267"/>
                  </a:lnTo>
                  <a:lnTo>
                    <a:pt x="133" y="234"/>
                  </a:lnTo>
                  <a:lnTo>
                    <a:pt x="133" y="182"/>
                  </a:lnTo>
                  <a:lnTo>
                    <a:pt x="139" y="123"/>
                  </a:lnTo>
                  <a:lnTo>
                    <a:pt x="146" y="149"/>
                  </a:lnTo>
                  <a:lnTo>
                    <a:pt x="146" y="143"/>
                  </a:lnTo>
                  <a:lnTo>
                    <a:pt x="165" y="123"/>
                  </a:lnTo>
                  <a:lnTo>
                    <a:pt x="165" y="143"/>
                  </a:lnTo>
                  <a:lnTo>
                    <a:pt x="177" y="136"/>
                  </a:lnTo>
                  <a:lnTo>
                    <a:pt x="171" y="149"/>
                  </a:lnTo>
                  <a:lnTo>
                    <a:pt x="165" y="149"/>
                  </a:lnTo>
                  <a:lnTo>
                    <a:pt x="158" y="156"/>
                  </a:lnTo>
                  <a:lnTo>
                    <a:pt x="152" y="156"/>
                  </a:lnTo>
                  <a:lnTo>
                    <a:pt x="152" y="175"/>
                  </a:lnTo>
                  <a:lnTo>
                    <a:pt x="146" y="162"/>
                  </a:lnTo>
                  <a:lnTo>
                    <a:pt x="152" y="149"/>
                  </a:lnTo>
                  <a:lnTo>
                    <a:pt x="146" y="149"/>
                  </a:lnTo>
                  <a:lnTo>
                    <a:pt x="146" y="182"/>
                  </a:lnTo>
                  <a:lnTo>
                    <a:pt x="171" y="188"/>
                  </a:lnTo>
                  <a:lnTo>
                    <a:pt x="196" y="169"/>
                  </a:lnTo>
                  <a:lnTo>
                    <a:pt x="209" y="149"/>
                  </a:lnTo>
                  <a:lnTo>
                    <a:pt x="222" y="130"/>
                  </a:lnTo>
                  <a:lnTo>
                    <a:pt x="228" y="130"/>
                  </a:lnTo>
                  <a:lnTo>
                    <a:pt x="228" y="123"/>
                  </a:lnTo>
                  <a:lnTo>
                    <a:pt x="184" y="91"/>
                  </a:lnTo>
                  <a:lnTo>
                    <a:pt x="171" y="78"/>
                  </a:lnTo>
                  <a:lnTo>
                    <a:pt x="184" y="91"/>
                  </a:lnTo>
                  <a:lnTo>
                    <a:pt x="228" y="117"/>
                  </a:lnTo>
                  <a:lnTo>
                    <a:pt x="247" y="110"/>
                  </a:lnTo>
                  <a:lnTo>
                    <a:pt x="260" y="97"/>
                  </a:lnTo>
                  <a:lnTo>
                    <a:pt x="272" y="91"/>
                  </a:lnTo>
                  <a:lnTo>
                    <a:pt x="272" y="71"/>
                  </a:lnTo>
                  <a:lnTo>
                    <a:pt x="234" y="65"/>
                  </a:lnTo>
                  <a:lnTo>
                    <a:pt x="196" y="45"/>
                  </a:lnTo>
                  <a:lnTo>
                    <a:pt x="222" y="52"/>
                  </a:lnTo>
                  <a:lnTo>
                    <a:pt x="253" y="65"/>
                  </a:lnTo>
                  <a:lnTo>
                    <a:pt x="266" y="65"/>
                  </a:lnTo>
                  <a:lnTo>
                    <a:pt x="272" y="52"/>
                  </a:lnTo>
                  <a:lnTo>
                    <a:pt x="266" y="45"/>
                  </a:lnTo>
                  <a:lnTo>
                    <a:pt x="215" y="32"/>
                  </a:lnTo>
                  <a:lnTo>
                    <a:pt x="158" y="19"/>
                  </a:lnTo>
                  <a:lnTo>
                    <a:pt x="146" y="19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0" name="Freeform 44"/>
            <p:cNvSpPr>
              <a:spLocks/>
            </p:cNvSpPr>
            <p:nvPr/>
          </p:nvSpPr>
          <p:spPr bwMode="auto">
            <a:xfrm>
              <a:off x="2264" y="3493"/>
              <a:ext cx="116" cy="233"/>
            </a:xfrm>
            <a:custGeom>
              <a:avLst/>
              <a:gdLst>
                <a:gd name="T0" fmla="*/ 32 w 77"/>
                <a:gd name="T1" fmla="*/ 7 h 105"/>
                <a:gd name="T2" fmla="*/ 54 w 77"/>
                <a:gd name="T3" fmla="*/ 30 h 105"/>
                <a:gd name="T4" fmla="*/ 69 w 77"/>
                <a:gd name="T5" fmla="*/ 52 h 105"/>
                <a:gd name="T6" fmla="*/ 76 w 77"/>
                <a:gd name="T7" fmla="*/ 46 h 105"/>
                <a:gd name="T8" fmla="*/ 69 w 77"/>
                <a:gd name="T9" fmla="*/ 59 h 105"/>
                <a:gd name="T10" fmla="*/ 69 w 77"/>
                <a:gd name="T11" fmla="*/ 91 h 105"/>
                <a:gd name="T12" fmla="*/ 63 w 77"/>
                <a:gd name="T13" fmla="*/ 104 h 105"/>
                <a:gd name="T14" fmla="*/ 51 w 77"/>
                <a:gd name="T15" fmla="*/ 98 h 105"/>
                <a:gd name="T16" fmla="*/ 44 w 77"/>
                <a:gd name="T17" fmla="*/ 85 h 105"/>
                <a:gd name="T18" fmla="*/ 32 w 77"/>
                <a:gd name="T19" fmla="*/ 78 h 105"/>
                <a:gd name="T20" fmla="*/ 19 w 77"/>
                <a:gd name="T21" fmla="*/ 72 h 105"/>
                <a:gd name="T22" fmla="*/ 0 w 77"/>
                <a:gd name="T23" fmla="*/ 59 h 105"/>
                <a:gd name="T24" fmla="*/ 0 w 77"/>
                <a:gd name="T25" fmla="*/ 52 h 105"/>
                <a:gd name="T26" fmla="*/ 6 w 77"/>
                <a:gd name="T27" fmla="*/ 46 h 105"/>
                <a:gd name="T28" fmla="*/ 13 w 77"/>
                <a:gd name="T29" fmla="*/ 33 h 105"/>
                <a:gd name="T30" fmla="*/ 19 w 77"/>
                <a:gd name="T31" fmla="*/ 33 h 105"/>
                <a:gd name="T32" fmla="*/ 25 w 77"/>
                <a:gd name="T33" fmla="*/ 0 h 105"/>
                <a:gd name="T34" fmla="*/ 25 w 77"/>
                <a:gd name="T35" fmla="*/ 7 h 105"/>
                <a:gd name="T36" fmla="*/ 32 w 77"/>
                <a:gd name="T37" fmla="*/ 7 h 105"/>
                <a:gd name="T38" fmla="*/ 32 w 77"/>
                <a:gd name="T39" fmla="*/ 7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105"/>
                <a:gd name="T62" fmla="*/ 77 w 7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105">
                  <a:moveTo>
                    <a:pt x="32" y="7"/>
                  </a:moveTo>
                  <a:lnTo>
                    <a:pt x="54" y="30"/>
                  </a:lnTo>
                  <a:lnTo>
                    <a:pt x="69" y="52"/>
                  </a:lnTo>
                  <a:lnTo>
                    <a:pt x="76" y="46"/>
                  </a:lnTo>
                  <a:lnTo>
                    <a:pt x="69" y="59"/>
                  </a:lnTo>
                  <a:lnTo>
                    <a:pt x="69" y="91"/>
                  </a:lnTo>
                  <a:lnTo>
                    <a:pt x="63" y="104"/>
                  </a:lnTo>
                  <a:lnTo>
                    <a:pt x="51" y="98"/>
                  </a:lnTo>
                  <a:lnTo>
                    <a:pt x="44" y="85"/>
                  </a:lnTo>
                  <a:lnTo>
                    <a:pt x="32" y="78"/>
                  </a:lnTo>
                  <a:lnTo>
                    <a:pt x="19" y="72"/>
                  </a:lnTo>
                  <a:lnTo>
                    <a:pt x="0" y="59"/>
                  </a:lnTo>
                  <a:lnTo>
                    <a:pt x="0" y="52"/>
                  </a:lnTo>
                  <a:lnTo>
                    <a:pt x="6" y="46"/>
                  </a:lnTo>
                  <a:lnTo>
                    <a:pt x="13" y="33"/>
                  </a:lnTo>
                  <a:lnTo>
                    <a:pt x="19" y="33"/>
                  </a:lnTo>
                  <a:lnTo>
                    <a:pt x="25" y="0"/>
                  </a:lnTo>
                  <a:lnTo>
                    <a:pt x="25" y="7"/>
                  </a:lnTo>
                  <a:lnTo>
                    <a:pt x="32" y="7"/>
                  </a:lnTo>
                  <a:close/>
                </a:path>
              </a:pathLst>
            </a:custGeom>
            <a:solidFill>
              <a:srgbClr val="EEEEEE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1" name="Freeform 45"/>
            <p:cNvSpPr>
              <a:spLocks/>
            </p:cNvSpPr>
            <p:nvPr/>
          </p:nvSpPr>
          <p:spPr bwMode="auto">
            <a:xfrm>
              <a:off x="2112" y="3168"/>
              <a:ext cx="116" cy="233"/>
            </a:xfrm>
            <a:custGeom>
              <a:avLst/>
              <a:gdLst>
                <a:gd name="T0" fmla="*/ 171 w 172"/>
                <a:gd name="T1" fmla="*/ 0 h 92"/>
                <a:gd name="T2" fmla="*/ 171 w 172"/>
                <a:gd name="T3" fmla="*/ 0 h 92"/>
                <a:gd name="T4" fmla="*/ 158 w 172"/>
                <a:gd name="T5" fmla="*/ 13 h 92"/>
                <a:gd name="T6" fmla="*/ 152 w 172"/>
                <a:gd name="T7" fmla="*/ 13 h 92"/>
                <a:gd name="T8" fmla="*/ 146 w 172"/>
                <a:gd name="T9" fmla="*/ 33 h 92"/>
                <a:gd name="T10" fmla="*/ 133 w 172"/>
                <a:gd name="T11" fmla="*/ 39 h 92"/>
                <a:gd name="T12" fmla="*/ 120 w 172"/>
                <a:gd name="T13" fmla="*/ 39 h 92"/>
                <a:gd name="T14" fmla="*/ 120 w 172"/>
                <a:gd name="T15" fmla="*/ 39 h 92"/>
                <a:gd name="T16" fmla="*/ 108 w 172"/>
                <a:gd name="T17" fmla="*/ 46 h 92"/>
                <a:gd name="T18" fmla="*/ 108 w 172"/>
                <a:gd name="T19" fmla="*/ 46 h 92"/>
                <a:gd name="T20" fmla="*/ 95 w 172"/>
                <a:gd name="T21" fmla="*/ 46 h 92"/>
                <a:gd name="T22" fmla="*/ 95 w 172"/>
                <a:gd name="T23" fmla="*/ 52 h 92"/>
                <a:gd name="T24" fmla="*/ 101 w 172"/>
                <a:gd name="T25" fmla="*/ 65 h 92"/>
                <a:gd name="T26" fmla="*/ 89 w 172"/>
                <a:gd name="T27" fmla="*/ 46 h 92"/>
                <a:gd name="T28" fmla="*/ 89 w 172"/>
                <a:gd name="T29" fmla="*/ 46 h 92"/>
                <a:gd name="T30" fmla="*/ 57 w 172"/>
                <a:gd name="T31" fmla="*/ 39 h 92"/>
                <a:gd name="T32" fmla="*/ 32 w 172"/>
                <a:gd name="T33" fmla="*/ 26 h 92"/>
                <a:gd name="T34" fmla="*/ 13 w 172"/>
                <a:gd name="T35" fmla="*/ 13 h 92"/>
                <a:gd name="T36" fmla="*/ 0 w 172"/>
                <a:gd name="T37" fmla="*/ 7 h 92"/>
                <a:gd name="T38" fmla="*/ 6 w 172"/>
                <a:gd name="T39" fmla="*/ 13 h 92"/>
                <a:gd name="T40" fmla="*/ 19 w 172"/>
                <a:gd name="T41" fmla="*/ 39 h 92"/>
                <a:gd name="T42" fmla="*/ 32 w 172"/>
                <a:gd name="T43" fmla="*/ 65 h 92"/>
                <a:gd name="T44" fmla="*/ 44 w 172"/>
                <a:gd name="T45" fmla="*/ 72 h 92"/>
                <a:gd name="T46" fmla="*/ 57 w 172"/>
                <a:gd name="T47" fmla="*/ 85 h 92"/>
                <a:gd name="T48" fmla="*/ 63 w 172"/>
                <a:gd name="T49" fmla="*/ 85 h 92"/>
                <a:gd name="T50" fmla="*/ 63 w 172"/>
                <a:gd name="T51" fmla="*/ 85 h 92"/>
                <a:gd name="T52" fmla="*/ 82 w 172"/>
                <a:gd name="T53" fmla="*/ 91 h 92"/>
                <a:gd name="T54" fmla="*/ 95 w 172"/>
                <a:gd name="T55" fmla="*/ 91 h 92"/>
                <a:gd name="T56" fmla="*/ 108 w 172"/>
                <a:gd name="T57" fmla="*/ 85 h 92"/>
                <a:gd name="T58" fmla="*/ 120 w 172"/>
                <a:gd name="T59" fmla="*/ 85 h 92"/>
                <a:gd name="T60" fmla="*/ 120 w 172"/>
                <a:gd name="T61" fmla="*/ 85 h 92"/>
                <a:gd name="T62" fmla="*/ 127 w 172"/>
                <a:gd name="T63" fmla="*/ 78 h 92"/>
                <a:gd name="T64" fmla="*/ 127 w 172"/>
                <a:gd name="T65" fmla="*/ 78 h 92"/>
                <a:gd name="T66" fmla="*/ 152 w 172"/>
                <a:gd name="T67" fmla="*/ 46 h 92"/>
                <a:gd name="T68" fmla="*/ 152 w 172"/>
                <a:gd name="T69" fmla="*/ 46 h 92"/>
                <a:gd name="T70" fmla="*/ 158 w 172"/>
                <a:gd name="T71" fmla="*/ 39 h 92"/>
                <a:gd name="T72" fmla="*/ 171 w 172"/>
                <a:gd name="T73" fmla="*/ 13 h 92"/>
                <a:gd name="T74" fmla="*/ 171 w 172"/>
                <a:gd name="T75" fmla="*/ 7 h 92"/>
                <a:gd name="T76" fmla="*/ 171 w 172"/>
                <a:gd name="T77" fmla="*/ 7 h 92"/>
                <a:gd name="T78" fmla="*/ 171 w 172"/>
                <a:gd name="T79" fmla="*/ 0 h 92"/>
                <a:gd name="T80" fmla="*/ 171 w 172"/>
                <a:gd name="T81" fmla="*/ 0 h 9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72"/>
                <a:gd name="T124" fmla="*/ 0 h 92"/>
                <a:gd name="T125" fmla="*/ 172 w 172"/>
                <a:gd name="T126" fmla="*/ 92 h 9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72" h="92">
                  <a:moveTo>
                    <a:pt x="171" y="0"/>
                  </a:moveTo>
                  <a:lnTo>
                    <a:pt x="171" y="0"/>
                  </a:lnTo>
                  <a:lnTo>
                    <a:pt x="158" y="13"/>
                  </a:lnTo>
                  <a:lnTo>
                    <a:pt x="152" y="13"/>
                  </a:lnTo>
                  <a:lnTo>
                    <a:pt x="146" y="33"/>
                  </a:lnTo>
                  <a:lnTo>
                    <a:pt x="133" y="39"/>
                  </a:lnTo>
                  <a:lnTo>
                    <a:pt x="120" y="39"/>
                  </a:lnTo>
                  <a:lnTo>
                    <a:pt x="108" y="46"/>
                  </a:lnTo>
                  <a:lnTo>
                    <a:pt x="95" y="46"/>
                  </a:lnTo>
                  <a:lnTo>
                    <a:pt x="95" y="52"/>
                  </a:lnTo>
                  <a:lnTo>
                    <a:pt x="101" y="65"/>
                  </a:lnTo>
                  <a:lnTo>
                    <a:pt x="89" y="46"/>
                  </a:lnTo>
                  <a:lnTo>
                    <a:pt x="57" y="39"/>
                  </a:lnTo>
                  <a:lnTo>
                    <a:pt x="32" y="26"/>
                  </a:lnTo>
                  <a:lnTo>
                    <a:pt x="13" y="13"/>
                  </a:lnTo>
                  <a:lnTo>
                    <a:pt x="0" y="7"/>
                  </a:lnTo>
                  <a:lnTo>
                    <a:pt x="6" y="13"/>
                  </a:lnTo>
                  <a:lnTo>
                    <a:pt x="19" y="39"/>
                  </a:lnTo>
                  <a:lnTo>
                    <a:pt x="32" y="65"/>
                  </a:lnTo>
                  <a:lnTo>
                    <a:pt x="44" y="72"/>
                  </a:lnTo>
                  <a:lnTo>
                    <a:pt x="57" y="85"/>
                  </a:lnTo>
                  <a:lnTo>
                    <a:pt x="63" y="85"/>
                  </a:lnTo>
                  <a:lnTo>
                    <a:pt x="82" y="91"/>
                  </a:lnTo>
                  <a:lnTo>
                    <a:pt x="95" y="91"/>
                  </a:lnTo>
                  <a:lnTo>
                    <a:pt x="108" y="85"/>
                  </a:lnTo>
                  <a:lnTo>
                    <a:pt x="120" y="85"/>
                  </a:lnTo>
                  <a:lnTo>
                    <a:pt x="127" y="78"/>
                  </a:lnTo>
                  <a:lnTo>
                    <a:pt x="152" y="46"/>
                  </a:lnTo>
                  <a:lnTo>
                    <a:pt x="158" y="39"/>
                  </a:lnTo>
                  <a:lnTo>
                    <a:pt x="171" y="13"/>
                  </a:lnTo>
                  <a:lnTo>
                    <a:pt x="171" y="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FFCC99"/>
            </a:solidFill>
            <a:ln w="317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2" name="Freeform 46"/>
            <p:cNvSpPr>
              <a:spLocks/>
            </p:cNvSpPr>
            <p:nvPr/>
          </p:nvSpPr>
          <p:spPr bwMode="auto">
            <a:xfrm>
              <a:off x="2112" y="3122"/>
              <a:ext cx="116" cy="233"/>
            </a:xfrm>
            <a:custGeom>
              <a:avLst/>
              <a:gdLst>
                <a:gd name="T0" fmla="*/ 165 w 166"/>
                <a:gd name="T1" fmla="*/ 13 h 27"/>
                <a:gd name="T2" fmla="*/ 146 w 166"/>
                <a:gd name="T3" fmla="*/ 7 h 27"/>
                <a:gd name="T4" fmla="*/ 127 w 166"/>
                <a:gd name="T5" fmla="*/ 13 h 27"/>
                <a:gd name="T6" fmla="*/ 70 w 166"/>
                <a:gd name="T7" fmla="*/ 7 h 27"/>
                <a:gd name="T8" fmla="*/ 19 w 166"/>
                <a:gd name="T9" fmla="*/ 0 h 27"/>
                <a:gd name="T10" fmla="*/ 0 w 166"/>
                <a:gd name="T11" fmla="*/ 7 h 27"/>
                <a:gd name="T12" fmla="*/ 38 w 166"/>
                <a:gd name="T13" fmla="*/ 13 h 27"/>
                <a:gd name="T14" fmla="*/ 70 w 166"/>
                <a:gd name="T15" fmla="*/ 26 h 27"/>
                <a:gd name="T16" fmla="*/ 89 w 166"/>
                <a:gd name="T17" fmla="*/ 20 h 27"/>
                <a:gd name="T18" fmla="*/ 114 w 166"/>
                <a:gd name="T19" fmla="*/ 26 h 27"/>
                <a:gd name="T20" fmla="*/ 139 w 166"/>
                <a:gd name="T21" fmla="*/ 26 h 27"/>
                <a:gd name="T22" fmla="*/ 165 w 166"/>
                <a:gd name="T23" fmla="*/ 13 h 27"/>
                <a:gd name="T24" fmla="*/ 165 w 166"/>
                <a:gd name="T25" fmla="*/ 13 h 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66"/>
                <a:gd name="T40" fmla="*/ 0 h 27"/>
                <a:gd name="T41" fmla="*/ 166 w 166"/>
                <a:gd name="T42" fmla="*/ 27 h 2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66" h="27">
                  <a:moveTo>
                    <a:pt x="165" y="13"/>
                  </a:moveTo>
                  <a:lnTo>
                    <a:pt x="146" y="7"/>
                  </a:lnTo>
                  <a:lnTo>
                    <a:pt x="127" y="13"/>
                  </a:lnTo>
                  <a:lnTo>
                    <a:pt x="70" y="7"/>
                  </a:lnTo>
                  <a:lnTo>
                    <a:pt x="19" y="0"/>
                  </a:lnTo>
                  <a:lnTo>
                    <a:pt x="0" y="7"/>
                  </a:lnTo>
                  <a:lnTo>
                    <a:pt x="38" y="13"/>
                  </a:lnTo>
                  <a:lnTo>
                    <a:pt x="70" y="26"/>
                  </a:lnTo>
                  <a:lnTo>
                    <a:pt x="89" y="20"/>
                  </a:lnTo>
                  <a:lnTo>
                    <a:pt x="114" y="26"/>
                  </a:lnTo>
                  <a:lnTo>
                    <a:pt x="139" y="26"/>
                  </a:lnTo>
                  <a:lnTo>
                    <a:pt x="165" y="13"/>
                  </a:lnTo>
                  <a:close/>
                </a:path>
              </a:pathLst>
            </a:custGeom>
            <a:solidFill>
              <a:srgbClr val="FFCC99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7" name="AutoShape 47"/>
          <p:cNvSpPr>
            <a:spLocks noChangeArrowheads="1"/>
          </p:cNvSpPr>
          <p:nvPr/>
        </p:nvSpPr>
        <p:spPr bwMode="auto">
          <a:xfrm>
            <a:off x="4008439" y="2420939"/>
            <a:ext cx="3095625" cy="1798637"/>
          </a:xfrm>
          <a:prstGeom prst="cloudCallout">
            <a:avLst>
              <a:gd name="adj1" fmla="val -46819"/>
              <a:gd name="adj2" fmla="val 57856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Ins="54000" anchor="b"/>
          <a:lstStyle/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三层交换机采用硬件来交换和路由选择数据包。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defRPr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如何实现？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51445E-7 L -4.44444E-6 0.0733 " pathEditMode="relative" ptsTypes="AA">
                                      <p:cBhvr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5.20231E-7 L -1.94444E-6 -0.09434 " pathEditMode="relative" ptsTypes="AA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Box 95"/>
          <p:cNvSpPr txBox="1">
            <a:spLocks noChangeArrowheads="1"/>
          </p:cNvSpPr>
          <p:nvPr/>
        </p:nvSpPr>
        <p:spPr bwMode="auto">
          <a:xfrm>
            <a:off x="4467225" y="2698751"/>
            <a:ext cx="1079500" cy="346075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以太帧头</a:t>
            </a:r>
          </a:p>
        </p:txBody>
      </p:sp>
      <p:sp>
        <p:nvSpPr>
          <p:cNvPr id="117" name="Text Box 98"/>
          <p:cNvSpPr txBox="1">
            <a:spLocks noChangeArrowheads="1"/>
          </p:cNvSpPr>
          <p:nvPr/>
        </p:nvSpPr>
        <p:spPr bwMode="auto">
          <a:xfrm>
            <a:off x="7418388" y="2698751"/>
            <a:ext cx="792162" cy="346075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CRC</a:t>
            </a:r>
          </a:p>
        </p:txBody>
      </p:sp>
      <p:sp>
        <p:nvSpPr>
          <p:cNvPr id="119" name="Text Box 101"/>
          <p:cNvSpPr txBox="1">
            <a:spLocks noChangeArrowheads="1"/>
          </p:cNvSpPr>
          <p:nvPr/>
        </p:nvSpPr>
        <p:spPr bwMode="auto">
          <a:xfrm>
            <a:off x="5545138" y="2698751"/>
            <a:ext cx="863600" cy="346075"/>
          </a:xfrm>
          <a:prstGeom prst="rect">
            <a:avLst/>
          </a:prstGeom>
          <a:gradFill rotWithShape="1">
            <a:gsLst>
              <a:gs pos="0">
                <a:srgbClr val="F8F8F8"/>
              </a:gs>
              <a:gs pos="50000">
                <a:schemeClr val="bg1"/>
              </a:gs>
              <a:gs pos="100000">
                <a:srgbClr val="F8F8F8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sp>
        <p:nvSpPr>
          <p:cNvPr id="120" name="Text Box 102"/>
          <p:cNvSpPr txBox="1">
            <a:spLocks noChangeArrowheads="1"/>
          </p:cNvSpPr>
          <p:nvPr/>
        </p:nvSpPr>
        <p:spPr bwMode="auto">
          <a:xfrm>
            <a:off x="6408738" y="2698751"/>
            <a:ext cx="1008062" cy="3460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数据</a:t>
            </a:r>
          </a:p>
        </p:txBody>
      </p:sp>
      <p:cxnSp>
        <p:nvCxnSpPr>
          <p:cNvPr id="15366" name="直接连接符 128"/>
          <p:cNvCxnSpPr>
            <a:cxnSpLocks noChangeShapeType="1"/>
          </p:cNvCxnSpPr>
          <p:nvPr/>
        </p:nvCxnSpPr>
        <p:spPr bwMode="auto">
          <a:xfrm>
            <a:off x="6472238" y="5218114"/>
            <a:ext cx="2227262" cy="1587"/>
          </a:xfrm>
          <a:prstGeom prst="line">
            <a:avLst/>
          </a:prstGeom>
          <a:noFill/>
          <a:ln w="38100" algn="ctr">
            <a:solidFill>
              <a:srgbClr val="0066FF"/>
            </a:solidFill>
            <a:round/>
            <a:headEnd/>
            <a:tailEnd/>
          </a:ln>
        </p:spPr>
      </p:cxnSp>
      <p:cxnSp>
        <p:nvCxnSpPr>
          <p:cNvPr id="15367" name="直接连接符 127"/>
          <p:cNvCxnSpPr>
            <a:cxnSpLocks noChangeShapeType="1"/>
          </p:cNvCxnSpPr>
          <p:nvPr/>
        </p:nvCxnSpPr>
        <p:spPr bwMode="auto">
          <a:xfrm>
            <a:off x="3368676" y="5218114"/>
            <a:ext cx="2227263" cy="1587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传统的</a:t>
            </a:r>
            <a:r>
              <a:rPr lang="en-US" altLang="zh-CN"/>
              <a:t>MLS2-1</a:t>
            </a:r>
            <a:endParaRPr lang="zh-CN" altLang="en-US"/>
          </a:p>
        </p:txBody>
      </p:sp>
      <p:sp>
        <p:nvSpPr>
          <p:cNvPr id="15369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3</a:t>
            </a:r>
            <a:r>
              <a:rPr lang="zh-CN" altLang="en-US"/>
              <a:t>层转发过程中要重新封装</a:t>
            </a:r>
            <a:r>
              <a:rPr lang="en-US" altLang="zh-CN"/>
              <a:t>2</a:t>
            </a:r>
            <a:r>
              <a:rPr lang="zh-CN" altLang="en-US"/>
              <a:t>层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三层交换机上，第</a:t>
            </a:r>
            <a:r>
              <a:rPr lang="en-US" altLang="zh-CN"/>
              <a:t>3</a:t>
            </a:r>
            <a:r>
              <a:rPr lang="zh-CN" altLang="en-US"/>
              <a:t>层引擎处理数据流的第一个包</a:t>
            </a:r>
            <a:endParaRPr lang="en-US" altLang="zh-CN"/>
          </a:p>
        </p:txBody>
      </p:sp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4467226" y="2698751"/>
            <a:ext cx="3743325" cy="346075"/>
            <a:chOff x="158" y="2387"/>
            <a:chExt cx="2358" cy="218"/>
          </a:xfrm>
        </p:grpSpPr>
        <p:sp>
          <p:nvSpPr>
            <p:cNvPr id="15395" name="Text Box 110"/>
            <p:cNvSpPr txBox="1">
              <a:spLocks noChangeArrowheads="1"/>
            </p:cNvSpPr>
            <p:nvPr/>
          </p:nvSpPr>
          <p:spPr bwMode="auto">
            <a:xfrm>
              <a:off x="158" y="2387"/>
              <a:ext cx="680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以太帧头</a:t>
              </a:r>
            </a:p>
          </p:txBody>
        </p:sp>
        <p:sp>
          <p:nvSpPr>
            <p:cNvPr id="27" name="Text Box 111"/>
            <p:cNvSpPr txBox="1">
              <a:spLocks noChangeArrowheads="1"/>
            </p:cNvSpPr>
            <p:nvPr/>
          </p:nvSpPr>
          <p:spPr bwMode="auto">
            <a:xfrm>
              <a:off x="838" y="2387"/>
              <a:ext cx="544" cy="218"/>
            </a:xfrm>
            <a:prstGeom prst="rect">
              <a:avLst/>
            </a:prstGeom>
            <a:gradFill rotWithShape="1">
              <a:gsLst>
                <a:gs pos="0">
                  <a:srgbClr val="F8F8F8"/>
                </a:gs>
                <a:gs pos="50000">
                  <a:schemeClr val="bg1"/>
                </a:gs>
                <a:gs pos="100000">
                  <a:srgbClr val="F8F8F8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15397" name="Text Box 112"/>
            <p:cNvSpPr txBox="1">
              <a:spLocks noChangeArrowheads="1"/>
            </p:cNvSpPr>
            <p:nvPr/>
          </p:nvSpPr>
          <p:spPr bwMode="auto">
            <a:xfrm>
              <a:off x="1382" y="2387"/>
              <a:ext cx="635" cy="21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数据</a:t>
              </a:r>
            </a:p>
          </p:txBody>
        </p:sp>
        <p:sp>
          <p:nvSpPr>
            <p:cNvPr id="15398" name="Text Box 113"/>
            <p:cNvSpPr txBox="1">
              <a:spLocks noChangeArrowheads="1"/>
            </p:cNvSpPr>
            <p:nvPr/>
          </p:nvSpPr>
          <p:spPr bwMode="auto">
            <a:xfrm>
              <a:off x="2017" y="2387"/>
              <a:ext cx="499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CRC</a:t>
              </a:r>
            </a:p>
          </p:txBody>
        </p:sp>
      </p:grpSp>
      <p:sp>
        <p:nvSpPr>
          <p:cNvPr id="15371" name="Text Box 66"/>
          <p:cNvSpPr txBox="1">
            <a:spLocks noChangeArrowheads="1"/>
          </p:cNvSpPr>
          <p:nvPr/>
        </p:nvSpPr>
        <p:spPr bwMode="auto">
          <a:xfrm>
            <a:off x="2692400" y="5546725"/>
            <a:ext cx="1054100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1</a:t>
            </a:r>
          </a:p>
        </p:txBody>
      </p:sp>
      <p:sp>
        <p:nvSpPr>
          <p:cNvPr id="15372" name="Text Box 67"/>
          <p:cNvSpPr txBox="1">
            <a:spLocks noChangeArrowheads="1"/>
          </p:cNvSpPr>
          <p:nvPr/>
        </p:nvSpPr>
        <p:spPr bwMode="auto">
          <a:xfrm>
            <a:off x="8520113" y="5583239"/>
            <a:ext cx="1073150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2</a:t>
            </a:r>
          </a:p>
        </p:txBody>
      </p:sp>
      <p:sp>
        <p:nvSpPr>
          <p:cNvPr id="15373" name="Line 68"/>
          <p:cNvSpPr>
            <a:spLocks noChangeShapeType="1"/>
          </p:cNvSpPr>
          <p:nvPr/>
        </p:nvSpPr>
        <p:spPr bwMode="auto">
          <a:xfrm>
            <a:off x="5765800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374" name="Line 69"/>
          <p:cNvSpPr>
            <a:spLocks noChangeShapeType="1"/>
          </p:cNvSpPr>
          <p:nvPr/>
        </p:nvSpPr>
        <p:spPr bwMode="auto">
          <a:xfrm>
            <a:off x="5910263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375" name="Line 70"/>
          <p:cNvSpPr>
            <a:spLocks noChangeShapeType="1"/>
          </p:cNvSpPr>
          <p:nvPr/>
        </p:nvSpPr>
        <p:spPr bwMode="auto">
          <a:xfrm>
            <a:off x="6053138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376" name="Line 71"/>
          <p:cNvSpPr>
            <a:spLocks noChangeShapeType="1"/>
          </p:cNvSpPr>
          <p:nvPr/>
        </p:nvSpPr>
        <p:spPr bwMode="auto">
          <a:xfrm>
            <a:off x="6199188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377" name="Line 72"/>
          <p:cNvSpPr>
            <a:spLocks noChangeShapeType="1"/>
          </p:cNvSpPr>
          <p:nvPr/>
        </p:nvSpPr>
        <p:spPr bwMode="auto">
          <a:xfrm>
            <a:off x="6343650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5378" name="Line 73"/>
          <p:cNvSpPr>
            <a:spLocks noChangeShapeType="1"/>
          </p:cNvSpPr>
          <p:nvPr/>
        </p:nvSpPr>
        <p:spPr bwMode="auto">
          <a:xfrm>
            <a:off x="6486525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pic>
        <p:nvPicPr>
          <p:cNvPr id="15379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22914" y="3486151"/>
            <a:ext cx="1228725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" name="Freeform 80"/>
          <p:cNvSpPr>
            <a:spLocks/>
          </p:cNvSpPr>
          <p:nvPr/>
        </p:nvSpPr>
        <p:spPr bwMode="auto">
          <a:xfrm>
            <a:off x="3902076" y="4133850"/>
            <a:ext cx="1584325" cy="863600"/>
          </a:xfrm>
          <a:custGeom>
            <a:avLst/>
            <a:gdLst>
              <a:gd name="T0" fmla="*/ 0 w 998"/>
              <a:gd name="T1" fmla="*/ 2147483647 h 544"/>
              <a:gd name="T2" fmla="*/ 2147483647 w 998"/>
              <a:gd name="T3" fmla="*/ 2147483647 h 544"/>
              <a:gd name="T4" fmla="*/ 2147483647 w 998"/>
              <a:gd name="T5" fmla="*/ 0 h 544"/>
              <a:gd name="T6" fmla="*/ 0 60000 65536"/>
              <a:gd name="T7" fmla="*/ 0 60000 65536"/>
              <a:gd name="T8" fmla="*/ 0 60000 65536"/>
              <a:gd name="T9" fmla="*/ 0 w 998"/>
              <a:gd name="T10" fmla="*/ 0 h 544"/>
              <a:gd name="T11" fmla="*/ 998 w 998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8" h="544">
                <a:moveTo>
                  <a:pt x="0" y="544"/>
                </a:moveTo>
                <a:cubicBezTo>
                  <a:pt x="234" y="521"/>
                  <a:pt x="469" y="499"/>
                  <a:pt x="635" y="408"/>
                </a:cubicBezTo>
                <a:cubicBezTo>
                  <a:pt x="801" y="317"/>
                  <a:pt x="899" y="158"/>
                  <a:pt x="998" y="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0" name="Freeform 81"/>
          <p:cNvSpPr>
            <a:spLocks/>
          </p:cNvSpPr>
          <p:nvPr/>
        </p:nvSpPr>
        <p:spPr bwMode="auto">
          <a:xfrm>
            <a:off x="6745288" y="4133851"/>
            <a:ext cx="1511300" cy="790575"/>
          </a:xfrm>
          <a:custGeom>
            <a:avLst/>
            <a:gdLst>
              <a:gd name="T0" fmla="*/ 0 w 952"/>
              <a:gd name="T1" fmla="*/ 0 h 498"/>
              <a:gd name="T2" fmla="*/ 2147483647 w 952"/>
              <a:gd name="T3" fmla="*/ 2147483647 h 498"/>
              <a:gd name="T4" fmla="*/ 2147483647 w 952"/>
              <a:gd name="T5" fmla="*/ 2147483647 h 498"/>
              <a:gd name="T6" fmla="*/ 0 60000 65536"/>
              <a:gd name="T7" fmla="*/ 0 60000 65536"/>
              <a:gd name="T8" fmla="*/ 0 60000 65536"/>
              <a:gd name="T9" fmla="*/ 0 w 952"/>
              <a:gd name="T10" fmla="*/ 0 h 498"/>
              <a:gd name="T11" fmla="*/ 952 w 952"/>
              <a:gd name="T12" fmla="*/ 498 h 4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2" h="498">
                <a:moveTo>
                  <a:pt x="0" y="0"/>
                </a:moveTo>
                <a:cubicBezTo>
                  <a:pt x="79" y="162"/>
                  <a:pt x="158" y="325"/>
                  <a:pt x="317" y="408"/>
                </a:cubicBezTo>
                <a:cubicBezTo>
                  <a:pt x="476" y="491"/>
                  <a:pt x="846" y="483"/>
                  <a:pt x="952" y="498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1614489" y="3976689"/>
            <a:ext cx="3743325" cy="346075"/>
            <a:chOff x="158" y="2387"/>
            <a:chExt cx="2358" cy="218"/>
          </a:xfrm>
        </p:grpSpPr>
        <p:sp>
          <p:nvSpPr>
            <p:cNvPr id="15391" name="Text Box 84"/>
            <p:cNvSpPr txBox="1">
              <a:spLocks noChangeArrowheads="1"/>
            </p:cNvSpPr>
            <p:nvPr/>
          </p:nvSpPr>
          <p:spPr bwMode="auto">
            <a:xfrm>
              <a:off x="158" y="2387"/>
              <a:ext cx="680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以太帧头</a:t>
              </a:r>
            </a:p>
          </p:txBody>
        </p:sp>
        <p:sp>
          <p:nvSpPr>
            <p:cNvPr id="113" name="Text Box 83"/>
            <p:cNvSpPr txBox="1">
              <a:spLocks noChangeArrowheads="1"/>
            </p:cNvSpPr>
            <p:nvPr/>
          </p:nvSpPr>
          <p:spPr bwMode="auto">
            <a:xfrm>
              <a:off x="838" y="2387"/>
              <a:ext cx="544" cy="218"/>
            </a:xfrm>
            <a:prstGeom prst="rect">
              <a:avLst/>
            </a:prstGeom>
            <a:gradFill rotWithShape="1">
              <a:gsLst>
                <a:gs pos="0">
                  <a:srgbClr val="F8F8F8"/>
                </a:gs>
                <a:gs pos="50000">
                  <a:schemeClr val="bg1"/>
                </a:gs>
                <a:gs pos="100000">
                  <a:srgbClr val="F8F8F8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15393" name="Text Box 86"/>
            <p:cNvSpPr txBox="1">
              <a:spLocks noChangeArrowheads="1"/>
            </p:cNvSpPr>
            <p:nvPr/>
          </p:nvSpPr>
          <p:spPr bwMode="auto">
            <a:xfrm>
              <a:off x="1382" y="2387"/>
              <a:ext cx="635" cy="21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 数据</a:t>
              </a:r>
            </a:p>
          </p:txBody>
        </p:sp>
        <p:sp>
          <p:nvSpPr>
            <p:cNvPr id="115" name="Text Box 87"/>
            <p:cNvSpPr txBox="1">
              <a:spLocks noChangeArrowheads="1"/>
            </p:cNvSpPr>
            <p:nvPr/>
          </p:nvSpPr>
          <p:spPr bwMode="auto">
            <a:xfrm>
              <a:off x="2017" y="2387"/>
              <a:ext cx="499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50000">
                  <a:schemeClr val="bg1"/>
                </a:gs>
                <a:gs pos="100000">
                  <a:srgbClr val="DDDDDD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CRC</a:t>
              </a:r>
            </a:p>
          </p:txBody>
        </p:sp>
      </p:grpSp>
      <p:sp>
        <p:nvSpPr>
          <p:cNvPr id="118" name="Text Box 100"/>
          <p:cNvSpPr txBox="1">
            <a:spLocks noChangeArrowheads="1"/>
          </p:cNvSpPr>
          <p:nvPr/>
        </p:nvSpPr>
        <p:spPr bwMode="auto">
          <a:xfrm rot="-1313892">
            <a:off x="4322763" y="2928939"/>
            <a:ext cx="1079500" cy="346075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以太帧头</a:t>
            </a:r>
          </a:p>
        </p:txBody>
      </p:sp>
      <p:sp>
        <p:nvSpPr>
          <p:cNvPr id="121" name="Text Box 103"/>
          <p:cNvSpPr txBox="1">
            <a:spLocks noChangeArrowheads="1"/>
          </p:cNvSpPr>
          <p:nvPr/>
        </p:nvSpPr>
        <p:spPr bwMode="auto">
          <a:xfrm rot="1089997">
            <a:off x="7562851" y="2841626"/>
            <a:ext cx="792163" cy="346075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CRC</a:t>
            </a:r>
          </a:p>
        </p:txBody>
      </p:sp>
      <p:sp>
        <p:nvSpPr>
          <p:cNvPr id="122" name="Line 114"/>
          <p:cNvSpPr>
            <a:spLocks noChangeShapeType="1"/>
          </p:cNvSpPr>
          <p:nvPr/>
        </p:nvSpPr>
        <p:spPr bwMode="auto">
          <a:xfrm>
            <a:off x="7040564" y="3995738"/>
            <a:ext cx="1368425" cy="792162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23" name="AutoShape 115"/>
          <p:cNvSpPr>
            <a:spLocks noChangeArrowheads="1"/>
          </p:cNvSpPr>
          <p:nvPr/>
        </p:nvSpPr>
        <p:spPr bwMode="auto">
          <a:xfrm>
            <a:off x="7767638" y="3643313"/>
            <a:ext cx="1757362" cy="442912"/>
          </a:xfrm>
          <a:prstGeom prst="wedgeRoundRectCallout">
            <a:avLst>
              <a:gd name="adj1" fmla="val -41968"/>
              <a:gd name="adj2" fmla="val 9136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ARP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请求与响应</a:t>
            </a:r>
          </a:p>
        </p:txBody>
      </p:sp>
      <p:sp>
        <p:nvSpPr>
          <p:cNvPr id="124" name="Line 116"/>
          <p:cNvSpPr>
            <a:spLocks noChangeShapeType="1"/>
          </p:cNvSpPr>
          <p:nvPr/>
        </p:nvSpPr>
        <p:spPr bwMode="auto">
          <a:xfrm flipH="1" flipV="1">
            <a:off x="7112001" y="3922713"/>
            <a:ext cx="1368425" cy="792162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/>
          </a:p>
        </p:txBody>
      </p:sp>
      <p:pic>
        <p:nvPicPr>
          <p:cNvPr id="15388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47964" y="4843463"/>
            <a:ext cx="808037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89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80425" y="4830763"/>
            <a:ext cx="80803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9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67338" y="4889501"/>
            <a:ext cx="152400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99 0.22569 " pathEditMode="relative" ptsTypes="AA">
                                      <p:cBhvr>
                                        <p:cTn id="67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99 0.22569 " pathEditMode="relative" ptsTypes="AA">
                                      <p:cBhvr>
                                        <p:cTn id="69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99 0.22569 " pathEditMode="relative" ptsTypes="AA">
                                      <p:cBhvr>
                                        <p:cTn id="71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99 0.22569 " pathEditMode="relative" ptsTypes="AA">
                                      <p:cBhvr>
                                        <p:cTn id="73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6" grpId="1" animBg="1"/>
      <p:bldP spid="117" grpId="0" animBg="1"/>
      <p:bldP spid="117" grpId="1" animBg="1"/>
      <p:bldP spid="119" grpId="0" animBg="1"/>
      <p:bldP spid="120" grpId="0" animBg="1"/>
      <p:bldP spid="120" grpId="1" animBg="1"/>
      <p:bldP spid="105" grpId="0" animBg="1"/>
      <p:bldP spid="110" grpId="0" animBg="1"/>
      <p:bldP spid="118" grpId="0" animBg="1"/>
      <p:bldP spid="118" grpId="1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68"/>
          <p:cNvSpPr>
            <a:spLocks noChangeShapeType="1"/>
          </p:cNvSpPr>
          <p:nvPr/>
        </p:nvSpPr>
        <p:spPr bwMode="auto">
          <a:xfrm>
            <a:off x="5865813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87" name="Line 69"/>
          <p:cNvSpPr>
            <a:spLocks noChangeShapeType="1"/>
          </p:cNvSpPr>
          <p:nvPr/>
        </p:nvSpPr>
        <p:spPr bwMode="auto">
          <a:xfrm>
            <a:off x="6010275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88" name="Line 70"/>
          <p:cNvSpPr>
            <a:spLocks noChangeShapeType="1"/>
          </p:cNvSpPr>
          <p:nvPr/>
        </p:nvSpPr>
        <p:spPr bwMode="auto">
          <a:xfrm>
            <a:off x="6153150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89" name="Line 71"/>
          <p:cNvSpPr>
            <a:spLocks noChangeShapeType="1"/>
          </p:cNvSpPr>
          <p:nvPr/>
        </p:nvSpPr>
        <p:spPr bwMode="auto">
          <a:xfrm>
            <a:off x="6299200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90" name="Line 72"/>
          <p:cNvSpPr>
            <a:spLocks noChangeShapeType="1"/>
          </p:cNvSpPr>
          <p:nvPr/>
        </p:nvSpPr>
        <p:spPr bwMode="auto">
          <a:xfrm>
            <a:off x="6443663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6391" name="Line 73"/>
          <p:cNvSpPr>
            <a:spLocks noChangeShapeType="1"/>
          </p:cNvSpPr>
          <p:nvPr/>
        </p:nvSpPr>
        <p:spPr bwMode="auto">
          <a:xfrm>
            <a:off x="6586538" y="4098925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41" name="Text Box 101"/>
          <p:cNvSpPr txBox="1">
            <a:spLocks noChangeArrowheads="1"/>
          </p:cNvSpPr>
          <p:nvPr/>
        </p:nvSpPr>
        <p:spPr bwMode="auto">
          <a:xfrm>
            <a:off x="5662613" y="4360864"/>
            <a:ext cx="863600" cy="346075"/>
          </a:xfrm>
          <a:prstGeom prst="rect">
            <a:avLst/>
          </a:prstGeom>
          <a:gradFill rotWithShape="1">
            <a:gsLst>
              <a:gs pos="0">
                <a:srgbClr val="F8F8F8"/>
              </a:gs>
              <a:gs pos="50000">
                <a:schemeClr val="bg1"/>
              </a:gs>
              <a:gs pos="100000">
                <a:srgbClr val="F8F8F8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1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包头</a:t>
            </a:r>
          </a:p>
        </p:txBody>
      </p:sp>
      <p:grpSp>
        <p:nvGrpSpPr>
          <p:cNvPr id="2" name="组合 77"/>
          <p:cNvGrpSpPr>
            <a:grpSpLocks/>
          </p:cNvGrpSpPr>
          <p:nvPr/>
        </p:nvGrpSpPr>
        <p:grpSpPr bwMode="auto">
          <a:xfrm>
            <a:off x="6826251" y="4360864"/>
            <a:ext cx="3743325" cy="346075"/>
            <a:chOff x="3213100" y="4360880"/>
            <a:chExt cx="3743325" cy="346075"/>
          </a:xfrm>
        </p:grpSpPr>
        <p:sp>
          <p:nvSpPr>
            <p:cNvPr id="16420" name="Text Box 95"/>
            <p:cNvSpPr txBox="1">
              <a:spLocks noChangeArrowheads="1"/>
            </p:cNvSpPr>
            <p:nvPr/>
          </p:nvSpPr>
          <p:spPr bwMode="auto">
            <a:xfrm>
              <a:off x="3213100" y="4360880"/>
              <a:ext cx="1079500" cy="346075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以太帧头</a:t>
              </a:r>
            </a:p>
          </p:txBody>
        </p:sp>
        <p:sp>
          <p:nvSpPr>
            <p:cNvPr id="16421" name="Text Box 98"/>
            <p:cNvSpPr txBox="1">
              <a:spLocks noChangeArrowheads="1"/>
            </p:cNvSpPr>
            <p:nvPr/>
          </p:nvSpPr>
          <p:spPr bwMode="auto">
            <a:xfrm>
              <a:off x="6164263" y="4360880"/>
              <a:ext cx="792162" cy="346075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CRC</a:t>
              </a:r>
            </a:p>
          </p:txBody>
        </p:sp>
        <p:sp>
          <p:nvSpPr>
            <p:cNvPr id="76" name="Text Box 101"/>
            <p:cNvSpPr txBox="1">
              <a:spLocks noChangeArrowheads="1"/>
            </p:cNvSpPr>
            <p:nvPr/>
          </p:nvSpPr>
          <p:spPr bwMode="auto">
            <a:xfrm>
              <a:off x="4291013" y="4360880"/>
              <a:ext cx="863600" cy="346075"/>
            </a:xfrm>
            <a:prstGeom prst="rect">
              <a:avLst/>
            </a:prstGeom>
            <a:gradFill rotWithShape="1">
              <a:gsLst>
                <a:gs pos="0">
                  <a:srgbClr val="F8F8F8"/>
                </a:gs>
                <a:gs pos="50000">
                  <a:schemeClr val="bg1"/>
                </a:gs>
                <a:gs pos="100000">
                  <a:srgbClr val="F8F8F8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16423" name="Text Box 102"/>
            <p:cNvSpPr txBox="1">
              <a:spLocks noChangeArrowheads="1"/>
            </p:cNvSpPr>
            <p:nvPr/>
          </p:nvSpPr>
          <p:spPr bwMode="auto">
            <a:xfrm>
              <a:off x="5154613" y="4360880"/>
              <a:ext cx="1008062" cy="34607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数据</a:t>
              </a:r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1714501" y="4360864"/>
            <a:ext cx="3743325" cy="346075"/>
            <a:chOff x="158" y="2387"/>
            <a:chExt cx="2358" cy="218"/>
          </a:xfrm>
        </p:grpSpPr>
        <p:sp>
          <p:nvSpPr>
            <p:cNvPr id="16416" name="Text Box 84"/>
            <p:cNvSpPr txBox="1">
              <a:spLocks noChangeArrowheads="1"/>
            </p:cNvSpPr>
            <p:nvPr/>
          </p:nvSpPr>
          <p:spPr bwMode="auto">
            <a:xfrm>
              <a:off x="158" y="2387"/>
              <a:ext cx="680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以太帧头</a:t>
              </a:r>
            </a:p>
          </p:txBody>
        </p:sp>
        <p:sp>
          <p:nvSpPr>
            <p:cNvPr id="63" name="Text Box 83"/>
            <p:cNvSpPr txBox="1">
              <a:spLocks noChangeArrowheads="1"/>
            </p:cNvSpPr>
            <p:nvPr/>
          </p:nvSpPr>
          <p:spPr bwMode="auto">
            <a:xfrm>
              <a:off x="838" y="2387"/>
              <a:ext cx="544" cy="218"/>
            </a:xfrm>
            <a:prstGeom prst="rect">
              <a:avLst/>
            </a:prstGeom>
            <a:gradFill rotWithShape="1">
              <a:gsLst>
                <a:gs pos="0">
                  <a:srgbClr val="F8F8F8"/>
                </a:gs>
                <a:gs pos="50000">
                  <a:schemeClr val="bg1"/>
                </a:gs>
                <a:gs pos="100000">
                  <a:srgbClr val="F8F8F8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16418" name="Text Box 86"/>
            <p:cNvSpPr txBox="1">
              <a:spLocks noChangeArrowheads="1"/>
            </p:cNvSpPr>
            <p:nvPr/>
          </p:nvSpPr>
          <p:spPr bwMode="auto">
            <a:xfrm>
              <a:off x="1382" y="2387"/>
              <a:ext cx="635" cy="21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 数据</a:t>
              </a:r>
            </a:p>
          </p:txBody>
        </p:sp>
        <p:sp>
          <p:nvSpPr>
            <p:cNvPr id="65" name="Text Box 87"/>
            <p:cNvSpPr txBox="1">
              <a:spLocks noChangeArrowheads="1"/>
            </p:cNvSpPr>
            <p:nvPr/>
          </p:nvSpPr>
          <p:spPr bwMode="auto">
            <a:xfrm>
              <a:off x="2017" y="2387"/>
              <a:ext cx="499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50000">
                  <a:schemeClr val="bg1"/>
                </a:gs>
                <a:gs pos="100000">
                  <a:srgbClr val="DDDDDD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CRC</a:t>
              </a:r>
            </a:p>
          </p:txBody>
        </p:sp>
      </p:grpSp>
      <p:grpSp>
        <p:nvGrpSpPr>
          <p:cNvPr id="4" name="Group 109"/>
          <p:cNvGrpSpPr>
            <a:grpSpLocks/>
          </p:cNvGrpSpPr>
          <p:nvPr/>
        </p:nvGrpSpPr>
        <p:grpSpPr bwMode="auto">
          <a:xfrm>
            <a:off x="4584701" y="4360864"/>
            <a:ext cx="3743325" cy="346075"/>
            <a:chOff x="158" y="2387"/>
            <a:chExt cx="2358" cy="218"/>
          </a:xfrm>
        </p:grpSpPr>
        <p:sp>
          <p:nvSpPr>
            <p:cNvPr id="16412" name="Text Box 110"/>
            <p:cNvSpPr txBox="1">
              <a:spLocks noChangeArrowheads="1"/>
            </p:cNvSpPr>
            <p:nvPr/>
          </p:nvSpPr>
          <p:spPr bwMode="auto">
            <a:xfrm>
              <a:off x="158" y="2387"/>
              <a:ext cx="680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以太帧头</a:t>
              </a:r>
            </a:p>
          </p:txBody>
        </p:sp>
        <p:sp>
          <p:nvSpPr>
            <p:cNvPr id="47" name="Text Box 111"/>
            <p:cNvSpPr txBox="1">
              <a:spLocks noChangeArrowheads="1"/>
            </p:cNvSpPr>
            <p:nvPr/>
          </p:nvSpPr>
          <p:spPr bwMode="auto">
            <a:xfrm>
              <a:off x="838" y="2387"/>
              <a:ext cx="544" cy="218"/>
            </a:xfrm>
            <a:prstGeom prst="rect">
              <a:avLst/>
            </a:prstGeom>
            <a:gradFill rotWithShape="1">
              <a:gsLst>
                <a:gs pos="0">
                  <a:srgbClr val="F8F8F8"/>
                </a:gs>
                <a:gs pos="50000">
                  <a:schemeClr val="bg1"/>
                </a:gs>
                <a:gs pos="100000">
                  <a:srgbClr val="F8F8F8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1600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包头</a:t>
              </a:r>
            </a:p>
          </p:txBody>
        </p:sp>
        <p:sp>
          <p:nvSpPr>
            <p:cNvPr id="16414" name="Text Box 112"/>
            <p:cNvSpPr txBox="1">
              <a:spLocks noChangeArrowheads="1"/>
            </p:cNvSpPr>
            <p:nvPr/>
          </p:nvSpPr>
          <p:spPr bwMode="auto">
            <a:xfrm>
              <a:off x="1382" y="2387"/>
              <a:ext cx="635" cy="21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数据</a:t>
              </a:r>
            </a:p>
          </p:txBody>
        </p:sp>
        <p:sp>
          <p:nvSpPr>
            <p:cNvPr id="16415" name="Text Box 113"/>
            <p:cNvSpPr txBox="1">
              <a:spLocks noChangeArrowheads="1"/>
            </p:cNvSpPr>
            <p:nvPr/>
          </p:nvSpPr>
          <p:spPr bwMode="auto">
            <a:xfrm>
              <a:off x="2017" y="2387"/>
              <a:ext cx="499" cy="218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CRC</a:t>
              </a:r>
            </a:p>
          </p:txBody>
        </p:sp>
      </p:grpSp>
      <p:sp>
        <p:nvSpPr>
          <p:cNvPr id="16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传统的</a:t>
            </a:r>
            <a:r>
              <a:rPr lang="en-US" altLang="zh-CN"/>
              <a:t>MLS2-2</a:t>
            </a:r>
            <a:endParaRPr lang="zh-CN" altLang="en-US"/>
          </a:p>
        </p:txBody>
      </p:sp>
      <p:sp>
        <p:nvSpPr>
          <p:cNvPr id="16397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交换</a:t>
            </a:r>
            <a:r>
              <a:rPr lang="en-US" altLang="zh-CN"/>
              <a:t>ASIC</a:t>
            </a:r>
            <a:r>
              <a:rPr lang="zh-CN" altLang="en-US"/>
              <a:t>从</a:t>
            </a:r>
            <a:r>
              <a:rPr lang="en-US" altLang="zh-CN"/>
              <a:t>3</a:t>
            </a:r>
            <a:r>
              <a:rPr lang="zh-CN" altLang="en-US"/>
              <a:t>层引擎中获悉</a:t>
            </a:r>
            <a:r>
              <a:rPr lang="en-US" altLang="zh-CN"/>
              <a:t>2</a:t>
            </a:r>
            <a:r>
              <a:rPr lang="zh-CN" altLang="en-US"/>
              <a:t>层重写信息在硬件中创建一个</a:t>
            </a:r>
            <a:r>
              <a:rPr lang="en-US" altLang="zh-CN"/>
              <a:t>MLS</a:t>
            </a:r>
            <a:r>
              <a:rPr lang="zh-CN" altLang="en-US"/>
              <a:t>条目，负责重写和转发数据流中的后续数据包</a:t>
            </a:r>
          </a:p>
          <a:p>
            <a:pPr lvl="1">
              <a:spcBef>
                <a:spcPts val="475"/>
              </a:spcBef>
            </a:pPr>
            <a:endParaRPr lang="en-US" altLang="zh-CN"/>
          </a:p>
        </p:txBody>
      </p:sp>
      <p:sp>
        <p:nvSpPr>
          <p:cNvPr id="39" name="Text Box 95"/>
          <p:cNvSpPr txBox="1">
            <a:spLocks noChangeArrowheads="1"/>
          </p:cNvSpPr>
          <p:nvPr/>
        </p:nvSpPr>
        <p:spPr bwMode="auto">
          <a:xfrm>
            <a:off x="4584700" y="4360864"/>
            <a:ext cx="1079500" cy="346075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以太帧头</a:t>
            </a:r>
          </a:p>
        </p:txBody>
      </p:sp>
      <p:sp>
        <p:nvSpPr>
          <p:cNvPr id="40" name="Text Box 98"/>
          <p:cNvSpPr txBox="1">
            <a:spLocks noChangeArrowheads="1"/>
          </p:cNvSpPr>
          <p:nvPr/>
        </p:nvSpPr>
        <p:spPr bwMode="auto">
          <a:xfrm>
            <a:off x="7535863" y="4360864"/>
            <a:ext cx="792162" cy="346075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CRC</a:t>
            </a:r>
          </a:p>
        </p:txBody>
      </p:sp>
      <p:sp>
        <p:nvSpPr>
          <p:cNvPr id="42" name="Text Box 102"/>
          <p:cNvSpPr txBox="1">
            <a:spLocks noChangeArrowheads="1"/>
          </p:cNvSpPr>
          <p:nvPr/>
        </p:nvSpPr>
        <p:spPr bwMode="auto">
          <a:xfrm>
            <a:off x="6526213" y="4360864"/>
            <a:ext cx="1008062" cy="3460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数据</a:t>
            </a:r>
          </a:p>
        </p:txBody>
      </p:sp>
      <p:cxnSp>
        <p:nvCxnSpPr>
          <p:cNvPr id="16401" name="直接连接符 42"/>
          <p:cNvCxnSpPr>
            <a:cxnSpLocks noChangeShapeType="1"/>
          </p:cNvCxnSpPr>
          <p:nvPr/>
        </p:nvCxnSpPr>
        <p:spPr bwMode="auto">
          <a:xfrm>
            <a:off x="6570663" y="5218114"/>
            <a:ext cx="2227262" cy="1587"/>
          </a:xfrm>
          <a:prstGeom prst="line">
            <a:avLst/>
          </a:prstGeom>
          <a:noFill/>
          <a:ln w="38100" algn="ctr">
            <a:solidFill>
              <a:srgbClr val="0066FF"/>
            </a:solidFill>
            <a:round/>
            <a:headEnd/>
            <a:tailEnd/>
          </a:ln>
        </p:spPr>
      </p:cxnSp>
      <p:cxnSp>
        <p:nvCxnSpPr>
          <p:cNvPr id="16402" name="直接连接符 43"/>
          <p:cNvCxnSpPr>
            <a:cxnSpLocks noChangeShapeType="1"/>
          </p:cNvCxnSpPr>
          <p:nvPr/>
        </p:nvCxnSpPr>
        <p:spPr bwMode="auto">
          <a:xfrm>
            <a:off x="3467101" y="5218114"/>
            <a:ext cx="2227263" cy="1587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16403" name="Text Box 66"/>
          <p:cNvSpPr txBox="1">
            <a:spLocks noChangeArrowheads="1"/>
          </p:cNvSpPr>
          <p:nvPr/>
        </p:nvSpPr>
        <p:spPr bwMode="auto">
          <a:xfrm>
            <a:off x="2809875" y="5583239"/>
            <a:ext cx="927100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1</a:t>
            </a:r>
          </a:p>
        </p:txBody>
      </p:sp>
      <p:pic>
        <p:nvPicPr>
          <p:cNvPr id="16404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1339" y="3486151"/>
            <a:ext cx="1228725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05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46389" y="4843463"/>
            <a:ext cx="808037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06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8850" y="4830763"/>
            <a:ext cx="80803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0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65763" y="4889501"/>
            <a:ext cx="152400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 Box 100"/>
          <p:cNvSpPr txBox="1">
            <a:spLocks noChangeArrowheads="1"/>
          </p:cNvSpPr>
          <p:nvPr/>
        </p:nvSpPr>
        <p:spPr bwMode="auto">
          <a:xfrm rot="-1313892">
            <a:off x="4440238" y="4749801"/>
            <a:ext cx="1079500" cy="346075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以太帧头</a:t>
            </a:r>
          </a:p>
        </p:txBody>
      </p:sp>
      <p:sp>
        <p:nvSpPr>
          <p:cNvPr id="67" name="Text Box 103"/>
          <p:cNvSpPr txBox="1">
            <a:spLocks noChangeArrowheads="1"/>
          </p:cNvSpPr>
          <p:nvPr/>
        </p:nvSpPr>
        <p:spPr bwMode="auto">
          <a:xfrm rot="1089997">
            <a:off x="7680326" y="4711701"/>
            <a:ext cx="792163" cy="346075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CRC</a:t>
            </a:r>
          </a:p>
        </p:txBody>
      </p:sp>
      <p:sp>
        <p:nvSpPr>
          <p:cNvPr id="79" name="AutoShape 5"/>
          <p:cNvSpPr>
            <a:spLocks noChangeArrowheads="1"/>
          </p:cNvSpPr>
          <p:nvPr/>
        </p:nvSpPr>
        <p:spPr bwMode="auto">
          <a:xfrm>
            <a:off x="4745039" y="2479675"/>
            <a:ext cx="3030537" cy="5921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一次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路由，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多次</a:t>
            </a:r>
            <a:r>
              <a:rPr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交换</a:t>
            </a:r>
          </a:p>
        </p:txBody>
      </p:sp>
      <p:sp>
        <p:nvSpPr>
          <p:cNvPr id="16411" name="Text Box 67"/>
          <p:cNvSpPr txBox="1">
            <a:spLocks noChangeArrowheads="1"/>
          </p:cNvSpPr>
          <p:nvPr/>
        </p:nvSpPr>
        <p:spPr bwMode="auto">
          <a:xfrm>
            <a:off x="8542339" y="5546725"/>
            <a:ext cx="10556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66" grpId="0" animBg="1"/>
      <p:bldP spid="66" grpId="1" animBg="1"/>
      <p:bldP spid="67" grpId="0" animBg="1"/>
      <p:bldP spid="67" grpId="1" animBg="1"/>
      <p:bldP spid="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3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CEF</a:t>
            </a:r>
            <a:r>
              <a:rPr lang="zh-CN" altLang="en-US"/>
              <a:t>是一种基于拓扑转发的模型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转发信息库（</a:t>
            </a:r>
            <a:r>
              <a:rPr lang="en-US" altLang="zh-CN"/>
              <a:t>FIB</a:t>
            </a:r>
            <a:r>
              <a:rPr lang="zh-CN" altLang="en-US"/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邻接关系表</a:t>
            </a:r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CEF</a:t>
            </a:r>
            <a:r>
              <a:rPr lang="zh-CN" altLang="en-US"/>
              <a:t>的</a:t>
            </a:r>
            <a:r>
              <a:rPr lang="en-US" altLang="zh-CN"/>
              <a:t>MLS</a:t>
            </a:r>
            <a:endParaRPr lang="zh-CN" altLang="en-US"/>
          </a:p>
        </p:txBody>
      </p:sp>
      <p:graphicFrame>
        <p:nvGraphicFramePr>
          <p:cNvPr id="8" name="Group 165"/>
          <p:cNvGraphicFramePr>
            <a:graphicFrameLocks noGrp="1"/>
          </p:cNvGraphicFramePr>
          <p:nvPr/>
        </p:nvGraphicFramePr>
        <p:xfrm>
          <a:off x="2592388" y="2557464"/>
          <a:ext cx="2735262" cy="1098233"/>
        </p:xfrm>
        <a:graphic>
          <a:graphicData uri="http://schemas.openxmlformats.org/drawingml/2006/table">
            <a:tbl>
              <a:tblPr/>
              <a:tblGrid>
                <a:gridCol w="273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10.10.10.2/32   VLAN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10.20.20.2/32   VLAN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2" name="Text Box 42"/>
          <p:cNvSpPr txBox="1">
            <a:spLocks noChangeArrowheads="1"/>
          </p:cNvSpPr>
          <p:nvPr/>
        </p:nvSpPr>
        <p:spPr bwMode="auto">
          <a:xfrm>
            <a:off x="1881188" y="5818188"/>
            <a:ext cx="205105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主机</a:t>
            </a: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A</a:t>
            </a:r>
            <a:b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</a:b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10.10.10.2/24 0006.1be3.9366</a:t>
            </a:r>
          </a:p>
        </p:txBody>
      </p:sp>
      <p:sp>
        <p:nvSpPr>
          <p:cNvPr id="17423" name="Text Box 71"/>
          <p:cNvSpPr txBox="1">
            <a:spLocks noChangeArrowheads="1"/>
          </p:cNvSpPr>
          <p:nvPr/>
        </p:nvSpPr>
        <p:spPr bwMode="auto">
          <a:xfrm>
            <a:off x="8882064" y="4527551"/>
            <a:ext cx="1785937" cy="830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主机</a:t>
            </a: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B</a:t>
            </a:r>
            <a:b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</a:b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10.20.20.2/24</a:t>
            </a:r>
            <a:b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</a:b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000c.295e.1743</a:t>
            </a:r>
          </a:p>
        </p:txBody>
      </p:sp>
      <p:graphicFrame>
        <p:nvGraphicFramePr>
          <p:cNvPr id="76" name="Group 153"/>
          <p:cNvGraphicFramePr>
            <a:graphicFrameLocks noGrp="1"/>
          </p:cNvGraphicFramePr>
          <p:nvPr/>
        </p:nvGraphicFramePr>
        <p:xfrm>
          <a:off x="6623050" y="2557464"/>
          <a:ext cx="3386138" cy="1128713"/>
        </p:xfrm>
        <a:graphic>
          <a:graphicData uri="http://schemas.openxmlformats.org/drawingml/2006/table">
            <a:tbl>
              <a:tblPr/>
              <a:tblGrid>
                <a:gridCol w="3386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00061BE39366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0016C72E9700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000C295E1743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0016C72E9700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34" name="Text Box 133"/>
          <p:cNvSpPr txBox="1">
            <a:spLocks noChangeArrowheads="1"/>
          </p:cNvSpPr>
          <p:nvPr/>
        </p:nvSpPr>
        <p:spPr bwMode="auto">
          <a:xfrm>
            <a:off x="7705725" y="3784601"/>
            <a:ext cx="15113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邻接关系表</a:t>
            </a:r>
          </a:p>
        </p:txBody>
      </p:sp>
      <p:sp>
        <p:nvSpPr>
          <p:cNvPr id="17435" name="Text Box 134"/>
          <p:cNvSpPr txBox="1">
            <a:spLocks noChangeArrowheads="1"/>
          </p:cNvSpPr>
          <p:nvPr/>
        </p:nvSpPr>
        <p:spPr bwMode="auto">
          <a:xfrm>
            <a:off x="3024188" y="3713163"/>
            <a:ext cx="15113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FIB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</a:p>
        </p:txBody>
      </p:sp>
      <p:sp>
        <p:nvSpPr>
          <p:cNvPr id="80" name="AutoShape 136"/>
          <p:cNvSpPr>
            <a:spLocks noChangeArrowheads="1"/>
          </p:cNvSpPr>
          <p:nvPr/>
        </p:nvSpPr>
        <p:spPr bwMode="auto">
          <a:xfrm>
            <a:off x="2362200" y="4230689"/>
            <a:ext cx="2154238" cy="714375"/>
          </a:xfrm>
          <a:prstGeom prst="wedgeRoundRectCallout">
            <a:avLst>
              <a:gd name="adj1" fmla="val 3796"/>
              <a:gd name="adj2" fmla="val 9807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①主机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给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发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送单播数据包</a:t>
            </a:r>
          </a:p>
        </p:txBody>
      </p:sp>
      <p:sp>
        <p:nvSpPr>
          <p:cNvPr id="17437" name="Line 139"/>
          <p:cNvSpPr>
            <a:spLocks noChangeShapeType="1"/>
          </p:cNvSpPr>
          <p:nvPr/>
        </p:nvSpPr>
        <p:spPr bwMode="auto">
          <a:xfrm>
            <a:off x="5400676" y="2773363"/>
            <a:ext cx="1152525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38" name="Line 141"/>
          <p:cNvSpPr>
            <a:spLocks noChangeShapeType="1"/>
          </p:cNvSpPr>
          <p:nvPr/>
        </p:nvSpPr>
        <p:spPr bwMode="auto">
          <a:xfrm>
            <a:off x="5400676" y="3133725"/>
            <a:ext cx="1152525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 type="triangle" w="med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39" name="Rectangle 143"/>
          <p:cNvSpPr>
            <a:spLocks noChangeArrowheads="1"/>
          </p:cNvSpPr>
          <p:nvPr/>
        </p:nvSpPr>
        <p:spPr bwMode="auto">
          <a:xfrm>
            <a:off x="5059363" y="6022975"/>
            <a:ext cx="190341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0016.c72e.9700</a:t>
            </a:r>
            <a:endParaRPr lang="zh-CN" altLang="en-US" sz="1600" b="1">
              <a:solidFill>
                <a:schemeClr val="tx2"/>
              </a:solidFill>
              <a:ea typeface="楷体_GB2312" pitchFamily="49" charset="-122"/>
              <a:cs typeface="Arial" pitchFamily="34" charset="0"/>
            </a:endParaRPr>
          </a:p>
        </p:txBody>
      </p:sp>
      <p:sp>
        <p:nvSpPr>
          <p:cNvPr id="86" name="AutoShape 155"/>
          <p:cNvSpPr>
            <a:spLocks noChangeArrowheads="1"/>
          </p:cNvSpPr>
          <p:nvPr/>
        </p:nvSpPr>
        <p:spPr bwMode="auto">
          <a:xfrm>
            <a:off x="2557464" y="4054475"/>
            <a:ext cx="1958975" cy="876300"/>
          </a:xfrm>
          <a:prstGeom prst="wedgeRoundRectCallout">
            <a:avLst>
              <a:gd name="adj1" fmla="val 58023"/>
              <a:gd name="adj2" fmla="val -12010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②交换机查找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邻接关系表</a:t>
            </a:r>
          </a:p>
        </p:txBody>
      </p:sp>
      <p:sp>
        <p:nvSpPr>
          <p:cNvPr id="87" name="AutoShape 157"/>
          <p:cNvSpPr>
            <a:spLocks noChangeArrowheads="1"/>
          </p:cNvSpPr>
          <p:nvPr/>
        </p:nvSpPr>
        <p:spPr bwMode="auto">
          <a:xfrm>
            <a:off x="7072314" y="4714876"/>
            <a:ext cx="1095375" cy="468313"/>
          </a:xfrm>
          <a:prstGeom prst="wedgeRoundRectCallout">
            <a:avLst>
              <a:gd name="adj1" fmla="val -69875"/>
              <a:gd name="adj2" fmla="val 8962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③转发</a:t>
            </a:r>
          </a:p>
        </p:txBody>
      </p:sp>
      <p:sp>
        <p:nvSpPr>
          <p:cNvPr id="17442" name="Line 68"/>
          <p:cNvSpPr>
            <a:spLocks noChangeShapeType="1"/>
          </p:cNvSpPr>
          <p:nvPr/>
        </p:nvSpPr>
        <p:spPr bwMode="auto">
          <a:xfrm>
            <a:off x="5637213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43" name="Line 69"/>
          <p:cNvSpPr>
            <a:spLocks noChangeShapeType="1"/>
          </p:cNvSpPr>
          <p:nvPr/>
        </p:nvSpPr>
        <p:spPr bwMode="auto">
          <a:xfrm>
            <a:off x="5781675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44" name="Line 70"/>
          <p:cNvSpPr>
            <a:spLocks noChangeShapeType="1"/>
          </p:cNvSpPr>
          <p:nvPr/>
        </p:nvSpPr>
        <p:spPr bwMode="auto">
          <a:xfrm>
            <a:off x="5924550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45" name="Line 71"/>
          <p:cNvSpPr>
            <a:spLocks noChangeShapeType="1"/>
          </p:cNvSpPr>
          <p:nvPr/>
        </p:nvSpPr>
        <p:spPr bwMode="auto">
          <a:xfrm>
            <a:off x="6070600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46" name="Line 72"/>
          <p:cNvSpPr>
            <a:spLocks noChangeShapeType="1"/>
          </p:cNvSpPr>
          <p:nvPr/>
        </p:nvSpPr>
        <p:spPr bwMode="auto">
          <a:xfrm>
            <a:off x="6215063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447" name="Line 73"/>
          <p:cNvSpPr>
            <a:spLocks noChangeShapeType="1"/>
          </p:cNvSpPr>
          <p:nvPr/>
        </p:nvSpPr>
        <p:spPr bwMode="auto">
          <a:xfrm>
            <a:off x="6357938" y="4538663"/>
            <a:ext cx="0" cy="863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cxnSp>
        <p:nvCxnSpPr>
          <p:cNvPr id="17448" name="直接连接符 105"/>
          <p:cNvCxnSpPr>
            <a:cxnSpLocks noChangeShapeType="1"/>
          </p:cNvCxnSpPr>
          <p:nvPr/>
        </p:nvCxnSpPr>
        <p:spPr bwMode="auto">
          <a:xfrm>
            <a:off x="6342063" y="5657850"/>
            <a:ext cx="2227262" cy="1588"/>
          </a:xfrm>
          <a:prstGeom prst="line">
            <a:avLst/>
          </a:prstGeom>
          <a:noFill/>
          <a:ln w="38100" algn="ctr">
            <a:solidFill>
              <a:srgbClr val="0066FF"/>
            </a:solidFill>
            <a:round/>
            <a:headEnd/>
            <a:tailEnd/>
          </a:ln>
        </p:spPr>
      </p:cxnSp>
      <p:cxnSp>
        <p:nvCxnSpPr>
          <p:cNvPr id="17449" name="直接连接符 106"/>
          <p:cNvCxnSpPr>
            <a:cxnSpLocks noChangeShapeType="1"/>
          </p:cNvCxnSpPr>
          <p:nvPr/>
        </p:nvCxnSpPr>
        <p:spPr bwMode="auto">
          <a:xfrm>
            <a:off x="3238501" y="5657850"/>
            <a:ext cx="2227263" cy="1588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</p:spPr>
      </p:cxnSp>
      <p:sp>
        <p:nvSpPr>
          <p:cNvPr id="17450" name="Text Box 66"/>
          <p:cNvSpPr txBox="1">
            <a:spLocks noChangeArrowheads="1"/>
          </p:cNvSpPr>
          <p:nvPr/>
        </p:nvSpPr>
        <p:spPr bwMode="auto">
          <a:xfrm>
            <a:off x="3348039" y="5876925"/>
            <a:ext cx="98583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1</a:t>
            </a:r>
          </a:p>
        </p:txBody>
      </p:sp>
      <p:sp>
        <p:nvSpPr>
          <p:cNvPr id="17451" name="Text Box 67"/>
          <p:cNvSpPr txBox="1">
            <a:spLocks noChangeArrowheads="1"/>
          </p:cNvSpPr>
          <p:nvPr/>
        </p:nvSpPr>
        <p:spPr bwMode="auto">
          <a:xfrm>
            <a:off x="7620001" y="5876925"/>
            <a:ext cx="10588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pitchFamily="34" charset="0"/>
              </a:rPr>
              <a:t>VLAN 2</a:t>
            </a:r>
          </a:p>
        </p:txBody>
      </p:sp>
      <p:pic>
        <p:nvPicPr>
          <p:cNvPr id="17452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2739" y="3925889"/>
            <a:ext cx="1228725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53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17789" y="5283201"/>
            <a:ext cx="808037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54" name="图片 11" descr="asd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50250" y="5270501"/>
            <a:ext cx="808038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5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37163" y="5329239"/>
            <a:ext cx="152400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" name="圆角矩形 119"/>
          <p:cNvSpPr>
            <a:spLocks noChangeArrowheads="1"/>
          </p:cNvSpPr>
          <p:nvPr/>
        </p:nvSpPr>
        <p:spPr bwMode="auto">
          <a:xfrm>
            <a:off x="2519364" y="2924175"/>
            <a:ext cx="7559675" cy="401638"/>
          </a:xfrm>
          <a:prstGeom prst="roundRect">
            <a:avLst>
              <a:gd name="adj" fmla="val 16667"/>
            </a:avLst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0" grpId="1" animBg="1"/>
      <p:bldP spid="86" grpId="0" animBg="1"/>
      <p:bldP spid="86" grpId="1" animBg="1"/>
      <p:bldP spid="87" grpId="0" animBg="1"/>
      <p:bldP spid="120" grpId="0" animBg="1"/>
      <p:bldP spid="1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35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5716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在三层交换机上配置的</a:t>
            </a:r>
            <a:r>
              <a:rPr lang="en-US" altLang="zh-CN"/>
              <a:t>VLAN</a:t>
            </a:r>
            <a:r>
              <a:rPr lang="zh-CN" altLang="en-US"/>
              <a:t>接口为虚接口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虚接口的引入使得应用更加灵活</a:t>
            </a:r>
            <a:endParaRPr lang="en-US" altLang="zh-CN"/>
          </a:p>
        </p:txBody>
      </p:sp>
      <p:sp>
        <p:nvSpPr>
          <p:cNvPr id="18435" name="标题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虚接口概述</a:t>
            </a:r>
            <a:r>
              <a:rPr lang="en-US" altLang="zh-CN"/>
              <a:t>2-1</a:t>
            </a:r>
            <a:endParaRPr lang="zh-CN" altLang="en-US"/>
          </a:p>
        </p:txBody>
      </p:sp>
      <p:sp>
        <p:nvSpPr>
          <p:cNvPr id="18436" name="AutoShape 16"/>
          <p:cNvSpPr>
            <a:spLocks noChangeArrowheads="1"/>
          </p:cNvSpPr>
          <p:nvPr/>
        </p:nvSpPr>
        <p:spPr bwMode="auto">
          <a:xfrm>
            <a:off x="2109788" y="1716089"/>
            <a:ext cx="7848600" cy="369887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GB" altLang="en-US" b="1">
                <a:solidFill>
                  <a:schemeClr val="tx2"/>
                </a:solidFill>
              </a:rPr>
              <a:t>S</a:t>
            </a:r>
            <a:r>
              <a:rPr lang="en-US" altLang="zh-CN" b="1">
                <a:solidFill>
                  <a:schemeClr val="tx2"/>
                </a:solidFill>
              </a:rPr>
              <a:t>witch</a:t>
            </a:r>
            <a:r>
              <a:rPr lang="en-GB" altLang="en-US" b="1">
                <a:solidFill>
                  <a:schemeClr val="tx2"/>
                </a:solidFill>
              </a:rPr>
              <a:t>(config)# interface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  <a:endParaRPr lang="zh-CN" altLang="en-US" b="1" i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3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三层交换机</a:t>
            </a:r>
            <a:r>
              <a:rPr lang="en-US" altLang="zh-CN"/>
              <a:t>VLAN</a:t>
            </a:r>
            <a:r>
              <a:rPr lang="zh-CN" altLang="en-US"/>
              <a:t>间通信的转发过程</a:t>
            </a:r>
            <a:endParaRPr lang="en-US" altLang="zh-CN"/>
          </a:p>
        </p:txBody>
      </p:sp>
      <p:sp>
        <p:nvSpPr>
          <p:cNvPr id="19459" name="标题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虚接口概述</a:t>
            </a:r>
            <a:r>
              <a:rPr lang="en-US" altLang="zh-CN"/>
              <a:t>2-2</a:t>
            </a:r>
            <a:endParaRPr lang="zh-CN" altLang="en-US"/>
          </a:p>
        </p:txBody>
      </p:sp>
      <p:cxnSp>
        <p:nvCxnSpPr>
          <p:cNvPr id="15390" name="直接箭头连接符 42"/>
          <p:cNvCxnSpPr>
            <a:cxnSpLocks noChangeShapeType="1"/>
          </p:cNvCxnSpPr>
          <p:nvPr/>
        </p:nvCxnSpPr>
        <p:spPr bwMode="auto">
          <a:xfrm rot="5400000" flipH="1" flipV="1">
            <a:off x="4345782" y="3942557"/>
            <a:ext cx="928687" cy="0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15391" name="直接箭头连接符 43"/>
          <p:cNvCxnSpPr>
            <a:cxnSpLocks noChangeShapeType="1"/>
          </p:cNvCxnSpPr>
          <p:nvPr/>
        </p:nvCxnSpPr>
        <p:spPr bwMode="auto">
          <a:xfrm flipV="1">
            <a:off x="4810125" y="2692401"/>
            <a:ext cx="571500" cy="500063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15392" name="直接箭头连接符 47"/>
          <p:cNvCxnSpPr>
            <a:cxnSpLocks noChangeShapeType="1"/>
          </p:cNvCxnSpPr>
          <p:nvPr/>
        </p:nvCxnSpPr>
        <p:spPr bwMode="auto">
          <a:xfrm>
            <a:off x="5595938" y="2692401"/>
            <a:ext cx="1143000" cy="9525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15393" name="直接箭头连接符 50"/>
          <p:cNvCxnSpPr>
            <a:cxnSpLocks noChangeShapeType="1"/>
          </p:cNvCxnSpPr>
          <p:nvPr/>
        </p:nvCxnSpPr>
        <p:spPr bwMode="auto">
          <a:xfrm rot="16200000" flipH="1">
            <a:off x="7024688" y="2692401"/>
            <a:ext cx="500063" cy="500062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15394" name="直接箭头连接符 53"/>
          <p:cNvCxnSpPr>
            <a:cxnSpLocks noChangeShapeType="1"/>
          </p:cNvCxnSpPr>
          <p:nvPr/>
        </p:nvCxnSpPr>
        <p:spPr bwMode="auto">
          <a:xfrm rot="5400000">
            <a:off x="7055645" y="3937795"/>
            <a:ext cx="928687" cy="9525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grpSp>
        <p:nvGrpSpPr>
          <p:cNvPr id="2" name="组合 39"/>
          <p:cNvGrpSpPr>
            <a:grpSpLocks/>
          </p:cNvGrpSpPr>
          <p:nvPr/>
        </p:nvGrpSpPr>
        <p:grpSpPr bwMode="auto">
          <a:xfrm>
            <a:off x="3238501" y="1920876"/>
            <a:ext cx="5929313" cy="3643313"/>
            <a:chOff x="1714480" y="2881332"/>
            <a:chExt cx="5929354" cy="3642300"/>
          </a:xfrm>
        </p:grpSpPr>
        <p:sp>
          <p:nvSpPr>
            <p:cNvPr id="6" name="梯形 5"/>
            <p:cNvSpPr/>
            <p:nvPr/>
          </p:nvSpPr>
          <p:spPr bwMode="auto">
            <a:xfrm rot="16200000">
              <a:off x="1940931" y="3226385"/>
              <a:ext cx="1614039" cy="923931"/>
            </a:xfrm>
            <a:prstGeom prst="trapezoid">
              <a:avLst>
                <a:gd name="adj" fmla="val 60914"/>
              </a:avLst>
            </a:prstGeom>
            <a:gradFill>
              <a:gsLst>
                <a:gs pos="0">
                  <a:srgbClr val="FF7C80"/>
                </a:gs>
                <a:gs pos="100000">
                  <a:srgbClr val="FFFFFF"/>
                </a:gs>
              </a:gsLst>
              <a:lin ang="5400000" scaled="0"/>
            </a:gra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pic>
          <p:nvPicPr>
            <p:cNvPr id="19507" name="Picture 1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14480" y="3438544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08" name="矩形 4"/>
            <p:cNvSpPr>
              <a:spLocks noChangeArrowheads="1"/>
            </p:cNvSpPr>
            <p:nvPr/>
          </p:nvSpPr>
          <p:spPr bwMode="auto">
            <a:xfrm>
              <a:off x="3071792" y="2938482"/>
              <a:ext cx="3214688" cy="1500187"/>
            </a:xfrm>
            <a:prstGeom prst="rect">
              <a:avLst/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3143240" y="4152566"/>
              <a:ext cx="285752" cy="28567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3500430" y="4152566"/>
              <a:ext cx="285752" cy="28567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3857620" y="4152566"/>
              <a:ext cx="285752" cy="28567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214810" y="4152566"/>
              <a:ext cx="285752" cy="28567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19513" name="矩形 10"/>
            <p:cNvSpPr>
              <a:spLocks noChangeArrowheads="1"/>
            </p:cNvSpPr>
            <p:nvPr/>
          </p:nvSpPr>
          <p:spPr bwMode="auto">
            <a:xfrm>
              <a:off x="4786292" y="4152919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4" name="矩形 11"/>
            <p:cNvSpPr>
              <a:spLocks noChangeArrowheads="1"/>
            </p:cNvSpPr>
            <p:nvPr/>
          </p:nvSpPr>
          <p:spPr bwMode="auto">
            <a:xfrm>
              <a:off x="5143480" y="4152919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5" name="矩形 12"/>
            <p:cNvSpPr>
              <a:spLocks noChangeArrowheads="1"/>
            </p:cNvSpPr>
            <p:nvPr/>
          </p:nvSpPr>
          <p:spPr bwMode="auto">
            <a:xfrm>
              <a:off x="5500667" y="4152919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6" name="矩形 13"/>
            <p:cNvSpPr>
              <a:spLocks noChangeArrowheads="1"/>
            </p:cNvSpPr>
            <p:nvPr/>
          </p:nvSpPr>
          <p:spPr bwMode="auto">
            <a:xfrm>
              <a:off x="5857855" y="4152919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7" name="TextBox 14"/>
            <p:cNvSpPr txBox="1">
              <a:spLocks noChangeArrowheads="1"/>
            </p:cNvSpPr>
            <p:nvPr/>
          </p:nvSpPr>
          <p:spPr bwMode="auto">
            <a:xfrm>
              <a:off x="3067030" y="2938482"/>
              <a:ext cx="150018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Int 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8" name="TextBox 15"/>
            <p:cNvSpPr txBox="1">
              <a:spLocks noChangeArrowheads="1"/>
            </p:cNvSpPr>
            <p:nvPr/>
          </p:nvSpPr>
          <p:spPr bwMode="auto">
            <a:xfrm>
              <a:off x="4714855" y="2938482"/>
              <a:ext cx="150018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Int 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19" name="圆角矩形 16"/>
            <p:cNvSpPr>
              <a:spLocks noChangeArrowheads="1"/>
            </p:cNvSpPr>
            <p:nvPr/>
          </p:nvSpPr>
          <p:spPr bwMode="auto">
            <a:xfrm>
              <a:off x="3071792" y="4081482"/>
              <a:ext cx="1500188" cy="428625"/>
            </a:xfrm>
            <a:prstGeom prst="roundRect">
              <a:avLst>
                <a:gd name="adj" fmla="val 16667"/>
              </a:avLst>
            </a:prstGeom>
            <a:noFill/>
            <a:ln w="22225" algn="ctr">
              <a:solidFill>
                <a:srgbClr val="0033CC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20" name="圆角矩形 17"/>
            <p:cNvSpPr>
              <a:spLocks noChangeArrowheads="1"/>
            </p:cNvSpPr>
            <p:nvPr/>
          </p:nvSpPr>
          <p:spPr bwMode="auto">
            <a:xfrm>
              <a:off x="4714855" y="4081482"/>
              <a:ext cx="1500187" cy="428625"/>
            </a:xfrm>
            <a:prstGeom prst="roundRect">
              <a:avLst>
                <a:gd name="adj" fmla="val 16667"/>
              </a:avLst>
            </a:prstGeom>
            <a:noFill/>
            <a:ln w="22225" algn="ctr">
              <a:solidFill>
                <a:srgbClr val="0033CC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521" name="直接箭头连接符 19"/>
            <p:cNvCxnSpPr>
              <a:cxnSpLocks noChangeShapeType="1"/>
            </p:cNvCxnSpPr>
            <p:nvPr/>
          </p:nvCxnSpPr>
          <p:spPr bwMode="auto">
            <a:xfrm rot="10800000" flipV="1">
              <a:off x="2714605" y="4510107"/>
              <a:ext cx="285750" cy="214312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sp>
          <p:nvSpPr>
            <p:cNvPr id="19522" name="TextBox 20"/>
            <p:cNvSpPr txBox="1">
              <a:spLocks noChangeArrowheads="1"/>
            </p:cNvSpPr>
            <p:nvPr/>
          </p:nvSpPr>
          <p:spPr bwMode="auto">
            <a:xfrm>
              <a:off x="1714480" y="4662507"/>
              <a:ext cx="107156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端口属于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cxnSp>
          <p:nvCxnSpPr>
            <p:cNvPr id="19523" name="直接箭头连接符 21"/>
            <p:cNvCxnSpPr>
              <a:cxnSpLocks noChangeShapeType="1"/>
            </p:cNvCxnSpPr>
            <p:nvPr/>
          </p:nvCxnSpPr>
          <p:spPr bwMode="auto">
            <a:xfrm>
              <a:off x="6357917" y="4510107"/>
              <a:ext cx="285750" cy="214312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sp>
          <p:nvSpPr>
            <p:cNvPr id="19524" name="TextBox 24"/>
            <p:cNvSpPr txBox="1">
              <a:spLocks noChangeArrowheads="1"/>
            </p:cNvSpPr>
            <p:nvPr/>
          </p:nvSpPr>
          <p:spPr bwMode="auto">
            <a:xfrm>
              <a:off x="6572230" y="4724419"/>
              <a:ext cx="107160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端口属于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pic>
          <p:nvPicPr>
            <p:cNvPr id="19525" name="Picture 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62255" y="5367357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26" name="TextBox 31"/>
            <p:cNvSpPr txBox="1">
              <a:spLocks noChangeArrowheads="1"/>
            </p:cNvSpPr>
            <p:nvPr/>
          </p:nvSpPr>
          <p:spPr bwMode="auto">
            <a:xfrm>
              <a:off x="2890817" y="5938857"/>
              <a:ext cx="96680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pic>
          <p:nvPicPr>
            <p:cNvPr id="19527" name="Picture 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67355" y="5367357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28" name="TextBox 33"/>
            <p:cNvSpPr txBox="1">
              <a:spLocks noChangeArrowheads="1"/>
            </p:cNvSpPr>
            <p:nvPr/>
          </p:nvSpPr>
          <p:spPr bwMode="auto">
            <a:xfrm>
              <a:off x="5595917" y="5938857"/>
              <a:ext cx="90490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9529" name="椭圆 34"/>
            <p:cNvSpPr>
              <a:spLocks noChangeArrowheads="1"/>
            </p:cNvSpPr>
            <p:nvPr/>
          </p:nvSpPr>
          <p:spPr bwMode="auto">
            <a:xfrm>
              <a:off x="3571855" y="3509982"/>
              <a:ext cx="500062" cy="28575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30" name="椭圆 35"/>
            <p:cNvSpPr>
              <a:spLocks noChangeArrowheads="1"/>
            </p:cNvSpPr>
            <p:nvPr/>
          </p:nvSpPr>
          <p:spPr bwMode="auto">
            <a:xfrm>
              <a:off x="5214917" y="3519507"/>
              <a:ext cx="500063" cy="28575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531" name="直接箭头连接符 36"/>
            <p:cNvCxnSpPr>
              <a:cxnSpLocks noChangeShapeType="1"/>
            </p:cNvCxnSpPr>
            <p:nvPr/>
          </p:nvCxnSpPr>
          <p:spPr bwMode="auto">
            <a:xfrm rot="5400000" flipH="1" flipV="1">
              <a:off x="3708380" y="3330594"/>
              <a:ext cx="214312" cy="1588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cxnSp>
          <p:nvCxnSpPr>
            <p:cNvPr id="19532" name="直接箭头连接符 39"/>
            <p:cNvCxnSpPr>
              <a:cxnSpLocks noChangeShapeType="1"/>
            </p:cNvCxnSpPr>
            <p:nvPr/>
          </p:nvCxnSpPr>
          <p:spPr bwMode="auto">
            <a:xfrm rot="5400000" flipH="1" flipV="1">
              <a:off x="5360968" y="3359169"/>
              <a:ext cx="214312" cy="1587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cxnSp>
          <p:nvCxnSpPr>
            <p:cNvPr id="19533" name="直接箭头连接符 42"/>
            <p:cNvCxnSpPr>
              <a:cxnSpLocks noChangeShapeType="1"/>
            </p:cNvCxnSpPr>
            <p:nvPr/>
          </p:nvCxnSpPr>
          <p:spPr bwMode="auto">
            <a:xfrm rot="10800000" flipH="1" flipV="1">
              <a:off x="3857621" y="5715016"/>
              <a:ext cx="1728000" cy="0"/>
            </a:xfrm>
            <a:prstGeom prst="straightConnector1">
              <a:avLst/>
            </a:prstGeom>
            <a:noFill/>
            <a:ln w="22225" algn="ctr">
              <a:solidFill>
                <a:schemeClr val="tx2"/>
              </a:solidFill>
              <a:round/>
              <a:headEnd/>
              <a:tailEnd type="arrow" w="med" len="med"/>
            </a:ln>
          </p:spPr>
        </p:cxnSp>
        <p:sp>
          <p:nvSpPr>
            <p:cNvPr id="19534" name="AutoShape 5"/>
            <p:cNvSpPr>
              <a:spLocks noChangeArrowheads="1"/>
            </p:cNvSpPr>
            <p:nvPr/>
          </p:nvSpPr>
          <p:spPr bwMode="auto">
            <a:xfrm>
              <a:off x="3714744" y="5786454"/>
              <a:ext cx="1922465" cy="35719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主机</a:t>
              </a:r>
              <a:r>
                <a:rPr lang="en-US" altLang="zh-CN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访问主机</a:t>
              </a:r>
              <a:r>
                <a:rPr lang="en-US" altLang="zh-CN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B</a:t>
              </a:r>
              <a:endPara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cxnSp>
        <p:nvCxnSpPr>
          <p:cNvPr id="61" name="直接箭头连接符 53"/>
          <p:cNvCxnSpPr>
            <a:cxnSpLocks noChangeShapeType="1"/>
          </p:cNvCxnSpPr>
          <p:nvPr/>
        </p:nvCxnSpPr>
        <p:spPr bwMode="auto">
          <a:xfrm rot="5400000" flipH="1" flipV="1">
            <a:off x="4700588" y="3878263"/>
            <a:ext cx="1071563" cy="433388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grpSp>
        <p:nvGrpSpPr>
          <p:cNvPr id="3" name="组合 81"/>
          <p:cNvGrpSpPr>
            <a:grpSpLocks/>
          </p:cNvGrpSpPr>
          <p:nvPr/>
        </p:nvGrpSpPr>
        <p:grpSpPr bwMode="auto">
          <a:xfrm>
            <a:off x="3452814" y="1754188"/>
            <a:ext cx="5572125" cy="4032250"/>
            <a:chOff x="1928813" y="2714620"/>
            <a:chExt cx="5572139" cy="4031986"/>
          </a:xfrm>
        </p:grpSpPr>
        <p:sp>
          <p:nvSpPr>
            <p:cNvPr id="41" name="梯形 40"/>
            <p:cNvSpPr/>
            <p:nvPr/>
          </p:nvSpPr>
          <p:spPr bwMode="auto">
            <a:xfrm rot="16200000">
              <a:off x="2154294" y="3449552"/>
              <a:ext cx="1615969" cy="923927"/>
            </a:xfrm>
            <a:prstGeom prst="trapezoid">
              <a:avLst>
                <a:gd name="adj" fmla="val 60914"/>
              </a:avLst>
            </a:prstGeom>
            <a:gradFill>
              <a:gsLst>
                <a:gs pos="0">
                  <a:srgbClr val="FF7C80"/>
                </a:gs>
                <a:gs pos="100000">
                  <a:srgbClr val="FFFFFF"/>
                </a:gs>
              </a:gsLst>
              <a:lin ang="5400000" scaled="0"/>
            </a:gradFill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 anchorCtr="1"/>
            <a:lstStyle/>
            <a:p>
              <a:pPr algn="ctr">
                <a:defRPr/>
              </a:pP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pic>
          <p:nvPicPr>
            <p:cNvPr id="19478" name="Picture 1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28813" y="3661518"/>
              <a:ext cx="508000" cy="50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79" name="矩形 4"/>
            <p:cNvSpPr>
              <a:spLocks noChangeArrowheads="1"/>
            </p:cNvSpPr>
            <p:nvPr/>
          </p:nvSpPr>
          <p:spPr bwMode="auto">
            <a:xfrm>
              <a:off x="3286125" y="3161456"/>
              <a:ext cx="3214688" cy="1500187"/>
            </a:xfrm>
            <a:prstGeom prst="rect">
              <a:avLst/>
            </a:prstGeom>
            <a:noFill/>
            <a:ln w="2222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0" name="矩形 10"/>
            <p:cNvSpPr>
              <a:spLocks noChangeArrowheads="1"/>
            </p:cNvSpPr>
            <p:nvPr/>
          </p:nvSpPr>
          <p:spPr bwMode="auto">
            <a:xfrm>
              <a:off x="4929188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1" name="矩形 11"/>
            <p:cNvSpPr>
              <a:spLocks noChangeArrowheads="1"/>
            </p:cNvSpPr>
            <p:nvPr/>
          </p:nvSpPr>
          <p:spPr bwMode="auto">
            <a:xfrm>
              <a:off x="5286375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2" name="矩形 12"/>
            <p:cNvSpPr>
              <a:spLocks noChangeArrowheads="1"/>
            </p:cNvSpPr>
            <p:nvPr/>
          </p:nvSpPr>
          <p:spPr bwMode="auto">
            <a:xfrm>
              <a:off x="5643563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3" name="矩形 13"/>
            <p:cNvSpPr>
              <a:spLocks noChangeArrowheads="1"/>
            </p:cNvSpPr>
            <p:nvPr/>
          </p:nvSpPr>
          <p:spPr bwMode="auto">
            <a:xfrm>
              <a:off x="6000750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4" name="TextBox 14"/>
            <p:cNvSpPr txBox="1">
              <a:spLocks noChangeArrowheads="1"/>
            </p:cNvSpPr>
            <p:nvPr/>
          </p:nvSpPr>
          <p:spPr bwMode="auto">
            <a:xfrm>
              <a:off x="3067050" y="2732831"/>
              <a:ext cx="150018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Int 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5" name="TextBox 15"/>
            <p:cNvSpPr txBox="1">
              <a:spLocks noChangeArrowheads="1"/>
            </p:cNvSpPr>
            <p:nvPr/>
          </p:nvSpPr>
          <p:spPr bwMode="auto">
            <a:xfrm>
              <a:off x="4929188" y="3161456"/>
              <a:ext cx="150018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Int vlan 30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86" name="圆角矩形 16"/>
            <p:cNvSpPr>
              <a:spLocks noChangeArrowheads="1"/>
            </p:cNvSpPr>
            <p:nvPr/>
          </p:nvSpPr>
          <p:spPr bwMode="auto">
            <a:xfrm>
              <a:off x="3429000" y="4304456"/>
              <a:ext cx="2928938" cy="428625"/>
            </a:xfrm>
            <a:prstGeom prst="roundRect">
              <a:avLst>
                <a:gd name="adj" fmla="val 16667"/>
              </a:avLst>
            </a:prstGeom>
            <a:noFill/>
            <a:ln w="22225" algn="ctr">
              <a:solidFill>
                <a:srgbClr val="0033CC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487" name="直接箭头连接符 21"/>
            <p:cNvCxnSpPr>
              <a:cxnSpLocks noChangeShapeType="1"/>
            </p:cNvCxnSpPr>
            <p:nvPr/>
          </p:nvCxnSpPr>
          <p:spPr bwMode="auto">
            <a:xfrm>
              <a:off x="6357950" y="4723544"/>
              <a:ext cx="428628" cy="285752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sp>
          <p:nvSpPr>
            <p:cNvPr id="19488" name="TextBox 24"/>
            <p:cNvSpPr txBox="1">
              <a:spLocks noChangeArrowheads="1"/>
            </p:cNvSpPr>
            <p:nvPr/>
          </p:nvSpPr>
          <p:spPr bwMode="auto">
            <a:xfrm>
              <a:off x="6715140" y="4929198"/>
              <a:ext cx="78581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Trunk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9489" name="Picture 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171825" y="5590331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90" name="TextBox 31"/>
            <p:cNvSpPr txBox="1">
              <a:spLocks noChangeArrowheads="1"/>
            </p:cNvSpPr>
            <p:nvPr/>
          </p:nvSpPr>
          <p:spPr bwMode="auto">
            <a:xfrm>
              <a:off x="2928926" y="6161831"/>
              <a:ext cx="95727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10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pic>
          <p:nvPicPr>
            <p:cNvPr id="19491" name="Picture 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815013" y="5590331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92" name="TextBox 33"/>
            <p:cNvSpPr txBox="1">
              <a:spLocks noChangeArrowheads="1"/>
            </p:cNvSpPr>
            <p:nvPr/>
          </p:nvSpPr>
          <p:spPr bwMode="auto">
            <a:xfrm>
              <a:off x="5743575" y="6161831"/>
              <a:ext cx="90012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C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30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9493" name="椭圆 34"/>
            <p:cNvSpPr>
              <a:spLocks noChangeArrowheads="1"/>
            </p:cNvSpPr>
            <p:nvPr/>
          </p:nvSpPr>
          <p:spPr bwMode="auto">
            <a:xfrm>
              <a:off x="3571875" y="3304331"/>
              <a:ext cx="500063" cy="28575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94" name="椭圆 35"/>
            <p:cNvSpPr>
              <a:spLocks noChangeArrowheads="1"/>
            </p:cNvSpPr>
            <p:nvPr/>
          </p:nvSpPr>
          <p:spPr bwMode="auto">
            <a:xfrm>
              <a:off x="5429250" y="3742481"/>
              <a:ext cx="500063" cy="28575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495" name="直接箭头连接符 36"/>
            <p:cNvCxnSpPr>
              <a:cxnSpLocks noChangeShapeType="1"/>
            </p:cNvCxnSpPr>
            <p:nvPr/>
          </p:nvCxnSpPr>
          <p:spPr bwMode="auto">
            <a:xfrm rot="5400000" flipH="1" flipV="1">
              <a:off x="3708401" y="3124943"/>
              <a:ext cx="214312" cy="1587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cxnSp>
          <p:nvCxnSpPr>
            <p:cNvPr id="19496" name="直接箭头连接符 39"/>
            <p:cNvCxnSpPr>
              <a:cxnSpLocks noChangeShapeType="1"/>
            </p:cNvCxnSpPr>
            <p:nvPr/>
          </p:nvCxnSpPr>
          <p:spPr bwMode="auto">
            <a:xfrm rot="5400000" flipH="1" flipV="1">
              <a:off x="5575301" y="3582143"/>
              <a:ext cx="214312" cy="1587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  <p:sp>
          <p:nvSpPr>
            <p:cNvPr id="19497" name="矩形 38"/>
            <p:cNvSpPr>
              <a:spLocks noChangeArrowheads="1"/>
            </p:cNvSpPr>
            <p:nvPr/>
          </p:nvSpPr>
          <p:spPr bwMode="auto">
            <a:xfrm>
              <a:off x="3500438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98" name="矩形 40"/>
            <p:cNvSpPr>
              <a:spLocks noChangeArrowheads="1"/>
            </p:cNvSpPr>
            <p:nvPr/>
          </p:nvSpPr>
          <p:spPr bwMode="auto">
            <a:xfrm>
              <a:off x="3857625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99" name="矩形 41"/>
            <p:cNvSpPr>
              <a:spLocks noChangeArrowheads="1"/>
            </p:cNvSpPr>
            <p:nvPr/>
          </p:nvSpPr>
          <p:spPr bwMode="auto">
            <a:xfrm>
              <a:off x="4214813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00" name="矩形 44"/>
            <p:cNvSpPr>
              <a:spLocks noChangeArrowheads="1"/>
            </p:cNvSpPr>
            <p:nvPr/>
          </p:nvSpPr>
          <p:spPr bwMode="auto">
            <a:xfrm>
              <a:off x="4572000" y="4375893"/>
              <a:ext cx="285750" cy="285750"/>
            </a:xfrm>
            <a:prstGeom prst="rect">
              <a:avLst/>
            </a:prstGeom>
            <a:noFill/>
            <a:ln w="15875" algn="ctr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9501" name="Picture 6" descr="电脑图标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43375" y="5590331"/>
              <a:ext cx="647700" cy="617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02" name="TextBox 48"/>
            <p:cNvSpPr txBox="1">
              <a:spLocks noChangeArrowheads="1"/>
            </p:cNvSpPr>
            <p:nvPr/>
          </p:nvSpPr>
          <p:spPr bwMode="auto">
            <a:xfrm>
              <a:off x="4071938" y="6161831"/>
              <a:ext cx="85725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主机</a:t>
              </a: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</a:p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19503" name="椭圆 49"/>
            <p:cNvSpPr>
              <a:spLocks noChangeArrowheads="1"/>
            </p:cNvSpPr>
            <p:nvPr/>
          </p:nvSpPr>
          <p:spPr bwMode="auto">
            <a:xfrm>
              <a:off x="4214813" y="3732956"/>
              <a:ext cx="500062" cy="285750"/>
            </a:xfrm>
            <a:prstGeom prst="ellipse">
              <a:avLst/>
            </a:prstGeom>
            <a:noFill/>
            <a:ln w="15875" algn="ctr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 anchorCtr="1"/>
            <a:lstStyle/>
            <a:p>
              <a:pPr algn="ctr"/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04" name="TextBox 51"/>
            <p:cNvSpPr txBox="1">
              <a:spLocks noChangeArrowheads="1"/>
            </p:cNvSpPr>
            <p:nvPr/>
          </p:nvSpPr>
          <p:spPr bwMode="auto">
            <a:xfrm>
              <a:off x="4500572" y="2714620"/>
              <a:ext cx="150018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Int vlan 20</a:t>
              </a:r>
              <a:endParaRPr lang="zh-CN" altLang="en-US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505" name="直接箭头连接符 52"/>
            <p:cNvCxnSpPr>
              <a:cxnSpLocks noChangeShapeType="1"/>
            </p:cNvCxnSpPr>
            <p:nvPr/>
          </p:nvCxnSpPr>
          <p:spPr bwMode="auto">
            <a:xfrm rot="5400000" flipH="1" flipV="1">
              <a:off x="4333865" y="3137631"/>
              <a:ext cx="723925" cy="466729"/>
            </a:xfrm>
            <a:prstGeom prst="straightConnector1">
              <a:avLst/>
            </a:prstGeom>
            <a:noFill/>
            <a:ln w="22225" algn="ctr">
              <a:solidFill>
                <a:srgbClr val="0033CC"/>
              </a:solidFill>
              <a:round/>
              <a:headEnd/>
              <a:tailEnd type="arrow" w="med" len="med"/>
            </a:ln>
          </p:spPr>
        </p:cxnSp>
      </p:grpSp>
      <p:cxnSp>
        <p:nvCxnSpPr>
          <p:cNvPr id="71" name="直接箭头连接符 58"/>
          <p:cNvCxnSpPr>
            <a:cxnSpLocks noChangeShapeType="1"/>
          </p:cNvCxnSpPr>
          <p:nvPr/>
        </p:nvCxnSpPr>
        <p:spPr bwMode="auto">
          <a:xfrm rot="16200000" flipV="1">
            <a:off x="5257801" y="3897314"/>
            <a:ext cx="1071563" cy="395287"/>
          </a:xfrm>
          <a:prstGeom prst="straightConnector1">
            <a:avLst/>
          </a:prstGeom>
          <a:noFill/>
          <a:ln w="22225" algn="ctr">
            <a:solidFill>
              <a:srgbClr val="00B050"/>
            </a:solidFill>
            <a:prstDash val="lgDashDotDot"/>
            <a:round/>
            <a:headEnd/>
            <a:tailEnd type="arrow" w="med" len="med"/>
          </a:ln>
        </p:spPr>
      </p:cxnSp>
      <p:cxnSp>
        <p:nvCxnSpPr>
          <p:cNvPr id="72" name="直接箭头连接符 61"/>
          <p:cNvCxnSpPr>
            <a:cxnSpLocks noChangeShapeType="1"/>
          </p:cNvCxnSpPr>
          <p:nvPr/>
        </p:nvCxnSpPr>
        <p:spPr bwMode="auto">
          <a:xfrm rot="16200000" flipV="1">
            <a:off x="4881564" y="2844801"/>
            <a:ext cx="928687" cy="214313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73" name="直接箭头连接符 63"/>
          <p:cNvCxnSpPr>
            <a:cxnSpLocks noChangeShapeType="1"/>
          </p:cNvCxnSpPr>
          <p:nvPr/>
        </p:nvCxnSpPr>
        <p:spPr bwMode="auto">
          <a:xfrm>
            <a:off x="5595939" y="2416175"/>
            <a:ext cx="1430337" cy="336550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74" name="直接箭头连接符 66"/>
          <p:cNvCxnSpPr>
            <a:cxnSpLocks noChangeShapeType="1"/>
          </p:cNvCxnSpPr>
          <p:nvPr/>
        </p:nvCxnSpPr>
        <p:spPr bwMode="auto">
          <a:xfrm rot="16200000" flipH="1">
            <a:off x="6652419" y="3620294"/>
            <a:ext cx="1562100" cy="458788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75" name="直接箭头连接符 69"/>
          <p:cNvCxnSpPr>
            <a:cxnSpLocks noChangeShapeType="1"/>
          </p:cNvCxnSpPr>
          <p:nvPr/>
        </p:nvCxnSpPr>
        <p:spPr bwMode="auto">
          <a:xfrm rot="5400000" flipH="1" flipV="1">
            <a:off x="5522120" y="2994820"/>
            <a:ext cx="509587" cy="352425"/>
          </a:xfrm>
          <a:prstGeom prst="straightConnector1">
            <a:avLst/>
          </a:prstGeom>
          <a:noFill/>
          <a:ln w="22225" algn="ctr">
            <a:solidFill>
              <a:srgbClr val="00B050"/>
            </a:solidFill>
            <a:prstDash val="lgDashDotDot"/>
            <a:round/>
            <a:headEnd/>
            <a:tailEnd type="arrow" w="med" len="med"/>
          </a:ln>
        </p:spPr>
      </p:cxnSp>
      <p:cxnSp>
        <p:nvCxnSpPr>
          <p:cNvPr id="76" name="直接箭头连接符 72"/>
          <p:cNvCxnSpPr>
            <a:cxnSpLocks noChangeShapeType="1"/>
          </p:cNvCxnSpPr>
          <p:nvPr/>
        </p:nvCxnSpPr>
        <p:spPr bwMode="auto">
          <a:xfrm>
            <a:off x="6096000" y="2916239"/>
            <a:ext cx="857250" cy="9525"/>
          </a:xfrm>
          <a:prstGeom prst="straightConnector1">
            <a:avLst/>
          </a:prstGeom>
          <a:noFill/>
          <a:ln w="22225" algn="ctr">
            <a:solidFill>
              <a:srgbClr val="00B050"/>
            </a:solidFill>
            <a:prstDash val="lgDashDotDot"/>
            <a:round/>
            <a:headEnd/>
            <a:tailEnd type="arrow" w="med" len="med"/>
          </a:ln>
        </p:spPr>
      </p:cxnSp>
      <p:cxnSp>
        <p:nvCxnSpPr>
          <p:cNvPr id="77" name="直接箭头连接符 75"/>
          <p:cNvCxnSpPr>
            <a:cxnSpLocks noChangeShapeType="1"/>
          </p:cNvCxnSpPr>
          <p:nvPr/>
        </p:nvCxnSpPr>
        <p:spPr bwMode="auto">
          <a:xfrm rot="16200000" flipH="1">
            <a:off x="6548438" y="3678238"/>
            <a:ext cx="1543050" cy="447675"/>
          </a:xfrm>
          <a:prstGeom prst="straightConnector1">
            <a:avLst/>
          </a:prstGeom>
          <a:noFill/>
          <a:ln w="22225" algn="ctr">
            <a:solidFill>
              <a:srgbClr val="00B050"/>
            </a:solidFill>
            <a:prstDash val="lgDashDotDot"/>
            <a:round/>
            <a:headEnd/>
            <a:tailEnd type="arrow" w="med" len="med"/>
          </a:ln>
        </p:spPr>
      </p:cxnSp>
      <p:sp>
        <p:nvSpPr>
          <p:cNvPr id="81" name="AutoShape 5"/>
          <p:cNvSpPr>
            <a:spLocks noChangeArrowheads="1"/>
          </p:cNvSpPr>
          <p:nvPr/>
        </p:nvSpPr>
        <p:spPr bwMode="auto">
          <a:xfrm>
            <a:off x="5387976" y="5786439"/>
            <a:ext cx="1922463" cy="357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主机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访问主机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" name="AutoShape 5"/>
          <p:cNvSpPr>
            <a:spLocks noChangeArrowheads="1"/>
          </p:cNvSpPr>
          <p:nvPr/>
        </p:nvSpPr>
        <p:spPr bwMode="auto">
          <a:xfrm>
            <a:off x="5387976" y="5786439"/>
            <a:ext cx="1922463" cy="357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主机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访问主机</a:t>
            </a:r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endParaRPr lang="zh-CN" altLang="en-US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请思考：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pitchFamily="34" charset="0"/>
              </a:rPr>
              <a:t>CEF</a:t>
            </a:r>
            <a:r>
              <a:rPr lang="zh-CN" altLang="en-US">
                <a:cs typeface="Arial" pitchFamily="34" charset="0"/>
              </a:rPr>
              <a:t>包含的两个转发信息表分别是什么？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/>
              <a:t>简述虚接口的作用，以及三层交换机</a:t>
            </a:r>
            <a:r>
              <a:rPr lang="en-US" altLang="zh-CN"/>
              <a:t>VLAN</a:t>
            </a:r>
            <a:r>
              <a:rPr lang="zh-CN" altLang="en-US"/>
              <a:t>间转发过程</a:t>
            </a:r>
            <a:r>
              <a:rPr lang="zh-CN" altLang="en-US">
                <a:cs typeface="Arial" pitchFamily="34" charset="0"/>
              </a:rPr>
              <a:t>？</a:t>
            </a:r>
            <a:endParaRPr lang="en-US" altLang="zh-CN">
              <a:cs typeface="Arial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在三层交换机启用路由功能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>
                <a:latin typeface="黑体" pitchFamily="49" charset="-122"/>
              </a:rPr>
              <a:t>配置虚接口</a:t>
            </a:r>
            <a:r>
              <a:rPr lang="zh-CN" altLang="en-US"/>
              <a:t>的</a:t>
            </a:r>
            <a:r>
              <a:rPr lang="en-US" altLang="zh-CN"/>
              <a:t>IP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>
                <a:latin typeface="黑体" pitchFamily="49" charset="-122"/>
              </a:rPr>
              <a:t>配置路由接口</a:t>
            </a:r>
            <a:endParaRPr lang="en-US" altLang="zh-CN">
              <a:latin typeface="黑体" pitchFamily="49" charset="-122"/>
            </a:endParaRP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15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三层交换机的配置</a:t>
            </a:r>
          </a:p>
        </p:txBody>
      </p:sp>
      <p:sp>
        <p:nvSpPr>
          <p:cNvPr id="9" name="AutoShape 16"/>
          <p:cNvSpPr>
            <a:spLocks noChangeArrowheads="1"/>
          </p:cNvSpPr>
          <p:nvPr/>
        </p:nvSpPr>
        <p:spPr bwMode="auto">
          <a:xfrm>
            <a:off x="2109788" y="1657350"/>
            <a:ext cx="7848600" cy="369332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Switch(config)# ip routing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10" name="AutoShape 16"/>
          <p:cNvSpPr>
            <a:spLocks noChangeArrowheads="1"/>
          </p:cNvSpPr>
          <p:nvPr/>
        </p:nvSpPr>
        <p:spPr bwMode="auto">
          <a:xfrm>
            <a:off x="2109788" y="2662239"/>
            <a:ext cx="7848600" cy="949325"/>
          </a:xfrm>
          <a:prstGeom prst="roundRect">
            <a:avLst>
              <a:gd name="adj" fmla="val 570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>
              <a:buClr>
                <a:schemeClr val="tx1"/>
              </a:buClr>
            </a:pPr>
            <a:r>
              <a:rPr lang="en-US" altLang="zh-CN" b="1">
                <a:solidFill>
                  <a:schemeClr val="tx2"/>
                </a:solidFill>
              </a:rPr>
              <a:t>Switch(config)# interface vlan </a:t>
            </a:r>
            <a:r>
              <a:rPr lang="en-US" altLang="zh-CN" b="1" i="1">
                <a:solidFill>
                  <a:schemeClr val="tx2"/>
                </a:solidFill>
              </a:rPr>
              <a:t>vlan-id</a:t>
            </a:r>
            <a:endParaRPr lang="zh-CN" altLang="en-US" b="1" i="1">
              <a:solidFill>
                <a:schemeClr val="tx2"/>
              </a:solidFill>
            </a:endParaRPr>
          </a:p>
          <a:p>
            <a:pPr marL="95250" lvl="1">
              <a:buClr>
                <a:schemeClr val="tx1"/>
              </a:buClr>
            </a:pPr>
            <a:r>
              <a:rPr lang="en-US" altLang="zh-CN" b="1">
                <a:solidFill>
                  <a:schemeClr val="tx2"/>
                </a:solidFill>
              </a:rPr>
              <a:t>Switch(config-if)# ip address </a:t>
            </a:r>
            <a:r>
              <a:rPr lang="en-US" altLang="zh-CN" b="1" i="1">
                <a:solidFill>
                  <a:schemeClr val="tx2"/>
                </a:solidFill>
              </a:rPr>
              <a:t>ip_address netmask</a:t>
            </a:r>
            <a:endParaRPr lang="zh-CN" altLang="en-US" b="1" i="1">
              <a:solidFill>
                <a:schemeClr val="tx2"/>
              </a:solidFill>
            </a:endParaRPr>
          </a:p>
          <a:p>
            <a:pPr marL="95250" lvl="1">
              <a:buClr>
                <a:schemeClr val="tx1"/>
              </a:buClr>
            </a:pPr>
            <a:r>
              <a:rPr lang="en-US" altLang="zh-CN" b="1">
                <a:solidFill>
                  <a:schemeClr val="tx2"/>
                </a:solidFill>
              </a:rPr>
              <a:t>Switch(config-if)# no shutdown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11" name="AutoShape 16"/>
          <p:cNvSpPr>
            <a:spLocks noChangeArrowheads="1"/>
          </p:cNvSpPr>
          <p:nvPr/>
        </p:nvSpPr>
        <p:spPr bwMode="auto">
          <a:xfrm>
            <a:off x="2109788" y="4286250"/>
            <a:ext cx="7848600" cy="369888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Switch(config-if)# no switchport</a:t>
            </a:r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3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需求描述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pitchFamily="34" charset="0"/>
              </a:rPr>
              <a:t>按照图中规划配置实现</a:t>
            </a:r>
            <a:r>
              <a:rPr lang="en-US" altLang="zh-CN">
                <a:cs typeface="Arial" pitchFamily="34" charset="0"/>
              </a:rPr>
              <a:t>VLAN</a:t>
            </a:r>
            <a:r>
              <a:rPr lang="zh-CN" altLang="en-US">
                <a:cs typeface="Arial" pitchFamily="34" charset="0"/>
              </a:rPr>
              <a:t>间互通</a:t>
            </a:r>
          </a:p>
        </p:txBody>
      </p:sp>
      <p:sp>
        <p:nvSpPr>
          <p:cNvPr id="225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三层交换机实现</a:t>
            </a:r>
            <a:r>
              <a:rPr lang="en-US" altLang="zh-CN"/>
              <a:t>VLAN</a:t>
            </a:r>
            <a:r>
              <a:rPr lang="zh-CN" altLang="en-US"/>
              <a:t>互通</a:t>
            </a:r>
            <a:r>
              <a:rPr lang="en-US" altLang="zh-CN"/>
              <a:t>3-1</a:t>
            </a:r>
            <a:endParaRPr lang="zh-CN" altLang="en-US"/>
          </a:p>
        </p:txBody>
      </p:sp>
      <p:pic>
        <p:nvPicPr>
          <p:cNvPr id="22532" name="Picture 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88064" y="2566988"/>
            <a:ext cx="1120775" cy="1079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7" name="Line 7"/>
          <p:cNvSpPr>
            <a:spLocks noChangeShapeType="1"/>
          </p:cNvSpPr>
          <p:nvPr/>
        </p:nvSpPr>
        <p:spPr bwMode="auto">
          <a:xfrm>
            <a:off x="6643688" y="3622676"/>
            <a:ext cx="0" cy="7921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b"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22534" name="Line 8"/>
          <p:cNvSpPr>
            <a:spLocks noChangeShapeType="1"/>
          </p:cNvSpPr>
          <p:nvPr/>
        </p:nvSpPr>
        <p:spPr bwMode="auto">
          <a:xfrm flipH="1">
            <a:off x="4646614" y="4510088"/>
            <a:ext cx="1081087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2535" name="Line 9"/>
          <p:cNvSpPr>
            <a:spLocks noChangeShapeType="1"/>
          </p:cNvSpPr>
          <p:nvPr/>
        </p:nvSpPr>
        <p:spPr bwMode="auto">
          <a:xfrm>
            <a:off x="6807201" y="4943475"/>
            <a:ext cx="1008063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2536" name="Text Box 124"/>
          <p:cNvSpPr txBox="1">
            <a:spLocks noChangeArrowheads="1"/>
          </p:cNvSpPr>
          <p:nvPr/>
        </p:nvSpPr>
        <p:spPr bwMode="auto">
          <a:xfrm>
            <a:off x="2316163" y="3938588"/>
            <a:ext cx="1771650" cy="646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1</a:t>
            </a:r>
          </a:p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192.168.1.0/24</a:t>
            </a:r>
          </a:p>
        </p:txBody>
      </p:sp>
      <p:sp>
        <p:nvSpPr>
          <p:cNvPr id="22537" name="Text Box 125"/>
          <p:cNvSpPr txBox="1">
            <a:spLocks noChangeArrowheads="1"/>
          </p:cNvSpPr>
          <p:nvPr/>
        </p:nvSpPr>
        <p:spPr bwMode="auto">
          <a:xfrm>
            <a:off x="8031164" y="4168776"/>
            <a:ext cx="1958975" cy="64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2</a:t>
            </a:r>
          </a:p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192.168.2.0/24</a:t>
            </a:r>
          </a:p>
        </p:txBody>
      </p:sp>
      <p:sp>
        <p:nvSpPr>
          <p:cNvPr id="22538" name="Line 128"/>
          <p:cNvSpPr>
            <a:spLocks noChangeShapeType="1"/>
          </p:cNvSpPr>
          <p:nvPr/>
        </p:nvSpPr>
        <p:spPr bwMode="auto">
          <a:xfrm flipV="1">
            <a:off x="4359275" y="5014913"/>
            <a:ext cx="1079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2539" name="Text Box 186"/>
          <p:cNvSpPr txBox="1">
            <a:spLocks noChangeArrowheads="1"/>
          </p:cNvSpPr>
          <p:nvPr/>
        </p:nvSpPr>
        <p:spPr bwMode="auto">
          <a:xfrm>
            <a:off x="1970088" y="4778376"/>
            <a:ext cx="1917700" cy="64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3</a:t>
            </a:r>
          </a:p>
          <a:p>
            <a:pPr algn="ctr"/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192.168.3.0/24</a:t>
            </a:r>
          </a:p>
        </p:txBody>
      </p:sp>
      <p:sp>
        <p:nvSpPr>
          <p:cNvPr id="22540" name="Text Box 188"/>
          <p:cNvSpPr txBox="1">
            <a:spLocks noChangeArrowheads="1"/>
          </p:cNvSpPr>
          <p:nvPr/>
        </p:nvSpPr>
        <p:spPr bwMode="auto">
          <a:xfrm>
            <a:off x="7191376" y="3025776"/>
            <a:ext cx="9128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SW-3L</a:t>
            </a:r>
          </a:p>
        </p:txBody>
      </p:sp>
      <p:sp>
        <p:nvSpPr>
          <p:cNvPr id="22541" name="Text Box 189"/>
          <p:cNvSpPr txBox="1">
            <a:spLocks noChangeArrowheads="1"/>
          </p:cNvSpPr>
          <p:nvPr/>
        </p:nvSpPr>
        <p:spPr bwMode="auto">
          <a:xfrm>
            <a:off x="4946651" y="4156076"/>
            <a:ext cx="13684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f0/1-10</a:t>
            </a:r>
          </a:p>
        </p:txBody>
      </p:sp>
      <p:sp>
        <p:nvSpPr>
          <p:cNvPr id="22542" name="Text Box 190"/>
          <p:cNvSpPr txBox="1">
            <a:spLocks noChangeArrowheads="1"/>
          </p:cNvSpPr>
          <p:nvPr/>
        </p:nvSpPr>
        <p:spPr bwMode="auto">
          <a:xfrm>
            <a:off x="6591301" y="4960938"/>
            <a:ext cx="1368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f0/11-15</a:t>
            </a:r>
          </a:p>
        </p:txBody>
      </p:sp>
      <p:sp>
        <p:nvSpPr>
          <p:cNvPr id="22543" name="Text Box 191"/>
          <p:cNvSpPr txBox="1">
            <a:spLocks noChangeArrowheads="1"/>
          </p:cNvSpPr>
          <p:nvPr/>
        </p:nvSpPr>
        <p:spPr bwMode="auto">
          <a:xfrm>
            <a:off x="4598989" y="4997451"/>
            <a:ext cx="13684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f0/16-23</a:t>
            </a:r>
          </a:p>
        </p:txBody>
      </p:sp>
      <p:sp>
        <p:nvSpPr>
          <p:cNvPr id="22544" name="Text Box 192"/>
          <p:cNvSpPr txBox="1">
            <a:spLocks noChangeArrowheads="1"/>
          </p:cNvSpPr>
          <p:nvPr/>
        </p:nvSpPr>
        <p:spPr bwMode="auto">
          <a:xfrm>
            <a:off x="6642101" y="4127501"/>
            <a:ext cx="9255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f0/24</a:t>
            </a:r>
          </a:p>
        </p:txBody>
      </p:sp>
      <p:sp>
        <p:nvSpPr>
          <p:cNvPr id="22545" name="Text Box 193"/>
          <p:cNvSpPr txBox="1">
            <a:spLocks noChangeArrowheads="1"/>
          </p:cNvSpPr>
          <p:nvPr/>
        </p:nvSpPr>
        <p:spPr bwMode="auto">
          <a:xfrm>
            <a:off x="5975350" y="3611563"/>
            <a:ext cx="7175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f0/24</a:t>
            </a:r>
          </a:p>
        </p:txBody>
      </p:sp>
      <p:sp>
        <p:nvSpPr>
          <p:cNvPr id="60" name="Line 194"/>
          <p:cNvSpPr>
            <a:spLocks noChangeShapeType="1"/>
          </p:cNvSpPr>
          <p:nvPr/>
        </p:nvSpPr>
        <p:spPr bwMode="auto">
          <a:xfrm>
            <a:off x="6643688" y="3732213"/>
            <a:ext cx="0" cy="792162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anchor="b"/>
          <a:lstStyle/>
          <a:p>
            <a:pPr>
              <a:defRPr/>
            </a:pPr>
            <a:endParaRPr lang="zh-CN" altLang="en-US" b="1">
              <a:solidFill>
                <a:schemeClr val="tx2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pic>
        <p:nvPicPr>
          <p:cNvPr id="2254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38775" y="4438650"/>
            <a:ext cx="16573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48" name="Text Box 196"/>
          <p:cNvSpPr txBox="1">
            <a:spLocks noChangeArrowheads="1"/>
          </p:cNvSpPr>
          <p:nvPr/>
        </p:nvSpPr>
        <p:spPr bwMode="auto">
          <a:xfrm>
            <a:off x="7337425" y="5251451"/>
            <a:ext cx="19446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192.168.2.156</a:t>
            </a:r>
          </a:p>
        </p:txBody>
      </p:sp>
      <p:sp>
        <p:nvSpPr>
          <p:cNvPr id="22549" name="Text Box 197"/>
          <p:cNvSpPr txBox="1">
            <a:spLocks noChangeArrowheads="1"/>
          </p:cNvSpPr>
          <p:nvPr/>
        </p:nvSpPr>
        <p:spPr bwMode="auto">
          <a:xfrm>
            <a:off x="3138489" y="5326063"/>
            <a:ext cx="19446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192.168.3.156</a:t>
            </a:r>
          </a:p>
        </p:txBody>
      </p:sp>
      <p:sp>
        <p:nvSpPr>
          <p:cNvPr id="22550" name="Text Box 198"/>
          <p:cNvSpPr txBox="1">
            <a:spLocks noChangeArrowheads="1"/>
          </p:cNvSpPr>
          <p:nvPr/>
        </p:nvSpPr>
        <p:spPr bwMode="auto">
          <a:xfrm>
            <a:off x="3279775" y="2660650"/>
            <a:ext cx="2700338" cy="915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1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192.168.1.1/24</a:t>
            </a:r>
            <a:b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2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192.168.2.1/24</a:t>
            </a:r>
            <a:b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Vlan 3</a:t>
            </a:r>
            <a:r>
              <a:rPr lang="zh-CN" altLang="en-US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192.168.3.1/24</a:t>
            </a:r>
            <a:endParaRPr lang="zh-CN" altLang="en-US" b="1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2551" name="Text Box 187"/>
          <p:cNvSpPr txBox="1">
            <a:spLocks noChangeArrowheads="1"/>
          </p:cNvSpPr>
          <p:nvPr/>
        </p:nvSpPr>
        <p:spPr bwMode="auto">
          <a:xfrm>
            <a:off x="5645150" y="4729163"/>
            <a:ext cx="99853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SW-2L</a:t>
            </a:r>
          </a:p>
        </p:txBody>
      </p:sp>
      <p:pic>
        <p:nvPicPr>
          <p:cNvPr id="22552" name="图片 11" descr="asd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66039" y="4668838"/>
            <a:ext cx="693737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53" name="图片 11" descr="asd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86175" y="4741863"/>
            <a:ext cx="693738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54" name="图片 11" descr="asd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78275" y="4084638"/>
            <a:ext cx="693738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55" name="Text Box 197"/>
          <p:cNvSpPr txBox="1">
            <a:spLocks noChangeArrowheads="1"/>
          </p:cNvSpPr>
          <p:nvPr/>
        </p:nvSpPr>
        <p:spPr bwMode="auto">
          <a:xfrm>
            <a:off x="3603625" y="3794126"/>
            <a:ext cx="19446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66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192.168.1.156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</a:t>
            </a:r>
            <a:r>
              <a:rPr lang="en-US" altLang="zh-CN"/>
              <a:t>2</a:t>
            </a:r>
            <a:r>
              <a:rPr lang="zh-CN" altLang="en-US"/>
              <a:t>层交换机上配置</a:t>
            </a:r>
            <a:r>
              <a:rPr lang="en-US" altLang="zh-CN"/>
              <a:t>VLAN</a:t>
            </a:r>
            <a:r>
              <a:rPr lang="zh-CN" altLang="en-US"/>
              <a:t>、</a:t>
            </a:r>
            <a:r>
              <a:rPr lang="en-US" altLang="zh-CN"/>
              <a:t>Trunk</a:t>
            </a:r>
          </a:p>
        </p:txBody>
      </p:sp>
      <p:sp>
        <p:nvSpPr>
          <p:cNvPr id="2355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三层交换机实现</a:t>
            </a:r>
            <a:r>
              <a:rPr lang="en-US" altLang="zh-CN"/>
              <a:t>VLAN</a:t>
            </a:r>
            <a:r>
              <a:rPr lang="zh-CN" altLang="en-US"/>
              <a:t>互通</a:t>
            </a:r>
            <a:r>
              <a:rPr lang="en-US" altLang="zh-CN"/>
              <a:t>3-2</a:t>
            </a:r>
            <a:endParaRPr lang="zh-CN" altLang="en-US"/>
          </a:p>
        </p:txBody>
      </p:sp>
      <p:grpSp>
        <p:nvGrpSpPr>
          <p:cNvPr id="3" name="组合 7"/>
          <p:cNvGrpSpPr>
            <a:grpSpLocks/>
          </p:cNvGrpSpPr>
          <p:nvPr/>
        </p:nvGrpSpPr>
        <p:grpSpPr bwMode="auto">
          <a:xfrm>
            <a:off x="2109788" y="1728789"/>
            <a:ext cx="7848600" cy="4129087"/>
            <a:chOff x="585788" y="1656698"/>
            <a:chExt cx="7848600" cy="4129753"/>
          </a:xfrm>
        </p:grpSpPr>
        <p:sp>
          <p:nvSpPr>
            <p:cNvPr id="23566" name="AutoShape 16"/>
            <p:cNvSpPr>
              <a:spLocks noChangeArrowheads="1"/>
            </p:cNvSpPr>
            <p:nvPr/>
          </p:nvSpPr>
          <p:spPr bwMode="auto">
            <a:xfrm>
              <a:off x="585788" y="1656698"/>
              <a:ext cx="7848600" cy="3887218"/>
            </a:xfrm>
            <a:prstGeom prst="roundRect">
              <a:avLst>
                <a:gd name="adj" fmla="val 1269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SW-2L(config)#vlan 2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SW-2L(config-vlan)#exit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SW-2L(config)#vlan 3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SW-2L(config-vlan)#exit</a:t>
              </a:r>
            </a:p>
            <a:p>
              <a:pPr marL="95250" lvl="1">
                <a:lnSpc>
                  <a:spcPct val="90000"/>
                </a:lnSpc>
              </a:pPr>
              <a:endParaRPr lang="zh-CN" altLang="en-US" b="1">
                <a:solidFill>
                  <a:schemeClr val="tx2"/>
                </a:solidFill>
              </a:endParaRP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SW-2L(config)#interface range f0/11 - 15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SW-2L(config-if-range)#switchport access vlan 2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SW-2L(config-if-range)#switchport mode access</a:t>
              </a:r>
            </a:p>
            <a:p>
              <a:pPr marL="95250" lvl="1">
                <a:lnSpc>
                  <a:spcPct val="90000"/>
                </a:lnSpc>
              </a:pPr>
              <a:endParaRPr lang="zh-CN" altLang="en-US" b="1">
                <a:solidFill>
                  <a:schemeClr val="tx2"/>
                </a:solidFill>
              </a:endParaRP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SW-2L(config)#interface range f0/16 - 23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SW-2L(config-if-range)#switchport access vlan 3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SW-2L(config-if-range)#switchport mode access</a:t>
              </a:r>
            </a:p>
            <a:p>
              <a:pPr marL="95250" lvl="1">
                <a:lnSpc>
                  <a:spcPct val="90000"/>
                </a:lnSpc>
              </a:pPr>
              <a:endParaRPr lang="en-US" altLang="zh-CN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SW-2L(config)#interface f0/24</a:t>
              </a:r>
            </a:p>
            <a:p>
              <a:pPr marL="95250" lvl="1"/>
              <a:r>
                <a:rPr lang="en-US" altLang="zh-CN" b="1">
                  <a:solidFill>
                    <a:schemeClr val="tx2"/>
                  </a:solidFill>
                </a:rPr>
                <a:t>SW-2L(config-if)#switchport mode trunk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3567" name="AutoShape 19"/>
            <p:cNvSpPr>
              <a:spLocks noChangeArrowheads="1"/>
            </p:cNvSpPr>
            <p:nvPr/>
          </p:nvSpPr>
          <p:spPr bwMode="auto">
            <a:xfrm>
              <a:off x="5500694" y="5357826"/>
              <a:ext cx="1428760" cy="428625"/>
            </a:xfrm>
            <a:prstGeom prst="wedgeRoundRectCallout">
              <a:avLst>
                <a:gd name="adj1" fmla="val -71236"/>
                <a:gd name="adj2" fmla="val -5346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配置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Trunk</a:t>
              </a:r>
              <a:endPara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568" name="AutoShape 19"/>
            <p:cNvSpPr>
              <a:spLocks noChangeArrowheads="1"/>
            </p:cNvSpPr>
            <p:nvPr/>
          </p:nvSpPr>
          <p:spPr bwMode="auto">
            <a:xfrm>
              <a:off x="6357950" y="3643314"/>
              <a:ext cx="1428760" cy="642942"/>
            </a:xfrm>
            <a:prstGeom prst="wedgeRoundRectCallout">
              <a:avLst>
                <a:gd name="adj1" fmla="val -71236"/>
                <a:gd name="adj2" fmla="val -5346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将端口加入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VLAN</a:t>
              </a:r>
              <a:endPara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569" name="AutoShape 19"/>
            <p:cNvSpPr>
              <a:spLocks noChangeArrowheads="1"/>
            </p:cNvSpPr>
            <p:nvPr/>
          </p:nvSpPr>
          <p:spPr bwMode="auto">
            <a:xfrm>
              <a:off x="3786182" y="2143116"/>
              <a:ext cx="1357322" cy="428628"/>
            </a:xfrm>
            <a:prstGeom prst="wedgeRoundRectCallout">
              <a:avLst>
                <a:gd name="adj1" fmla="val -71236"/>
                <a:gd name="adj2" fmla="val -5346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添加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VLAN</a:t>
              </a:r>
              <a:endPara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9" name="内容占位符 1"/>
          <p:cNvSpPr txBox="1">
            <a:spLocks/>
          </p:cNvSpPr>
          <p:nvPr/>
        </p:nvSpPr>
        <p:spPr bwMode="auto">
          <a:xfrm>
            <a:off x="1738313" y="1143000"/>
            <a:ext cx="850106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2800" b="1" kern="0" dirty="0">
                <a:solidFill>
                  <a:schemeClr val="tx2"/>
                </a:solidFill>
              </a:rPr>
              <a:t>配置</a:t>
            </a:r>
            <a:r>
              <a:rPr lang="en-US" altLang="zh-CN" sz="2800" b="1" kern="0" dirty="0">
                <a:solidFill>
                  <a:schemeClr val="tx2"/>
                </a:solidFill>
              </a:rPr>
              <a:t>3</a:t>
            </a:r>
            <a:r>
              <a:rPr lang="zh-CN" altLang="en-US" sz="2800" b="1" kern="0" dirty="0">
                <a:solidFill>
                  <a:schemeClr val="tx2"/>
                </a:solidFill>
              </a:rPr>
              <a:t>层交换机</a:t>
            </a:r>
            <a:endParaRPr lang="en-US" altLang="zh-CN" sz="2800" b="1" kern="0" dirty="0">
              <a:solidFill>
                <a:schemeClr val="tx2"/>
              </a:solidFill>
            </a:endParaRPr>
          </a:p>
        </p:txBody>
      </p: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2095500" y="1714501"/>
            <a:ext cx="7848600" cy="2500313"/>
            <a:chOff x="571472" y="1714488"/>
            <a:chExt cx="7848600" cy="2500327"/>
          </a:xfrm>
        </p:grpSpPr>
        <p:sp>
          <p:nvSpPr>
            <p:cNvPr id="23563" name="AutoShape 16"/>
            <p:cNvSpPr>
              <a:spLocks noChangeArrowheads="1"/>
            </p:cNvSpPr>
            <p:nvPr/>
          </p:nvSpPr>
          <p:spPr bwMode="auto">
            <a:xfrm>
              <a:off x="571472" y="1714488"/>
              <a:ext cx="7848600" cy="2197525"/>
            </a:xfrm>
            <a:prstGeom prst="roundRect">
              <a:avLst>
                <a:gd name="adj" fmla="val 1269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SW-3L(config)#vlan 2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SW-3L(config-vlan)#exit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SW-3L(config)#vlan 3</a:t>
              </a:r>
            </a:p>
            <a:p>
              <a:pPr marL="95250" lvl="1">
                <a:lnSpc>
                  <a:spcPct val="90000"/>
                </a:lnSpc>
              </a:pPr>
              <a:r>
                <a:rPr lang="en-US" altLang="zh-CN" b="1">
                  <a:solidFill>
                    <a:schemeClr val="tx2"/>
                  </a:solidFill>
                </a:rPr>
                <a:t>SW-3L(config-vlan)#exit</a:t>
              </a:r>
            </a:p>
            <a:p>
              <a:pPr marL="95250" lvl="1"/>
              <a:endParaRPr lang="en-US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SW-3L(config)#interface fastEthernet 0/24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SW-3L(config-if)#switchport trunk encapsulation dot1q 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SW-3L(config-if)#switchport mode trunk </a:t>
              </a:r>
            </a:p>
          </p:txBody>
        </p:sp>
        <p:sp>
          <p:nvSpPr>
            <p:cNvPr id="23564" name="AutoShape 19"/>
            <p:cNvSpPr>
              <a:spLocks noChangeArrowheads="1"/>
            </p:cNvSpPr>
            <p:nvPr/>
          </p:nvSpPr>
          <p:spPr bwMode="auto">
            <a:xfrm>
              <a:off x="3428992" y="2357430"/>
              <a:ext cx="1285884" cy="428625"/>
            </a:xfrm>
            <a:prstGeom prst="wedgeRoundRectCallout">
              <a:avLst>
                <a:gd name="adj1" fmla="val -50435"/>
                <a:gd name="adj2" fmla="val -91676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添加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VLAN</a:t>
              </a:r>
              <a:endPara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565" name="AutoShape 19"/>
            <p:cNvSpPr>
              <a:spLocks noChangeArrowheads="1"/>
            </p:cNvSpPr>
            <p:nvPr/>
          </p:nvSpPr>
          <p:spPr bwMode="auto">
            <a:xfrm>
              <a:off x="6500826" y="3786190"/>
              <a:ext cx="1428760" cy="428625"/>
            </a:xfrm>
            <a:prstGeom prst="wedgeRoundRectCallout">
              <a:avLst>
                <a:gd name="adj1" fmla="val -50435"/>
                <a:gd name="adj2" fmla="val -91676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配置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Trunk</a:t>
              </a:r>
              <a:endPara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" name="组合 16"/>
          <p:cNvGrpSpPr>
            <a:grpSpLocks/>
          </p:cNvGrpSpPr>
          <p:nvPr/>
        </p:nvGrpSpPr>
        <p:grpSpPr bwMode="auto">
          <a:xfrm>
            <a:off x="2109788" y="1285876"/>
            <a:ext cx="7848600" cy="4106863"/>
            <a:chOff x="585788" y="1285860"/>
            <a:chExt cx="7848600" cy="4106979"/>
          </a:xfrm>
        </p:grpSpPr>
        <p:sp>
          <p:nvSpPr>
            <p:cNvPr id="23560" name="AutoShape 16"/>
            <p:cNvSpPr>
              <a:spLocks noChangeArrowheads="1"/>
            </p:cNvSpPr>
            <p:nvPr/>
          </p:nvSpPr>
          <p:spPr bwMode="auto">
            <a:xfrm>
              <a:off x="585788" y="1699520"/>
              <a:ext cx="7848600" cy="3693319"/>
            </a:xfrm>
            <a:prstGeom prst="roundRect">
              <a:avLst>
                <a:gd name="adj" fmla="val 1269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SW-3L(config)#ip routing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endParaRPr lang="en-US" altLang="zh-CN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SW-3L(config)#interface vlan 1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SW-3L(config-if)#ip address 192.168.1.1 255.255.255.0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SW-3L(config-if)#no shut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 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SW-3L(config)#interface vlan 2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SW-3L(config-if)#ip address 192.168.2.1 255.255.255.0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SW-3L(config-if)#no shut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 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SW-3L(config)#interface vlan 3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SW-3L(config-if)#ip address 192.168.3.1 255.255.255.0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SW-3L(config-if)#no shut</a:t>
              </a:r>
              <a:endParaRPr lang="zh-CN" altLang="en-US" b="1">
                <a:solidFill>
                  <a:schemeClr val="tx2"/>
                </a:solidFill>
              </a:endParaRPr>
            </a:p>
          </p:txBody>
        </p:sp>
        <p:sp>
          <p:nvSpPr>
            <p:cNvPr id="23561" name="AutoShape 19"/>
            <p:cNvSpPr>
              <a:spLocks noChangeArrowheads="1"/>
            </p:cNvSpPr>
            <p:nvPr/>
          </p:nvSpPr>
          <p:spPr bwMode="auto">
            <a:xfrm>
              <a:off x="3500430" y="1285860"/>
              <a:ext cx="1785950" cy="428625"/>
            </a:xfrm>
            <a:prstGeom prst="wedgeRoundRectCallout">
              <a:avLst>
                <a:gd name="adj1" fmla="val -47250"/>
                <a:gd name="adj2" fmla="val 83449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启动路由功能</a:t>
              </a:r>
            </a:p>
          </p:txBody>
        </p:sp>
        <p:sp>
          <p:nvSpPr>
            <p:cNvPr id="23562" name="AutoShape 19"/>
            <p:cNvSpPr>
              <a:spLocks noChangeArrowheads="1"/>
            </p:cNvSpPr>
            <p:nvPr/>
          </p:nvSpPr>
          <p:spPr bwMode="auto">
            <a:xfrm>
              <a:off x="5572132" y="3071810"/>
              <a:ext cx="2286016" cy="428625"/>
            </a:xfrm>
            <a:prstGeom prst="wedgeRoundRectCallout">
              <a:avLst>
                <a:gd name="adj1" fmla="val -41134"/>
                <a:gd name="adj2" fmla="val -91676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配置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VLAN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IP</a:t>
              </a:r>
              <a:r>
                <a:rPr lang="zh-CN" altLang="en-US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地址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在三层交换机上查看路由表</a:t>
            </a:r>
          </a:p>
        </p:txBody>
      </p:sp>
      <p:sp>
        <p:nvSpPr>
          <p:cNvPr id="2457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三层交换机实现</a:t>
            </a:r>
            <a:r>
              <a:rPr lang="en-US" altLang="zh-CN"/>
              <a:t>VLAN</a:t>
            </a:r>
            <a:r>
              <a:rPr lang="zh-CN" altLang="en-US"/>
              <a:t>互通</a:t>
            </a:r>
            <a:r>
              <a:rPr lang="en-US" altLang="zh-CN"/>
              <a:t>3-3</a:t>
            </a:r>
            <a:endParaRPr lang="zh-CN" altLang="en-US"/>
          </a:p>
        </p:txBody>
      </p:sp>
      <p:sp>
        <p:nvSpPr>
          <p:cNvPr id="24580" name="AutoShape 16"/>
          <p:cNvSpPr>
            <a:spLocks noChangeArrowheads="1"/>
          </p:cNvSpPr>
          <p:nvPr/>
        </p:nvSpPr>
        <p:spPr bwMode="auto">
          <a:xfrm>
            <a:off x="2109788" y="1700214"/>
            <a:ext cx="7848600" cy="4154487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SW-3L#show ip route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Codes: C - connected, S - static, R - RIP, M - mobile, B - BGP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D - EIGRP, EX - EIGRP external, O - OSPF, IA - OSPF inter area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N1 - OSPF NSSA external type 1, N2 - OSPF NSSA external type 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E1 - OSPF external type 1, E2 - OSPF external type 2, E - EGP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i - IS-IS, su - IS-IS summary, L1 - IS-IS level-1, L2 - IS-IS level-2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ia - IS-IS inter area, * - candidate default, U - per-user static route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       o - ODR, P - periodic downloaded static route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 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Gateway of last resort is not set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 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C    192.168.1.0/24 is directly connected, Vlan1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C    192.168.2.0/24 is directly connected, Vlan2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C    192.168.3.0/24 is directly connected, Vlan3</a:t>
            </a:r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3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需求描述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/>
              <a:t>配置路由实现内网访问路由器及其外网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在三层交换机上配置路由</a:t>
            </a:r>
            <a:r>
              <a:rPr lang="en-US" altLang="zh-CN"/>
              <a:t>2-1</a:t>
            </a:r>
            <a:endParaRPr lang="zh-CN" altLang="zh-CN"/>
          </a:p>
        </p:txBody>
      </p:sp>
      <p:grpSp>
        <p:nvGrpSpPr>
          <p:cNvPr id="2" name="组合 42"/>
          <p:cNvGrpSpPr>
            <a:grpSpLocks/>
          </p:cNvGrpSpPr>
          <p:nvPr/>
        </p:nvGrpSpPr>
        <p:grpSpPr bwMode="auto">
          <a:xfrm>
            <a:off x="1930400" y="2214563"/>
            <a:ext cx="8166100" cy="3651250"/>
            <a:chOff x="406428" y="2214554"/>
            <a:chExt cx="8166100" cy="3651250"/>
          </a:xfrm>
        </p:grpSpPr>
        <p:sp>
          <p:nvSpPr>
            <p:cNvPr id="41" name="Line 7"/>
            <p:cNvSpPr>
              <a:spLocks noChangeShapeType="1"/>
            </p:cNvSpPr>
            <p:nvPr/>
          </p:nvSpPr>
          <p:spPr bwMode="auto">
            <a:xfrm>
              <a:off x="5080028" y="3811579"/>
              <a:ext cx="0" cy="792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anchor="b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42" name="Line 194"/>
            <p:cNvSpPr>
              <a:spLocks noChangeShapeType="1"/>
            </p:cNvSpPr>
            <p:nvPr/>
          </p:nvSpPr>
          <p:spPr bwMode="auto">
            <a:xfrm>
              <a:off x="5080028" y="3921116"/>
              <a:ext cx="0" cy="79216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"/>
              <a:round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anchor="b"/>
            <a:lstStyle/>
            <a:p>
              <a:pPr>
                <a:defRPr/>
              </a:pP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endParaRPr>
            </a:p>
          </p:txBody>
        </p:sp>
        <p:pic>
          <p:nvPicPr>
            <p:cNvPr id="25607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24403" y="2740016"/>
              <a:ext cx="1120775" cy="1079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 flipH="1">
              <a:off x="3082953" y="4683116"/>
              <a:ext cx="108108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5243540" y="5116504"/>
              <a:ext cx="10080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5610" name="Text Box 124"/>
            <p:cNvSpPr txBox="1">
              <a:spLocks noChangeArrowheads="1"/>
            </p:cNvSpPr>
            <p:nvPr/>
          </p:nvSpPr>
          <p:spPr bwMode="auto">
            <a:xfrm>
              <a:off x="752503" y="4111616"/>
              <a:ext cx="1771650" cy="6461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1</a:t>
              </a:r>
            </a:p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192.168.1.0/24</a:t>
              </a:r>
            </a:p>
          </p:txBody>
        </p:sp>
        <p:sp>
          <p:nvSpPr>
            <p:cNvPr id="25611" name="Text Box 125"/>
            <p:cNvSpPr txBox="1">
              <a:spLocks noChangeArrowheads="1"/>
            </p:cNvSpPr>
            <p:nvPr/>
          </p:nvSpPr>
          <p:spPr bwMode="auto">
            <a:xfrm>
              <a:off x="6467503" y="4341804"/>
              <a:ext cx="1958975" cy="6461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2</a:t>
              </a:r>
            </a:p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192.168.2.0/24</a:t>
              </a:r>
            </a:p>
          </p:txBody>
        </p:sp>
        <p:sp>
          <p:nvSpPr>
            <p:cNvPr id="25612" name="Line 128"/>
            <p:cNvSpPr>
              <a:spLocks noChangeShapeType="1"/>
            </p:cNvSpPr>
            <p:nvPr/>
          </p:nvSpPr>
          <p:spPr bwMode="auto">
            <a:xfrm flipV="1">
              <a:off x="2795615" y="5187941"/>
              <a:ext cx="10795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5613" name="Text Box 186"/>
            <p:cNvSpPr txBox="1">
              <a:spLocks noChangeArrowheads="1"/>
            </p:cNvSpPr>
            <p:nvPr/>
          </p:nvSpPr>
          <p:spPr bwMode="auto">
            <a:xfrm>
              <a:off x="406428" y="4951404"/>
              <a:ext cx="1917700" cy="6461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3</a:t>
              </a:r>
            </a:p>
            <a:p>
              <a:pPr algn="ctr"/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192.168.3.0/24</a:t>
              </a:r>
            </a:p>
          </p:txBody>
        </p:sp>
        <p:sp>
          <p:nvSpPr>
            <p:cNvPr id="25614" name="Text Box 188"/>
            <p:cNvSpPr txBox="1">
              <a:spLocks noChangeArrowheads="1"/>
            </p:cNvSpPr>
            <p:nvPr/>
          </p:nvSpPr>
          <p:spPr bwMode="auto">
            <a:xfrm>
              <a:off x="5043515" y="3748079"/>
              <a:ext cx="912813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66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SW-3L</a:t>
              </a:r>
            </a:p>
          </p:txBody>
        </p:sp>
        <p:sp>
          <p:nvSpPr>
            <p:cNvPr id="25615" name="Text Box 189"/>
            <p:cNvSpPr txBox="1">
              <a:spLocks noChangeArrowheads="1"/>
            </p:cNvSpPr>
            <p:nvPr/>
          </p:nvSpPr>
          <p:spPr bwMode="auto">
            <a:xfrm>
              <a:off x="3382990" y="4329104"/>
              <a:ext cx="1368425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f0/1-10</a:t>
              </a:r>
            </a:p>
          </p:txBody>
        </p:sp>
        <p:sp>
          <p:nvSpPr>
            <p:cNvPr id="25616" name="Text Box 190"/>
            <p:cNvSpPr txBox="1">
              <a:spLocks noChangeArrowheads="1"/>
            </p:cNvSpPr>
            <p:nvPr/>
          </p:nvSpPr>
          <p:spPr bwMode="auto">
            <a:xfrm>
              <a:off x="5027640" y="5133966"/>
              <a:ext cx="1368425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f0/11-15</a:t>
              </a:r>
            </a:p>
          </p:txBody>
        </p:sp>
        <p:sp>
          <p:nvSpPr>
            <p:cNvPr id="25617" name="Text Box 191"/>
            <p:cNvSpPr txBox="1">
              <a:spLocks noChangeArrowheads="1"/>
            </p:cNvSpPr>
            <p:nvPr/>
          </p:nvSpPr>
          <p:spPr bwMode="auto">
            <a:xfrm>
              <a:off x="3035328" y="5170479"/>
              <a:ext cx="1368425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f0/16-22</a:t>
              </a:r>
            </a:p>
          </p:txBody>
        </p:sp>
        <p:sp>
          <p:nvSpPr>
            <p:cNvPr id="25618" name="Text Box 192"/>
            <p:cNvSpPr txBox="1">
              <a:spLocks noChangeArrowheads="1"/>
            </p:cNvSpPr>
            <p:nvPr/>
          </p:nvSpPr>
          <p:spPr bwMode="auto">
            <a:xfrm>
              <a:off x="5078440" y="4300529"/>
              <a:ext cx="925513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f0/24</a:t>
              </a:r>
            </a:p>
          </p:txBody>
        </p:sp>
        <p:sp>
          <p:nvSpPr>
            <p:cNvPr id="25619" name="Text Box 193"/>
            <p:cNvSpPr txBox="1">
              <a:spLocks noChangeArrowheads="1"/>
            </p:cNvSpPr>
            <p:nvPr/>
          </p:nvSpPr>
          <p:spPr bwMode="auto">
            <a:xfrm>
              <a:off x="4411690" y="3784591"/>
              <a:ext cx="717550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f0/24</a:t>
              </a:r>
            </a:p>
          </p:txBody>
        </p:sp>
        <p:pic>
          <p:nvPicPr>
            <p:cNvPr id="25620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75115" y="4611679"/>
              <a:ext cx="1657350" cy="64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21" name="Text Box 196"/>
            <p:cNvSpPr txBox="1">
              <a:spLocks noChangeArrowheads="1"/>
            </p:cNvSpPr>
            <p:nvPr/>
          </p:nvSpPr>
          <p:spPr bwMode="auto">
            <a:xfrm>
              <a:off x="5773765" y="5424479"/>
              <a:ext cx="1944688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66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192.168.2.156</a:t>
              </a:r>
            </a:p>
          </p:txBody>
        </p:sp>
        <p:sp>
          <p:nvSpPr>
            <p:cNvPr id="25622" name="Text Box 197"/>
            <p:cNvSpPr txBox="1">
              <a:spLocks noChangeArrowheads="1"/>
            </p:cNvSpPr>
            <p:nvPr/>
          </p:nvSpPr>
          <p:spPr bwMode="auto">
            <a:xfrm>
              <a:off x="1574828" y="5499091"/>
              <a:ext cx="1944687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66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192.168.3.156</a:t>
              </a:r>
            </a:p>
          </p:txBody>
        </p:sp>
        <p:sp>
          <p:nvSpPr>
            <p:cNvPr id="25623" name="Text Box 198"/>
            <p:cNvSpPr txBox="1">
              <a:spLocks noChangeArrowheads="1"/>
            </p:cNvSpPr>
            <p:nvPr/>
          </p:nvSpPr>
          <p:spPr bwMode="auto">
            <a:xfrm>
              <a:off x="1716115" y="2833679"/>
              <a:ext cx="2700338" cy="9159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1</a:t>
              </a: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：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192.168.1.1/24</a:t>
              </a:r>
              <a:b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</a:b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2</a:t>
              </a: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：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192.168.2.1/24</a:t>
              </a:r>
              <a:b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</a:b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Vlan 3</a:t>
              </a:r>
              <a:r>
                <a:rPr lang="zh-CN" altLang="en-US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：</a:t>
              </a:r>
              <a:r>
                <a:rPr lang="en-US" altLang="zh-CN" b="1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192.168.3.1/24</a:t>
              </a:r>
              <a:endParaRPr lang="zh-CN" altLang="en-US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5624" name="Text Box 187"/>
            <p:cNvSpPr txBox="1">
              <a:spLocks noChangeArrowheads="1"/>
            </p:cNvSpPr>
            <p:nvPr/>
          </p:nvSpPr>
          <p:spPr bwMode="auto">
            <a:xfrm>
              <a:off x="4081490" y="4902191"/>
              <a:ext cx="998538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SW-2L</a:t>
              </a:r>
            </a:p>
          </p:txBody>
        </p:sp>
        <p:pic>
          <p:nvPicPr>
            <p:cNvPr id="25625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102378" y="4841866"/>
              <a:ext cx="693737" cy="66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26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122515" y="4914891"/>
              <a:ext cx="693738" cy="66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27" name="图片 11" descr="asdf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414615" y="4257666"/>
              <a:ext cx="693738" cy="66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28" name="Line 449"/>
            <p:cNvSpPr>
              <a:spLocks noChangeShapeType="1"/>
            </p:cNvSpPr>
            <p:nvPr/>
          </p:nvSpPr>
          <p:spPr bwMode="auto">
            <a:xfrm flipV="1">
              <a:off x="5627715" y="3273416"/>
              <a:ext cx="100806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anchor="b"/>
            <a:lstStyle/>
            <a:p>
              <a:endParaRPr lang="zh-CN" altLang="en-US"/>
            </a:p>
          </p:txBody>
        </p:sp>
        <p:pic>
          <p:nvPicPr>
            <p:cNvPr id="25629" name="Picture 450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650065" y="2955916"/>
              <a:ext cx="1008063" cy="64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组合 54"/>
            <p:cNvGrpSpPr>
              <a:grpSpLocks/>
            </p:cNvGrpSpPr>
            <p:nvPr/>
          </p:nvGrpSpPr>
          <p:grpSpPr bwMode="auto">
            <a:xfrm>
              <a:off x="7635903" y="2798754"/>
              <a:ext cx="936625" cy="504825"/>
              <a:chOff x="7980422" y="2276475"/>
              <a:chExt cx="936625" cy="504825"/>
            </a:xfrm>
          </p:grpSpPr>
          <p:sp>
            <p:nvSpPr>
              <p:cNvPr id="25637" name="Line 451"/>
              <p:cNvSpPr>
                <a:spLocks noChangeShapeType="1"/>
              </p:cNvSpPr>
              <p:nvPr/>
            </p:nvSpPr>
            <p:spPr bwMode="auto">
              <a:xfrm flipV="1">
                <a:off x="7980422" y="2565400"/>
                <a:ext cx="360362" cy="2159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25638" name="Line 452"/>
              <p:cNvSpPr>
                <a:spLocks noChangeShapeType="1"/>
              </p:cNvSpPr>
              <p:nvPr/>
            </p:nvSpPr>
            <p:spPr bwMode="auto">
              <a:xfrm flipH="1">
                <a:off x="8196322" y="2565400"/>
                <a:ext cx="144462" cy="21590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25639" name="Line 453"/>
              <p:cNvSpPr>
                <a:spLocks noChangeShapeType="1"/>
              </p:cNvSpPr>
              <p:nvPr/>
            </p:nvSpPr>
            <p:spPr bwMode="auto">
              <a:xfrm flipV="1">
                <a:off x="8196322" y="2276475"/>
                <a:ext cx="720725" cy="504825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</p:grpSp>
        <p:sp>
          <p:nvSpPr>
            <p:cNvPr id="25631" name="Text Box 455"/>
            <p:cNvSpPr txBox="1">
              <a:spLocks noChangeArrowheads="1"/>
            </p:cNvSpPr>
            <p:nvPr/>
          </p:nvSpPr>
          <p:spPr bwMode="auto">
            <a:xfrm>
              <a:off x="5591203" y="2214554"/>
              <a:ext cx="1727200" cy="6461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f0/23</a:t>
              </a:r>
              <a:br>
                <a:rPr lang="zh-CN" altLang="en-US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10.1.1.1/30</a:t>
              </a:r>
            </a:p>
          </p:txBody>
        </p:sp>
        <p:sp>
          <p:nvSpPr>
            <p:cNvPr id="25632" name="Text Box 456"/>
            <p:cNvSpPr txBox="1">
              <a:spLocks noChangeArrowheads="1"/>
            </p:cNvSpPr>
            <p:nvPr/>
          </p:nvSpPr>
          <p:spPr bwMode="auto">
            <a:xfrm>
              <a:off x="6127778" y="3529004"/>
              <a:ext cx="1727200" cy="6461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f0/0</a:t>
              </a:r>
              <a:br>
                <a:rPr lang="zh-CN" altLang="en-US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10.1.1.2/30</a:t>
              </a:r>
            </a:p>
          </p:txBody>
        </p:sp>
        <p:sp>
          <p:nvSpPr>
            <p:cNvPr id="25633" name="Line 458"/>
            <p:cNvSpPr>
              <a:spLocks noChangeShapeType="1"/>
            </p:cNvSpPr>
            <p:nvPr/>
          </p:nvSpPr>
          <p:spPr bwMode="auto">
            <a:xfrm flipH="1">
              <a:off x="5664228" y="2911466"/>
              <a:ext cx="144462" cy="28892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5634" name="Line 459"/>
            <p:cNvSpPr>
              <a:spLocks noChangeShapeType="1"/>
            </p:cNvSpPr>
            <p:nvPr/>
          </p:nvSpPr>
          <p:spPr bwMode="auto">
            <a:xfrm flipV="1">
              <a:off x="6430990" y="3346441"/>
              <a:ext cx="144463" cy="2174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anchor="b"/>
            <a:lstStyle/>
            <a:p>
              <a:endParaRPr lang="zh-CN" altLang="en-US"/>
            </a:p>
          </p:txBody>
        </p:sp>
        <p:sp>
          <p:nvSpPr>
            <p:cNvPr id="25635" name="Text Box 197"/>
            <p:cNvSpPr txBox="1">
              <a:spLocks noChangeArrowheads="1"/>
            </p:cNvSpPr>
            <p:nvPr/>
          </p:nvSpPr>
          <p:spPr bwMode="auto">
            <a:xfrm>
              <a:off x="2012978" y="3965566"/>
              <a:ext cx="1944687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66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192.168.1.156</a:t>
              </a:r>
            </a:p>
          </p:txBody>
        </p:sp>
        <p:sp>
          <p:nvSpPr>
            <p:cNvPr id="25636" name="Text Box 188"/>
            <p:cNvSpPr txBox="1">
              <a:spLocks noChangeArrowheads="1"/>
            </p:cNvSpPr>
            <p:nvPr/>
          </p:nvSpPr>
          <p:spPr bwMode="auto">
            <a:xfrm>
              <a:off x="7286644" y="3500438"/>
              <a:ext cx="912813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66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Router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000125"/>
          </a:xfrm>
        </p:spPr>
        <p:txBody>
          <a:bodyPr>
            <a:normAutofit fontScale="32500" lnSpcReduction="20000"/>
          </a:bodyPr>
          <a:lstStyle/>
          <a:p>
            <a:pPr>
              <a:spcBef>
                <a:spcPts val="675"/>
              </a:spcBef>
            </a:pPr>
            <a:r>
              <a:rPr lang="en-US" altLang="zh-CN"/>
              <a:t>VLAN</a:t>
            </a:r>
            <a:r>
              <a:rPr lang="zh-CN" altLang="en-US"/>
              <a:t>、</a:t>
            </a:r>
            <a:r>
              <a:rPr lang="en-US" altLang="zh-CN"/>
              <a:t>Trunk</a:t>
            </a:r>
            <a:r>
              <a:rPr lang="zh-CN" altLang="en-US"/>
              <a:t>配置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在三层交换机上配置路由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在路由器上配置接口和路由</a:t>
            </a:r>
          </a:p>
        </p:txBody>
      </p:sp>
      <p:sp>
        <p:nvSpPr>
          <p:cNvPr id="2662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在三层交换机上配置路由</a:t>
            </a:r>
            <a:r>
              <a:rPr lang="en-US" altLang="zh-CN"/>
              <a:t>2-2</a:t>
            </a:r>
            <a:endParaRPr lang="zh-CN" altLang="en-US"/>
          </a:p>
        </p:txBody>
      </p:sp>
      <p:sp>
        <p:nvSpPr>
          <p:cNvPr id="4" name="AutoShape 16"/>
          <p:cNvSpPr>
            <a:spLocks noChangeArrowheads="1"/>
          </p:cNvSpPr>
          <p:nvPr/>
        </p:nvSpPr>
        <p:spPr bwMode="auto">
          <a:xfrm>
            <a:off x="2109788" y="2152651"/>
            <a:ext cx="7848600" cy="1476375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SW-3L(config)#int f0/23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SW-3L(config-if)#no switchport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SW-3L(config-if)#ip address 10.1.1.1 255.255.255.252</a:t>
            </a:r>
          </a:p>
          <a:p>
            <a:pPr marL="95250" lvl="1"/>
            <a:endParaRPr lang="en-US" altLang="zh-CN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SW-3L(config)#ip route 0.0.0.0 0.0.0.0 10.1.1.2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5" name="AutoShape 16"/>
          <p:cNvSpPr>
            <a:spLocks noChangeArrowheads="1"/>
          </p:cNvSpPr>
          <p:nvPr/>
        </p:nvSpPr>
        <p:spPr bwMode="auto">
          <a:xfrm>
            <a:off x="2109788" y="4086226"/>
            <a:ext cx="7848600" cy="2308225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Router(config)#interface f0/0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Router(config-if)#ip address 10.1.1.2 255.255.255.252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Router(config-if)#no shutdown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Router(config-if)#exit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 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Router(config)#ip route 192.168.1.0 255.255.255.0 10.1.1.1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Router(config)#ip route 192.168.2.0 255.255.255.0 10.1.1.1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Router(config)#ip route 192.168.3.0 255.255.255.0 10.1.1.1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6" name="AutoShape 19"/>
          <p:cNvSpPr>
            <a:spLocks noChangeArrowheads="1"/>
          </p:cNvSpPr>
          <p:nvPr/>
        </p:nvSpPr>
        <p:spPr bwMode="auto">
          <a:xfrm>
            <a:off x="6810376" y="2071689"/>
            <a:ext cx="3357563" cy="428625"/>
          </a:xfrm>
          <a:prstGeom prst="wedgeRoundRectCallout">
            <a:avLst>
              <a:gd name="adj1" fmla="val -37556"/>
              <a:gd name="adj2" fmla="val 9300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配置路由接口，配置</a:t>
            </a:r>
            <a:r>
              <a:rPr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</a:p>
        </p:txBody>
      </p:sp>
      <p:sp>
        <p:nvSpPr>
          <p:cNvPr id="7" name="AutoShape 19"/>
          <p:cNvSpPr>
            <a:spLocks noChangeArrowheads="1"/>
          </p:cNvSpPr>
          <p:nvPr/>
        </p:nvSpPr>
        <p:spPr bwMode="auto">
          <a:xfrm>
            <a:off x="7167564" y="3714751"/>
            <a:ext cx="1857375" cy="428625"/>
          </a:xfrm>
          <a:prstGeom prst="wedgeRoundRectCallout">
            <a:avLst>
              <a:gd name="adj1" fmla="val -39588"/>
              <a:gd name="adj2" fmla="val -9485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配置默认路由</a:t>
            </a:r>
          </a:p>
        </p:txBody>
      </p:sp>
      <p:sp>
        <p:nvSpPr>
          <p:cNvPr id="8" name="内容占位符 1"/>
          <p:cNvSpPr txBox="1">
            <a:spLocks/>
          </p:cNvSpPr>
          <p:nvPr/>
        </p:nvSpPr>
        <p:spPr bwMode="auto">
          <a:xfrm>
            <a:off x="1738313" y="1143000"/>
            <a:ext cx="850106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2800" b="1" kern="0">
                <a:solidFill>
                  <a:schemeClr val="tx2"/>
                </a:solidFill>
              </a:rPr>
              <a:t>在三层交换机上查看路由表</a:t>
            </a:r>
            <a:endParaRPr lang="zh-CN" altLang="en-US" sz="2800" b="1" kern="0" dirty="0">
              <a:solidFill>
                <a:schemeClr val="tx2"/>
              </a:solidFill>
            </a:endParaRPr>
          </a:p>
        </p:txBody>
      </p:sp>
      <p:grpSp>
        <p:nvGrpSpPr>
          <p:cNvPr id="3" name="组合 10"/>
          <p:cNvGrpSpPr>
            <a:grpSpLocks/>
          </p:cNvGrpSpPr>
          <p:nvPr/>
        </p:nvGrpSpPr>
        <p:grpSpPr bwMode="auto">
          <a:xfrm>
            <a:off x="2109788" y="1700214"/>
            <a:ext cx="7848600" cy="4943475"/>
            <a:chOff x="585788" y="1699520"/>
            <a:chExt cx="7848600" cy="4944187"/>
          </a:xfrm>
        </p:grpSpPr>
        <p:sp>
          <p:nvSpPr>
            <p:cNvPr id="26634" name="AutoShape 16"/>
            <p:cNvSpPr>
              <a:spLocks noChangeArrowheads="1"/>
            </p:cNvSpPr>
            <p:nvPr/>
          </p:nvSpPr>
          <p:spPr bwMode="auto">
            <a:xfrm>
              <a:off x="585788" y="1699520"/>
              <a:ext cx="7848600" cy="4893647"/>
            </a:xfrm>
            <a:prstGeom prst="roundRect">
              <a:avLst>
                <a:gd name="adj" fmla="val 1269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SW-3L#show ip route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Codes: C - connected, S - static, R - RIP, M - mobile, B - BGP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D - EIGRP, EX - EIGRP external, O - OSPF, IA - OSPF inter area 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N1 - OSPF NSSA external type 1, N2 - OSPF NSSA external type 2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E1 - OSPF external type 1, E2 - OSPF external type 2, E - EGP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i - IS-IS, su - IS-IS summary, L1 - IS-IS level-1, L2 - IS-IS level-2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ia - IS-IS inter area, * - candidate default, U - per-user static route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  o - ODR, P - periodic downloaded static route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 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Gateway of last resort is 10.1.1.2 to network 0.0.0.0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 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     10.0.0.0/30 is subnetted, 1 subnets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C    10.1.1.0 is directly connected, FastEthernet0/23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C    192.168.1.0/24 is directly connected, Vlan1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C    192.168.2.0/24 is directly connected, Vlan2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chemeClr val="tx2"/>
                  </a:solidFill>
                </a:rPr>
                <a:t>C    192.168.3.0/24 is directly connected, Vlan3</a:t>
              </a:r>
              <a:endParaRPr lang="zh-CN" altLang="en-US" b="1">
                <a:solidFill>
                  <a:schemeClr val="tx2"/>
                </a:solidFill>
              </a:endParaRPr>
            </a:p>
            <a:p>
              <a:pPr marL="95250" lvl="1"/>
              <a:r>
                <a:rPr lang="en-US" altLang="en-US" b="1">
                  <a:solidFill>
                    <a:srgbClr val="FF0000"/>
                  </a:solidFill>
                </a:rPr>
                <a:t>S*   0.0.0.0/0 [1/0] via 10.1.1.2</a:t>
              </a:r>
              <a:endParaRPr lang="zh-CN" altLang="en-US" b="1">
                <a:solidFill>
                  <a:srgbClr val="FF0000"/>
                </a:solidFill>
              </a:endParaRPr>
            </a:p>
          </p:txBody>
        </p:sp>
        <p:sp>
          <p:nvSpPr>
            <p:cNvPr id="26635" name="AutoShape 19"/>
            <p:cNvSpPr>
              <a:spLocks noChangeArrowheads="1"/>
            </p:cNvSpPr>
            <p:nvPr/>
          </p:nvSpPr>
          <p:spPr bwMode="auto">
            <a:xfrm>
              <a:off x="4214810" y="6286520"/>
              <a:ext cx="1214446" cy="357187"/>
            </a:xfrm>
            <a:prstGeom prst="wedgeRoundRectCallout">
              <a:avLst>
                <a:gd name="adj1" fmla="val -70144"/>
                <a:gd name="adj2" fmla="val -44551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r>
                <a:rPr lang="zh-CN" altLang="en-US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默认路由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zh-CN" altLang="en-US"/>
              <a:t>三层交换机配置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en-US" altLang="zh-CN"/>
              <a:t>3-1</a:t>
            </a:r>
            <a:endParaRPr lang="en-US" altLang="en-US"/>
          </a:p>
        </p:txBody>
      </p:sp>
      <p:grpSp>
        <p:nvGrpSpPr>
          <p:cNvPr id="2" name="组合 36"/>
          <p:cNvGrpSpPr>
            <a:grpSpLocks/>
          </p:cNvGrpSpPr>
          <p:nvPr/>
        </p:nvGrpSpPr>
        <p:grpSpPr bwMode="auto">
          <a:xfrm>
            <a:off x="1738313" y="2001839"/>
            <a:ext cx="8653462" cy="3355975"/>
            <a:chOff x="490538" y="944563"/>
            <a:chExt cx="8653462" cy="3355975"/>
          </a:xfrm>
        </p:grpSpPr>
        <p:grpSp>
          <p:nvGrpSpPr>
            <p:cNvPr id="3" name="组合 32"/>
            <p:cNvGrpSpPr>
              <a:grpSpLocks/>
            </p:cNvGrpSpPr>
            <p:nvPr/>
          </p:nvGrpSpPr>
          <p:grpSpPr bwMode="auto">
            <a:xfrm>
              <a:off x="5119695" y="2260584"/>
              <a:ext cx="7" cy="1080000"/>
              <a:chOff x="5119688" y="3622675"/>
              <a:chExt cx="7" cy="901700"/>
            </a:xfrm>
          </p:grpSpPr>
          <p:sp>
            <p:nvSpPr>
              <p:cNvPr id="34" name="Line 7"/>
              <p:cNvSpPr>
                <a:spLocks noChangeShapeType="1"/>
              </p:cNvSpPr>
              <p:nvPr/>
            </p:nvSpPr>
            <p:spPr bwMode="auto">
              <a:xfrm>
                <a:off x="5119681" y="3622688"/>
                <a:ext cx="0" cy="791273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anchor="b"/>
              <a:lstStyle/>
              <a:p>
                <a:pPr>
                  <a:defRPr/>
                </a:pPr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35" name="Line 194"/>
              <p:cNvSpPr>
                <a:spLocks noChangeShapeType="1"/>
              </p:cNvSpPr>
              <p:nvPr/>
            </p:nvSpPr>
            <p:spPr bwMode="auto">
              <a:xfrm>
                <a:off x="5119681" y="3732698"/>
                <a:ext cx="0" cy="791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anchor="b"/>
              <a:lstStyle/>
              <a:p>
                <a:pPr>
                  <a:defRPr/>
                </a:pPr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4" name="Group 32"/>
            <p:cNvGrpSpPr>
              <a:grpSpLocks/>
            </p:cNvGrpSpPr>
            <p:nvPr/>
          </p:nvGrpSpPr>
          <p:grpSpPr bwMode="auto">
            <a:xfrm>
              <a:off x="490538" y="944563"/>
              <a:ext cx="8653462" cy="3355975"/>
              <a:chOff x="281" y="1656"/>
              <a:chExt cx="5451" cy="2114"/>
            </a:xfrm>
          </p:grpSpPr>
          <p:pic>
            <p:nvPicPr>
              <p:cNvPr id="27656" name="Picture 4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875" y="1847"/>
                <a:ext cx="706" cy="6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  <p:sp>
            <p:nvSpPr>
              <p:cNvPr id="27657" name="Line 8"/>
              <p:cNvSpPr>
                <a:spLocks noChangeShapeType="1"/>
              </p:cNvSpPr>
              <p:nvPr/>
            </p:nvSpPr>
            <p:spPr bwMode="auto">
              <a:xfrm flipH="1">
                <a:off x="1967" y="3071"/>
                <a:ext cx="681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27658" name="Line 9"/>
              <p:cNvSpPr>
                <a:spLocks noChangeShapeType="1"/>
              </p:cNvSpPr>
              <p:nvPr/>
            </p:nvSpPr>
            <p:spPr bwMode="auto">
              <a:xfrm>
                <a:off x="3328" y="3344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27659" name="Text Box 124"/>
              <p:cNvSpPr txBox="1">
                <a:spLocks noChangeArrowheads="1"/>
              </p:cNvSpPr>
              <p:nvPr/>
            </p:nvSpPr>
            <p:spPr bwMode="auto">
              <a:xfrm>
                <a:off x="499" y="2714"/>
                <a:ext cx="1116" cy="40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2</a:t>
                </a:r>
              </a:p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192.168.2.0/24</a:t>
                </a:r>
              </a:p>
            </p:txBody>
          </p:sp>
          <p:sp>
            <p:nvSpPr>
              <p:cNvPr id="27660" name="Text Box 125"/>
              <p:cNvSpPr txBox="1">
                <a:spLocks noChangeArrowheads="1"/>
              </p:cNvSpPr>
              <p:nvPr/>
            </p:nvSpPr>
            <p:spPr bwMode="auto">
              <a:xfrm>
                <a:off x="4283" y="3106"/>
                <a:ext cx="144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100</a:t>
                </a:r>
              </a:p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192.168.100.100/24</a:t>
                </a:r>
              </a:p>
            </p:txBody>
          </p:sp>
          <p:sp>
            <p:nvSpPr>
              <p:cNvPr id="27661" name="Line 128"/>
              <p:cNvSpPr>
                <a:spLocks noChangeShapeType="1"/>
              </p:cNvSpPr>
              <p:nvPr/>
            </p:nvSpPr>
            <p:spPr bwMode="auto">
              <a:xfrm flipV="1">
                <a:off x="1786" y="3389"/>
                <a:ext cx="680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b"/>
              <a:lstStyle/>
              <a:p>
                <a:endParaRPr lang="zh-CN" altLang="en-US"/>
              </a:p>
            </p:txBody>
          </p:sp>
          <p:sp>
            <p:nvSpPr>
              <p:cNvPr id="27662" name="Text Box 186"/>
              <p:cNvSpPr txBox="1">
                <a:spLocks noChangeArrowheads="1"/>
              </p:cNvSpPr>
              <p:nvPr/>
            </p:nvSpPr>
            <p:spPr bwMode="auto">
              <a:xfrm>
                <a:off x="281" y="3243"/>
                <a:ext cx="1208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3</a:t>
                </a:r>
              </a:p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192.168.3.0/24</a:t>
                </a:r>
              </a:p>
            </p:txBody>
          </p:sp>
          <p:sp>
            <p:nvSpPr>
              <p:cNvPr id="27663" name="Text Box 188"/>
              <p:cNvSpPr txBox="1">
                <a:spLocks noChangeArrowheads="1"/>
              </p:cNvSpPr>
              <p:nvPr/>
            </p:nvSpPr>
            <p:spPr bwMode="auto">
              <a:xfrm>
                <a:off x="3547" y="2091"/>
                <a:ext cx="575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FF6600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SW-3L</a:t>
                </a:r>
              </a:p>
            </p:txBody>
          </p:sp>
          <p:sp>
            <p:nvSpPr>
              <p:cNvPr id="27664" name="Text Box 189"/>
              <p:cNvSpPr txBox="1">
                <a:spLocks noChangeArrowheads="1"/>
              </p:cNvSpPr>
              <p:nvPr/>
            </p:nvSpPr>
            <p:spPr bwMode="auto">
              <a:xfrm>
                <a:off x="2156" y="2848"/>
                <a:ext cx="862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f0/1-10</a:t>
                </a:r>
              </a:p>
            </p:txBody>
          </p:sp>
          <p:sp>
            <p:nvSpPr>
              <p:cNvPr id="27665" name="Text Box 190"/>
              <p:cNvSpPr txBox="1">
                <a:spLocks noChangeArrowheads="1"/>
              </p:cNvSpPr>
              <p:nvPr/>
            </p:nvSpPr>
            <p:spPr bwMode="auto">
              <a:xfrm>
                <a:off x="3192" y="3355"/>
                <a:ext cx="862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f0/20</a:t>
                </a:r>
              </a:p>
            </p:txBody>
          </p:sp>
          <p:sp>
            <p:nvSpPr>
              <p:cNvPr id="27666" name="Text Box 191"/>
              <p:cNvSpPr txBox="1">
                <a:spLocks noChangeArrowheads="1"/>
              </p:cNvSpPr>
              <p:nvPr/>
            </p:nvSpPr>
            <p:spPr bwMode="auto">
              <a:xfrm>
                <a:off x="1937" y="3378"/>
                <a:ext cx="862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f0/11-15</a:t>
                </a:r>
              </a:p>
            </p:txBody>
          </p:sp>
          <p:sp>
            <p:nvSpPr>
              <p:cNvPr id="27667" name="Text Box 192"/>
              <p:cNvSpPr txBox="1">
                <a:spLocks noChangeArrowheads="1"/>
              </p:cNvSpPr>
              <p:nvPr/>
            </p:nvSpPr>
            <p:spPr bwMode="auto">
              <a:xfrm>
                <a:off x="3224" y="2830"/>
                <a:ext cx="583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f0/24</a:t>
                </a:r>
              </a:p>
            </p:txBody>
          </p:sp>
          <p:sp>
            <p:nvSpPr>
              <p:cNvPr id="27668" name="Text Box 193"/>
              <p:cNvSpPr txBox="1">
                <a:spLocks noChangeArrowheads="1"/>
              </p:cNvSpPr>
              <p:nvPr/>
            </p:nvSpPr>
            <p:spPr bwMode="auto">
              <a:xfrm>
                <a:off x="2804" y="2505"/>
                <a:ext cx="452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f0/24</a:t>
                </a:r>
              </a:p>
            </p:txBody>
          </p:sp>
          <p:pic>
            <p:nvPicPr>
              <p:cNvPr id="27669" name="Picture 5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466" y="3026"/>
                <a:ext cx="1044" cy="4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7670" name="Text Box 198"/>
              <p:cNvSpPr txBox="1">
                <a:spLocks noChangeArrowheads="1"/>
              </p:cNvSpPr>
              <p:nvPr/>
            </p:nvSpPr>
            <p:spPr bwMode="auto">
              <a:xfrm>
                <a:off x="1106" y="1906"/>
                <a:ext cx="1701" cy="58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1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：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192.168.1.1/24</a:t>
                </a:r>
                <a:b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</a:b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2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：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192.168.2.1/24</a:t>
                </a:r>
                <a:b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</a:b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Vlan 3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：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192.168.3.1/24</a:t>
                </a:r>
                <a:endParaRPr lang="zh-CN" altLang="en-US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7671" name="Text Box 187"/>
              <p:cNvSpPr txBox="1">
                <a:spLocks noChangeArrowheads="1"/>
              </p:cNvSpPr>
              <p:nvPr/>
            </p:nvSpPr>
            <p:spPr bwMode="auto">
              <a:xfrm>
                <a:off x="2596" y="3209"/>
                <a:ext cx="629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bg1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SW-2L</a:t>
                </a:r>
              </a:p>
            </p:txBody>
          </p:sp>
          <p:pic>
            <p:nvPicPr>
              <p:cNvPr id="27672" name="图片 11" descr="asdf.pn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362" y="3217"/>
                <a:ext cx="437" cy="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673" name="图片 11" descr="asdf.pn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546" y="2803"/>
                <a:ext cx="437" cy="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674" name="Picture 5" descr="IP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892" y="3126"/>
                <a:ext cx="437" cy="4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7675" name="Text Box 125"/>
              <p:cNvSpPr txBox="1">
                <a:spLocks noChangeArrowheads="1"/>
              </p:cNvSpPr>
              <p:nvPr/>
            </p:nvSpPr>
            <p:spPr bwMode="auto">
              <a:xfrm>
                <a:off x="3409" y="3539"/>
                <a:ext cx="1449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DHCP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服务器</a:t>
                </a:r>
                <a:endPara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27676" name="Text Box 125"/>
              <p:cNvSpPr txBox="1">
                <a:spLocks noChangeArrowheads="1"/>
              </p:cNvSpPr>
              <p:nvPr/>
            </p:nvSpPr>
            <p:spPr bwMode="auto">
              <a:xfrm>
                <a:off x="2512" y="1656"/>
                <a:ext cx="1449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b">
                <a:spAutoFit/>
              </a:bodyPr>
              <a:lstStyle/>
              <a:p>
                <a:pPr algn="ctr"/>
                <a:r>
                  <a:rPr lang="en-US" altLang="zh-CN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DHCP</a:t>
                </a:r>
                <a:r>
                  <a:rPr lang="zh-CN" altLang="en-US" b="1">
                    <a:solidFill>
                      <a:schemeClr val="tx2"/>
                    </a:solidFill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中继代理</a:t>
                </a:r>
                <a:endParaRPr lang="en-US" altLang="zh-CN" b="1">
                  <a:solidFill>
                    <a:schemeClr val="tx2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37" name="AutoShape 16"/>
          <p:cNvSpPr>
            <a:spLocks noChangeArrowheads="1"/>
          </p:cNvSpPr>
          <p:nvPr/>
        </p:nvSpPr>
        <p:spPr bwMode="auto">
          <a:xfrm>
            <a:off x="2109788" y="5773739"/>
            <a:ext cx="7848600" cy="369887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zh-CN" b="1">
                <a:solidFill>
                  <a:schemeClr val="tx2"/>
                </a:solidFill>
              </a:rPr>
              <a:t> Switch(config-if)# ip helper-address </a:t>
            </a:r>
            <a:r>
              <a:rPr lang="en-US" altLang="zh-CN" b="1" i="1">
                <a:solidFill>
                  <a:schemeClr val="tx2"/>
                </a:solidFill>
              </a:rPr>
              <a:t>DHCPsrv-IPAddress</a:t>
            </a:r>
            <a:endParaRPr lang="zh-CN" altLang="en-US" b="1" i="1">
              <a:solidFill>
                <a:schemeClr val="tx2"/>
              </a:solidFill>
            </a:endParaRPr>
          </a:p>
        </p:txBody>
      </p:sp>
      <p:sp>
        <p:nvSpPr>
          <p:cNvPr id="27653" name="内容占位符 37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0001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VLAN2</a:t>
            </a:r>
            <a:r>
              <a:rPr lang="zh-CN" altLang="en-US"/>
              <a:t>、</a:t>
            </a:r>
            <a:r>
              <a:rPr lang="en-US" altLang="zh-CN"/>
              <a:t>VLAN3</a:t>
            </a:r>
            <a:r>
              <a:rPr lang="zh-CN" altLang="en-US"/>
              <a:t>通过</a:t>
            </a:r>
            <a:r>
              <a:rPr lang="en-US" altLang="zh-CN"/>
              <a:t>DHCP</a:t>
            </a:r>
            <a:r>
              <a:rPr lang="zh-CN" altLang="en-US"/>
              <a:t>服务器动态获得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  <a:p>
            <a:pPr>
              <a:spcBef>
                <a:spcPts val="675"/>
              </a:spcBef>
            </a:pPr>
            <a:r>
              <a:rPr lang="en-US" altLang="zh-CN"/>
              <a:t>DHCP</a:t>
            </a:r>
            <a:r>
              <a:rPr lang="zh-CN" altLang="en-US"/>
              <a:t>中继配置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50006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三层交换机配置</a:t>
            </a:r>
          </a:p>
        </p:txBody>
      </p:sp>
      <p:sp>
        <p:nvSpPr>
          <p:cNvPr id="2867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三层交换机配置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en-US" altLang="zh-CN"/>
              <a:t>3-2</a:t>
            </a:r>
            <a:endParaRPr lang="zh-CN" altLang="en-US"/>
          </a:p>
        </p:txBody>
      </p:sp>
      <p:sp>
        <p:nvSpPr>
          <p:cNvPr id="4" name="AutoShape 16"/>
          <p:cNvSpPr>
            <a:spLocks noChangeArrowheads="1"/>
          </p:cNvSpPr>
          <p:nvPr/>
        </p:nvSpPr>
        <p:spPr bwMode="auto">
          <a:xfrm>
            <a:off x="2109788" y="1700214"/>
            <a:ext cx="7848600" cy="3692525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SW-3L(config)#interface vlan 2       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SW-3L(config-if)#ip address 192.168.2.1 255.255.255.0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</a:t>
            </a:r>
            <a:r>
              <a:rPr lang="en-US" altLang="en-US" b="1">
                <a:solidFill>
                  <a:srgbClr val="FF0000"/>
                </a:solidFill>
              </a:rPr>
              <a:t>ip helper-address 192.168.100.100</a:t>
            </a:r>
            <a:endParaRPr lang="zh-CN" altLang="en-US" b="1">
              <a:solidFill>
                <a:srgbClr val="FF0000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SW-3L(config-if)#no shutdown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 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SW-3L(config)#interface vlan 3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SW-3L(config-if)#ip address 192.168.3.1 255.255.255.0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</a:t>
            </a:r>
            <a:r>
              <a:rPr lang="en-US" altLang="en-US" b="1">
                <a:solidFill>
                  <a:srgbClr val="FF0000"/>
                </a:solidFill>
              </a:rPr>
              <a:t>ip helper-address 192.168.100.100</a:t>
            </a:r>
            <a:endParaRPr lang="zh-CN" altLang="en-US" b="1">
              <a:solidFill>
                <a:srgbClr val="FF0000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SW-3L(config-if)#no shutdown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 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SW-3L(config)#interface vlan 100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SW-3L(config-if)#ip address 192.168.100.1 255.255.255.0                </a:t>
            </a:r>
            <a:endParaRPr lang="zh-CN" altLang="en-US" b="1">
              <a:solidFill>
                <a:schemeClr val="tx2"/>
              </a:solidFill>
            </a:endParaRPr>
          </a:p>
          <a:p>
            <a:pPr marL="95250" lvl="1"/>
            <a:r>
              <a:rPr lang="en-US" altLang="en-US" b="1">
                <a:solidFill>
                  <a:schemeClr val="tx2"/>
                </a:solidFill>
              </a:rPr>
              <a:t>SW-3L(config-if)#no shutdown 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5" name="AutoShape 19"/>
          <p:cNvSpPr>
            <a:spLocks noChangeArrowheads="1"/>
          </p:cNvSpPr>
          <p:nvPr/>
        </p:nvSpPr>
        <p:spPr bwMode="auto">
          <a:xfrm>
            <a:off x="8024814" y="2571750"/>
            <a:ext cx="1214437" cy="357188"/>
          </a:xfrm>
          <a:prstGeom prst="wedgeRoundRectCallout">
            <a:avLst>
              <a:gd name="adj1" fmla="val -70144"/>
              <a:gd name="adj2" fmla="val -4455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miter lim="800000"/>
            <a:headEnd/>
            <a:tailEnd/>
          </a:ln>
        </p:spPr>
        <p:txBody>
          <a:bodyPr anchor="ctr" anchorCtr="1"/>
          <a:lstStyle/>
          <a:p>
            <a:r>
              <a:rPr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DHCP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21443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请思考：</a:t>
            </a:r>
            <a:endParaRPr lang="en-US" altLang="zh-CN"/>
          </a:p>
          <a:p>
            <a:pPr>
              <a:spcBef>
                <a:spcPts val="675"/>
              </a:spcBef>
              <a:buNone/>
            </a:pPr>
            <a:r>
              <a:rPr lang="en-US" altLang="zh-CN"/>
              <a:t>    DHCP</a:t>
            </a:r>
            <a:r>
              <a:rPr lang="zh-CN" altLang="en-US"/>
              <a:t>服务器如何配置？</a:t>
            </a:r>
          </a:p>
        </p:txBody>
      </p:sp>
      <p:sp>
        <p:nvSpPr>
          <p:cNvPr id="2867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三层交换机配置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en-US" altLang="zh-CN"/>
              <a:t>3-3</a:t>
            </a:r>
            <a:endParaRPr lang="zh-CN" altLang="en-US"/>
          </a:p>
        </p:txBody>
      </p:sp>
      <p:sp>
        <p:nvSpPr>
          <p:cNvPr id="6" name="AutoShape 16"/>
          <p:cNvSpPr>
            <a:spLocks noChangeArrowheads="1"/>
          </p:cNvSpPr>
          <p:nvPr/>
        </p:nvSpPr>
        <p:spPr bwMode="auto">
          <a:xfrm>
            <a:off x="2881290" y="3071810"/>
            <a:ext cx="5786478" cy="1569660"/>
          </a:xfrm>
          <a:prstGeom prst="roundRect">
            <a:avLst>
              <a:gd name="adj" fmla="val 126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 marL="95250" lvl="1"/>
            <a:r>
              <a:rPr lang="en-US" altLang="en-US" sz="2400" b="1">
                <a:solidFill>
                  <a:schemeClr val="tx2"/>
                </a:solidFill>
              </a:rPr>
              <a:t>DHCP</a:t>
            </a:r>
            <a:r>
              <a:rPr lang="zh-CN" altLang="en-US" sz="2400" b="1">
                <a:solidFill>
                  <a:schemeClr val="tx2"/>
                </a:solidFill>
              </a:rPr>
              <a:t>服务器需要配置三个地址池：</a:t>
            </a:r>
            <a:endParaRPr lang="en-US" altLang="zh-CN" sz="2400" b="1">
              <a:solidFill>
                <a:schemeClr val="tx2"/>
              </a:solidFill>
            </a:endParaRPr>
          </a:p>
          <a:p>
            <a:pPr marL="95250" lvl="1"/>
            <a:r>
              <a:rPr lang="en-US" altLang="en-US" sz="2400" b="1">
                <a:solidFill>
                  <a:schemeClr val="tx2"/>
                </a:solidFill>
              </a:rPr>
              <a:t>192.168.2.0</a:t>
            </a:r>
          </a:p>
          <a:p>
            <a:pPr marL="95250" lvl="1"/>
            <a:r>
              <a:rPr lang="en-US" altLang="en-US" sz="2400" b="1">
                <a:solidFill>
                  <a:schemeClr val="tx2"/>
                </a:solidFill>
              </a:rPr>
              <a:t>192.168.3.0</a:t>
            </a:r>
            <a:endParaRPr lang="zh-CN" altLang="en-US" sz="2400" b="1">
              <a:solidFill>
                <a:schemeClr val="tx2"/>
              </a:solidFill>
            </a:endParaRPr>
          </a:p>
          <a:p>
            <a:pPr marL="95250" lvl="1"/>
            <a:r>
              <a:rPr lang="en-US" altLang="en-US" sz="2400" b="1">
                <a:solidFill>
                  <a:schemeClr val="tx2"/>
                </a:solidFill>
              </a:rPr>
              <a:t>192.168.100.0</a:t>
            </a:r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本章总结</a:t>
            </a:r>
          </a:p>
        </p:txBody>
      </p:sp>
      <p:sp>
        <p:nvSpPr>
          <p:cNvPr id="36" name="Line 16"/>
          <p:cNvSpPr>
            <a:spLocks noChangeShapeType="1"/>
          </p:cNvSpPr>
          <p:nvPr/>
        </p:nvSpPr>
        <p:spPr bwMode="auto">
          <a:xfrm>
            <a:off x="6859589" y="2574925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37" name="Line 16"/>
          <p:cNvSpPr>
            <a:spLocks noChangeShapeType="1"/>
          </p:cNvSpPr>
          <p:nvPr/>
        </p:nvSpPr>
        <p:spPr bwMode="auto">
          <a:xfrm>
            <a:off x="6867526" y="4022725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38" name="Line 26"/>
          <p:cNvSpPr>
            <a:spLocks noChangeShapeType="1"/>
          </p:cNvSpPr>
          <p:nvPr/>
        </p:nvSpPr>
        <p:spPr bwMode="auto">
          <a:xfrm flipV="1">
            <a:off x="6881813" y="4606926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48" name="Line 8"/>
          <p:cNvSpPr>
            <a:spLocks noChangeShapeType="1"/>
          </p:cNvSpPr>
          <p:nvPr/>
        </p:nvSpPr>
        <p:spPr bwMode="auto">
          <a:xfrm>
            <a:off x="4441826" y="4303713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49" name="Line 10"/>
          <p:cNvSpPr>
            <a:spLocks noChangeShapeType="1"/>
          </p:cNvSpPr>
          <p:nvPr/>
        </p:nvSpPr>
        <p:spPr bwMode="auto">
          <a:xfrm>
            <a:off x="4010025" y="3552825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50" name="AutoShape 5"/>
          <p:cNvSpPr>
            <a:spLocks noChangeArrowheads="1"/>
          </p:cNvSpPr>
          <p:nvPr/>
        </p:nvSpPr>
        <p:spPr bwMode="auto">
          <a:xfrm>
            <a:off x="4695812" y="4102437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三层交换的应用</a:t>
            </a:r>
          </a:p>
        </p:txBody>
      </p:sp>
      <p:sp>
        <p:nvSpPr>
          <p:cNvPr id="51" name="Line 14"/>
          <p:cNvSpPr>
            <a:spLocks noChangeShapeType="1"/>
          </p:cNvSpPr>
          <p:nvPr/>
        </p:nvSpPr>
        <p:spPr bwMode="auto">
          <a:xfrm>
            <a:off x="6870700" y="2563814"/>
            <a:ext cx="0" cy="6127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52" name="AutoShape 18"/>
          <p:cNvSpPr>
            <a:spLocks noChangeArrowheads="1"/>
          </p:cNvSpPr>
          <p:nvPr/>
        </p:nvSpPr>
        <p:spPr bwMode="auto">
          <a:xfrm>
            <a:off x="7191361" y="384398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ea typeface="楷体_GB2312" pitchFamily="49" charset="-122"/>
              </a:rPr>
              <a:t>三层交换机的配置</a:t>
            </a:r>
          </a:p>
        </p:txBody>
      </p:sp>
      <p:sp>
        <p:nvSpPr>
          <p:cNvPr id="53" name="AutoShape 28"/>
          <p:cNvSpPr>
            <a:spLocks noChangeArrowheads="1"/>
          </p:cNvSpPr>
          <p:nvPr/>
        </p:nvSpPr>
        <p:spPr bwMode="auto">
          <a:xfrm>
            <a:off x="7191361" y="444278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三层交换机配置</a:t>
            </a:r>
            <a:r>
              <a:rPr lang="en-US" altLang="zh-CN" sz="1600" b="1" dirty="0">
                <a:solidFill>
                  <a:srgbClr val="000000"/>
                </a:solidFill>
                <a:ea typeface="楷体_GB2312" pitchFamily="49" charset="-122"/>
              </a:rPr>
              <a:t>DHCP</a:t>
            </a: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中继</a:t>
            </a:r>
          </a:p>
        </p:txBody>
      </p:sp>
      <p:sp>
        <p:nvSpPr>
          <p:cNvPr id="54" name="AutoShape 4"/>
          <p:cNvSpPr>
            <a:spLocks noChangeArrowheads="1"/>
          </p:cNvSpPr>
          <p:nvPr/>
        </p:nvSpPr>
        <p:spPr bwMode="auto">
          <a:xfrm>
            <a:off x="2024034" y="3357563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三层交换</a:t>
            </a:r>
          </a:p>
        </p:txBody>
      </p:sp>
      <p:sp>
        <p:nvSpPr>
          <p:cNvPr id="55" name="Line 36"/>
          <p:cNvSpPr>
            <a:spLocks noChangeShapeType="1"/>
          </p:cNvSpPr>
          <p:nvPr/>
        </p:nvSpPr>
        <p:spPr bwMode="auto">
          <a:xfrm>
            <a:off x="4441825" y="2874963"/>
            <a:ext cx="0" cy="143986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56" name="Line 37"/>
          <p:cNvSpPr>
            <a:spLocks noChangeShapeType="1"/>
          </p:cNvSpPr>
          <p:nvPr/>
        </p:nvSpPr>
        <p:spPr bwMode="auto">
          <a:xfrm>
            <a:off x="6870700" y="4016375"/>
            <a:ext cx="0" cy="6111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57" name="Line 8"/>
          <p:cNvSpPr>
            <a:spLocks noChangeShapeType="1"/>
          </p:cNvSpPr>
          <p:nvPr/>
        </p:nvSpPr>
        <p:spPr bwMode="auto">
          <a:xfrm>
            <a:off x="4441826" y="2889250"/>
            <a:ext cx="241141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58" name="AutoShape 11"/>
          <p:cNvSpPr>
            <a:spLocks noChangeArrowheads="1"/>
          </p:cNvSpPr>
          <p:nvPr/>
        </p:nvSpPr>
        <p:spPr bwMode="auto">
          <a:xfrm>
            <a:off x="7191361" y="241148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单臂路由的缺陷</a:t>
            </a:r>
          </a:p>
        </p:txBody>
      </p:sp>
      <p:sp>
        <p:nvSpPr>
          <p:cNvPr id="59" name="AutoShape 5"/>
          <p:cNvSpPr>
            <a:spLocks noChangeArrowheads="1"/>
          </p:cNvSpPr>
          <p:nvPr/>
        </p:nvSpPr>
        <p:spPr bwMode="auto">
          <a:xfrm>
            <a:off x="4684700" y="2697161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ea typeface="楷体_GB2312" pitchFamily="49" charset="-122"/>
              </a:rPr>
              <a:t>初识三层交换</a:t>
            </a: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6856414" y="3167063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7191361" y="2982992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ea typeface="楷体_GB2312" pitchFamily="49" charset="-122"/>
              </a:rPr>
              <a:t>三层交换机的转发原理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8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实验环境</a:t>
            </a: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需求描述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pitchFamily="34" charset="0"/>
              </a:rPr>
              <a:t>在</a:t>
            </a:r>
            <a:r>
              <a:rPr lang="en-US" altLang="en-US">
                <a:cs typeface="Arial" pitchFamily="34" charset="0"/>
              </a:rPr>
              <a:t>R1</a:t>
            </a:r>
            <a:r>
              <a:rPr lang="zh-CN" altLang="en-US">
                <a:cs typeface="Arial" pitchFamily="34" charset="0"/>
              </a:rPr>
              <a:t>上配置</a:t>
            </a:r>
            <a:r>
              <a:rPr lang="en-US" altLang="zh-CN">
                <a:cs typeface="Arial" pitchFamily="34" charset="0"/>
              </a:rPr>
              <a:t>DHCP</a:t>
            </a:r>
            <a:r>
              <a:rPr lang="zh-CN" altLang="en-US">
                <a:cs typeface="Arial" pitchFamily="34" charset="0"/>
              </a:rPr>
              <a:t>服务器，</a:t>
            </a:r>
            <a:r>
              <a:rPr lang="en-US" altLang="zh-CN">
                <a:cs typeface="Arial" pitchFamily="34" charset="0"/>
              </a:rPr>
              <a:t>PC</a:t>
            </a:r>
            <a:r>
              <a:rPr lang="zh-CN" altLang="en-US">
                <a:cs typeface="Arial" pitchFamily="34" charset="0"/>
              </a:rPr>
              <a:t>自动获得</a:t>
            </a:r>
            <a:r>
              <a:rPr lang="en-US" altLang="zh-CN">
                <a:cs typeface="Arial" pitchFamily="34" charset="0"/>
              </a:rPr>
              <a:t>IP</a:t>
            </a:r>
            <a:r>
              <a:rPr lang="zh-CN" altLang="en-US">
                <a:cs typeface="Arial" pitchFamily="34" charset="0"/>
              </a:rPr>
              <a:t>地址和网关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pitchFamily="34" charset="0"/>
              </a:rPr>
              <a:t>配置设备实现全网互通</a:t>
            </a:r>
            <a:endParaRPr lang="en-US" altLang="zh-CN">
              <a:cs typeface="Arial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实验案例：三层交换机配置</a:t>
            </a:r>
            <a:r>
              <a:rPr lang="en-US" altLang="zh-CN"/>
              <a:t>3-1</a:t>
            </a:r>
          </a:p>
        </p:txBody>
      </p:sp>
      <p:sp>
        <p:nvSpPr>
          <p:cNvPr id="31748" name="Text Box 30"/>
          <p:cNvSpPr txBox="1">
            <a:spLocks noChangeArrowheads="1"/>
          </p:cNvSpPr>
          <p:nvPr/>
        </p:nvSpPr>
        <p:spPr bwMode="auto">
          <a:xfrm>
            <a:off x="2238376" y="2928939"/>
            <a:ext cx="26654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VLAN10:192.168.10.1/24</a:t>
            </a:r>
          </a:p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VLAN20:192.168.20.1/24</a:t>
            </a:r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3024189" y="1857375"/>
            <a:ext cx="6973887" cy="2484438"/>
            <a:chOff x="1142976" y="1857364"/>
            <a:chExt cx="6973887" cy="2484437"/>
          </a:xfrm>
        </p:grpSpPr>
        <p:cxnSp>
          <p:nvCxnSpPr>
            <p:cNvPr id="31750" name="直接连接符 54"/>
            <p:cNvCxnSpPr>
              <a:cxnSpLocks noChangeShapeType="1"/>
            </p:cNvCxnSpPr>
            <p:nvPr/>
          </p:nvCxnSpPr>
          <p:spPr bwMode="auto">
            <a:xfrm>
              <a:off x="5305401" y="2332026"/>
              <a:ext cx="1241425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1751" name="直接连接符 52"/>
            <p:cNvCxnSpPr>
              <a:cxnSpLocks noChangeShapeType="1"/>
            </p:cNvCxnSpPr>
            <p:nvPr/>
          </p:nvCxnSpPr>
          <p:spPr bwMode="auto">
            <a:xfrm rot="5400000">
              <a:off x="3084489" y="3043226"/>
              <a:ext cx="1350962" cy="1587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1752" name="直接连接符 31"/>
            <p:cNvCxnSpPr>
              <a:cxnSpLocks noChangeShapeType="1"/>
            </p:cNvCxnSpPr>
            <p:nvPr/>
          </p:nvCxnSpPr>
          <p:spPr bwMode="auto">
            <a:xfrm flipV="1">
              <a:off x="1909738" y="2328851"/>
              <a:ext cx="3446463" cy="3175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31753" name="Text Box 8"/>
            <p:cNvSpPr txBox="1">
              <a:spLocks noChangeArrowheads="1"/>
            </p:cNvSpPr>
            <p:nvPr/>
          </p:nvSpPr>
          <p:spPr bwMode="auto">
            <a:xfrm>
              <a:off x="1142976" y="2468551"/>
              <a:ext cx="1068387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VLAN20</a:t>
              </a:r>
            </a:p>
          </p:txBody>
        </p:sp>
        <p:pic>
          <p:nvPicPr>
            <p:cNvPr id="31754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43263" y="2016114"/>
              <a:ext cx="657225" cy="64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755" name="Picture 2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60726" y="3497251"/>
              <a:ext cx="617537" cy="587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6" name="Text Box 13"/>
            <p:cNvSpPr txBox="1">
              <a:spLocks noChangeArrowheads="1"/>
            </p:cNvSpPr>
            <p:nvPr/>
          </p:nvSpPr>
          <p:spPr bwMode="auto">
            <a:xfrm>
              <a:off x="3251176" y="4003664"/>
              <a:ext cx="1068387" cy="33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VLAN10</a:t>
              </a:r>
            </a:p>
          </p:txBody>
        </p:sp>
        <p:sp>
          <p:nvSpPr>
            <p:cNvPr id="31757" name="Text Box 14"/>
            <p:cNvSpPr txBox="1">
              <a:spLocks noChangeArrowheads="1"/>
            </p:cNvSpPr>
            <p:nvPr/>
          </p:nvSpPr>
          <p:spPr bwMode="auto">
            <a:xfrm>
              <a:off x="2822551" y="2052626"/>
              <a:ext cx="803275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F0/14</a:t>
              </a:r>
            </a:p>
          </p:txBody>
        </p:sp>
        <p:sp>
          <p:nvSpPr>
            <p:cNvPr id="31758" name="Text Box 15"/>
            <p:cNvSpPr txBox="1">
              <a:spLocks noChangeArrowheads="1"/>
            </p:cNvSpPr>
            <p:nvPr/>
          </p:nvSpPr>
          <p:spPr bwMode="auto">
            <a:xfrm>
              <a:off x="3735363" y="2587614"/>
              <a:ext cx="838200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F0/0</a:t>
              </a:r>
            </a:p>
          </p:txBody>
        </p:sp>
        <p:sp>
          <p:nvSpPr>
            <p:cNvPr id="31759" name="Text Box 16"/>
            <p:cNvSpPr txBox="1">
              <a:spLocks noChangeArrowheads="1"/>
            </p:cNvSpPr>
            <p:nvPr/>
          </p:nvSpPr>
          <p:spPr bwMode="auto">
            <a:xfrm>
              <a:off x="2932088" y="2514589"/>
              <a:ext cx="838200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SW1</a:t>
              </a:r>
            </a:p>
          </p:txBody>
        </p:sp>
        <p:sp>
          <p:nvSpPr>
            <p:cNvPr id="31760" name="Text Box 17"/>
            <p:cNvSpPr txBox="1">
              <a:spLocks noChangeArrowheads="1"/>
            </p:cNvSpPr>
            <p:nvPr/>
          </p:nvSpPr>
          <p:spPr bwMode="auto">
            <a:xfrm>
              <a:off x="4003651" y="2039926"/>
              <a:ext cx="838200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F0/15</a:t>
              </a:r>
            </a:p>
          </p:txBody>
        </p:sp>
        <p:pic>
          <p:nvPicPr>
            <p:cNvPr id="31761" name="Picture 7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273651" y="2076439"/>
              <a:ext cx="871537" cy="51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2" name="Text Box 26"/>
            <p:cNvSpPr txBox="1">
              <a:spLocks noChangeArrowheads="1"/>
            </p:cNvSpPr>
            <p:nvPr/>
          </p:nvSpPr>
          <p:spPr bwMode="auto">
            <a:xfrm>
              <a:off x="1984351" y="2285989"/>
              <a:ext cx="838200" cy="33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F0/0</a:t>
              </a:r>
            </a:p>
          </p:txBody>
        </p:sp>
        <p:sp>
          <p:nvSpPr>
            <p:cNvPr id="31763" name="Text Box 27"/>
            <p:cNvSpPr txBox="1">
              <a:spLocks noChangeArrowheads="1"/>
            </p:cNvSpPr>
            <p:nvPr/>
          </p:nvSpPr>
          <p:spPr bwMode="auto">
            <a:xfrm>
              <a:off x="4759301" y="2274876"/>
              <a:ext cx="8382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F0/0</a:t>
              </a:r>
            </a:p>
          </p:txBody>
        </p:sp>
        <p:sp>
          <p:nvSpPr>
            <p:cNvPr id="31764" name="Text Box 28"/>
            <p:cNvSpPr txBox="1">
              <a:spLocks noChangeArrowheads="1"/>
            </p:cNvSpPr>
            <p:nvPr/>
          </p:nvSpPr>
          <p:spPr bwMode="auto">
            <a:xfrm>
              <a:off x="5522888" y="2298689"/>
              <a:ext cx="584200" cy="33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R2</a:t>
              </a:r>
            </a:p>
          </p:txBody>
        </p:sp>
        <p:sp>
          <p:nvSpPr>
            <p:cNvPr id="31765" name="Text Box 29"/>
            <p:cNvSpPr txBox="1">
              <a:spLocks noChangeArrowheads="1"/>
            </p:cNvSpPr>
            <p:nvPr/>
          </p:nvSpPr>
          <p:spPr bwMode="auto">
            <a:xfrm>
              <a:off x="5962626" y="1857364"/>
              <a:ext cx="2154237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Lo0:192.168.1.1/32</a:t>
              </a:r>
            </a:p>
          </p:txBody>
        </p:sp>
        <p:sp>
          <p:nvSpPr>
            <p:cNvPr id="31766" name="Text Box 31"/>
            <p:cNvSpPr txBox="1">
              <a:spLocks noChangeArrowheads="1"/>
            </p:cNvSpPr>
            <p:nvPr/>
          </p:nvSpPr>
          <p:spPr bwMode="auto">
            <a:xfrm>
              <a:off x="5013301" y="2030401"/>
              <a:ext cx="8382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.2</a:t>
              </a:r>
            </a:p>
          </p:txBody>
        </p:sp>
        <p:sp>
          <p:nvSpPr>
            <p:cNvPr id="31767" name="Text Box 32"/>
            <p:cNvSpPr txBox="1">
              <a:spLocks noChangeArrowheads="1"/>
            </p:cNvSpPr>
            <p:nvPr/>
          </p:nvSpPr>
          <p:spPr bwMode="auto">
            <a:xfrm>
              <a:off x="4029051" y="2285989"/>
              <a:ext cx="838200" cy="33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.1</a:t>
              </a:r>
            </a:p>
          </p:txBody>
        </p:sp>
        <p:sp>
          <p:nvSpPr>
            <p:cNvPr id="31768" name="Text Box 35"/>
            <p:cNvSpPr txBox="1">
              <a:spLocks noChangeArrowheads="1"/>
            </p:cNvSpPr>
            <p:nvPr/>
          </p:nvSpPr>
          <p:spPr bwMode="auto">
            <a:xfrm>
              <a:off x="4538638" y="2843201"/>
              <a:ext cx="1604963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192.168.0.0/30</a:t>
              </a:r>
            </a:p>
          </p:txBody>
        </p:sp>
        <p:sp>
          <p:nvSpPr>
            <p:cNvPr id="31769" name="Line 36"/>
            <p:cNvSpPr>
              <a:spLocks noChangeShapeType="1"/>
            </p:cNvSpPr>
            <p:nvPr/>
          </p:nvSpPr>
          <p:spPr bwMode="auto">
            <a:xfrm>
              <a:off x="4648176" y="2405051"/>
              <a:ext cx="219075" cy="5111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none" w="med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pic>
          <p:nvPicPr>
            <p:cNvPr id="31770" name="Picture 7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216001" y="2039926"/>
              <a:ext cx="871537" cy="511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71" name="Text Box 7"/>
            <p:cNvSpPr txBox="1">
              <a:spLocks noChangeArrowheads="1"/>
            </p:cNvSpPr>
            <p:nvPr/>
          </p:nvSpPr>
          <p:spPr bwMode="auto">
            <a:xfrm>
              <a:off x="1433488" y="2259001"/>
              <a:ext cx="511175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R1</a:t>
              </a:r>
            </a:p>
          </p:txBody>
        </p:sp>
        <p:cxnSp>
          <p:nvCxnSpPr>
            <p:cNvPr id="31772" name="直接连接符 55"/>
            <p:cNvCxnSpPr>
              <a:cxnSpLocks noChangeShapeType="1"/>
            </p:cNvCxnSpPr>
            <p:nvPr/>
          </p:nvCxnSpPr>
          <p:spPr bwMode="auto">
            <a:xfrm rot="5400000">
              <a:off x="6403951" y="2333614"/>
              <a:ext cx="287337" cy="1587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7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3286132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实现思路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pitchFamily="34" charset="0"/>
              </a:rPr>
              <a:t>DHCP</a:t>
            </a:r>
            <a:r>
              <a:rPr lang="zh-CN" altLang="en-US">
                <a:cs typeface="Arial" pitchFamily="34" charset="0"/>
              </a:rPr>
              <a:t>服务器和</a:t>
            </a:r>
            <a:r>
              <a:rPr lang="en-US" altLang="zh-CN">
                <a:cs typeface="Arial" pitchFamily="34" charset="0"/>
              </a:rPr>
              <a:t>PC</a:t>
            </a:r>
            <a:r>
              <a:rPr lang="zh-CN" altLang="en-US">
                <a:cs typeface="Arial" pitchFamily="34" charset="0"/>
              </a:rPr>
              <a:t>不是同一</a:t>
            </a:r>
            <a:r>
              <a:rPr lang="en-US" altLang="zh-CN">
                <a:cs typeface="Arial" pitchFamily="34" charset="0"/>
              </a:rPr>
              <a:t>VLAN</a:t>
            </a:r>
            <a:r>
              <a:rPr lang="zh-CN" altLang="en-US">
                <a:cs typeface="Arial" pitchFamily="34" charset="0"/>
              </a:rPr>
              <a:t>，需配置</a:t>
            </a:r>
            <a:r>
              <a:rPr lang="en-US" altLang="zh-CN">
                <a:cs typeface="Arial" pitchFamily="34" charset="0"/>
              </a:rPr>
              <a:t>DHCP</a:t>
            </a:r>
            <a:r>
              <a:rPr lang="zh-CN" altLang="en-US">
                <a:cs typeface="Arial" pitchFamily="34" charset="0"/>
              </a:rPr>
              <a:t>中继</a:t>
            </a:r>
            <a:endParaRPr lang="en-US" altLang="zh-CN">
              <a:cs typeface="Arial" pitchFamily="34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pitchFamily="34" charset="0"/>
              </a:rPr>
              <a:t>在三层交换机上配置三层交换和路由实现全网互通</a:t>
            </a:r>
            <a:endParaRPr lang="en-US" altLang="zh-CN">
              <a:cs typeface="Arial" pitchFamily="34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pitchFamily="34" charset="0"/>
              </a:rPr>
              <a:t>学员练习（阶段一）</a:t>
            </a:r>
            <a:endParaRPr lang="en-US" altLang="zh-CN">
              <a:cs typeface="Arial" pitchFamily="34" charset="0"/>
            </a:endParaRPr>
          </a:p>
          <a:p>
            <a:pPr lvl="1"/>
            <a:r>
              <a:rPr lang="zh-CN" altLang="en-US"/>
              <a:t>在</a:t>
            </a:r>
            <a:r>
              <a:rPr lang="fr-FR"/>
              <a:t>SW1</a:t>
            </a:r>
            <a:r>
              <a:rPr lang="zh-CN" altLang="en-US"/>
              <a:t>上创建</a:t>
            </a:r>
            <a:r>
              <a:rPr lang="fr-FR"/>
              <a:t>VLAN 10</a:t>
            </a:r>
            <a:r>
              <a:rPr lang="zh-CN" altLang="en-US"/>
              <a:t>和</a:t>
            </a:r>
            <a:r>
              <a:rPr lang="fr-FR"/>
              <a:t>VLAN 20</a:t>
            </a:r>
            <a:r>
              <a:rPr lang="zh-CN" altLang="en-US"/>
              <a:t>，并划分端口</a:t>
            </a:r>
          </a:p>
          <a:p>
            <a:pPr lvl="1"/>
            <a:r>
              <a:rPr lang="zh-CN" altLang="en-US"/>
              <a:t>在</a:t>
            </a:r>
            <a:r>
              <a:rPr lang="en-US"/>
              <a:t>SW1</a:t>
            </a:r>
            <a:r>
              <a:rPr lang="zh-CN" altLang="en-US"/>
              <a:t>上配置路由接口，配置默认路由</a:t>
            </a:r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/>
              <a:t>R2</a:t>
            </a:r>
            <a:r>
              <a:rPr lang="zh-CN" altLang="en-US"/>
              <a:t>上配置</a:t>
            </a:r>
            <a:r>
              <a:rPr lang="en-US"/>
              <a:t>Loopback</a:t>
            </a:r>
            <a:r>
              <a:rPr lang="zh-CN" altLang="en-US"/>
              <a:t>接口，配置静态路由</a:t>
            </a:r>
            <a:endParaRPr lang="zh-CN" altLang="en-US">
              <a:cs typeface="Arial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实验案例：三层交换机配置</a:t>
            </a:r>
            <a:r>
              <a:rPr lang="en-US" altLang="zh-CN"/>
              <a:t>3-2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6610</TotalTime>
  <Words>2195</Words>
  <Application>Microsoft Office PowerPoint</Application>
  <PresentationFormat>宽屏</PresentationFormat>
  <Paragraphs>418</Paragraphs>
  <Slides>25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Myriad Pro</vt:lpstr>
      <vt:lpstr>黑体</vt:lpstr>
      <vt:lpstr>楷体_GB2312</vt:lpstr>
      <vt:lpstr>微软雅黑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单臂路由产生的瓶颈3-1</vt:lpstr>
      <vt:lpstr>单臂路由产生的瓶颈3-2</vt:lpstr>
      <vt:lpstr>单臂路由产生的瓶颈3-3</vt:lpstr>
      <vt:lpstr>三层交换技术</vt:lpstr>
      <vt:lpstr>传统的MLS2-1</vt:lpstr>
      <vt:lpstr>传统的MLS2-2</vt:lpstr>
      <vt:lpstr>基于CEF的MLS</vt:lpstr>
      <vt:lpstr>虚接口概述2-1</vt:lpstr>
      <vt:lpstr>虚接口概述2-2</vt:lpstr>
      <vt:lpstr>小结</vt:lpstr>
      <vt:lpstr>三层交换机的配置</vt:lpstr>
      <vt:lpstr>三层交换机实现VLAN互通3-1</vt:lpstr>
      <vt:lpstr>三层交换机实现VLAN互通3-2</vt:lpstr>
      <vt:lpstr>三层交换机实现VLAN互通3-3</vt:lpstr>
      <vt:lpstr>在三层交换机上配置路由2-1</vt:lpstr>
      <vt:lpstr>在三层交换机上配置路由2-2</vt:lpstr>
      <vt:lpstr>三层交换机配置DHCP中继3-1</vt:lpstr>
      <vt:lpstr>三层交换机配置DHCP中继3-2</vt:lpstr>
      <vt:lpstr>三层交换机配置DHCP中继3-3</vt:lpstr>
      <vt:lpstr>本章总结</vt:lpstr>
      <vt:lpstr>实验案例：三层交换机配置3-1</vt:lpstr>
      <vt:lpstr>实验案例：三层交换机配置3-2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168</cp:revision>
  <dcterms:created xsi:type="dcterms:W3CDTF">2019-12-12T13:30:13Z</dcterms:created>
  <dcterms:modified xsi:type="dcterms:W3CDTF">2021-10-14T05:35:34Z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