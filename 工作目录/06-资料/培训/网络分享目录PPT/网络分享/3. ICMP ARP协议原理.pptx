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19"/>
  </p:notesMasterIdLst>
  <p:sldIdLst>
    <p:sldId id="479" r:id="rId2"/>
    <p:sldId id="565" r:id="rId3"/>
    <p:sldId id="566" r:id="rId4"/>
    <p:sldId id="586" r:id="rId5"/>
    <p:sldId id="568" r:id="rId6"/>
    <p:sldId id="569" r:id="rId7"/>
    <p:sldId id="570" r:id="rId8"/>
    <p:sldId id="571" r:id="rId9"/>
    <p:sldId id="572" r:id="rId10"/>
    <p:sldId id="573" r:id="rId11"/>
    <p:sldId id="574" r:id="rId12"/>
    <p:sldId id="575" r:id="rId13"/>
    <p:sldId id="576" r:id="rId14"/>
    <p:sldId id="577" r:id="rId15"/>
    <p:sldId id="578" r:id="rId16"/>
    <p:sldId id="579" r:id="rId17"/>
    <p:sldId id="298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776B"/>
    <a:srgbClr val="E44C3C"/>
    <a:srgbClr val="BC291A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50" autoAdjust="0"/>
    <p:restoredTop sz="95232" autoAdjust="0"/>
  </p:normalViewPr>
  <p:slideViewPr>
    <p:cSldViewPr snapToGrid="0">
      <p:cViewPr varScale="1">
        <p:scale>
          <a:sx n="40" d="100"/>
          <a:sy n="40" d="100"/>
        </p:scale>
        <p:origin x="81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6680" y="726440"/>
            <a:ext cx="6704640" cy="377136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2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217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218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219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1435F71D-641E-4ECC-830F-6558CD869574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12153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1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fld id="{821FE408-3839-4F4C-98BA-50DB1117324D}" type="slidenum">
              <a:rPr lang="en-US" sz="1200" b="0" strike="noStrike" spc="-1">
                <a:solidFill>
                  <a:srgbClr val="000000"/>
                </a:solidFill>
                <a:latin typeface="Arial"/>
                <a:ea typeface="宋体"/>
              </a:rPr>
              <a:t>1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6269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93F05E-55AC-4435-AF90-D20A4819D089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F17A8D3-9F41-42C7-9049-3AC80CB7E5EF}" type="slidenum">
              <a:rPr lang="zh-CN" altLang="en-US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dirty="0">
                <a:ea typeface="宋体" charset="-122"/>
              </a:rPr>
              <a:t>由于使用自动分配</a:t>
            </a:r>
            <a:r>
              <a:rPr lang="en-US" altLang="zh-CN" dirty="0">
                <a:ea typeface="宋体" charset="-122"/>
              </a:rPr>
              <a:t>IP</a:t>
            </a:r>
            <a:r>
              <a:rPr lang="zh-CN" altLang="en-US" dirty="0">
                <a:ea typeface="宋体" charset="-122"/>
              </a:rPr>
              <a:t>地址，网络管理员将无法知道每个主机获得的</a:t>
            </a:r>
            <a:r>
              <a:rPr lang="en-US" altLang="zh-CN" dirty="0">
                <a:ea typeface="宋体" charset="-122"/>
              </a:rPr>
              <a:t>IP</a:t>
            </a:r>
            <a:r>
              <a:rPr lang="zh-CN" altLang="en-US" dirty="0">
                <a:ea typeface="宋体" charset="-122"/>
              </a:rPr>
              <a:t>地址，只知道擅自更改</a:t>
            </a:r>
            <a:r>
              <a:rPr lang="en-US" altLang="zh-CN" dirty="0">
                <a:ea typeface="宋体" charset="-122"/>
              </a:rPr>
              <a:t>IP</a:t>
            </a:r>
            <a:r>
              <a:rPr lang="zh-CN" altLang="en-US" dirty="0">
                <a:ea typeface="宋体" charset="-122"/>
              </a:rPr>
              <a:t>地址的主机正使用的</a:t>
            </a:r>
            <a:r>
              <a:rPr lang="en-US" altLang="zh-CN" dirty="0">
                <a:ea typeface="宋体" charset="-122"/>
              </a:rPr>
              <a:t>IP</a:t>
            </a:r>
            <a:r>
              <a:rPr lang="zh-CN" altLang="en-US" dirty="0">
                <a:ea typeface="宋体" charset="-122"/>
              </a:rPr>
              <a:t>地址是发生</a:t>
            </a:r>
            <a:r>
              <a:rPr lang="en-US" altLang="zh-CN" dirty="0">
                <a:ea typeface="宋体" charset="-122"/>
              </a:rPr>
              <a:t>IP</a:t>
            </a:r>
            <a:r>
              <a:rPr lang="zh-CN" altLang="en-US" dirty="0">
                <a:ea typeface="宋体" charset="-122"/>
              </a:rPr>
              <a:t>地址冲突的主机的</a:t>
            </a:r>
            <a:r>
              <a:rPr lang="en-US" altLang="zh-CN" dirty="0">
                <a:ea typeface="宋体" charset="-122"/>
              </a:rPr>
              <a:t>IP</a:t>
            </a:r>
            <a:r>
              <a:rPr lang="zh-CN" altLang="en-US" dirty="0">
                <a:ea typeface="宋体" charset="-122"/>
              </a:rPr>
              <a:t>地址。但是对于主机来说</a:t>
            </a:r>
            <a:r>
              <a:rPr lang="en-US" altLang="zh-CN" dirty="0">
                <a:ea typeface="宋体" charset="-122"/>
              </a:rPr>
              <a:t>IP</a:t>
            </a:r>
            <a:r>
              <a:rPr lang="zh-CN" altLang="en-US" dirty="0">
                <a:ea typeface="宋体" charset="-122"/>
              </a:rPr>
              <a:t>地址是不固定的，而</a:t>
            </a:r>
            <a:r>
              <a:rPr lang="en-US" altLang="zh-CN" dirty="0">
                <a:ea typeface="宋体" charset="-122"/>
              </a:rPr>
              <a:t>MAC</a:t>
            </a:r>
            <a:r>
              <a:rPr lang="zh-CN" altLang="en-US" dirty="0">
                <a:ea typeface="宋体" charset="-122"/>
              </a:rPr>
              <a:t>地址是不变的，如果能够通过</a:t>
            </a:r>
            <a:r>
              <a:rPr lang="en-US" altLang="zh-CN" dirty="0">
                <a:ea typeface="宋体" charset="-122"/>
              </a:rPr>
              <a:t>IP</a:t>
            </a:r>
            <a:r>
              <a:rPr lang="zh-CN" altLang="en-US" dirty="0">
                <a:ea typeface="宋体" charset="-122"/>
              </a:rPr>
              <a:t>地址查出</a:t>
            </a:r>
            <a:r>
              <a:rPr lang="en-US" altLang="zh-CN" dirty="0">
                <a:ea typeface="宋体" charset="-122"/>
              </a:rPr>
              <a:t>MAC</a:t>
            </a:r>
            <a:r>
              <a:rPr lang="zh-CN" altLang="en-US" dirty="0">
                <a:ea typeface="宋体" charset="-122"/>
              </a:rPr>
              <a:t>地址就可以快速找到更改</a:t>
            </a:r>
            <a:r>
              <a:rPr lang="en-US" altLang="zh-CN" dirty="0">
                <a:ea typeface="宋体" charset="-122"/>
              </a:rPr>
              <a:t>IP</a:t>
            </a:r>
            <a:r>
              <a:rPr lang="zh-CN" altLang="en-US" dirty="0">
                <a:ea typeface="宋体" charset="-122"/>
              </a:rPr>
              <a:t>地址的主机。要知道</a:t>
            </a:r>
            <a:r>
              <a:rPr lang="en-US" altLang="zh-CN" dirty="0">
                <a:ea typeface="宋体" charset="-122"/>
              </a:rPr>
              <a:t>IP</a:t>
            </a:r>
            <a:r>
              <a:rPr lang="zh-CN" altLang="en-US" dirty="0">
                <a:ea typeface="宋体" charset="-122"/>
              </a:rPr>
              <a:t>地址和</a:t>
            </a:r>
            <a:r>
              <a:rPr lang="en-US" altLang="zh-CN" dirty="0">
                <a:ea typeface="宋体" charset="-122"/>
              </a:rPr>
              <a:t>MAC</a:t>
            </a:r>
            <a:r>
              <a:rPr lang="zh-CN" altLang="en-US" dirty="0">
                <a:ea typeface="宋体" charset="-122"/>
              </a:rPr>
              <a:t>地址的对应关系就需要使用</a:t>
            </a:r>
            <a:r>
              <a:rPr lang="en-US" altLang="zh-CN" dirty="0">
                <a:ea typeface="宋体" charset="-122"/>
              </a:rPr>
              <a:t>ARP</a:t>
            </a:r>
            <a:r>
              <a:rPr lang="zh-CN" altLang="en-US" dirty="0">
                <a:ea typeface="宋体" charset="-122"/>
              </a:rPr>
              <a:t>协议。在讲解</a:t>
            </a:r>
            <a:r>
              <a:rPr lang="en-US" altLang="zh-CN" dirty="0">
                <a:ea typeface="宋体" charset="-122"/>
              </a:rPr>
              <a:t>ARP</a:t>
            </a:r>
            <a:r>
              <a:rPr lang="zh-CN" altLang="en-US" dirty="0">
                <a:ea typeface="宋体" charset="-122"/>
              </a:rPr>
              <a:t>协议之前，首先需要了解广播和广播域的概念。</a:t>
            </a:r>
            <a:endParaRPr lang="en-US" altLang="zh-CN" dirty="0">
              <a:ea typeface="宋体" charset="-122"/>
            </a:endParaRPr>
          </a:p>
          <a:p>
            <a:r>
              <a:rPr lang="zh-CN" altLang="en-US" dirty="0">
                <a:ea typeface="宋体" charset="-122"/>
              </a:rPr>
              <a:t>可以通过例子引出广播和广播域的概念。例如：在超市找人时，如果不知道对方的位置就需要到服务台通过广播进行找人，当知道对方的位置时就可以直接到对方所在位置。在网络中也存在这种情况，如果不知道对方的地址就需要进行广播，就发送广播帧，而知道对方的地址就发送单播直接到对方处。所以，广播通信是“一对所有”的通信形式，而单播通信是“一对一”的通信形式。而所有听到找人广播范围就是广播域。由此引出广播和广播域的概念。</a:t>
            </a:r>
            <a:endParaRPr lang="en-US" altLang="zh-CN" dirty="0">
              <a:ea typeface="宋体" charset="-122"/>
            </a:endParaRPr>
          </a:p>
          <a:p>
            <a:endParaRPr lang="en-US" altLang="zh-CN" dirty="0">
              <a:ea typeface="宋体" charset="-122"/>
            </a:endParaRPr>
          </a:p>
          <a:p>
            <a:r>
              <a:rPr lang="zh-CN" altLang="en-US" dirty="0">
                <a:ea typeface="宋体" charset="-122"/>
              </a:rPr>
              <a:t>在了解了广播和广播域以后，在讲解</a:t>
            </a:r>
            <a:r>
              <a:rPr lang="en-US" altLang="zh-CN" dirty="0">
                <a:ea typeface="宋体" charset="-122"/>
              </a:rPr>
              <a:t>MAC</a:t>
            </a:r>
            <a:r>
              <a:rPr lang="zh-CN" altLang="en-US" dirty="0">
                <a:ea typeface="宋体" charset="-122"/>
              </a:rPr>
              <a:t>地址的广播和</a:t>
            </a:r>
            <a:r>
              <a:rPr lang="en-US" altLang="zh-CN" dirty="0">
                <a:ea typeface="宋体" charset="-122"/>
              </a:rPr>
              <a:t>IP</a:t>
            </a:r>
            <a:r>
              <a:rPr lang="zh-CN" altLang="en-US" dirty="0">
                <a:ea typeface="宋体" charset="-122"/>
              </a:rPr>
              <a:t>地址的广播。</a:t>
            </a:r>
            <a:endParaRPr lang="en-US" altLang="zh-CN" dirty="0">
              <a:ea typeface="宋体" charset="-122"/>
            </a:endParaRPr>
          </a:p>
          <a:p>
            <a:r>
              <a:rPr lang="en-US" altLang="zh-CN" dirty="0">
                <a:ea typeface="宋体" charset="-122"/>
              </a:rPr>
              <a:t>1</a:t>
            </a:r>
            <a:r>
              <a:rPr lang="zh-CN" altLang="en-US" dirty="0">
                <a:ea typeface="宋体" charset="-122"/>
              </a:rPr>
              <a:t>、</a:t>
            </a:r>
            <a:r>
              <a:rPr lang="en-US" altLang="zh-CN" dirty="0">
                <a:ea typeface="宋体" charset="-122"/>
              </a:rPr>
              <a:t>MAC</a:t>
            </a:r>
            <a:r>
              <a:rPr lang="zh-CN" altLang="en-US" dirty="0">
                <a:ea typeface="宋体" charset="-122"/>
              </a:rPr>
              <a:t>地址广播域是所有相连接的交换机和集线器的集合。收到广播帧的主机会比较数据包中的目的</a:t>
            </a:r>
            <a:r>
              <a:rPr lang="en-US" altLang="zh-CN" dirty="0">
                <a:ea typeface="宋体" charset="-122"/>
              </a:rPr>
              <a:t>IP</a:t>
            </a:r>
            <a:r>
              <a:rPr lang="zh-CN" altLang="en-US" dirty="0">
                <a:ea typeface="宋体" charset="-122"/>
              </a:rPr>
              <a:t>地址是否为自身</a:t>
            </a:r>
            <a:r>
              <a:rPr lang="en-US" altLang="zh-CN" dirty="0">
                <a:ea typeface="宋体" charset="-122"/>
              </a:rPr>
              <a:t>IP</a:t>
            </a:r>
            <a:r>
              <a:rPr lang="zh-CN" altLang="en-US" dirty="0">
                <a:ea typeface="宋体" charset="-122"/>
              </a:rPr>
              <a:t>地址，如果是则继续处理数据包中的承载数据，如果不是则丢弃数据。</a:t>
            </a:r>
          </a:p>
          <a:p>
            <a:r>
              <a:rPr lang="zh-CN" altLang="en-US" dirty="0">
                <a:ea typeface="宋体" charset="-122"/>
              </a:rPr>
              <a:t>交换机转发</a:t>
            </a:r>
            <a:r>
              <a:rPr lang="en-US" altLang="zh-CN" dirty="0">
                <a:ea typeface="宋体" charset="-122"/>
              </a:rPr>
              <a:t>MAC</a:t>
            </a:r>
            <a:r>
              <a:rPr lang="zh-CN" altLang="en-US" dirty="0">
                <a:ea typeface="宋体" charset="-122"/>
              </a:rPr>
              <a:t>地址广播，而路由器会阻挡</a:t>
            </a:r>
            <a:r>
              <a:rPr lang="en-US" altLang="zh-CN" dirty="0">
                <a:ea typeface="宋体" charset="-122"/>
              </a:rPr>
              <a:t>MAC</a:t>
            </a:r>
            <a:r>
              <a:rPr lang="zh-CN" altLang="en-US" dirty="0">
                <a:ea typeface="宋体" charset="-122"/>
              </a:rPr>
              <a:t>地址广播。</a:t>
            </a:r>
            <a:endParaRPr lang="en-US" altLang="zh-CN" dirty="0">
              <a:ea typeface="宋体" charset="-122"/>
            </a:endParaRPr>
          </a:p>
          <a:p>
            <a:r>
              <a:rPr lang="en-US" altLang="zh-CN" dirty="0">
                <a:ea typeface="宋体" charset="-122"/>
              </a:rPr>
              <a:t>2</a:t>
            </a:r>
            <a:r>
              <a:rPr lang="zh-CN" altLang="en-US" dirty="0">
                <a:ea typeface="宋体" charset="-122"/>
              </a:rPr>
              <a:t>、</a:t>
            </a:r>
            <a:r>
              <a:rPr lang="en-US" altLang="zh-CN" dirty="0">
                <a:ea typeface="宋体" charset="-122"/>
              </a:rPr>
              <a:t>IP</a:t>
            </a:r>
            <a:r>
              <a:rPr lang="zh-CN" altLang="en-US" dirty="0">
                <a:ea typeface="宋体" charset="-122"/>
              </a:rPr>
              <a:t>地址广播，例如：主机</a:t>
            </a:r>
            <a:r>
              <a:rPr lang="en-US" altLang="zh-CN" dirty="0">
                <a:ea typeface="宋体" charset="-122"/>
              </a:rPr>
              <a:t>IP</a:t>
            </a:r>
            <a:r>
              <a:rPr lang="zh-CN" altLang="en-US" dirty="0">
                <a:ea typeface="宋体" charset="-122"/>
              </a:rPr>
              <a:t>地址</a:t>
            </a:r>
            <a:r>
              <a:rPr lang="en-US" altLang="zh-CN" dirty="0">
                <a:ea typeface="宋体" charset="-122"/>
              </a:rPr>
              <a:t>192.168.1.20</a:t>
            </a:r>
            <a:r>
              <a:rPr lang="zh-CN" altLang="en-US" dirty="0">
                <a:ea typeface="宋体" charset="-122"/>
              </a:rPr>
              <a:t>，掩码</a:t>
            </a:r>
            <a:r>
              <a:rPr lang="en-US" altLang="zh-CN" dirty="0">
                <a:ea typeface="宋体" charset="-122"/>
              </a:rPr>
              <a:t>255.255.255.0</a:t>
            </a:r>
            <a:r>
              <a:rPr lang="zh-CN" altLang="en-US" dirty="0">
                <a:ea typeface="宋体" charset="-122"/>
              </a:rPr>
              <a:t>。主机所在网段的广播地址是</a:t>
            </a:r>
            <a:r>
              <a:rPr lang="en-US" altLang="zh-CN" dirty="0">
                <a:ea typeface="宋体" charset="-122"/>
              </a:rPr>
              <a:t>192.168.1.255</a:t>
            </a:r>
            <a:r>
              <a:rPr lang="zh-CN" altLang="en-US" dirty="0">
                <a:ea typeface="宋体" charset="-122"/>
              </a:rPr>
              <a:t>，如果主机发送一个目的</a:t>
            </a:r>
            <a:r>
              <a:rPr lang="en-US" altLang="zh-CN" dirty="0">
                <a:ea typeface="宋体" charset="-122"/>
              </a:rPr>
              <a:t>IP</a:t>
            </a:r>
            <a:r>
              <a:rPr lang="zh-CN" altLang="en-US" dirty="0">
                <a:ea typeface="宋体" charset="-122"/>
              </a:rPr>
              <a:t>地址为</a:t>
            </a:r>
            <a:r>
              <a:rPr lang="en-US" altLang="zh-CN" dirty="0">
                <a:ea typeface="宋体" charset="-122"/>
              </a:rPr>
              <a:t>192.168.1.255</a:t>
            </a:r>
            <a:r>
              <a:rPr lang="zh-CN" altLang="en-US" dirty="0">
                <a:ea typeface="宋体" charset="-122"/>
              </a:rPr>
              <a:t>、目的</a:t>
            </a:r>
            <a:r>
              <a:rPr lang="en-US" altLang="zh-CN" dirty="0">
                <a:ea typeface="宋体" charset="-122"/>
              </a:rPr>
              <a:t>MAC</a:t>
            </a:r>
            <a:r>
              <a:rPr lang="zh-CN" altLang="en-US" dirty="0">
                <a:ea typeface="宋体" charset="-122"/>
              </a:rPr>
              <a:t>地址为</a:t>
            </a:r>
            <a:r>
              <a:rPr lang="en-US" altLang="zh-CN" dirty="0">
                <a:ea typeface="宋体" charset="-122"/>
              </a:rPr>
              <a:t>FF-FF-FF-FF-FF-FF</a:t>
            </a:r>
            <a:r>
              <a:rPr lang="zh-CN" altLang="en-US" dirty="0">
                <a:ea typeface="宋体" charset="-122"/>
              </a:rPr>
              <a:t>的广播。由于目的</a:t>
            </a:r>
            <a:r>
              <a:rPr lang="en-US" altLang="zh-CN" dirty="0">
                <a:ea typeface="宋体" charset="-122"/>
              </a:rPr>
              <a:t>MAC</a:t>
            </a:r>
            <a:r>
              <a:rPr lang="zh-CN" altLang="en-US" dirty="0">
                <a:ea typeface="宋体" charset="-122"/>
              </a:rPr>
              <a:t>地址为广播地址，所以广播域的范围和</a:t>
            </a:r>
            <a:r>
              <a:rPr lang="en-US" altLang="zh-CN" dirty="0">
                <a:ea typeface="宋体" charset="-122"/>
              </a:rPr>
              <a:t>MAC</a:t>
            </a:r>
            <a:r>
              <a:rPr lang="zh-CN" altLang="en-US" dirty="0">
                <a:ea typeface="宋体" charset="-122"/>
              </a:rPr>
              <a:t>地址广播域范围相同。当设备或主机收到此广播后，查看是否属于同一</a:t>
            </a:r>
            <a:r>
              <a:rPr lang="en-US" altLang="zh-CN" dirty="0">
                <a:ea typeface="宋体" charset="-122"/>
              </a:rPr>
              <a:t>IP</a:t>
            </a:r>
            <a:r>
              <a:rPr lang="zh-CN" altLang="en-US" dirty="0">
                <a:ea typeface="宋体" charset="-122"/>
              </a:rPr>
              <a:t>网段，如果处于同一网段则对承载的数据进行处理，否则丢弃数据。</a:t>
            </a:r>
          </a:p>
          <a:p>
            <a:r>
              <a:rPr lang="zh-CN" altLang="en-US" dirty="0">
                <a:ea typeface="宋体" charset="-122"/>
              </a:rPr>
              <a:t>同样路由器会阻挡</a:t>
            </a:r>
            <a:r>
              <a:rPr lang="en-US" altLang="zh-CN" dirty="0">
                <a:ea typeface="宋体" charset="-122"/>
              </a:rPr>
              <a:t>IP</a:t>
            </a:r>
            <a:r>
              <a:rPr lang="zh-CN" altLang="en-US" dirty="0">
                <a:ea typeface="宋体" charset="-122"/>
              </a:rPr>
              <a:t>地址广播。</a:t>
            </a:r>
            <a:endParaRPr lang="en-US" altLang="zh-CN" dirty="0">
              <a:ea typeface="宋体" charset="-122"/>
            </a:endParaRPr>
          </a:p>
          <a:p>
            <a:endParaRPr lang="en-US" altLang="zh-CN" dirty="0">
              <a:ea typeface="宋体" charset="-122"/>
            </a:endParaRPr>
          </a:p>
          <a:p>
            <a:r>
              <a:rPr lang="en-US" altLang="zh-CN" dirty="0">
                <a:ea typeface="宋体" charset="-122"/>
              </a:rPr>
              <a:t>IP</a:t>
            </a:r>
            <a:r>
              <a:rPr lang="zh-CN" altLang="en-US" dirty="0">
                <a:ea typeface="宋体" charset="-122"/>
              </a:rPr>
              <a:t>地址广播有多种（</a:t>
            </a:r>
            <a:r>
              <a:rPr lang="en-US" altLang="zh-CN" dirty="0">
                <a:ea typeface="宋体" charset="-122"/>
              </a:rPr>
              <a:t>255.255.255.255</a:t>
            </a:r>
            <a:r>
              <a:rPr lang="zh-CN" altLang="en-US" dirty="0">
                <a:ea typeface="宋体" charset="-122"/>
              </a:rPr>
              <a:t>等）此处只介绍</a:t>
            </a:r>
            <a:r>
              <a:rPr lang="en-US" altLang="zh-CN" dirty="0">
                <a:ea typeface="宋体" charset="-122"/>
              </a:rPr>
              <a:t>IP</a:t>
            </a:r>
            <a:r>
              <a:rPr lang="zh-CN" altLang="en-US" dirty="0">
                <a:ea typeface="宋体" charset="-122"/>
              </a:rPr>
              <a:t>地址网段的广播。</a:t>
            </a:r>
            <a:endParaRPr lang="en-US" altLang="zh-CN" dirty="0">
              <a:ea typeface="宋体" charset="-122"/>
            </a:endParaRPr>
          </a:p>
          <a:p>
            <a:endParaRPr lang="en-US" altLang="zh-CN" dirty="0">
              <a:ea typeface="宋体" charset="-122"/>
            </a:endParaRPr>
          </a:p>
          <a:p>
            <a:r>
              <a:rPr lang="zh-CN" altLang="en-US" dirty="0">
                <a:ea typeface="宋体" charset="-122"/>
              </a:rPr>
              <a:t>最后通过实例进行说明，加深学员的理解。左图载体主机处于一个广播域，右图</a:t>
            </a:r>
            <a:r>
              <a:rPr lang="en-US" altLang="zh-CN" dirty="0">
                <a:ea typeface="宋体" charset="-122"/>
              </a:rPr>
              <a:t>A</a:t>
            </a:r>
            <a:r>
              <a:rPr lang="zh-CN" altLang="en-US" dirty="0">
                <a:ea typeface="宋体" charset="-122"/>
              </a:rPr>
              <a:t>、</a:t>
            </a:r>
            <a:r>
              <a:rPr lang="en-US" altLang="zh-CN" dirty="0">
                <a:ea typeface="宋体" charset="-122"/>
              </a:rPr>
              <a:t>B</a:t>
            </a:r>
            <a:r>
              <a:rPr lang="zh-CN" altLang="en-US" dirty="0">
                <a:ea typeface="宋体" charset="-122"/>
              </a:rPr>
              <a:t>在一个广播域</a:t>
            </a:r>
            <a:r>
              <a:rPr lang="en-US" altLang="zh-CN" dirty="0">
                <a:ea typeface="宋体" charset="-122"/>
              </a:rPr>
              <a:t>C</a:t>
            </a:r>
            <a:r>
              <a:rPr lang="zh-CN" altLang="en-US" dirty="0">
                <a:ea typeface="宋体" charset="-122"/>
              </a:rPr>
              <a:t>不再一个广播域。</a:t>
            </a: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5D65BA-9EEA-4FC3-BF92-068A12821D06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现在我们来讲解</a:t>
            </a:r>
            <a:r>
              <a:rPr lang="en-US" altLang="zh-CN">
                <a:ea typeface="宋体" charset="-122"/>
              </a:rPr>
              <a:t>ARP</a:t>
            </a:r>
            <a:r>
              <a:rPr lang="zh-CN" altLang="en-US">
                <a:ea typeface="宋体" charset="-122"/>
              </a:rPr>
              <a:t>协议，本页主要介绍</a:t>
            </a:r>
            <a:r>
              <a:rPr lang="en-US" altLang="zh-CN">
                <a:ea typeface="宋体" charset="-122"/>
              </a:rPr>
              <a:t>ARP</a:t>
            </a:r>
            <a:r>
              <a:rPr lang="zh-CN" altLang="en-US">
                <a:ea typeface="宋体" charset="-122"/>
              </a:rPr>
              <a:t>协议的功能，</a:t>
            </a:r>
            <a:r>
              <a:rPr lang="en-US" altLang="zh-CN">
                <a:ea typeface="宋体" charset="-122"/>
              </a:rPr>
              <a:t>ARP</a:t>
            </a:r>
            <a:r>
              <a:rPr lang="zh-CN" altLang="en-US">
                <a:ea typeface="宋体" charset="-122"/>
              </a:rPr>
              <a:t>基本功能就是负责将一个已知的</a:t>
            </a:r>
            <a:r>
              <a:rPr lang="en-US" altLang="zh-CN">
                <a:ea typeface="宋体" charset="-122"/>
              </a:rPr>
              <a:t>IP</a:t>
            </a:r>
            <a:r>
              <a:rPr lang="zh-CN" altLang="en-US">
                <a:ea typeface="宋体" charset="-122"/>
              </a:rPr>
              <a:t>地址解析成</a:t>
            </a:r>
            <a:r>
              <a:rPr lang="en-US" altLang="zh-CN">
                <a:ea typeface="宋体" charset="-122"/>
              </a:rPr>
              <a:t>MAC</a:t>
            </a:r>
            <a:r>
              <a:rPr lang="zh-CN" altLang="en-US">
                <a:ea typeface="宋体" charset="-122"/>
              </a:rPr>
              <a:t>地址，以便在交换机上通过</a:t>
            </a:r>
            <a:r>
              <a:rPr lang="en-US" altLang="zh-CN">
                <a:ea typeface="宋体" charset="-122"/>
              </a:rPr>
              <a:t>MAC</a:t>
            </a:r>
            <a:r>
              <a:rPr lang="zh-CN" altLang="en-US">
                <a:ea typeface="宋体" charset="-122"/>
              </a:rPr>
              <a:t>地址进行通信。然后提问那么</a:t>
            </a:r>
            <a:r>
              <a:rPr lang="en-US" altLang="zh-CN">
                <a:ea typeface="宋体" charset="-122"/>
              </a:rPr>
              <a:t>ARP</a:t>
            </a:r>
            <a:r>
              <a:rPr lang="zh-CN" altLang="en-US">
                <a:ea typeface="宋体" charset="-122"/>
              </a:rPr>
              <a:t>是如何工作的呢？引出下一页。</a:t>
            </a:r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1E1032-9B37-4AE0-B955-5AF82907BB40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solidFill>
                  <a:schemeClr val="tx2"/>
                </a:solidFill>
                <a:ea typeface="宋体" charset="-122"/>
              </a:rPr>
              <a:t>本节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PPT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主要讲解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ARP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协议的工作原理，按照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ppt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所示一步一步进行讲解。</a:t>
            </a:r>
            <a:endParaRPr lang="en-US" altLang="zh-CN">
              <a:solidFill>
                <a:schemeClr val="tx2"/>
              </a:solidFill>
              <a:ea typeface="宋体" charset="-122"/>
            </a:endParaRPr>
          </a:p>
          <a:p>
            <a:r>
              <a:rPr lang="en-US" altLang="zh-CN">
                <a:solidFill>
                  <a:schemeClr val="tx2"/>
                </a:solidFill>
                <a:ea typeface="宋体" charset="-122"/>
              </a:rPr>
              <a:t>1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）主机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PC1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想发送数据给主机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PC2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，它检查自己的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ARP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缓存表。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ARP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缓存表是主机存储在内存中的一个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IP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地址和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MAC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地址一一对应的表。在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Windows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操作系统中可以使用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arp –a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来显示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ARP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缓存表。</a:t>
            </a:r>
          </a:p>
          <a:p>
            <a:r>
              <a:rPr lang="zh-CN" altLang="en-US">
                <a:solidFill>
                  <a:schemeClr val="tx2"/>
                </a:solidFill>
                <a:ea typeface="宋体" charset="-122"/>
              </a:rPr>
              <a:t>如果要查找的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MAC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地址不在表中，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ARP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会发送一个广播，从而发现目的地的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MAC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地址。</a:t>
            </a:r>
          </a:p>
          <a:p>
            <a:r>
              <a:rPr lang="zh-CN" altLang="en-US">
                <a:solidFill>
                  <a:schemeClr val="tx2"/>
                </a:solidFill>
                <a:ea typeface="宋体" charset="-122"/>
              </a:rPr>
              <a:t>经查看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PC1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的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ARP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缓存表中没有发现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PC2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的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MAC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地址，这时，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PC1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会初始化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ARP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请求过程（发送一个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ARP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请求广播），用于发现目标的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MAC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地址。</a:t>
            </a:r>
          </a:p>
          <a:p>
            <a:r>
              <a:rPr lang="en-US" altLang="zh-CN">
                <a:solidFill>
                  <a:schemeClr val="tx2"/>
                </a:solidFill>
                <a:ea typeface="宋体" charset="-122"/>
              </a:rPr>
              <a:t>2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）主机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PC1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发送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ARP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请求信息，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ARP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请求是目的地址为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MAC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广播地址（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FF-FF-FF-FF-FF-FF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）的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MAC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地址广播帧，从而保证所有的设备都能够收到该请求。在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ARP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请求信息中包好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PC1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的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IP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地址和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MAC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地址。</a:t>
            </a:r>
          </a:p>
          <a:p>
            <a:r>
              <a:rPr lang="en-US" altLang="zh-CN">
                <a:solidFill>
                  <a:schemeClr val="tx2"/>
                </a:solidFill>
                <a:ea typeface="宋体" charset="-122"/>
              </a:rPr>
              <a:t>3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）交换机收到广播地址后，发现为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MAC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地址广播，所以将数据帧从即除了接收口之外的所有接口转发出去。主机接收到数据帧后，进行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IP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地址的比较，如果目标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IP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地址与自己的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IP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地址不同，则其会丢弃这个数据包，而只有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PC2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这台主机会在自己的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ARP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表中缓存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PC1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的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IP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地址和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MAC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地址的对应关系，同时发送一个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ARP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应答，来告诉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PC1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自己的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MAC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地址（这个数据帧是单播）。</a:t>
            </a:r>
          </a:p>
          <a:p>
            <a:r>
              <a:rPr lang="en-US" altLang="zh-CN">
                <a:solidFill>
                  <a:schemeClr val="tx2"/>
                </a:solidFill>
                <a:ea typeface="宋体" charset="-122"/>
              </a:rPr>
              <a:t>4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）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PC1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在接收到这个回应的数据帧后，在自己的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ARP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表中添加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PC2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的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IP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地址和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MAC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地址的对应关系。在这个过程中，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Switch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交换机已经学习到了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PC1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和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PC2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的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MAC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地址，之后传输数据时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PC1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和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PC2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之间使用单播方式。</a:t>
            </a:r>
            <a:endParaRPr lang="en-US" altLang="zh-CN">
              <a:solidFill>
                <a:schemeClr val="tx2"/>
              </a:solidFill>
              <a:ea typeface="宋体" charset="-122"/>
            </a:endParaRPr>
          </a:p>
          <a:p>
            <a:endParaRPr lang="en-US" altLang="zh-CN">
              <a:solidFill>
                <a:schemeClr val="tx2"/>
              </a:solidFill>
              <a:ea typeface="宋体" charset="-122"/>
            </a:endParaRPr>
          </a:p>
          <a:p>
            <a:r>
              <a:rPr lang="zh-CN" altLang="en-US">
                <a:solidFill>
                  <a:schemeClr val="tx2"/>
                </a:solidFill>
                <a:ea typeface="宋体" charset="-122"/>
              </a:rPr>
              <a:t>需要注意：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ARP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请求为广播，而</a:t>
            </a:r>
            <a:r>
              <a:rPr lang="en-US" altLang="zh-CN">
                <a:solidFill>
                  <a:schemeClr val="tx2"/>
                </a:solidFill>
                <a:ea typeface="宋体" charset="-122"/>
              </a:rPr>
              <a:t>ARP</a:t>
            </a:r>
            <a:r>
              <a:rPr lang="zh-CN" altLang="en-US">
                <a:solidFill>
                  <a:schemeClr val="tx2"/>
                </a:solidFill>
                <a:ea typeface="宋体" charset="-122"/>
              </a:rPr>
              <a:t>应答为单播。</a:t>
            </a:r>
            <a:endParaRPr lang="en-US" altLang="zh-CN">
              <a:solidFill>
                <a:schemeClr val="tx2"/>
              </a:solidFill>
              <a:ea typeface="宋体" charset="-122"/>
            </a:endParaRPr>
          </a:p>
          <a:p>
            <a:endParaRPr lang="en-US" altLang="zh-CN">
              <a:solidFill>
                <a:schemeClr val="tx2"/>
              </a:solidFill>
              <a:ea typeface="宋体" charset="-122"/>
            </a:endParaRPr>
          </a:p>
          <a:p>
            <a:r>
              <a:rPr lang="zh-CN" altLang="en-US" b="1">
                <a:solidFill>
                  <a:schemeClr val="tx2"/>
                </a:solidFill>
                <a:ea typeface="宋体" charset="-122"/>
              </a:rPr>
              <a:t>补充案例：</a:t>
            </a:r>
            <a:endParaRPr lang="en-US" altLang="zh-CN" b="1">
              <a:solidFill>
                <a:schemeClr val="tx2"/>
              </a:solidFill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对比一个生活实例，假设校长要去班里找一名叫王强的学员，但是校长并不认识他，所以它就在王强的班里喊：“哪位是王强啊？”班里的每一名学员都可以听得到这句话，但是王强只有一个，他会回应校长，“我就是”。这是校长就看见王强并记住他的相貌。过了几天，恰好校长又有事情找王强，这时只要根据他记忆中王强的相貌找到王强即可。</a:t>
            </a:r>
          </a:p>
          <a:p>
            <a:r>
              <a:rPr lang="zh-CN" altLang="en-US">
                <a:ea typeface="宋体" charset="-122"/>
              </a:rPr>
              <a:t>上述故事可以和</a:t>
            </a:r>
            <a:r>
              <a:rPr lang="en-US" altLang="zh-CN">
                <a:ea typeface="宋体" charset="-122"/>
              </a:rPr>
              <a:t>ARP</a:t>
            </a:r>
            <a:r>
              <a:rPr lang="zh-CN" altLang="en-US">
                <a:ea typeface="宋体" charset="-122"/>
              </a:rPr>
              <a:t>查询过程完全吻合，校长和王强就是通讯双方，哪位是王强这句话就是广播，王强的姓名是</a:t>
            </a:r>
            <a:r>
              <a:rPr lang="en-US" altLang="zh-CN">
                <a:ea typeface="宋体" charset="-122"/>
              </a:rPr>
              <a:t>IP</a:t>
            </a:r>
            <a:r>
              <a:rPr lang="zh-CN" altLang="en-US">
                <a:ea typeface="宋体" charset="-122"/>
              </a:rPr>
              <a:t>地址，王强的长相是</a:t>
            </a:r>
            <a:r>
              <a:rPr lang="en-US" altLang="zh-CN">
                <a:ea typeface="宋体" charset="-122"/>
              </a:rPr>
              <a:t>MAC</a:t>
            </a:r>
            <a:r>
              <a:rPr lang="zh-CN" altLang="en-US">
                <a:ea typeface="宋体" charset="-122"/>
              </a:rPr>
              <a:t>地址，正因为校长同时记住了王强的姓名和长相，他才可以不用寻求直接通讯。</a:t>
            </a:r>
            <a:endParaRPr lang="en-US" altLang="zh-CN">
              <a:ea typeface="宋体" charset="-122"/>
            </a:endParaRPr>
          </a:p>
          <a:p>
            <a:endParaRPr lang="en-US" altLang="zh-CN">
              <a:solidFill>
                <a:schemeClr val="tx2"/>
              </a:solidFill>
              <a:ea typeface="宋体" charset="-122"/>
            </a:endParaRPr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0894967-0566-4903-B25B-8C6EE1145687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本页讲解</a:t>
            </a:r>
            <a:r>
              <a:rPr lang="en-US" altLang="zh-CN">
                <a:ea typeface="宋体" charset="-122"/>
              </a:rPr>
              <a:t>ARP</a:t>
            </a:r>
            <a:r>
              <a:rPr lang="zh-CN" altLang="en-US">
                <a:ea typeface="宋体" charset="-122"/>
              </a:rPr>
              <a:t>的相关配置，我们分别从</a:t>
            </a:r>
            <a:r>
              <a:rPr lang="en-US" altLang="zh-CN">
                <a:ea typeface="宋体" charset="-122"/>
              </a:rPr>
              <a:t>windows</a:t>
            </a:r>
            <a:r>
              <a:rPr lang="zh-CN" altLang="en-US">
                <a:ea typeface="宋体" charset="-122"/>
              </a:rPr>
              <a:t>系统和</a:t>
            </a:r>
            <a:r>
              <a:rPr lang="en-US" altLang="zh-CN">
                <a:ea typeface="宋体" charset="-122"/>
              </a:rPr>
              <a:t>Cisco</a:t>
            </a:r>
            <a:r>
              <a:rPr lang="zh-CN" altLang="en-US">
                <a:ea typeface="宋体" charset="-122"/>
              </a:rPr>
              <a:t>设备两方面分别对</a:t>
            </a:r>
            <a:r>
              <a:rPr lang="en-US" altLang="zh-CN">
                <a:ea typeface="宋体" charset="-122"/>
              </a:rPr>
              <a:t>ARP</a:t>
            </a:r>
            <a:r>
              <a:rPr lang="zh-CN" altLang="en-US">
                <a:ea typeface="宋体" charset="-122"/>
              </a:rPr>
              <a:t>命令进行讲解。本页主要讲解</a:t>
            </a:r>
            <a:r>
              <a:rPr lang="en-US" altLang="zh-CN">
                <a:ea typeface="宋体" charset="-122"/>
              </a:rPr>
              <a:t>Windows</a:t>
            </a:r>
            <a:r>
              <a:rPr lang="zh-CN" altLang="en-US">
                <a:ea typeface="宋体" charset="-122"/>
              </a:rPr>
              <a:t>系统的</a:t>
            </a:r>
            <a:r>
              <a:rPr lang="en-US" altLang="zh-CN">
                <a:ea typeface="宋体" charset="-122"/>
              </a:rPr>
              <a:t>ARP</a:t>
            </a:r>
            <a:r>
              <a:rPr lang="zh-CN" altLang="en-US">
                <a:ea typeface="宋体" charset="-122"/>
              </a:rPr>
              <a:t>命令，讲解完命令后教员需要进行演示，首先绑定一个</a:t>
            </a:r>
            <a:r>
              <a:rPr lang="en-US" altLang="zh-CN">
                <a:ea typeface="宋体" charset="-122"/>
              </a:rPr>
              <a:t>ARP</a:t>
            </a:r>
            <a:r>
              <a:rPr lang="zh-CN" altLang="en-US">
                <a:ea typeface="宋体" charset="-122"/>
              </a:rPr>
              <a:t>条目；然后查看</a:t>
            </a:r>
            <a:r>
              <a:rPr lang="en-US" altLang="zh-CN">
                <a:ea typeface="宋体" charset="-122"/>
              </a:rPr>
              <a:t>ARP</a:t>
            </a:r>
            <a:r>
              <a:rPr lang="zh-CN" altLang="en-US">
                <a:ea typeface="宋体" charset="-122"/>
              </a:rPr>
              <a:t>缓存表，说明绑定的</a:t>
            </a:r>
            <a:r>
              <a:rPr lang="en-US" altLang="zh-CN">
                <a:ea typeface="宋体" charset="-122"/>
              </a:rPr>
              <a:t>ARP</a:t>
            </a:r>
            <a:r>
              <a:rPr lang="zh-CN" altLang="en-US">
                <a:ea typeface="宋体" charset="-122"/>
              </a:rPr>
              <a:t>和动态学习到的</a:t>
            </a:r>
            <a:r>
              <a:rPr lang="en-US" altLang="zh-CN">
                <a:ea typeface="宋体" charset="-122"/>
              </a:rPr>
              <a:t>ARP</a:t>
            </a:r>
            <a:r>
              <a:rPr lang="zh-CN" altLang="en-US">
                <a:ea typeface="宋体" charset="-122"/>
              </a:rPr>
              <a:t>类型的区别；最后清除</a:t>
            </a:r>
            <a:r>
              <a:rPr lang="en-US" altLang="zh-CN">
                <a:ea typeface="宋体" charset="-122"/>
              </a:rPr>
              <a:t>ARP</a:t>
            </a:r>
            <a:r>
              <a:rPr lang="zh-CN" altLang="en-US">
                <a:ea typeface="宋体" charset="-122"/>
              </a:rPr>
              <a:t>缓存，此处需要明确使用</a:t>
            </a:r>
            <a:r>
              <a:rPr lang="en-US" altLang="zh-CN">
                <a:ea typeface="宋体" charset="-122"/>
              </a:rPr>
              <a:t>arp –d</a:t>
            </a:r>
            <a:r>
              <a:rPr lang="zh-CN" altLang="en-US">
                <a:ea typeface="宋体" charset="-122"/>
              </a:rPr>
              <a:t>命令能够清楚所以</a:t>
            </a:r>
            <a:r>
              <a:rPr lang="en-US" altLang="zh-CN">
                <a:ea typeface="宋体" charset="-122"/>
              </a:rPr>
              <a:t>ARP</a:t>
            </a:r>
            <a:r>
              <a:rPr lang="zh-CN" altLang="en-US">
                <a:ea typeface="宋体" charset="-122"/>
              </a:rPr>
              <a:t>条目</a:t>
            </a:r>
            <a:r>
              <a:rPr lang="zh-CN" altLang="en-US" b="1">
                <a:ea typeface="宋体" charset="-122"/>
              </a:rPr>
              <a:t>（静态绑定和动态学习到的）</a:t>
            </a:r>
            <a:r>
              <a:rPr lang="zh-CN" altLang="en-US">
                <a:ea typeface="宋体" charset="-122"/>
              </a:rPr>
              <a:t>以上这些都需要进行演示。</a:t>
            </a:r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还需要明确动态学习到的</a:t>
            </a:r>
            <a:r>
              <a:rPr lang="en-US" altLang="zh-CN">
                <a:ea typeface="宋体" charset="-122"/>
              </a:rPr>
              <a:t>ARP</a:t>
            </a:r>
            <a:r>
              <a:rPr lang="zh-CN" altLang="en-US">
                <a:ea typeface="宋体" charset="-122"/>
              </a:rPr>
              <a:t>的老化时间是</a:t>
            </a:r>
            <a:r>
              <a:rPr lang="en-US" altLang="zh-CN">
                <a:ea typeface="宋体" charset="-122"/>
              </a:rPr>
              <a:t>120s</a:t>
            </a:r>
            <a:r>
              <a:rPr lang="zh-CN" altLang="en-US">
                <a:ea typeface="宋体" charset="-122"/>
              </a:rPr>
              <a:t>，并且静态绑定的</a:t>
            </a:r>
            <a:r>
              <a:rPr lang="en-US" altLang="zh-CN">
                <a:ea typeface="宋体" charset="-122"/>
              </a:rPr>
              <a:t>ARP</a:t>
            </a:r>
            <a:r>
              <a:rPr lang="zh-CN" altLang="en-US">
                <a:ea typeface="宋体" charset="-122"/>
              </a:rPr>
              <a:t>条目在计算机关机或重启后会消失。</a:t>
            </a:r>
            <a:endParaRPr lang="en-US" altLang="zh-CN">
              <a:ea typeface="宋体" charset="-122"/>
            </a:endParaRPr>
          </a:p>
        </p:txBody>
      </p:sp>
      <p:sp>
        <p:nvSpPr>
          <p:cNvPr id="4506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1E191D-FC3A-4096-9A9D-70C1AD758DD4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sz="1600">
                <a:ea typeface="宋体" charset="-122"/>
              </a:rPr>
              <a:t>本页讲解</a:t>
            </a:r>
            <a:r>
              <a:rPr lang="en-US" altLang="zh-CN" sz="1600">
                <a:ea typeface="宋体" charset="-122"/>
              </a:rPr>
              <a:t>Cisco</a:t>
            </a:r>
            <a:r>
              <a:rPr lang="zh-CN" altLang="en-US" sz="1600">
                <a:ea typeface="宋体" charset="-122"/>
              </a:rPr>
              <a:t>设备上的</a:t>
            </a:r>
            <a:r>
              <a:rPr lang="en-US" altLang="zh-CN" sz="1600">
                <a:ea typeface="宋体" charset="-122"/>
              </a:rPr>
              <a:t>ARP</a:t>
            </a:r>
            <a:r>
              <a:rPr lang="zh-CN" altLang="en-US" sz="1600">
                <a:ea typeface="宋体" charset="-122"/>
              </a:rPr>
              <a:t>命令，明确各种命令的含义、格式和参数，然后教员通过演示加深学员理解。</a:t>
            </a:r>
            <a:endParaRPr lang="en-US" altLang="zh-CN" sz="1600">
              <a:ea typeface="宋体" charset="-122"/>
            </a:endParaRPr>
          </a:p>
          <a:p>
            <a:r>
              <a:rPr lang="zh-CN" altLang="en-US" sz="1600">
                <a:ea typeface="宋体" charset="-122"/>
              </a:rPr>
              <a:t>此处需要明确交换机本身配置的地址在显示的</a:t>
            </a:r>
            <a:r>
              <a:rPr lang="en-US" altLang="zh-CN" sz="1600">
                <a:ea typeface="宋体" charset="-122"/>
              </a:rPr>
              <a:t>ARP</a:t>
            </a:r>
            <a:r>
              <a:rPr lang="zh-CN" altLang="en-US" sz="1600">
                <a:ea typeface="宋体" charset="-122"/>
              </a:rPr>
              <a:t>表中为永久存在的，表中</a:t>
            </a:r>
            <a:r>
              <a:rPr lang="en-US" altLang="zh-CN" sz="1600">
                <a:ea typeface="宋体" charset="-122"/>
              </a:rPr>
              <a:t>Age</a:t>
            </a:r>
            <a:r>
              <a:rPr lang="zh-CN" altLang="en-US" sz="1600">
                <a:ea typeface="宋体" charset="-122"/>
              </a:rPr>
              <a:t>中“</a:t>
            </a:r>
            <a:r>
              <a:rPr lang="en-US" altLang="zh-CN" sz="1600">
                <a:ea typeface="宋体" charset="-122"/>
              </a:rPr>
              <a:t>-</a:t>
            </a:r>
            <a:r>
              <a:rPr lang="zh-CN" altLang="en-US" sz="1600">
                <a:ea typeface="宋体" charset="-122"/>
              </a:rPr>
              <a:t>”表示永久存在，静态绑定的</a:t>
            </a:r>
            <a:r>
              <a:rPr lang="en-US" altLang="zh-CN" sz="1600">
                <a:ea typeface="宋体" charset="-122"/>
              </a:rPr>
              <a:t>ARP</a:t>
            </a:r>
            <a:r>
              <a:rPr lang="zh-CN" altLang="en-US" sz="1600">
                <a:ea typeface="宋体" charset="-122"/>
              </a:rPr>
              <a:t>条目也是永久存在的，如果动态学习到的此项为</a:t>
            </a:r>
            <a:r>
              <a:rPr lang="en-US" altLang="zh-CN" sz="1600">
                <a:ea typeface="宋体" charset="-122"/>
              </a:rPr>
              <a:t>ARP</a:t>
            </a:r>
            <a:r>
              <a:rPr lang="zh-CN" altLang="en-US" sz="1600">
                <a:ea typeface="宋体" charset="-122"/>
              </a:rPr>
              <a:t>条目存在的时间。使用</a:t>
            </a:r>
            <a:r>
              <a:rPr lang="en-US" altLang="zh-CN" sz="1600">
                <a:ea typeface="宋体" charset="-122"/>
              </a:rPr>
              <a:t>clear arp-cache</a:t>
            </a:r>
            <a:r>
              <a:rPr lang="zh-CN" altLang="en-US" sz="1600">
                <a:ea typeface="宋体" charset="-122"/>
              </a:rPr>
              <a:t>命令不能清除绑定的</a:t>
            </a:r>
            <a:r>
              <a:rPr lang="en-US" altLang="zh-CN" sz="1600">
                <a:ea typeface="宋体" charset="-122"/>
              </a:rPr>
              <a:t>ARP</a:t>
            </a:r>
            <a:r>
              <a:rPr lang="zh-CN" altLang="en-US" sz="1600">
                <a:ea typeface="宋体" charset="-122"/>
              </a:rPr>
              <a:t>条目，只能通过</a:t>
            </a:r>
            <a:r>
              <a:rPr lang="en-US" altLang="zh-CN" sz="1600">
                <a:ea typeface="宋体" charset="-122"/>
              </a:rPr>
              <a:t>no</a:t>
            </a:r>
            <a:r>
              <a:rPr lang="zh-CN" altLang="en-US" sz="1600">
                <a:ea typeface="宋体" charset="-122"/>
              </a:rPr>
              <a:t>命令删除绑定的</a:t>
            </a:r>
            <a:r>
              <a:rPr lang="en-US" altLang="zh-CN" sz="1600">
                <a:ea typeface="宋体" charset="-122"/>
              </a:rPr>
              <a:t>ARP</a:t>
            </a:r>
            <a:r>
              <a:rPr lang="zh-CN" altLang="en-US" sz="1600">
                <a:ea typeface="宋体" charset="-122"/>
              </a:rPr>
              <a:t>条目。</a:t>
            </a:r>
            <a:endParaRPr lang="en-US" altLang="zh-CN" sz="1600">
              <a:ea typeface="宋体" charset="-122"/>
            </a:endParaRPr>
          </a:p>
          <a:p>
            <a:endParaRPr lang="en-US" altLang="zh-CN" sz="1600">
              <a:ea typeface="宋体" charset="-122"/>
            </a:endParaRPr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DC4D1D-6E58-47CD-8709-588901275B3E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本页为</a:t>
            </a:r>
            <a:r>
              <a:rPr lang="en-US" altLang="zh-CN">
                <a:ea typeface="宋体" charset="-122"/>
              </a:rPr>
              <a:t>ARP</a:t>
            </a:r>
            <a:r>
              <a:rPr lang="zh-CN" altLang="en-US">
                <a:ea typeface="宋体" charset="-122"/>
              </a:rPr>
              <a:t>原理和配置的演示结合，教员进行演示，由于此页内容前面都已经学习过，所以演示的过程中每一步都可以进行提问让学员回答。</a:t>
            </a:r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0E5C774-DAC0-46B4-B360-2064D38416B6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54E56C7-6C90-4F38-8EC1-BDD39916FFC0}" type="slidenum">
              <a:rPr lang="zh-CN" altLang="en-US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CN">
                <a:ea typeface="宋体" charset="-122"/>
              </a:rPr>
              <a:t>Internet</a:t>
            </a:r>
            <a:r>
              <a:rPr lang="zh-CN" altLang="en-US">
                <a:ea typeface="宋体" charset="-122"/>
              </a:rPr>
              <a:t>控制消息协议</a:t>
            </a:r>
          </a:p>
          <a:p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6E1E5B-09BA-40BD-BE64-19A9951290C4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1435F71D-641E-4ECC-830F-6558CD869574}" type="slidenum">
              <a:rPr lang="en-US" sz="1400" b="0" strike="noStrike" spc="-1" smtClean="0">
                <a:latin typeface="Times New Roman"/>
              </a:rPr>
              <a:t>17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2068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AA452-31F6-42F1-88E2-2BEAFFB3D008}" type="datetimeFigureOut">
              <a:rPr lang="zh-CN" altLang="en-US" smtClean="0"/>
              <a:t>2021/10/14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6C8-063D-4826-91C2-CB3A25A9B5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61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2867" y="765176"/>
            <a:ext cx="98552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828800"/>
            <a:ext cx="10972800" cy="4495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>
          <a:xfrm>
            <a:off x="4165600" y="6400801"/>
            <a:ext cx="3860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 </a:t>
            </a:r>
            <a:fld id="{77E85064-7B43-405F-8D38-0BF6FACCA9C6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/46</a:t>
            </a:r>
          </a:p>
        </p:txBody>
      </p:sp>
    </p:spTree>
    <p:extLst>
      <p:ext uri="{BB962C8B-B14F-4D97-AF65-F5344CB8AC3E}">
        <p14:creationId xmlns:p14="http://schemas.microsoft.com/office/powerpoint/2010/main" val="3016857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2520" y="6760080"/>
            <a:ext cx="12186720" cy="121320"/>
          </a:xfrm>
          <a:prstGeom prst="rect">
            <a:avLst/>
          </a:prstGeom>
          <a:gradFill rotWithShape="0">
            <a:gsLst>
              <a:gs pos="0">
                <a:srgbClr val="007BF7"/>
              </a:gs>
              <a:gs pos="100000">
                <a:srgbClr val="0BB3E8"/>
              </a:gs>
            </a:gsLst>
            <a:lin ang="360000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/>
          <p:cNvSpPr/>
          <p:nvPr/>
        </p:nvSpPr>
        <p:spPr>
          <a:xfrm>
            <a:off x="334440" y="6515640"/>
            <a:ext cx="672840" cy="204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00000"/>
              </a:lnSpc>
              <a:spcBef>
                <a:spcPts val="666"/>
              </a:spcBef>
            </a:pPr>
            <a:fld id="{BE2697B1-93DF-4FA3-9179-2157CC991DBC}" type="slidenum">
              <a:rPr lang="en-US" sz="1340" b="0" strike="noStrike" spc="-1">
                <a:solidFill>
                  <a:srgbClr val="5A5A5A"/>
                </a:solidFill>
                <a:latin typeface="Myriad Pro"/>
                <a:ea typeface="微软雅黑"/>
              </a:rPr>
              <a:t>‹#›</a:t>
            </a:fld>
            <a:endParaRPr lang="en-US" sz="1340" b="0" strike="noStrike" spc="-1">
              <a:latin typeface="Arial"/>
            </a:endParaRPr>
          </a:p>
        </p:txBody>
      </p:sp>
      <p:sp>
        <p:nvSpPr>
          <p:cNvPr id="44" name="CustomShape 3"/>
          <p:cNvSpPr/>
          <p:nvPr/>
        </p:nvSpPr>
        <p:spPr>
          <a:xfrm>
            <a:off x="0" y="165240"/>
            <a:ext cx="670680" cy="2869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87" r:id="rId13"/>
    <p:sldLayoutId id="214748368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wmf"/><Relationship Id="rId4" Type="http://schemas.openxmlformats.org/officeDocument/2006/relationships/image" Target="../media/image3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CustomShape 1"/>
          <p:cNvSpPr/>
          <p:nvPr/>
        </p:nvSpPr>
        <p:spPr>
          <a:xfrm>
            <a:off x="694080" y="753034"/>
            <a:ext cx="10261080" cy="5872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r>
              <a:rPr lang="zh-CN" altLang="en-US" sz="4400"/>
              <a:t>目标</a:t>
            </a:r>
            <a:endParaRPr lang="en-US" altLang="zh-CN" sz="4400" b="1" spc="-1" dirty="0">
              <a:solidFill>
                <a:srgbClr val="4472C4"/>
              </a:solidFill>
              <a:latin typeface="微软雅黑"/>
              <a:ea typeface="微软雅黑"/>
              <a:cs typeface="+mj-cs"/>
            </a:endParaRPr>
          </a:p>
        </p:txBody>
      </p:sp>
      <p:pic>
        <p:nvPicPr>
          <p:cNvPr id="238" name="图片 237"/>
          <p:cNvPicPr/>
          <p:nvPr/>
        </p:nvPicPr>
        <p:blipFill>
          <a:blip r:embed="rId3"/>
          <a:stretch/>
        </p:blipFill>
        <p:spPr>
          <a:xfrm>
            <a:off x="360" y="0"/>
            <a:ext cx="203040" cy="152280"/>
          </a:xfrm>
          <a:prstGeom prst="rect">
            <a:avLst/>
          </a:prstGeom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4B18D5B-7D90-4FE2-B21C-0484B2517CD4}"/>
              </a:ext>
            </a:extLst>
          </p:cNvPr>
          <p:cNvSpPr txBox="1"/>
          <p:nvPr/>
        </p:nvSpPr>
        <p:spPr>
          <a:xfrm>
            <a:off x="3580292" y="1340279"/>
            <a:ext cx="7917628" cy="2608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3200" dirty="0">
              <a:solidFill>
                <a:prstClr val="black">
                  <a:lumMod val="75000"/>
                  <a:lumOff val="25000"/>
                </a:prstClr>
              </a:solidFill>
              <a:latin typeface="包图粗黑体" panose="02000800000000000000" pitchFamily="2" charset="-122"/>
              <a:ea typeface="包图粗黑体" panose="02000800000000000000" pitchFamily="2" charset="-122"/>
            </a:endParaRPr>
          </a:p>
          <a:p>
            <a:pPr marL="514350" indent="-514350">
              <a:spcBef>
                <a:spcPts val="675"/>
              </a:spcBef>
              <a:buAutoNum type="arabicPeriod"/>
            </a:pPr>
            <a:r>
              <a:rPr lang="zh-CN" altLang="en-US" sz="3200" dirty="0">
                <a:solidFill>
                  <a:prstClr val="black">
                    <a:lumMod val="75000"/>
                    <a:lumOff val="25000"/>
                  </a:prstClr>
                </a:solidFill>
                <a:ea typeface="包图粗黑体" panose="02000800000000000000" pitchFamily="2" charset="-122"/>
              </a:rPr>
              <a:t>了解数据包格式</a:t>
            </a:r>
          </a:p>
          <a:p>
            <a:pPr marL="514350" indent="-514350">
              <a:spcBef>
                <a:spcPts val="675"/>
              </a:spcBef>
              <a:buAutoNum type="arabicPeriod"/>
            </a:pPr>
            <a:r>
              <a:rPr lang="zh-CN" altLang="en-US" sz="3200" dirty="0">
                <a:solidFill>
                  <a:prstClr val="black">
                    <a:lumMod val="75000"/>
                    <a:lumOff val="25000"/>
                  </a:prstClr>
                </a:solidFill>
                <a:ea typeface="包图粗黑体" panose="02000800000000000000" pitchFamily="2" charset="-122"/>
              </a:rPr>
              <a:t>理解</a:t>
            </a:r>
            <a:r>
              <a:rPr lang="en-US" altLang="zh-CN" sz="3200" dirty="0">
                <a:solidFill>
                  <a:prstClr val="black">
                    <a:lumMod val="75000"/>
                    <a:lumOff val="25000"/>
                  </a:prstClr>
                </a:solidFill>
                <a:ea typeface="包图粗黑体" panose="02000800000000000000" pitchFamily="2" charset="-122"/>
              </a:rPr>
              <a:t>ARP</a:t>
            </a:r>
            <a:r>
              <a:rPr lang="zh-CN" altLang="en-US" sz="3200" dirty="0">
                <a:solidFill>
                  <a:prstClr val="black">
                    <a:lumMod val="75000"/>
                    <a:lumOff val="25000"/>
                  </a:prstClr>
                </a:solidFill>
                <a:ea typeface="包图粗黑体" panose="02000800000000000000" pitchFamily="2" charset="-122"/>
              </a:rPr>
              <a:t>协议原理</a:t>
            </a:r>
          </a:p>
          <a:p>
            <a:pPr marL="514350" indent="-514350">
              <a:spcBef>
                <a:spcPts val="675"/>
              </a:spcBef>
              <a:buAutoNum type="arabicPeriod"/>
            </a:pPr>
            <a:r>
              <a:rPr lang="zh-CN" altLang="en-US" sz="3200" dirty="0">
                <a:solidFill>
                  <a:prstClr val="black">
                    <a:lumMod val="75000"/>
                    <a:lumOff val="25000"/>
                  </a:prstClr>
                </a:solidFill>
                <a:ea typeface="包图粗黑体" panose="02000800000000000000" pitchFamily="2" charset="-122"/>
              </a:rPr>
              <a:t>理解</a:t>
            </a:r>
            <a:r>
              <a:rPr lang="en-US" altLang="zh-CN" sz="3200" dirty="0">
                <a:solidFill>
                  <a:prstClr val="black">
                    <a:lumMod val="75000"/>
                    <a:lumOff val="25000"/>
                  </a:prstClr>
                </a:solidFill>
                <a:ea typeface="包图粗黑体" panose="02000800000000000000" pitchFamily="2" charset="-122"/>
              </a:rPr>
              <a:t>ICMP</a:t>
            </a:r>
            <a:r>
              <a:rPr lang="zh-CN" altLang="en-US" sz="3200" dirty="0">
                <a:solidFill>
                  <a:prstClr val="black">
                    <a:lumMod val="75000"/>
                    <a:lumOff val="25000"/>
                  </a:prstClr>
                </a:solidFill>
                <a:ea typeface="包图粗黑体" panose="02000800000000000000" pitchFamily="2" charset="-122"/>
              </a:rPr>
              <a:t>协议原理</a:t>
            </a:r>
            <a:endParaRPr lang="zh-CN" altLang="en-US" sz="32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132610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Line 10"/>
          <p:cNvSpPr>
            <a:spLocks noChangeShapeType="1"/>
          </p:cNvSpPr>
          <p:nvPr/>
        </p:nvSpPr>
        <p:spPr bwMode="auto">
          <a:xfrm>
            <a:off x="4254500" y="5457825"/>
            <a:ext cx="2439988" cy="2540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9" name="Line 10"/>
          <p:cNvSpPr>
            <a:spLocks noChangeShapeType="1"/>
          </p:cNvSpPr>
          <p:nvPr/>
        </p:nvSpPr>
        <p:spPr bwMode="auto">
          <a:xfrm>
            <a:off x="4227514" y="3255963"/>
            <a:ext cx="2439987" cy="2540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00" name="Line 10"/>
          <p:cNvSpPr>
            <a:spLocks noChangeShapeType="1"/>
          </p:cNvSpPr>
          <p:nvPr/>
        </p:nvSpPr>
        <p:spPr bwMode="auto">
          <a:xfrm>
            <a:off x="3809984" y="3643314"/>
            <a:ext cx="431800" cy="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11" name="AutoShape 4"/>
          <p:cNvSpPr>
            <a:spLocks noChangeArrowheads="1"/>
          </p:cNvSpPr>
          <p:nvPr/>
        </p:nvSpPr>
        <p:spPr bwMode="auto">
          <a:xfrm>
            <a:off x="1820848" y="3436738"/>
            <a:ext cx="2132012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网络层协议与应用</a:t>
            </a:r>
          </a:p>
        </p:txBody>
      </p:sp>
      <p:sp>
        <p:nvSpPr>
          <p:cNvPr id="12314" name="Line 36"/>
          <p:cNvSpPr>
            <a:spLocks noChangeShapeType="1"/>
          </p:cNvSpPr>
          <p:nvPr/>
        </p:nvSpPr>
        <p:spPr bwMode="auto">
          <a:xfrm>
            <a:off x="4238625" y="1768475"/>
            <a:ext cx="0" cy="370840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 dirty="0">
              <a:latin typeface="Arial" pitchFamily="34" charset="0"/>
            </a:endParaRPr>
          </a:p>
        </p:txBody>
      </p:sp>
      <p:sp>
        <p:nvSpPr>
          <p:cNvPr id="12319" name="AutoShape 5"/>
          <p:cNvSpPr>
            <a:spLocks noChangeArrowheads="1"/>
          </p:cNvSpPr>
          <p:nvPr/>
        </p:nvSpPr>
        <p:spPr bwMode="auto">
          <a:xfrm>
            <a:off x="4485201" y="3071811"/>
            <a:ext cx="2000263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ARP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协议</a:t>
            </a:r>
          </a:p>
        </p:txBody>
      </p:sp>
      <p:sp>
        <p:nvSpPr>
          <p:cNvPr id="40" name="Line 16"/>
          <p:cNvSpPr>
            <a:spLocks noChangeShapeType="1"/>
          </p:cNvSpPr>
          <p:nvPr/>
        </p:nvSpPr>
        <p:spPr bwMode="auto">
          <a:xfrm>
            <a:off x="6655709" y="2775177"/>
            <a:ext cx="360363" cy="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43" name="AutoShape 18"/>
          <p:cNvSpPr>
            <a:spLocks noChangeArrowheads="1"/>
          </p:cNvSpPr>
          <p:nvPr/>
        </p:nvSpPr>
        <p:spPr bwMode="auto">
          <a:xfrm>
            <a:off x="6980032" y="2586259"/>
            <a:ext cx="2700338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广播与广播域</a:t>
            </a:r>
          </a:p>
        </p:txBody>
      </p:sp>
      <p:sp>
        <p:nvSpPr>
          <p:cNvPr id="47" name="Line 37"/>
          <p:cNvSpPr>
            <a:spLocks noChangeShapeType="1"/>
          </p:cNvSpPr>
          <p:nvPr/>
        </p:nvSpPr>
        <p:spPr bwMode="auto">
          <a:xfrm flipH="1">
            <a:off x="6655709" y="2756127"/>
            <a:ext cx="3175" cy="900112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21" name="AutoShape 5"/>
          <p:cNvSpPr>
            <a:spLocks noChangeArrowheads="1"/>
          </p:cNvSpPr>
          <p:nvPr/>
        </p:nvSpPr>
        <p:spPr bwMode="auto">
          <a:xfrm>
            <a:off x="4480885" y="5269008"/>
            <a:ext cx="2000263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ICMP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协议</a:t>
            </a:r>
          </a:p>
        </p:txBody>
      </p:sp>
      <p:sp>
        <p:nvSpPr>
          <p:cNvPr id="23" name="Line 36"/>
          <p:cNvSpPr>
            <a:spLocks noChangeShapeType="1"/>
          </p:cNvSpPr>
          <p:nvPr/>
        </p:nvSpPr>
        <p:spPr bwMode="auto">
          <a:xfrm rot="16200000" flipH="1">
            <a:off x="4965861" y="1027489"/>
            <a:ext cx="45719" cy="1500185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20" name="AutoShape 5"/>
          <p:cNvSpPr>
            <a:spLocks noChangeArrowheads="1"/>
          </p:cNvSpPr>
          <p:nvPr/>
        </p:nvSpPr>
        <p:spPr bwMode="auto">
          <a:xfrm>
            <a:off x="4481514" y="1571612"/>
            <a:ext cx="1971675" cy="374650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IP</a:t>
            </a: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数据包格式</a:t>
            </a:r>
          </a:p>
        </p:txBody>
      </p:sp>
      <p:sp>
        <p:nvSpPr>
          <p:cNvPr id="28" name="Line 16"/>
          <p:cNvSpPr>
            <a:spLocks noChangeShapeType="1"/>
          </p:cNvSpPr>
          <p:nvPr/>
        </p:nvSpPr>
        <p:spPr bwMode="auto">
          <a:xfrm>
            <a:off x="6666821" y="3656239"/>
            <a:ext cx="360362" cy="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31" name="Line 25"/>
          <p:cNvSpPr>
            <a:spLocks noChangeShapeType="1"/>
          </p:cNvSpPr>
          <p:nvPr/>
        </p:nvSpPr>
        <p:spPr bwMode="auto">
          <a:xfrm flipV="1">
            <a:off x="6683375" y="5983289"/>
            <a:ext cx="431800" cy="1587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32" name="Line 16"/>
          <p:cNvSpPr>
            <a:spLocks noChangeShapeType="1"/>
          </p:cNvSpPr>
          <p:nvPr/>
        </p:nvSpPr>
        <p:spPr bwMode="auto">
          <a:xfrm>
            <a:off x="6678614" y="5000625"/>
            <a:ext cx="358775" cy="0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33" name="Line 14"/>
          <p:cNvSpPr>
            <a:spLocks noChangeShapeType="1"/>
          </p:cNvSpPr>
          <p:nvPr/>
        </p:nvSpPr>
        <p:spPr bwMode="auto">
          <a:xfrm flipH="1">
            <a:off x="6683376" y="4989513"/>
            <a:ext cx="11113" cy="1008062"/>
          </a:xfrm>
          <a:prstGeom prst="line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45" name="AutoShape 28"/>
          <p:cNvSpPr>
            <a:spLocks noChangeArrowheads="1"/>
          </p:cNvSpPr>
          <p:nvPr/>
        </p:nvSpPr>
        <p:spPr bwMode="auto">
          <a:xfrm>
            <a:off x="6978412" y="3497572"/>
            <a:ext cx="2700338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ARP</a:t>
            </a: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协议原理</a:t>
            </a:r>
          </a:p>
        </p:txBody>
      </p:sp>
      <p:sp>
        <p:nvSpPr>
          <p:cNvPr id="26" name="AutoShape 28"/>
          <p:cNvSpPr>
            <a:spLocks noChangeArrowheads="1"/>
          </p:cNvSpPr>
          <p:nvPr/>
        </p:nvSpPr>
        <p:spPr bwMode="auto">
          <a:xfrm>
            <a:off x="7003312" y="4857761"/>
            <a:ext cx="2700338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ICMP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的主要功能</a:t>
            </a:r>
          </a:p>
        </p:txBody>
      </p:sp>
      <p:sp>
        <p:nvSpPr>
          <p:cNvPr id="27" name="AutoShape 28"/>
          <p:cNvSpPr>
            <a:spLocks noChangeArrowheads="1"/>
          </p:cNvSpPr>
          <p:nvPr/>
        </p:nvSpPr>
        <p:spPr bwMode="auto">
          <a:xfrm>
            <a:off x="7003312" y="5769074"/>
            <a:ext cx="2700338" cy="374571"/>
          </a:xfrm>
          <a:prstGeom prst="roundRect">
            <a:avLst>
              <a:gd name="adj" fmla="val 16667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ICMP</a:t>
            </a: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的基本使用</a:t>
            </a:r>
          </a:p>
        </p:txBody>
      </p:sp>
      <p:sp>
        <p:nvSpPr>
          <p:cNvPr id="24" name="标题 2"/>
          <p:cNvSpPr>
            <a:spLocks noGrp="1"/>
          </p:cNvSpPr>
          <p:nvPr>
            <p:ph type="title"/>
          </p:nvPr>
        </p:nvSpPr>
        <p:spPr>
          <a:xfrm>
            <a:off x="1752600" y="146032"/>
            <a:ext cx="8763000" cy="639763"/>
          </a:xfrm>
        </p:spPr>
        <p:txBody>
          <a:bodyPr/>
          <a:lstStyle/>
          <a:p>
            <a:r>
              <a:rPr lang="zh-CN" altLang="en-US" dirty="0"/>
              <a:t>本章结构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60"/>
                            </p:stCondLst>
                            <p:childTnLst>
                              <p:par>
                                <p:cTn id="11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12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fill="hold"/>
                                        <p:tgtEl>
                                          <p:spTgt spid="12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" dur="1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60"/>
                            </p:stCondLst>
                            <p:childTnLst>
                              <p:par>
                                <p:cTn id="17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" fill="hold"/>
                                        <p:tgtEl>
                                          <p:spTgt spid="12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fill="hold"/>
                                        <p:tgtEl>
                                          <p:spTgt spid="12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60"/>
                            </p:stCondLst>
                            <p:childTnLst>
                              <p:par>
                                <p:cTn id="23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7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" fill="hold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" fill="hold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2" dur="1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7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60"/>
                            </p:stCondLst>
                            <p:childTnLst>
                              <p:par>
                                <p:cTn id="39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1" dur="100"/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2" dur="100"/>
                                        <p:tgtEl>
                                          <p:spTgt spid="123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00"/>
                                        <p:tgtEl>
                                          <p:spTgt spid="123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6" dur="100"/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7" dur="100"/>
                                        <p:tgtEl>
                                          <p:spTgt spid="123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00"/>
                                        <p:tgtEl>
                                          <p:spTgt spid="123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1" dur="1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2" dur="1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60"/>
                            </p:stCondLst>
                            <p:childTnLst>
                              <p:par>
                                <p:cTn id="5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60"/>
                            </p:stCondLst>
                            <p:childTnLst>
                              <p:par>
                                <p:cTn id="66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060"/>
                            </p:stCondLst>
                            <p:childTnLst>
                              <p:par>
                                <p:cTn id="87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9" dur="80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0" dur="80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" dur="80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4" dur="80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5" dur="80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80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9" dur="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0" dur="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" dur="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4" dur="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5" dur="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12299" grpId="0" animBg="1"/>
      <p:bldP spid="12300" grpId="0" animBg="1"/>
      <p:bldP spid="12311" grpId="0" animBg="1"/>
      <p:bldP spid="12314" grpId="0" animBg="1"/>
      <p:bldP spid="12319" grpId="0" animBg="1"/>
      <p:bldP spid="40" grpId="0" animBg="1"/>
      <p:bldP spid="43" grpId="0" animBg="1"/>
      <p:bldP spid="47" grpId="0" animBg="1"/>
      <p:bldP spid="21" grpId="0" animBg="1"/>
      <p:bldP spid="23" grpId="0" animBg="1"/>
      <p:bldP spid="12320" grpId="0" animBg="1"/>
      <p:bldP spid="28" grpId="0" animBg="1"/>
      <p:bldP spid="31" grpId="0" animBg="1"/>
      <p:bldP spid="32" grpId="0" animBg="1"/>
      <p:bldP spid="33" grpId="0" animBg="1"/>
      <p:bldP spid="4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网络层的功能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定义了基于</a:t>
            </a:r>
            <a:r>
              <a:rPr lang="en-US" altLang="zh-CN"/>
              <a:t>IP</a:t>
            </a:r>
            <a:r>
              <a:rPr lang="zh-CN" altLang="en-US"/>
              <a:t>协议的逻辑地址</a:t>
            </a:r>
          </a:p>
          <a:p>
            <a:pPr>
              <a:spcBef>
                <a:spcPts val="675"/>
              </a:spcBef>
            </a:pPr>
            <a:r>
              <a:rPr lang="zh-CN" altLang="en-US"/>
              <a:t>连接不同的媒介类型</a:t>
            </a:r>
          </a:p>
          <a:p>
            <a:pPr>
              <a:spcBef>
                <a:spcPts val="675"/>
              </a:spcBef>
            </a:pPr>
            <a:r>
              <a:rPr lang="zh-CN" altLang="en-US"/>
              <a:t>选择数据通过网络的最佳路径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992438" y="150813"/>
            <a:ext cx="7391400" cy="563562"/>
          </a:xfrm>
        </p:spPr>
        <p:txBody>
          <a:bodyPr/>
          <a:lstStyle/>
          <a:p>
            <a:r>
              <a:rPr lang="en-US" altLang="zh-CN"/>
              <a:t>IP</a:t>
            </a:r>
            <a:r>
              <a:rPr lang="zh-CN" altLang="en-US"/>
              <a:t>数据包格式</a:t>
            </a:r>
          </a:p>
        </p:txBody>
      </p:sp>
      <p:graphicFrame>
        <p:nvGraphicFramePr>
          <p:cNvPr id="551168" name="Group 256"/>
          <p:cNvGraphicFramePr>
            <a:graphicFrameLocks noGrp="1"/>
          </p:cNvGraphicFramePr>
          <p:nvPr>
            <p:ph idx="1"/>
          </p:nvPr>
        </p:nvGraphicFramePr>
        <p:xfrm>
          <a:off x="1943101" y="1428750"/>
          <a:ext cx="7927975" cy="451485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21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7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版本（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）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首部长度（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）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优先级与服务类型（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）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总长度（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16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）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标识符（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16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）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标志（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）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段偏移量（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13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）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3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TTL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（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）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协议号（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）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首部校验和（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16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）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5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源地址（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32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）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38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目标地址（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32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）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275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可选项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38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数据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51150" name="Oval 238"/>
          <p:cNvSpPr>
            <a:spLocks noChangeArrowheads="1"/>
          </p:cNvSpPr>
          <p:nvPr/>
        </p:nvSpPr>
        <p:spPr bwMode="auto">
          <a:xfrm>
            <a:off x="1881188" y="2149475"/>
            <a:ext cx="7631112" cy="503238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>
            <a:prstShdw prst="shdw17" dist="17961" dir="2700000">
              <a:srgbClr val="990000"/>
            </a:prst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1151" name="Oval 239"/>
          <p:cNvSpPr>
            <a:spLocks noChangeArrowheads="1"/>
          </p:cNvSpPr>
          <p:nvPr/>
        </p:nvSpPr>
        <p:spPr bwMode="auto">
          <a:xfrm>
            <a:off x="4329114" y="4597401"/>
            <a:ext cx="3260725" cy="576263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>
            <a:prstShdw prst="shdw17" dist="17961" dir="2700000">
              <a:srgbClr val="990000"/>
            </a:prst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47" name="Line 243"/>
          <p:cNvSpPr>
            <a:spLocks noChangeShapeType="1"/>
          </p:cNvSpPr>
          <p:nvPr/>
        </p:nvSpPr>
        <p:spPr bwMode="auto">
          <a:xfrm>
            <a:off x="10007601" y="1428750"/>
            <a:ext cx="2889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3348" name="Line 244"/>
          <p:cNvSpPr>
            <a:spLocks noChangeShapeType="1"/>
          </p:cNvSpPr>
          <p:nvPr/>
        </p:nvSpPr>
        <p:spPr bwMode="auto">
          <a:xfrm>
            <a:off x="10007601" y="4597400"/>
            <a:ext cx="2889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3349" name="Line 245"/>
          <p:cNvSpPr>
            <a:spLocks noChangeShapeType="1"/>
          </p:cNvSpPr>
          <p:nvPr/>
        </p:nvSpPr>
        <p:spPr bwMode="auto">
          <a:xfrm flipV="1">
            <a:off x="10152063" y="1428751"/>
            <a:ext cx="0" cy="10080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3350" name="Line 246"/>
          <p:cNvSpPr>
            <a:spLocks noChangeShapeType="1"/>
          </p:cNvSpPr>
          <p:nvPr/>
        </p:nvSpPr>
        <p:spPr bwMode="auto">
          <a:xfrm>
            <a:off x="10152063" y="3517900"/>
            <a:ext cx="0" cy="1079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3351" name="Text Box 247"/>
          <p:cNvSpPr txBox="1">
            <a:spLocks noChangeArrowheads="1"/>
          </p:cNvSpPr>
          <p:nvPr/>
        </p:nvSpPr>
        <p:spPr bwMode="auto">
          <a:xfrm>
            <a:off x="10007601" y="2508250"/>
            <a:ext cx="684213" cy="91598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/>
              <a:t>20</a:t>
            </a:r>
            <a:br>
              <a:rPr lang="en-US" altLang="zh-CN" b="1"/>
            </a:br>
            <a:r>
              <a:rPr lang="zh-CN" altLang="en-US" b="1"/>
              <a:t>字</a:t>
            </a:r>
            <a:br>
              <a:rPr lang="zh-CN" altLang="en-US" b="1"/>
            </a:br>
            <a:r>
              <a:rPr lang="zh-CN" altLang="en-US" b="1"/>
              <a:t>节</a:t>
            </a:r>
          </a:p>
        </p:txBody>
      </p:sp>
      <p:sp>
        <p:nvSpPr>
          <p:cNvPr id="551160" name="AutoShape 248"/>
          <p:cNvSpPr>
            <a:spLocks noChangeArrowheads="1"/>
          </p:cNvSpPr>
          <p:nvPr/>
        </p:nvSpPr>
        <p:spPr bwMode="auto">
          <a:xfrm>
            <a:off x="2663826" y="2292351"/>
            <a:ext cx="2384425" cy="504825"/>
          </a:xfrm>
          <a:prstGeom prst="wedgeRoundRectCallout">
            <a:avLst>
              <a:gd name="adj1" fmla="val -41968"/>
              <a:gd name="adj2" fmla="val -106602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版本字段，</a:t>
            </a:r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IP v4</a:t>
            </a:r>
            <a:endParaRPr lang="zh-CN" altLang="en-US" sz="20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51161" name="AutoShape 249"/>
          <p:cNvSpPr>
            <a:spLocks noChangeArrowheads="1"/>
          </p:cNvSpPr>
          <p:nvPr/>
        </p:nvSpPr>
        <p:spPr bwMode="auto">
          <a:xfrm>
            <a:off x="5111751" y="2220914"/>
            <a:ext cx="2016125" cy="1081087"/>
          </a:xfrm>
          <a:prstGeom prst="wedgeRoundRectCallout">
            <a:avLst>
              <a:gd name="adj1" fmla="val -46065"/>
              <a:gd name="adj2" fmla="val -76579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优先级与服务类型，提供</a:t>
            </a:r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层的</a:t>
            </a:r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QoS</a:t>
            </a:r>
          </a:p>
        </p:txBody>
      </p:sp>
      <p:sp>
        <p:nvSpPr>
          <p:cNvPr id="551163" name="AutoShape 251"/>
          <p:cNvSpPr>
            <a:spLocks noChangeArrowheads="1"/>
          </p:cNvSpPr>
          <p:nvPr/>
        </p:nvSpPr>
        <p:spPr bwMode="auto">
          <a:xfrm>
            <a:off x="3455989" y="2220914"/>
            <a:ext cx="2016125" cy="1081087"/>
          </a:xfrm>
          <a:prstGeom prst="wedgeRoundRectCallout">
            <a:avLst>
              <a:gd name="adj1" fmla="val -36773"/>
              <a:gd name="adj2" fmla="val -80838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IP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包头部长度，因为长度可变，因此需要定义</a:t>
            </a:r>
          </a:p>
        </p:txBody>
      </p:sp>
      <p:sp>
        <p:nvSpPr>
          <p:cNvPr id="551164" name="AutoShape 252"/>
          <p:cNvSpPr>
            <a:spLocks noChangeArrowheads="1"/>
          </p:cNvSpPr>
          <p:nvPr/>
        </p:nvSpPr>
        <p:spPr bwMode="auto">
          <a:xfrm>
            <a:off x="7559676" y="2292351"/>
            <a:ext cx="2016125" cy="504825"/>
          </a:xfrm>
          <a:prstGeom prst="wedgeRoundRectCallout">
            <a:avLst>
              <a:gd name="adj1" fmla="val -46616"/>
              <a:gd name="adj2" fmla="val -106917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IP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数据总长度</a:t>
            </a:r>
            <a:endParaRPr lang="en-US" altLang="zh-CN" sz="20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51165" name="AutoShape 253"/>
          <p:cNvSpPr>
            <a:spLocks noChangeArrowheads="1"/>
          </p:cNvSpPr>
          <p:nvPr/>
        </p:nvSpPr>
        <p:spPr bwMode="auto">
          <a:xfrm>
            <a:off x="4967289" y="2941638"/>
            <a:ext cx="4103687" cy="1511300"/>
          </a:xfrm>
          <a:prstGeom prst="wedgeRoundRectCallout">
            <a:avLst>
              <a:gd name="adj1" fmla="val 5704"/>
              <a:gd name="adj2" fmla="val -67963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上层来的数据到</a:t>
            </a:r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IP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层会被分片，这几个字段用来对数据包进行标识，使数据到达目的端重组的时候，不会乱序</a:t>
            </a:r>
            <a:endParaRPr lang="en-US" altLang="zh-CN" sz="20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51166" name="AutoShape 254"/>
          <p:cNvSpPr>
            <a:spLocks noChangeArrowheads="1"/>
          </p:cNvSpPr>
          <p:nvPr/>
        </p:nvSpPr>
        <p:spPr bwMode="auto">
          <a:xfrm>
            <a:off x="2519364" y="3444876"/>
            <a:ext cx="3024187" cy="1655763"/>
          </a:xfrm>
          <a:prstGeom prst="wedgeRoundRectCallout">
            <a:avLst>
              <a:gd name="adj1" fmla="val -44801"/>
              <a:gd name="adj2" fmla="val -65148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生命周期字段，经过一个路由器值减</a:t>
            </a:r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，为</a:t>
            </a:r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时，数据包丢弃。为了防止一个数据包在网络中无限的循环下去</a:t>
            </a:r>
          </a:p>
        </p:txBody>
      </p:sp>
      <p:sp>
        <p:nvSpPr>
          <p:cNvPr id="551167" name="AutoShape 255"/>
          <p:cNvSpPr>
            <a:spLocks noChangeArrowheads="1"/>
          </p:cNvSpPr>
          <p:nvPr/>
        </p:nvSpPr>
        <p:spPr bwMode="auto">
          <a:xfrm>
            <a:off x="4248151" y="3589338"/>
            <a:ext cx="2735263" cy="1439862"/>
          </a:xfrm>
          <a:prstGeom prst="wedgeRoundRectCallout">
            <a:avLst>
              <a:gd name="adj1" fmla="val -39032"/>
              <a:gd name="adj2" fmla="val -77565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协议字段，用来标识封装的上层数据是</a:t>
            </a:r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UDP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还是</a:t>
            </a:r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TCP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UDP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17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TCP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51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5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5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551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51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51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551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5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551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51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5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551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" dur="500"/>
                                        <p:tgtEl>
                                          <p:spTgt spid="551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551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551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551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1150" grpId="0" animBg="1"/>
      <p:bldP spid="551150" grpId="1" animBg="1"/>
      <p:bldP spid="551151" grpId="0" animBg="1"/>
      <p:bldP spid="551151" grpId="1" animBg="1"/>
      <p:bldP spid="551160" grpId="0" animBg="1"/>
      <p:bldP spid="551160" grpId="1" animBg="1"/>
      <p:bldP spid="551161" grpId="0" animBg="1"/>
      <p:bldP spid="551163" grpId="0" animBg="1"/>
      <p:bldP spid="551163" grpId="1" animBg="1"/>
      <p:bldP spid="551164" grpId="0" animBg="1"/>
      <p:bldP spid="551165" grpId="0" animBg="1"/>
      <p:bldP spid="551165" grpId="1" animBg="1"/>
      <p:bldP spid="551166" grpId="0" animBg="1"/>
      <p:bldP spid="551166" grpId="1" animBg="1"/>
      <p:bldP spid="551167" grpId="0" animBg="1"/>
      <p:bldP spid="55116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广播与广播域概述</a:t>
            </a:r>
          </a:p>
        </p:txBody>
      </p:sp>
      <p:sp>
        <p:nvSpPr>
          <p:cNvPr id="20" name="内容占位符 19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广播与广播域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广播：将广播地址做为目的地址的数据帧</a:t>
            </a: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广播域：网络中能接收到同一个广播所有节点的集合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r>
              <a:rPr lang="en-US" altLang="zh-CN">
                <a:cs typeface="Arial" charset="0"/>
              </a:rPr>
              <a:t>MAC</a:t>
            </a:r>
            <a:r>
              <a:rPr lang="zh-CN" altLang="en-US">
                <a:cs typeface="Arial" charset="0"/>
              </a:rPr>
              <a:t>地址广播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广播地址为</a:t>
            </a:r>
            <a:r>
              <a:rPr lang="en-US" altLang="zh-CN">
                <a:cs typeface="Arial" charset="0"/>
              </a:rPr>
              <a:t>FF-FF-FF-FF-FF-FF</a:t>
            </a:r>
          </a:p>
          <a:p>
            <a:pPr>
              <a:spcBef>
                <a:spcPts val="675"/>
              </a:spcBef>
            </a:pPr>
            <a:r>
              <a:rPr lang="en-US" altLang="zh-CN">
                <a:cs typeface="Arial" charset="0"/>
              </a:rPr>
              <a:t>IP</a:t>
            </a:r>
            <a:r>
              <a:rPr lang="zh-CN" altLang="en-US">
                <a:cs typeface="Arial" charset="0"/>
              </a:rPr>
              <a:t>地址广播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广播</a:t>
            </a:r>
            <a:r>
              <a:rPr lang="en-US" altLang="zh-CN">
                <a:cs typeface="Arial" charset="0"/>
              </a:rPr>
              <a:t>MAC</a:t>
            </a:r>
            <a:r>
              <a:rPr lang="zh-CN" altLang="en-US">
                <a:cs typeface="Arial" charset="0"/>
              </a:rPr>
              <a:t>地址为</a:t>
            </a:r>
            <a:r>
              <a:rPr lang="en-US" altLang="zh-CN">
                <a:cs typeface="Arial" charset="0"/>
              </a:rPr>
              <a:t>FF-FF-FF-FF-FF-FF</a:t>
            </a: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广播</a:t>
            </a:r>
            <a:r>
              <a:rPr lang="en-US" altLang="zh-CN">
                <a:cs typeface="Arial" charset="0"/>
              </a:rPr>
              <a:t>IP</a:t>
            </a:r>
            <a:r>
              <a:rPr lang="zh-CN" altLang="en-US">
                <a:cs typeface="Arial" charset="0"/>
              </a:rPr>
              <a:t>地址为</a:t>
            </a:r>
            <a:r>
              <a:rPr lang="en-US" altLang="zh-CN">
                <a:cs typeface="Arial" charset="0"/>
              </a:rPr>
              <a:t>IP</a:t>
            </a:r>
            <a:r>
              <a:rPr lang="zh-CN" altLang="en-US">
                <a:cs typeface="Arial" charset="0"/>
              </a:rPr>
              <a:t>地址网段的广播地址</a:t>
            </a:r>
          </a:p>
        </p:txBody>
      </p:sp>
      <p:grpSp>
        <p:nvGrpSpPr>
          <p:cNvPr id="2" name="组合 33"/>
          <p:cNvGrpSpPr>
            <a:grpSpLocks/>
          </p:cNvGrpSpPr>
          <p:nvPr/>
        </p:nvGrpSpPr>
        <p:grpSpPr bwMode="auto">
          <a:xfrm>
            <a:off x="1666875" y="2973388"/>
            <a:ext cx="8128000" cy="2813050"/>
            <a:chOff x="142844" y="2973120"/>
            <a:chExt cx="8128362" cy="2813334"/>
          </a:xfrm>
        </p:grpSpPr>
        <p:sp>
          <p:nvSpPr>
            <p:cNvPr id="21" name="椭圆 20"/>
            <p:cNvSpPr/>
            <p:nvPr/>
          </p:nvSpPr>
          <p:spPr bwMode="auto">
            <a:xfrm>
              <a:off x="6699581" y="2973120"/>
              <a:ext cx="1571625" cy="2813334"/>
            </a:xfrm>
            <a:prstGeom prst="ellipse">
              <a:avLst/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anchor="ctr" anchorCtr="1"/>
            <a:lstStyle/>
            <a:p>
              <a:pPr algn="ctr">
                <a:defRPr/>
              </a:pP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椭圆 21"/>
            <p:cNvSpPr/>
            <p:nvPr/>
          </p:nvSpPr>
          <p:spPr bwMode="auto">
            <a:xfrm>
              <a:off x="3929058" y="3000372"/>
              <a:ext cx="2714643" cy="2786082"/>
            </a:xfrm>
            <a:prstGeom prst="ellipse">
              <a:avLst/>
            </a:prstGeom>
            <a:gradFill>
              <a:gsLst>
                <a:gs pos="0">
                  <a:srgbClr val="FFFFCC"/>
                </a:gs>
                <a:gs pos="49000">
                  <a:srgbClr val="FFDB57"/>
                </a:gs>
                <a:gs pos="100000">
                  <a:srgbClr val="FFFFCC"/>
                </a:gs>
              </a:gsLst>
              <a:lin ang="5400000" scaled="0"/>
            </a:gradFill>
            <a:ln w="9525" cap="flat" cmpd="sng" algn="ctr">
              <a:solidFill>
                <a:srgbClr val="D6A418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anchor="ctr" anchorCtr="1"/>
            <a:lstStyle/>
            <a:p>
              <a:pPr algn="ctr">
                <a:defRPr/>
              </a:pP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4347" name="直接连接符 33"/>
            <p:cNvCxnSpPr>
              <a:cxnSpLocks noChangeShapeType="1"/>
            </p:cNvCxnSpPr>
            <p:nvPr/>
          </p:nvCxnSpPr>
          <p:spPr bwMode="auto">
            <a:xfrm rot="16200000" flipH="1">
              <a:off x="5216525" y="4137024"/>
              <a:ext cx="788987" cy="550862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4348" name="直接连接符 34"/>
            <p:cNvCxnSpPr>
              <a:cxnSpLocks noChangeShapeType="1"/>
            </p:cNvCxnSpPr>
            <p:nvPr/>
          </p:nvCxnSpPr>
          <p:spPr bwMode="auto">
            <a:xfrm rot="5400000" flipH="1" flipV="1">
              <a:off x="4619625" y="4141786"/>
              <a:ext cx="839787" cy="592138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pic>
          <p:nvPicPr>
            <p:cNvPr id="14349" name="Picture 2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813300" y="3571873"/>
              <a:ext cx="1042988" cy="446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350" name="Text Box 28"/>
            <p:cNvSpPr txBox="1">
              <a:spLocks noChangeArrowheads="1"/>
            </p:cNvSpPr>
            <p:nvPr/>
          </p:nvSpPr>
          <p:spPr bwMode="auto">
            <a:xfrm>
              <a:off x="4516438" y="5257798"/>
              <a:ext cx="428625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>
                  <a:ea typeface="宋体" charset="-122"/>
                  <a:cs typeface="Arial" charset="0"/>
                </a:rPr>
                <a:t>A</a:t>
              </a:r>
              <a:endParaRPr lang="zh-CN" altLang="en-US" sz="1600" b="1">
                <a:ea typeface="宋体" charset="-122"/>
                <a:cs typeface="Arial" charset="0"/>
              </a:endParaRPr>
            </a:p>
          </p:txBody>
        </p:sp>
        <p:sp>
          <p:nvSpPr>
            <p:cNvPr id="14351" name="Text Box 28"/>
            <p:cNvSpPr txBox="1">
              <a:spLocks noChangeArrowheads="1"/>
            </p:cNvSpPr>
            <p:nvPr/>
          </p:nvSpPr>
          <p:spPr bwMode="auto">
            <a:xfrm>
              <a:off x="5683250" y="5240336"/>
              <a:ext cx="428625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>
                  <a:ea typeface="宋体" charset="-122"/>
                  <a:cs typeface="Arial" charset="0"/>
                </a:rPr>
                <a:t>B</a:t>
              </a:r>
              <a:endParaRPr lang="zh-CN" altLang="en-US" sz="1600" b="1">
                <a:ea typeface="宋体" charset="-122"/>
                <a:cs typeface="Arial" charset="0"/>
              </a:endParaRPr>
            </a:p>
          </p:txBody>
        </p:sp>
        <p:sp>
          <p:nvSpPr>
            <p:cNvPr id="14352" name="Text Box 28"/>
            <p:cNvSpPr txBox="1">
              <a:spLocks noChangeArrowheads="1"/>
            </p:cNvSpPr>
            <p:nvPr/>
          </p:nvSpPr>
          <p:spPr bwMode="auto">
            <a:xfrm>
              <a:off x="7797800" y="4383086"/>
              <a:ext cx="428625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>
                  <a:ea typeface="宋体" charset="-122"/>
                  <a:cs typeface="Arial" charset="0"/>
                </a:rPr>
                <a:t>C</a:t>
              </a:r>
              <a:endParaRPr lang="zh-CN" altLang="en-US" sz="1600" b="1">
                <a:ea typeface="宋体" charset="-122"/>
                <a:cs typeface="Arial" charset="0"/>
              </a:endParaRPr>
            </a:p>
          </p:txBody>
        </p:sp>
        <p:pic>
          <p:nvPicPr>
            <p:cNvPr id="14353" name="Picture 32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269535" y="4000498"/>
              <a:ext cx="792162" cy="431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4354" name="直接连接符 44"/>
            <p:cNvCxnSpPr>
              <a:cxnSpLocks noChangeShapeType="1"/>
            </p:cNvCxnSpPr>
            <p:nvPr/>
          </p:nvCxnSpPr>
          <p:spPr bwMode="auto">
            <a:xfrm rot="10800000">
              <a:off x="5856288" y="3794123"/>
              <a:ext cx="450850" cy="422275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4355" name="直接连接符 47"/>
            <p:cNvCxnSpPr>
              <a:cxnSpLocks noChangeShapeType="1"/>
            </p:cNvCxnSpPr>
            <p:nvPr/>
          </p:nvCxnSpPr>
          <p:spPr bwMode="auto">
            <a:xfrm rot="10800000">
              <a:off x="7061698" y="4216399"/>
              <a:ext cx="609103" cy="10799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pic>
          <p:nvPicPr>
            <p:cNvPr id="14356" name="图片 11" descr="asdf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670800" y="3989865"/>
              <a:ext cx="500063" cy="474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57" name="图片 11" descr="asdf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618163" y="4833936"/>
              <a:ext cx="500062" cy="4746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58" name="图片 11" descr="asdf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456113" y="4857748"/>
              <a:ext cx="500062" cy="474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" name="椭圆 22"/>
            <p:cNvSpPr/>
            <p:nvPr/>
          </p:nvSpPr>
          <p:spPr bwMode="auto">
            <a:xfrm>
              <a:off x="142844" y="3214686"/>
              <a:ext cx="3429024" cy="2571750"/>
            </a:xfrm>
            <a:prstGeom prst="ellipse">
              <a:avLst/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anchor="ctr" anchorCtr="1"/>
            <a:lstStyle/>
            <a:p>
              <a:pPr algn="ctr">
                <a:defRPr/>
              </a:pP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4362" name="直接连接符 2"/>
            <p:cNvCxnSpPr>
              <a:cxnSpLocks noChangeShapeType="1"/>
            </p:cNvCxnSpPr>
            <p:nvPr/>
          </p:nvCxnSpPr>
          <p:spPr bwMode="auto">
            <a:xfrm rot="5400000">
              <a:off x="1375540" y="4283886"/>
              <a:ext cx="839787" cy="22225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4363" name="直接连接符 3"/>
            <p:cNvCxnSpPr>
              <a:cxnSpLocks noChangeShapeType="1"/>
            </p:cNvCxnSpPr>
            <p:nvPr/>
          </p:nvCxnSpPr>
          <p:spPr bwMode="auto">
            <a:xfrm rot="5400000" flipH="1" flipV="1">
              <a:off x="912784" y="3821130"/>
              <a:ext cx="839787" cy="947737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pic>
          <p:nvPicPr>
            <p:cNvPr id="14364" name="Picture 2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85846" y="3429017"/>
              <a:ext cx="1042988" cy="446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365" name="Text Box 28"/>
            <p:cNvSpPr txBox="1">
              <a:spLocks noChangeArrowheads="1"/>
            </p:cNvSpPr>
            <p:nvPr/>
          </p:nvSpPr>
          <p:spPr bwMode="auto">
            <a:xfrm>
              <a:off x="631796" y="5153042"/>
              <a:ext cx="428625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>
                  <a:ea typeface="宋体" charset="-122"/>
                  <a:cs typeface="Arial" charset="0"/>
                </a:rPr>
                <a:t>A</a:t>
              </a:r>
              <a:endParaRPr lang="zh-CN" altLang="en-US" sz="1600" b="1">
                <a:ea typeface="宋体" charset="-122"/>
                <a:cs typeface="Arial" charset="0"/>
              </a:endParaRPr>
            </a:p>
          </p:txBody>
        </p:sp>
        <p:cxnSp>
          <p:nvCxnSpPr>
            <p:cNvPr id="14366" name="直接连接符 27"/>
            <p:cNvCxnSpPr>
              <a:cxnSpLocks noChangeShapeType="1"/>
            </p:cNvCxnSpPr>
            <p:nvPr/>
          </p:nvCxnSpPr>
          <p:spPr bwMode="auto">
            <a:xfrm rot="16200000" flipV="1">
              <a:off x="1839883" y="3841767"/>
              <a:ext cx="839787" cy="906463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sp>
          <p:nvSpPr>
            <p:cNvPr id="14367" name="Text Box 28"/>
            <p:cNvSpPr txBox="1">
              <a:spLocks noChangeArrowheads="1"/>
            </p:cNvSpPr>
            <p:nvPr/>
          </p:nvSpPr>
          <p:spPr bwMode="auto">
            <a:xfrm>
              <a:off x="1581121" y="5148280"/>
              <a:ext cx="428625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>
                  <a:ea typeface="宋体" charset="-122"/>
                  <a:cs typeface="Arial" charset="0"/>
                </a:rPr>
                <a:t>B</a:t>
              </a:r>
              <a:endParaRPr lang="zh-CN" altLang="en-US" sz="1600" b="1">
                <a:ea typeface="宋体" charset="-122"/>
                <a:cs typeface="Arial" charset="0"/>
              </a:endParaRPr>
            </a:p>
          </p:txBody>
        </p:sp>
        <p:sp>
          <p:nvSpPr>
            <p:cNvPr id="14368" name="Text Box 28"/>
            <p:cNvSpPr txBox="1">
              <a:spLocks noChangeArrowheads="1"/>
            </p:cNvSpPr>
            <p:nvPr/>
          </p:nvSpPr>
          <p:spPr bwMode="auto">
            <a:xfrm>
              <a:off x="2539970" y="5153042"/>
              <a:ext cx="428625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b="1">
                  <a:ea typeface="宋体" charset="-122"/>
                  <a:cs typeface="Arial" charset="0"/>
                </a:rPr>
                <a:t>C</a:t>
              </a:r>
              <a:endParaRPr lang="zh-CN" altLang="en-US" sz="1600" b="1">
                <a:ea typeface="宋体" charset="-122"/>
                <a:cs typeface="Arial" charset="0"/>
              </a:endParaRPr>
            </a:p>
          </p:txBody>
        </p:sp>
        <p:pic>
          <p:nvPicPr>
            <p:cNvPr id="14369" name="图片 11" descr="asdf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500283" y="4714892"/>
              <a:ext cx="500062" cy="474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70" name="图片 11" descr="asdf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500159" y="4714892"/>
              <a:ext cx="500062" cy="474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71" name="图片 11" descr="asdf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42909" y="4714892"/>
              <a:ext cx="500062" cy="474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" dur="500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" dur="5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ARP</a:t>
            </a:r>
            <a:r>
              <a:rPr lang="zh-CN" altLang="en-US"/>
              <a:t>协议概述</a:t>
            </a:r>
          </a:p>
        </p:txBody>
      </p:sp>
      <p:sp>
        <p:nvSpPr>
          <p:cNvPr id="15363" name="内容占位符 5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局域网中主机的通信</a:t>
            </a:r>
          </a:p>
          <a:p>
            <a:pPr lvl="1">
              <a:spcBef>
                <a:spcPts val="475"/>
              </a:spcBef>
            </a:pPr>
            <a:r>
              <a:rPr lang="en-US" altLang="zh-CN">
                <a:cs typeface="Arial" charset="0"/>
              </a:rPr>
              <a:t>IP</a:t>
            </a:r>
            <a:r>
              <a:rPr lang="zh-CN" altLang="en-US">
                <a:cs typeface="Arial" charset="0"/>
              </a:rPr>
              <a:t>地址与</a:t>
            </a:r>
            <a:r>
              <a:rPr lang="en-US" altLang="zh-CN">
                <a:cs typeface="Arial" charset="0"/>
              </a:rPr>
              <a:t>MAC</a:t>
            </a:r>
            <a:r>
              <a:rPr lang="zh-CN" altLang="en-US">
                <a:cs typeface="Arial" charset="0"/>
              </a:rPr>
              <a:t>地址</a:t>
            </a:r>
          </a:p>
          <a:p>
            <a:pPr lvl="1">
              <a:spcBef>
                <a:spcPts val="475"/>
              </a:spcBef>
            </a:pP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什么是</a:t>
            </a:r>
            <a:r>
              <a:rPr lang="en-US" altLang="zh-CN">
                <a:cs typeface="Arial" charset="0"/>
              </a:rPr>
              <a:t>ARP</a:t>
            </a:r>
            <a:r>
              <a:rPr lang="zh-CN" altLang="en-US">
                <a:cs typeface="Arial" charset="0"/>
              </a:rPr>
              <a:t>协议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en-US" altLang="zh-CN">
                <a:cs typeface="Arial" charset="0"/>
              </a:rPr>
              <a:t>Address Resolution Protocol</a:t>
            </a:r>
            <a:r>
              <a:rPr lang="zh-CN" altLang="en-US">
                <a:cs typeface="Arial" charset="0"/>
              </a:rPr>
              <a:t>，地址解析协议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将一个已知的</a:t>
            </a:r>
            <a:r>
              <a:rPr lang="en-US" altLang="zh-CN">
                <a:cs typeface="Arial" charset="0"/>
              </a:rPr>
              <a:t>IP</a:t>
            </a:r>
            <a:r>
              <a:rPr lang="zh-CN" altLang="en-US">
                <a:cs typeface="Arial" charset="0"/>
              </a:rPr>
              <a:t>地址解析成</a:t>
            </a:r>
            <a:r>
              <a:rPr lang="en-US" altLang="zh-CN">
                <a:cs typeface="Arial" charset="0"/>
              </a:rPr>
              <a:t>MAC</a:t>
            </a:r>
            <a:r>
              <a:rPr lang="zh-CN" altLang="en-US">
                <a:cs typeface="Arial" charset="0"/>
              </a:rPr>
              <a:t>地址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Line 209"/>
          <p:cNvSpPr>
            <a:spLocks noChangeShapeType="1"/>
          </p:cNvSpPr>
          <p:nvPr/>
        </p:nvSpPr>
        <p:spPr bwMode="auto">
          <a:xfrm flipV="1">
            <a:off x="8040688" y="5264151"/>
            <a:ext cx="0" cy="576263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6387" name="Line 208"/>
          <p:cNvSpPr>
            <a:spLocks noChangeShapeType="1"/>
          </p:cNvSpPr>
          <p:nvPr/>
        </p:nvSpPr>
        <p:spPr bwMode="auto">
          <a:xfrm flipV="1">
            <a:off x="4872038" y="5264151"/>
            <a:ext cx="0" cy="576263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pic>
        <p:nvPicPr>
          <p:cNvPr id="16388" name="图片 11" descr="asd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3175" y="5589589"/>
            <a:ext cx="846138" cy="80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9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32651" y="4010026"/>
            <a:ext cx="754063" cy="71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0" name="图片 11" descr="asd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52939" y="5589589"/>
            <a:ext cx="846137" cy="80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9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ARP</a:t>
            </a:r>
            <a:r>
              <a:rPr lang="zh-CN" altLang="en-US"/>
              <a:t>协议</a:t>
            </a:r>
          </a:p>
        </p:txBody>
      </p:sp>
      <p:sp>
        <p:nvSpPr>
          <p:cNvPr id="21" name="内容占位符 20"/>
          <p:cNvSpPr>
            <a:spLocks noGrp="1"/>
          </p:cNvSpPr>
          <p:nvPr>
            <p:ph idx="1"/>
          </p:nvPr>
        </p:nvSpPr>
        <p:spPr>
          <a:xfrm>
            <a:off x="1738313" y="1000125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>
                <a:cs typeface="Arial" charset="0"/>
              </a:rPr>
              <a:t>IP</a:t>
            </a:r>
            <a:r>
              <a:rPr lang="zh-CN" altLang="en-US">
                <a:cs typeface="Arial" charset="0"/>
              </a:rPr>
              <a:t>地址解析为</a:t>
            </a:r>
            <a:r>
              <a:rPr lang="en-US" altLang="zh-CN">
                <a:cs typeface="Arial" charset="0"/>
              </a:rPr>
              <a:t>MAC</a:t>
            </a:r>
            <a:r>
              <a:rPr lang="zh-CN" altLang="en-US">
                <a:cs typeface="Arial" charset="0"/>
              </a:rPr>
              <a:t>地址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en-US" altLang="zh-CN">
                <a:cs typeface="Arial" charset="0"/>
              </a:rPr>
              <a:t>PC1</a:t>
            </a:r>
            <a:r>
              <a:rPr lang="zh-CN" altLang="en-US">
                <a:cs typeface="Arial" charset="0"/>
              </a:rPr>
              <a:t>发送数据给</a:t>
            </a:r>
            <a:r>
              <a:rPr lang="en-US" altLang="zh-CN">
                <a:cs typeface="Arial" charset="0"/>
              </a:rPr>
              <a:t>PC2</a:t>
            </a:r>
            <a:r>
              <a:rPr lang="zh-CN" altLang="en-US">
                <a:cs typeface="Arial" charset="0"/>
              </a:rPr>
              <a:t>，查看缓存没有</a:t>
            </a:r>
            <a:r>
              <a:rPr lang="en-US" altLang="zh-CN">
                <a:cs typeface="Arial" charset="0"/>
              </a:rPr>
              <a:t>PC2</a:t>
            </a:r>
            <a:r>
              <a:rPr lang="zh-CN" altLang="en-US">
                <a:cs typeface="Arial" charset="0"/>
              </a:rPr>
              <a:t>的</a:t>
            </a:r>
            <a:r>
              <a:rPr lang="en-US" altLang="zh-CN">
                <a:cs typeface="Arial" charset="0"/>
              </a:rPr>
              <a:t>MAC</a:t>
            </a:r>
            <a:r>
              <a:rPr lang="zh-CN" altLang="en-US">
                <a:cs typeface="Arial" charset="0"/>
              </a:rPr>
              <a:t>地址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en-US" altLang="zh-CN">
                <a:cs typeface="Arial" charset="0"/>
              </a:rPr>
              <a:t>PC1</a:t>
            </a:r>
            <a:r>
              <a:rPr lang="zh-CN" altLang="en-US">
                <a:cs typeface="Arial" charset="0"/>
              </a:rPr>
              <a:t>发送</a:t>
            </a:r>
            <a:r>
              <a:rPr lang="en-US" altLang="zh-CN">
                <a:cs typeface="Arial" charset="0"/>
              </a:rPr>
              <a:t>ARP</a:t>
            </a:r>
            <a:r>
              <a:rPr lang="zh-CN" altLang="en-US">
                <a:cs typeface="Arial" charset="0"/>
              </a:rPr>
              <a:t>请求消息（广播）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所有主机收到</a:t>
            </a:r>
            <a:r>
              <a:rPr lang="en-US" altLang="zh-CN">
                <a:cs typeface="Arial" charset="0"/>
              </a:rPr>
              <a:t>ARP</a:t>
            </a:r>
            <a:r>
              <a:rPr lang="zh-CN" altLang="en-US">
                <a:cs typeface="Arial" charset="0"/>
              </a:rPr>
              <a:t>请求消息</a:t>
            </a:r>
            <a:endParaRPr lang="en-US" altLang="zh-CN">
              <a:cs typeface="Arial" charset="0"/>
            </a:endParaRPr>
          </a:p>
          <a:p>
            <a:pPr lvl="2">
              <a:spcBef>
                <a:spcPct val="0"/>
              </a:spcBef>
            </a:pPr>
            <a:r>
              <a:rPr lang="en-US" altLang="zh-CN">
                <a:cs typeface="Arial" charset="0"/>
              </a:rPr>
              <a:t>PC2</a:t>
            </a:r>
            <a:r>
              <a:rPr lang="zh-CN" altLang="en-US">
                <a:cs typeface="Arial" charset="0"/>
              </a:rPr>
              <a:t>回复</a:t>
            </a:r>
            <a:r>
              <a:rPr lang="en-US" altLang="zh-CN">
                <a:cs typeface="Arial" charset="0"/>
              </a:rPr>
              <a:t>ARP</a:t>
            </a:r>
            <a:r>
              <a:rPr lang="zh-CN" altLang="en-US">
                <a:cs typeface="Arial" charset="0"/>
              </a:rPr>
              <a:t>应答（单播）</a:t>
            </a:r>
            <a:endParaRPr lang="en-US" altLang="zh-CN">
              <a:cs typeface="Arial" charset="0"/>
            </a:endParaRPr>
          </a:p>
          <a:p>
            <a:pPr lvl="2">
              <a:spcBef>
                <a:spcPct val="0"/>
              </a:spcBef>
            </a:pPr>
            <a:r>
              <a:rPr lang="zh-CN" altLang="en-US">
                <a:cs typeface="Arial" charset="0"/>
              </a:rPr>
              <a:t>其他主机丢弃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en-US" altLang="zh-CN">
                <a:cs typeface="Arial" charset="0"/>
              </a:rPr>
              <a:t>PC1</a:t>
            </a:r>
            <a:r>
              <a:rPr lang="zh-CN" altLang="en-US">
                <a:cs typeface="Arial" charset="0"/>
              </a:rPr>
              <a:t>将</a:t>
            </a:r>
            <a:r>
              <a:rPr lang="en-US" altLang="zh-CN">
                <a:cs typeface="Arial" charset="0"/>
              </a:rPr>
              <a:t>PC2</a:t>
            </a:r>
            <a:r>
              <a:rPr lang="zh-CN" altLang="en-US">
                <a:cs typeface="Arial" charset="0"/>
              </a:rPr>
              <a:t>的</a:t>
            </a:r>
            <a:r>
              <a:rPr lang="en-US" altLang="zh-CN">
                <a:cs typeface="Arial" charset="0"/>
              </a:rPr>
              <a:t>MAC</a:t>
            </a:r>
            <a:r>
              <a:rPr lang="zh-CN" altLang="en-US">
                <a:cs typeface="Arial" charset="0"/>
              </a:rPr>
              <a:t>地址保存到缓存中，发送数据</a:t>
            </a:r>
          </a:p>
        </p:txBody>
      </p:sp>
      <p:pic>
        <p:nvPicPr>
          <p:cNvPr id="16393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10013" y="4019551"/>
            <a:ext cx="754062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94" name="Line 205"/>
          <p:cNvSpPr>
            <a:spLocks noChangeShapeType="1"/>
          </p:cNvSpPr>
          <p:nvPr/>
        </p:nvSpPr>
        <p:spPr bwMode="auto">
          <a:xfrm>
            <a:off x="2782888" y="5264150"/>
            <a:ext cx="65532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6395" name="Line 206"/>
          <p:cNvSpPr>
            <a:spLocks noChangeShapeType="1"/>
          </p:cNvSpPr>
          <p:nvPr/>
        </p:nvSpPr>
        <p:spPr bwMode="auto">
          <a:xfrm flipV="1">
            <a:off x="4295775" y="4687888"/>
            <a:ext cx="0" cy="57626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6396" name="Line 207"/>
          <p:cNvSpPr>
            <a:spLocks noChangeShapeType="1"/>
          </p:cNvSpPr>
          <p:nvPr/>
        </p:nvSpPr>
        <p:spPr bwMode="auto">
          <a:xfrm flipV="1">
            <a:off x="7608888" y="4687888"/>
            <a:ext cx="0" cy="57626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6397" name="Text Box 19"/>
          <p:cNvSpPr txBox="1">
            <a:spLocks noChangeArrowheads="1"/>
          </p:cNvSpPr>
          <p:nvPr/>
        </p:nvSpPr>
        <p:spPr bwMode="auto">
          <a:xfrm>
            <a:off x="3028951" y="4124325"/>
            <a:ext cx="1204913" cy="584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 algn="ctr"/>
            <a:r>
              <a:rPr lang="en-US" altLang="zh-CN" sz="1600" b="1">
                <a:ea typeface="宋体" charset="-122"/>
              </a:rPr>
              <a:t>PC1</a:t>
            </a:r>
          </a:p>
          <a:p>
            <a:pPr algn="ctr"/>
            <a:r>
              <a:rPr lang="en-US" altLang="zh-CN" sz="1600" b="1">
                <a:ea typeface="宋体" charset="-122"/>
              </a:rPr>
              <a:t>10.0.0.1</a:t>
            </a:r>
            <a:endParaRPr lang="zh-CN" altLang="en-US" sz="1600" b="1">
              <a:ea typeface="宋体" charset="-122"/>
            </a:endParaRPr>
          </a:p>
        </p:txBody>
      </p:sp>
      <p:sp>
        <p:nvSpPr>
          <p:cNvPr id="16398" name="Text Box 19"/>
          <p:cNvSpPr txBox="1">
            <a:spLocks noChangeArrowheads="1"/>
          </p:cNvSpPr>
          <p:nvPr/>
        </p:nvSpPr>
        <p:spPr bwMode="auto">
          <a:xfrm>
            <a:off x="7821613" y="4122739"/>
            <a:ext cx="1122362" cy="5857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 algn="ctr"/>
            <a:r>
              <a:rPr lang="en-US" altLang="zh-CN" sz="1600" b="1">
                <a:ea typeface="宋体" charset="-122"/>
              </a:rPr>
              <a:t>PC2</a:t>
            </a:r>
          </a:p>
          <a:p>
            <a:pPr algn="ctr"/>
            <a:r>
              <a:rPr lang="en-US" altLang="zh-CN" sz="1600" b="1">
                <a:ea typeface="宋体" charset="-122"/>
              </a:rPr>
              <a:t>10.0.0.2</a:t>
            </a:r>
            <a:endParaRPr lang="zh-CN" altLang="en-US" sz="1600" b="1">
              <a:ea typeface="宋体" charset="-122"/>
            </a:endParaRPr>
          </a:p>
        </p:txBody>
      </p:sp>
      <p:sp>
        <p:nvSpPr>
          <p:cNvPr id="16399" name="Text Box 19"/>
          <p:cNvSpPr txBox="1">
            <a:spLocks noChangeArrowheads="1"/>
          </p:cNvSpPr>
          <p:nvPr/>
        </p:nvSpPr>
        <p:spPr bwMode="auto">
          <a:xfrm>
            <a:off x="3649663" y="5734051"/>
            <a:ext cx="1058862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 algn="ctr"/>
            <a:r>
              <a:rPr lang="en-US" altLang="zh-CN" sz="1600" b="1">
                <a:ea typeface="宋体" charset="-122"/>
              </a:rPr>
              <a:t>PC3</a:t>
            </a:r>
          </a:p>
          <a:p>
            <a:pPr algn="ctr"/>
            <a:r>
              <a:rPr lang="en-US" altLang="zh-CN" sz="1600" b="1">
                <a:ea typeface="宋体" charset="-122"/>
              </a:rPr>
              <a:t>10.0.0.3</a:t>
            </a:r>
            <a:endParaRPr lang="zh-CN" altLang="en-US" sz="1600" b="1">
              <a:ea typeface="宋体" charset="-122"/>
            </a:endParaRPr>
          </a:p>
        </p:txBody>
      </p:sp>
      <p:sp>
        <p:nvSpPr>
          <p:cNvPr id="16400" name="Text Box 19"/>
          <p:cNvSpPr txBox="1">
            <a:spLocks noChangeArrowheads="1"/>
          </p:cNvSpPr>
          <p:nvPr/>
        </p:nvSpPr>
        <p:spPr bwMode="auto">
          <a:xfrm>
            <a:off x="8239126" y="5734051"/>
            <a:ext cx="124142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 algn="ctr"/>
            <a:r>
              <a:rPr lang="en-US" altLang="zh-CN" sz="1600" b="1">
                <a:ea typeface="宋体" charset="-122"/>
              </a:rPr>
              <a:t>PC4</a:t>
            </a:r>
          </a:p>
          <a:p>
            <a:pPr algn="ctr"/>
            <a:r>
              <a:rPr lang="en-US" altLang="zh-CN" sz="1600" b="1">
                <a:ea typeface="宋体" charset="-122"/>
              </a:rPr>
              <a:t>10.0.0.4</a:t>
            </a:r>
            <a:endParaRPr lang="zh-CN" altLang="en-US" sz="1600" b="1">
              <a:ea typeface="宋体" charset="-122"/>
            </a:endParaRPr>
          </a:p>
        </p:txBody>
      </p:sp>
      <p:sp>
        <p:nvSpPr>
          <p:cNvPr id="158" name="AutoShape 4"/>
          <p:cNvSpPr>
            <a:spLocks noChangeArrowheads="1"/>
          </p:cNvSpPr>
          <p:nvPr/>
        </p:nvSpPr>
        <p:spPr bwMode="auto">
          <a:xfrm>
            <a:off x="4160839" y="3071810"/>
            <a:ext cx="5895975" cy="796928"/>
          </a:xfrm>
          <a:prstGeom prst="wedgeRoundRectCallout">
            <a:avLst>
              <a:gd name="adj1" fmla="val -41009"/>
              <a:gd name="adj2" fmla="val 79426"/>
              <a:gd name="adj3" fmla="val 1666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zh-CN" b="1"/>
              <a:t>Internet</a:t>
            </a:r>
            <a:r>
              <a:rPr lang="zh-CN" altLang="en-US" b="1"/>
              <a:t>地址</a:t>
            </a:r>
            <a:r>
              <a:rPr lang="en-US" altLang="zh-CN" b="1"/>
              <a:t>                    </a:t>
            </a:r>
            <a:r>
              <a:rPr lang="zh-CN" altLang="en-US" b="1"/>
              <a:t>物理地址</a:t>
            </a:r>
            <a:r>
              <a:rPr lang="en-US" altLang="zh-CN" b="1"/>
              <a:t>              </a:t>
            </a:r>
            <a:r>
              <a:rPr lang="zh-CN" altLang="en-US" b="1"/>
              <a:t>类型</a:t>
            </a:r>
            <a:endParaRPr lang="en-US" altLang="zh-CN" b="1"/>
          </a:p>
          <a:p>
            <a:r>
              <a:rPr lang="en-US" altLang="zh-CN" b="1"/>
              <a:t>  10.0.0.200               00-1a-64-b1-5a-f2     </a:t>
            </a:r>
            <a:r>
              <a:rPr lang="zh-CN" altLang="en-US" b="1"/>
              <a:t>动态</a:t>
            </a:r>
            <a:endParaRPr lang="en-US" altLang="zh-CN" b="1"/>
          </a:p>
        </p:txBody>
      </p:sp>
      <p:grpSp>
        <p:nvGrpSpPr>
          <p:cNvPr id="2" name="组合 164"/>
          <p:cNvGrpSpPr>
            <a:grpSpLocks/>
          </p:cNvGrpSpPr>
          <p:nvPr/>
        </p:nvGrpSpPr>
        <p:grpSpPr bwMode="auto">
          <a:xfrm>
            <a:off x="4440238" y="2882900"/>
            <a:ext cx="3816350" cy="2871788"/>
            <a:chOff x="2916238" y="2589201"/>
            <a:chExt cx="3816350" cy="2871814"/>
          </a:xfrm>
        </p:grpSpPr>
        <p:sp>
          <p:nvSpPr>
            <p:cNvPr id="159" name="AutoShape 254"/>
            <p:cNvSpPr>
              <a:spLocks noChangeArrowheads="1"/>
            </p:cNvSpPr>
            <p:nvPr/>
          </p:nvSpPr>
          <p:spPr bwMode="auto">
            <a:xfrm>
              <a:off x="3038475" y="2589201"/>
              <a:ext cx="2154238" cy="1204924"/>
            </a:xfrm>
            <a:prstGeom prst="cloudCallout">
              <a:avLst>
                <a:gd name="adj1" fmla="val -43741"/>
                <a:gd name="adj2" fmla="val 67769"/>
              </a:avLst>
            </a:prstGeom>
            <a:solidFill>
              <a:srgbClr val="FFFFFF"/>
            </a:solidFill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b"/>
            <a:lstStyle/>
            <a:p>
              <a:pPr algn="ctr">
                <a:defRPr/>
              </a:pPr>
              <a:r>
                <a:rPr lang="zh-CN" altLang="en-US" b="1" dirty="0">
                  <a:latin typeface="+mj-lt"/>
                </a:rPr>
                <a:t>我需要</a:t>
              </a:r>
              <a:r>
                <a:rPr lang="en-US" altLang="zh-CN" b="1" dirty="0">
                  <a:latin typeface="+mj-lt"/>
                </a:rPr>
                <a:t>10.0.0.2</a:t>
              </a:r>
              <a:r>
                <a:rPr lang="zh-CN" altLang="en-US" b="1" dirty="0">
                  <a:latin typeface="+mj-lt"/>
                </a:rPr>
                <a:t>的</a:t>
              </a:r>
              <a:r>
                <a:rPr lang="en-US" altLang="zh-CN" b="1" dirty="0">
                  <a:latin typeface="+mj-lt"/>
                </a:rPr>
                <a:t>MAC</a:t>
              </a:r>
              <a:r>
                <a:rPr lang="zh-CN" altLang="en-US" b="1" dirty="0">
                  <a:latin typeface="+mj-lt"/>
                </a:rPr>
                <a:t>地址</a:t>
              </a:r>
            </a:p>
          </p:txBody>
        </p:sp>
        <p:sp>
          <p:nvSpPr>
            <p:cNvPr id="16410" name="Line 249"/>
            <p:cNvSpPr>
              <a:spLocks noChangeShapeType="1"/>
            </p:cNvSpPr>
            <p:nvPr/>
          </p:nvSpPr>
          <p:spPr bwMode="auto">
            <a:xfrm>
              <a:off x="2916238" y="4524390"/>
              <a:ext cx="0" cy="28892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16411" name="Line 250"/>
            <p:cNvSpPr>
              <a:spLocks noChangeShapeType="1"/>
            </p:cNvSpPr>
            <p:nvPr/>
          </p:nvSpPr>
          <p:spPr bwMode="auto">
            <a:xfrm>
              <a:off x="3563938" y="5100653"/>
              <a:ext cx="0" cy="36036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16412" name="Line 251"/>
            <p:cNvSpPr>
              <a:spLocks noChangeShapeType="1"/>
            </p:cNvSpPr>
            <p:nvPr/>
          </p:nvSpPr>
          <p:spPr bwMode="auto">
            <a:xfrm flipV="1">
              <a:off x="6300788" y="4524390"/>
              <a:ext cx="0" cy="28892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16413" name="Line 252"/>
            <p:cNvSpPr>
              <a:spLocks noChangeShapeType="1"/>
            </p:cNvSpPr>
            <p:nvPr/>
          </p:nvSpPr>
          <p:spPr bwMode="auto">
            <a:xfrm>
              <a:off x="6732588" y="5100653"/>
              <a:ext cx="0" cy="28892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16414" name="Line 253"/>
            <p:cNvSpPr>
              <a:spLocks noChangeShapeType="1"/>
            </p:cNvSpPr>
            <p:nvPr/>
          </p:nvSpPr>
          <p:spPr bwMode="auto">
            <a:xfrm>
              <a:off x="3348038" y="4813315"/>
              <a:ext cx="100806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anchor="b"/>
            <a:lstStyle/>
            <a:p>
              <a:endParaRPr lang="zh-CN" altLang="en-US"/>
            </a:p>
          </p:txBody>
        </p:sp>
      </p:grpSp>
      <p:grpSp>
        <p:nvGrpSpPr>
          <p:cNvPr id="3" name="组合 169"/>
          <p:cNvGrpSpPr>
            <a:grpSpLocks/>
          </p:cNvGrpSpPr>
          <p:nvPr/>
        </p:nvGrpSpPr>
        <p:grpSpPr bwMode="auto">
          <a:xfrm>
            <a:off x="4505325" y="2643189"/>
            <a:ext cx="6019800" cy="2503487"/>
            <a:chOff x="2965428" y="2552688"/>
            <a:chExt cx="6019885" cy="2300319"/>
          </a:xfrm>
        </p:grpSpPr>
        <p:sp>
          <p:nvSpPr>
            <p:cNvPr id="166" name="AutoShape 130"/>
            <p:cNvSpPr>
              <a:spLocks noChangeArrowheads="1"/>
            </p:cNvSpPr>
            <p:nvPr/>
          </p:nvSpPr>
          <p:spPr bwMode="auto">
            <a:xfrm>
              <a:off x="5770581" y="2552688"/>
              <a:ext cx="3214732" cy="1058993"/>
            </a:xfrm>
            <a:prstGeom prst="cloudCallout">
              <a:avLst>
                <a:gd name="adj1" fmla="val -29959"/>
                <a:gd name="adj2" fmla="val 73291"/>
              </a:avLst>
            </a:prstGeom>
            <a:solidFill>
              <a:srgbClr val="FFFFFF"/>
            </a:solidFill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b"/>
            <a:lstStyle/>
            <a:p>
              <a:pPr algn="ctr">
                <a:defRPr/>
              </a:pPr>
              <a:r>
                <a:rPr lang="zh-CN" altLang="en-US" b="1" dirty="0">
                  <a:latin typeface="+mj-lt"/>
                </a:rPr>
                <a:t>我的</a:t>
              </a:r>
              <a:r>
                <a:rPr lang="en-US" altLang="zh-CN" b="1" dirty="0">
                  <a:latin typeface="+mj-lt"/>
                </a:rPr>
                <a:t>MAC</a:t>
              </a:r>
              <a:r>
                <a:rPr lang="zh-CN" altLang="en-US" b="1" dirty="0">
                  <a:latin typeface="+mj-lt"/>
                </a:rPr>
                <a:t>地址</a:t>
              </a:r>
              <a:r>
                <a:rPr lang="en-US" altLang="zh-CN" b="1" dirty="0">
                  <a:latin typeface="+mj-lt"/>
                </a:rPr>
                <a:t>0800.0020.1111</a:t>
              </a:r>
              <a:r>
                <a:rPr lang="en-US" altLang="zh-CN" dirty="0">
                  <a:latin typeface="+mj-lt"/>
                </a:rPr>
                <a:t> </a:t>
              </a:r>
              <a:endParaRPr lang="zh-CN" altLang="en-US" dirty="0">
                <a:latin typeface="+mj-lt"/>
              </a:endParaRPr>
            </a:p>
          </p:txBody>
        </p:sp>
        <p:sp>
          <p:nvSpPr>
            <p:cNvPr id="16406" name="Line 131"/>
            <p:cNvSpPr>
              <a:spLocks noChangeShapeType="1"/>
            </p:cNvSpPr>
            <p:nvPr/>
          </p:nvSpPr>
          <p:spPr bwMode="auto">
            <a:xfrm>
              <a:off x="5916590" y="4492645"/>
              <a:ext cx="0" cy="287337"/>
            </a:xfrm>
            <a:prstGeom prst="line">
              <a:avLst/>
            </a:prstGeom>
            <a:noFill/>
            <a:ln w="38100">
              <a:solidFill>
                <a:srgbClr val="00CC99"/>
              </a:solidFill>
              <a:round/>
              <a:headEnd/>
              <a:tailEnd type="triangle" w="med" len="med"/>
            </a:ln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16407" name="Line 132"/>
            <p:cNvSpPr>
              <a:spLocks noChangeShapeType="1"/>
            </p:cNvSpPr>
            <p:nvPr/>
          </p:nvSpPr>
          <p:spPr bwMode="auto">
            <a:xfrm flipH="1">
              <a:off x="3468665" y="4853007"/>
              <a:ext cx="1944688" cy="0"/>
            </a:xfrm>
            <a:prstGeom prst="line">
              <a:avLst/>
            </a:prstGeom>
            <a:noFill/>
            <a:ln w="38100">
              <a:solidFill>
                <a:srgbClr val="00CC99"/>
              </a:solidFill>
              <a:round/>
              <a:headEnd/>
              <a:tailEnd type="triangle" w="med" len="med"/>
            </a:ln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16408" name="Line 133"/>
            <p:cNvSpPr>
              <a:spLocks noChangeShapeType="1"/>
            </p:cNvSpPr>
            <p:nvPr/>
          </p:nvSpPr>
          <p:spPr bwMode="auto">
            <a:xfrm flipV="1">
              <a:off x="2965428" y="4492645"/>
              <a:ext cx="0" cy="287337"/>
            </a:xfrm>
            <a:prstGeom prst="line">
              <a:avLst/>
            </a:prstGeom>
            <a:noFill/>
            <a:ln w="38100">
              <a:solidFill>
                <a:srgbClr val="00CC99"/>
              </a:solidFill>
              <a:round/>
              <a:headEnd/>
              <a:tailEnd type="triangle" w="med" len="med"/>
            </a:ln>
          </p:spPr>
          <p:txBody>
            <a:bodyPr anchor="b"/>
            <a:lstStyle/>
            <a:p>
              <a:endParaRPr lang="zh-CN" altLang="en-US"/>
            </a:p>
          </p:txBody>
        </p:sp>
      </p:grpSp>
      <p:sp>
        <p:nvSpPr>
          <p:cNvPr id="171" name="AutoShape 4"/>
          <p:cNvSpPr>
            <a:spLocks noChangeArrowheads="1"/>
          </p:cNvSpPr>
          <p:nvPr/>
        </p:nvSpPr>
        <p:spPr bwMode="auto">
          <a:xfrm>
            <a:off x="4440239" y="4689476"/>
            <a:ext cx="5424487" cy="1025541"/>
          </a:xfrm>
          <a:prstGeom prst="wedgeRoundRectCallout">
            <a:avLst>
              <a:gd name="adj1" fmla="val -43648"/>
              <a:gd name="adj2" fmla="val -69130"/>
              <a:gd name="adj3" fmla="val 1666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zh-CN" sz="1600" b="1"/>
              <a:t>Internet</a:t>
            </a:r>
            <a:r>
              <a:rPr lang="zh-CN" altLang="en-US" sz="1600" b="1"/>
              <a:t>地址</a:t>
            </a:r>
            <a:r>
              <a:rPr lang="en-US" altLang="zh-CN" sz="1600" b="1"/>
              <a:t>                    </a:t>
            </a:r>
            <a:r>
              <a:rPr lang="zh-CN" altLang="en-US" sz="1600" b="1"/>
              <a:t>物理地址</a:t>
            </a:r>
            <a:r>
              <a:rPr lang="en-US" altLang="zh-CN" sz="1600" b="1"/>
              <a:t>             </a:t>
            </a:r>
            <a:r>
              <a:rPr lang="zh-CN" altLang="en-US" sz="1600" b="1"/>
              <a:t>类型</a:t>
            </a:r>
            <a:endParaRPr lang="en-US" altLang="zh-CN" sz="1600" b="1"/>
          </a:p>
          <a:p>
            <a:r>
              <a:rPr lang="en-US" altLang="zh-CN" sz="1600" b="1"/>
              <a:t>  10.0.0.200               00-1a-64-b1-5a-f2     </a:t>
            </a:r>
            <a:r>
              <a:rPr lang="zh-CN" altLang="en-US" sz="1600" b="1"/>
              <a:t>动态</a:t>
            </a:r>
            <a:endParaRPr lang="en-US" altLang="zh-CN" sz="1600" b="1"/>
          </a:p>
          <a:p>
            <a:r>
              <a:rPr lang="en-US" altLang="zh-CN" sz="1600" b="1"/>
              <a:t>  10.0.0.2                   08-00-00-20-11-11     </a:t>
            </a:r>
            <a:r>
              <a:rPr lang="zh-CN" altLang="en-US" sz="1600" b="1"/>
              <a:t>动态</a:t>
            </a:r>
            <a:endParaRPr lang="en-US" altLang="zh-CN" sz="1600" b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0" animBg="1"/>
      <p:bldP spid="17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ARP</a:t>
            </a:r>
            <a:r>
              <a:rPr lang="zh-CN" altLang="en-US"/>
              <a:t>相关命令</a:t>
            </a:r>
            <a:r>
              <a:rPr lang="en-US" altLang="zh-CN"/>
              <a:t>2-1</a:t>
            </a:r>
            <a:endParaRPr lang="zh-CN" altLang="en-US"/>
          </a:p>
        </p:txBody>
      </p:sp>
      <p:sp>
        <p:nvSpPr>
          <p:cNvPr id="17412" name="内容占位符 48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2857504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>
                <a:cs typeface="Arial" charset="0"/>
              </a:rPr>
              <a:t>Windows</a:t>
            </a:r>
            <a:r>
              <a:rPr lang="zh-CN" altLang="en-US">
                <a:cs typeface="Arial" charset="0"/>
              </a:rPr>
              <a:t>系统中的</a:t>
            </a:r>
            <a:r>
              <a:rPr lang="en-US" altLang="zh-CN">
                <a:cs typeface="Arial" charset="0"/>
              </a:rPr>
              <a:t>ARP</a:t>
            </a:r>
            <a:r>
              <a:rPr lang="zh-CN" altLang="en-US">
                <a:cs typeface="Arial" charset="0"/>
              </a:rPr>
              <a:t>命令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en-US" altLang="zh-CN">
                <a:cs typeface="Arial" charset="0"/>
              </a:rPr>
              <a:t>arp -a</a:t>
            </a:r>
            <a:r>
              <a:rPr lang="zh-CN" altLang="en-US">
                <a:cs typeface="Arial" charset="0"/>
              </a:rPr>
              <a:t>：查看</a:t>
            </a:r>
            <a:r>
              <a:rPr lang="en-US" altLang="zh-CN">
                <a:cs typeface="Arial" charset="0"/>
              </a:rPr>
              <a:t>ARP</a:t>
            </a:r>
            <a:r>
              <a:rPr lang="zh-CN" altLang="en-US">
                <a:cs typeface="Arial" charset="0"/>
              </a:rPr>
              <a:t>缓存表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en-US" altLang="zh-CN">
                <a:cs typeface="Arial" charset="0"/>
              </a:rPr>
              <a:t>arp -d</a:t>
            </a:r>
            <a:r>
              <a:rPr lang="zh-CN" altLang="en-US">
                <a:cs typeface="Arial" charset="0"/>
              </a:rPr>
              <a:t>：清除</a:t>
            </a:r>
            <a:r>
              <a:rPr lang="en-US" altLang="zh-CN">
                <a:cs typeface="Arial" charset="0"/>
              </a:rPr>
              <a:t>ARP</a:t>
            </a:r>
            <a:r>
              <a:rPr lang="zh-CN" altLang="en-US">
                <a:cs typeface="Arial" charset="0"/>
              </a:rPr>
              <a:t>缓存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en-US" altLang="zh-CN">
                <a:cs typeface="Arial" charset="0"/>
              </a:rPr>
              <a:t>ARP</a:t>
            </a:r>
            <a:r>
              <a:rPr lang="zh-CN" altLang="en-US">
                <a:cs typeface="Arial" charset="0"/>
              </a:rPr>
              <a:t>绑定</a:t>
            </a:r>
            <a:endParaRPr lang="en-US" altLang="zh-CN">
              <a:cs typeface="Arial" charset="0"/>
            </a:endParaRPr>
          </a:p>
        </p:txBody>
      </p:sp>
      <p:grpSp>
        <p:nvGrpSpPr>
          <p:cNvPr id="14" name="Group 16"/>
          <p:cNvGrpSpPr>
            <a:grpSpLocks/>
          </p:cNvGrpSpPr>
          <p:nvPr/>
        </p:nvGrpSpPr>
        <p:grpSpPr bwMode="auto">
          <a:xfrm>
            <a:off x="4310050" y="6000768"/>
            <a:ext cx="3348038" cy="463550"/>
            <a:chOff x="3457" y="1661"/>
            <a:chExt cx="2086" cy="292"/>
          </a:xfrm>
        </p:grpSpPr>
        <p:sp>
          <p:nvSpPr>
            <p:cNvPr id="15" name="AutoShape 17"/>
            <p:cNvSpPr>
              <a:spLocks noChangeArrowheads="1"/>
            </p:cNvSpPr>
            <p:nvPr/>
          </p:nvSpPr>
          <p:spPr bwMode="auto">
            <a:xfrm>
              <a:off x="3457" y="1661"/>
              <a:ext cx="2086" cy="272"/>
            </a:xfrm>
            <a:prstGeom prst="flowChartAlternateProcess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A1DFED"/>
                </a:gs>
              </a:gsLst>
              <a:lin ang="5400000" scaled="1"/>
            </a:gradFill>
            <a:ln w="31750" algn="ctr">
              <a:solidFill>
                <a:srgbClr val="008080"/>
              </a:solidFill>
              <a:miter lim="800000"/>
              <a:headEnd/>
              <a:tailEnd/>
            </a:ln>
            <a:effectLst>
              <a:prstShdw prst="shdw13" dist="53882" dir="13500000">
                <a:srgbClr val="1C99C6">
                  <a:alpha val="50000"/>
                </a:srgbClr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6" name="Picture 18" descr="说话气泡new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515" y="1661"/>
              <a:ext cx="418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</p:spPr>
        </p:pic>
        <p:sp>
          <p:nvSpPr>
            <p:cNvPr id="17" name="Text Box 19"/>
            <p:cNvSpPr txBox="1">
              <a:spLocks noChangeArrowheads="1"/>
            </p:cNvSpPr>
            <p:nvPr/>
          </p:nvSpPr>
          <p:spPr bwMode="auto">
            <a:xfrm>
              <a:off x="4053" y="1669"/>
              <a:ext cx="1276" cy="231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1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itchFamily="2" charset="-122"/>
                </a:rPr>
                <a:t>教员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ea typeface="黑体" pitchFamily="2" charset="-122"/>
                </a:rPr>
                <a:t>演示操作过程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AutoShape 8"/>
          <p:cNvSpPr>
            <a:spLocks noChangeArrowheads="1"/>
          </p:cNvSpPr>
          <p:nvPr/>
        </p:nvSpPr>
        <p:spPr bwMode="auto">
          <a:xfrm>
            <a:off x="2166939" y="3860800"/>
            <a:ext cx="7920037" cy="439738"/>
          </a:xfrm>
          <a:prstGeom prst="roundRect">
            <a:avLst>
              <a:gd name="adj" fmla="val 19412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zh-CN"/>
          </a:p>
        </p:txBody>
      </p:sp>
      <p:sp>
        <p:nvSpPr>
          <p:cNvPr id="18435" name="AutoShape 8"/>
          <p:cNvSpPr>
            <a:spLocks noChangeArrowheads="1"/>
          </p:cNvSpPr>
          <p:nvPr/>
        </p:nvSpPr>
        <p:spPr bwMode="auto">
          <a:xfrm>
            <a:off x="2166939" y="2976563"/>
            <a:ext cx="7920037" cy="431800"/>
          </a:xfrm>
          <a:prstGeom prst="roundRect">
            <a:avLst>
              <a:gd name="adj" fmla="val 19412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zh-CN"/>
          </a:p>
        </p:txBody>
      </p:sp>
      <p:sp>
        <p:nvSpPr>
          <p:cNvPr id="18436" name="AutoShape 8"/>
          <p:cNvSpPr>
            <a:spLocks noChangeArrowheads="1"/>
          </p:cNvSpPr>
          <p:nvPr/>
        </p:nvSpPr>
        <p:spPr bwMode="auto">
          <a:xfrm>
            <a:off x="2166939" y="2109788"/>
            <a:ext cx="7920037" cy="431800"/>
          </a:xfrm>
          <a:prstGeom prst="roundRect">
            <a:avLst>
              <a:gd name="adj" fmla="val 19412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zh-CN"/>
          </a:p>
        </p:txBody>
      </p:sp>
      <p:sp>
        <p:nvSpPr>
          <p:cNvPr id="1843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ARP</a:t>
            </a:r>
            <a:r>
              <a:rPr lang="zh-CN" altLang="en-US"/>
              <a:t>相关命令</a:t>
            </a:r>
            <a:r>
              <a:rPr lang="en-US" altLang="zh-CN"/>
              <a:t>2-2</a:t>
            </a:r>
            <a:endParaRPr lang="zh-CN" altLang="en-US"/>
          </a:p>
        </p:txBody>
      </p:sp>
      <p:sp>
        <p:nvSpPr>
          <p:cNvPr id="44" name="内容占位符 43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Cisco</a:t>
            </a:r>
            <a:r>
              <a:rPr lang="zh-CN" altLang="en-US" dirty="0"/>
              <a:t>系统中的</a:t>
            </a:r>
            <a:r>
              <a:rPr lang="en-US" altLang="zh-CN" dirty="0"/>
              <a:t>ARP</a:t>
            </a:r>
            <a:r>
              <a:rPr lang="zh-CN" altLang="en-US" dirty="0"/>
              <a:t>命令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查看</a:t>
            </a:r>
            <a:r>
              <a:rPr lang="en-US" altLang="zh-CN" dirty="0"/>
              <a:t>ARP</a:t>
            </a:r>
            <a:r>
              <a:rPr lang="zh-CN" altLang="en-US" dirty="0"/>
              <a:t>缓存表</a:t>
            </a:r>
            <a:endParaRPr lang="en-US" altLang="zh-CN" dirty="0"/>
          </a:p>
          <a:p>
            <a:pPr lvl="1">
              <a:buFontTx/>
              <a:buNone/>
              <a:defRPr/>
            </a:pPr>
            <a:r>
              <a:rPr lang="en-US" sz="1800" dirty="0" err="1">
                <a:latin typeface="+mj-lt"/>
              </a:rPr>
              <a:t>R</a:t>
            </a:r>
            <a:r>
              <a:rPr lang="en-US" altLang="zh-CN" sz="1800" dirty="0" err="1">
                <a:latin typeface="+mj-lt"/>
              </a:rPr>
              <a:t>outer</a:t>
            </a:r>
            <a:r>
              <a:rPr lang="en-US" sz="1800" dirty="0" err="1">
                <a:latin typeface="+mj-lt"/>
              </a:rPr>
              <a:t>#show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arp</a:t>
            </a:r>
            <a:endParaRPr lang="en-US" altLang="zh-CN" sz="1800" dirty="0">
              <a:latin typeface="+mj-lt"/>
            </a:endParaRPr>
          </a:p>
          <a:p>
            <a:pPr lvl="1">
              <a:defRPr/>
            </a:pPr>
            <a:r>
              <a:rPr lang="zh-CN" altLang="en-US" dirty="0">
                <a:latin typeface="+mj-lt"/>
              </a:rPr>
              <a:t>清除</a:t>
            </a:r>
            <a:r>
              <a:rPr lang="en-US" altLang="zh-CN" dirty="0">
                <a:latin typeface="+mj-lt"/>
              </a:rPr>
              <a:t>ARP</a:t>
            </a:r>
            <a:r>
              <a:rPr lang="zh-CN" altLang="en-US" dirty="0">
                <a:latin typeface="+mj-lt"/>
              </a:rPr>
              <a:t>缓存</a:t>
            </a:r>
            <a:endParaRPr lang="en-US" altLang="zh-CN" dirty="0">
              <a:latin typeface="+mj-lt"/>
            </a:endParaRPr>
          </a:p>
          <a:p>
            <a:pPr lvl="1">
              <a:buFontTx/>
              <a:buNone/>
              <a:defRPr/>
            </a:pPr>
            <a:r>
              <a:rPr lang="en-US" sz="1800" dirty="0" err="1">
                <a:latin typeface="+mj-lt"/>
              </a:rPr>
              <a:t>R</a:t>
            </a:r>
            <a:r>
              <a:rPr lang="en-US" altLang="zh-CN" sz="1800" dirty="0" err="1">
                <a:latin typeface="+mj-lt"/>
              </a:rPr>
              <a:t>outer</a:t>
            </a:r>
            <a:r>
              <a:rPr lang="en-US" sz="1800" dirty="0" err="1">
                <a:latin typeface="+mj-lt"/>
              </a:rPr>
              <a:t>#clear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arp</a:t>
            </a:r>
            <a:r>
              <a:rPr lang="en-US" sz="1800" dirty="0">
                <a:latin typeface="+mj-lt"/>
              </a:rPr>
              <a:t>-cache</a:t>
            </a:r>
            <a:endParaRPr lang="en-US" altLang="zh-CN" sz="1800" dirty="0">
              <a:latin typeface="+mj-lt"/>
            </a:endParaRPr>
          </a:p>
          <a:p>
            <a:pPr lvl="1">
              <a:defRPr/>
            </a:pPr>
            <a:r>
              <a:rPr lang="en-US" altLang="zh-CN" dirty="0">
                <a:latin typeface="+mj-lt"/>
              </a:rPr>
              <a:t>ARP</a:t>
            </a:r>
            <a:r>
              <a:rPr lang="zh-CN" altLang="en-US" dirty="0">
                <a:latin typeface="+mj-lt"/>
              </a:rPr>
              <a:t>绑定</a:t>
            </a:r>
            <a:endParaRPr lang="en-US" altLang="zh-CN" dirty="0">
              <a:latin typeface="+mj-lt"/>
            </a:endParaRPr>
          </a:p>
          <a:p>
            <a:pPr lvl="1">
              <a:buFontTx/>
              <a:buNone/>
              <a:defRPr/>
            </a:pPr>
            <a:r>
              <a:rPr lang="en-US" altLang="zh-CN" sz="1800" dirty="0" err="1">
                <a:latin typeface="+mj-lt"/>
              </a:rPr>
              <a:t>Router</a:t>
            </a:r>
            <a:r>
              <a:rPr lang="en-US" sz="1800">
                <a:latin typeface="+mj-lt"/>
              </a:rPr>
              <a:t>(config</a:t>
            </a:r>
            <a:r>
              <a:rPr lang="en-US" sz="1800" dirty="0">
                <a:latin typeface="+mj-lt"/>
              </a:rPr>
              <a:t>)#</a:t>
            </a:r>
            <a:r>
              <a:rPr lang="en-US" sz="1800" dirty="0" err="1">
                <a:latin typeface="+mj-lt"/>
              </a:rPr>
              <a:t>arp</a:t>
            </a:r>
            <a:r>
              <a:rPr lang="en-US" sz="1800" dirty="0">
                <a:latin typeface="+mj-lt"/>
              </a:rPr>
              <a:t> </a:t>
            </a:r>
            <a:r>
              <a:rPr lang="en-US" sz="1800" i="1" dirty="0" err="1">
                <a:latin typeface="+mj-lt"/>
              </a:rPr>
              <a:t>ip</a:t>
            </a:r>
            <a:r>
              <a:rPr lang="en-US" sz="1800" i="1" dirty="0">
                <a:latin typeface="+mj-lt"/>
              </a:rPr>
              <a:t>-address </a:t>
            </a:r>
            <a:r>
              <a:rPr lang="en-US" sz="1800" i="1" dirty="0" err="1">
                <a:latin typeface="+mj-lt"/>
              </a:rPr>
              <a:t>mac</a:t>
            </a:r>
            <a:r>
              <a:rPr lang="en-US" sz="1800" i="1" dirty="0">
                <a:latin typeface="+mj-lt"/>
              </a:rPr>
              <a:t>-address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arpa</a:t>
            </a:r>
            <a:endParaRPr lang="en-US" altLang="zh-CN" sz="1800" dirty="0">
              <a:latin typeface="+mj-lt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13324" name="AutoShape 8"/>
          <p:cNvSpPr>
            <a:spLocks noChangeArrowheads="1"/>
          </p:cNvSpPr>
          <p:nvPr/>
        </p:nvSpPr>
        <p:spPr bwMode="auto">
          <a:xfrm>
            <a:off x="2166938" y="3786188"/>
            <a:ext cx="7956550" cy="1643062"/>
          </a:xfrm>
          <a:prstGeom prst="roundRect">
            <a:avLst>
              <a:gd name="adj" fmla="val 7963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zh-CN" sz="1600" b="1">
                <a:solidFill>
                  <a:schemeClr val="tx2"/>
                </a:solidFill>
              </a:rPr>
              <a:t>Router(config)#arp 1.1.1.1 0011.1111.1111 arpa</a:t>
            </a:r>
          </a:p>
          <a:p>
            <a:r>
              <a:rPr lang="en-US" altLang="zh-CN" sz="1600" b="1">
                <a:solidFill>
                  <a:schemeClr val="tx2"/>
                </a:solidFill>
              </a:rPr>
              <a:t>Router#show arp </a:t>
            </a:r>
          </a:p>
          <a:p>
            <a:r>
              <a:rPr lang="en-US" altLang="zh-CN" sz="1600" b="1">
                <a:solidFill>
                  <a:schemeClr val="tx2"/>
                </a:solidFill>
              </a:rPr>
              <a:t>Protocol  Address     Age (min)   Hardware Addr   Type        Interface</a:t>
            </a:r>
          </a:p>
          <a:p>
            <a:r>
              <a:rPr lang="en-US" altLang="zh-CN" sz="1600" b="1">
                <a:solidFill>
                  <a:schemeClr val="tx2"/>
                </a:solidFill>
              </a:rPr>
              <a:t>Internet  1.1.1.1             -              0011.1111.1111    ARPA</a:t>
            </a:r>
          </a:p>
          <a:p>
            <a:r>
              <a:rPr lang="en-US" altLang="zh-CN" sz="1600" b="1">
                <a:solidFill>
                  <a:schemeClr val="tx2"/>
                </a:solidFill>
              </a:rPr>
              <a:t>Internet  10.0.0.2           4             001f.cab6.c959    ARPA    FastEthernet0/1</a:t>
            </a:r>
          </a:p>
          <a:p>
            <a:r>
              <a:rPr lang="en-US" altLang="zh-CN" sz="1600" b="1">
                <a:solidFill>
                  <a:schemeClr val="tx2"/>
                </a:solidFill>
              </a:rPr>
              <a:t>Internet  10.0.0.1           -              001f.caff.1041      ARPA    FastEthernet0/1</a:t>
            </a:r>
            <a:endParaRPr lang="zh-CN" altLang="zh-CN" sz="1600" b="1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ARP</a:t>
            </a:r>
            <a:r>
              <a:rPr lang="zh-CN" altLang="en-US"/>
              <a:t>原理演示</a:t>
            </a:r>
            <a:endParaRPr lang="en-US" altLang="zh-CN"/>
          </a:p>
        </p:txBody>
      </p:sp>
      <p:sp>
        <p:nvSpPr>
          <p:cNvPr id="19459" name="内容占位符 42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需求分析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对等网的环境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en-US" altLang="zh-CN">
                <a:cs typeface="Arial" charset="0"/>
              </a:rPr>
              <a:t>PC1</a:t>
            </a:r>
            <a:r>
              <a:rPr lang="zh-CN" altLang="en-US">
                <a:cs typeface="Arial" charset="0"/>
              </a:rPr>
              <a:t>和</a:t>
            </a:r>
            <a:r>
              <a:rPr lang="en-US" altLang="zh-CN">
                <a:cs typeface="Arial" charset="0"/>
              </a:rPr>
              <a:t>PC2</a:t>
            </a:r>
            <a:r>
              <a:rPr lang="zh-CN" altLang="en-US">
                <a:cs typeface="Arial" charset="0"/>
              </a:rPr>
              <a:t>第一次通信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演示步骤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使用</a:t>
            </a:r>
            <a:r>
              <a:rPr lang="en-US" altLang="zh-CN">
                <a:cs typeface="Arial" charset="0"/>
              </a:rPr>
              <a:t>ipconfig /all</a:t>
            </a:r>
            <a:r>
              <a:rPr lang="zh-CN" altLang="en-US">
                <a:cs typeface="Arial" charset="0"/>
              </a:rPr>
              <a:t>查看</a:t>
            </a:r>
            <a:r>
              <a:rPr lang="en-US" altLang="zh-CN">
                <a:cs typeface="Arial" charset="0"/>
              </a:rPr>
              <a:t>PC1</a:t>
            </a:r>
            <a:r>
              <a:rPr lang="zh-CN" altLang="en-US">
                <a:cs typeface="Arial" charset="0"/>
              </a:rPr>
              <a:t>和</a:t>
            </a:r>
            <a:r>
              <a:rPr lang="en-US" altLang="zh-CN">
                <a:cs typeface="Arial" charset="0"/>
              </a:rPr>
              <a:t>PC2</a:t>
            </a:r>
            <a:r>
              <a:rPr lang="zh-CN" altLang="en-US">
                <a:cs typeface="Arial" charset="0"/>
              </a:rPr>
              <a:t>的</a:t>
            </a:r>
            <a:r>
              <a:rPr lang="en-US" altLang="zh-CN">
                <a:cs typeface="Arial" charset="0"/>
              </a:rPr>
              <a:t>MAC</a:t>
            </a:r>
            <a:r>
              <a:rPr lang="zh-CN" altLang="en-US">
                <a:cs typeface="Arial" charset="0"/>
              </a:rPr>
              <a:t>地址</a:t>
            </a: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用“</a:t>
            </a:r>
            <a:r>
              <a:rPr lang="en-US" altLang="zh-CN">
                <a:cs typeface="Arial" charset="0"/>
              </a:rPr>
              <a:t>arp -a”</a:t>
            </a:r>
            <a:r>
              <a:rPr lang="zh-CN" altLang="en-US">
                <a:cs typeface="Arial" charset="0"/>
              </a:rPr>
              <a:t>查看</a:t>
            </a:r>
            <a:r>
              <a:rPr lang="en-US" altLang="zh-CN">
                <a:cs typeface="Arial" charset="0"/>
              </a:rPr>
              <a:t>ARP</a:t>
            </a:r>
            <a:r>
              <a:rPr lang="zh-CN" altLang="en-US">
                <a:cs typeface="Arial" charset="0"/>
              </a:rPr>
              <a:t>缓存</a:t>
            </a: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在</a:t>
            </a:r>
            <a:r>
              <a:rPr lang="en-US" altLang="zh-CN">
                <a:cs typeface="Arial" charset="0"/>
              </a:rPr>
              <a:t>PC1</a:t>
            </a:r>
            <a:r>
              <a:rPr lang="zh-CN" altLang="en-US">
                <a:cs typeface="Arial" charset="0"/>
              </a:rPr>
              <a:t>上</a:t>
            </a:r>
            <a:r>
              <a:rPr lang="en-US" altLang="zh-CN">
                <a:cs typeface="Arial" charset="0"/>
              </a:rPr>
              <a:t>ping PC2</a:t>
            </a:r>
            <a:r>
              <a:rPr lang="zh-CN" altLang="en-US">
                <a:cs typeface="Arial" charset="0"/>
              </a:rPr>
              <a:t>后</a:t>
            </a:r>
            <a:r>
              <a:rPr lang="en-US" altLang="zh-CN">
                <a:cs typeface="Arial" charset="0"/>
              </a:rPr>
              <a:t>,</a:t>
            </a:r>
            <a:r>
              <a:rPr lang="zh-CN" altLang="en-US">
                <a:cs typeface="Arial" charset="0"/>
              </a:rPr>
              <a:t>再用“</a:t>
            </a:r>
            <a:r>
              <a:rPr lang="en-US" altLang="zh-CN">
                <a:cs typeface="Arial" charset="0"/>
              </a:rPr>
              <a:t>arp -a”</a:t>
            </a:r>
            <a:r>
              <a:rPr lang="zh-CN" altLang="en-US">
                <a:cs typeface="Arial" charset="0"/>
              </a:rPr>
              <a:t>查看</a:t>
            </a:r>
            <a:r>
              <a:rPr lang="en-US" altLang="zh-CN">
                <a:cs typeface="Arial" charset="0"/>
              </a:rPr>
              <a:t>ARP</a:t>
            </a:r>
            <a:r>
              <a:rPr lang="zh-CN" altLang="en-US">
                <a:cs typeface="Arial" charset="0"/>
              </a:rPr>
              <a:t>缓存表</a:t>
            </a:r>
          </a:p>
        </p:txBody>
      </p:sp>
      <p:pic>
        <p:nvPicPr>
          <p:cNvPr id="19460" name="图片 11" descr="asd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78688" y="2686051"/>
            <a:ext cx="1008062" cy="957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图片 11" descr="asd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32188" y="2686051"/>
            <a:ext cx="1009650" cy="957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462" name="直接连接符 3"/>
          <p:cNvCxnSpPr>
            <a:cxnSpLocks noChangeShapeType="1"/>
          </p:cNvCxnSpPr>
          <p:nvPr/>
        </p:nvCxnSpPr>
        <p:spPr bwMode="auto">
          <a:xfrm>
            <a:off x="4541838" y="3162301"/>
            <a:ext cx="2736850" cy="4763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19463" name="Text Box 28"/>
          <p:cNvSpPr txBox="1">
            <a:spLocks noChangeArrowheads="1"/>
          </p:cNvSpPr>
          <p:nvPr/>
        </p:nvSpPr>
        <p:spPr bwMode="auto">
          <a:xfrm>
            <a:off x="2879725" y="2974975"/>
            <a:ext cx="865188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 b="1">
                <a:ea typeface="宋体" charset="-122"/>
                <a:cs typeface="Arial" charset="0"/>
              </a:rPr>
              <a:t>PC1</a:t>
            </a:r>
            <a:endParaRPr lang="zh-CN" altLang="en-US" sz="1600" b="1">
              <a:ea typeface="宋体" charset="-122"/>
              <a:cs typeface="Arial" charset="0"/>
            </a:endParaRPr>
          </a:p>
        </p:txBody>
      </p:sp>
      <p:sp>
        <p:nvSpPr>
          <p:cNvPr id="19464" name="Text Box 28"/>
          <p:cNvSpPr txBox="1">
            <a:spLocks noChangeArrowheads="1"/>
          </p:cNvSpPr>
          <p:nvPr/>
        </p:nvSpPr>
        <p:spPr bwMode="auto">
          <a:xfrm>
            <a:off x="8151814" y="3009900"/>
            <a:ext cx="865187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 b="1">
                <a:ea typeface="宋体" charset="-122"/>
                <a:cs typeface="Arial" charset="0"/>
              </a:rPr>
              <a:t>PC2</a:t>
            </a:r>
            <a:endParaRPr lang="zh-CN" altLang="en-US" sz="1600" b="1">
              <a:ea typeface="宋体" charset="-122"/>
              <a:cs typeface="Arial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ICMP</a:t>
            </a:r>
            <a:r>
              <a:rPr lang="zh-CN" altLang="en-US"/>
              <a:t>协议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ICMP</a:t>
            </a:r>
            <a:r>
              <a:rPr lang="zh-CN" altLang="en-US"/>
              <a:t>是一个“错误侦测与回馈机制”，是通过</a:t>
            </a:r>
            <a:r>
              <a:rPr lang="en-US" altLang="zh-CN"/>
              <a:t>IP</a:t>
            </a:r>
            <a:r>
              <a:rPr lang="zh-CN" altLang="en-US"/>
              <a:t>数据包封装的，用来发送错误和控制消息 </a:t>
            </a:r>
          </a:p>
        </p:txBody>
      </p:sp>
      <p:pic>
        <p:nvPicPr>
          <p:cNvPr id="20484" name="Picture 4" descr="电脑图标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52813" y="3143250"/>
            <a:ext cx="6477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5" name="Picture 4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53063" y="4071938"/>
            <a:ext cx="6477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6" name="Picture 4" descr="电脑图标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52813" y="4714875"/>
            <a:ext cx="6477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7" name="Picture 6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881813" y="3892550"/>
            <a:ext cx="1181100" cy="71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0488" name="肘形连接符 8"/>
          <p:cNvCxnSpPr>
            <a:cxnSpLocks noChangeShapeType="1"/>
          </p:cNvCxnSpPr>
          <p:nvPr/>
        </p:nvCxnSpPr>
        <p:spPr bwMode="auto">
          <a:xfrm>
            <a:off x="4100513" y="3451225"/>
            <a:ext cx="1352550" cy="800100"/>
          </a:xfrm>
          <a:prstGeom prst="bentConnector3">
            <a:avLst>
              <a:gd name="adj1" fmla="val 50000"/>
            </a:avLst>
          </a:prstGeom>
          <a:noFill/>
          <a:ln w="1587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20489" name="肘形连接符 11"/>
          <p:cNvCxnSpPr>
            <a:cxnSpLocks noChangeShapeType="1"/>
          </p:cNvCxnSpPr>
          <p:nvPr/>
        </p:nvCxnSpPr>
        <p:spPr bwMode="auto">
          <a:xfrm flipV="1">
            <a:off x="4100513" y="4251326"/>
            <a:ext cx="1352550" cy="773113"/>
          </a:xfrm>
          <a:prstGeom prst="bentConnector3">
            <a:avLst>
              <a:gd name="adj1" fmla="val 50000"/>
            </a:avLst>
          </a:prstGeom>
          <a:noFill/>
          <a:ln w="1587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20490" name="直接连接符 14"/>
          <p:cNvCxnSpPr>
            <a:cxnSpLocks noChangeShapeType="1"/>
          </p:cNvCxnSpPr>
          <p:nvPr/>
        </p:nvCxnSpPr>
        <p:spPr bwMode="auto">
          <a:xfrm flipV="1">
            <a:off x="6100763" y="4249739"/>
            <a:ext cx="781050" cy="1587"/>
          </a:xfrm>
          <a:prstGeom prst="line">
            <a:avLst/>
          </a:prstGeom>
          <a:noFill/>
          <a:ln w="15875" algn="ctr">
            <a:solidFill>
              <a:srgbClr val="FF0000"/>
            </a:solidFill>
            <a:round/>
            <a:headEnd/>
            <a:tailEnd/>
          </a:ln>
        </p:spPr>
      </p:cxnSp>
      <p:grpSp>
        <p:nvGrpSpPr>
          <p:cNvPr id="2" name="组合 16"/>
          <p:cNvGrpSpPr>
            <a:grpSpLocks/>
          </p:cNvGrpSpPr>
          <p:nvPr/>
        </p:nvGrpSpPr>
        <p:grpSpPr bwMode="auto">
          <a:xfrm>
            <a:off x="3381376" y="4071938"/>
            <a:ext cx="2214563" cy="857250"/>
            <a:chOff x="1857375" y="4071936"/>
            <a:chExt cx="2214563" cy="857250"/>
          </a:xfrm>
        </p:grpSpPr>
        <p:cxnSp>
          <p:nvCxnSpPr>
            <p:cNvPr id="20495" name="直接箭头连接符 23"/>
            <p:cNvCxnSpPr>
              <a:cxnSpLocks noChangeShapeType="1"/>
            </p:cNvCxnSpPr>
            <p:nvPr/>
          </p:nvCxnSpPr>
          <p:spPr bwMode="auto">
            <a:xfrm flipV="1">
              <a:off x="2428875" y="4429123"/>
              <a:ext cx="1643063" cy="500063"/>
            </a:xfrm>
            <a:prstGeom prst="straightConnector1">
              <a:avLst/>
            </a:prstGeom>
            <a:noFill/>
            <a:ln w="28575" algn="ctr">
              <a:solidFill>
                <a:srgbClr val="0033CC"/>
              </a:solidFill>
              <a:prstDash val="dash"/>
              <a:round/>
              <a:headEnd/>
              <a:tailEnd type="arrow" w="med" len="med"/>
            </a:ln>
          </p:spPr>
        </p:cxnSp>
        <p:sp>
          <p:nvSpPr>
            <p:cNvPr id="20496" name="圆角矩形标注 26"/>
            <p:cNvSpPr>
              <a:spLocks noChangeArrowheads="1"/>
            </p:cNvSpPr>
            <p:nvPr/>
          </p:nvSpPr>
          <p:spPr bwMode="auto">
            <a:xfrm>
              <a:off x="1857375" y="4071936"/>
              <a:ext cx="1214438" cy="428625"/>
            </a:xfrm>
            <a:prstGeom prst="wedgeRoundRectCallout">
              <a:avLst>
                <a:gd name="adj1" fmla="val -22403"/>
                <a:gd name="adj2" fmla="val 88056"/>
                <a:gd name="adj3" fmla="val 16667"/>
              </a:avLst>
            </a:prstGeom>
            <a:noFill/>
            <a:ln w="9525" algn="ctr">
              <a:solidFill>
                <a:srgbClr val="002060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r>
                <a:rPr lang="zh-CN" altLang="en-US" sz="1600">
                  <a:latin typeface="楷体_GB2312" pitchFamily="49" charset="-122"/>
                  <a:ea typeface="楷体_GB2312" pitchFamily="49" charset="-122"/>
                </a:rPr>
                <a:t>我要去</a:t>
              </a:r>
              <a:r>
                <a:rPr lang="en-US" altLang="zh-CN" sz="1600">
                  <a:latin typeface="楷体_GB2312" pitchFamily="49" charset="-122"/>
                  <a:ea typeface="楷体_GB2312" pitchFamily="49" charset="-122"/>
                </a:rPr>
                <a:t>XXX</a:t>
              </a:r>
              <a:endParaRPr lang="zh-CN" altLang="en-US" sz="1600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3" name="组合 15"/>
          <p:cNvGrpSpPr>
            <a:grpSpLocks/>
          </p:cNvGrpSpPr>
          <p:nvPr/>
        </p:nvGrpSpPr>
        <p:grpSpPr bwMode="auto">
          <a:xfrm>
            <a:off x="4024314" y="4357689"/>
            <a:ext cx="2643187" cy="714375"/>
            <a:chOff x="5715018" y="2500308"/>
            <a:chExt cx="2643187" cy="714375"/>
          </a:xfrm>
        </p:grpSpPr>
        <p:cxnSp>
          <p:nvCxnSpPr>
            <p:cNvPr id="20493" name="直接箭头连接符 23"/>
            <p:cNvCxnSpPr>
              <a:cxnSpLocks noChangeShapeType="1"/>
            </p:cNvCxnSpPr>
            <p:nvPr/>
          </p:nvCxnSpPr>
          <p:spPr bwMode="auto">
            <a:xfrm rot="10800000" flipV="1">
              <a:off x="5715018" y="2500308"/>
              <a:ext cx="1500187" cy="428625"/>
            </a:xfrm>
            <a:prstGeom prst="straightConnector1">
              <a:avLst/>
            </a:prstGeom>
            <a:noFill/>
            <a:ln w="28575" algn="ctr">
              <a:solidFill>
                <a:srgbClr val="0033CC"/>
              </a:solidFill>
              <a:prstDash val="dash"/>
              <a:round/>
              <a:headEnd/>
              <a:tailEnd type="arrow" w="med" len="med"/>
            </a:ln>
          </p:spPr>
        </p:cxnSp>
        <p:sp>
          <p:nvSpPr>
            <p:cNvPr id="20494" name="圆角矩形标注 26"/>
            <p:cNvSpPr>
              <a:spLocks noChangeArrowheads="1"/>
            </p:cNvSpPr>
            <p:nvPr/>
          </p:nvSpPr>
          <p:spPr bwMode="auto">
            <a:xfrm>
              <a:off x="7143768" y="2786058"/>
              <a:ext cx="1214437" cy="428625"/>
            </a:xfrm>
            <a:prstGeom prst="wedgeRoundRectCallout">
              <a:avLst>
                <a:gd name="adj1" fmla="val -30245"/>
                <a:gd name="adj2" fmla="val -94167"/>
                <a:gd name="adj3" fmla="val 16667"/>
              </a:avLst>
            </a:prstGeom>
            <a:noFill/>
            <a:ln w="9525" algn="ctr">
              <a:solidFill>
                <a:srgbClr val="002060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r>
                <a:rPr lang="en-US" altLang="zh-CN" sz="1600">
                  <a:latin typeface="楷体_GB2312" pitchFamily="49" charset="-122"/>
                  <a:ea typeface="楷体_GB2312" pitchFamily="49" charset="-122"/>
                </a:rPr>
                <a:t>XXX</a:t>
              </a:r>
              <a:r>
                <a:rPr lang="zh-CN" altLang="en-US" sz="1600">
                  <a:latin typeface="楷体_GB2312" pitchFamily="49" charset="-122"/>
                  <a:ea typeface="楷体_GB2312" pitchFamily="49" charset="-122"/>
                </a:rPr>
                <a:t>不可达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ICMP</a:t>
            </a:r>
            <a:r>
              <a:rPr lang="zh-CN" altLang="en-US"/>
              <a:t>协议的封装</a:t>
            </a:r>
            <a:endParaRPr lang="en-US" altLang="zh-CN"/>
          </a:p>
        </p:txBody>
      </p:sp>
      <p:sp>
        <p:nvSpPr>
          <p:cNvPr id="21507" name="Rectangle 115"/>
          <p:cNvSpPr>
            <a:spLocks noGrp="1" noChangeArrowheads="1"/>
          </p:cNvSpPr>
          <p:nvPr>
            <p:ph type="body" idx="1"/>
          </p:nvPr>
        </p:nvSpPr>
        <p:spPr>
          <a:xfrm>
            <a:off x="1738313" y="1143000"/>
            <a:ext cx="8501062" cy="2000250"/>
          </a:xfrm>
          <a:noFill/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ICMP</a:t>
            </a:r>
            <a:r>
              <a:rPr lang="zh-CN" altLang="en-US"/>
              <a:t>协议属于网络层协议</a:t>
            </a:r>
          </a:p>
          <a:p>
            <a:pPr>
              <a:spcBef>
                <a:spcPts val="675"/>
              </a:spcBef>
            </a:pPr>
            <a:r>
              <a:rPr lang="en-US" altLang="zh-CN"/>
              <a:t>ICMP</a:t>
            </a:r>
            <a:r>
              <a:rPr lang="zh-CN" altLang="en-US"/>
              <a:t>数据的封装过程</a:t>
            </a:r>
            <a:endParaRPr lang="en-US" altLang="zh-CN" i="1"/>
          </a:p>
        </p:txBody>
      </p:sp>
      <p:sp>
        <p:nvSpPr>
          <p:cNvPr id="21508" name="矩形 3"/>
          <p:cNvSpPr>
            <a:spLocks noChangeArrowheads="1"/>
          </p:cNvSpPr>
          <p:nvPr/>
        </p:nvSpPr>
        <p:spPr bwMode="auto">
          <a:xfrm>
            <a:off x="3738563" y="3929063"/>
            <a:ext cx="1357312" cy="500062"/>
          </a:xfrm>
          <a:prstGeom prst="rect">
            <a:avLst/>
          </a:prstGeom>
          <a:solidFill>
            <a:srgbClr val="CCFF99"/>
          </a:solidFill>
          <a:ln w="9525" algn="ctr">
            <a:solidFill>
              <a:schemeClr val="tx2"/>
            </a:solidFill>
            <a:round/>
            <a:headEnd/>
            <a:tailEnd/>
          </a:ln>
        </p:spPr>
        <p:txBody>
          <a:bodyPr wrap="none" anchor="ctr" anchorCtr="1"/>
          <a:lstStyle/>
          <a:p>
            <a:r>
              <a:rPr lang="en-US" altLang="zh-CN"/>
              <a:t>IP</a:t>
            </a:r>
            <a:r>
              <a:rPr lang="zh-CN" altLang="en-US"/>
              <a:t>头部</a:t>
            </a:r>
          </a:p>
        </p:txBody>
      </p:sp>
      <p:sp>
        <p:nvSpPr>
          <p:cNvPr id="21509" name="矩形 4"/>
          <p:cNvSpPr>
            <a:spLocks noChangeArrowheads="1"/>
          </p:cNvSpPr>
          <p:nvPr/>
        </p:nvSpPr>
        <p:spPr bwMode="auto">
          <a:xfrm>
            <a:off x="5095876" y="3929063"/>
            <a:ext cx="2714625" cy="500062"/>
          </a:xfrm>
          <a:prstGeom prst="rect">
            <a:avLst/>
          </a:prstGeom>
          <a:noFill/>
          <a:ln w="9525" algn="ctr">
            <a:solidFill>
              <a:schemeClr val="tx2"/>
            </a:solidFill>
            <a:round/>
            <a:headEnd/>
            <a:tailEnd/>
          </a:ln>
        </p:spPr>
        <p:txBody>
          <a:bodyPr wrap="none" anchor="ctr" anchorCtr="1"/>
          <a:lstStyle/>
          <a:p>
            <a:r>
              <a:rPr lang="zh-CN" altLang="en-US"/>
              <a:t>上层数据（</a:t>
            </a:r>
            <a:r>
              <a:rPr lang="en-US" altLang="zh-CN"/>
              <a:t>ICMP</a:t>
            </a:r>
            <a:r>
              <a:rPr lang="zh-CN" altLang="en-US"/>
              <a:t>报文）</a:t>
            </a:r>
          </a:p>
        </p:txBody>
      </p:sp>
      <p:sp>
        <p:nvSpPr>
          <p:cNvPr id="21510" name="矩形 5"/>
          <p:cNvSpPr>
            <a:spLocks noChangeArrowheads="1"/>
          </p:cNvSpPr>
          <p:nvPr/>
        </p:nvSpPr>
        <p:spPr bwMode="auto">
          <a:xfrm>
            <a:off x="5095876" y="2857501"/>
            <a:ext cx="1357313" cy="500063"/>
          </a:xfrm>
          <a:prstGeom prst="rect">
            <a:avLst/>
          </a:prstGeom>
          <a:solidFill>
            <a:srgbClr val="CCFFFF"/>
          </a:solidFill>
          <a:ln w="9525" algn="ctr">
            <a:solidFill>
              <a:schemeClr val="tx2"/>
            </a:solidFill>
            <a:round/>
            <a:headEnd/>
            <a:tailEnd/>
          </a:ln>
        </p:spPr>
        <p:txBody>
          <a:bodyPr wrap="none" anchor="ctr" anchorCtr="1"/>
          <a:lstStyle/>
          <a:p>
            <a:r>
              <a:rPr lang="en-US" altLang="zh-CN"/>
              <a:t>ICMP</a:t>
            </a:r>
            <a:r>
              <a:rPr lang="zh-CN" altLang="en-US"/>
              <a:t>头部</a:t>
            </a:r>
          </a:p>
        </p:txBody>
      </p:sp>
      <p:sp>
        <p:nvSpPr>
          <p:cNvPr id="21511" name="矩形 6"/>
          <p:cNvSpPr>
            <a:spLocks noChangeArrowheads="1"/>
          </p:cNvSpPr>
          <p:nvPr/>
        </p:nvSpPr>
        <p:spPr bwMode="auto">
          <a:xfrm>
            <a:off x="6453188" y="2857501"/>
            <a:ext cx="1357312" cy="500063"/>
          </a:xfrm>
          <a:prstGeom prst="rect">
            <a:avLst/>
          </a:prstGeom>
          <a:noFill/>
          <a:ln w="9525" algn="ctr">
            <a:solidFill>
              <a:schemeClr val="tx2"/>
            </a:solidFill>
            <a:round/>
            <a:headEnd/>
            <a:tailEnd/>
          </a:ln>
        </p:spPr>
        <p:txBody>
          <a:bodyPr wrap="none" anchor="ctr" anchorCtr="1"/>
          <a:lstStyle/>
          <a:p>
            <a:r>
              <a:rPr lang="en-US" altLang="zh-CN"/>
              <a:t>ICMP</a:t>
            </a:r>
            <a:r>
              <a:rPr lang="zh-CN" altLang="en-US"/>
              <a:t>数据</a:t>
            </a:r>
          </a:p>
        </p:txBody>
      </p:sp>
      <p:sp>
        <p:nvSpPr>
          <p:cNvPr id="79" name="AutoShape 8"/>
          <p:cNvSpPr>
            <a:spLocks noChangeArrowheads="1"/>
          </p:cNvSpPr>
          <p:nvPr/>
        </p:nvSpPr>
        <p:spPr bwMode="auto">
          <a:xfrm rot="5400000">
            <a:off x="6257926" y="3371851"/>
            <a:ext cx="395287" cy="576262"/>
          </a:xfrm>
          <a:prstGeom prst="rightArrow">
            <a:avLst>
              <a:gd name="adj1" fmla="val 49861"/>
              <a:gd name="adj2" fmla="val 53168"/>
            </a:avLst>
          </a:prstGeom>
          <a:gradFill rotWithShape="1">
            <a:gsLst>
              <a:gs pos="0">
                <a:srgbClr val="3399FF"/>
              </a:gs>
              <a:gs pos="100000">
                <a:schemeClr val="bg1"/>
              </a:gs>
            </a:gsLst>
            <a:lin ang="5400000" scaled="1"/>
          </a:gradFill>
          <a:ln w="12700" cap="rnd" algn="ctr">
            <a:solidFill>
              <a:srgbClr val="3399FF"/>
            </a:solidFill>
            <a:miter lim="800000"/>
            <a:headEnd/>
            <a:tailEnd/>
          </a:ln>
          <a:effectLst>
            <a:outerShdw dist="71842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80" name="AutoShape 8"/>
          <p:cNvSpPr>
            <a:spLocks noChangeArrowheads="1"/>
          </p:cNvSpPr>
          <p:nvPr/>
        </p:nvSpPr>
        <p:spPr bwMode="auto">
          <a:xfrm rot="5400000">
            <a:off x="5472114" y="4429126"/>
            <a:ext cx="395287" cy="576263"/>
          </a:xfrm>
          <a:prstGeom prst="rightArrow">
            <a:avLst>
              <a:gd name="adj1" fmla="val 49861"/>
              <a:gd name="adj2" fmla="val 53168"/>
            </a:avLst>
          </a:prstGeom>
          <a:gradFill rotWithShape="1">
            <a:gsLst>
              <a:gs pos="0">
                <a:srgbClr val="3399FF"/>
              </a:gs>
              <a:gs pos="100000">
                <a:schemeClr val="bg1"/>
              </a:gs>
            </a:gsLst>
            <a:lin ang="5400000" scaled="1"/>
          </a:gradFill>
          <a:ln w="12700" cap="rnd" algn="ctr">
            <a:solidFill>
              <a:srgbClr val="3399FF"/>
            </a:solidFill>
            <a:miter lim="800000"/>
            <a:headEnd/>
            <a:tailEnd/>
          </a:ln>
          <a:effectLst>
            <a:outerShdw dist="71842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1514" name="矩形 9"/>
          <p:cNvSpPr>
            <a:spLocks noChangeArrowheads="1"/>
          </p:cNvSpPr>
          <p:nvPr/>
        </p:nvSpPr>
        <p:spPr bwMode="auto">
          <a:xfrm>
            <a:off x="2381251" y="5000626"/>
            <a:ext cx="1357313" cy="500063"/>
          </a:xfrm>
          <a:prstGeom prst="rect">
            <a:avLst/>
          </a:prstGeom>
          <a:solidFill>
            <a:srgbClr val="FFDB57"/>
          </a:solidFill>
          <a:ln w="9525" algn="ctr">
            <a:solidFill>
              <a:schemeClr val="tx2"/>
            </a:solidFill>
            <a:round/>
            <a:headEnd/>
            <a:tailEnd/>
          </a:ln>
        </p:spPr>
        <p:txBody>
          <a:bodyPr wrap="none" anchor="ctr" anchorCtr="1"/>
          <a:lstStyle/>
          <a:p>
            <a:r>
              <a:rPr lang="zh-CN" altLang="en-US"/>
              <a:t>帧头部</a:t>
            </a:r>
          </a:p>
        </p:txBody>
      </p:sp>
      <p:sp>
        <p:nvSpPr>
          <p:cNvPr id="21515" name="矩形 10"/>
          <p:cNvSpPr>
            <a:spLocks noChangeArrowheads="1"/>
          </p:cNvSpPr>
          <p:nvPr/>
        </p:nvSpPr>
        <p:spPr bwMode="auto">
          <a:xfrm>
            <a:off x="7810501" y="5000626"/>
            <a:ext cx="1357313" cy="500063"/>
          </a:xfrm>
          <a:prstGeom prst="rect">
            <a:avLst/>
          </a:prstGeom>
          <a:solidFill>
            <a:srgbClr val="FFDB57"/>
          </a:solidFill>
          <a:ln w="9525" algn="ctr">
            <a:solidFill>
              <a:schemeClr val="tx2"/>
            </a:solidFill>
            <a:round/>
            <a:headEnd/>
            <a:tailEnd/>
          </a:ln>
        </p:spPr>
        <p:txBody>
          <a:bodyPr wrap="none" anchor="ctr" anchorCtr="1"/>
          <a:lstStyle/>
          <a:p>
            <a:r>
              <a:rPr lang="zh-CN" altLang="en-US"/>
              <a:t>帧尾部</a:t>
            </a:r>
          </a:p>
        </p:txBody>
      </p:sp>
      <p:sp>
        <p:nvSpPr>
          <p:cNvPr id="21516" name="矩形 11"/>
          <p:cNvSpPr>
            <a:spLocks noChangeArrowheads="1"/>
          </p:cNvSpPr>
          <p:nvPr/>
        </p:nvSpPr>
        <p:spPr bwMode="auto">
          <a:xfrm>
            <a:off x="3738564" y="5000626"/>
            <a:ext cx="4071937" cy="500063"/>
          </a:xfrm>
          <a:prstGeom prst="rect">
            <a:avLst/>
          </a:prstGeom>
          <a:noFill/>
          <a:ln w="9525" algn="ctr">
            <a:solidFill>
              <a:schemeClr val="tx2"/>
            </a:solidFill>
            <a:round/>
            <a:headEnd/>
            <a:tailEnd/>
          </a:ln>
        </p:spPr>
        <p:txBody>
          <a:bodyPr wrap="none" anchor="ctr" anchorCtr="1"/>
          <a:lstStyle/>
          <a:p>
            <a:r>
              <a:rPr lang="zh-CN" altLang="en-US"/>
              <a:t>上层数据</a:t>
            </a:r>
          </a:p>
        </p:txBody>
      </p:sp>
      <p:cxnSp>
        <p:nvCxnSpPr>
          <p:cNvPr id="21517" name="直接连接符 13"/>
          <p:cNvCxnSpPr>
            <a:cxnSpLocks noChangeShapeType="1"/>
          </p:cNvCxnSpPr>
          <p:nvPr/>
        </p:nvCxnSpPr>
        <p:spPr bwMode="auto">
          <a:xfrm rot="5400000">
            <a:off x="4809332" y="3642520"/>
            <a:ext cx="571500" cy="1587"/>
          </a:xfrm>
          <a:prstGeom prst="line">
            <a:avLst/>
          </a:prstGeom>
          <a:noFill/>
          <a:ln w="15875" algn="ctr">
            <a:solidFill>
              <a:srgbClr val="FF0000"/>
            </a:solidFill>
            <a:prstDash val="dash"/>
            <a:round/>
            <a:headEnd/>
            <a:tailEnd/>
          </a:ln>
        </p:spPr>
      </p:cxnSp>
      <p:cxnSp>
        <p:nvCxnSpPr>
          <p:cNvPr id="21518" name="直接连接符 14"/>
          <p:cNvCxnSpPr>
            <a:cxnSpLocks noChangeShapeType="1"/>
          </p:cNvCxnSpPr>
          <p:nvPr/>
        </p:nvCxnSpPr>
        <p:spPr bwMode="auto">
          <a:xfrm rot="5400000">
            <a:off x="7525544" y="3642519"/>
            <a:ext cx="571500" cy="1588"/>
          </a:xfrm>
          <a:prstGeom prst="line">
            <a:avLst/>
          </a:prstGeom>
          <a:noFill/>
          <a:ln w="15875" algn="ctr">
            <a:solidFill>
              <a:srgbClr val="FF0000"/>
            </a:solidFill>
            <a:prstDash val="dash"/>
            <a:round/>
            <a:headEnd/>
            <a:tailEnd/>
          </a:ln>
        </p:spPr>
      </p:cxnSp>
      <p:cxnSp>
        <p:nvCxnSpPr>
          <p:cNvPr id="21519" name="直接连接符 15"/>
          <p:cNvCxnSpPr>
            <a:cxnSpLocks noChangeShapeType="1"/>
          </p:cNvCxnSpPr>
          <p:nvPr/>
        </p:nvCxnSpPr>
        <p:spPr bwMode="auto">
          <a:xfrm rot="5400000">
            <a:off x="7525544" y="4714081"/>
            <a:ext cx="571500" cy="1588"/>
          </a:xfrm>
          <a:prstGeom prst="line">
            <a:avLst/>
          </a:prstGeom>
          <a:noFill/>
          <a:ln w="15875" algn="ctr">
            <a:solidFill>
              <a:srgbClr val="FF0000"/>
            </a:solidFill>
            <a:prstDash val="dash"/>
            <a:round/>
            <a:headEnd/>
            <a:tailEnd/>
          </a:ln>
        </p:spPr>
      </p:cxnSp>
      <p:cxnSp>
        <p:nvCxnSpPr>
          <p:cNvPr id="21520" name="直接连接符 16"/>
          <p:cNvCxnSpPr>
            <a:cxnSpLocks noChangeShapeType="1"/>
          </p:cNvCxnSpPr>
          <p:nvPr/>
        </p:nvCxnSpPr>
        <p:spPr bwMode="auto">
          <a:xfrm rot="5400000">
            <a:off x="3453607" y="4714082"/>
            <a:ext cx="571500" cy="1587"/>
          </a:xfrm>
          <a:prstGeom prst="line">
            <a:avLst/>
          </a:prstGeom>
          <a:noFill/>
          <a:ln w="15875" algn="ctr">
            <a:solidFill>
              <a:srgbClr val="FF0000"/>
            </a:solidFill>
            <a:prstDash val="dash"/>
            <a:round/>
            <a:headEnd/>
            <a:tailEnd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ping</a:t>
            </a:r>
            <a:r>
              <a:rPr lang="zh-CN" altLang="en-US"/>
              <a:t>命令的基本格式为：</a:t>
            </a: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r>
              <a:rPr lang="en-US" altLang="zh-CN"/>
              <a:t>Ping</a:t>
            </a:r>
            <a:r>
              <a:rPr lang="zh-CN" altLang="en-US"/>
              <a:t>命令的返回信息</a:t>
            </a:r>
            <a:endParaRPr lang="en-US" altLang="zh-CN"/>
          </a:p>
          <a:p>
            <a:pPr lvl="1">
              <a:spcBef>
                <a:spcPts val="475"/>
              </a:spcBef>
            </a:pPr>
            <a:endParaRPr lang="zh-CN" altLang="en-US"/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22531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Ping</a:t>
            </a:r>
            <a:r>
              <a:rPr lang="zh-CN" altLang="en-US"/>
              <a:t>命令</a:t>
            </a:r>
          </a:p>
        </p:txBody>
      </p:sp>
      <p:sp>
        <p:nvSpPr>
          <p:cNvPr id="22532" name="AutoShape 8"/>
          <p:cNvSpPr>
            <a:spLocks noChangeArrowheads="1"/>
          </p:cNvSpPr>
          <p:nvPr/>
        </p:nvSpPr>
        <p:spPr bwMode="auto">
          <a:xfrm>
            <a:off x="1952625" y="1857375"/>
            <a:ext cx="7920038" cy="431800"/>
          </a:xfrm>
          <a:prstGeom prst="roundRect">
            <a:avLst>
              <a:gd name="adj" fmla="val 19412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r>
              <a:rPr lang="fr-FR" altLang="zh-CN">
                <a:solidFill>
                  <a:schemeClr val="tx2"/>
                </a:solidFill>
              </a:rPr>
              <a:t>C</a:t>
            </a:r>
            <a:r>
              <a:rPr lang="zh-CN" altLang="en-US">
                <a:solidFill>
                  <a:schemeClr val="tx2"/>
                </a:solidFill>
              </a:rPr>
              <a:t>：</a:t>
            </a:r>
            <a:r>
              <a:rPr lang="fr-FR" altLang="zh-CN">
                <a:solidFill>
                  <a:schemeClr val="tx2"/>
                </a:solidFill>
              </a:rPr>
              <a:t>\&gt;ping  [–t] [-l </a:t>
            </a:r>
            <a:r>
              <a:rPr lang="zh-CN" altLang="en-US">
                <a:solidFill>
                  <a:schemeClr val="tx2"/>
                </a:solidFill>
              </a:rPr>
              <a:t>字节数</a:t>
            </a:r>
            <a:r>
              <a:rPr lang="fr-FR" altLang="zh-CN">
                <a:solidFill>
                  <a:schemeClr val="tx2"/>
                </a:solidFill>
              </a:rPr>
              <a:t>] [-a] [-i] IP_Address| target_name</a:t>
            </a:r>
            <a:endParaRPr lang="zh-CN" altLang="en-US">
              <a:solidFill>
                <a:schemeClr val="tx2"/>
              </a:solidFill>
            </a:endParaRPr>
          </a:p>
          <a:p>
            <a:endParaRPr lang="zh-CN" altLang="zh-CN">
              <a:solidFill>
                <a:schemeClr val="tx2"/>
              </a:solidFill>
            </a:endParaRPr>
          </a:p>
        </p:txBody>
      </p:sp>
      <p:grpSp>
        <p:nvGrpSpPr>
          <p:cNvPr id="2" name="组合 9"/>
          <p:cNvGrpSpPr>
            <a:grpSpLocks/>
          </p:cNvGrpSpPr>
          <p:nvPr/>
        </p:nvGrpSpPr>
        <p:grpSpPr bwMode="auto">
          <a:xfrm>
            <a:off x="2095501" y="3357563"/>
            <a:ext cx="6448425" cy="2533650"/>
            <a:chOff x="571472" y="3357562"/>
            <a:chExt cx="6448425" cy="2533650"/>
          </a:xfrm>
        </p:grpSpPr>
        <p:pic>
          <p:nvPicPr>
            <p:cNvPr id="22540" name="Picture 3" descr="D:\201102\网络基础\素材\3333.TIF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71472" y="3357562"/>
              <a:ext cx="6448425" cy="2533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541" name="AutoShape 4"/>
            <p:cNvSpPr>
              <a:spLocks noChangeArrowheads="1"/>
            </p:cNvSpPr>
            <p:nvPr/>
          </p:nvSpPr>
          <p:spPr bwMode="auto">
            <a:xfrm>
              <a:off x="3714722" y="3643312"/>
              <a:ext cx="2071688" cy="401637"/>
            </a:xfrm>
            <a:prstGeom prst="wedgeRoundRectCallout">
              <a:avLst>
                <a:gd name="adj1" fmla="val -31963"/>
                <a:gd name="adj2" fmla="val 107731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16200000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/>
              <a:r>
                <a:rPr lang="zh-CN" altLang="en-US" sz="20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连通后的应答</a:t>
              </a:r>
              <a:endPara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pic>
        <p:nvPicPr>
          <p:cNvPr id="1028" name="Picture 4" descr="D:\201102\网络基础\素材\444.TI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95751" y="1928813"/>
            <a:ext cx="6448425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 descr="D:\201102\网络基础\素材\超时.TIF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114801" y="4357689"/>
            <a:ext cx="5153025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AutoShape 4"/>
          <p:cNvSpPr>
            <a:spLocks noChangeArrowheads="1"/>
          </p:cNvSpPr>
          <p:nvPr/>
        </p:nvSpPr>
        <p:spPr bwMode="auto">
          <a:xfrm>
            <a:off x="6543675" y="1428737"/>
            <a:ext cx="3479800" cy="758839"/>
          </a:xfrm>
          <a:prstGeom prst="wedgeRoundRectCallout">
            <a:avLst>
              <a:gd name="adj1" fmla="val -32694"/>
              <a:gd name="adj2" fmla="val 84528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16200000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可能是因为没有正确配置网关等参数</a:t>
            </a:r>
            <a:endParaRPr lang="en-US" altLang="zh-CN" sz="20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" name="AutoShape 4"/>
          <p:cNvSpPr>
            <a:spLocks noChangeArrowheads="1"/>
          </p:cNvSpPr>
          <p:nvPr/>
        </p:nvSpPr>
        <p:spPr bwMode="auto">
          <a:xfrm>
            <a:off x="6543675" y="4643447"/>
            <a:ext cx="3479800" cy="687379"/>
          </a:xfrm>
          <a:prstGeom prst="wedgeRoundRectCallout">
            <a:avLst>
              <a:gd name="adj1" fmla="val -32694"/>
              <a:gd name="adj2" fmla="val 84528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16200000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在规定时间内没有收到返回的应答消息</a:t>
            </a:r>
            <a:endParaRPr lang="en-US" altLang="zh-CN" sz="20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" name="圆角矩形 12"/>
          <p:cNvSpPr>
            <a:spLocks noChangeArrowheads="1"/>
          </p:cNvSpPr>
          <p:nvPr/>
        </p:nvSpPr>
        <p:spPr bwMode="auto">
          <a:xfrm>
            <a:off x="4471988" y="3571875"/>
            <a:ext cx="4000500" cy="285750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endParaRPr lang="zh-CN" altLang="en-US" sz="20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4" name="圆角矩形 13"/>
          <p:cNvSpPr>
            <a:spLocks noChangeArrowheads="1"/>
          </p:cNvSpPr>
          <p:nvPr/>
        </p:nvSpPr>
        <p:spPr bwMode="auto">
          <a:xfrm>
            <a:off x="4471989" y="5837238"/>
            <a:ext cx="4071937" cy="285750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endParaRPr lang="zh-CN" altLang="en-US" sz="20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Ping</a:t>
            </a:r>
            <a:r>
              <a:rPr lang="zh-CN" altLang="en-US"/>
              <a:t>命令的参数</a:t>
            </a:r>
            <a:r>
              <a:rPr lang="en-US" altLang="zh-CN"/>
              <a:t>3-1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-t </a:t>
            </a:r>
            <a:r>
              <a:rPr lang="zh-CN" altLang="en-US"/>
              <a:t>参数会一直不停的执行</a:t>
            </a:r>
            <a:r>
              <a:rPr lang="en-US" altLang="zh-CN"/>
              <a:t>ping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调试故障或需进行持续连通性测试时应用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en-US" altLang="zh-CN"/>
              <a:t>Ctrl+C</a:t>
            </a:r>
            <a:r>
              <a:rPr lang="zh-CN" altLang="en-US"/>
              <a:t>可以中断命令</a:t>
            </a:r>
          </a:p>
        </p:txBody>
      </p:sp>
      <p:pic>
        <p:nvPicPr>
          <p:cNvPr id="23556" name="Picture 2" descr="D:\201102\网络基础\素材\5555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5564" y="2714625"/>
            <a:ext cx="6448425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Ping</a:t>
            </a:r>
            <a:r>
              <a:rPr lang="zh-CN" altLang="en-US"/>
              <a:t>命令的参数</a:t>
            </a:r>
            <a:r>
              <a:rPr lang="en-US" altLang="zh-CN"/>
              <a:t>3-2</a:t>
            </a: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-a </a:t>
            </a:r>
            <a:r>
              <a:rPr lang="zh-CN" altLang="en-US"/>
              <a:t>参数可以显示主机名称</a:t>
            </a:r>
          </a:p>
        </p:txBody>
      </p:sp>
      <p:pic>
        <p:nvPicPr>
          <p:cNvPr id="24580" name="Picture 2" descr="D:\201102\网络基础\素材\ping-a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38439" y="2071689"/>
            <a:ext cx="5153025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Ping</a:t>
            </a:r>
            <a:r>
              <a:rPr lang="zh-CN" altLang="en-US"/>
              <a:t>命令的参数</a:t>
            </a:r>
            <a:r>
              <a:rPr lang="en-US" altLang="zh-CN"/>
              <a:t>3-3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-l </a:t>
            </a:r>
            <a:r>
              <a:rPr lang="zh-CN" altLang="en-US"/>
              <a:t>参数可以设定</a:t>
            </a:r>
            <a:r>
              <a:rPr lang="en-US" altLang="zh-CN"/>
              <a:t>ping</a:t>
            </a:r>
            <a:r>
              <a:rPr lang="zh-CN" altLang="en-US"/>
              <a:t>包的大小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单位为字节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可用于简单测试通信质量</a:t>
            </a:r>
          </a:p>
        </p:txBody>
      </p:sp>
      <p:pic>
        <p:nvPicPr>
          <p:cNvPr id="25604" name="Picture 2" descr="D:\201102\网络基础\素材\ping-l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5564" y="2643189"/>
            <a:ext cx="5153025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835318-A86B-4409-944A-1726D62CC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435D2E-46A2-4568-AD7C-3760BC95C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46" y="2551193"/>
            <a:ext cx="10972440" cy="7514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4800" dirty="0"/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3404734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6609</TotalTime>
  <Words>2185</Words>
  <Application>Microsoft Office PowerPoint</Application>
  <PresentationFormat>宽屏</PresentationFormat>
  <Paragraphs>198</Paragraphs>
  <Slides>17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Myriad Pro</vt:lpstr>
      <vt:lpstr>包图粗黑体</vt:lpstr>
      <vt:lpstr>楷体_GB2312</vt:lpstr>
      <vt:lpstr>微软雅黑</vt:lpstr>
      <vt:lpstr>Arial</vt:lpstr>
      <vt:lpstr>Symbol</vt:lpstr>
      <vt:lpstr>Times New Roman</vt:lpstr>
      <vt:lpstr>Wingdings</vt:lpstr>
      <vt:lpstr>Office Theme</vt:lpstr>
      <vt:lpstr>PowerPoint 演示文稿</vt:lpstr>
      <vt:lpstr>本章结构</vt:lpstr>
      <vt:lpstr>网络层的功能</vt:lpstr>
      <vt:lpstr>IP数据包格式</vt:lpstr>
      <vt:lpstr>广播与广播域概述</vt:lpstr>
      <vt:lpstr>ARP协议概述</vt:lpstr>
      <vt:lpstr>ARP协议</vt:lpstr>
      <vt:lpstr>ARP相关命令2-1</vt:lpstr>
      <vt:lpstr>ARP相关命令2-2</vt:lpstr>
      <vt:lpstr>ARP原理演示</vt:lpstr>
      <vt:lpstr>ICMP协议</vt:lpstr>
      <vt:lpstr>ICMP协议的封装</vt:lpstr>
      <vt:lpstr>Ping命令</vt:lpstr>
      <vt:lpstr>Ping命令的参数3-1</vt:lpstr>
      <vt:lpstr>Ping命令的参数3-2</vt:lpstr>
      <vt:lpstr>Ping命令的参数3-3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cuiyongxin</dc:creator>
  <dc:description/>
  <cp:lastModifiedBy>Jason Chen</cp:lastModifiedBy>
  <cp:revision>167</cp:revision>
  <dcterms:created xsi:type="dcterms:W3CDTF">2019-12-12T13:30:13Z</dcterms:created>
  <dcterms:modified xsi:type="dcterms:W3CDTF">2021-10-14T05:35:06Z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KSOProductBuildVer">
    <vt:lpwstr>2052-1.2.1.1575</vt:lpwstr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4</vt:i4>
  </property>
  <property fmtid="{D5CDD505-2E9C-101B-9397-08002B2CF9AE}" pid="9" name="PresentationFormat">
    <vt:lpwstr>宽屏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24</vt:i4>
  </property>
</Properties>
</file>