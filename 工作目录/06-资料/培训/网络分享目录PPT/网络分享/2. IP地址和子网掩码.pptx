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notesMasterIdLst>
    <p:notesMasterId r:id="rId32"/>
  </p:notesMasterIdLst>
  <p:sldIdLst>
    <p:sldId id="602" r:id="rId2"/>
    <p:sldId id="542" r:id="rId3"/>
    <p:sldId id="543" r:id="rId4"/>
    <p:sldId id="544" r:id="rId5"/>
    <p:sldId id="545" r:id="rId6"/>
    <p:sldId id="546" r:id="rId7"/>
    <p:sldId id="547" r:id="rId8"/>
    <p:sldId id="548" r:id="rId9"/>
    <p:sldId id="549" r:id="rId10"/>
    <p:sldId id="550" r:id="rId11"/>
    <p:sldId id="551" r:id="rId12"/>
    <p:sldId id="552" r:id="rId13"/>
    <p:sldId id="553" r:id="rId14"/>
    <p:sldId id="554" r:id="rId15"/>
    <p:sldId id="555" r:id="rId16"/>
    <p:sldId id="556" r:id="rId17"/>
    <p:sldId id="557" r:id="rId18"/>
    <p:sldId id="558" r:id="rId19"/>
    <p:sldId id="426" r:id="rId20"/>
    <p:sldId id="440" r:id="rId21"/>
    <p:sldId id="441" r:id="rId22"/>
    <p:sldId id="445" r:id="rId23"/>
    <p:sldId id="280" r:id="rId24"/>
    <p:sldId id="559" r:id="rId25"/>
    <p:sldId id="560" r:id="rId26"/>
    <p:sldId id="563" r:id="rId27"/>
    <p:sldId id="561" r:id="rId28"/>
    <p:sldId id="562" r:id="rId29"/>
    <p:sldId id="467" r:id="rId30"/>
    <p:sldId id="298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776B"/>
    <a:srgbClr val="E44C3C"/>
    <a:srgbClr val="BC291A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50" autoAdjust="0"/>
    <p:restoredTop sz="95232" autoAdjust="0"/>
  </p:normalViewPr>
  <p:slideViewPr>
    <p:cSldViewPr snapToGrid="0">
      <p:cViewPr varScale="1">
        <p:scale>
          <a:sx n="110" d="100"/>
          <a:sy n="110" d="100"/>
        </p:scale>
        <p:origin x="54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708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76680" y="726440"/>
            <a:ext cx="6704640" cy="377136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2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217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218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219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1435F71D-641E-4ECC-830F-6558CD869574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12153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4198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FCFF07D-BE34-4A11-9B8B-1301CDD048CA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9AFA895-5E0B-442D-B271-D2DF800B9B8D}" type="slidenum">
              <a:rPr lang="en-US" altLang="zh-CN" smtClean="0">
                <a:latin typeface="Arial" pitchFamily="34" charset="0"/>
              </a:rPr>
              <a:pPr>
                <a:defRPr/>
              </a:pPr>
              <a:t>3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zh-CN" altLang="en-US">
                <a:ea typeface="宋体" charset="-122"/>
              </a:rPr>
              <a:t>简单温习二进制转换十进制。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6D235AEE-9EE6-4218-8A71-DBF21AFBF232}" type="slidenum">
              <a:rPr lang="en-US" altLang="zh-CN" sz="1200">
                <a:ea typeface="宋体" charset="-122"/>
              </a:rPr>
              <a:pPr algn="r"/>
              <a:t>4</a:t>
            </a:fld>
            <a:endParaRPr lang="en-US" altLang="zh-CN" sz="1200">
              <a:ea typeface="宋体" charset="-122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zh-CN" altLang="en-US">
                <a:ea typeface="宋体" charset="-122"/>
              </a:rPr>
              <a:t>举生活中的例子讲解</a:t>
            </a:r>
            <a:r>
              <a:rPr lang="en-US" altLang="zh-CN">
                <a:ea typeface="宋体" charset="-122"/>
              </a:rPr>
              <a:t>IP</a:t>
            </a:r>
            <a:r>
              <a:rPr lang="zh-CN" altLang="en-US">
                <a:ea typeface="宋体" charset="-122"/>
              </a:rPr>
              <a:t>地址的组成，如手机号码，前</a:t>
            </a:r>
            <a:r>
              <a:rPr lang="en-US" altLang="zh-CN">
                <a:ea typeface="宋体" charset="-122"/>
              </a:rPr>
              <a:t>7</a:t>
            </a:r>
            <a:r>
              <a:rPr lang="zh-CN" altLang="en-US">
                <a:ea typeface="宋体" charset="-122"/>
              </a:rPr>
              <a:t>位相当于网络地址，后</a:t>
            </a:r>
            <a:r>
              <a:rPr lang="en-US" altLang="zh-CN">
                <a:ea typeface="宋体" charset="-122"/>
              </a:rPr>
              <a:t>4</a:t>
            </a:r>
            <a:r>
              <a:rPr lang="zh-CN" altLang="en-US">
                <a:ea typeface="宋体" charset="-122"/>
              </a:rPr>
              <a:t>位相当于主机地址。</a:t>
            </a:r>
          </a:p>
          <a:p>
            <a:pPr eaLnBrk="1" hangingPunct="1"/>
            <a:r>
              <a:rPr lang="zh-CN" altLang="en-US">
                <a:ea typeface="宋体" charset="-122"/>
              </a:rPr>
              <a:t>再用之前配置的</a:t>
            </a:r>
            <a:r>
              <a:rPr lang="en-US" altLang="zh-CN">
                <a:ea typeface="宋体" charset="-122"/>
              </a:rPr>
              <a:t>IP</a:t>
            </a:r>
            <a:r>
              <a:rPr lang="zh-CN" altLang="en-US">
                <a:ea typeface="宋体" charset="-122"/>
              </a:rPr>
              <a:t>地址</a:t>
            </a:r>
            <a:r>
              <a:rPr lang="en-US" altLang="zh-CN">
                <a:ea typeface="宋体" charset="-122"/>
              </a:rPr>
              <a:t>192.168.0.25</a:t>
            </a:r>
            <a:r>
              <a:rPr lang="zh-CN" altLang="en-US">
                <a:ea typeface="宋体" charset="-122"/>
              </a:rPr>
              <a:t>为例讲解</a:t>
            </a:r>
            <a:r>
              <a:rPr lang="en-US" altLang="zh-CN">
                <a:ea typeface="宋体" charset="-122"/>
              </a:rPr>
              <a:t>IP</a:t>
            </a:r>
            <a:r>
              <a:rPr lang="zh-CN" altLang="en-US">
                <a:ea typeface="宋体" charset="-122"/>
              </a:rPr>
              <a:t>地址的组成。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0056E5-4A4E-4F5F-A811-3C593821F3BB}" type="slidenum">
              <a:rPr lang="en-US" altLang="zh-CN" smtClean="0">
                <a:latin typeface="Arial" pitchFamily="34" charset="0"/>
              </a:rPr>
              <a:pPr>
                <a:defRPr/>
              </a:pPr>
              <a:t>5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zh-CN" altLang="en-US">
                <a:ea typeface="宋体" charset="-122"/>
              </a:rPr>
              <a:t>讲解</a:t>
            </a:r>
            <a:r>
              <a:rPr lang="en-US" altLang="zh-CN">
                <a:ea typeface="宋体" charset="-122"/>
              </a:rPr>
              <a:t>IP</a:t>
            </a:r>
            <a:r>
              <a:rPr lang="zh-CN" altLang="en-US">
                <a:ea typeface="宋体" charset="-122"/>
              </a:rPr>
              <a:t>的分类：</a:t>
            </a:r>
          </a:p>
          <a:p>
            <a:pPr eaLnBrk="1" hangingPunct="1"/>
            <a:r>
              <a:rPr lang="zh-CN" altLang="en-US">
                <a:ea typeface="宋体" charset="-122"/>
              </a:rPr>
              <a:t>主要根据每类</a:t>
            </a:r>
            <a:r>
              <a:rPr lang="en-US" altLang="zh-CN">
                <a:ea typeface="宋体" charset="-122"/>
              </a:rPr>
              <a:t>IP</a:t>
            </a:r>
            <a:r>
              <a:rPr lang="zh-CN" altLang="en-US">
                <a:ea typeface="宋体" charset="-122"/>
              </a:rPr>
              <a:t>的组成来讲解其第一个八位的数值范围，以及每类地址拥有的最大网络数和主机数，以让学员能够根据企业需求进行</a:t>
            </a:r>
            <a:r>
              <a:rPr lang="en-US" altLang="zh-CN">
                <a:ea typeface="宋体" charset="-122"/>
              </a:rPr>
              <a:t>IP</a:t>
            </a:r>
            <a:r>
              <a:rPr lang="zh-CN" altLang="en-US">
                <a:ea typeface="宋体" charset="-122"/>
              </a:rPr>
              <a:t>地址的规划。</a:t>
            </a:r>
          </a:p>
          <a:p>
            <a:pPr eaLnBrk="1" hangingPunct="1"/>
            <a:r>
              <a:rPr lang="en-US" altLang="zh-CN">
                <a:ea typeface="宋体" charset="-122"/>
              </a:rPr>
              <a:t>127.0.0.1</a:t>
            </a:r>
            <a:r>
              <a:rPr lang="zh-CN" altLang="en-US">
                <a:ea typeface="宋体" charset="-122"/>
              </a:rPr>
              <a:t>又称为本机回环地址，通常利用在本机上</a:t>
            </a:r>
            <a:r>
              <a:rPr lang="en-US" altLang="zh-CN">
                <a:ea typeface="宋体" charset="-122"/>
              </a:rPr>
              <a:t>ping</a:t>
            </a:r>
            <a:r>
              <a:rPr lang="zh-CN" altLang="en-US">
                <a:ea typeface="宋体" charset="-122"/>
              </a:rPr>
              <a:t>此地址来检查</a:t>
            </a:r>
            <a:r>
              <a:rPr lang="en-US" altLang="zh-CN">
                <a:ea typeface="宋体" charset="-122"/>
              </a:rPr>
              <a:t>TCP/IP</a:t>
            </a:r>
            <a:r>
              <a:rPr lang="zh-CN" altLang="en-US">
                <a:ea typeface="宋体" charset="-122"/>
              </a:rPr>
              <a:t>协议安装是否正确。</a:t>
            </a:r>
          </a:p>
          <a:p>
            <a:pPr eaLnBrk="1" hangingPunct="1"/>
            <a:r>
              <a:rPr lang="en-US" altLang="zh-CN">
                <a:ea typeface="宋体" charset="-122"/>
              </a:rPr>
              <a:t>D</a:t>
            </a:r>
            <a:r>
              <a:rPr lang="zh-CN" altLang="en-US">
                <a:ea typeface="宋体" charset="-122"/>
              </a:rPr>
              <a:t>类、</a:t>
            </a:r>
            <a:r>
              <a:rPr lang="en-US" altLang="zh-CN">
                <a:ea typeface="宋体" charset="-122"/>
              </a:rPr>
              <a:t>E</a:t>
            </a:r>
            <a:r>
              <a:rPr lang="zh-CN" altLang="en-US">
                <a:ea typeface="宋体" charset="-122"/>
              </a:rPr>
              <a:t>类地址仅作为了解内容，不需要过多介绍。</a:t>
            </a:r>
          </a:p>
          <a:p>
            <a:pPr eaLnBrk="1" hangingPunct="1"/>
            <a:endParaRPr lang="en-US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A6ADDA42-CB37-4A5F-8EFB-C1891102D611}" type="slidenum">
              <a:rPr lang="en-US" altLang="zh-CN" sz="1200">
                <a:ea typeface="宋体" charset="-122"/>
              </a:rPr>
              <a:pPr algn="r"/>
              <a:t>6</a:t>
            </a:fld>
            <a:endParaRPr lang="en-US" altLang="zh-CN" sz="1200">
              <a:ea typeface="宋体" charset="-122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altLang="zh-CN">
                <a:ea typeface="宋体" charset="-122"/>
              </a:rPr>
              <a:t>A</a:t>
            </a:r>
            <a:r>
              <a:rPr lang="zh-CN" altLang="en-US">
                <a:ea typeface="宋体" charset="-122"/>
              </a:rPr>
              <a:t>类地址：第</a:t>
            </a:r>
            <a:r>
              <a:rPr lang="en-US" altLang="zh-CN">
                <a:ea typeface="宋体" charset="-122"/>
              </a:rPr>
              <a:t>1</a:t>
            </a:r>
            <a:r>
              <a:rPr lang="zh-CN" altLang="en-US">
                <a:ea typeface="宋体" charset="-122"/>
              </a:rPr>
              <a:t>个</a:t>
            </a:r>
            <a:r>
              <a:rPr lang="en-US" altLang="zh-CN">
                <a:ea typeface="宋体" charset="-122"/>
              </a:rPr>
              <a:t>8</a:t>
            </a:r>
            <a:r>
              <a:rPr lang="zh-CN" altLang="en-US">
                <a:ea typeface="宋体" charset="-122"/>
              </a:rPr>
              <a:t>位组为网络部分，其余</a:t>
            </a:r>
            <a:r>
              <a:rPr lang="en-US" altLang="zh-CN">
                <a:ea typeface="宋体" charset="-122"/>
              </a:rPr>
              <a:t>3</a:t>
            </a:r>
            <a:r>
              <a:rPr lang="zh-CN" altLang="en-US">
                <a:ea typeface="宋体" charset="-122"/>
              </a:rPr>
              <a:t>个</a:t>
            </a:r>
            <a:r>
              <a:rPr lang="en-US" altLang="zh-CN">
                <a:ea typeface="宋体" charset="-122"/>
              </a:rPr>
              <a:t>8</a:t>
            </a:r>
            <a:r>
              <a:rPr lang="zh-CN" altLang="en-US">
                <a:ea typeface="宋体" charset="-122"/>
              </a:rPr>
              <a:t>位组为主机部分 </a:t>
            </a:r>
          </a:p>
          <a:p>
            <a:pPr eaLnBrk="1" hangingPunct="1"/>
            <a:r>
              <a:rPr lang="en-US" altLang="zh-CN">
                <a:ea typeface="宋体" charset="-122"/>
              </a:rPr>
              <a:t>B</a:t>
            </a:r>
            <a:r>
              <a:rPr lang="zh-CN" altLang="en-US">
                <a:ea typeface="宋体" charset="-122"/>
              </a:rPr>
              <a:t>类地址：前</a:t>
            </a:r>
            <a:r>
              <a:rPr lang="en-US" altLang="zh-CN">
                <a:ea typeface="宋体" charset="-122"/>
              </a:rPr>
              <a:t>2</a:t>
            </a:r>
            <a:r>
              <a:rPr lang="zh-CN" altLang="en-US">
                <a:ea typeface="宋体" charset="-122"/>
              </a:rPr>
              <a:t>个</a:t>
            </a:r>
            <a:r>
              <a:rPr lang="en-US" altLang="zh-CN">
                <a:ea typeface="宋体" charset="-122"/>
              </a:rPr>
              <a:t>8</a:t>
            </a:r>
            <a:r>
              <a:rPr lang="zh-CN" altLang="en-US">
                <a:ea typeface="宋体" charset="-122"/>
              </a:rPr>
              <a:t>位组为网络部分，后</a:t>
            </a:r>
            <a:r>
              <a:rPr lang="en-US" altLang="zh-CN">
                <a:ea typeface="宋体" charset="-122"/>
              </a:rPr>
              <a:t>2</a:t>
            </a:r>
            <a:r>
              <a:rPr lang="zh-CN" altLang="en-US">
                <a:ea typeface="宋体" charset="-122"/>
              </a:rPr>
              <a:t>个</a:t>
            </a:r>
            <a:r>
              <a:rPr lang="en-US" altLang="zh-CN">
                <a:ea typeface="宋体" charset="-122"/>
              </a:rPr>
              <a:t>8</a:t>
            </a:r>
            <a:r>
              <a:rPr lang="zh-CN" altLang="en-US">
                <a:ea typeface="宋体" charset="-122"/>
              </a:rPr>
              <a:t>位组为主机部分 </a:t>
            </a:r>
          </a:p>
          <a:p>
            <a:pPr eaLnBrk="1" hangingPunct="1"/>
            <a:r>
              <a:rPr lang="en-US" altLang="zh-CN">
                <a:ea typeface="宋体" charset="-122"/>
              </a:rPr>
              <a:t>C</a:t>
            </a:r>
            <a:r>
              <a:rPr lang="zh-CN" altLang="en-US">
                <a:ea typeface="宋体" charset="-122"/>
              </a:rPr>
              <a:t>类地址：前</a:t>
            </a:r>
            <a:r>
              <a:rPr lang="en-US" altLang="zh-CN">
                <a:ea typeface="宋体" charset="-122"/>
              </a:rPr>
              <a:t>3</a:t>
            </a:r>
            <a:r>
              <a:rPr lang="zh-CN" altLang="en-US">
                <a:ea typeface="宋体" charset="-122"/>
              </a:rPr>
              <a:t>个</a:t>
            </a:r>
            <a:r>
              <a:rPr lang="en-US" altLang="zh-CN">
                <a:ea typeface="宋体" charset="-122"/>
              </a:rPr>
              <a:t>8</a:t>
            </a:r>
            <a:r>
              <a:rPr lang="zh-CN" altLang="en-US">
                <a:ea typeface="宋体" charset="-122"/>
              </a:rPr>
              <a:t>位组为网络部分，最后一个</a:t>
            </a:r>
            <a:r>
              <a:rPr lang="en-US" altLang="zh-CN">
                <a:ea typeface="宋体" charset="-122"/>
              </a:rPr>
              <a:t>8</a:t>
            </a:r>
            <a:r>
              <a:rPr lang="zh-CN" altLang="en-US">
                <a:ea typeface="宋体" charset="-122"/>
              </a:rPr>
              <a:t>位组为主机部分 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3BB0E48-52D5-46D9-BD80-842118422CA3}" type="slidenum">
              <a:rPr lang="en-US" altLang="zh-CN" smtClean="0">
                <a:latin typeface="Arial" pitchFamily="34" charset="0"/>
              </a:rPr>
              <a:pPr>
                <a:defRPr/>
              </a:pPr>
              <a:t>7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3A85FA-1362-491F-9B10-5DF4542938C3}" type="slidenum">
              <a:rPr lang="en-US" altLang="zh-CN" smtClean="0">
                <a:latin typeface="Arial" pitchFamily="34" charset="0"/>
              </a:rPr>
              <a:pPr>
                <a:defRPr/>
              </a:pPr>
              <a:t>8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zh-CN" altLang="en-US">
                <a:ea typeface="宋体" charset="-122"/>
              </a:rPr>
              <a:t>重点让学员理解子网掩码的作用，教员应举实际案例帮助学员理解</a:t>
            </a:r>
          </a:p>
          <a:p>
            <a:pPr eaLnBrk="1" hangingPunct="1"/>
            <a:r>
              <a:rPr lang="zh-CN" altLang="en-US">
                <a:ea typeface="宋体" charset="-122"/>
              </a:rPr>
              <a:t>如寄信：同一街道与不同街道的寄信方式可能不一样，同一街道直接送达，不同街道可能需要第三方转达</a:t>
            </a:r>
          </a:p>
          <a:p>
            <a:pPr eaLnBrk="1" hangingPunct="1"/>
            <a:r>
              <a:rPr lang="zh-CN" altLang="en-US">
                <a:ea typeface="宋体" charset="-122"/>
              </a:rPr>
              <a:t>而计算机通信也是一样，同一网络直接送达，不同网络需要通过其它方式传递</a:t>
            </a:r>
          </a:p>
          <a:p>
            <a:pPr eaLnBrk="1" hangingPunct="1"/>
            <a:r>
              <a:rPr lang="zh-CN" altLang="en-US">
                <a:ea typeface="宋体" charset="-122"/>
              </a:rPr>
              <a:t>子网掩码就是用来确定</a:t>
            </a:r>
            <a:r>
              <a:rPr lang="en-US" altLang="zh-CN">
                <a:ea typeface="宋体" charset="-122"/>
              </a:rPr>
              <a:t>IP</a:t>
            </a:r>
            <a:r>
              <a:rPr lang="zh-CN" altLang="en-US">
                <a:ea typeface="宋体" charset="-122"/>
              </a:rPr>
              <a:t>的网络地址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ECFCF4-45A3-4CBC-B2D0-68E65C1DAD80}" type="slidenum">
              <a:rPr lang="en-US" altLang="zh-CN" smtClean="0">
                <a:latin typeface="Arial" pitchFamily="34" charset="0"/>
              </a:rPr>
              <a:pPr>
                <a:defRPr/>
              </a:pPr>
              <a:t>9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zh-CN" altLang="en-US">
                <a:ea typeface="宋体" charset="-122"/>
              </a:rPr>
              <a:t>只需要让学员了解默认的子网掩码即可。</a:t>
            </a:r>
          </a:p>
          <a:p>
            <a:pPr eaLnBrk="1" hangingPunct="1"/>
            <a:r>
              <a:rPr lang="zh-CN" altLang="en-US">
                <a:ea typeface="宋体" charset="-122"/>
              </a:rPr>
              <a:t>其它的知识点（如不使用默认子网掩码的情况）会在后续的课程中进行介绍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4A5978-D06D-41F9-9995-2942CD6C71E7}" type="slidenum">
              <a:rPr lang="en-US" altLang="zh-CN" smtClean="0">
                <a:latin typeface="Arial" pitchFamily="34" charset="0"/>
              </a:rPr>
              <a:pPr>
                <a:defRPr/>
              </a:pPr>
              <a:t>11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6246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D25B044-F950-4896-A64D-ADFA303A4AD8}" type="slidenum">
              <a:rPr lang="en-US" altLang="zh-CN" smtClean="0">
                <a:latin typeface="Arial" pitchFamily="34" charset="0"/>
              </a:rPr>
              <a:pPr>
                <a:defRPr/>
              </a:pPr>
              <a:t>13</a:t>
            </a:fld>
            <a:endParaRPr lang="en-US" altLang="zh-CN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ea typeface="宋体" charset="-122"/>
              </a:rPr>
              <a:t>为设备配置</a:t>
            </a:r>
            <a:r>
              <a:rPr lang="en-US" altLang="zh-CN">
                <a:ea typeface="宋体" charset="-122"/>
              </a:rPr>
              <a:t>IP</a:t>
            </a:r>
            <a:r>
              <a:rPr lang="zh-CN" altLang="en-US">
                <a:ea typeface="宋体" charset="-122"/>
              </a:rPr>
              <a:t>地址，路由器配置在物理接口，而交换机需要配置在</a:t>
            </a:r>
            <a:r>
              <a:rPr lang="en-US" altLang="zh-CN">
                <a:ea typeface="宋体" charset="-122"/>
              </a:rPr>
              <a:t>VLAN</a:t>
            </a:r>
            <a:r>
              <a:rPr lang="zh-CN" altLang="en-US">
                <a:ea typeface="宋体" charset="-122"/>
              </a:rPr>
              <a:t>接口。这里不需要进行详细的解释，之需要让学员记住即可。</a:t>
            </a:r>
            <a:endParaRPr lang="en-US" altLang="zh-CN">
              <a:ea typeface="宋体" charset="-122"/>
            </a:endParaRPr>
          </a:p>
          <a:p>
            <a:endParaRPr lang="en-US" altLang="zh-CN">
              <a:ea typeface="宋体" charset="-122"/>
            </a:endParaRPr>
          </a:p>
          <a:p>
            <a:r>
              <a:rPr lang="zh-CN" altLang="en-US">
                <a:ea typeface="宋体" charset="-122"/>
              </a:rPr>
              <a:t>需要明确接口完成需要使用</a:t>
            </a:r>
            <a:r>
              <a:rPr lang="en-US" altLang="zh-CN">
                <a:ea typeface="宋体" charset="-122"/>
              </a:rPr>
              <a:t>no shutdown</a:t>
            </a:r>
            <a:r>
              <a:rPr lang="zh-CN" altLang="en-US">
                <a:ea typeface="宋体" charset="-122"/>
              </a:rPr>
              <a:t>命令开启，这时初期配置设备最容易忽略的部分。</a:t>
            </a:r>
          </a:p>
        </p:txBody>
      </p:sp>
      <p:sp>
        <p:nvSpPr>
          <p:cNvPr id="63492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F898D56-00EE-4105-ABA3-5CF2A6F9DEB8}" type="slidenum">
              <a:rPr lang="en-US" altLang="zh-CN" smtClean="0">
                <a:latin typeface="Arial" pitchFamily="34" charset="0"/>
              </a:rPr>
              <a:pPr>
                <a:defRPr/>
              </a:pPr>
              <a:t>14</a:t>
            </a:fld>
            <a:endParaRPr lang="en-US" altLang="zh-CN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E7B546-04B7-41BE-A018-AD761F5A715F}" type="slidenum">
              <a:rPr lang="en-US" altLang="zh-CN" smtClean="0">
                <a:latin typeface="Arial" pitchFamily="34" charset="0"/>
              </a:rPr>
              <a:pPr>
                <a:defRPr/>
              </a:pPr>
              <a:t>15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46083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CFB6138F-0EB5-4DAB-822E-3F2558D03BDA}" type="slidenum">
              <a:rPr lang="en-US" altLang="zh-CN" sz="1200">
                <a:ea typeface="宋体" charset="-122"/>
              </a:rPr>
              <a:pPr algn="r"/>
              <a:t>15</a:t>
            </a:fld>
            <a:endParaRPr lang="en-US" altLang="zh-CN" sz="1200">
              <a:ea typeface="宋体" charset="-122"/>
            </a:endParaRPr>
          </a:p>
        </p:txBody>
      </p:sp>
      <p:sp>
        <p:nvSpPr>
          <p:cNvPr id="460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ea typeface="宋体" charset="-122"/>
              </a:rPr>
              <a:t>配置</a:t>
            </a:r>
            <a:r>
              <a:rPr lang="en-US" altLang="zh-CN">
                <a:ea typeface="宋体" charset="-122"/>
              </a:rPr>
              <a:t>IP</a:t>
            </a:r>
            <a:r>
              <a:rPr lang="zh-CN" altLang="en-US">
                <a:ea typeface="宋体" charset="-122"/>
              </a:rPr>
              <a:t>地址实现网络通信，本案例比较简单。配置完成后可以进行保存配置，进行查看等操作，加深学员对命令的理解。</a:t>
            </a:r>
            <a:endParaRPr lang="en-US" altLang="zh-CN">
              <a:ea typeface="宋体" charset="-122"/>
            </a:endParaRPr>
          </a:p>
          <a:p>
            <a:r>
              <a:rPr lang="zh-CN" altLang="en-US">
                <a:ea typeface="宋体" charset="-122"/>
              </a:rPr>
              <a:t>在讲解这个例子的时候结合演示，演示的时候注意速度不要过快。也要注意验证的过程，把前面配置的要实现的结果清晰地展示给学员。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6EA9778-A5D5-4F24-829C-CAA3526B5679}" type="slidenum">
              <a:rPr lang="en-US" altLang="zh-CN" smtClean="0">
                <a:latin typeface="Arial" pitchFamily="34" charset="0"/>
              </a:rPr>
              <a:pPr>
                <a:defRPr/>
              </a:pPr>
              <a:t>16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47107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61AF8D47-60BF-4BFF-8399-59DFA9A52131}" type="slidenum">
              <a:rPr lang="en-US" altLang="zh-CN" sz="1200">
                <a:ea typeface="宋体" charset="-122"/>
              </a:rPr>
              <a:pPr algn="r"/>
              <a:t>16</a:t>
            </a:fld>
            <a:endParaRPr lang="en-US" altLang="zh-CN" sz="1200">
              <a:ea typeface="宋体" charset="-122"/>
            </a:endParaRPr>
          </a:p>
        </p:txBody>
      </p:sp>
      <p:sp>
        <p:nvSpPr>
          <p:cNvPr id="4710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zh-CN" altLang="en-US">
                <a:ea typeface="宋体" charset="-122"/>
              </a:rPr>
              <a:t>本页为配置命令。配置完成后在设备上通过</a:t>
            </a:r>
            <a:r>
              <a:rPr lang="en-US" altLang="zh-CN">
                <a:ea typeface="宋体" charset="-122"/>
              </a:rPr>
              <a:t>ping</a:t>
            </a:r>
            <a:r>
              <a:rPr lang="zh-CN" altLang="en-US">
                <a:ea typeface="宋体" charset="-122"/>
              </a:rPr>
              <a:t>命令进行验证，此处需要说明</a:t>
            </a:r>
            <a:r>
              <a:rPr lang="en-US" altLang="zh-CN">
                <a:ea typeface="宋体" charset="-122"/>
              </a:rPr>
              <a:t>Cisco</a:t>
            </a:r>
            <a:r>
              <a:rPr lang="zh-CN" altLang="en-US">
                <a:ea typeface="宋体" charset="-122"/>
              </a:rPr>
              <a:t>设备</a:t>
            </a:r>
            <a:r>
              <a:rPr lang="en-US" altLang="zh-CN">
                <a:ea typeface="宋体" charset="-122"/>
              </a:rPr>
              <a:t>ping</a:t>
            </a:r>
            <a:r>
              <a:rPr lang="zh-CN" altLang="en-US">
                <a:ea typeface="宋体" charset="-122"/>
              </a:rPr>
              <a:t>命令中“</a:t>
            </a:r>
            <a:r>
              <a:rPr lang="en-US" altLang="zh-CN">
                <a:ea typeface="宋体" charset="-122"/>
              </a:rPr>
              <a:t>!</a:t>
            </a:r>
            <a:r>
              <a:rPr lang="zh-CN" altLang="en-US">
                <a:ea typeface="宋体" charset="-122"/>
              </a:rPr>
              <a:t>”表示通，而“</a:t>
            </a:r>
            <a:r>
              <a:rPr lang="en-US" altLang="zh-CN">
                <a:ea typeface="宋体" charset="-122"/>
              </a:rPr>
              <a:t>.</a:t>
            </a:r>
            <a:r>
              <a:rPr lang="zh-CN" altLang="en-US">
                <a:ea typeface="宋体" charset="-122"/>
              </a:rPr>
              <a:t>”表示不通。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4198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F6BB322-793B-4ACC-8050-0616056B72CE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ea typeface="宋体" charset="-122"/>
              </a:rPr>
              <a:t>教学指导：</a:t>
            </a:r>
            <a:endParaRPr lang="en-US" altLang="zh-CN">
              <a:ea typeface="宋体" charset="-122"/>
            </a:endParaRPr>
          </a:p>
          <a:p>
            <a:r>
              <a:rPr lang="en-US" altLang="zh-CN">
                <a:ea typeface="宋体" charset="-122"/>
              </a:rPr>
              <a:t>xxxxxxx</a:t>
            </a:r>
            <a:endParaRPr lang="zh-CN" altLang="en-US">
              <a:ea typeface="宋体" charset="-122"/>
            </a:endParaRPr>
          </a:p>
          <a:p>
            <a:endParaRPr lang="zh-CN" altLang="en-US">
              <a:ea typeface="宋体" charset="-122"/>
            </a:endParaRPr>
          </a:p>
        </p:txBody>
      </p:sp>
      <p:sp>
        <p:nvSpPr>
          <p:cNvPr id="9728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4E88926-7D88-42DD-9CFB-F357B92A39F3}" type="slidenum">
              <a:rPr lang="zh-CN" altLang="en-US" smtClean="0">
                <a:ea typeface="宋体" charset="-122"/>
              </a:rPr>
              <a:pPr/>
              <a:t>19</a:t>
            </a:fld>
            <a:endParaRPr lang="en-US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9331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ea typeface="宋体" charset="-122"/>
              </a:rPr>
              <a:t>教学指导：</a:t>
            </a:r>
            <a:endParaRPr lang="en-US" altLang="zh-CN">
              <a:ea typeface="宋体" charset="-122"/>
            </a:endParaRPr>
          </a:p>
          <a:p>
            <a:r>
              <a:rPr lang="zh-CN" altLang="en-US">
                <a:solidFill>
                  <a:srgbClr val="FF0000"/>
                </a:solidFill>
                <a:ea typeface="宋体" charset="-122"/>
              </a:rPr>
              <a:t>教员备课时根据班级情况在此添加内容，应区分必做、选做内容，以满足不同层次学员的需求</a:t>
            </a:r>
            <a:endParaRPr lang="en-US" altLang="zh-CN">
              <a:solidFill>
                <a:srgbClr val="FF0000"/>
              </a:solidFill>
              <a:ea typeface="宋体" charset="-122"/>
            </a:endParaRPr>
          </a:p>
          <a:p>
            <a:endParaRPr lang="zh-CN" altLang="en-US">
              <a:ea typeface="宋体" charset="-122"/>
            </a:endParaRPr>
          </a:p>
        </p:txBody>
      </p:sp>
      <p:sp>
        <p:nvSpPr>
          <p:cNvPr id="9933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B970353-4922-4D91-A482-FD2456E2A814}" type="slidenum">
              <a:rPr lang="zh-CN" altLang="en-US" smtClean="0">
                <a:ea typeface="宋体" charset="-122"/>
              </a:rPr>
              <a:pPr/>
              <a:t>20</a:t>
            </a:fld>
            <a:endParaRPr lang="en-US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1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 dirty="0">
                <a:ea typeface="宋体" charset="-122"/>
              </a:rPr>
              <a:t>教学指导：</a:t>
            </a:r>
            <a:endParaRPr lang="en-US" altLang="zh-CN" dirty="0">
              <a:ea typeface="宋体" charset="-122"/>
            </a:endParaRPr>
          </a:p>
          <a:p>
            <a:r>
              <a:rPr lang="zh-CN" altLang="en-US" dirty="0">
                <a:ea typeface="宋体" charset="-122"/>
              </a:rPr>
              <a:t>下次上课前的“课前小考”即为本页</a:t>
            </a:r>
            <a:r>
              <a:rPr lang="en-US" altLang="zh-CN" dirty="0">
                <a:ea typeface="宋体" charset="-122"/>
              </a:rPr>
              <a:t>PPT</a:t>
            </a:r>
            <a:r>
              <a:rPr lang="zh-CN" altLang="en-US" dirty="0">
                <a:ea typeface="宋体" charset="-122"/>
              </a:rPr>
              <a:t>的考题，需要学员课下准备。</a:t>
            </a:r>
          </a:p>
        </p:txBody>
      </p:sp>
      <p:sp>
        <p:nvSpPr>
          <p:cNvPr id="8397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BAB8C08-6574-4C24-A643-CD987DBDC9C3}" type="slidenum">
              <a:rPr lang="zh-CN" altLang="en-US" smtClean="0">
                <a:ea typeface="宋体" charset="-122"/>
              </a:rPr>
              <a:pPr/>
              <a:t>22</a:t>
            </a:fld>
            <a:endParaRPr lang="en-US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BE52CF2-92B3-46C4-AD5B-40C0BBC23EA3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  <p:sp>
        <p:nvSpPr>
          <p:cNvPr id="49155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63CEC82-E640-4DD2-976E-37490107F099}" type="slidenum">
              <a:rPr lang="en-US" altLang="zh-CN" sz="1200">
                <a:ea typeface="宋体" charset="-122"/>
              </a:rPr>
              <a:pPr algn="r"/>
              <a:t>24</a:t>
            </a:fld>
            <a:endParaRPr lang="en-US" altLang="zh-CN" sz="1200">
              <a:ea typeface="宋体" charset="-122"/>
            </a:endParaRPr>
          </a:p>
        </p:txBody>
      </p:sp>
      <p:sp>
        <p:nvSpPr>
          <p:cNvPr id="491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 typeface="Wingdings" pitchFamily="2" charset="2"/>
              <a:buNone/>
            </a:pPr>
            <a:endParaRPr lang="zh-CN" altLang="zh-CN">
              <a:solidFill>
                <a:srgbClr val="000066"/>
              </a:solidFill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612D7502-6EF2-4721-9A39-C382956F5784}" type="slidenum">
              <a:rPr lang="en-US" altLang="zh-CN" sz="1200">
                <a:ea typeface="宋体" charset="-122"/>
              </a:rPr>
              <a:pPr algn="r"/>
              <a:t>25</a:t>
            </a:fld>
            <a:endParaRPr lang="en-US" altLang="zh-CN" sz="1200">
              <a:ea typeface="宋体" charset="-122"/>
            </a:endParaRPr>
          </a:p>
        </p:txBody>
      </p:sp>
      <p:sp>
        <p:nvSpPr>
          <p:cNvPr id="50179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65BA2FA8-89FA-4D06-8894-C6975969763A}" type="slidenum">
              <a:rPr lang="en-US" altLang="zh-CN" sz="1200">
                <a:ea typeface="宋体" charset="-122"/>
              </a:rPr>
              <a:pPr algn="r"/>
              <a:t>25</a:t>
            </a:fld>
            <a:endParaRPr lang="en-US" altLang="zh-CN" sz="1200">
              <a:ea typeface="宋体" charset="-122"/>
            </a:endParaRPr>
          </a:p>
        </p:txBody>
      </p:sp>
      <p:sp>
        <p:nvSpPr>
          <p:cNvPr id="501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zh-CN">
              <a:ea typeface="宋体" charset="-122"/>
            </a:endParaRPr>
          </a:p>
          <a:p>
            <a:endParaRPr lang="en-US" altLang="zh-CN">
              <a:ea typeface="宋体" charset="-122"/>
            </a:endParaRPr>
          </a:p>
          <a:p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4451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ea typeface="宋体" charset="-122"/>
              </a:rPr>
              <a:t>教学指导：</a:t>
            </a:r>
            <a:endParaRPr lang="en-US" altLang="zh-CN">
              <a:ea typeface="宋体" charset="-122"/>
            </a:endParaRPr>
          </a:p>
          <a:p>
            <a:r>
              <a:rPr lang="en-US" altLang="zh-CN">
                <a:ea typeface="宋体" charset="-122"/>
              </a:rPr>
              <a:t>xxxxxxx</a:t>
            </a:r>
            <a:endParaRPr lang="zh-CN" altLang="en-US">
              <a:ea typeface="宋体" charset="-122"/>
            </a:endParaRPr>
          </a:p>
          <a:p>
            <a:endParaRPr lang="zh-CN" altLang="en-US">
              <a:ea typeface="宋体" charset="-122"/>
            </a:endParaRPr>
          </a:p>
        </p:txBody>
      </p:sp>
      <p:sp>
        <p:nvSpPr>
          <p:cNvPr id="10445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F46F59A-948C-4AEA-AE7E-17CD6FC9343F}" type="slidenum">
              <a:rPr lang="zh-CN" altLang="en-US" smtClean="0">
                <a:ea typeface="宋体" charset="-122"/>
              </a:rPr>
              <a:pPr/>
              <a:t>26</a:t>
            </a:fld>
            <a:endParaRPr lang="en-US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3027B2-03EB-47E1-92F9-5A64C5B3DB37}" type="slidenum">
              <a:rPr lang="en-US" altLang="zh-CN" smtClean="0">
                <a:latin typeface="Arial" pitchFamily="34" charset="0"/>
              </a:rPr>
              <a:pPr>
                <a:defRPr/>
              </a:pPr>
              <a:t>27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51203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EB3DF789-2A4B-4882-AFEB-C54936DEF3D2}" type="slidenum">
              <a:rPr lang="en-US" altLang="zh-CN" sz="1200">
                <a:ea typeface="宋体" charset="-122"/>
              </a:rPr>
              <a:pPr algn="r"/>
              <a:t>27</a:t>
            </a:fld>
            <a:endParaRPr lang="en-US" altLang="zh-CN" sz="1200">
              <a:ea typeface="宋体" charset="-122"/>
            </a:endParaRPr>
          </a:p>
        </p:txBody>
      </p:sp>
      <p:sp>
        <p:nvSpPr>
          <p:cNvPr id="5120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 typeface="Wingdings" pitchFamily="2" charset="2"/>
              <a:buNone/>
            </a:pPr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4451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ea typeface="宋体" charset="-122"/>
              </a:rPr>
              <a:t>教学指导：</a:t>
            </a:r>
            <a:endParaRPr lang="en-US" altLang="zh-CN">
              <a:ea typeface="宋体" charset="-122"/>
            </a:endParaRPr>
          </a:p>
          <a:p>
            <a:r>
              <a:rPr lang="en-US" altLang="zh-CN">
                <a:ea typeface="宋体" charset="-122"/>
              </a:rPr>
              <a:t>xxxxxxx</a:t>
            </a:r>
            <a:endParaRPr lang="zh-CN" altLang="en-US">
              <a:ea typeface="宋体" charset="-122"/>
            </a:endParaRPr>
          </a:p>
          <a:p>
            <a:endParaRPr lang="zh-CN" altLang="en-US">
              <a:ea typeface="宋体" charset="-122"/>
            </a:endParaRPr>
          </a:p>
        </p:txBody>
      </p:sp>
      <p:sp>
        <p:nvSpPr>
          <p:cNvPr id="10445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F46F59A-948C-4AEA-AE7E-17CD6FC9343F}" type="slidenum">
              <a:rPr lang="zh-CN" altLang="en-US" smtClean="0">
                <a:ea typeface="宋体" charset="-122"/>
              </a:rPr>
              <a:pPr/>
              <a:t>29</a:t>
            </a:fld>
            <a:endParaRPr lang="en-US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1435F71D-641E-4ECC-830F-6558CD869574}" type="slidenum">
              <a:rPr lang="en-US" sz="1400" b="0" strike="noStrike" spc="-1" smtClean="0">
                <a:latin typeface="Times New Roman"/>
              </a:rPr>
              <a:t>30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72068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AA452-31F6-42F1-88E2-2BEAFFB3D00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6C8-063D-4826-91C2-CB3A25A9B5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7613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标题幻灯片">
    <p:bg bwMode="ltGray">
      <p:bgPr>
        <a:blipFill dpi="0" rotWithShape="0">
          <a:blip r:embed="rId2" cstate="print"/>
          <a:srcRect/>
          <a:stretch>
            <a:fillRect r="-13868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3" descr="Flag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6477001" y="6500813"/>
            <a:ext cx="5499100" cy="266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3" name="Picture 3" descr="E:\10.14ppt\1.16，S1 S2 Y2模板\s1.jpg"/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67518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2520" y="6760080"/>
            <a:ext cx="12186720" cy="121320"/>
          </a:xfrm>
          <a:prstGeom prst="rect">
            <a:avLst/>
          </a:prstGeom>
          <a:gradFill rotWithShape="0">
            <a:gsLst>
              <a:gs pos="0">
                <a:srgbClr val="007BF7"/>
              </a:gs>
              <a:gs pos="100000">
                <a:srgbClr val="0BB3E8"/>
              </a:gs>
            </a:gsLst>
            <a:lin ang="360000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CN" altLang="en-US"/>
          </a:p>
        </p:txBody>
      </p:sp>
      <p:sp>
        <p:nvSpPr>
          <p:cNvPr id="43" name="CustomShape 2"/>
          <p:cNvSpPr/>
          <p:nvPr/>
        </p:nvSpPr>
        <p:spPr>
          <a:xfrm>
            <a:off x="334440" y="6515640"/>
            <a:ext cx="672840" cy="204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100000"/>
              </a:lnSpc>
              <a:spcBef>
                <a:spcPts val="666"/>
              </a:spcBef>
            </a:pPr>
            <a:fld id="{BE2697B1-93DF-4FA3-9179-2157CC991DBC}" type="slidenum">
              <a:rPr lang="en-US" sz="1340" b="0" strike="noStrike" spc="-1">
                <a:solidFill>
                  <a:srgbClr val="5A5A5A"/>
                </a:solidFill>
                <a:latin typeface="Myriad Pro"/>
                <a:ea typeface="微软雅黑"/>
              </a:rPr>
              <a:t>‹#›</a:t>
            </a:fld>
            <a:endParaRPr lang="en-US" sz="1340" b="0" strike="noStrike" spc="-1">
              <a:latin typeface="Arial"/>
            </a:endParaRPr>
          </a:p>
        </p:txBody>
      </p:sp>
      <p:sp>
        <p:nvSpPr>
          <p:cNvPr id="44" name="CustomShape 3"/>
          <p:cNvSpPr/>
          <p:nvPr/>
        </p:nvSpPr>
        <p:spPr>
          <a:xfrm>
            <a:off x="0" y="165240"/>
            <a:ext cx="670680" cy="28692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CN" altLang="en-US"/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87" r:id="rId13"/>
    <p:sldLayoutId id="2147483688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jpeg"/><Relationship Id="rId4" Type="http://schemas.openxmlformats.org/officeDocument/2006/relationships/image" Target="../media/image9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jpeg"/><Relationship Id="rId4" Type="http://schemas.openxmlformats.org/officeDocument/2006/relationships/image" Target="../media/image9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Grp="1" noChangeArrowheads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 dirty="0"/>
              <a:t>理解</a:t>
            </a:r>
            <a:r>
              <a:rPr lang="en-US" altLang="zh-CN" dirty="0"/>
              <a:t>IP</a:t>
            </a:r>
            <a:r>
              <a:rPr lang="zh-CN" altLang="en-US" dirty="0"/>
              <a:t>地址和子网掩码的概念</a:t>
            </a:r>
          </a:p>
          <a:p>
            <a:pPr>
              <a:spcBef>
                <a:spcPts val="675"/>
              </a:spcBef>
            </a:pPr>
            <a:r>
              <a:rPr lang="zh-CN" altLang="en-US" dirty="0"/>
              <a:t>理解</a:t>
            </a:r>
            <a:r>
              <a:rPr lang="en-US" altLang="zh-CN" dirty="0"/>
              <a:t>IP</a:t>
            </a:r>
            <a:r>
              <a:rPr lang="zh-CN" altLang="en-US" dirty="0"/>
              <a:t>地址的分类</a:t>
            </a:r>
          </a:p>
          <a:p>
            <a:pPr>
              <a:spcBef>
                <a:spcPts val="675"/>
              </a:spcBef>
            </a:pPr>
            <a:r>
              <a:rPr lang="zh-CN" altLang="en-US" dirty="0"/>
              <a:t>配置主机</a:t>
            </a:r>
            <a:r>
              <a:rPr lang="en-US" altLang="zh-CN" dirty="0"/>
              <a:t>IP</a:t>
            </a:r>
            <a:r>
              <a:rPr lang="zh-CN" altLang="en-US" dirty="0"/>
              <a:t>地址</a:t>
            </a:r>
          </a:p>
          <a:p>
            <a:pPr>
              <a:spcBef>
                <a:spcPts val="675"/>
              </a:spcBef>
            </a:pPr>
            <a:r>
              <a:rPr lang="zh-CN" altLang="en-US" dirty="0"/>
              <a:t>实现路由器互通</a:t>
            </a: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Line 10"/>
          <p:cNvSpPr>
            <a:spLocks noChangeShapeType="1"/>
          </p:cNvSpPr>
          <p:nvPr/>
        </p:nvSpPr>
        <p:spPr bwMode="auto">
          <a:xfrm>
            <a:off x="4238625" y="5457825"/>
            <a:ext cx="2439988" cy="25400"/>
          </a:xfrm>
          <a:prstGeom prst="line">
            <a:avLst/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294" name="Line 16"/>
          <p:cNvSpPr>
            <a:spLocks noChangeShapeType="1"/>
          </p:cNvSpPr>
          <p:nvPr/>
        </p:nvSpPr>
        <p:spPr bwMode="auto">
          <a:xfrm>
            <a:off x="6656389" y="1550988"/>
            <a:ext cx="358775" cy="0"/>
          </a:xfrm>
          <a:prstGeom prst="line">
            <a:avLst/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299" name="Line 10"/>
          <p:cNvSpPr>
            <a:spLocks noChangeShapeType="1"/>
          </p:cNvSpPr>
          <p:nvPr/>
        </p:nvSpPr>
        <p:spPr bwMode="auto">
          <a:xfrm>
            <a:off x="4227514" y="3732213"/>
            <a:ext cx="2439987" cy="25400"/>
          </a:xfrm>
          <a:prstGeom prst="line">
            <a:avLst/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300" name="Line 10"/>
          <p:cNvSpPr>
            <a:spLocks noChangeShapeType="1"/>
          </p:cNvSpPr>
          <p:nvPr/>
        </p:nvSpPr>
        <p:spPr bwMode="auto">
          <a:xfrm>
            <a:off x="3806825" y="3727450"/>
            <a:ext cx="431800" cy="0"/>
          </a:xfrm>
          <a:prstGeom prst="line">
            <a:avLst/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307" name="Line 14"/>
          <p:cNvSpPr>
            <a:spLocks noChangeShapeType="1"/>
          </p:cNvSpPr>
          <p:nvPr/>
        </p:nvSpPr>
        <p:spPr bwMode="auto">
          <a:xfrm>
            <a:off x="6667500" y="1547813"/>
            <a:ext cx="0" cy="952500"/>
          </a:xfrm>
          <a:prstGeom prst="line">
            <a:avLst/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311" name="AutoShape 4"/>
          <p:cNvSpPr>
            <a:spLocks noChangeArrowheads="1"/>
          </p:cNvSpPr>
          <p:nvPr/>
        </p:nvSpPr>
        <p:spPr bwMode="auto">
          <a:xfrm>
            <a:off x="1820848" y="3436738"/>
            <a:ext cx="2132012" cy="374571"/>
          </a:xfrm>
          <a:prstGeom prst="roundRect">
            <a:avLst>
              <a:gd name="adj" fmla="val 16667"/>
            </a:avLst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IP</a:t>
            </a: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地址的概述与应用</a:t>
            </a:r>
          </a:p>
        </p:txBody>
      </p:sp>
      <p:sp>
        <p:nvSpPr>
          <p:cNvPr id="12314" name="Line 36"/>
          <p:cNvSpPr>
            <a:spLocks noChangeShapeType="1"/>
          </p:cNvSpPr>
          <p:nvPr/>
        </p:nvSpPr>
        <p:spPr bwMode="auto">
          <a:xfrm>
            <a:off x="4238625" y="2060576"/>
            <a:ext cx="0" cy="3421063"/>
          </a:xfrm>
          <a:prstGeom prst="line">
            <a:avLst/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317" name="AutoShape 11"/>
          <p:cNvSpPr>
            <a:spLocks noChangeArrowheads="1"/>
          </p:cNvSpPr>
          <p:nvPr/>
        </p:nvSpPr>
        <p:spPr bwMode="auto">
          <a:xfrm>
            <a:off x="6988175" y="1357299"/>
            <a:ext cx="2700338" cy="374571"/>
          </a:xfrm>
          <a:prstGeom prst="roundRect">
            <a:avLst>
              <a:gd name="adj" fmla="val 16667"/>
            </a:avLst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IP</a:t>
            </a:r>
            <a:r>
              <a:rPr lang="zh-CN" altLang="en-US" sz="1600" b="1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地址的定义及分类</a:t>
            </a:r>
            <a:endParaRPr lang="en-US" altLang="zh-CN" sz="1600" b="1" dirty="0">
              <a:solidFill>
                <a:srgbClr val="FF0000"/>
              </a:solidFill>
              <a:latin typeface="Arial" pitchFamily="34" charset="0"/>
              <a:ea typeface="楷体_GB2312" pitchFamily="49" charset="-122"/>
            </a:endParaRPr>
          </a:p>
        </p:txBody>
      </p:sp>
      <p:sp>
        <p:nvSpPr>
          <p:cNvPr id="12318" name="AutoShape 11"/>
          <p:cNvSpPr>
            <a:spLocks noChangeArrowheads="1"/>
          </p:cNvSpPr>
          <p:nvPr/>
        </p:nvSpPr>
        <p:spPr bwMode="auto">
          <a:xfrm>
            <a:off x="6988175" y="2291282"/>
            <a:ext cx="2700338" cy="374571"/>
          </a:xfrm>
          <a:prstGeom prst="roundRect">
            <a:avLst>
              <a:gd name="adj" fmla="val 16667"/>
            </a:avLst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子网掩码</a:t>
            </a:r>
          </a:p>
        </p:txBody>
      </p:sp>
      <p:sp>
        <p:nvSpPr>
          <p:cNvPr id="12319" name="AutoShape 5"/>
          <p:cNvSpPr>
            <a:spLocks noChangeArrowheads="1"/>
          </p:cNvSpPr>
          <p:nvPr/>
        </p:nvSpPr>
        <p:spPr bwMode="auto">
          <a:xfrm>
            <a:off x="4485201" y="3547493"/>
            <a:ext cx="2000263" cy="374571"/>
          </a:xfrm>
          <a:prstGeom prst="roundRect">
            <a:avLst>
              <a:gd name="adj" fmla="val 16667"/>
            </a:avLst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IP</a:t>
            </a: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地址的配置</a:t>
            </a:r>
          </a:p>
        </p:txBody>
      </p:sp>
      <p:sp>
        <p:nvSpPr>
          <p:cNvPr id="40" name="Line 16"/>
          <p:cNvSpPr>
            <a:spLocks noChangeShapeType="1"/>
          </p:cNvSpPr>
          <p:nvPr/>
        </p:nvSpPr>
        <p:spPr bwMode="auto">
          <a:xfrm>
            <a:off x="6667501" y="3236913"/>
            <a:ext cx="360363" cy="0"/>
          </a:xfrm>
          <a:prstGeom prst="line">
            <a:avLst/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43" name="AutoShape 18"/>
          <p:cNvSpPr>
            <a:spLocks noChangeArrowheads="1"/>
          </p:cNvSpPr>
          <p:nvPr/>
        </p:nvSpPr>
        <p:spPr bwMode="auto">
          <a:xfrm>
            <a:off x="6992042" y="3047427"/>
            <a:ext cx="2700338" cy="374571"/>
          </a:xfrm>
          <a:prstGeom prst="roundRect">
            <a:avLst>
              <a:gd name="adj" fmla="val 16667"/>
            </a:avLst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配置主机的</a:t>
            </a:r>
            <a:r>
              <a:rPr lang="en-US" altLang="zh-CN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IP</a:t>
            </a: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地址</a:t>
            </a:r>
          </a:p>
        </p:txBody>
      </p:sp>
      <p:sp>
        <p:nvSpPr>
          <p:cNvPr id="47" name="Line 37"/>
          <p:cNvSpPr>
            <a:spLocks noChangeShapeType="1"/>
          </p:cNvSpPr>
          <p:nvPr/>
        </p:nvSpPr>
        <p:spPr bwMode="auto">
          <a:xfrm flipH="1">
            <a:off x="6667501" y="3217863"/>
            <a:ext cx="3175" cy="900112"/>
          </a:xfrm>
          <a:prstGeom prst="line">
            <a:avLst/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21" name="AutoShape 5"/>
          <p:cNvSpPr>
            <a:spLocks noChangeArrowheads="1"/>
          </p:cNvSpPr>
          <p:nvPr/>
        </p:nvSpPr>
        <p:spPr bwMode="auto">
          <a:xfrm>
            <a:off x="4465119" y="5269008"/>
            <a:ext cx="2000263" cy="374571"/>
          </a:xfrm>
          <a:prstGeom prst="roundRect">
            <a:avLst>
              <a:gd name="adj" fmla="val 16667"/>
            </a:avLst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路由器的基本配置</a:t>
            </a:r>
          </a:p>
        </p:txBody>
      </p:sp>
      <p:sp>
        <p:nvSpPr>
          <p:cNvPr id="23" name="Line 36"/>
          <p:cNvSpPr>
            <a:spLocks noChangeShapeType="1"/>
          </p:cNvSpPr>
          <p:nvPr/>
        </p:nvSpPr>
        <p:spPr bwMode="auto">
          <a:xfrm rot="16200000">
            <a:off x="5453063" y="857251"/>
            <a:ext cx="0" cy="2428875"/>
          </a:xfrm>
          <a:prstGeom prst="line">
            <a:avLst/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 dirty="0">
              <a:latin typeface="Arial" pitchFamily="34" charset="0"/>
            </a:endParaRPr>
          </a:p>
        </p:txBody>
      </p:sp>
      <p:sp>
        <p:nvSpPr>
          <p:cNvPr id="12320" name="AutoShape 5"/>
          <p:cNvSpPr>
            <a:spLocks noChangeArrowheads="1"/>
          </p:cNvSpPr>
          <p:nvPr/>
        </p:nvSpPr>
        <p:spPr bwMode="auto">
          <a:xfrm>
            <a:off x="4481514" y="1861153"/>
            <a:ext cx="1971675" cy="374650"/>
          </a:xfrm>
          <a:prstGeom prst="roundRect">
            <a:avLst>
              <a:gd name="adj" fmla="val 16667"/>
            </a:avLst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IP</a:t>
            </a: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地址</a:t>
            </a:r>
          </a:p>
        </p:txBody>
      </p:sp>
      <p:sp>
        <p:nvSpPr>
          <p:cNvPr id="28" name="Line 16"/>
          <p:cNvSpPr>
            <a:spLocks noChangeShapeType="1"/>
          </p:cNvSpPr>
          <p:nvPr/>
        </p:nvSpPr>
        <p:spPr bwMode="auto">
          <a:xfrm>
            <a:off x="6678613" y="4117975"/>
            <a:ext cx="360362" cy="0"/>
          </a:xfrm>
          <a:prstGeom prst="line">
            <a:avLst/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31" name="Line 25"/>
          <p:cNvSpPr>
            <a:spLocks noChangeShapeType="1"/>
          </p:cNvSpPr>
          <p:nvPr/>
        </p:nvSpPr>
        <p:spPr bwMode="auto">
          <a:xfrm flipV="1">
            <a:off x="6667500" y="5983289"/>
            <a:ext cx="431800" cy="1587"/>
          </a:xfrm>
          <a:prstGeom prst="line">
            <a:avLst/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 dirty="0">
              <a:latin typeface="Arial" pitchFamily="34" charset="0"/>
            </a:endParaRPr>
          </a:p>
        </p:txBody>
      </p:sp>
      <p:sp>
        <p:nvSpPr>
          <p:cNvPr id="32" name="Line 16"/>
          <p:cNvSpPr>
            <a:spLocks noChangeShapeType="1"/>
          </p:cNvSpPr>
          <p:nvPr/>
        </p:nvSpPr>
        <p:spPr bwMode="auto">
          <a:xfrm>
            <a:off x="6662739" y="5000625"/>
            <a:ext cx="358775" cy="0"/>
          </a:xfrm>
          <a:prstGeom prst="line">
            <a:avLst/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33" name="Line 14"/>
          <p:cNvSpPr>
            <a:spLocks noChangeShapeType="1"/>
          </p:cNvSpPr>
          <p:nvPr/>
        </p:nvSpPr>
        <p:spPr bwMode="auto">
          <a:xfrm flipH="1">
            <a:off x="6667501" y="4989513"/>
            <a:ext cx="11113" cy="1008062"/>
          </a:xfrm>
          <a:prstGeom prst="line">
            <a:avLst/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45" name="AutoShape 28"/>
          <p:cNvSpPr>
            <a:spLocks noChangeArrowheads="1"/>
          </p:cNvSpPr>
          <p:nvPr/>
        </p:nvSpPr>
        <p:spPr bwMode="auto">
          <a:xfrm>
            <a:off x="6990422" y="3958740"/>
            <a:ext cx="2700338" cy="374571"/>
          </a:xfrm>
          <a:prstGeom prst="roundRect">
            <a:avLst>
              <a:gd name="adj" fmla="val 16667"/>
            </a:avLst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测试</a:t>
            </a:r>
            <a:r>
              <a:rPr lang="en-US" altLang="zh-CN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IP</a:t>
            </a:r>
            <a:r>
              <a:rPr lang="zh-CN" altLang="en-US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地址</a:t>
            </a:r>
          </a:p>
        </p:txBody>
      </p:sp>
      <p:sp>
        <p:nvSpPr>
          <p:cNvPr id="26" name="AutoShape 28"/>
          <p:cNvSpPr>
            <a:spLocks noChangeArrowheads="1"/>
          </p:cNvSpPr>
          <p:nvPr/>
        </p:nvSpPr>
        <p:spPr bwMode="auto">
          <a:xfrm>
            <a:off x="6987546" y="4857761"/>
            <a:ext cx="2700338" cy="374571"/>
          </a:xfrm>
          <a:prstGeom prst="roundRect">
            <a:avLst>
              <a:gd name="adj" fmla="val 16667"/>
            </a:avLst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设备配置的准备工作</a:t>
            </a:r>
          </a:p>
        </p:txBody>
      </p:sp>
      <p:sp>
        <p:nvSpPr>
          <p:cNvPr id="27" name="AutoShape 28"/>
          <p:cNvSpPr>
            <a:spLocks noChangeArrowheads="1"/>
          </p:cNvSpPr>
          <p:nvPr/>
        </p:nvSpPr>
        <p:spPr bwMode="auto">
          <a:xfrm>
            <a:off x="6987546" y="5769074"/>
            <a:ext cx="2700338" cy="374571"/>
          </a:xfrm>
          <a:prstGeom prst="roundRect">
            <a:avLst>
              <a:gd name="adj" fmla="val 16667"/>
            </a:avLst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配置</a:t>
            </a:r>
            <a:r>
              <a:rPr lang="en-US" altLang="zh-CN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IP</a:t>
            </a:r>
            <a:r>
              <a:rPr lang="zh-CN" altLang="en-US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地址实现通信</a:t>
            </a:r>
          </a:p>
        </p:txBody>
      </p:sp>
      <p:sp>
        <p:nvSpPr>
          <p:cNvPr id="39" name="Line 16"/>
          <p:cNvSpPr>
            <a:spLocks noChangeShapeType="1"/>
          </p:cNvSpPr>
          <p:nvPr/>
        </p:nvSpPr>
        <p:spPr bwMode="auto">
          <a:xfrm>
            <a:off x="6667501" y="2500313"/>
            <a:ext cx="358775" cy="0"/>
          </a:xfrm>
          <a:prstGeom prst="line">
            <a:avLst/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34" name="标题 2"/>
          <p:cNvSpPr>
            <a:spLocks noGrp="1"/>
          </p:cNvSpPr>
          <p:nvPr>
            <p:ph type="title"/>
          </p:nvPr>
        </p:nvSpPr>
        <p:spPr>
          <a:xfrm>
            <a:off x="1752600" y="146032"/>
            <a:ext cx="8763000" cy="639763"/>
          </a:xfrm>
        </p:spPr>
        <p:txBody>
          <a:bodyPr/>
          <a:lstStyle/>
          <a:p>
            <a:r>
              <a:rPr lang="zh-CN" altLang="en-US" dirty="0"/>
              <a:t>本章结构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23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23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23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40"/>
                            </p:stCondLst>
                            <p:childTnLst>
                              <p:par>
                                <p:cTn id="11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" fill="hold"/>
                                        <p:tgtEl>
                                          <p:spTgt spid="12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" fill="hold"/>
                                        <p:tgtEl>
                                          <p:spTgt spid="12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5" dur="1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40"/>
                            </p:stCondLst>
                            <p:childTnLst>
                              <p:par>
                                <p:cTn id="17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" fill="hold"/>
                                        <p:tgtEl>
                                          <p:spTgt spid="12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" fill="hold"/>
                                        <p:tgtEl>
                                          <p:spTgt spid="12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1" dur="100"/>
                                        <p:tgtEl>
                                          <p:spTgt spid="12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40"/>
                            </p:stCondLst>
                            <p:childTnLst>
                              <p:par>
                                <p:cTn id="23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7" dur="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" fill="hold"/>
                                        <p:tgtEl>
                                          <p:spTgt spid="12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" fill="hold"/>
                                        <p:tgtEl>
                                          <p:spTgt spid="12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2" dur="1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7" dur="1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740"/>
                            </p:stCondLst>
                            <p:childTnLst>
                              <p:par>
                                <p:cTn id="39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1" dur="100"/>
                                        <p:tgtEl>
                                          <p:spTgt spid="123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2" dur="100"/>
                                        <p:tgtEl>
                                          <p:spTgt spid="123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100"/>
                                        <p:tgtEl>
                                          <p:spTgt spid="123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6" dur="100"/>
                                        <p:tgtEl>
                                          <p:spTgt spid="123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7" dur="100"/>
                                        <p:tgtEl>
                                          <p:spTgt spid="123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00"/>
                                        <p:tgtEl>
                                          <p:spTgt spid="123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1" dur="1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2" dur="1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190"/>
                            </p:stCondLst>
                            <p:childTnLst>
                              <p:par>
                                <p:cTn id="55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9" dur="1000"/>
                                        <p:tgtEl>
                                          <p:spTgt spid="12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6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6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190"/>
                            </p:stCondLst>
                            <p:childTnLst>
                              <p:par>
                                <p:cTn id="71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75" dur="10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8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8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0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3190"/>
                            </p:stCondLst>
                            <p:childTnLst>
                              <p:par>
                                <p:cTn id="102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04" dur="80"/>
                                        <p:tgtEl>
                                          <p:spTgt spid="123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05" dur="80"/>
                                        <p:tgtEl>
                                          <p:spTgt spid="123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6" dur="80"/>
                                        <p:tgtEl>
                                          <p:spTgt spid="123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09" dur="80"/>
                                        <p:tgtEl>
                                          <p:spTgt spid="123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10" dur="80"/>
                                        <p:tgtEl>
                                          <p:spTgt spid="123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1" dur="80"/>
                                        <p:tgtEl>
                                          <p:spTgt spid="123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14" dur="80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15" dur="80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6" dur="80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19" dur="80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20" dur="80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1" dur="80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4" dur="80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25" dur="80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6" dur="80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9" dur="80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0" dur="80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1" dur="80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12294" grpId="0" animBg="1"/>
      <p:bldP spid="12299" grpId="0" animBg="1"/>
      <p:bldP spid="12300" grpId="0" animBg="1"/>
      <p:bldP spid="12307" grpId="0" animBg="1"/>
      <p:bldP spid="12311" grpId="0" animBg="1"/>
      <p:bldP spid="12314" grpId="0" animBg="1"/>
      <p:bldP spid="12317" grpId="0" animBg="1"/>
      <p:bldP spid="12318" grpId="0" animBg="1"/>
      <p:bldP spid="12319" grpId="0" animBg="1"/>
      <p:bldP spid="40" grpId="0" animBg="1"/>
      <p:bldP spid="43" grpId="0" animBg="1"/>
      <p:bldP spid="47" grpId="0" animBg="1"/>
      <p:bldP spid="21" grpId="0" animBg="1"/>
      <p:bldP spid="23" grpId="0" animBg="1"/>
      <p:bldP spid="12320" grpId="0" animBg="1"/>
      <p:bldP spid="28" grpId="0" animBg="1"/>
      <p:bldP spid="31" grpId="0" animBg="1"/>
      <p:bldP spid="32" grpId="0" animBg="1"/>
      <p:bldP spid="33" grpId="0" animBg="1"/>
      <p:bldP spid="45" grpId="0" animBg="1"/>
      <p:bldP spid="26" grpId="0" animBg="1"/>
      <p:bldP spid="27" grpId="0" animBg="1"/>
      <p:bldP spid="3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IP</a:t>
            </a:r>
            <a:r>
              <a:rPr lang="zh-CN" altLang="en-US"/>
              <a:t>地址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209675"/>
            <a:ext cx="8229600" cy="3671888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主机唯一的标识，保证主机间正常通信 </a:t>
            </a:r>
          </a:p>
          <a:p>
            <a:pPr>
              <a:spcBef>
                <a:spcPts val="675"/>
              </a:spcBef>
            </a:pPr>
            <a:r>
              <a:rPr lang="zh-CN" altLang="en-US"/>
              <a:t>一种网络编码，用来确定网络中一个节点</a:t>
            </a:r>
          </a:p>
          <a:p>
            <a:pPr>
              <a:spcBef>
                <a:spcPts val="675"/>
              </a:spcBef>
            </a:pPr>
            <a:r>
              <a:rPr lang="en-US" altLang="zh-CN"/>
              <a:t>IP</a:t>
            </a:r>
            <a:r>
              <a:rPr lang="zh-CN" altLang="en-US"/>
              <a:t>地址由</a:t>
            </a:r>
            <a:r>
              <a:rPr lang="en-US" altLang="zh-CN"/>
              <a:t>32</a:t>
            </a:r>
            <a:r>
              <a:rPr lang="zh-CN" altLang="en-US"/>
              <a:t>位二进制（</a:t>
            </a:r>
            <a:r>
              <a:rPr lang="en-US" altLang="zh-CN"/>
              <a:t>32bit</a:t>
            </a:r>
            <a:r>
              <a:rPr lang="zh-CN" altLang="en-US"/>
              <a:t>）组成</a:t>
            </a:r>
          </a:p>
          <a:p>
            <a:pPr>
              <a:spcBef>
                <a:spcPts val="675"/>
              </a:spcBef>
            </a:pPr>
            <a:endParaRPr lang="en-US" altLang="zh-CN"/>
          </a:p>
          <a:p>
            <a:pPr>
              <a:spcBef>
                <a:spcPts val="675"/>
              </a:spcBef>
              <a:buNone/>
            </a:pPr>
            <a:endParaRPr lang="zh-CN" altLang="en-US"/>
          </a:p>
          <a:p>
            <a:pPr>
              <a:spcBef>
                <a:spcPts val="675"/>
              </a:spcBef>
              <a:buNone/>
            </a:pPr>
            <a:r>
              <a:rPr lang="zh-CN" altLang="en-US"/>
              <a:t>      </a:t>
            </a:r>
            <a:r>
              <a:rPr lang="en-US" altLang="zh-CN"/>
              <a:t>11010010.01001001.10001100.00000110               </a:t>
            </a:r>
          </a:p>
          <a:p>
            <a:pPr algn="ctr">
              <a:spcBef>
                <a:spcPts val="675"/>
              </a:spcBef>
              <a:buClr>
                <a:srgbClr val="9AC9F0"/>
              </a:buClr>
              <a:buSzPct val="85000"/>
              <a:buNone/>
            </a:pPr>
            <a:endParaRPr lang="en-US" altLang="zh-CN"/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4095750" y="4429126"/>
            <a:ext cx="3995738" cy="1190625"/>
            <a:chOff x="1996" y="2727"/>
            <a:chExt cx="2517" cy="750"/>
          </a:xfrm>
        </p:grpSpPr>
        <p:sp>
          <p:nvSpPr>
            <p:cNvPr id="192517" name="AutoShape 5"/>
            <p:cNvSpPr>
              <a:spLocks noChangeArrowheads="1"/>
            </p:cNvSpPr>
            <p:nvPr/>
          </p:nvSpPr>
          <p:spPr bwMode="auto">
            <a:xfrm rot="1180174">
              <a:off x="3878" y="2772"/>
              <a:ext cx="363" cy="681"/>
            </a:xfrm>
            <a:prstGeom prst="curvedLeftArrow">
              <a:avLst>
                <a:gd name="adj1" fmla="val 37521"/>
                <a:gd name="adj2" fmla="val 75041"/>
                <a:gd name="adj3" fmla="val 33333"/>
              </a:avLst>
            </a:prstGeom>
            <a:gradFill rotWithShape="1">
              <a:gsLst>
                <a:gs pos="0">
                  <a:srgbClr val="3399FF"/>
                </a:gs>
                <a:gs pos="100000">
                  <a:schemeClr val="bg1"/>
                </a:gs>
              </a:gsLst>
              <a:lin ang="5400000" scaled="1"/>
            </a:gradFill>
            <a:ln w="12700" cap="rnd">
              <a:solidFill>
                <a:srgbClr val="3399FF"/>
              </a:solidFill>
              <a:miter lim="800000"/>
              <a:headEnd/>
              <a:tailEnd/>
            </a:ln>
            <a:effectLst>
              <a:outerShdw dist="71842" dir="2700000" algn="ctr" rotWithShape="0">
                <a:srgbClr val="808080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1270" name="Text Box 6"/>
            <p:cNvSpPr txBox="1">
              <a:spLocks noChangeArrowheads="1"/>
            </p:cNvSpPr>
            <p:nvPr/>
          </p:nvSpPr>
          <p:spPr bwMode="auto">
            <a:xfrm>
              <a:off x="4332" y="2727"/>
              <a:ext cx="181" cy="7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>
                  <a:solidFill>
                    <a:srgbClr val="003366"/>
                  </a:solidFill>
                  <a:latin typeface="黑体" pitchFamily="2" charset="-122"/>
                </a:rPr>
                <a:t>便于记忆</a:t>
              </a:r>
            </a:p>
          </p:txBody>
        </p:sp>
        <p:sp>
          <p:nvSpPr>
            <p:cNvPr id="11271" name="Rectangle 7"/>
            <p:cNvSpPr>
              <a:spLocks noChangeArrowheads="1"/>
            </p:cNvSpPr>
            <p:nvPr/>
          </p:nvSpPr>
          <p:spPr bwMode="auto">
            <a:xfrm>
              <a:off x="1996" y="3135"/>
              <a:ext cx="1610" cy="32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>
                <a:spcBef>
                  <a:spcPct val="20000"/>
                </a:spcBef>
                <a:buClr>
                  <a:srgbClr val="9AC9F0"/>
                </a:buClr>
                <a:buSzPct val="85000"/>
                <a:buFont typeface="Wingdings" pitchFamily="2" charset="2"/>
                <a:buNone/>
              </a:pPr>
              <a:r>
                <a:rPr lang="en-US" altLang="zh-CN" sz="2800">
                  <a:solidFill>
                    <a:srgbClr val="003366"/>
                  </a:solidFill>
                  <a:latin typeface="黑体" pitchFamily="2" charset="-122"/>
                </a:rPr>
                <a:t>210.73.140.6 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IP</a:t>
            </a:r>
            <a:r>
              <a:rPr lang="zh-CN" altLang="en-US"/>
              <a:t>地址由两部分组成</a:t>
            </a:r>
          </a:p>
          <a:p>
            <a:pPr lvl="1" eaLnBrk="1" hangingPunct="1"/>
            <a:r>
              <a:rPr lang="zh-CN" altLang="en-US"/>
              <a:t>网络部分（</a:t>
            </a:r>
            <a:r>
              <a:rPr lang="en-US" altLang="zh-CN"/>
              <a:t>NETWORK</a:t>
            </a:r>
            <a:r>
              <a:rPr lang="zh-CN" altLang="en-US"/>
              <a:t>）</a:t>
            </a:r>
          </a:p>
          <a:p>
            <a:pPr lvl="1" eaLnBrk="1" hangingPunct="1"/>
            <a:r>
              <a:rPr lang="zh-CN" altLang="en-US"/>
              <a:t>主机部分（</a:t>
            </a:r>
            <a:r>
              <a:rPr lang="en-US" altLang="zh-CN"/>
              <a:t>HOST</a:t>
            </a:r>
            <a:r>
              <a:rPr lang="zh-CN" altLang="en-US"/>
              <a:t>）</a:t>
            </a:r>
          </a:p>
          <a:p>
            <a:pPr lvl="1" eaLnBrk="1" hangingPunct="1"/>
            <a:endParaRPr lang="en-US" altLang="zh-CN"/>
          </a:p>
          <a:p>
            <a:pPr eaLnBrk="1" hangingPunct="1"/>
            <a:r>
              <a:rPr lang="zh-CN" altLang="en-US"/>
              <a:t>举例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/>
              <a:t>                   </a:t>
            </a:r>
            <a:r>
              <a:rPr lang="en-US" altLang="zh-CN" sz="3600"/>
              <a:t>192.168.0.25</a:t>
            </a:r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IP</a:t>
            </a:r>
            <a:r>
              <a:rPr lang="zh-CN" altLang="en-US"/>
              <a:t>地址的组成</a:t>
            </a:r>
          </a:p>
        </p:txBody>
      </p:sp>
      <p:sp>
        <p:nvSpPr>
          <p:cNvPr id="12292" name="Line 5"/>
          <p:cNvSpPr>
            <a:spLocks noChangeShapeType="1"/>
          </p:cNvSpPr>
          <p:nvPr/>
        </p:nvSpPr>
        <p:spPr bwMode="auto">
          <a:xfrm>
            <a:off x="3692526" y="4084638"/>
            <a:ext cx="21256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>
            <a:prstShdw prst="shdw17" dist="17961" dir="2700000">
              <a:srgbClr val="990000">
                <a:alpha val="50000"/>
              </a:srgbClr>
            </a:prstShdw>
          </a:effectLst>
        </p:spPr>
        <p:txBody>
          <a:bodyPr wrap="none" anchor="ctr" anchorCtr="1"/>
          <a:lstStyle/>
          <a:p>
            <a:endParaRPr lang="zh-CN" altLang="en-US"/>
          </a:p>
        </p:txBody>
      </p:sp>
      <p:sp>
        <p:nvSpPr>
          <p:cNvPr id="12293" name="Line 6"/>
          <p:cNvSpPr>
            <a:spLocks noChangeShapeType="1"/>
          </p:cNvSpPr>
          <p:nvPr/>
        </p:nvSpPr>
        <p:spPr bwMode="auto">
          <a:xfrm>
            <a:off x="4700588" y="4084638"/>
            <a:ext cx="0" cy="7556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>
            <a:prstShdw prst="shdw17" dist="17961" dir="2700000">
              <a:srgbClr val="990000">
                <a:alpha val="50000"/>
              </a:srgbClr>
            </a:prstShdw>
          </a:effectLst>
        </p:spPr>
        <p:txBody>
          <a:bodyPr wrap="none" anchor="ctr" anchorCtr="1"/>
          <a:lstStyle/>
          <a:p>
            <a:endParaRPr lang="zh-CN" altLang="en-US"/>
          </a:p>
        </p:txBody>
      </p:sp>
      <p:sp>
        <p:nvSpPr>
          <p:cNvPr id="12294" name="Line 7"/>
          <p:cNvSpPr>
            <a:spLocks noChangeShapeType="1"/>
          </p:cNvSpPr>
          <p:nvPr/>
        </p:nvSpPr>
        <p:spPr bwMode="auto">
          <a:xfrm>
            <a:off x="5995989" y="4084638"/>
            <a:ext cx="541337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>
            <a:prstShdw prst="shdw17" dist="17961" dir="2700000">
              <a:srgbClr val="990000">
                <a:alpha val="50000"/>
              </a:srgbClr>
            </a:prstShdw>
          </a:effectLst>
        </p:spPr>
        <p:txBody>
          <a:bodyPr wrap="none" anchor="ctr" anchorCtr="1"/>
          <a:lstStyle/>
          <a:p>
            <a:endParaRPr lang="zh-CN" altLang="en-US"/>
          </a:p>
        </p:txBody>
      </p:sp>
      <p:sp>
        <p:nvSpPr>
          <p:cNvPr id="12295" name="Line 8"/>
          <p:cNvSpPr>
            <a:spLocks noChangeShapeType="1"/>
          </p:cNvSpPr>
          <p:nvPr/>
        </p:nvSpPr>
        <p:spPr bwMode="auto">
          <a:xfrm>
            <a:off x="6248400" y="4084638"/>
            <a:ext cx="0" cy="7556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>
            <a:prstShdw prst="shdw17" dist="17961" dir="2700000">
              <a:srgbClr val="990000">
                <a:alpha val="50000"/>
              </a:srgbClr>
            </a:prstShdw>
          </a:effectLst>
        </p:spPr>
        <p:txBody>
          <a:bodyPr wrap="none" anchor="ctr" anchorCtr="1"/>
          <a:lstStyle/>
          <a:p>
            <a:endParaRPr lang="zh-CN" altLang="en-US"/>
          </a:p>
        </p:txBody>
      </p:sp>
      <p:sp>
        <p:nvSpPr>
          <p:cNvPr id="12296" name="矩形 27"/>
          <p:cNvSpPr>
            <a:spLocks noChangeArrowheads="1"/>
          </p:cNvSpPr>
          <p:nvPr/>
        </p:nvSpPr>
        <p:spPr bwMode="auto">
          <a:xfrm>
            <a:off x="4160838" y="4840289"/>
            <a:ext cx="1200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rgbClr val="FF0000"/>
                </a:solidFill>
                <a:latin typeface="黑体" pitchFamily="2" charset="-122"/>
              </a:rPr>
              <a:t>网络部分</a:t>
            </a:r>
          </a:p>
        </p:txBody>
      </p:sp>
      <p:sp>
        <p:nvSpPr>
          <p:cNvPr id="12297" name="矩形 27"/>
          <p:cNvSpPr>
            <a:spLocks noChangeArrowheads="1"/>
          </p:cNvSpPr>
          <p:nvPr/>
        </p:nvSpPr>
        <p:spPr bwMode="auto">
          <a:xfrm>
            <a:off x="5672138" y="4840289"/>
            <a:ext cx="1200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rgbClr val="FF0000"/>
                </a:solidFill>
                <a:latin typeface="黑体" pitchFamily="2" charset="-122"/>
              </a:rPr>
              <a:t>主机部分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10" descr="IP地址分类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71813" y="2166938"/>
            <a:ext cx="5219700" cy="288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IP</a:t>
            </a:r>
            <a:r>
              <a:rPr lang="zh-CN" altLang="en-US"/>
              <a:t>地址的分类</a:t>
            </a:r>
            <a:r>
              <a:rPr lang="en-US" altLang="zh-CN"/>
              <a:t>2-1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en-US" altLang="zh-CN"/>
              <a:t>IP</a:t>
            </a:r>
            <a:r>
              <a:rPr lang="zh-CN" altLang="en-US"/>
              <a:t>地址分为</a:t>
            </a:r>
            <a:r>
              <a:rPr lang="en-US" altLang="zh-CN"/>
              <a:t>A</a:t>
            </a:r>
            <a:r>
              <a:rPr lang="zh-CN" altLang="en-US"/>
              <a:t>、</a:t>
            </a:r>
            <a:r>
              <a:rPr lang="en-US" altLang="zh-CN"/>
              <a:t>B</a:t>
            </a:r>
            <a:r>
              <a:rPr lang="zh-CN" altLang="en-US"/>
              <a:t>、</a:t>
            </a:r>
            <a:r>
              <a:rPr lang="en-US" altLang="zh-CN"/>
              <a:t>C</a:t>
            </a:r>
            <a:r>
              <a:rPr lang="zh-CN" altLang="en-US"/>
              <a:t>、</a:t>
            </a:r>
            <a:r>
              <a:rPr lang="en-US" altLang="zh-CN"/>
              <a:t>D</a:t>
            </a:r>
            <a:r>
              <a:rPr lang="zh-CN" altLang="en-US"/>
              <a:t>、</a:t>
            </a:r>
            <a:r>
              <a:rPr lang="en-US" altLang="zh-CN"/>
              <a:t>E</a:t>
            </a:r>
            <a:r>
              <a:rPr lang="zh-CN" altLang="en-US"/>
              <a:t>五类，每一类有不同的划分规则</a:t>
            </a: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3179764" y="2708275"/>
            <a:ext cx="1800225" cy="1506538"/>
            <a:chOff x="1043" y="1706"/>
            <a:chExt cx="1134" cy="949"/>
          </a:xfrm>
        </p:grpSpPr>
        <p:sp>
          <p:nvSpPr>
            <p:cNvPr id="13318" name="Text Box 12"/>
            <p:cNvSpPr txBox="1">
              <a:spLocks noChangeArrowheads="1"/>
            </p:cNvSpPr>
            <p:nvPr/>
          </p:nvSpPr>
          <p:spPr bwMode="auto">
            <a:xfrm>
              <a:off x="1043" y="1706"/>
              <a:ext cx="1065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>
              <a:prstShdw prst="shdw17" dist="17961" dir="2700000">
                <a:srgbClr val="1F5C99">
                  <a:alpha val="50000"/>
                </a:srgbClr>
              </a:prstShdw>
            </a:effectLst>
          </p:spPr>
          <p:txBody>
            <a:bodyPr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rgbClr val="FF3300"/>
                  </a:solidFill>
                </a:rPr>
                <a:t>1~126</a:t>
              </a:r>
            </a:p>
          </p:txBody>
        </p:sp>
        <p:sp>
          <p:nvSpPr>
            <p:cNvPr id="13319" name="Text Box 13"/>
            <p:cNvSpPr txBox="1">
              <a:spLocks noChangeArrowheads="1"/>
            </p:cNvSpPr>
            <p:nvPr/>
          </p:nvSpPr>
          <p:spPr bwMode="auto">
            <a:xfrm>
              <a:off x="1112" y="2065"/>
              <a:ext cx="1065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>
              <a:prstShdw prst="shdw17" dist="17961" dir="2700000">
                <a:srgbClr val="1F5C99">
                  <a:alpha val="50000"/>
                </a:srgbClr>
              </a:prstShdw>
            </a:effectLst>
          </p:spPr>
          <p:txBody>
            <a:bodyPr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rgbClr val="FF3300"/>
                  </a:solidFill>
                </a:rPr>
                <a:t>128~191</a:t>
              </a:r>
            </a:p>
          </p:txBody>
        </p:sp>
        <p:sp>
          <p:nvSpPr>
            <p:cNvPr id="13320" name="Text Box 14"/>
            <p:cNvSpPr txBox="1">
              <a:spLocks noChangeArrowheads="1"/>
            </p:cNvSpPr>
            <p:nvPr/>
          </p:nvSpPr>
          <p:spPr bwMode="auto">
            <a:xfrm>
              <a:off x="1111" y="2424"/>
              <a:ext cx="1065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>
              <a:prstShdw prst="shdw17" dist="17961" dir="2700000">
                <a:srgbClr val="1F5C99">
                  <a:alpha val="50000"/>
                </a:srgbClr>
              </a:prstShdw>
            </a:effectLst>
          </p:spPr>
          <p:txBody>
            <a:bodyPr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rgbClr val="FF3300"/>
                  </a:solidFill>
                </a:rPr>
                <a:t>192~223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A</a:t>
            </a:r>
            <a:r>
              <a:rPr lang="zh-CN" altLang="en-US"/>
              <a:t>、</a:t>
            </a:r>
            <a:r>
              <a:rPr lang="en-US" altLang="zh-CN"/>
              <a:t>B</a:t>
            </a:r>
            <a:r>
              <a:rPr lang="zh-CN" altLang="en-US"/>
              <a:t>、</a:t>
            </a:r>
            <a:r>
              <a:rPr lang="en-US" altLang="zh-CN"/>
              <a:t>C</a:t>
            </a:r>
            <a:r>
              <a:rPr lang="zh-CN" altLang="en-US"/>
              <a:t>三类</a:t>
            </a:r>
            <a:r>
              <a:rPr lang="en-US" altLang="zh-CN"/>
              <a:t>IP</a:t>
            </a:r>
            <a:r>
              <a:rPr lang="zh-CN" altLang="en-US"/>
              <a:t>地址的组成</a:t>
            </a:r>
          </a:p>
          <a:p>
            <a:pPr lvl="1" eaLnBrk="1" hangingPunct="1"/>
            <a:r>
              <a:rPr lang="zh-CN" altLang="en-US"/>
              <a:t>网络部分（</a:t>
            </a:r>
            <a:r>
              <a:rPr lang="en-US" altLang="zh-CN"/>
              <a:t>NETWORK</a:t>
            </a:r>
            <a:r>
              <a:rPr lang="zh-CN" altLang="en-US"/>
              <a:t>）</a:t>
            </a:r>
          </a:p>
          <a:p>
            <a:pPr lvl="1" eaLnBrk="1" hangingPunct="1"/>
            <a:r>
              <a:rPr lang="zh-CN" altLang="en-US"/>
              <a:t>主机部分（</a:t>
            </a:r>
            <a:r>
              <a:rPr lang="en-US" altLang="zh-CN"/>
              <a:t>HOST</a:t>
            </a:r>
            <a:r>
              <a:rPr lang="zh-CN" altLang="en-US"/>
              <a:t>）</a:t>
            </a:r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IP</a:t>
            </a:r>
            <a:r>
              <a:rPr lang="zh-CN" altLang="en-US"/>
              <a:t>地址的分类</a:t>
            </a:r>
            <a:r>
              <a:rPr lang="en-US" altLang="zh-CN"/>
              <a:t>2-2</a:t>
            </a:r>
            <a:endParaRPr lang="zh-CN" altLang="en-US"/>
          </a:p>
        </p:txBody>
      </p:sp>
      <p:sp>
        <p:nvSpPr>
          <p:cNvPr id="14340" name="矩形 58"/>
          <p:cNvSpPr>
            <a:spLocks noChangeArrowheads="1"/>
          </p:cNvSpPr>
          <p:nvPr/>
        </p:nvSpPr>
        <p:spPr bwMode="auto">
          <a:xfrm>
            <a:off x="2738439" y="4244459"/>
            <a:ext cx="6715125" cy="369332"/>
          </a:xfrm>
          <a:prstGeom prst="rect">
            <a:avLst/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marL="95250" algn="ctr"/>
            <a:endParaRPr lang="zh-CN" altLang="en-US" b="1">
              <a:solidFill>
                <a:schemeClr val="tx2"/>
              </a:solidFill>
            </a:endParaRPr>
          </a:p>
        </p:txBody>
      </p:sp>
      <p:grpSp>
        <p:nvGrpSpPr>
          <p:cNvPr id="2" name="组合 55"/>
          <p:cNvGrpSpPr>
            <a:grpSpLocks/>
          </p:cNvGrpSpPr>
          <p:nvPr/>
        </p:nvGrpSpPr>
        <p:grpSpPr bwMode="auto">
          <a:xfrm>
            <a:off x="2952750" y="3214689"/>
            <a:ext cx="6288088" cy="2357437"/>
            <a:chOff x="1357290" y="2714620"/>
            <a:chExt cx="6288132" cy="2357454"/>
          </a:xfrm>
        </p:grpSpPr>
        <p:sp>
          <p:nvSpPr>
            <p:cNvPr id="14342" name="矩形 5"/>
            <p:cNvSpPr>
              <a:spLocks noChangeArrowheads="1"/>
            </p:cNvSpPr>
            <p:nvPr/>
          </p:nvSpPr>
          <p:spPr bwMode="auto">
            <a:xfrm>
              <a:off x="1357290" y="3143248"/>
              <a:ext cx="1571636" cy="369332"/>
            </a:xfrm>
            <a:prstGeom prst="rect">
              <a:avLst/>
            </a:prstGeom>
            <a:gradFill rotWithShape="1">
              <a:gsLst>
                <a:gs pos="0">
                  <a:srgbClr val="92D050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00808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marL="95250" algn="ctr"/>
              <a:r>
                <a:rPr lang="en-US" altLang="zh-CN" b="1">
                  <a:solidFill>
                    <a:schemeClr val="tx2"/>
                  </a:solidFill>
                </a:rPr>
                <a:t>NETWORK</a:t>
              </a:r>
              <a:endParaRPr lang="zh-CN" altLang="en-US" b="1">
                <a:solidFill>
                  <a:schemeClr val="tx2"/>
                </a:solidFill>
              </a:endParaRPr>
            </a:p>
          </p:txBody>
        </p:sp>
        <p:sp>
          <p:nvSpPr>
            <p:cNvPr id="14343" name="矩形 6"/>
            <p:cNvSpPr>
              <a:spLocks noChangeArrowheads="1"/>
            </p:cNvSpPr>
            <p:nvPr/>
          </p:nvSpPr>
          <p:spPr bwMode="auto">
            <a:xfrm>
              <a:off x="2928926" y="3143248"/>
              <a:ext cx="1571636" cy="369332"/>
            </a:xfrm>
            <a:prstGeom prst="rect">
              <a:avLst/>
            </a:prstGeom>
            <a:gradFill rotWithShape="1">
              <a:gsLst>
                <a:gs pos="0">
                  <a:srgbClr val="FFC000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00808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marL="95250" algn="ctr"/>
              <a:r>
                <a:rPr lang="en-US" altLang="zh-CN" b="1">
                  <a:solidFill>
                    <a:schemeClr val="tx2"/>
                  </a:solidFill>
                </a:rPr>
                <a:t>HOST</a:t>
              </a:r>
              <a:endParaRPr lang="zh-CN" altLang="en-US" b="1">
                <a:solidFill>
                  <a:schemeClr val="tx2"/>
                </a:solidFill>
              </a:endParaRPr>
            </a:p>
          </p:txBody>
        </p:sp>
        <p:sp>
          <p:nvSpPr>
            <p:cNvPr id="14344" name="矩形 7"/>
            <p:cNvSpPr>
              <a:spLocks noChangeArrowheads="1"/>
            </p:cNvSpPr>
            <p:nvPr/>
          </p:nvSpPr>
          <p:spPr bwMode="auto">
            <a:xfrm>
              <a:off x="4500562" y="3143248"/>
              <a:ext cx="1571636" cy="369332"/>
            </a:xfrm>
            <a:prstGeom prst="rect">
              <a:avLst/>
            </a:prstGeom>
            <a:gradFill rotWithShape="1">
              <a:gsLst>
                <a:gs pos="0">
                  <a:srgbClr val="FFC000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00808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marL="95250" algn="ctr"/>
              <a:r>
                <a:rPr lang="en-US" altLang="zh-CN" b="1">
                  <a:solidFill>
                    <a:schemeClr val="tx2"/>
                  </a:solidFill>
                </a:rPr>
                <a:t>HOST</a:t>
              </a:r>
              <a:endParaRPr lang="zh-CN" altLang="en-US" b="1">
                <a:solidFill>
                  <a:schemeClr val="tx2"/>
                </a:solidFill>
              </a:endParaRPr>
            </a:p>
          </p:txBody>
        </p:sp>
        <p:sp>
          <p:nvSpPr>
            <p:cNvPr id="14345" name="矩形 8"/>
            <p:cNvSpPr>
              <a:spLocks noChangeArrowheads="1"/>
            </p:cNvSpPr>
            <p:nvPr/>
          </p:nvSpPr>
          <p:spPr bwMode="auto">
            <a:xfrm>
              <a:off x="6072198" y="3143248"/>
              <a:ext cx="1571636" cy="369332"/>
            </a:xfrm>
            <a:prstGeom prst="rect">
              <a:avLst/>
            </a:prstGeom>
            <a:gradFill rotWithShape="1">
              <a:gsLst>
                <a:gs pos="0">
                  <a:srgbClr val="FFC000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00808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marL="95250" algn="ctr"/>
              <a:r>
                <a:rPr lang="en-US" altLang="zh-CN" b="1">
                  <a:solidFill>
                    <a:schemeClr val="tx2"/>
                  </a:solidFill>
                </a:rPr>
                <a:t>HOST</a:t>
              </a:r>
              <a:endParaRPr lang="zh-CN" altLang="en-US" b="1">
                <a:solidFill>
                  <a:schemeClr val="tx2"/>
                </a:solidFill>
              </a:endParaRPr>
            </a:p>
          </p:txBody>
        </p:sp>
        <p:sp>
          <p:nvSpPr>
            <p:cNvPr id="14346" name="矩形 10"/>
            <p:cNvSpPr>
              <a:spLocks noChangeArrowheads="1"/>
            </p:cNvSpPr>
            <p:nvPr/>
          </p:nvSpPr>
          <p:spPr bwMode="auto">
            <a:xfrm>
              <a:off x="1357290" y="3916924"/>
              <a:ext cx="1571636" cy="369332"/>
            </a:xfrm>
            <a:prstGeom prst="rect">
              <a:avLst/>
            </a:prstGeom>
            <a:gradFill rotWithShape="1">
              <a:gsLst>
                <a:gs pos="0">
                  <a:srgbClr val="92D050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00808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marL="95250" algn="ctr"/>
              <a:r>
                <a:rPr lang="en-US" altLang="zh-CN" b="1">
                  <a:solidFill>
                    <a:schemeClr val="tx2"/>
                  </a:solidFill>
                </a:rPr>
                <a:t>NETWORK</a:t>
              </a:r>
              <a:endParaRPr lang="zh-CN" altLang="en-US" b="1">
                <a:solidFill>
                  <a:schemeClr val="tx2"/>
                </a:solidFill>
              </a:endParaRPr>
            </a:p>
          </p:txBody>
        </p:sp>
        <p:sp>
          <p:nvSpPr>
            <p:cNvPr id="14347" name="矩形 12"/>
            <p:cNvSpPr>
              <a:spLocks noChangeArrowheads="1"/>
            </p:cNvSpPr>
            <p:nvPr/>
          </p:nvSpPr>
          <p:spPr bwMode="auto">
            <a:xfrm>
              <a:off x="4500562" y="3916924"/>
              <a:ext cx="1571636" cy="369332"/>
            </a:xfrm>
            <a:prstGeom prst="rect">
              <a:avLst/>
            </a:prstGeom>
            <a:gradFill rotWithShape="1">
              <a:gsLst>
                <a:gs pos="0">
                  <a:srgbClr val="FFC000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00808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marL="95250" algn="ctr"/>
              <a:r>
                <a:rPr lang="en-US" altLang="zh-CN" b="1">
                  <a:solidFill>
                    <a:schemeClr val="tx2"/>
                  </a:solidFill>
                </a:rPr>
                <a:t>HOST</a:t>
              </a:r>
              <a:endParaRPr lang="zh-CN" altLang="en-US" b="1">
                <a:solidFill>
                  <a:schemeClr val="tx2"/>
                </a:solidFill>
              </a:endParaRPr>
            </a:p>
          </p:txBody>
        </p:sp>
        <p:sp>
          <p:nvSpPr>
            <p:cNvPr id="14348" name="矩形 13"/>
            <p:cNvSpPr>
              <a:spLocks noChangeArrowheads="1"/>
            </p:cNvSpPr>
            <p:nvPr/>
          </p:nvSpPr>
          <p:spPr bwMode="auto">
            <a:xfrm>
              <a:off x="6072198" y="3916924"/>
              <a:ext cx="1571636" cy="369332"/>
            </a:xfrm>
            <a:prstGeom prst="rect">
              <a:avLst/>
            </a:prstGeom>
            <a:gradFill rotWithShape="1">
              <a:gsLst>
                <a:gs pos="0">
                  <a:srgbClr val="FFC000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00808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marL="95250" algn="ctr"/>
              <a:r>
                <a:rPr lang="en-US" altLang="zh-CN" b="1">
                  <a:solidFill>
                    <a:schemeClr val="tx2"/>
                  </a:solidFill>
                </a:rPr>
                <a:t>HOST</a:t>
              </a:r>
              <a:endParaRPr lang="zh-CN" altLang="en-US" b="1">
                <a:solidFill>
                  <a:schemeClr val="tx2"/>
                </a:solidFill>
              </a:endParaRPr>
            </a:p>
          </p:txBody>
        </p:sp>
        <p:sp>
          <p:nvSpPr>
            <p:cNvPr id="14349" name="矩形 14"/>
            <p:cNvSpPr>
              <a:spLocks noChangeArrowheads="1"/>
            </p:cNvSpPr>
            <p:nvPr/>
          </p:nvSpPr>
          <p:spPr bwMode="auto">
            <a:xfrm>
              <a:off x="2928926" y="3916924"/>
              <a:ext cx="1571636" cy="369332"/>
            </a:xfrm>
            <a:prstGeom prst="rect">
              <a:avLst/>
            </a:prstGeom>
            <a:gradFill rotWithShape="1">
              <a:gsLst>
                <a:gs pos="0">
                  <a:srgbClr val="92D050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00808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marL="95250" algn="ctr"/>
              <a:r>
                <a:rPr lang="en-US" altLang="zh-CN" b="1">
                  <a:solidFill>
                    <a:schemeClr val="tx2"/>
                  </a:solidFill>
                </a:rPr>
                <a:t>NETWORK</a:t>
              </a:r>
              <a:endParaRPr lang="zh-CN" altLang="en-US" b="1">
                <a:solidFill>
                  <a:schemeClr val="tx2"/>
                </a:solidFill>
              </a:endParaRPr>
            </a:p>
          </p:txBody>
        </p:sp>
        <p:sp>
          <p:nvSpPr>
            <p:cNvPr id="14350" name="矩形 15"/>
            <p:cNvSpPr>
              <a:spLocks noChangeArrowheads="1"/>
            </p:cNvSpPr>
            <p:nvPr/>
          </p:nvSpPr>
          <p:spPr bwMode="auto">
            <a:xfrm>
              <a:off x="1357290" y="4702742"/>
              <a:ext cx="1571636" cy="369332"/>
            </a:xfrm>
            <a:prstGeom prst="rect">
              <a:avLst/>
            </a:prstGeom>
            <a:gradFill rotWithShape="1">
              <a:gsLst>
                <a:gs pos="0">
                  <a:srgbClr val="92D050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00808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marL="95250" algn="ctr"/>
              <a:r>
                <a:rPr lang="en-US" altLang="zh-CN" b="1">
                  <a:solidFill>
                    <a:schemeClr val="tx2"/>
                  </a:solidFill>
                </a:rPr>
                <a:t>NETWORK</a:t>
              </a:r>
              <a:endParaRPr lang="zh-CN" altLang="en-US" b="1">
                <a:solidFill>
                  <a:schemeClr val="tx2"/>
                </a:solidFill>
              </a:endParaRPr>
            </a:p>
          </p:txBody>
        </p:sp>
        <p:sp>
          <p:nvSpPr>
            <p:cNvPr id="14351" name="矩形 17"/>
            <p:cNvSpPr>
              <a:spLocks noChangeArrowheads="1"/>
            </p:cNvSpPr>
            <p:nvPr/>
          </p:nvSpPr>
          <p:spPr bwMode="auto">
            <a:xfrm>
              <a:off x="6072198" y="4702742"/>
              <a:ext cx="1571636" cy="369332"/>
            </a:xfrm>
            <a:prstGeom prst="rect">
              <a:avLst/>
            </a:prstGeom>
            <a:gradFill rotWithShape="1">
              <a:gsLst>
                <a:gs pos="0">
                  <a:srgbClr val="FFC000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00808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marL="95250" algn="ctr"/>
              <a:r>
                <a:rPr lang="en-US" altLang="zh-CN" b="1">
                  <a:solidFill>
                    <a:schemeClr val="tx2"/>
                  </a:solidFill>
                </a:rPr>
                <a:t>HOST</a:t>
              </a:r>
              <a:endParaRPr lang="zh-CN" altLang="en-US" b="1">
                <a:solidFill>
                  <a:schemeClr val="tx2"/>
                </a:solidFill>
              </a:endParaRPr>
            </a:p>
          </p:txBody>
        </p:sp>
        <p:sp>
          <p:nvSpPr>
            <p:cNvPr id="14352" name="矩形 18"/>
            <p:cNvSpPr>
              <a:spLocks noChangeArrowheads="1"/>
            </p:cNvSpPr>
            <p:nvPr/>
          </p:nvSpPr>
          <p:spPr bwMode="auto">
            <a:xfrm>
              <a:off x="2928926" y="4702742"/>
              <a:ext cx="1571636" cy="369332"/>
            </a:xfrm>
            <a:prstGeom prst="rect">
              <a:avLst/>
            </a:prstGeom>
            <a:gradFill rotWithShape="1">
              <a:gsLst>
                <a:gs pos="0">
                  <a:srgbClr val="92D050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00808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marL="95250" algn="ctr"/>
              <a:r>
                <a:rPr lang="en-US" altLang="zh-CN" b="1">
                  <a:solidFill>
                    <a:schemeClr val="tx2"/>
                  </a:solidFill>
                </a:rPr>
                <a:t>NETWORK</a:t>
              </a:r>
              <a:endParaRPr lang="zh-CN" altLang="en-US" b="1">
                <a:solidFill>
                  <a:schemeClr val="tx2"/>
                </a:solidFill>
              </a:endParaRPr>
            </a:p>
          </p:txBody>
        </p:sp>
        <p:sp>
          <p:nvSpPr>
            <p:cNvPr id="14353" name="矩形 19"/>
            <p:cNvSpPr>
              <a:spLocks noChangeArrowheads="1"/>
            </p:cNvSpPr>
            <p:nvPr/>
          </p:nvSpPr>
          <p:spPr bwMode="auto">
            <a:xfrm>
              <a:off x="4500562" y="4702742"/>
              <a:ext cx="1571636" cy="369332"/>
            </a:xfrm>
            <a:prstGeom prst="rect">
              <a:avLst/>
            </a:prstGeom>
            <a:gradFill rotWithShape="1">
              <a:gsLst>
                <a:gs pos="0">
                  <a:srgbClr val="92D050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00808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marL="95250" algn="ctr"/>
              <a:r>
                <a:rPr lang="en-US" altLang="zh-CN" b="1">
                  <a:solidFill>
                    <a:schemeClr val="tx2"/>
                  </a:solidFill>
                </a:rPr>
                <a:t>NETWORK</a:t>
              </a:r>
              <a:endParaRPr lang="zh-CN" altLang="en-US" b="1">
                <a:solidFill>
                  <a:schemeClr val="tx2"/>
                </a:solidFill>
              </a:endParaRPr>
            </a:p>
          </p:txBody>
        </p:sp>
        <p:cxnSp>
          <p:nvCxnSpPr>
            <p:cNvPr id="14354" name="直接连接符 21"/>
            <p:cNvCxnSpPr>
              <a:cxnSpLocks noChangeShapeType="1"/>
            </p:cNvCxnSpPr>
            <p:nvPr/>
          </p:nvCxnSpPr>
          <p:spPr bwMode="auto">
            <a:xfrm rot="5400000">
              <a:off x="5857884" y="4500570"/>
              <a:ext cx="428628" cy="1588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14355" name="直接连接符 23"/>
            <p:cNvCxnSpPr>
              <a:cxnSpLocks noChangeShapeType="1"/>
            </p:cNvCxnSpPr>
            <p:nvPr/>
          </p:nvCxnSpPr>
          <p:spPr bwMode="auto">
            <a:xfrm rot="5400000">
              <a:off x="7430314" y="4499776"/>
              <a:ext cx="428628" cy="1588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14356" name="直接连接符 24"/>
            <p:cNvCxnSpPr>
              <a:cxnSpLocks noChangeShapeType="1"/>
            </p:cNvCxnSpPr>
            <p:nvPr/>
          </p:nvCxnSpPr>
          <p:spPr bwMode="auto">
            <a:xfrm rot="5400000">
              <a:off x="7430314" y="3713958"/>
              <a:ext cx="428628" cy="1588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14357" name="直接连接符 25"/>
            <p:cNvCxnSpPr>
              <a:cxnSpLocks noChangeShapeType="1"/>
            </p:cNvCxnSpPr>
            <p:nvPr/>
          </p:nvCxnSpPr>
          <p:spPr bwMode="auto">
            <a:xfrm rot="5400000">
              <a:off x="7430314" y="2928140"/>
              <a:ext cx="428628" cy="1588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14358" name="直接连接符 26"/>
            <p:cNvCxnSpPr>
              <a:cxnSpLocks noChangeShapeType="1"/>
            </p:cNvCxnSpPr>
            <p:nvPr/>
          </p:nvCxnSpPr>
          <p:spPr bwMode="auto">
            <a:xfrm rot="5400000">
              <a:off x="2715406" y="2928140"/>
              <a:ext cx="428628" cy="1588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14359" name="直接连接符 27"/>
            <p:cNvCxnSpPr>
              <a:cxnSpLocks noChangeShapeType="1"/>
            </p:cNvCxnSpPr>
            <p:nvPr/>
          </p:nvCxnSpPr>
          <p:spPr bwMode="auto">
            <a:xfrm rot="5400000">
              <a:off x="4287042" y="3713958"/>
              <a:ext cx="428628" cy="1588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14360" name="直接箭头连接符 30"/>
            <p:cNvCxnSpPr>
              <a:cxnSpLocks noChangeShapeType="1"/>
            </p:cNvCxnSpPr>
            <p:nvPr/>
          </p:nvCxnSpPr>
          <p:spPr bwMode="auto">
            <a:xfrm>
              <a:off x="6643702" y="3714752"/>
              <a:ext cx="857256" cy="1588"/>
            </a:xfrm>
            <a:prstGeom prst="straightConnector1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 type="arrow" w="med" len="med"/>
            </a:ln>
          </p:spPr>
        </p:cxnSp>
        <p:cxnSp>
          <p:nvCxnSpPr>
            <p:cNvPr id="14361" name="直接箭头连接符 31"/>
            <p:cNvCxnSpPr>
              <a:cxnSpLocks noChangeShapeType="1"/>
            </p:cNvCxnSpPr>
            <p:nvPr/>
          </p:nvCxnSpPr>
          <p:spPr bwMode="auto">
            <a:xfrm>
              <a:off x="7143768" y="4500570"/>
              <a:ext cx="357190" cy="1588"/>
            </a:xfrm>
            <a:prstGeom prst="straightConnector1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 type="arrow" w="med" len="med"/>
            </a:ln>
          </p:spPr>
        </p:cxnSp>
        <p:cxnSp>
          <p:nvCxnSpPr>
            <p:cNvPr id="14362" name="直接箭头连接符 35"/>
            <p:cNvCxnSpPr>
              <a:cxnSpLocks noChangeShapeType="1"/>
            </p:cNvCxnSpPr>
            <p:nvPr/>
          </p:nvCxnSpPr>
          <p:spPr bwMode="auto">
            <a:xfrm rot="10800000">
              <a:off x="3143240" y="2927345"/>
              <a:ext cx="1571636" cy="1588"/>
            </a:xfrm>
            <a:prstGeom prst="straightConnector1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 type="arrow" w="med" len="med"/>
            </a:ln>
          </p:spPr>
        </p:cxnSp>
        <p:sp>
          <p:nvSpPr>
            <p:cNvPr id="14363" name="TextBox 41"/>
            <p:cNvSpPr txBox="1">
              <a:spLocks noChangeArrowheads="1"/>
            </p:cNvSpPr>
            <p:nvPr/>
          </p:nvSpPr>
          <p:spPr bwMode="auto">
            <a:xfrm>
              <a:off x="1357290" y="2714620"/>
              <a:ext cx="1357322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>
                  <a:solidFill>
                    <a:schemeClr val="tx2"/>
                  </a:solidFill>
                </a:rPr>
                <a:t>Class  A</a:t>
              </a:r>
              <a:endParaRPr lang="zh-CN" altLang="en-US" b="1">
                <a:solidFill>
                  <a:schemeClr val="tx2"/>
                </a:solidFill>
              </a:endParaRPr>
            </a:p>
          </p:txBody>
        </p:sp>
        <p:cxnSp>
          <p:nvCxnSpPr>
            <p:cNvPr id="14364" name="直接箭头连接符 45"/>
            <p:cNvCxnSpPr>
              <a:cxnSpLocks noChangeShapeType="1"/>
            </p:cNvCxnSpPr>
            <p:nvPr/>
          </p:nvCxnSpPr>
          <p:spPr bwMode="auto">
            <a:xfrm>
              <a:off x="5929322" y="2928934"/>
              <a:ext cx="1571636" cy="1588"/>
            </a:xfrm>
            <a:prstGeom prst="straightConnector1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 type="arrow" w="med" len="med"/>
            </a:ln>
          </p:spPr>
        </p:cxnSp>
        <p:sp>
          <p:nvSpPr>
            <p:cNvPr id="14365" name="TextBox 47"/>
            <p:cNvSpPr txBox="1">
              <a:spLocks noChangeArrowheads="1"/>
            </p:cNvSpPr>
            <p:nvPr/>
          </p:nvSpPr>
          <p:spPr bwMode="auto">
            <a:xfrm>
              <a:off x="5643570" y="3559734"/>
              <a:ext cx="92869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>
                  <a:solidFill>
                    <a:srgbClr val="FF0000"/>
                  </a:solidFill>
                </a:rPr>
                <a:t>16bits</a:t>
              </a:r>
              <a:endParaRPr lang="zh-CN" altLang="en-US" b="1">
                <a:solidFill>
                  <a:srgbClr val="FF0000"/>
                </a:solidFill>
              </a:endParaRPr>
            </a:p>
          </p:txBody>
        </p:sp>
        <p:cxnSp>
          <p:nvCxnSpPr>
            <p:cNvPr id="14366" name="直接箭头连接符 49"/>
            <p:cNvCxnSpPr>
              <a:cxnSpLocks noChangeShapeType="1"/>
            </p:cNvCxnSpPr>
            <p:nvPr/>
          </p:nvCxnSpPr>
          <p:spPr bwMode="auto">
            <a:xfrm rot="10800000">
              <a:off x="4572000" y="3714752"/>
              <a:ext cx="1000132" cy="1588"/>
            </a:xfrm>
            <a:prstGeom prst="straightConnector1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 type="arrow" w="med" len="med"/>
            </a:ln>
          </p:spPr>
        </p:cxnSp>
        <p:sp>
          <p:nvSpPr>
            <p:cNvPr id="14367" name="TextBox 52"/>
            <p:cNvSpPr txBox="1">
              <a:spLocks noChangeArrowheads="1"/>
            </p:cNvSpPr>
            <p:nvPr/>
          </p:nvSpPr>
          <p:spPr bwMode="auto">
            <a:xfrm>
              <a:off x="6429388" y="4345552"/>
              <a:ext cx="92869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>
                  <a:solidFill>
                    <a:srgbClr val="FF0000"/>
                  </a:solidFill>
                </a:rPr>
                <a:t>8bits</a:t>
              </a:r>
              <a:endParaRPr lang="zh-CN" altLang="en-US" b="1">
                <a:solidFill>
                  <a:srgbClr val="FF0000"/>
                </a:solidFill>
              </a:endParaRPr>
            </a:p>
          </p:txBody>
        </p:sp>
        <p:cxnSp>
          <p:nvCxnSpPr>
            <p:cNvPr id="14368" name="直接箭头连接符 53"/>
            <p:cNvCxnSpPr>
              <a:cxnSpLocks noChangeShapeType="1"/>
            </p:cNvCxnSpPr>
            <p:nvPr/>
          </p:nvCxnSpPr>
          <p:spPr bwMode="auto">
            <a:xfrm rot="10800000">
              <a:off x="6072199" y="4500570"/>
              <a:ext cx="357190" cy="1588"/>
            </a:xfrm>
            <a:prstGeom prst="straightConnector1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 type="arrow" w="med" len="med"/>
            </a:ln>
          </p:spPr>
        </p:cxnSp>
        <p:sp>
          <p:nvSpPr>
            <p:cNvPr id="14369" name="TextBox 56"/>
            <p:cNvSpPr txBox="1">
              <a:spLocks noChangeArrowheads="1"/>
            </p:cNvSpPr>
            <p:nvPr/>
          </p:nvSpPr>
          <p:spPr bwMode="auto">
            <a:xfrm>
              <a:off x="1357290" y="3500438"/>
              <a:ext cx="1357322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>
                  <a:solidFill>
                    <a:schemeClr val="tx2"/>
                  </a:solidFill>
                </a:rPr>
                <a:t>Class  B</a:t>
              </a:r>
              <a:endParaRPr lang="zh-CN" altLang="en-US" b="1">
                <a:solidFill>
                  <a:schemeClr val="tx2"/>
                </a:solidFill>
              </a:endParaRPr>
            </a:p>
          </p:txBody>
        </p:sp>
        <p:sp>
          <p:nvSpPr>
            <p:cNvPr id="14370" name="TextBox 57"/>
            <p:cNvSpPr txBox="1">
              <a:spLocks noChangeArrowheads="1"/>
            </p:cNvSpPr>
            <p:nvPr/>
          </p:nvSpPr>
          <p:spPr bwMode="auto">
            <a:xfrm>
              <a:off x="1357290" y="4286256"/>
              <a:ext cx="1357322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>
                  <a:solidFill>
                    <a:schemeClr val="tx2"/>
                  </a:solidFill>
                </a:rPr>
                <a:t>Class  C</a:t>
              </a:r>
              <a:endParaRPr lang="zh-CN" altLang="en-US" b="1">
                <a:solidFill>
                  <a:schemeClr val="tx2"/>
                </a:solidFill>
              </a:endParaRPr>
            </a:p>
          </p:txBody>
        </p:sp>
        <p:sp>
          <p:nvSpPr>
            <p:cNvPr id="14371" name="TextBox 59"/>
            <p:cNvSpPr txBox="1">
              <a:spLocks noChangeArrowheads="1"/>
            </p:cNvSpPr>
            <p:nvPr/>
          </p:nvSpPr>
          <p:spPr bwMode="auto">
            <a:xfrm>
              <a:off x="4857752" y="2714620"/>
              <a:ext cx="92869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>
                  <a:solidFill>
                    <a:srgbClr val="FF0000"/>
                  </a:solidFill>
                </a:rPr>
                <a:t>24bits</a:t>
              </a:r>
              <a:endParaRPr lang="zh-CN" altLang="en-US" b="1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满足企业用户在内部网络中使用的需求 </a:t>
            </a:r>
          </a:p>
          <a:p>
            <a:pPr eaLnBrk="1" hangingPunct="1"/>
            <a:r>
              <a:rPr lang="zh-CN" altLang="en-US"/>
              <a:t>私有地址不能在</a:t>
            </a:r>
            <a:r>
              <a:rPr lang="en-US" altLang="zh-CN"/>
              <a:t>Internet</a:t>
            </a:r>
            <a:r>
              <a:rPr lang="zh-CN" altLang="en-US"/>
              <a:t>上使用 </a:t>
            </a:r>
          </a:p>
          <a:p>
            <a:pPr eaLnBrk="1" hangingPunct="1"/>
            <a:r>
              <a:rPr lang="zh-CN" altLang="en-US"/>
              <a:t>私有地址包括</a:t>
            </a:r>
            <a:r>
              <a:rPr lang="en-US" altLang="zh-CN"/>
              <a:t>3</a:t>
            </a:r>
            <a:r>
              <a:rPr lang="zh-CN" altLang="en-US"/>
              <a:t>组</a:t>
            </a:r>
            <a:r>
              <a:rPr lang="zh-CN" altLang="en-US" sz="2400"/>
              <a:t> </a:t>
            </a:r>
          </a:p>
          <a:p>
            <a:pPr lvl="1" eaLnBrk="1" hangingPunct="1"/>
            <a:r>
              <a:rPr lang="en-US" altLang="zh-CN"/>
              <a:t>A</a:t>
            </a:r>
            <a:r>
              <a:rPr lang="zh-CN" altLang="en-US"/>
              <a:t>类：</a:t>
            </a:r>
            <a:r>
              <a:rPr lang="en-US" altLang="zh-CN"/>
              <a:t>10.0.0.0~10.255.255.255</a:t>
            </a:r>
          </a:p>
          <a:p>
            <a:pPr lvl="1" eaLnBrk="1" hangingPunct="1"/>
            <a:r>
              <a:rPr lang="en-US" altLang="zh-CN"/>
              <a:t>B</a:t>
            </a:r>
            <a:r>
              <a:rPr lang="zh-CN" altLang="en-US"/>
              <a:t>类：</a:t>
            </a:r>
            <a:r>
              <a:rPr lang="en-US" altLang="zh-CN"/>
              <a:t>172.16.0.0~172.31.255.255 </a:t>
            </a:r>
          </a:p>
          <a:p>
            <a:pPr lvl="1" eaLnBrk="1" hangingPunct="1"/>
            <a:r>
              <a:rPr lang="en-US" altLang="zh-CN"/>
              <a:t>C</a:t>
            </a:r>
            <a:r>
              <a:rPr lang="zh-CN" altLang="en-US"/>
              <a:t>类：</a:t>
            </a:r>
            <a:r>
              <a:rPr lang="en-US" altLang="zh-CN"/>
              <a:t>192.168.0.0~192.168.255.255</a:t>
            </a:r>
            <a:r>
              <a:rPr lang="en-US" altLang="zh-CN" sz="2000"/>
              <a:t> </a:t>
            </a:r>
          </a:p>
          <a:p>
            <a:pPr lvl="1" eaLnBrk="1" hangingPunct="1"/>
            <a:endParaRPr lang="en-US" altLang="zh-CN" sz="2000"/>
          </a:p>
          <a:p>
            <a:pPr eaLnBrk="1" hangingPunct="1">
              <a:buClr>
                <a:srgbClr val="9AC9F0"/>
              </a:buClr>
              <a:buSzPct val="85000"/>
              <a:buFont typeface="Wingdings" pitchFamily="2" charset="2"/>
              <a:buNone/>
            </a:pPr>
            <a:endParaRPr lang="en-US" altLang="zh-CN" sz="2400"/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私有地址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用来确定</a:t>
            </a:r>
            <a:r>
              <a:rPr lang="en-US" altLang="zh-CN"/>
              <a:t>IP</a:t>
            </a:r>
            <a:r>
              <a:rPr lang="zh-CN" altLang="en-US"/>
              <a:t>的网络地址</a:t>
            </a:r>
          </a:p>
          <a:p>
            <a:pPr eaLnBrk="1" hangingPunct="1"/>
            <a:r>
              <a:rPr lang="en-US" altLang="zh-CN"/>
              <a:t>32</a:t>
            </a:r>
            <a:r>
              <a:rPr lang="zh-CN" altLang="en-US"/>
              <a:t>个二进制位</a:t>
            </a:r>
          </a:p>
          <a:p>
            <a:pPr lvl="1" eaLnBrk="1" hangingPunct="1"/>
            <a:r>
              <a:rPr lang="zh-CN" altLang="en-US"/>
              <a:t>对应</a:t>
            </a:r>
            <a:r>
              <a:rPr lang="en-US" altLang="zh-CN"/>
              <a:t>IP</a:t>
            </a:r>
            <a:r>
              <a:rPr lang="zh-CN" altLang="en-US"/>
              <a:t>地址的网络部分用</a:t>
            </a:r>
            <a:r>
              <a:rPr lang="en-US" altLang="zh-CN"/>
              <a:t>1</a:t>
            </a:r>
            <a:r>
              <a:rPr lang="zh-CN" altLang="en-US"/>
              <a:t>表示 </a:t>
            </a:r>
          </a:p>
          <a:p>
            <a:pPr lvl="1" eaLnBrk="1" hangingPunct="1"/>
            <a:r>
              <a:rPr lang="zh-CN" altLang="en-US"/>
              <a:t>对应</a:t>
            </a:r>
            <a:r>
              <a:rPr lang="en-US" altLang="zh-CN"/>
              <a:t>IP</a:t>
            </a:r>
            <a:r>
              <a:rPr lang="zh-CN" altLang="en-US"/>
              <a:t>地址的主机部分用</a:t>
            </a:r>
            <a:r>
              <a:rPr lang="en-US" altLang="zh-CN"/>
              <a:t>0</a:t>
            </a:r>
            <a:r>
              <a:rPr lang="zh-CN" altLang="en-US"/>
              <a:t>表示</a:t>
            </a:r>
            <a:r>
              <a:rPr lang="zh-CN" altLang="en-US" sz="2000"/>
              <a:t> </a:t>
            </a:r>
          </a:p>
          <a:p>
            <a:pPr eaLnBrk="1" hangingPunct="1"/>
            <a:r>
              <a:rPr lang="en-US" altLang="zh-CN"/>
              <a:t>IP</a:t>
            </a:r>
            <a:r>
              <a:rPr lang="zh-CN" altLang="en-US"/>
              <a:t>地址和子网掩码作逻辑“与”运算得到网络地址</a:t>
            </a:r>
          </a:p>
          <a:p>
            <a:pPr lvl="1" eaLnBrk="1" hangingPunct="1"/>
            <a:r>
              <a:rPr lang="en-US" altLang="zh-CN"/>
              <a:t>0</a:t>
            </a:r>
            <a:r>
              <a:rPr lang="zh-CN" altLang="en-US"/>
              <a:t>和任何数相与都等于</a:t>
            </a:r>
            <a:r>
              <a:rPr lang="en-US" altLang="zh-CN"/>
              <a:t>0</a:t>
            </a:r>
          </a:p>
          <a:p>
            <a:pPr lvl="1" eaLnBrk="1" hangingPunct="1"/>
            <a:r>
              <a:rPr lang="en-US" altLang="zh-CN"/>
              <a:t>1</a:t>
            </a:r>
            <a:r>
              <a:rPr lang="zh-CN" altLang="en-US"/>
              <a:t>和任何数相与都等于任何数本身 </a:t>
            </a:r>
          </a:p>
          <a:p>
            <a:pPr lvl="1" eaLnBrk="1" hangingPunct="1"/>
            <a:endParaRPr lang="zh-CN" altLang="en-US"/>
          </a:p>
          <a:p>
            <a:pPr lvl="1" eaLnBrk="1" hangingPunct="1"/>
            <a:endParaRPr lang="zh-CN" altLang="en-US" sz="2000"/>
          </a:p>
          <a:p>
            <a:pPr lvl="1" eaLnBrk="1" hangingPunct="1"/>
            <a:endParaRPr lang="zh-CN" altLang="en-US" sz="2000"/>
          </a:p>
          <a:p>
            <a:pPr lvl="1" eaLnBrk="1" hangingPunct="1"/>
            <a:endParaRPr lang="zh-CN" altLang="en-US" sz="2000"/>
          </a:p>
          <a:p>
            <a:pPr lvl="1" eaLnBrk="1" hangingPunct="1"/>
            <a:endParaRPr lang="en-US" altLang="zh-CN" sz="2000"/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子网掩码</a:t>
            </a:r>
            <a:r>
              <a:rPr lang="en-US" altLang="zh-CN"/>
              <a:t>2-1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38313" y="3286125"/>
            <a:ext cx="8501062" cy="22860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en-US" altLang="zh-CN"/>
              <a:t>A</a:t>
            </a:r>
            <a:r>
              <a:rPr lang="zh-CN" altLang="en-US"/>
              <a:t>、</a:t>
            </a:r>
            <a:r>
              <a:rPr lang="en-US" altLang="zh-CN"/>
              <a:t>B</a:t>
            </a:r>
            <a:r>
              <a:rPr lang="zh-CN" altLang="en-US"/>
              <a:t>、</a:t>
            </a:r>
            <a:r>
              <a:rPr lang="en-US" altLang="zh-CN"/>
              <a:t>C</a:t>
            </a:r>
            <a:r>
              <a:rPr lang="zh-CN" altLang="en-US"/>
              <a:t>三类地址的默认子网掩码</a:t>
            </a:r>
          </a:p>
          <a:p>
            <a:pPr lvl="1">
              <a:spcBef>
                <a:spcPts val="475"/>
              </a:spcBef>
            </a:pPr>
            <a:r>
              <a:rPr lang="en-US" altLang="zh-CN"/>
              <a:t>A</a:t>
            </a:r>
            <a:r>
              <a:rPr lang="zh-CN" altLang="en-US"/>
              <a:t>类：</a:t>
            </a:r>
            <a:r>
              <a:rPr lang="en-US" altLang="zh-CN"/>
              <a:t>255.0.0.0</a:t>
            </a:r>
          </a:p>
          <a:p>
            <a:pPr lvl="1">
              <a:spcBef>
                <a:spcPts val="475"/>
              </a:spcBef>
            </a:pPr>
            <a:r>
              <a:rPr lang="en-US" altLang="zh-CN"/>
              <a:t>B</a:t>
            </a:r>
            <a:r>
              <a:rPr lang="zh-CN" altLang="en-US"/>
              <a:t>类：</a:t>
            </a:r>
            <a:r>
              <a:rPr lang="en-US" altLang="zh-CN"/>
              <a:t>255.255.0.0</a:t>
            </a:r>
          </a:p>
          <a:p>
            <a:pPr lvl="1">
              <a:spcBef>
                <a:spcPts val="475"/>
              </a:spcBef>
            </a:pPr>
            <a:r>
              <a:rPr lang="en-US" altLang="zh-CN"/>
              <a:t>C</a:t>
            </a:r>
            <a:r>
              <a:rPr lang="zh-CN" altLang="en-US"/>
              <a:t>类：</a:t>
            </a:r>
            <a:r>
              <a:rPr lang="en-US" altLang="zh-CN"/>
              <a:t>255.255.255.0</a:t>
            </a:r>
          </a:p>
          <a:p>
            <a:pPr>
              <a:spcBef>
                <a:spcPts val="675"/>
              </a:spcBef>
            </a:pPr>
            <a:endParaRPr lang="en-US" altLang="zh-CN"/>
          </a:p>
        </p:txBody>
      </p:sp>
      <p:sp>
        <p:nvSpPr>
          <p:cNvPr id="1741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子网掩码</a:t>
            </a:r>
            <a:r>
              <a:rPr lang="en-US" altLang="zh-CN"/>
              <a:t>2-2</a:t>
            </a:r>
          </a:p>
        </p:txBody>
      </p:sp>
      <p:pic>
        <p:nvPicPr>
          <p:cNvPr id="17412" name="Picture 4" descr="ip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52626" y="1428750"/>
            <a:ext cx="5472113" cy="137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配置主机的</a:t>
            </a:r>
            <a:r>
              <a:rPr lang="en-US" altLang="zh-CN"/>
              <a:t>IP</a:t>
            </a:r>
            <a:r>
              <a:rPr lang="zh-CN" altLang="en-US"/>
              <a:t>地址</a:t>
            </a:r>
          </a:p>
        </p:txBody>
      </p:sp>
      <p:pic>
        <p:nvPicPr>
          <p:cNvPr id="82948" name="Picture 4" descr="D:\201102\网络基础\素材\TCP-IP属性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24298" y="1142985"/>
            <a:ext cx="3924300" cy="408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9" name="Group 16"/>
          <p:cNvGrpSpPr>
            <a:grpSpLocks/>
          </p:cNvGrpSpPr>
          <p:nvPr/>
        </p:nvGrpSpPr>
        <p:grpSpPr bwMode="auto">
          <a:xfrm>
            <a:off x="4310050" y="6000768"/>
            <a:ext cx="3348038" cy="463550"/>
            <a:chOff x="3457" y="1661"/>
            <a:chExt cx="2086" cy="292"/>
          </a:xfrm>
        </p:grpSpPr>
        <p:sp>
          <p:nvSpPr>
            <p:cNvPr id="10" name="AutoShape 17"/>
            <p:cNvSpPr>
              <a:spLocks noChangeArrowheads="1"/>
            </p:cNvSpPr>
            <p:nvPr/>
          </p:nvSpPr>
          <p:spPr bwMode="auto">
            <a:xfrm>
              <a:off x="3457" y="1661"/>
              <a:ext cx="2086" cy="272"/>
            </a:xfrm>
            <a:prstGeom prst="flowChartAlternateProcess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A1DFED"/>
                </a:gs>
              </a:gsLst>
              <a:lin ang="5400000" scaled="1"/>
            </a:gradFill>
            <a:ln w="31750" algn="ctr">
              <a:solidFill>
                <a:srgbClr val="008080"/>
              </a:solidFill>
              <a:miter lim="800000"/>
              <a:headEnd/>
              <a:tailEnd/>
            </a:ln>
            <a:effectLst>
              <a:prstShdw prst="shdw13" dist="53882" dir="13500000">
                <a:srgbClr val="1C99C6">
                  <a:alpha val="50000"/>
                </a:srgbClr>
              </a:prst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11" name="Picture 18" descr="说话气泡new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515" y="1661"/>
              <a:ext cx="418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3" dist="12700" dir="10800000">
                <a:srgbClr val="0099FF">
                  <a:alpha val="50000"/>
                </a:srgbClr>
              </a:prstShdw>
            </a:effectLst>
          </p:spPr>
        </p:pic>
        <p:sp>
          <p:nvSpPr>
            <p:cNvPr id="12" name="Text Box 19"/>
            <p:cNvSpPr txBox="1">
              <a:spLocks noChangeArrowheads="1"/>
            </p:cNvSpPr>
            <p:nvPr/>
          </p:nvSpPr>
          <p:spPr bwMode="auto">
            <a:xfrm>
              <a:off x="4053" y="1669"/>
              <a:ext cx="1276" cy="231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1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ea typeface="黑体" pitchFamily="2" charset="-122"/>
                </a:rPr>
                <a:t>教员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  <a:ea typeface="黑体" pitchFamily="2" charset="-122"/>
                </a:rPr>
                <a:t>演示操作过程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网络测试工具</a:t>
            </a:r>
            <a:r>
              <a:rPr lang="en-US" altLang="zh-CN"/>
              <a:t>2-1</a:t>
            </a:r>
            <a:endParaRPr lang="zh-CN" altLang="en-US"/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09721" y="1214422"/>
            <a:ext cx="8501063" cy="2571752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en-US" altLang="zh-CN"/>
              <a:t>ipconfig</a:t>
            </a:r>
          </a:p>
          <a:p>
            <a:pPr>
              <a:spcBef>
                <a:spcPts val="6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r>
              <a:rPr lang="en-US" altLang="zh-CN"/>
              <a:t>ping</a:t>
            </a:r>
          </a:p>
          <a:p>
            <a:pPr lvl="1">
              <a:spcBef>
                <a:spcPts val="6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endParaRPr lang="en-US" altLang="zh-CN"/>
          </a:p>
        </p:txBody>
      </p:sp>
      <p:grpSp>
        <p:nvGrpSpPr>
          <p:cNvPr id="10" name="Group 16"/>
          <p:cNvGrpSpPr>
            <a:grpSpLocks/>
          </p:cNvGrpSpPr>
          <p:nvPr/>
        </p:nvGrpSpPr>
        <p:grpSpPr bwMode="auto">
          <a:xfrm>
            <a:off x="4310050" y="6000768"/>
            <a:ext cx="3348038" cy="463550"/>
            <a:chOff x="3457" y="1661"/>
            <a:chExt cx="2086" cy="292"/>
          </a:xfrm>
        </p:grpSpPr>
        <p:sp>
          <p:nvSpPr>
            <p:cNvPr id="11" name="AutoShape 17"/>
            <p:cNvSpPr>
              <a:spLocks noChangeArrowheads="1"/>
            </p:cNvSpPr>
            <p:nvPr/>
          </p:nvSpPr>
          <p:spPr bwMode="auto">
            <a:xfrm>
              <a:off x="3457" y="1661"/>
              <a:ext cx="2086" cy="272"/>
            </a:xfrm>
            <a:prstGeom prst="flowChartAlternateProcess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A1DFED"/>
                </a:gs>
              </a:gsLst>
              <a:lin ang="5400000" scaled="1"/>
            </a:gradFill>
            <a:ln w="31750" algn="ctr">
              <a:solidFill>
                <a:srgbClr val="008080"/>
              </a:solidFill>
              <a:miter lim="800000"/>
              <a:headEnd/>
              <a:tailEnd/>
            </a:ln>
            <a:effectLst>
              <a:prstShdw prst="shdw13" dist="53882" dir="13500000">
                <a:srgbClr val="1C99C6">
                  <a:alpha val="50000"/>
                </a:srgbClr>
              </a:prst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12" name="Picture 18" descr="说话气泡new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515" y="1661"/>
              <a:ext cx="418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3" dist="12700" dir="10800000">
                <a:srgbClr val="0099FF">
                  <a:alpha val="50000"/>
                </a:srgbClr>
              </a:prstShdw>
            </a:effectLst>
          </p:spPr>
        </p:pic>
        <p:sp>
          <p:nvSpPr>
            <p:cNvPr id="13" name="Text Box 19"/>
            <p:cNvSpPr txBox="1">
              <a:spLocks noChangeArrowheads="1"/>
            </p:cNvSpPr>
            <p:nvPr/>
          </p:nvSpPr>
          <p:spPr bwMode="auto">
            <a:xfrm>
              <a:off x="4053" y="1669"/>
              <a:ext cx="1276" cy="231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1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ea typeface="黑体" pitchFamily="2" charset="-122"/>
                </a:rPr>
                <a:t>教员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  <a:ea typeface="黑体" pitchFamily="2" charset="-122"/>
                </a:rPr>
                <a:t>演示操作过程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内容占位符 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使用</a:t>
            </a:r>
            <a:r>
              <a:rPr lang="en-US" altLang="zh-CN"/>
              <a:t>ping</a:t>
            </a:r>
            <a:r>
              <a:rPr lang="zh-CN" altLang="en-US"/>
              <a:t>命令诊断网络连接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en-US" altLang="zh-CN"/>
              <a:t>ping 127.0.0.1</a:t>
            </a:r>
          </a:p>
          <a:p>
            <a:pPr lvl="2">
              <a:spcBef>
                <a:spcPct val="0"/>
              </a:spcBef>
            </a:pPr>
            <a:r>
              <a:rPr lang="zh-CN" altLang="en-US"/>
              <a:t>验证本地计算机上是否正确地配置了</a:t>
            </a:r>
            <a:r>
              <a:rPr lang="en-US" altLang="zh-CN"/>
              <a:t>TCP/IP</a:t>
            </a:r>
            <a:endParaRPr lang="zh-CN" altLang="en-US"/>
          </a:p>
          <a:p>
            <a:pPr lvl="1">
              <a:spcBef>
                <a:spcPts val="475"/>
              </a:spcBef>
            </a:pPr>
            <a:r>
              <a:rPr lang="en-US" altLang="zh-CN"/>
              <a:t>ping </a:t>
            </a:r>
            <a:r>
              <a:rPr lang="zh-CN" altLang="en-US"/>
              <a:t>本地计算机的</a:t>
            </a:r>
            <a:r>
              <a:rPr lang="en-US" altLang="zh-CN"/>
              <a:t>IP</a:t>
            </a:r>
            <a:r>
              <a:rPr lang="zh-CN" altLang="en-US"/>
              <a:t>地址</a:t>
            </a:r>
            <a:endParaRPr lang="en-US" altLang="zh-CN"/>
          </a:p>
          <a:p>
            <a:pPr lvl="2">
              <a:spcBef>
                <a:spcPct val="0"/>
              </a:spcBef>
            </a:pPr>
            <a:r>
              <a:rPr lang="zh-CN" altLang="en-US"/>
              <a:t>验证其是否已正确地添加到网络中</a:t>
            </a:r>
          </a:p>
          <a:p>
            <a:pPr lvl="1">
              <a:spcBef>
                <a:spcPts val="475"/>
              </a:spcBef>
            </a:pPr>
            <a:r>
              <a:rPr lang="en-US" altLang="zh-CN"/>
              <a:t>ping</a:t>
            </a:r>
            <a:r>
              <a:rPr lang="zh-CN" altLang="en-US"/>
              <a:t>默认网关的</a:t>
            </a:r>
            <a:r>
              <a:rPr lang="en-US" altLang="zh-CN"/>
              <a:t>IP</a:t>
            </a:r>
            <a:r>
              <a:rPr lang="zh-CN" altLang="en-US"/>
              <a:t>地址</a:t>
            </a:r>
            <a:endParaRPr lang="en-US" altLang="zh-CN"/>
          </a:p>
          <a:p>
            <a:pPr lvl="2">
              <a:spcBef>
                <a:spcPct val="0"/>
              </a:spcBef>
            </a:pPr>
            <a:r>
              <a:rPr lang="zh-CN" altLang="en-US"/>
              <a:t>验证默认网关是否正常工作</a:t>
            </a:r>
            <a:endParaRPr lang="en-US" altLang="zh-CN"/>
          </a:p>
          <a:p>
            <a:pPr lvl="2">
              <a:spcBef>
                <a:spcPct val="0"/>
              </a:spcBef>
            </a:pPr>
            <a:r>
              <a:rPr lang="zh-CN" altLang="en-US"/>
              <a:t>是否可以与本地网络上的主机进行通信</a:t>
            </a:r>
          </a:p>
          <a:p>
            <a:pPr lvl="1">
              <a:spcBef>
                <a:spcPts val="475"/>
              </a:spcBef>
            </a:pPr>
            <a:r>
              <a:rPr lang="en-US" altLang="zh-CN"/>
              <a:t>ping</a:t>
            </a:r>
            <a:r>
              <a:rPr lang="zh-CN" altLang="en-US"/>
              <a:t>远程主机的</a:t>
            </a:r>
            <a:r>
              <a:rPr lang="en-US" altLang="zh-CN"/>
              <a:t>IP</a:t>
            </a:r>
            <a:r>
              <a:rPr lang="zh-CN" altLang="en-US"/>
              <a:t>地址</a:t>
            </a:r>
            <a:endParaRPr lang="en-US" altLang="zh-CN"/>
          </a:p>
          <a:p>
            <a:pPr lvl="2">
              <a:spcBef>
                <a:spcPct val="0"/>
              </a:spcBef>
            </a:pPr>
            <a:r>
              <a:rPr lang="zh-CN" altLang="en-US"/>
              <a:t>验证是否可以通过路由器进行通信</a:t>
            </a:r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2048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网络测试工具</a:t>
            </a:r>
            <a:r>
              <a:rPr lang="en-US" altLang="zh-CN"/>
              <a:t>2-2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AutoShape 8"/>
          <p:cNvSpPr>
            <a:spLocks noChangeArrowheads="1"/>
          </p:cNvSpPr>
          <p:nvPr/>
        </p:nvSpPr>
        <p:spPr bwMode="auto">
          <a:xfrm>
            <a:off x="1881189" y="4857750"/>
            <a:ext cx="7920037" cy="571500"/>
          </a:xfrm>
          <a:prstGeom prst="roundRect">
            <a:avLst>
              <a:gd name="adj" fmla="val 19412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pPr marL="0" lvl="1"/>
            <a:r>
              <a:rPr lang="en-US" altLang="zh-CN" sz="2400">
                <a:solidFill>
                  <a:schemeClr val="tx2"/>
                </a:solidFill>
              </a:rPr>
              <a:t>      switch(config)#no ip domain-lookup</a:t>
            </a:r>
          </a:p>
          <a:p>
            <a:endParaRPr lang="zh-CN" altLang="zh-CN" sz="2400">
              <a:solidFill>
                <a:schemeClr val="tx2"/>
              </a:solidFill>
            </a:endParaRPr>
          </a:p>
        </p:txBody>
      </p:sp>
      <p:sp>
        <p:nvSpPr>
          <p:cNvPr id="21507" name="AutoShape 8"/>
          <p:cNvSpPr>
            <a:spLocks noChangeArrowheads="1"/>
          </p:cNvSpPr>
          <p:nvPr/>
        </p:nvSpPr>
        <p:spPr bwMode="auto">
          <a:xfrm>
            <a:off x="1881189" y="3357564"/>
            <a:ext cx="7920037" cy="928687"/>
          </a:xfrm>
          <a:prstGeom prst="roundRect">
            <a:avLst>
              <a:gd name="adj" fmla="val 19412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pPr lvl="1"/>
            <a:r>
              <a:rPr lang="en-US" altLang="zh-CN" sz="2400">
                <a:solidFill>
                  <a:schemeClr val="tx2"/>
                </a:solidFill>
              </a:rPr>
              <a:t>switch(config)#line con 0</a:t>
            </a:r>
          </a:p>
          <a:p>
            <a:pPr lvl="1"/>
            <a:r>
              <a:rPr lang="en-US" altLang="zh-CN" sz="2400">
                <a:solidFill>
                  <a:schemeClr val="tx2"/>
                </a:solidFill>
              </a:rPr>
              <a:t>switch(config-if)#logging synchronous</a:t>
            </a:r>
          </a:p>
          <a:p>
            <a:pPr algn="ctr"/>
            <a:endParaRPr lang="zh-CN" altLang="zh-CN" sz="2400">
              <a:solidFill>
                <a:schemeClr val="tx2"/>
              </a:solidFill>
            </a:endParaRPr>
          </a:p>
        </p:txBody>
      </p:sp>
      <p:sp>
        <p:nvSpPr>
          <p:cNvPr id="21508" name="AutoShape 8"/>
          <p:cNvSpPr>
            <a:spLocks noChangeArrowheads="1"/>
          </p:cNvSpPr>
          <p:nvPr/>
        </p:nvSpPr>
        <p:spPr bwMode="auto">
          <a:xfrm>
            <a:off x="1881189" y="1785939"/>
            <a:ext cx="7920037" cy="928687"/>
          </a:xfrm>
          <a:prstGeom prst="roundRect">
            <a:avLst>
              <a:gd name="adj" fmla="val 19412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pPr lvl="1"/>
            <a:r>
              <a:rPr lang="en-US" altLang="zh-CN" sz="2400">
                <a:solidFill>
                  <a:schemeClr val="tx2"/>
                </a:solidFill>
              </a:rPr>
              <a:t>switch(config)#line con 0</a:t>
            </a:r>
          </a:p>
          <a:p>
            <a:pPr lvl="1"/>
            <a:r>
              <a:rPr lang="en-US" altLang="zh-CN" sz="2400">
                <a:solidFill>
                  <a:schemeClr val="tx2"/>
                </a:solidFill>
              </a:rPr>
              <a:t>switch(config-if)#exec-timeout 0 0</a:t>
            </a:r>
          </a:p>
          <a:p>
            <a:pPr algn="ctr"/>
            <a:endParaRPr lang="zh-CN" altLang="zh-CN"/>
          </a:p>
        </p:txBody>
      </p:sp>
      <p:sp>
        <p:nvSpPr>
          <p:cNvPr id="21509" name="内容占位符 4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空闲一段时间后，重回初始界面的问题</a:t>
            </a:r>
          </a:p>
          <a:p>
            <a:pPr>
              <a:spcBef>
                <a:spcPts val="6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r>
              <a:rPr lang="zh-CN" altLang="en-US"/>
              <a:t>控制台消息打断输入的处理</a:t>
            </a:r>
          </a:p>
          <a:p>
            <a:pPr>
              <a:spcBef>
                <a:spcPts val="6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r>
              <a:rPr lang="zh-CN" altLang="en-US"/>
              <a:t>禁用</a:t>
            </a:r>
            <a:r>
              <a:rPr lang="en-US" altLang="zh-CN"/>
              <a:t>DNS</a:t>
            </a:r>
            <a:r>
              <a:rPr lang="zh-CN" altLang="en-US"/>
              <a:t>查询</a:t>
            </a:r>
          </a:p>
        </p:txBody>
      </p:sp>
      <p:sp>
        <p:nvSpPr>
          <p:cNvPr id="215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设备配置的准备工作</a:t>
            </a:r>
          </a:p>
        </p:txBody>
      </p:sp>
      <p:sp>
        <p:nvSpPr>
          <p:cNvPr id="8" name="竖卷形 7"/>
          <p:cNvSpPr>
            <a:spLocks noChangeArrowheads="1"/>
          </p:cNvSpPr>
          <p:nvPr/>
        </p:nvSpPr>
        <p:spPr bwMode="auto">
          <a:xfrm>
            <a:off x="4167188" y="2214564"/>
            <a:ext cx="3429000" cy="2643187"/>
          </a:xfrm>
          <a:prstGeom prst="verticalScroll">
            <a:avLst>
              <a:gd name="adj" fmla="val 7426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en-US" altLang="zh-CN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en</a:t>
            </a:r>
          </a:p>
          <a:p>
            <a:r>
              <a:rPr lang="en-US" altLang="zh-CN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conf t</a:t>
            </a:r>
          </a:p>
          <a:p>
            <a:r>
              <a:rPr lang="en-US" altLang="zh-CN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no ip domain-lo</a:t>
            </a:r>
          </a:p>
          <a:p>
            <a:r>
              <a:rPr lang="en-US" altLang="zh-CN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line con 0</a:t>
            </a:r>
          </a:p>
          <a:p>
            <a:r>
              <a:rPr lang="en-US" altLang="zh-CN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logg syn</a:t>
            </a:r>
          </a:p>
          <a:p>
            <a:r>
              <a:rPr lang="en-US" altLang="zh-CN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exec-timeout 0 0</a:t>
            </a:r>
          </a:p>
          <a:p>
            <a:r>
              <a:rPr lang="en-US" altLang="zh-CN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exit</a:t>
            </a:r>
            <a:endParaRPr lang="zh-CN" altLang="en-US" sz="2000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9" name="Group 16"/>
          <p:cNvGrpSpPr>
            <a:grpSpLocks/>
          </p:cNvGrpSpPr>
          <p:nvPr/>
        </p:nvGrpSpPr>
        <p:grpSpPr bwMode="auto">
          <a:xfrm>
            <a:off x="4310050" y="6000768"/>
            <a:ext cx="3348038" cy="463550"/>
            <a:chOff x="3457" y="1661"/>
            <a:chExt cx="2086" cy="292"/>
          </a:xfrm>
        </p:grpSpPr>
        <p:sp>
          <p:nvSpPr>
            <p:cNvPr id="10" name="AutoShape 17"/>
            <p:cNvSpPr>
              <a:spLocks noChangeArrowheads="1"/>
            </p:cNvSpPr>
            <p:nvPr/>
          </p:nvSpPr>
          <p:spPr bwMode="auto">
            <a:xfrm>
              <a:off x="3457" y="1661"/>
              <a:ext cx="2086" cy="272"/>
            </a:xfrm>
            <a:prstGeom prst="flowChartAlternateProcess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A1DFED"/>
                </a:gs>
              </a:gsLst>
              <a:lin ang="5400000" scaled="1"/>
            </a:gradFill>
            <a:ln w="31750" algn="ctr">
              <a:solidFill>
                <a:srgbClr val="008080"/>
              </a:solidFill>
              <a:miter lim="800000"/>
              <a:headEnd/>
              <a:tailEnd/>
            </a:ln>
            <a:effectLst>
              <a:prstShdw prst="shdw13" dist="53882" dir="13500000">
                <a:srgbClr val="1C99C6">
                  <a:alpha val="50000"/>
                </a:srgbClr>
              </a:prst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11" name="Picture 18" descr="说话气泡new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515" y="1661"/>
              <a:ext cx="418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3" dist="12700" dir="10800000">
                <a:srgbClr val="0099FF">
                  <a:alpha val="50000"/>
                </a:srgbClr>
              </a:prstShdw>
            </a:effectLst>
          </p:spPr>
        </p:pic>
        <p:sp>
          <p:nvSpPr>
            <p:cNvPr id="12" name="Text Box 19"/>
            <p:cNvSpPr txBox="1">
              <a:spLocks noChangeArrowheads="1"/>
            </p:cNvSpPr>
            <p:nvPr/>
          </p:nvSpPr>
          <p:spPr bwMode="auto">
            <a:xfrm>
              <a:off x="4053" y="1669"/>
              <a:ext cx="1276" cy="231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1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ea typeface="黑体" pitchFamily="2" charset="-122"/>
                </a:rPr>
                <a:t>教员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  <a:ea typeface="黑体" pitchFamily="2" charset="-122"/>
                </a:rPr>
                <a:t>演示操作过程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AutoShape 8"/>
          <p:cNvSpPr>
            <a:spLocks noChangeArrowheads="1"/>
          </p:cNvSpPr>
          <p:nvPr/>
        </p:nvSpPr>
        <p:spPr bwMode="auto">
          <a:xfrm>
            <a:off x="2335214" y="1651000"/>
            <a:ext cx="7920037" cy="1258888"/>
          </a:xfrm>
          <a:prstGeom prst="roundRect">
            <a:avLst>
              <a:gd name="adj" fmla="val 19412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pPr lvl="1"/>
            <a:r>
              <a:rPr lang="en-US" altLang="zh-CN" sz="2400">
                <a:solidFill>
                  <a:schemeClr val="tx2"/>
                </a:solidFill>
              </a:rPr>
              <a:t>Router(config)#interface fastethernet 0/1</a:t>
            </a:r>
            <a:endParaRPr lang="zh-CN" altLang="en-US" sz="2400">
              <a:solidFill>
                <a:schemeClr val="tx2"/>
              </a:solidFill>
            </a:endParaRPr>
          </a:p>
          <a:p>
            <a:pPr lvl="1"/>
            <a:r>
              <a:rPr lang="en-US" altLang="zh-CN" sz="2400">
                <a:solidFill>
                  <a:schemeClr val="tx2"/>
                </a:solidFill>
              </a:rPr>
              <a:t>Router(config-if)#ip address </a:t>
            </a:r>
            <a:r>
              <a:rPr lang="en-US" altLang="zh-CN" sz="2400" i="1">
                <a:solidFill>
                  <a:schemeClr val="tx2"/>
                </a:solidFill>
              </a:rPr>
              <a:t>ip-address subnet-mask</a:t>
            </a:r>
            <a:endParaRPr lang="zh-CN" altLang="en-US" sz="2400" i="1">
              <a:solidFill>
                <a:schemeClr val="tx2"/>
              </a:solidFill>
            </a:endParaRPr>
          </a:p>
          <a:p>
            <a:pPr lvl="1"/>
            <a:r>
              <a:rPr lang="en-US" altLang="zh-CN" sz="2400">
                <a:solidFill>
                  <a:schemeClr val="tx2"/>
                </a:solidFill>
              </a:rPr>
              <a:t>Router(config-if)#no shutdown</a:t>
            </a:r>
          </a:p>
          <a:p>
            <a:pPr algn="ctr"/>
            <a:endParaRPr lang="zh-CN" altLang="zh-CN" sz="2400">
              <a:solidFill>
                <a:schemeClr val="tx2"/>
              </a:solidFill>
            </a:endParaRPr>
          </a:p>
        </p:txBody>
      </p:sp>
      <p:sp>
        <p:nvSpPr>
          <p:cNvPr id="22531" name="AutoShape 8"/>
          <p:cNvSpPr>
            <a:spLocks noChangeArrowheads="1"/>
          </p:cNvSpPr>
          <p:nvPr/>
        </p:nvSpPr>
        <p:spPr bwMode="auto">
          <a:xfrm>
            <a:off x="2309814" y="4071939"/>
            <a:ext cx="7920037" cy="1260475"/>
          </a:xfrm>
          <a:prstGeom prst="roundRect">
            <a:avLst>
              <a:gd name="adj" fmla="val 19412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pPr lvl="1"/>
            <a:r>
              <a:rPr lang="en-US" altLang="zh-CN" sz="2400">
                <a:solidFill>
                  <a:schemeClr val="tx2"/>
                </a:solidFill>
              </a:rPr>
              <a:t>Switch(config)#interface vlan 1</a:t>
            </a:r>
            <a:endParaRPr lang="zh-CN" altLang="en-US" sz="2400">
              <a:solidFill>
                <a:schemeClr val="tx2"/>
              </a:solidFill>
            </a:endParaRPr>
          </a:p>
          <a:p>
            <a:pPr lvl="1"/>
            <a:r>
              <a:rPr lang="en-US" altLang="zh-CN" sz="2400">
                <a:solidFill>
                  <a:schemeClr val="tx2"/>
                </a:solidFill>
              </a:rPr>
              <a:t>Switch(config-if)#ip address </a:t>
            </a:r>
            <a:r>
              <a:rPr lang="en-US" altLang="zh-CN" sz="2400" i="1">
                <a:solidFill>
                  <a:schemeClr val="tx2"/>
                </a:solidFill>
              </a:rPr>
              <a:t>ip-address subnet-mask</a:t>
            </a:r>
            <a:endParaRPr lang="zh-CN" altLang="en-US" sz="2400" i="1">
              <a:solidFill>
                <a:schemeClr val="tx2"/>
              </a:solidFill>
            </a:endParaRPr>
          </a:p>
          <a:p>
            <a:pPr lvl="1"/>
            <a:r>
              <a:rPr lang="en-US" altLang="zh-CN" sz="2400">
                <a:solidFill>
                  <a:schemeClr val="tx2"/>
                </a:solidFill>
              </a:rPr>
              <a:t>Switch(config-if)#no shutdown</a:t>
            </a:r>
            <a:endParaRPr lang="zh-CN" altLang="en-US" sz="2400">
              <a:solidFill>
                <a:schemeClr val="tx2"/>
              </a:solidFill>
            </a:endParaRPr>
          </a:p>
          <a:p>
            <a:pPr algn="ctr"/>
            <a:endParaRPr lang="zh-CN" altLang="zh-CN" sz="2400">
              <a:solidFill>
                <a:schemeClr val="tx2"/>
              </a:solidFill>
            </a:endParaRPr>
          </a:p>
        </p:txBody>
      </p:sp>
      <p:sp>
        <p:nvSpPr>
          <p:cNvPr id="22532" name="内容占位符 17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路由器配置</a:t>
            </a:r>
            <a:r>
              <a:rPr lang="en-US" altLang="zh-CN"/>
              <a:t>IP</a:t>
            </a:r>
            <a:r>
              <a:rPr lang="zh-CN" altLang="en-US"/>
              <a:t>地址</a:t>
            </a:r>
            <a:endParaRPr lang="en-US" altLang="zh-CN"/>
          </a:p>
          <a:p>
            <a:pPr>
              <a:spcBef>
                <a:spcPts val="6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endParaRPr lang="en-US" altLang="zh-CN" sz="1500"/>
          </a:p>
          <a:p>
            <a:pPr>
              <a:spcBef>
                <a:spcPts val="675"/>
              </a:spcBef>
            </a:pPr>
            <a:r>
              <a:rPr lang="zh-CN" altLang="en-US"/>
              <a:t>交换机配置</a:t>
            </a:r>
            <a:r>
              <a:rPr lang="en-US" altLang="zh-CN"/>
              <a:t>IP</a:t>
            </a:r>
            <a:r>
              <a:rPr lang="zh-CN" altLang="en-US"/>
              <a:t>地址</a:t>
            </a:r>
            <a:endParaRPr lang="en-US" altLang="zh-CN"/>
          </a:p>
        </p:txBody>
      </p:sp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配置</a:t>
            </a:r>
            <a:r>
              <a:rPr lang="en-US" altLang="zh-CN"/>
              <a:t>IP</a:t>
            </a:r>
            <a:r>
              <a:rPr lang="zh-CN" altLang="en-US"/>
              <a:t>地址</a:t>
            </a:r>
            <a:endParaRPr lang="en-US" altLang="zh-CN"/>
          </a:p>
        </p:txBody>
      </p:sp>
      <p:sp>
        <p:nvSpPr>
          <p:cNvPr id="22" name="AutoShape 4"/>
          <p:cNvSpPr>
            <a:spLocks noChangeArrowheads="1"/>
          </p:cNvSpPr>
          <p:nvPr/>
        </p:nvSpPr>
        <p:spPr bwMode="auto">
          <a:xfrm>
            <a:off x="7300914" y="1016001"/>
            <a:ext cx="1679575" cy="474663"/>
          </a:xfrm>
          <a:prstGeom prst="wedgeRoundRectCallout">
            <a:avLst>
              <a:gd name="adj1" fmla="val -47491"/>
              <a:gd name="adj2" fmla="val 96213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进入接口</a:t>
            </a:r>
            <a:endParaRPr lang="en-US" altLang="zh-CN" sz="20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8688389" y="2732088"/>
            <a:ext cx="1679575" cy="474662"/>
          </a:xfrm>
          <a:prstGeom prst="wedgeRoundRectCallout">
            <a:avLst>
              <a:gd name="adj1" fmla="val -64551"/>
              <a:gd name="adj2" fmla="val -122306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配置</a:t>
            </a:r>
            <a:r>
              <a:rPr lang="en-US" altLang="zh-CN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IP</a:t>
            </a:r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地址</a:t>
            </a:r>
            <a:endParaRPr lang="en-US" altLang="zh-CN" sz="20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" name="AutoShape 4"/>
          <p:cNvSpPr>
            <a:spLocks noChangeArrowheads="1"/>
          </p:cNvSpPr>
          <p:nvPr/>
        </p:nvSpPr>
        <p:spPr bwMode="auto">
          <a:xfrm>
            <a:off x="6169026" y="3170238"/>
            <a:ext cx="1679575" cy="474662"/>
          </a:xfrm>
          <a:prstGeom prst="wedgeRoundRectCallout">
            <a:avLst>
              <a:gd name="adj1" fmla="val -46676"/>
              <a:gd name="adj2" fmla="val -116556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开启接口</a:t>
            </a:r>
            <a:endParaRPr lang="en-US" altLang="zh-CN" sz="20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9" name="Group 16"/>
          <p:cNvGrpSpPr>
            <a:grpSpLocks/>
          </p:cNvGrpSpPr>
          <p:nvPr/>
        </p:nvGrpSpPr>
        <p:grpSpPr bwMode="auto">
          <a:xfrm>
            <a:off x="4310050" y="6000768"/>
            <a:ext cx="3348038" cy="463550"/>
            <a:chOff x="3457" y="1661"/>
            <a:chExt cx="2086" cy="292"/>
          </a:xfrm>
        </p:grpSpPr>
        <p:sp>
          <p:nvSpPr>
            <p:cNvPr id="10" name="AutoShape 17"/>
            <p:cNvSpPr>
              <a:spLocks noChangeArrowheads="1"/>
            </p:cNvSpPr>
            <p:nvPr/>
          </p:nvSpPr>
          <p:spPr bwMode="auto">
            <a:xfrm>
              <a:off x="3457" y="1661"/>
              <a:ext cx="2086" cy="272"/>
            </a:xfrm>
            <a:prstGeom prst="flowChartAlternateProcess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A1DFED"/>
                </a:gs>
              </a:gsLst>
              <a:lin ang="5400000" scaled="1"/>
            </a:gradFill>
            <a:ln w="31750" algn="ctr">
              <a:solidFill>
                <a:srgbClr val="008080"/>
              </a:solidFill>
              <a:miter lim="800000"/>
              <a:headEnd/>
              <a:tailEnd/>
            </a:ln>
            <a:effectLst>
              <a:prstShdw prst="shdw13" dist="53882" dir="13500000">
                <a:srgbClr val="1C99C6">
                  <a:alpha val="50000"/>
                </a:srgbClr>
              </a:prst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11" name="Picture 18" descr="说话气泡new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515" y="1661"/>
              <a:ext cx="418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3" dist="12700" dir="10800000">
                <a:srgbClr val="0099FF">
                  <a:alpha val="50000"/>
                </a:srgbClr>
              </a:prstShdw>
            </a:effectLst>
          </p:spPr>
        </p:pic>
        <p:sp>
          <p:nvSpPr>
            <p:cNvPr id="12" name="Text Box 19"/>
            <p:cNvSpPr txBox="1">
              <a:spLocks noChangeArrowheads="1"/>
            </p:cNvSpPr>
            <p:nvPr/>
          </p:nvSpPr>
          <p:spPr bwMode="auto">
            <a:xfrm>
              <a:off x="4053" y="1669"/>
              <a:ext cx="1276" cy="231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1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ea typeface="黑体" pitchFamily="2" charset="-122"/>
                </a:rPr>
                <a:t>教员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  <a:ea typeface="黑体" pitchFamily="2" charset="-122"/>
                </a:rPr>
                <a:t>演示操作过程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7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内容占位符 4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需求分析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en-US" altLang="zh-CN"/>
              <a:t>PC</a:t>
            </a:r>
            <a:r>
              <a:rPr lang="zh-CN" altLang="en-US"/>
              <a:t>通过</a:t>
            </a:r>
            <a:r>
              <a:rPr lang="en-US" altLang="zh-CN"/>
              <a:t>Console</a:t>
            </a:r>
            <a:r>
              <a:rPr lang="zh-CN" altLang="en-US"/>
              <a:t>口进行配置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配置路由器和交换机实现通信</a:t>
            </a: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配置</a:t>
            </a:r>
            <a:r>
              <a:rPr lang="en-US" altLang="zh-CN"/>
              <a:t>IP</a:t>
            </a:r>
            <a:r>
              <a:rPr lang="zh-CN" altLang="en-US"/>
              <a:t>地址实现通信</a:t>
            </a:r>
            <a:r>
              <a:rPr lang="en-US" altLang="zh-CN"/>
              <a:t>3-1</a:t>
            </a:r>
          </a:p>
        </p:txBody>
      </p:sp>
      <p:grpSp>
        <p:nvGrpSpPr>
          <p:cNvPr id="2" name="组合 13"/>
          <p:cNvGrpSpPr>
            <a:grpSpLocks/>
          </p:cNvGrpSpPr>
          <p:nvPr/>
        </p:nvGrpSpPr>
        <p:grpSpPr bwMode="auto">
          <a:xfrm>
            <a:off x="3411538" y="3305176"/>
            <a:ext cx="5167312" cy="2195513"/>
            <a:chOff x="2627312" y="3960830"/>
            <a:chExt cx="2592388" cy="1101279"/>
          </a:xfrm>
        </p:grpSpPr>
        <p:pic>
          <p:nvPicPr>
            <p:cNvPr id="23557" name="Picture 4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627312" y="4733943"/>
              <a:ext cx="576263" cy="2873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3558" name="Picture 6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572000" y="4743468"/>
              <a:ext cx="647700" cy="2778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23559" name="AutoShape 7"/>
            <p:cNvCxnSpPr>
              <a:cxnSpLocks noChangeShapeType="1"/>
            </p:cNvCxnSpPr>
            <p:nvPr/>
          </p:nvCxnSpPr>
          <p:spPr bwMode="auto">
            <a:xfrm>
              <a:off x="3203575" y="4878405"/>
              <a:ext cx="1368425" cy="4763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</p:cxnSp>
        <p:pic>
          <p:nvPicPr>
            <p:cNvPr id="23560" name="Picture 8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3573462" y="3960830"/>
              <a:ext cx="576263" cy="546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23561" name="AutoShape 10"/>
            <p:cNvCxnSpPr>
              <a:cxnSpLocks noChangeShapeType="1"/>
            </p:cNvCxnSpPr>
            <p:nvPr/>
          </p:nvCxnSpPr>
          <p:spPr bwMode="auto">
            <a:xfrm rot="-5400000">
              <a:off x="2994818" y="4155299"/>
              <a:ext cx="500063" cy="657225"/>
            </a:xfrm>
            <a:prstGeom prst="bentConnector2">
              <a:avLst/>
            </a:prstGeom>
            <a:noFill/>
            <a:ln w="38100">
              <a:solidFill>
                <a:srgbClr val="FF0000"/>
              </a:solidFill>
              <a:prstDash val="dash"/>
              <a:miter lim="800000"/>
              <a:headEnd/>
              <a:tailEnd/>
            </a:ln>
          </p:spPr>
        </p:cxnSp>
        <p:cxnSp>
          <p:nvCxnSpPr>
            <p:cNvPr id="23562" name="AutoShape 11"/>
            <p:cNvCxnSpPr>
              <a:cxnSpLocks noChangeShapeType="1"/>
            </p:cNvCxnSpPr>
            <p:nvPr/>
          </p:nvCxnSpPr>
          <p:spPr bwMode="auto">
            <a:xfrm>
              <a:off x="4149725" y="4233880"/>
              <a:ext cx="746125" cy="509588"/>
            </a:xfrm>
            <a:prstGeom prst="bentConnector2">
              <a:avLst/>
            </a:prstGeom>
            <a:noFill/>
            <a:ln w="38100">
              <a:solidFill>
                <a:srgbClr val="FF0000"/>
              </a:solidFill>
              <a:prstDash val="dash"/>
              <a:miter lim="800000"/>
              <a:headEnd/>
              <a:tailEnd/>
            </a:ln>
          </p:spPr>
        </p:cxnSp>
        <p:sp>
          <p:nvSpPr>
            <p:cNvPr id="12" name="Text Box 14"/>
            <p:cNvSpPr txBox="1">
              <a:spLocks noChangeArrowheads="1"/>
            </p:cNvSpPr>
            <p:nvPr/>
          </p:nvSpPr>
          <p:spPr bwMode="auto">
            <a:xfrm>
              <a:off x="3113136" y="4713331"/>
              <a:ext cx="431666" cy="18394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>
                <a:defRPr/>
              </a:pPr>
              <a:r>
                <a:rPr lang="en-US" altLang="zh-CN" b="1" dirty="0">
                  <a:latin typeface="+mj-lt"/>
                </a:rPr>
                <a:t>F0/0</a:t>
              </a:r>
            </a:p>
          </p:txBody>
        </p:sp>
        <p:sp>
          <p:nvSpPr>
            <p:cNvPr id="13" name="Text Box 15"/>
            <p:cNvSpPr txBox="1">
              <a:spLocks noChangeArrowheads="1"/>
            </p:cNvSpPr>
            <p:nvPr/>
          </p:nvSpPr>
          <p:spPr bwMode="auto">
            <a:xfrm>
              <a:off x="4211416" y="4878164"/>
              <a:ext cx="431666" cy="18394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>
                <a:defRPr/>
              </a:pPr>
              <a:r>
                <a:rPr lang="en-US" altLang="zh-CN" b="1">
                  <a:latin typeface="+mj-lt"/>
                </a:rPr>
                <a:t>F0/1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AutoShape 8"/>
          <p:cNvSpPr>
            <a:spLocks noChangeArrowheads="1"/>
          </p:cNvSpPr>
          <p:nvPr/>
        </p:nvSpPr>
        <p:spPr bwMode="auto">
          <a:xfrm>
            <a:off x="2876550" y="5048251"/>
            <a:ext cx="6280150" cy="1095375"/>
          </a:xfrm>
          <a:prstGeom prst="roundRect">
            <a:avLst>
              <a:gd name="adj" fmla="val 19412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r>
              <a:rPr lang="en-US" altLang="zh-CN" b="1">
                <a:solidFill>
                  <a:schemeClr val="tx2"/>
                </a:solidFill>
              </a:rPr>
              <a:t>Switch(config)#interface vlan 1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Switch(config-if)#ip address 192.168.1.2 255.255.255.0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Switch(config-if)#no shutdown</a:t>
            </a:r>
            <a:endParaRPr lang="zh-CN" altLang="zh-CN">
              <a:solidFill>
                <a:schemeClr val="tx2"/>
              </a:solidFill>
            </a:endParaRPr>
          </a:p>
        </p:txBody>
      </p:sp>
      <p:sp>
        <p:nvSpPr>
          <p:cNvPr id="29699" name="AutoShape 8"/>
          <p:cNvSpPr>
            <a:spLocks noChangeArrowheads="1"/>
          </p:cNvSpPr>
          <p:nvPr/>
        </p:nvSpPr>
        <p:spPr bwMode="auto">
          <a:xfrm>
            <a:off x="2892425" y="5048251"/>
            <a:ext cx="6280150" cy="1095375"/>
          </a:xfrm>
          <a:prstGeom prst="roundRect">
            <a:avLst>
              <a:gd name="adj" fmla="val 19412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r>
              <a:rPr lang="en-US" altLang="zh-CN" b="1">
                <a:solidFill>
                  <a:schemeClr val="tx2"/>
                </a:solidFill>
              </a:rPr>
              <a:t>Router(config)#interface fastethernet 0/1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Router(config-if)#ip address 192.168.1.1 255.255.255.0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Router(config-if)#no shutdown</a:t>
            </a:r>
            <a:endParaRPr lang="zh-CN" altLang="zh-CN">
              <a:solidFill>
                <a:schemeClr val="tx2"/>
              </a:solidFill>
            </a:endParaRPr>
          </a:p>
        </p:txBody>
      </p:sp>
      <p:sp>
        <p:nvSpPr>
          <p:cNvPr id="24580" name="内容占位符 15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配置</a:t>
            </a:r>
            <a:r>
              <a:rPr lang="en-US" altLang="zh-CN"/>
              <a:t>IP</a:t>
            </a:r>
            <a:r>
              <a:rPr lang="zh-CN" altLang="en-US"/>
              <a:t>地址实现通信</a:t>
            </a:r>
            <a:r>
              <a:rPr lang="en-US" altLang="zh-CN"/>
              <a:t>3-2</a:t>
            </a:r>
          </a:p>
        </p:txBody>
      </p:sp>
      <p:grpSp>
        <p:nvGrpSpPr>
          <p:cNvPr id="2" name="组合 13"/>
          <p:cNvGrpSpPr>
            <a:grpSpLocks/>
          </p:cNvGrpSpPr>
          <p:nvPr/>
        </p:nvGrpSpPr>
        <p:grpSpPr bwMode="auto">
          <a:xfrm>
            <a:off x="3411538" y="1619250"/>
            <a:ext cx="5167312" cy="2198688"/>
            <a:chOff x="2627312" y="3960830"/>
            <a:chExt cx="2592388" cy="1102872"/>
          </a:xfrm>
        </p:grpSpPr>
        <p:pic>
          <p:nvPicPr>
            <p:cNvPr id="24585" name="Picture 4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627312" y="4733943"/>
              <a:ext cx="576263" cy="2873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4586" name="Picture 6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572000" y="4743468"/>
              <a:ext cx="647700" cy="2778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24587" name="AutoShape 7"/>
            <p:cNvCxnSpPr>
              <a:cxnSpLocks noChangeShapeType="1"/>
            </p:cNvCxnSpPr>
            <p:nvPr/>
          </p:nvCxnSpPr>
          <p:spPr bwMode="auto">
            <a:xfrm>
              <a:off x="3203575" y="4878405"/>
              <a:ext cx="1368425" cy="4763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</p:cxnSp>
        <p:pic>
          <p:nvPicPr>
            <p:cNvPr id="24588" name="Picture 8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3573462" y="3960830"/>
              <a:ext cx="576263" cy="546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24589" name="AutoShape 10"/>
            <p:cNvCxnSpPr>
              <a:cxnSpLocks noChangeShapeType="1"/>
            </p:cNvCxnSpPr>
            <p:nvPr/>
          </p:nvCxnSpPr>
          <p:spPr bwMode="auto">
            <a:xfrm rot="-5400000">
              <a:off x="2994818" y="4155299"/>
              <a:ext cx="500063" cy="657225"/>
            </a:xfrm>
            <a:prstGeom prst="bentConnector2">
              <a:avLst/>
            </a:prstGeom>
            <a:noFill/>
            <a:ln w="38100">
              <a:solidFill>
                <a:srgbClr val="FF0000"/>
              </a:solidFill>
              <a:prstDash val="dash"/>
              <a:miter lim="800000"/>
              <a:headEnd/>
              <a:tailEnd/>
            </a:ln>
          </p:spPr>
        </p:cxnSp>
        <p:cxnSp>
          <p:nvCxnSpPr>
            <p:cNvPr id="24590" name="AutoShape 11"/>
            <p:cNvCxnSpPr>
              <a:cxnSpLocks noChangeShapeType="1"/>
            </p:cNvCxnSpPr>
            <p:nvPr/>
          </p:nvCxnSpPr>
          <p:spPr bwMode="auto">
            <a:xfrm>
              <a:off x="4149725" y="4233880"/>
              <a:ext cx="746125" cy="509588"/>
            </a:xfrm>
            <a:prstGeom prst="bentConnector2">
              <a:avLst/>
            </a:prstGeom>
            <a:noFill/>
            <a:ln w="38100">
              <a:solidFill>
                <a:srgbClr val="FF0000"/>
              </a:solidFill>
              <a:prstDash val="dash"/>
              <a:miter lim="800000"/>
              <a:headEnd/>
              <a:tailEnd/>
            </a:ln>
          </p:spPr>
        </p:cxnSp>
        <p:sp>
          <p:nvSpPr>
            <p:cNvPr id="12" name="Text Box 14"/>
            <p:cNvSpPr txBox="1">
              <a:spLocks noChangeArrowheads="1"/>
            </p:cNvSpPr>
            <p:nvPr/>
          </p:nvSpPr>
          <p:spPr bwMode="auto">
            <a:xfrm>
              <a:off x="3113136" y="4713331"/>
              <a:ext cx="431666" cy="18553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>
                <a:defRPr/>
              </a:pPr>
              <a:r>
                <a:rPr lang="en-US" altLang="zh-CN" b="1" dirty="0">
                  <a:latin typeface="+mj-lt"/>
                </a:rPr>
                <a:t>F0/0</a:t>
              </a:r>
            </a:p>
          </p:txBody>
        </p:sp>
        <p:sp>
          <p:nvSpPr>
            <p:cNvPr id="13" name="Text Box 15"/>
            <p:cNvSpPr txBox="1">
              <a:spLocks noChangeArrowheads="1"/>
            </p:cNvSpPr>
            <p:nvPr/>
          </p:nvSpPr>
          <p:spPr bwMode="auto">
            <a:xfrm>
              <a:off x="4211416" y="4878164"/>
              <a:ext cx="431666" cy="18553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>
                <a:defRPr/>
              </a:pPr>
              <a:r>
                <a:rPr lang="en-US" altLang="zh-CN" b="1">
                  <a:latin typeface="+mj-lt"/>
                </a:rPr>
                <a:t>F0/1</a:t>
              </a:r>
            </a:p>
          </p:txBody>
        </p:sp>
      </p:grpSp>
      <p:sp>
        <p:nvSpPr>
          <p:cNvPr id="29714" name="AutoShape 18"/>
          <p:cNvSpPr>
            <a:spLocks noChangeArrowheads="1"/>
          </p:cNvSpPr>
          <p:nvPr/>
        </p:nvSpPr>
        <p:spPr bwMode="auto">
          <a:xfrm rot="16200000">
            <a:off x="3588545" y="4007645"/>
            <a:ext cx="714375" cy="842963"/>
          </a:xfrm>
          <a:prstGeom prst="lef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3399FF"/>
              </a:gs>
              <a:gs pos="100000">
                <a:schemeClr val="bg1"/>
              </a:gs>
            </a:gsLst>
            <a:lin ang="5400000" scaled="1"/>
          </a:gradFill>
          <a:ln w="12700" cap="rnd" algn="ctr">
            <a:solidFill>
              <a:srgbClr val="3399FF"/>
            </a:solidFill>
            <a:miter lim="800000"/>
            <a:headEnd/>
            <a:tailEnd/>
          </a:ln>
          <a:effectLst>
            <a:outerShdw dist="71842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29715" name="AutoShape 19"/>
          <p:cNvSpPr>
            <a:spLocks noChangeArrowheads="1"/>
          </p:cNvSpPr>
          <p:nvPr/>
        </p:nvSpPr>
        <p:spPr bwMode="auto">
          <a:xfrm rot="16200000">
            <a:off x="7483476" y="3970339"/>
            <a:ext cx="715963" cy="776287"/>
          </a:xfrm>
          <a:prstGeom prst="lef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3399FF"/>
              </a:gs>
              <a:gs pos="100000">
                <a:schemeClr val="bg1"/>
              </a:gs>
            </a:gsLst>
            <a:lin ang="5400000" scaled="1"/>
          </a:gradFill>
          <a:ln w="12700" cap="rnd" algn="ctr">
            <a:solidFill>
              <a:srgbClr val="3399FF"/>
            </a:solidFill>
            <a:miter lim="800000"/>
            <a:headEnd/>
            <a:tailEnd/>
          </a:ln>
          <a:effectLst>
            <a:outerShdw dist="71842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9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 animBg="1"/>
      <p:bldP spid="29699" grpId="0" animBg="1"/>
      <p:bldP spid="29699" grpId="1" animBg="1"/>
      <p:bldP spid="29714" grpId="0" animBg="1"/>
      <p:bldP spid="29714" grpId="1" animBg="1"/>
      <p:bldP spid="2971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内容占位符 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查看接口状态</a:t>
            </a:r>
            <a:endParaRPr lang="en-US" altLang="zh-CN"/>
          </a:p>
          <a:p>
            <a:pPr>
              <a:spcBef>
                <a:spcPts val="6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物理层“</a:t>
            </a:r>
            <a:r>
              <a:rPr lang="en-US" altLang="zh-CN"/>
              <a:t>up</a:t>
            </a:r>
            <a:r>
              <a:rPr lang="zh-CN" altLang="en-US"/>
              <a:t>”，数据链路层“</a:t>
            </a:r>
            <a:r>
              <a:rPr lang="en-US" altLang="zh-CN"/>
              <a:t>up</a:t>
            </a:r>
            <a:r>
              <a:rPr lang="zh-CN" altLang="en-US"/>
              <a:t>”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物理层“</a:t>
            </a:r>
            <a:r>
              <a:rPr lang="en-US" altLang="zh-CN"/>
              <a:t>down</a:t>
            </a:r>
            <a:r>
              <a:rPr lang="zh-CN" altLang="en-US"/>
              <a:t>”，数据链路层“</a:t>
            </a:r>
            <a:r>
              <a:rPr lang="en-US" altLang="zh-CN"/>
              <a:t>down</a:t>
            </a:r>
            <a:r>
              <a:rPr lang="zh-CN" altLang="en-US"/>
              <a:t>”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物理层“</a:t>
            </a:r>
            <a:r>
              <a:rPr lang="en-US" altLang="zh-CN"/>
              <a:t>administratively down</a:t>
            </a:r>
            <a:r>
              <a:rPr lang="zh-CN" altLang="en-US"/>
              <a:t>”，数据链路层状态“</a:t>
            </a:r>
            <a:r>
              <a:rPr lang="en-US" altLang="zh-CN"/>
              <a:t>down</a:t>
            </a:r>
            <a:r>
              <a:rPr lang="zh-CN" altLang="en-US"/>
              <a:t>”</a:t>
            </a: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配置</a:t>
            </a:r>
            <a:r>
              <a:rPr lang="en-US" altLang="zh-CN"/>
              <a:t>IP</a:t>
            </a:r>
            <a:r>
              <a:rPr lang="zh-CN" altLang="en-US"/>
              <a:t>地址实现通信</a:t>
            </a:r>
            <a:r>
              <a:rPr lang="en-US" altLang="zh-CN"/>
              <a:t>3-3</a:t>
            </a:r>
          </a:p>
        </p:txBody>
      </p:sp>
      <p:sp>
        <p:nvSpPr>
          <p:cNvPr id="25604" name="AutoShape 8"/>
          <p:cNvSpPr>
            <a:spLocks noChangeArrowheads="1"/>
          </p:cNvSpPr>
          <p:nvPr/>
        </p:nvSpPr>
        <p:spPr bwMode="auto">
          <a:xfrm>
            <a:off x="2024063" y="1643063"/>
            <a:ext cx="7929562" cy="1928812"/>
          </a:xfrm>
          <a:prstGeom prst="roundRect">
            <a:avLst>
              <a:gd name="adj" fmla="val 11194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r>
              <a:rPr lang="en-US" altLang="zh-CN" b="1">
                <a:solidFill>
                  <a:schemeClr val="tx2"/>
                </a:solidFill>
              </a:rPr>
              <a:t>Sw1#show int f0/1</a:t>
            </a:r>
            <a:endParaRPr lang="zh-CN" altLang="en-US" b="1">
              <a:solidFill>
                <a:schemeClr val="tx2"/>
              </a:solidFill>
            </a:endParaRPr>
          </a:p>
          <a:p>
            <a:r>
              <a:rPr lang="en-US" altLang="zh-CN" b="1">
                <a:solidFill>
                  <a:schemeClr val="tx2"/>
                </a:solidFill>
              </a:rPr>
              <a:t>FastEthernet0/1 is up, line protocol is up (connected)</a:t>
            </a:r>
            <a:endParaRPr lang="zh-CN" altLang="en-US" b="1">
              <a:solidFill>
                <a:schemeClr val="tx2"/>
              </a:solidFill>
            </a:endParaRPr>
          </a:p>
          <a:p>
            <a:r>
              <a:rPr lang="en-US" altLang="zh-CN" b="1">
                <a:solidFill>
                  <a:schemeClr val="tx2"/>
                </a:solidFill>
              </a:rPr>
              <a:t>  Hardware is Fast Ethernet, address is cc00.06c8.f007 (bia cc00.06c8.f007)</a:t>
            </a:r>
            <a:endParaRPr lang="zh-CN" altLang="en-US" b="1">
              <a:solidFill>
                <a:schemeClr val="tx2"/>
              </a:solidFill>
            </a:endParaRPr>
          </a:p>
          <a:p>
            <a:r>
              <a:rPr lang="en-US" altLang="zh-CN" b="1">
                <a:solidFill>
                  <a:schemeClr val="tx2"/>
                </a:solidFill>
              </a:rPr>
              <a:t>  MTU 1500 bytes, BW 100000 Kbit, DLY 100 usec,</a:t>
            </a:r>
            <a:endParaRPr lang="zh-CN" altLang="en-US" b="1">
              <a:solidFill>
                <a:schemeClr val="tx2"/>
              </a:solidFill>
            </a:endParaRPr>
          </a:p>
          <a:p>
            <a:r>
              <a:rPr lang="en-US" altLang="zh-CN" b="1">
                <a:solidFill>
                  <a:schemeClr val="tx2"/>
                </a:solidFill>
              </a:rPr>
              <a:t>     reliability 255/255, txload 1/255, rxload 1/255</a:t>
            </a:r>
            <a:endParaRPr lang="zh-CN" altLang="en-US" b="1">
              <a:solidFill>
                <a:schemeClr val="tx2"/>
              </a:solidFill>
            </a:endParaRPr>
          </a:p>
        </p:txBody>
      </p:sp>
      <p:grpSp>
        <p:nvGrpSpPr>
          <p:cNvPr id="2" name="组合 7"/>
          <p:cNvGrpSpPr>
            <a:grpSpLocks/>
          </p:cNvGrpSpPr>
          <p:nvPr/>
        </p:nvGrpSpPr>
        <p:grpSpPr bwMode="auto">
          <a:xfrm>
            <a:off x="5595938" y="3500439"/>
            <a:ext cx="4214812" cy="2638425"/>
            <a:chOff x="4071938" y="3500438"/>
            <a:chExt cx="4214812" cy="2638425"/>
          </a:xfrm>
        </p:grpSpPr>
        <p:pic>
          <p:nvPicPr>
            <p:cNvPr id="25606" name="Picture 5" descr="C:\Documents and Settings\jianning.chen\桌面\提问人副本.gif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6572250" y="4071938"/>
              <a:ext cx="1714500" cy="20669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椭圆形标注 6"/>
            <p:cNvSpPr/>
            <p:nvPr/>
          </p:nvSpPr>
          <p:spPr bwMode="auto">
            <a:xfrm>
              <a:off x="4071938" y="3500438"/>
              <a:ext cx="3071812" cy="1357312"/>
            </a:xfrm>
            <a:prstGeom prst="wedgeEllipseCallout">
              <a:avLst>
                <a:gd name="adj1" fmla="val 39708"/>
                <a:gd name="adj2" fmla="val 69783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5000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3500000" scaled="1"/>
              <a:tileRect/>
            </a:gradFill>
            <a:ln w="9525" algn="ctr">
              <a:solidFill>
                <a:srgbClr val="00B050"/>
              </a:solidFill>
              <a:miter lim="800000"/>
              <a:headEnd/>
              <a:tailEnd/>
            </a:ln>
            <a:effectLst/>
          </p:spPr>
          <p:txBody>
            <a:bodyPr anchor="ctr" anchorCtr="1"/>
            <a:lstStyle/>
            <a:p>
              <a:pPr algn="ctr">
                <a:defRPr/>
              </a:pPr>
              <a:r>
                <a:rPr lang="en-US" altLang="en-US" sz="2000" b="1" dirty="0" err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两端的接口状态都是“up”就一定能ping通吗</a:t>
              </a:r>
              <a:r>
                <a:rPr lang="en-US" altLang="en-US" sz="20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？</a:t>
              </a:r>
              <a:endParaRPr lang="zh-CN" altLang="en-US" sz="20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Line 10"/>
          <p:cNvSpPr>
            <a:spLocks noChangeShapeType="1"/>
          </p:cNvSpPr>
          <p:nvPr/>
        </p:nvSpPr>
        <p:spPr bwMode="auto">
          <a:xfrm>
            <a:off x="4238625" y="5457825"/>
            <a:ext cx="2439988" cy="25400"/>
          </a:xfrm>
          <a:prstGeom prst="line">
            <a:avLst/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294" name="Line 16"/>
          <p:cNvSpPr>
            <a:spLocks noChangeShapeType="1"/>
          </p:cNvSpPr>
          <p:nvPr/>
        </p:nvSpPr>
        <p:spPr bwMode="auto">
          <a:xfrm>
            <a:off x="6656389" y="1550988"/>
            <a:ext cx="358775" cy="0"/>
          </a:xfrm>
          <a:prstGeom prst="line">
            <a:avLst/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299" name="Line 10"/>
          <p:cNvSpPr>
            <a:spLocks noChangeShapeType="1"/>
          </p:cNvSpPr>
          <p:nvPr/>
        </p:nvSpPr>
        <p:spPr bwMode="auto">
          <a:xfrm>
            <a:off x="4227514" y="3732213"/>
            <a:ext cx="2439987" cy="25400"/>
          </a:xfrm>
          <a:prstGeom prst="line">
            <a:avLst/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300" name="Line 10"/>
          <p:cNvSpPr>
            <a:spLocks noChangeShapeType="1"/>
          </p:cNvSpPr>
          <p:nvPr/>
        </p:nvSpPr>
        <p:spPr bwMode="auto">
          <a:xfrm>
            <a:off x="3806825" y="3727450"/>
            <a:ext cx="431800" cy="0"/>
          </a:xfrm>
          <a:prstGeom prst="line">
            <a:avLst/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307" name="Line 14"/>
          <p:cNvSpPr>
            <a:spLocks noChangeShapeType="1"/>
          </p:cNvSpPr>
          <p:nvPr/>
        </p:nvSpPr>
        <p:spPr bwMode="auto">
          <a:xfrm>
            <a:off x="6667500" y="1547813"/>
            <a:ext cx="0" cy="952500"/>
          </a:xfrm>
          <a:prstGeom prst="line">
            <a:avLst/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311" name="AutoShape 4"/>
          <p:cNvSpPr>
            <a:spLocks noChangeArrowheads="1"/>
          </p:cNvSpPr>
          <p:nvPr/>
        </p:nvSpPr>
        <p:spPr bwMode="auto">
          <a:xfrm>
            <a:off x="1820848" y="3436738"/>
            <a:ext cx="2132012" cy="374571"/>
          </a:xfrm>
          <a:prstGeom prst="roundRect">
            <a:avLst>
              <a:gd name="adj" fmla="val 16667"/>
            </a:avLst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IP</a:t>
            </a: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地址的概述与应用</a:t>
            </a:r>
          </a:p>
        </p:txBody>
      </p:sp>
      <p:sp>
        <p:nvSpPr>
          <p:cNvPr id="12314" name="Line 36"/>
          <p:cNvSpPr>
            <a:spLocks noChangeShapeType="1"/>
          </p:cNvSpPr>
          <p:nvPr/>
        </p:nvSpPr>
        <p:spPr bwMode="auto">
          <a:xfrm>
            <a:off x="4238625" y="2060576"/>
            <a:ext cx="0" cy="3421063"/>
          </a:xfrm>
          <a:prstGeom prst="line">
            <a:avLst/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317" name="AutoShape 11"/>
          <p:cNvSpPr>
            <a:spLocks noChangeArrowheads="1"/>
          </p:cNvSpPr>
          <p:nvPr/>
        </p:nvSpPr>
        <p:spPr bwMode="auto">
          <a:xfrm>
            <a:off x="6988175" y="1357299"/>
            <a:ext cx="2700338" cy="374571"/>
          </a:xfrm>
          <a:prstGeom prst="roundRect">
            <a:avLst>
              <a:gd name="adj" fmla="val 16667"/>
            </a:avLst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IP</a:t>
            </a:r>
            <a:r>
              <a:rPr lang="zh-CN" altLang="en-US" sz="1600" b="1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地址的定义及分类</a:t>
            </a:r>
            <a:endParaRPr lang="en-US" altLang="zh-CN" sz="1600" b="1" dirty="0">
              <a:solidFill>
                <a:srgbClr val="FF0000"/>
              </a:solidFill>
              <a:latin typeface="Arial" pitchFamily="34" charset="0"/>
              <a:ea typeface="楷体_GB2312" pitchFamily="49" charset="-122"/>
            </a:endParaRPr>
          </a:p>
        </p:txBody>
      </p:sp>
      <p:sp>
        <p:nvSpPr>
          <p:cNvPr id="12318" name="AutoShape 11"/>
          <p:cNvSpPr>
            <a:spLocks noChangeArrowheads="1"/>
          </p:cNvSpPr>
          <p:nvPr/>
        </p:nvSpPr>
        <p:spPr bwMode="auto">
          <a:xfrm>
            <a:off x="6988175" y="2291282"/>
            <a:ext cx="2700338" cy="374571"/>
          </a:xfrm>
          <a:prstGeom prst="roundRect">
            <a:avLst>
              <a:gd name="adj" fmla="val 16667"/>
            </a:avLst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子网掩码</a:t>
            </a:r>
          </a:p>
        </p:txBody>
      </p:sp>
      <p:sp>
        <p:nvSpPr>
          <p:cNvPr id="12319" name="AutoShape 5"/>
          <p:cNvSpPr>
            <a:spLocks noChangeArrowheads="1"/>
          </p:cNvSpPr>
          <p:nvPr/>
        </p:nvSpPr>
        <p:spPr bwMode="auto">
          <a:xfrm>
            <a:off x="4485201" y="3547493"/>
            <a:ext cx="2000263" cy="374571"/>
          </a:xfrm>
          <a:prstGeom prst="roundRect">
            <a:avLst>
              <a:gd name="adj" fmla="val 16667"/>
            </a:avLst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IP</a:t>
            </a: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地址的配置</a:t>
            </a:r>
          </a:p>
        </p:txBody>
      </p:sp>
      <p:sp>
        <p:nvSpPr>
          <p:cNvPr id="40" name="Line 16"/>
          <p:cNvSpPr>
            <a:spLocks noChangeShapeType="1"/>
          </p:cNvSpPr>
          <p:nvPr/>
        </p:nvSpPr>
        <p:spPr bwMode="auto">
          <a:xfrm>
            <a:off x="6667501" y="3236913"/>
            <a:ext cx="360363" cy="0"/>
          </a:xfrm>
          <a:prstGeom prst="line">
            <a:avLst/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43" name="AutoShape 18"/>
          <p:cNvSpPr>
            <a:spLocks noChangeArrowheads="1"/>
          </p:cNvSpPr>
          <p:nvPr/>
        </p:nvSpPr>
        <p:spPr bwMode="auto">
          <a:xfrm>
            <a:off x="6992042" y="3047427"/>
            <a:ext cx="2700338" cy="374571"/>
          </a:xfrm>
          <a:prstGeom prst="roundRect">
            <a:avLst>
              <a:gd name="adj" fmla="val 16667"/>
            </a:avLst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配置主机的</a:t>
            </a:r>
            <a:r>
              <a:rPr lang="en-US" altLang="zh-CN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IP</a:t>
            </a: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地址</a:t>
            </a:r>
          </a:p>
        </p:txBody>
      </p:sp>
      <p:sp>
        <p:nvSpPr>
          <p:cNvPr id="47" name="Line 37"/>
          <p:cNvSpPr>
            <a:spLocks noChangeShapeType="1"/>
          </p:cNvSpPr>
          <p:nvPr/>
        </p:nvSpPr>
        <p:spPr bwMode="auto">
          <a:xfrm flipH="1">
            <a:off x="6667501" y="3217863"/>
            <a:ext cx="3175" cy="900112"/>
          </a:xfrm>
          <a:prstGeom prst="line">
            <a:avLst/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21" name="AutoShape 5"/>
          <p:cNvSpPr>
            <a:spLocks noChangeArrowheads="1"/>
          </p:cNvSpPr>
          <p:nvPr/>
        </p:nvSpPr>
        <p:spPr bwMode="auto">
          <a:xfrm>
            <a:off x="4465119" y="5269008"/>
            <a:ext cx="2000263" cy="374571"/>
          </a:xfrm>
          <a:prstGeom prst="roundRect">
            <a:avLst>
              <a:gd name="adj" fmla="val 16667"/>
            </a:avLst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路由器的基本配置</a:t>
            </a:r>
          </a:p>
        </p:txBody>
      </p:sp>
      <p:sp>
        <p:nvSpPr>
          <p:cNvPr id="23" name="Line 36"/>
          <p:cNvSpPr>
            <a:spLocks noChangeShapeType="1"/>
          </p:cNvSpPr>
          <p:nvPr/>
        </p:nvSpPr>
        <p:spPr bwMode="auto">
          <a:xfrm rot="16200000">
            <a:off x="5453063" y="857251"/>
            <a:ext cx="0" cy="2428875"/>
          </a:xfrm>
          <a:prstGeom prst="line">
            <a:avLst/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320" name="AutoShape 5"/>
          <p:cNvSpPr>
            <a:spLocks noChangeArrowheads="1"/>
          </p:cNvSpPr>
          <p:nvPr/>
        </p:nvSpPr>
        <p:spPr bwMode="auto">
          <a:xfrm>
            <a:off x="4481514" y="1861153"/>
            <a:ext cx="1971675" cy="374650"/>
          </a:xfrm>
          <a:prstGeom prst="roundRect">
            <a:avLst>
              <a:gd name="adj" fmla="val 16667"/>
            </a:avLst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IP</a:t>
            </a: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地址</a:t>
            </a:r>
          </a:p>
        </p:txBody>
      </p:sp>
      <p:sp>
        <p:nvSpPr>
          <p:cNvPr id="28" name="Line 16"/>
          <p:cNvSpPr>
            <a:spLocks noChangeShapeType="1"/>
          </p:cNvSpPr>
          <p:nvPr/>
        </p:nvSpPr>
        <p:spPr bwMode="auto">
          <a:xfrm>
            <a:off x="6678613" y="4117975"/>
            <a:ext cx="360362" cy="0"/>
          </a:xfrm>
          <a:prstGeom prst="line">
            <a:avLst/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31" name="Line 25"/>
          <p:cNvSpPr>
            <a:spLocks noChangeShapeType="1"/>
          </p:cNvSpPr>
          <p:nvPr/>
        </p:nvSpPr>
        <p:spPr bwMode="auto">
          <a:xfrm flipV="1">
            <a:off x="6667500" y="5983289"/>
            <a:ext cx="431800" cy="1587"/>
          </a:xfrm>
          <a:prstGeom prst="line">
            <a:avLst/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32" name="Line 16"/>
          <p:cNvSpPr>
            <a:spLocks noChangeShapeType="1"/>
          </p:cNvSpPr>
          <p:nvPr/>
        </p:nvSpPr>
        <p:spPr bwMode="auto">
          <a:xfrm>
            <a:off x="6662739" y="5000625"/>
            <a:ext cx="358775" cy="0"/>
          </a:xfrm>
          <a:prstGeom prst="line">
            <a:avLst/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33" name="Line 14"/>
          <p:cNvSpPr>
            <a:spLocks noChangeShapeType="1"/>
          </p:cNvSpPr>
          <p:nvPr/>
        </p:nvSpPr>
        <p:spPr bwMode="auto">
          <a:xfrm flipH="1">
            <a:off x="6667501" y="4989513"/>
            <a:ext cx="11113" cy="1008062"/>
          </a:xfrm>
          <a:prstGeom prst="line">
            <a:avLst/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45" name="AutoShape 28"/>
          <p:cNvSpPr>
            <a:spLocks noChangeArrowheads="1"/>
          </p:cNvSpPr>
          <p:nvPr/>
        </p:nvSpPr>
        <p:spPr bwMode="auto">
          <a:xfrm>
            <a:off x="6990422" y="3958740"/>
            <a:ext cx="2700338" cy="374571"/>
          </a:xfrm>
          <a:prstGeom prst="roundRect">
            <a:avLst>
              <a:gd name="adj" fmla="val 16667"/>
            </a:avLst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测试</a:t>
            </a:r>
            <a:r>
              <a:rPr lang="en-US" altLang="zh-CN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IP</a:t>
            </a:r>
            <a:r>
              <a:rPr lang="zh-CN" altLang="en-US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地址</a:t>
            </a:r>
          </a:p>
        </p:txBody>
      </p:sp>
      <p:sp>
        <p:nvSpPr>
          <p:cNvPr id="26" name="AutoShape 28"/>
          <p:cNvSpPr>
            <a:spLocks noChangeArrowheads="1"/>
          </p:cNvSpPr>
          <p:nvPr/>
        </p:nvSpPr>
        <p:spPr bwMode="auto">
          <a:xfrm>
            <a:off x="6987546" y="4857761"/>
            <a:ext cx="2700338" cy="374571"/>
          </a:xfrm>
          <a:prstGeom prst="roundRect">
            <a:avLst>
              <a:gd name="adj" fmla="val 16667"/>
            </a:avLst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设备配置</a:t>
            </a:r>
            <a:r>
              <a:rPr lang="zh-CN" altLang="en-US" sz="1600" b="1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的准备工作</a:t>
            </a:r>
            <a:endParaRPr lang="zh-CN" altLang="en-US" sz="1600" b="1" dirty="0">
              <a:solidFill>
                <a:srgbClr val="000000"/>
              </a:solidFill>
              <a:latin typeface="Arial" pitchFamily="34" charset="0"/>
              <a:ea typeface="楷体_GB2312" pitchFamily="49" charset="-122"/>
            </a:endParaRPr>
          </a:p>
        </p:txBody>
      </p:sp>
      <p:sp>
        <p:nvSpPr>
          <p:cNvPr id="27" name="AutoShape 28"/>
          <p:cNvSpPr>
            <a:spLocks noChangeArrowheads="1"/>
          </p:cNvSpPr>
          <p:nvPr/>
        </p:nvSpPr>
        <p:spPr bwMode="auto">
          <a:xfrm>
            <a:off x="6987546" y="5769074"/>
            <a:ext cx="2700338" cy="374571"/>
          </a:xfrm>
          <a:prstGeom prst="roundRect">
            <a:avLst>
              <a:gd name="adj" fmla="val 16667"/>
            </a:avLst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配置</a:t>
            </a:r>
            <a:r>
              <a:rPr lang="en-US" altLang="zh-CN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IP</a:t>
            </a:r>
            <a:r>
              <a:rPr lang="zh-CN" altLang="en-US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地址实现通信</a:t>
            </a:r>
          </a:p>
        </p:txBody>
      </p:sp>
      <p:sp>
        <p:nvSpPr>
          <p:cNvPr id="39" name="Line 16"/>
          <p:cNvSpPr>
            <a:spLocks noChangeShapeType="1"/>
          </p:cNvSpPr>
          <p:nvPr/>
        </p:nvSpPr>
        <p:spPr bwMode="auto">
          <a:xfrm>
            <a:off x="6667501" y="2500313"/>
            <a:ext cx="358775" cy="0"/>
          </a:xfrm>
          <a:prstGeom prst="line">
            <a:avLst/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34" name="标题 2"/>
          <p:cNvSpPr txBox="1">
            <a:spLocks/>
          </p:cNvSpPr>
          <p:nvPr/>
        </p:nvSpPr>
        <p:spPr bwMode="white">
          <a:xfrm>
            <a:off x="1748904" y="142853"/>
            <a:ext cx="8763000" cy="63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本章总结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500"/>
                                        <p:tgtEl>
                                          <p:spTgt spid="12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12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12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12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500"/>
                                        <p:tgtEl>
                                          <p:spTgt spid="12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12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12294" grpId="0" animBg="1"/>
      <p:bldP spid="12299" grpId="0" animBg="1"/>
      <p:bldP spid="12300" grpId="0" animBg="1"/>
      <p:bldP spid="12307" grpId="0" animBg="1"/>
      <p:bldP spid="12311" grpId="0" animBg="1"/>
      <p:bldP spid="12314" grpId="0" animBg="1"/>
      <p:bldP spid="12317" grpId="0" animBg="1"/>
      <p:bldP spid="12318" grpId="0" animBg="1"/>
      <p:bldP spid="12319" grpId="0" animBg="1"/>
      <p:bldP spid="40" grpId="0" animBg="1"/>
      <p:bldP spid="43" grpId="0" animBg="1"/>
      <p:bldP spid="47" grpId="0" animBg="1"/>
      <p:bldP spid="21" grpId="0" animBg="1"/>
      <p:bldP spid="23" grpId="0" animBg="1"/>
      <p:bldP spid="12320" grpId="0" animBg="1"/>
      <p:bldP spid="28" grpId="0" animBg="1"/>
      <p:bldP spid="31" grpId="0" animBg="1"/>
      <p:bldP spid="32" grpId="0" animBg="1"/>
      <p:bldP spid="33" grpId="0" animBg="1"/>
      <p:bldP spid="45" grpId="0" animBg="1"/>
      <p:bldP spid="26" grpId="0" animBg="1"/>
      <p:bldP spid="27" grpId="0" animBg="1"/>
      <p:bldP spid="3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146051"/>
            <a:ext cx="8763000" cy="639763"/>
          </a:xfrm>
        </p:spPr>
        <p:txBody>
          <a:bodyPr/>
          <a:lstStyle/>
          <a:p>
            <a:pPr>
              <a:defRPr/>
            </a:pP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课堂练习</a:t>
            </a:r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3809985" y="2643190"/>
            <a:ext cx="4291013" cy="928687"/>
          </a:xfrm>
          <a:prstGeom prst="roundRect">
            <a:avLst>
              <a:gd name="adj" fmla="val 5982"/>
            </a:avLst>
          </a:prstGeom>
          <a:solidFill>
            <a:srgbClr val="FFB793"/>
          </a:solidFill>
          <a:ln w="9525" algn="ctr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 anchorCtr="1"/>
          <a:lstStyle/>
          <a:p>
            <a:pPr>
              <a:defRPr/>
            </a:pPr>
            <a:r>
              <a:rPr lang="zh-CN" altLang="en-US" sz="2800" b="1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课堂练习提问与讲解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52600" y="146051"/>
            <a:ext cx="8763000" cy="639763"/>
          </a:xfrm>
        </p:spPr>
        <p:txBody>
          <a:bodyPr/>
          <a:lstStyle/>
          <a:p>
            <a:pPr>
              <a:defRPr/>
            </a:pP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作业</a:t>
            </a:r>
          </a:p>
        </p:txBody>
      </p:sp>
      <p:sp>
        <p:nvSpPr>
          <p:cNvPr id="56323" name="内容占位符 2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课后作业</a:t>
            </a:r>
          </a:p>
          <a:p>
            <a:pPr lvl="1">
              <a:spcBef>
                <a:spcPts val="475"/>
              </a:spcBef>
            </a:pPr>
            <a:r>
              <a:rPr lang="zh-CN" altLang="en-US">
                <a:solidFill>
                  <a:srgbClr val="FF0000"/>
                </a:solidFill>
              </a:rPr>
              <a:t>必做</a:t>
            </a:r>
            <a:endParaRPr lang="en-US" altLang="zh-CN">
              <a:solidFill>
                <a:srgbClr val="FF0000"/>
              </a:solidFill>
            </a:endParaRPr>
          </a:p>
          <a:p>
            <a:pPr lvl="2">
              <a:spcBef>
                <a:spcPts val="475"/>
              </a:spcBef>
            </a:pPr>
            <a:r>
              <a:rPr lang="zh-CN" altLang="en-US">
                <a:solidFill>
                  <a:srgbClr val="FF0000"/>
                </a:solidFill>
              </a:rPr>
              <a:t>教员填写</a:t>
            </a:r>
            <a:endParaRPr lang="en-US" altLang="zh-CN">
              <a:solidFill>
                <a:srgbClr val="FF0000"/>
              </a:solidFill>
            </a:endParaRPr>
          </a:p>
          <a:p>
            <a:pPr lvl="1">
              <a:spcBef>
                <a:spcPts val="475"/>
              </a:spcBef>
            </a:pPr>
            <a:endParaRPr lang="en-US" altLang="zh-CN">
              <a:solidFill>
                <a:srgbClr val="FF0000"/>
              </a:solidFill>
            </a:endParaRPr>
          </a:p>
          <a:p>
            <a:pPr lvl="1">
              <a:spcBef>
                <a:spcPts val="475"/>
              </a:spcBef>
            </a:pPr>
            <a:r>
              <a:rPr lang="zh-CN" altLang="en-US">
                <a:solidFill>
                  <a:srgbClr val="FF0000"/>
                </a:solidFill>
              </a:rPr>
              <a:t>选做</a:t>
            </a:r>
            <a:endParaRPr lang="en-US" altLang="zh-CN">
              <a:solidFill>
                <a:srgbClr val="FF0000"/>
              </a:solidFill>
            </a:endParaRPr>
          </a:p>
          <a:p>
            <a:pPr lvl="2">
              <a:spcBef>
                <a:spcPts val="475"/>
              </a:spcBef>
            </a:pPr>
            <a:r>
              <a:rPr lang="zh-CN" altLang="en-US">
                <a:solidFill>
                  <a:srgbClr val="FF0000"/>
                </a:solidFill>
              </a:rPr>
              <a:t>教员填写</a:t>
            </a:r>
            <a:endParaRPr lang="en-US" altLang="zh-CN">
              <a:solidFill>
                <a:srgbClr val="FF0000"/>
              </a:solidFill>
            </a:endParaRPr>
          </a:p>
          <a:p>
            <a:pPr lvl="2">
              <a:spcBef>
                <a:spcPts val="475"/>
              </a:spcBef>
            </a:pPr>
            <a:endParaRPr lang="en-US" altLang="zh-CN">
              <a:solidFill>
                <a:srgbClr val="FF0000"/>
              </a:solidFill>
            </a:endParaRPr>
          </a:p>
          <a:p>
            <a:pPr lvl="1">
              <a:spcBef>
                <a:spcPts val="475"/>
              </a:spcBef>
            </a:pPr>
            <a:endParaRPr lang="en-US" altLang="zh-CN">
              <a:solidFill>
                <a:srgbClr val="FF0000"/>
              </a:solidFill>
            </a:endParaRPr>
          </a:p>
          <a:p>
            <a:pPr lvl="1">
              <a:spcBef>
                <a:spcPts val="475"/>
              </a:spcBef>
            </a:pPr>
            <a:endParaRPr lang="en-US" altLang="zh-CN">
              <a:solidFill>
                <a:srgbClr val="FF0000"/>
              </a:solidFill>
            </a:endParaRPr>
          </a:p>
          <a:p>
            <a:pPr lvl="1">
              <a:spcBef>
                <a:spcPts val="475"/>
              </a:spcBef>
            </a:pP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56324" name="矩形 3"/>
          <p:cNvSpPr>
            <a:spLocks noChangeArrowheads="1"/>
          </p:cNvSpPr>
          <p:nvPr/>
        </p:nvSpPr>
        <p:spPr bwMode="auto">
          <a:xfrm>
            <a:off x="2309814" y="5072063"/>
            <a:ext cx="7500937" cy="646112"/>
          </a:xfrm>
          <a:prstGeom prst="rect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lvl="1"/>
            <a:r>
              <a:rPr lang="zh-CN" altLang="en-US">
                <a:solidFill>
                  <a:srgbClr val="FF0000"/>
                </a:solidFill>
              </a:rPr>
              <a:t>教员备课时根据班级情况在此添加内容，应区分必做、选做内容，以满足不同层次学员的需求</a:t>
            </a:r>
            <a:endParaRPr lang="en-US" altLang="zh-CN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内容占位符 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4286264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 dirty="0"/>
              <a:t>预习作业</a:t>
            </a:r>
            <a:endParaRPr lang="en-US" altLang="zh-CN" dirty="0"/>
          </a:p>
          <a:p>
            <a:pPr lvl="1">
              <a:spcBef>
                <a:spcPts val="475"/>
              </a:spcBef>
            </a:pPr>
            <a:r>
              <a:rPr lang="zh-CN" altLang="en-US" dirty="0"/>
              <a:t>预习目标</a:t>
            </a:r>
            <a:endParaRPr lang="en-US" altLang="zh-CN" dirty="0"/>
          </a:p>
          <a:p>
            <a:pPr lvl="2"/>
            <a:r>
              <a:rPr lang="zh-CN" altLang="en-US"/>
              <a:t>了解数据包格式</a:t>
            </a:r>
          </a:p>
          <a:p>
            <a:pPr lvl="2"/>
            <a:r>
              <a:rPr lang="zh-CN" altLang="en-US"/>
              <a:t>理解</a:t>
            </a:r>
            <a:r>
              <a:rPr lang="en-US" altLang="zh-CN"/>
              <a:t>ARP</a:t>
            </a:r>
            <a:r>
              <a:rPr lang="zh-CN" altLang="en-US"/>
              <a:t>协议原理</a:t>
            </a:r>
          </a:p>
          <a:p>
            <a:pPr lvl="2"/>
            <a:r>
              <a:rPr lang="zh-CN" altLang="en-US"/>
              <a:t>理解</a:t>
            </a:r>
            <a:r>
              <a:rPr lang="en-US" altLang="zh-CN"/>
              <a:t>ICMP</a:t>
            </a:r>
            <a:r>
              <a:rPr lang="zh-CN" altLang="en-US"/>
              <a:t>协议原理</a:t>
            </a:r>
          </a:p>
          <a:p>
            <a:pPr lvl="2">
              <a:spcBef>
                <a:spcPct val="0"/>
              </a:spcBef>
              <a:buNone/>
            </a:pPr>
            <a:endParaRPr lang="en-US" altLang="zh-CN" dirty="0">
              <a:solidFill>
                <a:srgbClr val="FF0000"/>
              </a:solidFill>
            </a:endParaRPr>
          </a:p>
          <a:p>
            <a:pPr lvl="1">
              <a:spcBef>
                <a:spcPts val="475"/>
              </a:spcBef>
            </a:pPr>
            <a:r>
              <a:rPr lang="zh-CN" altLang="en-US" dirty="0"/>
              <a:t>预习下一章学生用书，完成预习作业</a:t>
            </a:r>
            <a:endParaRPr lang="en-US" altLang="zh-CN" dirty="0"/>
          </a:p>
          <a:p>
            <a:pPr lvl="2">
              <a:spcBef>
                <a:spcPts val="675"/>
              </a:spcBef>
            </a:pPr>
            <a:r>
              <a:rPr lang="en-US" altLang="zh-CN"/>
              <a:t>ARP</a:t>
            </a:r>
            <a:r>
              <a:rPr lang="zh-CN" altLang="en-US"/>
              <a:t>协议的作用是什么？</a:t>
            </a:r>
            <a:endParaRPr lang="en-US" altLang="zh-CN" dirty="0"/>
          </a:p>
          <a:p>
            <a:pPr lvl="2">
              <a:spcBef>
                <a:spcPts val="675"/>
              </a:spcBef>
            </a:pPr>
            <a:endParaRPr lang="zh-CN" altLang="en-US" dirty="0"/>
          </a:p>
          <a:p>
            <a:pPr>
              <a:spcBef>
                <a:spcPts val="675"/>
              </a:spcBef>
            </a:pPr>
            <a:endParaRPr lang="zh-CN" altLang="en-US" dirty="0"/>
          </a:p>
        </p:txBody>
      </p:sp>
      <p:sp>
        <p:nvSpPr>
          <p:cNvPr id="57347" name="标题 2"/>
          <p:cNvSpPr>
            <a:spLocks noGrp="1"/>
          </p:cNvSpPr>
          <p:nvPr>
            <p:ph type="title"/>
          </p:nvPr>
        </p:nvSpPr>
        <p:spPr>
          <a:xfrm>
            <a:off x="1752600" y="146051"/>
            <a:ext cx="8763000" cy="639763"/>
          </a:xfrm>
        </p:spPr>
        <p:txBody>
          <a:bodyPr/>
          <a:lstStyle/>
          <a:p>
            <a:r>
              <a:rPr lang="zh-CN" altLang="en-US"/>
              <a:t>作业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内容占位符 1"/>
          <p:cNvSpPr>
            <a:spLocks noGrp="1"/>
          </p:cNvSpPr>
          <p:nvPr>
            <p:ph idx="1"/>
          </p:nvPr>
        </p:nvSpPr>
        <p:spPr>
          <a:xfrm>
            <a:off x="1738313" y="1143000"/>
            <a:ext cx="8572500" cy="3929074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两台直连主机的</a:t>
            </a:r>
            <a:r>
              <a:rPr lang="en-US" altLang="zh-CN"/>
              <a:t>IP</a:t>
            </a:r>
            <a:r>
              <a:rPr lang="zh-CN" altLang="en-US"/>
              <a:t>地址分别配置为</a:t>
            </a:r>
            <a:r>
              <a:rPr lang="en-US" altLang="zh-CN"/>
              <a:t>172.16.10.5</a:t>
            </a:r>
            <a:r>
              <a:rPr lang="zh-CN" altLang="en-US"/>
              <a:t>、</a:t>
            </a:r>
            <a:r>
              <a:rPr lang="en-US" altLang="zh-CN"/>
              <a:t>172.16.1.6</a:t>
            </a:r>
            <a:r>
              <a:rPr lang="zh-CN" altLang="en-US"/>
              <a:t>，它们可以通信吗？</a:t>
            </a:r>
            <a:endParaRPr lang="en-US" altLang="zh-CN"/>
          </a:p>
          <a:p>
            <a:pPr>
              <a:spcBef>
                <a:spcPts val="675"/>
              </a:spcBef>
            </a:pPr>
            <a:r>
              <a:rPr lang="zh-CN" altLang="en-US"/>
              <a:t>私网地址包括哪些网段？</a:t>
            </a:r>
            <a:endParaRPr lang="en-US" altLang="zh-CN"/>
          </a:p>
          <a:p>
            <a:pPr>
              <a:spcBef>
                <a:spcPts val="675"/>
              </a:spcBef>
            </a:pPr>
            <a:r>
              <a:rPr lang="zh-CN" altLang="en-US"/>
              <a:t>查看路由器接口状态的命令是什么？</a:t>
            </a:r>
            <a:endParaRPr lang="en-US" altLang="zh-CN"/>
          </a:p>
        </p:txBody>
      </p:sp>
      <p:sp>
        <p:nvSpPr>
          <p:cNvPr id="36867" name="标题 2"/>
          <p:cNvSpPr>
            <a:spLocks noGrp="1"/>
          </p:cNvSpPr>
          <p:nvPr>
            <p:ph type="title"/>
          </p:nvPr>
        </p:nvSpPr>
        <p:spPr>
          <a:xfrm>
            <a:off x="1752600" y="146051"/>
            <a:ext cx="8763000" cy="639763"/>
          </a:xfrm>
        </p:spPr>
        <p:txBody>
          <a:bodyPr/>
          <a:lstStyle/>
          <a:p>
            <a:r>
              <a:rPr lang="zh-CN" altLang="en-US"/>
              <a:t>考题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标题 6"/>
          <p:cNvSpPr>
            <a:spLocks noGrp="1"/>
          </p:cNvSpPr>
          <p:nvPr>
            <p:ph type="title" idx="4294967295"/>
          </p:nvPr>
        </p:nvSpPr>
        <p:spPr>
          <a:xfrm>
            <a:off x="3605213" y="1717675"/>
            <a:ext cx="6919912" cy="711200"/>
          </a:xfrm>
        </p:spPr>
        <p:txBody>
          <a:bodyPr/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</a:rPr>
              <a:t>第六章</a:t>
            </a:r>
            <a:r>
              <a:rPr lang="en-US" altLang="zh-CN" sz="2800" dirty="0">
                <a:solidFill>
                  <a:schemeClr val="bg1"/>
                </a:solidFill>
              </a:rPr>
              <a:t> IP</a:t>
            </a:r>
            <a:r>
              <a:rPr lang="zh-CN" altLang="en-US" sz="2800" dirty="0">
                <a:solidFill>
                  <a:schemeClr val="bg1"/>
                </a:solidFill>
              </a:rPr>
              <a:t>地址概述与应用</a:t>
            </a:r>
          </a:p>
        </p:txBody>
      </p:sp>
      <p:sp>
        <p:nvSpPr>
          <p:cNvPr id="59395" name="副标题 7"/>
          <p:cNvSpPr>
            <a:spLocks noGrp="1"/>
          </p:cNvSpPr>
          <p:nvPr>
            <p:ph type="subTitle" idx="4294967295"/>
          </p:nvPr>
        </p:nvSpPr>
        <p:spPr>
          <a:xfrm>
            <a:off x="7610476" y="2500313"/>
            <a:ext cx="5629275" cy="6096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/>
              <a:t>—— </a:t>
            </a:r>
            <a:r>
              <a:rPr lang="zh-CN" altLang="en-US"/>
              <a:t>实验部分</a:t>
            </a:r>
          </a:p>
          <a:p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内容占位符 38"/>
          <p:cNvSpPr>
            <a:spLocks noGrp="1"/>
          </p:cNvSpPr>
          <p:nvPr>
            <p:ph idx="1"/>
          </p:nvPr>
        </p:nvSpPr>
        <p:spPr>
          <a:xfrm>
            <a:off x="1738313" y="1143001"/>
            <a:ext cx="8501062" cy="1928813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需求描述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为两台主机配置</a:t>
            </a:r>
            <a:r>
              <a:rPr lang="en-US" altLang="zh-CN"/>
              <a:t>IP</a:t>
            </a:r>
            <a:r>
              <a:rPr lang="zh-CN" altLang="en-US"/>
              <a:t>地址，验证</a:t>
            </a:r>
            <a:r>
              <a:rPr lang="en-US" altLang="zh-CN"/>
              <a:t>IP</a:t>
            </a:r>
            <a:r>
              <a:rPr lang="zh-CN" altLang="en-US"/>
              <a:t>地址是否生效，验证同一网段的两台主机可以互通，不同网段的主机不能直接互通</a:t>
            </a: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itchFamily="2" charset="-122"/>
              </a:rPr>
              <a:t>实验一：</a:t>
            </a:r>
            <a:r>
              <a:rPr lang="zh-CN" altLang="en-US" dirty="0"/>
              <a:t>配置</a:t>
            </a:r>
            <a:r>
              <a:rPr lang="en-US" altLang="zh-CN" dirty="0"/>
              <a:t>IP</a:t>
            </a:r>
            <a:r>
              <a:rPr lang="zh-CN" altLang="en-US" dirty="0"/>
              <a:t>地址并验证连通性</a:t>
            </a:r>
            <a:r>
              <a:rPr lang="en-US" altLang="zh-CN" dirty="0"/>
              <a:t>2-1</a:t>
            </a:r>
            <a:endParaRPr lang="en-US" altLang="zh-CN" dirty="0">
              <a:latin typeface="黑体" pitchFamily="2" charset="-122"/>
            </a:endParaRPr>
          </a:p>
        </p:txBody>
      </p:sp>
      <p:cxnSp>
        <p:nvCxnSpPr>
          <p:cNvPr id="28676" name="AutoShape 7"/>
          <p:cNvCxnSpPr>
            <a:cxnSpLocks noChangeShapeType="1"/>
          </p:cNvCxnSpPr>
          <p:nvPr/>
        </p:nvCxnSpPr>
        <p:spPr bwMode="auto">
          <a:xfrm>
            <a:off x="3738563" y="4071939"/>
            <a:ext cx="4500562" cy="1587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</p:spPr>
      </p:cxnSp>
      <p:pic>
        <p:nvPicPr>
          <p:cNvPr id="28677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0" y="3571875"/>
            <a:ext cx="979488" cy="928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 Box 14"/>
          <p:cNvSpPr txBox="1">
            <a:spLocks noChangeArrowheads="1"/>
          </p:cNvSpPr>
          <p:nvPr/>
        </p:nvSpPr>
        <p:spPr bwMode="auto">
          <a:xfrm>
            <a:off x="3381376" y="4500563"/>
            <a:ext cx="860425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chemeClr val="tx2"/>
                </a:solidFill>
                <a:latin typeface="+mj-lt"/>
              </a:rPr>
              <a:t>主机</a:t>
            </a:r>
            <a:r>
              <a:rPr lang="en-US" altLang="zh-CN" b="1">
                <a:solidFill>
                  <a:schemeClr val="tx2"/>
                </a:solidFill>
                <a:latin typeface="+mj-lt"/>
              </a:rPr>
              <a:t>A</a:t>
            </a:r>
            <a:endParaRPr lang="en-US" altLang="zh-CN" b="1" dirty="0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28679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453314" y="3643314"/>
            <a:ext cx="979487" cy="928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Text Box 14"/>
          <p:cNvSpPr txBox="1">
            <a:spLocks noChangeArrowheads="1"/>
          </p:cNvSpPr>
          <p:nvPr/>
        </p:nvSpPr>
        <p:spPr bwMode="auto">
          <a:xfrm>
            <a:off x="7596189" y="4572001"/>
            <a:ext cx="860425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chemeClr val="tx2"/>
                </a:solidFill>
                <a:latin typeface="+mj-lt"/>
              </a:rPr>
              <a:t>主机</a:t>
            </a:r>
            <a:r>
              <a:rPr lang="en-US" altLang="zh-CN" b="1">
                <a:solidFill>
                  <a:schemeClr val="tx2"/>
                </a:solidFill>
                <a:latin typeface="+mj-lt"/>
              </a:rPr>
              <a:t>B</a:t>
            </a:r>
            <a:endParaRPr lang="en-US" altLang="zh-CN" b="1" dirty="0">
              <a:solidFill>
                <a:schemeClr val="tx2"/>
              </a:solidFill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内容占位符 8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实现思路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为两台主机配置</a:t>
            </a:r>
            <a:r>
              <a:rPr lang="en-US" altLang="zh-CN"/>
              <a:t>IP</a:t>
            </a:r>
            <a:r>
              <a:rPr lang="zh-CN" altLang="en-US"/>
              <a:t>地址</a:t>
            </a:r>
            <a:endParaRPr lang="en-US" altLang="zh-CN"/>
          </a:p>
          <a:p>
            <a:pPr lvl="2">
              <a:spcBef>
                <a:spcPts val="475"/>
              </a:spcBef>
            </a:pPr>
            <a:r>
              <a:rPr lang="zh-CN" altLang="en-US"/>
              <a:t>主机</a:t>
            </a:r>
            <a:r>
              <a:rPr lang="en-US" altLang="zh-CN"/>
              <a:t>A</a:t>
            </a:r>
            <a:r>
              <a:rPr lang="zh-CN" altLang="en-US"/>
              <a:t>：</a:t>
            </a:r>
            <a:r>
              <a:rPr lang="en-US" altLang="zh-CN"/>
              <a:t>10.0.10.10</a:t>
            </a:r>
            <a:r>
              <a:rPr lang="zh-CN" altLang="en-US"/>
              <a:t>，子网掩码为</a:t>
            </a:r>
            <a:r>
              <a:rPr lang="en-US" altLang="zh-CN"/>
              <a:t>255.255.0.0</a:t>
            </a:r>
          </a:p>
          <a:p>
            <a:pPr lvl="2">
              <a:spcBef>
                <a:spcPts val="475"/>
              </a:spcBef>
            </a:pPr>
            <a:r>
              <a:rPr lang="zh-CN" altLang="en-US"/>
              <a:t>主机</a:t>
            </a:r>
            <a:r>
              <a:rPr lang="en-US" altLang="zh-CN"/>
              <a:t>B</a:t>
            </a:r>
            <a:r>
              <a:rPr lang="zh-CN" altLang="en-US"/>
              <a:t>：</a:t>
            </a:r>
            <a:r>
              <a:rPr lang="en-US" altLang="zh-CN"/>
              <a:t>10.0.11.11</a:t>
            </a:r>
            <a:r>
              <a:rPr lang="zh-CN" altLang="en-US"/>
              <a:t>，子网掩码为</a:t>
            </a:r>
            <a:r>
              <a:rPr lang="en-US" altLang="zh-CN"/>
              <a:t>255.255.0.0</a:t>
            </a:r>
            <a:endParaRPr lang="zh-CN" altLang="en-US"/>
          </a:p>
          <a:p>
            <a:pPr lvl="1">
              <a:spcBef>
                <a:spcPts val="475"/>
              </a:spcBef>
            </a:pPr>
            <a:r>
              <a:rPr lang="zh-CN" altLang="en-US"/>
              <a:t>通过</a:t>
            </a:r>
            <a:r>
              <a:rPr lang="en-US" altLang="zh-CN"/>
              <a:t>ipconfig</a:t>
            </a:r>
            <a:r>
              <a:rPr lang="zh-CN" altLang="en-US"/>
              <a:t>命令验证主机</a:t>
            </a:r>
            <a:r>
              <a:rPr lang="en-US" altLang="zh-CN"/>
              <a:t>IP</a:t>
            </a:r>
            <a:r>
              <a:rPr lang="zh-CN" altLang="en-US"/>
              <a:t>是否生效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通过</a:t>
            </a:r>
            <a:r>
              <a:rPr lang="en-US" altLang="zh-CN"/>
              <a:t>ping</a:t>
            </a:r>
            <a:r>
              <a:rPr lang="zh-CN" altLang="en-US"/>
              <a:t>命令验证两台主机是否互通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将子网掩码都改为</a:t>
            </a:r>
            <a:r>
              <a:rPr lang="en-US" altLang="zh-CN"/>
              <a:t>255.255.255.0</a:t>
            </a:r>
          </a:p>
          <a:p>
            <a:pPr lvl="2">
              <a:spcBef>
                <a:spcPts val="475"/>
              </a:spcBef>
            </a:pPr>
            <a:r>
              <a:rPr lang="zh-CN" altLang="en-US"/>
              <a:t>再次使用</a:t>
            </a:r>
            <a:r>
              <a:rPr lang="en-US" altLang="zh-CN"/>
              <a:t>ipconfig</a:t>
            </a:r>
            <a:r>
              <a:rPr lang="zh-CN" altLang="en-US"/>
              <a:t>和</a:t>
            </a:r>
            <a:r>
              <a:rPr lang="en-US" altLang="zh-CN"/>
              <a:t>ping</a:t>
            </a:r>
            <a:r>
              <a:rPr lang="zh-CN" altLang="en-US"/>
              <a:t>命令测试</a:t>
            </a:r>
            <a:endParaRPr lang="en-US" altLang="zh-CN"/>
          </a:p>
          <a:p>
            <a:pPr>
              <a:spcBef>
                <a:spcPts val="675"/>
              </a:spcBef>
            </a:pPr>
            <a:r>
              <a:rPr lang="zh-CN" altLang="en-US">
                <a:latin typeface="黑体" pitchFamily="2" charset="-122"/>
              </a:rPr>
              <a:t>学员练习</a:t>
            </a:r>
          </a:p>
          <a:p>
            <a:pPr lvl="1">
              <a:spcBef>
                <a:spcPts val="475"/>
              </a:spcBef>
            </a:pPr>
            <a:endParaRPr lang="zh-CN" altLang="en-US"/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itchFamily="2" charset="-122"/>
              </a:rPr>
              <a:t>实验一：</a:t>
            </a:r>
            <a:r>
              <a:rPr lang="zh-CN" altLang="en-US" dirty="0"/>
              <a:t>配置</a:t>
            </a:r>
            <a:r>
              <a:rPr lang="en-US" altLang="zh-CN" dirty="0"/>
              <a:t>IP</a:t>
            </a:r>
            <a:r>
              <a:rPr lang="zh-CN" altLang="en-US" dirty="0"/>
              <a:t>地址并验证连通性</a:t>
            </a:r>
            <a:r>
              <a:rPr lang="en-US" altLang="zh-CN" dirty="0"/>
              <a:t>2-2</a:t>
            </a:r>
            <a:endParaRPr lang="en-US" altLang="zh-CN" dirty="0">
              <a:latin typeface="黑体" pitchFamily="2" charset="-122"/>
            </a:endParaRPr>
          </a:p>
        </p:txBody>
      </p:sp>
      <p:grpSp>
        <p:nvGrpSpPr>
          <p:cNvPr id="2" name="组合 5"/>
          <p:cNvGrpSpPr>
            <a:grpSpLocks/>
          </p:cNvGrpSpPr>
          <p:nvPr/>
        </p:nvGrpSpPr>
        <p:grpSpPr bwMode="auto">
          <a:xfrm>
            <a:off x="4248151" y="5286375"/>
            <a:ext cx="3490913" cy="914400"/>
            <a:chOff x="1795467" y="5443558"/>
            <a:chExt cx="3490913" cy="914400"/>
          </a:xfrm>
        </p:grpSpPr>
        <p:pic>
          <p:nvPicPr>
            <p:cNvPr id="29701" name="Picture 4" descr="练习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795467" y="5443558"/>
              <a:ext cx="1008063" cy="914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9702" name="Rectangle 5"/>
            <p:cNvSpPr>
              <a:spLocks noChangeArrowheads="1"/>
            </p:cNvSpPr>
            <p:nvPr/>
          </p:nvSpPr>
          <p:spPr bwMode="auto">
            <a:xfrm>
              <a:off x="2551117" y="5695971"/>
              <a:ext cx="2735263" cy="4333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buClr>
                  <a:srgbClr val="006600"/>
                </a:buClr>
                <a:buSzPct val="80000"/>
              </a:pPr>
              <a:r>
                <a:rPr lang="en-US" altLang="zh-CN" sz="2400" b="1">
                  <a:solidFill>
                    <a:srgbClr val="FF9933"/>
                  </a:solidFill>
                  <a:latin typeface="黑体" pitchFamily="2" charset="-122"/>
                </a:rPr>
                <a:t>40</a:t>
              </a:r>
              <a:r>
                <a:rPr lang="zh-CN" altLang="en-US" sz="2400" b="1">
                  <a:solidFill>
                    <a:srgbClr val="FF9933"/>
                  </a:solidFill>
                  <a:latin typeface="黑体" pitchFamily="2" charset="-122"/>
                </a:rPr>
                <a:t>分钟完成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146051"/>
            <a:ext cx="8763000" cy="639763"/>
          </a:xfrm>
        </p:spPr>
        <p:txBody>
          <a:bodyPr/>
          <a:lstStyle/>
          <a:p>
            <a:pPr>
              <a:defRPr/>
            </a:pP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共性问题集中讲解</a:t>
            </a:r>
          </a:p>
        </p:txBody>
      </p:sp>
      <p:sp>
        <p:nvSpPr>
          <p:cNvPr id="64515" name="内容占位符 2"/>
          <p:cNvSpPr>
            <a:spLocks noGrp="1"/>
          </p:cNvSpPr>
          <p:nvPr>
            <p:ph idx="1"/>
          </p:nvPr>
        </p:nvSpPr>
        <p:spPr>
          <a:xfrm>
            <a:off x="2309813" y="1714500"/>
            <a:ext cx="7643812" cy="1785938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/>
              <a:t>常见问题及解决办法</a:t>
            </a:r>
            <a:endParaRPr lang="en-US" altLang="zh-CN"/>
          </a:p>
          <a:p>
            <a:pPr>
              <a:spcBef>
                <a:spcPct val="50000"/>
              </a:spcBef>
            </a:pPr>
            <a:r>
              <a:rPr lang="zh-CN" altLang="en-US"/>
              <a:t>实验案例小结</a:t>
            </a:r>
            <a:endParaRPr lang="en-US" altLang="zh-CN"/>
          </a:p>
          <a:p>
            <a:pPr>
              <a:spcBef>
                <a:spcPct val="50000"/>
              </a:spcBef>
              <a:buFontTx/>
              <a:buNone/>
            </a:pPr>
            <a:endParaRPr lang="zh-CN" altLang="en-US"/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3809985" y="3857629"/>
            <a:ext cx="4291013" cy="928687"/>
          </a:xfrm>
          <a:prstGeom prst="roundRect">
            <a:avLst>
              <a:gd name="adj" fmla="val 5982"/>
            </a:avLst>
          </a:prstGeom>
          <a:solidFill>
            <a:srgbClr val="FFB793"/>
          </a:solidFill>
          <a:ln w="9525" algn="ctr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 anchorCtr="1"/>
          <a:lstStyle/>
          <a:p>
            <a:pPr>
              <a:defRPr/>
            </a:pPr>
            <a:r>
              <a:rPr lang="zh-CN" altLang="en-US" sz="2800" b="1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共性问题集中讲解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内容占位符 60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需求描述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通过</a:t>
            </a:r>
            <a:r>
              <a:rPr lang="en-US" altLang="zh-CN"/>
              <a:t>Console</a:t>
            </a:r>
            <a:r>
              <a:rPr lang="zh-CN" altLang="en-US"/>
              <a:t>口配置路由器接口</a:t>
            </a:r>
            <a:r>
              <a:rPr lang="en-US" altLang="zh-CN"/>
              <a:t>IP</a:t>
            </a:r>
            <a:r>
              <a:rPr lang="zh-CN" altLang="en-US"/>
              <a:t>地址，实现设备通信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设备通信正常后，保存配置，将配置文件备份到</a:t>
            </a:r>
            <a:r>
              <a:rPr lang="en-US" altLang="zh-CN"/>
              <a:t>PC</a:t>
            </a:r>
            <a:r>
              <a:rPr lang="zh-CN" altLang="en-US"/>
              <a:t>机</a:t>
            </a: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实验二：配置路由器实现互通</a:t>
            </a:r>
            <a:r>
              <a:rPr lang="en-US" altLang="zh-CN" dirty="0"/>
              <a:t>2-1</a:t>
            </a:r>
          </a:p>
        </p:txBody>
      </p:sp>
      <p:pic>
        <p:nvPicPr>
          <p:cNvPr id="30724" name="Picture 4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24225" y="3219451"/>
            <a:ext cx="1149350" cy="677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25" name="Picture 4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46988" y="3214688"/>
            <a:ext cx="1149350" cy="677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6" name="AutoShape 8"/>
          <p:cNvSpPr>
            <a:spLocks noChangeArrowheads="1"/>
          </p:cNvSpPr>
          <p:nvPr/>
        </p:nvSpPr>
        <p:spPr bwMode="auto">
          <a:xfrm>
            <a:off x="7140576" y="3579813"/>
            <a:ext cx="1008063" cy="576262"/>
          </a:xfrm>
          <a:prstGeom prst="flowChartExtract">
            <a:avLst/>
          </a:prstGeom>
          <a:gradFill rotWithShape="1">
            <a:gsLst>
              <a:gs pos="0">
                <a:srgbClr val="FF6600"/>
              </a:gs>
              <a:gs pos="100000">
                <a:srgbClr val="FFFFFF"/>
              </a:gs>
            </a:gsLst>
            <a:lin ang="5400000" scaled="1"/>
          </a:gra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30727" name="直接连接符 52"/>
          <p:cNvCxnSpPr>
            <a:cxnSpLocks noChangeShapeType="1"/>
          </p:cNvCxnSpPr>
          <p:nvPr/>
        </p:nvCxnSpPr>
        <p:spPr bwMode="auto">
          <a:xfrm rot="10800000" flipV="1">
            <a:off x="4473576" y="3559175"/>
            <a:ext cx="3171825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</p:spPr>
      </p:cxnSp>
      <p:sp>
        <p:nvSpPr>
          <p:cNvPr id="56" name="Text Box 14"/>
          <p:cNvSpPr txBox="1">
            <a:spLocks noChangeArrowheads="1"/>
          </p:cNvSpPr>
          <p:nvPr/>
        </p:nvSpPr>
        <p:spPr bwMode="auto">
          <a:xfrm>
            <a:off x="7221539" y="3930651"/>
            <a:ext cx="860425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defRPr/>
            </a:pPr>
            <a:r>
              <a:rPr lang="en-US" altLang="zh-CN" dirty="0">
                <a:solidFill>
                  <a:schemeClr val="tx2"/>
                </a:solidFill>
                <a:latin typeface="+mj-lt"/>
              </a:rPr>
              <a:t>F0/0</a:t>
            </a:r>
          </a:p>
        </p:txBody>
      </p:sp>
      <p:sp>
        <p:nvSpPr>
          <p:cNvPr id="57" name="Text Box 14"/>
          <p:cNvSpPr txBox="1">
            <a:spLocks noChangeArrowheads="1"/>
          </p:cNvSpPr>
          <p:nvPr/>
        </p:nvSpPr>
        <p:spPr bwMode="auto">
          <a:xfrm>
            <a:off x="5024439" y="3251201"/>
            <a:ext cx="1997075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defRPr/>
            </a:pPr>
            <a:r>
              <a:rPr lang="en-US" altLang="zh-CN" dirty="0">
                <a:solidFill>
                  <a:schemeClr val="tx2"/>
                </a:solidFill>
                <a:latin typeface="+mj-lt"/>
              </a:rPr>
              <a:t>192.168.1.0/24</a:t>
            </a:r>
          </a:p>
        </p:txBody>
      </p:sp>
      <p:sp>
        <p:nvSpPr>
          <p:cNvPr id="58" name="Text Box 14"/>
          <p:cNvSpPr txBox="1">
            <a:spLocks noChangeArrowheads="1"/>
          </p:cNvSpPr>
          <p:nvPr/>
        </p:nvSpPr>
        <p:spPr bwMode="auto">
          <a:xfrm>
            <a:off x="3465514" y="3562350"/>
            <a:ext cx="860425" cy="3683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chemeClr val="bg1"/>
                </a:solidFill>
                <a:latin typeface="+mj-lt"/>
              </a:rPr>
              <a:t>R1</a:t>
            </a:r>
          </a:p>
        </p:txBody>
      </p:sp>
      <p:sp>
        <p:nvSpPr>
          <p:cNvPr id="59" name="Text Box 14"/>
          <p:cNvSpPr txBox="1">
            <a:spLocks noChangeArrowheads="1"/>
          </p:cNvSpPr>
          <p:nvPr/>
        </p:nvSpPr>
        <p:spPr bwMode="auto">
          <a:xfrm>
            <a:off x="7788276" y="3557588"/>
            <a:ext cx="860425" cy="3683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chemeClr val="bg1"/>
                </a:solidFill>
                <a:latin typeface="+mj-lt"/>
              </a:rPr>
              <a:t>R2</a:t>
            </a:r>
          </a:p>
        </p:txBody>
      </p:sp>
      <p:sp>
        <p:nvSpPr>
          <p:cNvPr id="30732" name="AutoShape 8"/>
          <p:cNvSpPr>
            <a:spLocks noChangeArrowheads="1"/>
          </p:cNvSpPr>
          <p:nvPr/>
        </p:nvSpPr>
        <p:spPr bwMode="auto">
          <a:xfrm>
            <a:off x="3951288" y="3579813"/>
            <a:ext cx="1008062" cy="576262"/>
          </a:xfrm>
          <a:prstGeom prst="flowChartExtract">
            <a:avLst/>
          </a:prstGeom>
          <a:gradFill rotWithShape="1">
            <a:gsLst>
              <a:gs pos="0">
                <a:srgbClr val="FF6600"/>
              </a:gs>
              <a:gs pos="100000">
                <a:srgbClr val="FFFFFF"/>
              </a:gs>
            </a:gsLst>
            <a:lin ang="5400000" scaled="1"/>
          </a:gra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" name="Text Box 14"/>
          <p:cNvSpPr txBox="1">
            <a:spLocks noChangeArrowheads="1"/>
          </p:cNvSpPr>
          <p:nvPr/>
        </p:nvSpPr>
        <p:spPr bwMode="auto">
          <a:xfrm>
            <a:off x="4010026" y="3930651"/>
            <a:ext cx="860425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defRPr/>
            </a:pPr>
            <a:r>
              <a:rPr lang="en-US" altLang="zh-CN" dirty="0">
                <a:solidFill>
                  <a:schemeClr val="tx2"/>
                </a:solidFill>
                <a:latin typeface="+mj-lt"/>
              </a:rPr>
              <a:t>F0/0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内容占位符 7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>
                <a:latin typeface="黑体" pitchFamily="2" charset="-122"/>
              </a:rPr>
              <a:t>实现思路</a:t>
            </a:r>
            <a:endParaRPr lang="en-US" altLang="zh-CN">
              <a:latin typeface="黑体" pitchFamily="2" charset="-122"/>
            </a:endParaRPr>
          </a:p>
          <a:p>
            <a:pPr lvl="1">
              <a:spcBef>
                <a:spcPts val="475"/>
              </a:spcBef>
            </a:pPr>
            <a:r>
              <a:rPr lang="zh-CN" altLang="en-US">
                <a:latin typeface="黑体" pitchFamily="2" charset="-122"/>
              </a:rPr>
              <a:t>使用</a:t>
            </a:r>
            <a:r>
              <a:rPr lang="en-US" altLang="zh-CN"/>
              <a:t>ping</a:t>
            </a:r>
            <a:r>
              <a:rPr lang="zh-CN" altLang="en-US"/>
              <a:t>命令验证路由器通信正常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将配置文件通过复制、粘贴保存到</a:t>
            </a:r>
            <a:r>
              <a:rPr lang="zh-CN" altLang="en-US">
                <a:latin typeface="黑体" pitchFamily="2" charset="-122"/>
              </a:rPr>
              <a:t>文本中</a:t>
            </a:r>
          </a:p>
          <a:p>
            <a:pPr>
              <a:spcBef>
                <a:spcPts val="6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r>
              <a:rPr lang="zh-CN" altLang="en-US">
                <a:latin typeface="黑体" pitchFamily="2" charset="-122"/>
              </a:rPr>
              <a:t>学员练习</a:t>
            </a:r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实验二：配置路由器实现互通</a:t>
            </a:r>
            <a:r>
              <a:rPr lang="en-US" altLang="zh-CN" dirty="0"/>
              <a:t>2-2</a:t>
            </a:r>
            <a:endParaRPr lang="zh-CN" altLang="en-US" dirty="0"/>
          </a:p>
        </p:txBody>
      </p:sp>
      <p:grpSp>
        <p:nvGrpSpPr>
          <p:cNvPr id="2" name="组合 5"/>
          <p:cNvGrpSpPr>
            <a:grpSpLocks/>
          </p:cNvGrpSpPr>
          <p:nvPr/>
        </p:nvGrpSpPr>
        <p:grpSpPr bwMode="auto">
          <a:xfrm>
            <a:off x="4425951" y="4048125"/>
            <a:ext cx="3598863" cy="914400"/>
            <a:chOff x="1223963" y="4048125"/>
            <a:chExt cx="3598862" cy="914400"/>
          </a:xfrm>
        </p:grpSpPr>
        <p:pic>
          <p:nvPicPr>
            <p:cNvPr id="31749" name="Picture 4" descr="练习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223963" y="4048125"/>
              <a:ext cx="1008062" cy="914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750" name="Rectangle 5"/>
            <p:cNvSpPr>
              <a:spLocks noChangeArrowheads="1"/>
            </p:cNvSpPr>
            <p:nvPr/>
          </p:nvSpPr>
          <p:spPr bwMode="auto">
            <a:xfrm>
              <a:off x="2087563" y="4300538"/>
              <a:ext cx="2735262" cy="4333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buClr>
                  <a:srgbClr val="006600"/>
                </a:buClr>
                <a:buSzPct val="80000"/>
              </a:pPr>
              <a:r>
                <a:rPr lang="en-US" altLang="zh-CN" sz="2400" b="1">
                  <a:solidFill>
                    <a:srgbClr val="FF9933"/>
                  </a:solidFill>
                  <a:latin typeface="黑体" pitchFamily="2" charset="-122"/>
                </a:rPr>
                <a:t>40</a:t>
              </a:r>
              <a:r>
                <a:rPr lang="zh-CN" altLang="en-US" sz="2400" b="1">
                  <a:solidFill>
                    <a:srgbClr val="FF9933"/>
                  </a:solidFill>
                  <a:latin typeface="黑体" pitchFamily="2" charset="-122"/>
                </a:rPr>
                <a:t>分钟完成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146051"/>
            <a:ext cx="8763000" cy="639763"/>
          </a:xfrm>
        </p:spPr>
        <p:txBody>
          <a:bodyPr/>
          <a:lstStyle/>
          <a:p>
            <a:pPr>
              <a:defRPr/>
            </a:pP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共性问题集中讲解</a:t>
            </a:r>
          </a:p>
        </p:txBody>
      </p:sp>
      <p:sp>
        <p:nvSpPr>
          <p:cNvPr id="64515" name="内容占位符 2"/>
          <p:cNvSpPr>
            <a:spLocks noGrp="1"/>
          </p:cNvSpPr>
          <p:nvPr>
            <p:ph idx="1"/>
          </p:nvPr>
        </p:nvSpPr>
        <p:spPr>
          <a:xfrm>
            <a:off x="2309813" y="1714500"/>
            <a:ext cx="7643812" cy="1785938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/>
              <a:t>常见问题及解决办法</a:t>
            </a:r>
            <a:endParaRPr lang="en-US" altLang="zh-CN"/>
          </a:p>
          <a:p>
            <a:pPr>
              <a:spcBef>
                <a:spcPct val="50000"/>
              </a:spcBef>
            </a:pPr>
            <a:r>
              <a:rPr lang="zh-CN" altLang="en-US"/>
              <a:t>实验案例小结</a:t>
            </a:r>
            <a:endParaRPr lang="en-US" altLang="zh-CN"/>
          </a:p>
          <a:p>
            <a:pPr>
              <a:spcBef>
                <a:spcPct val="50000"/>
              </a:spcBef>
              <a:buFontTx/>
              <a:buNone/>
            </a:pPr>
            <a:endParaRPr lang="zh-CN" altLang="en-US"/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3809985" y="3857629"/>
            <a:ext cx="4291013" cy="928687"/>
          </a:xfrm>
          <a:prstGeom prst="roundRect">
            <a:avLst>
              <a:gd name="adj" fmla="val 5982"/>
            </a:avLst>
          </a:prstGeom>
          <a:solidFill>
            <a:srgbClr val="FFB793"/>
          </a:solidFill>
          <a:ln w="9525" algn="ctr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 anchorCtr="1"/>
          <a:lstStyle/>
          <a:p>
            <a:pPr>
              <a:defRPr/>
            </a:pPr>
            <a:r>
              <a:rPr lang="zh-CN" altLang="en-US" sz="2800" b="1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共性问题集中讲解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835318-A86B-4409-944A-1726D62CC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435D2E-46A2-4568-AD7C-3760BC95C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146" y="2551193"/>
            <a:ext cx="10972440" cy="75140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zh-CN" altLang="en-US" sz="4800" dirty="0"/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3404734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6617</TotalTime>
  <Words>1715</Words>
  <Application>Microsoft Office PowerPoint</Application>
  <PresentationFormat>宽屏</PresentationFormat>
  <Paragraphs>310</Paragraphs>
  <Slides>30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9" baseType="lpstr">
      <vt:lpstr>Myriad Pro</vt:lpstr>
      <vt:lpstr>黑体</vt:lpstr>
      <vt:lpstr>楷体_GB2312</vt:lpstr>
      <vt:lpstr>宋体</vt:lpstr>
      <vt:lpstr>Arial</vt:lpstr>
      <vt:lpstr>Symbol</vt:lpstr>
      <vt:lpstr>Times New Roman</vt:lpstr>
      <vt:lpstr>Wingdings</vt:lpstr>
      <vt:lpstr>Office Theme</vt:lpstr>
      <vt:lpstr>目标</vt:lpstr>
      <vt:lpstr>本章结构</vt:lpstr>
      <vt:lpstr>IP地址</vt:lpstr>
      <vt:lpstr>IP地址的组成</vt:lpstr>
      <vt:lpstr>IP地址的分类2-1</vt:lpstr>
      <vt:lpstr>IP地址的分类2-2</vt:lpstr>
      <vt:lpstr>私有地址</vt:lpstr>
      <vt:lpstr>子网掩码2-1</vt:lpstr>
      <vt:lpstr>子网掩码2-2</vt:lpstr>
      <vt:lpstr>配置主机的IP地址</vt:lpstr>
      <vt:lpstr>网络测试工具2-1</vt:lpstr>
      <vt:lpstr>网络测试工具2-2</vt:lpstr>
      <vt:lpstr>设备配置的准备工作</vt:lpstr>
      <vt:lpstr>配置IP地址</vt:lpstr>
      <vt:lpstr>配置IP地址实现通信3-1</vt:lpstr>
      <vt:lpstr>配置IP地址实现通信3-2</vt:lpstr>
      <vt:lpstr>配置IP地址实现通信3-3</vt:lpstr>
      <vt:lpstr>PowerPoint 演示文稿</vt:lpstr>
      <vt:lpstr>课堂练习</vt:lpstr>
      <vt:lpstr>作业</vt:lpstr>
      <vt:lpstr>作业</vt:lpstr>
      <vt:lpstr>考题</vt:lpstr>
      <vt:lpstr>第六章 IP地址概述与应用</vt:lpstr>
      <vt:lpstr>实验一：配置IP地址并验证连通性2-1</vt:lpstr>
      <vt:lpstr>实验一：配置IP地址并验证连通性2-2</vt:lpstr>
      <vt:lpstr>共性问题集中讲解</vt:lpstr>
      <vt:lpstr>实验二：配置路由器实现互通2-1</vt:lpstr>
      <vt:lpstr>实验二：配置路由器实现互通2-2</vt:lpstr>
      <vt:lpstr>共性问题集中讲解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cuiyongxin</dc:creator>
  <dc:description/>
  <cp:lastModifiedBy>Administrator</cp:lastModifiedBy>
  <cp:revision>172</cp:revision>
  <dcterms:created xsi:type="dcterms:W3CDTF">2019-12-12T13:30:13Z</dcterms:created>
  <dcterms:modified xsi:type="dcterms:W3CDTF">2026-05-28T08:07:06Z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15.0000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KSOProductBuildVer">
    <vt:lpwstr>2052-1.2.1.1575</vt:lpwstr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4</vt:i4>
  </property>
  <property fmtid="{D5CDD505-2E9C-101B-9397-08002B2CF9AE}" pid="9" name="PresentationFormat">
    <vt:lpwstr>宽屏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24</vt:i4>
  </property>
</Properties>
</file>