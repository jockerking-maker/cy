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29"/>
  </p:notesMasterIdLst>
  <p:sldIdLst>
    <p:sldId id="602" r:id="rId2"/>
    <p:sldId id="603" r:id="rId3"/>
    <p:sldId id="452" r:id="rId4"/>
    <p:sldId id="493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461" r:id="rId13"/>
    <p:sldId id="462" r:id="rId14"/>
    <p:sldId id="463" r:id="rId15"/>
    <p:sldId id="464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75" r:id="rId27"/>
    <p:sldId id="29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110" d="100"/>
          <a:sy n="110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2DF31B-7817-430E-99AC-D2EF3F16E4A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数据报文验证包括两个方面：数据来源验证（身份验证）和报文完整性验证。 </a:t>
            </a:r>
          </a:p>
          <a:p>
            <a:pPr eaLnBrk="1" hangingPunct="1"/>
            <a:r>
              <a:rPr lang="en-US" altLang="zh-CN">
                <a:ea typeface="宋体" charset="-122"/>
              </a:rPr>
              <a:t>Hash</a:t>
            </a:r>
            <a:r>
              <a:rPr lang="zh-CN" altLang="en-US">
                <a:ea typeface="宋体" charset="-122"/>
              </a:rPr>
              <a:t>算法为单向算法，具有不可逆性。举例而言，余数算法就是一个简单的不可逆算法，</a:t>
            </a:r>
            <a:r>
              <a:rPr lang="en-US" altLang="zh-CN">
                <a:ea typeface="宋体" charset="-122"/>
              </a:rPr>
              <a:t>10</a:t>
            </a:r>
            <a:r>
              <a:rPr lang="zh-CN" altLang="en-US">
                <a:ea typeface="宋体" charset="-122"/>
              </a:rPr>
              <a:t>除以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余数为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，但除以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余数为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的未必只有</a:t>
            </a:r>
            <a:r>
              <a:rPr lang="en-US" altLang="zh-CN">
                <a:ea typeface="宋体" charset="-122"/>
              </a:rPr>
              <a:t>10</a:t>
            </a:r>
            <a:r>
              <a:rPr lang="zh-CN" altLang="en-US">
                <a:ea typeface="宋体" charset="-122"/>
              </a:rPr>
              <a:t>，可以有无数种可能性，所以即使你知道除数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和余数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，也无法反推到答案</a:t>
            </a:r>
            <a:r>
              <a:rPr lang="en-US" altLang="zh-CN">
                <a:ea typeface="宋体" charset="-122"/>
              </a:rPr>
              <a:t>10</a:t>
            </a:r>
            <a:r>
              <a:rPr lang="zh-CN" altLang="en-US">
                <a:ea typeface="宋体" charset="-122"/>
              </a:rPr>
              <a:t>。</a:t>
            </a:r>
          </a:p>
          <a:p>
            <a:pPr eaLnBrk="1" hangingPunct="1"/>
            <a:r>
              <a:rPr lang="zh-CN" altLang="en-US">
                <a:ea typeface="宋体" charset="-122"/>
              </a:rPr>
              <a:t>所以如图所示，无法从数字签名反推出用户数据和</a:t>
            </a:r>
            <a:r>
              <a:rPr lang="en-US" altLang="zh-CN">
                <a:ea typeface="宋体" charset="-122"/>
              </a:rPr>
              <a:t>Key</a:t>
            </a:r>
            <a:r>
              <a:rPr lang="zh-CN" altLang="en-US">
                <a:ea typeface="宋体" charset="-122"/>
              </a:rPr>
              <a:t>。</a:t>
            </a:r>
          </a:p>
          <a:p>
            <a:pPr eaLnBrk="1" hangingPunct="1"/>
            <a:r>
              <a:rPr lang="zh-CN" altLang="en-US">
                <a:ea typeface="宋体" charset="-122"/>
              </a:rPr>
              <a:t>说明单向算法之后需讲解</a:t>
            </a:r>
            <a:r>
              <a:rPr lang="en-US" altLang="zh-CN">
                <a:ea typeface="宋体" charset="-122"/>
              </a:rPr>
              <a:t>HMAC</a:t>
            </a:r>
            <a:r>
              <a:rPr lang="zh-CN" altLang="en-US">
                <a:ea typeface="宋体" charset="-122"/>
              </a:rPr>
              <a:t>的整个过程：</a:t>
            </a:r>
          </a:p>
          <a:p>
            <a:pPr lvl="1" eaLnBrk="1" hangingPunct="1"/>
            <a:r>
              <a:rPr lang="zh-CN" altLang="en-US">
                <a:ea typeface="宋体" charset="-122"/>
              </a:rPr>
              <a:t>双方共享执行</a:t>
            </a:r>
            <a:r>
              <a:rPr lang="en-US" altLang="zh-CN">
                <a:ea typeface="宋体" charset="-122"/>
              </a:rPr>
              <a:t>Hash</a:t>
            </a:r>
            <a:r>
              <a:rPr lang="zh-CN" altLang="en-US">
                <a:ea typeface="宋体" charset="-122"/>
              </a:rPr>
              <a:t>算法的密钥</a:t>
            </a:r>
            <a:r>
              <a:rPr lang="en-US" altLang="zh-CN">
                <a:ea typeface="宋体" charset="-122"/>
              </a:rPr>
              <a:t>Key</a:t>
            </a:r>
          </a:p>
          <a:p>
            <a:pPr lvl="1" eaLnBrk="1" hangingPunct="1"/>
            <a:r>
              <a:rPr lang="zh-CN" altLang="en-US">
                <a:ea typeface="宋体" charset="-122"/>
              </a:rPr>
              <a:t>路由器</a:t>
            </a:r>
            <a:r>
              <a:rPr lang="en-US" altLang="zh-CN">
                <a:ea typeface="宋体" charset="-122"/>
              </a:rPr>
              <a:t>A</a:t>
            </a:r>
            <a:r>
              <a:rPr lang="zh-CN" altLang="en-US">
                <a:ea typeface="宋体" charset="-122"/>
              </a:rPr>
              <a:t>的用户数据与共享密钥</a:t>
            </a:r>
            <a:r>
              <a:rPr lang="en-US" altLang="zh-CN">
                <a:ea typeface="宋体" charset="-122"/>
              </a:rPr>
              <a:t>Key</a:t>
            </a:r>
            <a:r>
              <a:rPr lang="zh-CN" altLang="en-US">
                <a:ea typeface="宋体" charset="-122"/>
              </a:rPr>
              <a:t>通过</a:t>
            </a:r>
            <a:r>
              <a:rPr lang="en-US" altLang="zh-CN">
                <a:ea typeface="宋体" charset="-122"/>
              </a:rPr>
              <a:t>Hash</a:t>
            </a:r>
            <a:r>
              <a:rPr lang="zh-CN" altLang="en-US">
                <a:ea typeface="宋体" charset="-122"/>
              </a:rPr>
              <a:t>算法得到数字签名</a:t>
            </a:r>
          </a:p>
          <a:p>
            <a:pPr lvl="1" eaLnBrk="1" hangingPunct="1"/>
            <a:r>
              <a:rPr lang="zh-CN" altLang="en-US">
                <a:ea typeface="宋体" charset="-122"/>
              </a:rPr>
              <a:t>路由器</a:t>
            </a:r>
            <a:r>
              <a:rPr lang="en-US" altLang="zh-CN">
                <a:ea typeface="宋体" charset="-122"/>
              </a:rPr>
              <a:t>A</a:t>
            </a:r>
            <a:r>
              <a:rPr lang="zh-CN" altLang="en-US">
                <a:ea typeface="宋体" charset="-122"/>
              </a:rPr>
              <a:t>将数字签民和用户数据一同传送给路由器</a:t>
            </a:r>
            <a:r>
              <a:rPr lang="en-US" altLang="zh-CN">
                <a:ea typeface="宋体" charset="-122"/>
              </a:rPr>
              <a:t>B</a:t>
            </a:r>
          </a:p>
          <a:p>
            <a:pPr lvl="1" eaLnBrk="1" hangingPunct="1"/>
            <a:r>
              <a:rPr lang="zh-CN" altLang="en-US">
                <a:ea typeface="宋体" charset="-122"/>
              </a:rPr>
              <a:t>路由器</a:t>
            </a:r>
            <a:r>
              <a:rPr lang="en-US" altLang="zh-CN">
                <a:ea typeface="宋体" charset="-122"/>
              </a:rPr>
              <a:t>B</a:t>
            </a:r>
            <a:r>
              <a:rPr lang="zh-CN" altLang="en-US">
                <a:ea typeface="宋体" charset="-122"/>
              </a:rPr>
              <a:t>执行相同的算法过程得到数字签名</a:t>
            </a:r>
          </a:p>
          <a:p>
            <a:pPr lvl="1" eaLnBrk="1" hangingPunct="1"/>
            <a:r>
              <a:rPr lang="zh-CN" altLang="en-US">
                <a:ea typeface="宋体" charset="-122"/>
              </a:rPr>
              <a:t>路由器</a:t>
            </a:r>
            <a:r>
              <a:rPr lang="en-US" altLang="zh-CN">
                <a:ea typeface="宋体" charset="-122"/>
              </a:rPr>
              <a:t>B</a:t>
            </a:r>
            <a:r>
              <a:rPr lang="zh-CN" altLang="en-US">
                <a:ea typeface="宋体" charset="-122"/>
              </a:rPr>
              <a:t>比对数字签名是否一致</a:t>
            </a:r>
          </a:p>
          <a:p>
            <a:pPr lvl="1" eaLnBrk="1" hangingPunct="1"/>
            <a:endParaRPr lang="zh-CN" altLang="en-US">
              <a:ea typeface="宋体" charset="-122"/>
            </a:endParaRPr>
          </a:p>
          <a:p>
            <a:pPr lvl="1" eaLnBrk="1" hangingPunct="1"/>
            <a:r>
              <a:rPr lang="zh-CN" altLang="en-US">
                <a:ea typeface="宋体" charset="-122"/>
              </a:rPr>
              <a:t>常用的</a:t>
            </a:r>
            <a:r>
              <a:rPr lang="en-US" altLang="zh-CN">
                <a:ea typeface="宋体" charset="-122"/>
              </a:rPr>
              <a:t>Hash</a:t>
            </a:r>
            <a:r>
              <a:rPr lang="zh-CN" altLang="en-US">
                <a:ea typeface="宋体" charset="-122"/>
              </a:rPr>
              <a:t>算法是：</a:t>
            </a:r>
            <a:r>
              <a:rPr lang="en-US" altLang="zh-CN">
                <a:ea typeface="宋体" charset="-122"/>
              </a:rPr>
              <a:t>MD5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SHA</a:t>
            </a:r>
            <a:r>
              <a:rPr lang="zh-CN" altLang="en-US">
                <a:ea typeface="宋体" charset="-122"/>
              </a:rPr>
              <a:t>，要简单说明二者的区别。</a:t>
            </a:r>
          </a:p>
          <a:p>
            <a:pPr lvl="1" eaLnBrk="1" hangingPunct="1"/>
            <a:r>
              <a:rPr lang="en-US" altLang="zh-CN">
                <a:ea typeface="宋体" charset="-122"/>
              </a:rPr>
              <a:t>SHA</a:t>
            </a:r>
            <a:r>
              <a:rPr lang="zh-CN" altLang="en-US">
                <a:ea typeface="宋体" charset="-122"/>
              </a:rPr>
              <a:t>比</a:t>
            </a:r>
            <a:r>
              <a:rPr lang="en-US" altLang="zh-CN">
                <a:ea typeface="宋体" charset="-122"/>
              </a:rPr>
              <a:t>MD5</a:t>
            </a:r>
            <a:r>
              <a:rPr lang="zh-CN" altLang="en-US">
                <a:ea typeface="宋体" charset="-122"/>
              </a:rPr>
              <a:t>更加安全，但中国某大学著名教授已经证明了这两种算法都存在一定的虚假性，目前正在研发的</a:t>
            </a:r>
            <a:r>
              <a:rPr lang="en-US" altLang="zh-CN">
                <a:ea typeface="宋体" charset="-122"/>
              </a:rPr>
              <a:t>SHA-2</a:t>
            </a:r>
            <a:r>
              <a:rPr lang="zh-CN" altLang="en-US">
                <a:ea typeface="宋体" charset="-122"/>
              </a:rPr>
              <a:t>具有更长的签名长度，但还未投入使用。</a:t>
            </a: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387E87-D3A3-4080-BFEC-CD08F4D97E22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这里举一个数据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的例子，阶段</a:t>
            </a:r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是单向的，如果只是用</a:t>
            </a:r>
            <a:r>
              <a:rPr lang="en-US" altLang="zh-CN">
                <a:ea typeface="宋体" charset="-122"/>
              </a:rPr>
              <a:t>ESP</a:t>
            </a:r>
            <a:r>
              <a:rPr lang="zh-CN" altLang="en-US">
                <a:ea typeface="宋体" charset="-122"/>
              </a:rPr>
              <a:t>协议，两个对等体之间建立一个隧道只有</a:t>
            </a:r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（一对），如果同时使用</a:t>
            </a:r>
            <a:r>
              <a:rPr lang="en-US" altLang="zh-CN">
                <a:ea typeface="宋体" charset="-122"/>
              </a:rPr>
              <a:t>AH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ESP</a:t>
            </a:r>
            <a:r>
              <a:rPr lang="zh-CN" altLang="en-US">
                <a:ea typeface="宋体" charset="-122"/>
              </a:rPr>
              <a:t>，两个对等体之间建立一个隧道就需要</a:t>
            </a:r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个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（两对）</a:t>
            </a:r>
          </a:p>
          <a:p>
            <a:pPr eaLnBrk="1" hangingPunct="1">
              <a:buFont typeface="Wingdings" pitchFamily="2" charset="2"/>
              <a:buChar char="l"/>
            </a:pP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的主要的安全组件包括：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使用的加密算法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使用的</a:t>
            </a:r>
            <a:r>
              <a:rPr lang="en-US" altLang="zh-CN">
                <a:ea typeface="宋体" charset="-122"/>
              </a:rPr>
              <a:t>HMAC</a:t>
            </a:r>
            <a:r>
              <a:rPr lang="zh-CN" altLang="en-US">
                <a:ea typeface="宋体" charset="-122"/>
              </a:rPr>
              <a:t>功能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生存周期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en-US" altLang="zh-CN">
                <a:ea typeface="宋体" charset="-122"/>
              </a:rPr>
              <a:t>DH</a:t>
            </a:r>
            <a:r>
              <a:rPr lang="zh-CN" altLang="en-US">
                <a:ea typeface="宋体" charset="-122"/>
              </a:rPr>
              <a:t>密钥组的使用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对于管理连接：使用的验证类型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对于数据连接：使用的安全协议，应当受保护的流量</a:t>
            </a:r>
          </a:p>
          <a:p>
            <a:pPr marL="742950" lvl="1" indent="-285750" eaLnBrk="1" hangingPunct="1"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连接的标识符：每一条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的</a:t>
            </a:r>
            <a:r>
              <a:rPr lang="en-US" altLang="zh-CN">
                <a:ea typeface="宋体" charset="-122"/>
              </a:rPr>
              <a:t>SPI</a:t>
            </a:r>
          </a:p>
          <a:p>
            <a:pPr marL="742950" lvl="1" indent="-285750" eaLnBrk="1" hangingPunct="1">
              <a:buFont typeface="Wingdings" pitchFamily="2" charset="2"/>
              <a:buNone/>
            </a:pPr>
            <a:endParaRPr lang="en-US" altLang="zh-CN">
              <a:ea typeface="宋体" charset="-122"/>
            </a:endParaRPr>
          </a:p>
          <a:p>
            <a:pPr marL="742950" lvl="1" indent="-285750" eaLnBrk="1" hangingPunct="1">
              <a:buFont typeface="Wingdings" pitchFamily="2" charset="2"/>
              <a:buNone/>
            </a:pPr>
            <a:r>
              <a:rPr lang="zh-CN" altLang="en-US">
                <a:ea typeface="宋体" charset="-122"/>
              </a:rPr>
              <a:t>笔者经验：</a:t>
            </a:r>
          </a:p>
          <a:p>
            <a:pPr marL="742950" lvl="1" indent="-285750" eaLnBrk="1" hangingPunct="1">
              <a:buFont typeface="Wingdings" pitchFamily="2" charset="2"/>
              <a:buNone/>
            </a:pPr>
            <a:r>
              <a:rPr lang="zh-CN" altLang="en-US">
                <a:ea typeface="宋体" charset="-122"/>
              </a:rPr>
              <a:t>在配置阶段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时，分别定义了安全组件，都需要通过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将它们关联起来，这就像</a:t>
            </a:r>
            <a:r>
              <a:rPr lang="en-US" altLang="zh-CN">
                <a:ea typeface="宋体" charset="-122"/>
              </a:rPr>
              <a:t>crypto map</a:t>
            </a:r>
            <a:r>
              <a:rPr lang="zh-CN" altLang="en-US">
                <a:ea typeface="宋体" charset="-122"/>
              </a:rPr>
              <a:t>的作用，但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并不等同于</a:t>
            </a:r>
            <a:r>
              <a:rPr lang="en-US" altLang="zh-CN">
                <a:ea typeface="宋体" charset="-122"/>
              </a:rPr>
              <a:t>crypto map</a:t>
            </a:r>
            <a:r>
              <a:rPr lang="zh-CN" altLang="en-US">
                <a:ea typeface="宋体" charset="-122"/>
              </a:rPr>
              <a:t>，在一个物理接口上只可以配置一个</a:t>
            </a:r>
            <a:r>
              <a:rPr lang="en-US" altLang="zh-CN">
                <a:ea typeface="宋体" charset="-122"/>
              </a:rPr>
              <a:t>MAP</a:t>
            </a:r>
            <a:r>
              <a:rPr lang="zh-CN" altLang="en-US">
                <a:ea typeface="宋体" charset="-122"/>
              </a:rPr>
              <a:t>，但可以有很多的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，可以将</a:t>
            </a:r>
            <a:r>
              <a:rPr lang="en-US" altLang="zh-CN">
                <a:ea typeface="宋体" charset="-122"/>
              </a:rPr>
              <a:t>MAP</a:t>
            </a:r>
            <a:r>
              <a:rPr lang="zh-CN" altLang="en-US">
                <a:ea typeface="宋体" charset="-122"/>
              </a:rPr>
              <a:t>看做是一个接口上的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的集合体，包括阶段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和阶段</a:t>
            </a:r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所有的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，这也是为什么</a:t>
            </a:r>
            <a:r>
              <a:rPr lang="en-US" altLang="zh-CN">
                <a:ea typeface="宋体" charset="-122"/>
              </a:rPr>
              <a:t>MAP</a:t>
            </a:r>
            <a:r>
              <a:rPr lang="zh-CN" altLang="en-US">
                <a:ea typeface="宋体" charset="-122"/>
              </a:rPr>
              <a:t>配置错误，阶段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的</a:t>
            </a:r>
            <a:r>
              <a:rPr lang="en-US" altLang="zh-CN">
                <a:ea typeface="宋体" charset="-122"/>
              </a:rPr>
              <a:t>SA</a:t>
            </a:r>
            <a:r>
              <a:rPr lang="zh-CN" altLang="en-US">
                <a:ea typeface="宋体" charset="-122"/>
              </a:rPr>
              <a:t>都无法建立的原因。</a:t>
            </a: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5F1EAC-AC75-44F2-8CEA-9FDA7FD1F0B2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教员演示，讲解注意事项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823CDB-301F-4F3E-B9EC-61ABA712CFFE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27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CN" altLang="en-US"/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1.wmf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wmf"/><Relationship Id="rId7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能够理解</a:t>
            </a:r>
            <a:r>
              <a:rPr lang="en-US" altLang="zh-CN" dirty="0"/>
              <a:t>IPSec VPN</a:t>
            </a:r>
            <a:r>
              <a:rPr lang="zh-CN" altLang="en-US" dirty="0"/>
              <a:t>和远程访问</a:t>
            </a:r>
            <a:r>
              <a:rPr lang="en-US" altLang="zh-CN" dirty="0"/>
              <a:t>VPN</a:t>
            </a:r>
            <a:r>
              <a:rPr lang="zh-CN" altLang="en-US" dirty="0"/>
              <a:t>的基本原理</a:t>
            </a:r>
            <a:endParaRPr lang="en-US" altLang="zh-CN" dirty="0"/>
          </a:p>
          <a:p>
            <a:pPr>
              <a:spcBef>
                <a:spcPts val="675"/>
              </a:spcBef>
            </a:pPr>
            <a:r>
              <a:rPr lang="zh-CN" altLang="en-US" dirty="0"/>
              <a:t>能够配置</a:t>
            </a:r>
            <a:r>
              <a:rPr lang="en-US" altLang="zh-CN" dirty="0"/>
              <a:t>VPN</a:t>
            </a:r>
            <a:r>
              <a:rPr lang="zh-CN" altLang="en-US" dirty="0"/>
              <a:t>实现机密信息在</a:t>
            </a:r>
            <a:r>
              <a:rPr lang="en-US" altLang="zh-CN" dirty="0"/>
              <a:t>Internet</a:t>
            </a:r>
            <a:r>
              <a:rPr lang="zh-CN" altLang="en-US" dirty="0"/>
              <a:t>上安全传输</a:t>
            </a:r>
            <a:endParaRPr lang="en-US" altLang="zh-CN" dirty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本章结构</a:t>
            </a:r>
          </a:p>
        </p:txBody>
      </p:sp>
      <p:sp>
        <p:nvSpPr>
          <p:cNvPr id="2" name="Line 8">
            <a:extLst>
              <a:ext uri="{FF2B5EF4-FFF2-40B4-BE49-F238E27FC236}">
                <a16:creationId xmlns:a16="http://schemas.microsoft.com/office/drawing/2014/main" id="{16790F1E-C308-28D2-E3B2-F49DBAAA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6012" y="2143125"/>
            <a:ext cx="2428875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3" name="Line 16">
            <a:extLst>
              <a:ext uri="{FF2B5EF4-FFF2-40B4-BE49-F238E27FC236}">
                <a16:creationId xmlns:a16="http://schemas.microsoft.com/office/drawing/2014/main" id="{1BF563CB-0F33-3437-B22D-D40AB0A90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3775" y="1914525"/>
            <a:ext cx="358775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" name="Line 16">
            <a:extLst>
              <a:ext uri="{FF2B5EF4-FFF2-40B4-BE49-F238E27FC236}">
                <a16:creationId xmlns:a16="http://schemas.microsoft.com/office/drawing/2014/main" id="{F4666810-B4D6-4242-0156-F1F0B1298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1712" y="3194050"/>
            <a:ext cx="360363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5" name="Line 26">
            <a:extLst>
              <a:ext uri="{FF2B5EF4-FFF2-40B4-BE49-F238E27FC236}">
                <a16:creationId xmlns:a16="http://schemas.microsoft.com/office/drawing/2014/main" id="{EDD97110-5288-69D5-CF12-07B610CCA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66000" y="3646488"/>
            <a:ext cx="349250" cy="3175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A6E341ED-A7A0-30DD-BDCE-353739B7D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6012" y="3429000"/>
            <a:ext cx="2428875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C29E5EEB-F38B-58DD-16DE-8654D7656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4900" y="4618038"/>
            <a:ext cx="4392612" cy="46037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F394D1C2-15A5-1311-0ACD-9653E913E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4212" y="3632200"/>
            <a:ext cx="431800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0A21AA04-EB30-B277-1890-16733C175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012" y="3286203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VPN</a:t>
            </a: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技术</a:t>
            </a: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F7D6BE77-8373-10C5-33D0-D55D2A77F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4887" y="1920875"/>
            <a:ext cx="0" cy="436563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1" name="AutoShape 18">
            <a:extLst>
              <a:ext uri="{FF2B5EF4-FFF2-40B4-BE49-F238E27FC236}">
                <a16:creationId xmlns:a16="http://schemas.microsoft.com/office/drawing/2014/main" id="{ED91B0C0-8BE0-959A-579B-ABE7FC6F9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62" y="3014745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加密算法</a:t>
            </a:r>
          </a:p>
        </p:txBody>
      </p:sp>
      <p:sp>
        <p:nvSpPr>
          <p:cNvPr id="12" name="AutoShape 28">
            <a:extLst>
              <a:ext uri="{FF2B5EF4-FFF2-40B4-BE49-F238E27FC236}">
                <a16:creationId xmlns:a16="http://schemas.microsoft.com/office/drawing/2014/main" id="{A2CF6B95-E653-268B-744B-09279914A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62" y="348305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数据报文验证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3D4058E4-DF68-7247-FC15-4BCF004D8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35" y="3300530"/>
            <a:ext cx="2132012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IPSec VPN</a:t>
            </a:r>
          </a:p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原理与配置</a:t>
            </a:r>
          </a:p>
        </p:txBody>
      </p:sp>
      <p:sp>
        <p:nvSpPr>
          <p:cNvPr id="14" name="Line 36">
            <a:extLst>
              <a:ext uri="{FF2B5EF4-FFF2-40B4-BE49-F238E27FC236}">
                <a16:creationId xmlns:a16="http://schemas.microsoft.com/office/drawing/2014/main" id="{B1653E2C-2FB2-8542-441C-53FF04054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6012" y="2143125"/>
            <a:ext cx="0" cy="3643313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5" name="Line 37">
            <a:extLst>
              <a:ext uri="{FF2B5EF4-FFF2-40B4-BE49-F238E27FC236}">
                <a16:creationId xmlns:a16="http://schemas.microsoft.com/office/drawing/2014/main" id="{AA4A89F7-8C2F-3426-9CDC-2BA8618E7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4887" y="3182938"/>
            <a:ext cx="0" cy="460375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C303CB5E-E127-B899-DD94-883682CA4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62" y="175108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VPN</a:t>
            </a: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的定义</a:t>
            </a: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7A3A20AA-DF4E-514C-73CB-E592FFF63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587" y="4429132"/>
            <a:ext cx="2000263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IPSec VPN</a:t>
            </a:r>
            <a:endParaRPr lang="zh-CN" altLang="en-US" sz="1600" b="1" dirty="0">
              <a:solidFill>
                <a:srgbClr val="000000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CA8D2115-F203-592C-6293-D183D244E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900" y="1982859"/>
            <a:ext cx="1971675" cy="37465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VPN</a:t>
            </a: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概述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B003B0EA-8276-F486-2182-C435340DB3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0762" y="5121275"/>
            <a:ext cx="360363" cy="1588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C40B61EA-D5B8-E826-481E-349896EE9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4887" y="4179888"/>
            <a:ext cx="360363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1" name="Line 26">
            <a:extLst>
              <a:ext uri="{FF2B5EF4-FFF2-40B4-BE49-F238E27FC236}">
                <a16:creationId xmlns:a16="http://schemas.microsoft.com/office/drawing/2014/main" id="{71740D88-2E6D-1584-20D4-DFEE1D1D9D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6012" y="5786438"/>
            <a:ext cx="349250" cy="3175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" name="AutoShape 18">
            <a:extLst>
              <a:ext uri="{FF2B5EF4-FFF2-40B4-BE49-F238E27FC236}">
                <a16:creationId xmlns:a16="http://schemas.microsoft.com/office/drawing/2014/main" id="{BC8A37D2-14C6-B0FD-A49C-9D17BFD05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429" y="4000504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IPSec</a:t>
            </a: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连接</a:t>
            </a:r>
          </a:p>
        </p:txBody>
      </p:sp>
      <p:sp>
        <p:nvSpPr>
          <p:cNvPr id="23" name="AutoShape 27">
            <a:extLst>
              <a:ext uri="{FF2B5EF4-FFF2-40B4-BE49-F238E27FC236}">
                <a16:creationId xmlns:a16="http://schemas.microsoft.com/office/drawing/2014/main" id="{CF5E760D-989B-1BCA-E6A5-F007F9165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675" y="4918772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ISAKMP/IKE</a:t>
            </a:r>
            <a:r>
              <a:rPr lang="zh-CN" altLang="en-US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阶段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2</a:t>
            </a:r>
            <a:endParaRPr lang="zh-CN" altLang="en-US" sz="1600" b="1" dirty="0">
              <a:solidFill>
                <a:srgbClr val="FF0000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24" name="AutoShape 28">
            <a:extLst>
              <a:ext uri="{FF2B5EF4-FFF2-40B4-BE49-F238E27FC236}">
                <a16:creationId xmlns:a16="http://schemas.microsoft.com/office/drawing/2014/main" id="{1A3B968F-4DEC-C879-3881-82099E016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429" y="446881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ISAKMP/IKE</a:t>
            </a:r>
            <a:r>
              <a:rPr lang="zh-CN" altLang="en-US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阶段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1</a:t>
            </a:r>
            <a:endParaRPr lang="zh-CN" altLang="en-US" sz="1600" b="1" dirty="0">
              <a:solidFill>
                <a:srgbClr val="FF0000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5D4BAA39-65A5-FAEC-1632-32BC0E3D3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313" y="5425220"/>
            <a:ext cx="2000264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IPSec VPN</a:t>
            </a:r>
            <a:r>
              <a:rPr lang="zh-CN" altLang="en-US" sz="16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的配置实现</a:t>
            </a:r>
          </a:p>
        </p:txBody>
      </p:sp>
      <p:sp>
        <p:nvSpPr>
          <p:cNvPr id="26" name="Line 37">
            <a:extLst>
              <a:ext uri="{FF2B5EF4-FFF2-40B4-BE49-F238E27FC236}">
                <a16:creationId xmlns:a16="http://schemas.microsoft.com/office/drawing/2014/main" id="{E5C92628-FA1C-494B-EAD6-5B09CE7D44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4887" y="4168775"/>
            <a:ext cx="3175" cy="974725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7" name="Line 16">
            <a:extLst>
              <a:ext uri="{FF2B5EF4-FFF2-40B4-BE49-F238E27FC236}">
                <a16:creationId xmlns:a16="http://schemas.microsoft.com/office/drawing/2014/main" id="{60367F44-63AB-7811-2088-20A8B645C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4887" y="2357438"/>
            <a:ext cx="360363" cy="0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FA27A941-D422-9855-90C3-CBC69E7C3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62" y="2200350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VPN</a:t>
            </a:r>
            <a:r>
              <a:rPr lang="zh-CN" altLang="en-US" sz="1600" b="1" dirty="0">
                <a:solidFill>
                  <a:srgbClr val="000000"/>
                </a:solidFill>
                <a:latin typeface="+mn-lt"/>
                <a:ea typeface="楷体_GB2312" pitchFamily="49" charset="-122"/>
              </a:rPr>
              <a:t>的模式与类型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广域网存在各种安全隐患</a:t>
            </a:r>
          </a:p>
          <a:p>
            <a:pPr lvl="1">
              <a:spcBef>
                <a:spcPts val="675"/>
              </a:spcBef>
            </a:pPr>
            <a:r>
              <a:rPr lang="zh-CN" altLang="en-US" dirty="0"/>
              <a:t>网上传输的数据有被窃听的风险</a:t>
            </a:r>
            <a:endParaRPr lang="en-US" altLang="zh-CN" dirty="0"/>
          </a:p>
          <a:p>
            <a:pPr lvl="1">
              <a:spcBef>
                <a:spcPts val="675"/>
              </a:spcBef>
            </a:pPr>
            <a:r>
              <a:rPr lang="zh-CN" altLang="en-US" dirty="0"/>
              <a:t>网上传输的数据有被篡改的危险</a:t>
            </a:r>
            <a:endParaRPr lang="en-US" altLang="zh-CN" dirty="0"/>
          </a:p>
          <a:p>
            <a:pPr lvl="1">
              <a:spcBef>
                <a:spcPts val="675"/>
              </a:spcBef>
            </a:pPr>
            <a:r>
              <a:rPr lang="zh-CN" altLang="en-US" dirty="0"/>
              <a:t>通信双方有被冒充的风险</a:t>
            </a:r>
          </a:p>
          <a:p>
            <a:pPr lvl="1">
              <a:spcBef>
                <a:spcPts val="675"/>
              </a:spcBef>
            </a:pPr>
            <a:endParaRPr lang="zh-CN" altLang="en-US" dirty="0"/>
          </a:p>
        </p:txBody>
      </p:sp>
      <p:sp>
        <p:nvSpPr>
          <p:cNvPr id="11267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VPN</a:t>
            </a:r>
            <a:r>
              <a:rPr lang="zh-CN" altLang="en-US"/>
              <a:t>的定义</a:t>
            </a:r>
            <a:r>
              <a:rPr lang="en-US" altLang="zh-CN"/>
              <a:t>2-1</a:t>
            </a:r>
            <a:endParaRPr lang="zh-CN" altLang="en-US"/>
          </a:p>
        </p:txBody>
      </p:sp>
      <p:grpSp>
        <p:nvGrpSpPr>
          <p:cNvPr id="2" name="组合 28"/>
          <p:cNvGrpSpPr>
            <a:grpSpLocks/>
          </p:cNvGrpSpPr>
          <p:nvPr/>
        </p:nvGrpSpPr>
        <p:grpSpPr bwMode="auto">
          <a:xfrm>
            <a:off x="2667000" y="3500439"/>
            <a:ext cx="6648450" cy="2554287"/>
            <a:chOff x="1214414" y="3357562"/>
            <a:chExt cx="6648474" cy="2554288"/>
          </a:xfrm>
        </p:grpSpPr>
        <p:pic>
          <p:nvPicPr>
            <p:cNvPr id="11269" name="Picture 39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58016" y="3357562"/>
              <a:ext cx="745666" cy="949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0" name="Picture 36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14414" y="3429000"/>
              <a:ext cx="1357505" cy="1038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组合 89"/>
            <p:cNvGrpSpPr>
              <a:grpSpLocks/>
            </p:cNvGrpSpPr>
            <p:nvPr/>
          </p:nvGrpSpPr>
          <p:grpSpPr bwMode="auto">
            <a:xfrm>
              <a:off x="1235075" y="3786187"/>
              <a:ext cx="6627813" cy="2125663"/>
              <a:chOff x="1235075" y="3929066"/>
              <a:chExt cx="6627813" cy="2125663"/>
            </a:xfrm>
          </p:grpSpPr>
          <p:cxnSp>
            <p:nvCxnSpPr>
              <p:cNvPr id="11272" name="AutoShape 40"/>
              <p:cNvCxnSpPr>
                <a:cxnSpLocks noChangeShapeType="1"/>
              </p:cNvCxnSpPr>
              <p:nvPr/>
            </p:nvCxnSpPr>
            <p:spPr bwMode="auto">
              <a:xfrm flipH="1">
                <a:off x="2316163" y="4589467"/>
                <a:ext cx="4762" cy="598487"/>
              </a:xfrm>
              <a:prstGeom prst="straightConnector1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</p:cxnSp>
          <p:pic>
            <p:nvPicPr>
              <p:cNvPr id="11273" name="Picture 8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3786167" y="3929066"/>
                <a:ext cx="1541460" cy="857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1274" name="AutoShape 21"/>
              <p:cNvCxnSpPr>
                <a:cxnSpLocks noChangeShapeType="1"/>
              </p:cNvCxnSpPr>
              <p:nvPr/>
            </p:nvCxnSpPr>
            <p:spPr bwMode="auto">
              <a:xfrm>
                <a:off x="2806700" y="4343404"/>
                <a:ext cx="1081088" cy="0"/>
              </a:xfrm>
              <a:prstGeom prst="straightConnector1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11275" name="AutoShape 22"/>
              <p:cNvCxnSpPr>
                <a:cxnSpLocks noChangeShapeType="1"/>
              </p:cNvCxnSpPr>
              <p:nvPr/>
            </p:nvCxnSpPr>
            <p:spPr bwMode="auto">
              <a:xfrm flipV="1">
                <a:off x="5173663" y="4341817"/>
                <a:ext cx="1127125" cy="1587"/>
              </a:xfrm>
              <a:prstGeom prst="straightConnector1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</p:cxnSp>
          <p:sp>
            <p:nvSpPr>
              <p:cNvPr id="74" name="Text Box 23"/>
              <p:cNvSpPr txBox="1">
                <a:spLocks noChangeArrowheads="1"/>
              </p:cNvSpPr>
              <p:nvPr/>
            </p:nvSpPr>
            <p:spPr bwMode="auto">
              <a:xfrm>
                <a:off x="4083037" y="4179891"/>
                <a:ext cx="1042991" cy="36671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>
                <a:spAutoFit/>
              </a:bodyPr>
              <a:lstStyle/>
              <a:p>
                <a:pPr marL="342900" indent="-342900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chemeClr val="tx2"/>
                    </a:solidFill>
                  </a:rPr>
                  <a:t>Internet</a:t>
                </a:r>
              </a:p>
            </p:txBody>
          </p:sp>
          <p:grpSp>
            <p:nvGrpSpPr>
              <p:cNvPr id="4" name="Group 30"/>
              <p:cNvGrpSpPr>
                <a:grpSpLocks/>
              </p:cNvGrpSpPr>
              <p:nvPr/>
            </p:nvGrpSpPr>
            <p:grpSpPr bwMode="auto">
              <a:xfrm>
                <a:off x="1235075" y="5187954"/>
                <a:ext cx="2160588" cy="863600"/>
                <a:chOff x="771" y="3067"/>
                <a:chExt cx="1361" cy="544"/>
              </a:xfrm>
            </p:grpSpPr>
            <p:sp>
              <p:nvSpPr>
                <p:cNvPr id="77" name="Oval 31" descr="5%"/>
                <p:cNvSpPr>
                  <a:spLocks noChangeArrowheads="1"/>
                </p:cNvSpPr>
                <p:nvPr/>
              </p:nvSpPr>
              <p:spPr bwMode="auto">
                <a:xfrm>
                  <a:off x="771" y="3067"/>
                  <a:ext cx="1361" cy="544"/>
                </a:xfrm>
                <a:prstGeom prst="ellipse">
                  <a:avLst/>
                </a:prstGeom>
                <a:pattFill prst="pct5">
                  <a:fgClr>
                    <a:srgbClr val="33CC33"/>
                  </a:fgClr>
                  <a:bgClr>
                    <a:schemeClr val="bg1"/>
                  </a:bgClr>
                </a:pattFill>
                <a:ln w="9525" algn="ctr">
                  <a:solidFill>
                    <a:srgbClr val="008000"/>
                  </a:solidFill>
                  <a:prstDash val="dash"/>
                  <a:round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pic>
              <p:nvPicPr>
                <p:cNvPr id="78" name="Picture 32" descr="电脑图标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067" y="3226"/>
                  <a:ext cx="272" cy="2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</p:pic>
            <p:pic>
              <p:nvPicPr>
                <p:cNvPr id="79" name="Picture 33" descr="电脑图标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565" y="3226"/>
                  <a:ext cx="272" cy="2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</p:pic>
            <p:cxnSp>
              <p:nvCxnSpPr>
                <p:cNvPr id="80" name="AutoShape 34"/>
                <p:cNvCxnSpPr>
                  <a:cxnSpLocks noChangeShapeType="1"/>
                </p:cNvCxnSpPr>
                <p:nvPr/>
              </p:nvCxnSpPr>
              <p:spPr bwMode="auto">
                <a:xfrm>
                  <a:off x="1339" y="3356"/>
                  <a:ext cx="226" cy="0"/>
                </a:xfrm>
                <a:prstGeom prst="straightConnector1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</p:cxnSp>
          </p:grpSp>
          <p:grpSp>
            <p:nvGrpSpPr>
              <p:cNvPr id="5" name="Group 35"/>
              <p:cNvGrpSpPr>
                <a:grpSpLocks/>
              </p:cNvGrpSpPr>
              <p:nvPr/>
            </p:nvGrpSpPr>
            <p:grpSpPr bwMode="auto">
              <a:xfrm>
                <a:off x="5702300" y="5191129"/>
                <a:ext cx="2160588" cy="863600"/>
                <a:chOff x="771" y="3067"/>
                <a:chExt cx="1361" cy="544"/>
              </a:xfrm>
            </p:grpSpPr>
            <p:sp>
              <p:nvSpPr>
                <p:cNvPr id="82" name="Oval 36" descr="5%"/>
                <p:cNvSpPr>
                  <a:spLocks noChangeArrowheads="1"/>
                </p:cNvSpPr>
                <p:nvPr/>
              </p:nvSpPr>
              <p:spPr bwMode="auto">
                <a:xfrm>
                  <a:off x="771" y="3067"/>
                  <a:ext cx="1361" cy="544"/>
                </a:xfrm>
                <a:prstGeom prst="ellipse">
                  <a:avLst/>
                </a:prstGeom>
                <a:pattFill prst="pct5">
                  <a:fgClr>
                    <a:srgbClr val="33CC33"/>
                  </a:fgClr>
                  <a:bgClr>
                    <a:schemeClr val="bg1"/>
                  </a:bgClr>
                </a:pattFill>
                <a:ln w="9525" algn="ctr">
                  <a:solidFill>
                    <a:srgbClr val="008000"/>
                  </a:solidFill>
                  <a:prstDash val="dash"/>
                  <a:round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pic>
              <p:nvPicPr>
                <p:cNvPr id="83" name="Picture 37" descr="电脑图标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067" y="3226"/>
                  <a:ext cx="272" cy="2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</p:pic>
            <p:pic>
              <p:nvPicPr>
                <p:cNvPr id="84" name="Picture 38" descr="电脑图标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565" y="3226"/>
                  <a:ext cx="272" cy="2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</p:pic>
            <p:cxnSp>
              <p:nvCxnSpPr>
                <p:cNvPr id="85" name="AutoShape 39"/>
                <p:cNvCxnSpPr>
                  <a:cxnSpLocks noChangeShapeType="1"/>
                </p:cNvCxnSpPr>
                <p:nvPr/>
              </p:nvCxnSpPr>
              <p:spPr bwMode="auto">
                <a:xfrm>
                  <a:off x="1339" y="3356"/>
                  <a:ext cx="226" cy="0"/>
                </a:xfrm>
                <a:prstGeom prst="straightConnector1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p:spPr>
            </p:cxnSp>
          </p:grpSp>
          <p:cxnSp>
            <p:nvCxnSpPr>
              <p:cNvPr id="11279" name="AutoShape 41"/>
              <p:cNvCxnSpPr>
                <a:cxnSpLocks noChangeShapeType="1"/>
              </p:cNvCxnSpPr>
              <p:nvPr/>
            </p:nvCxnSpPr>
            <p:spPr bwMode="auto">
              <a:xfrm flipV="1">
                <a:off x="6783388" y="4587879"/>
                <a:ext cx="3175" cy="603250"/>
              </a:xfrm>
              <a:prstGeom prst="straightConnector1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</p:cxnSp>
          <p:pic>
            <p:nvPicPr>
              <p:cNvPr id="11280" name="Picture 7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286512" y="4054465"/>
                <a:ext cx="985856" cy="603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9" name="TextBox 88"/>
              <p:cNvSpPr txBox="1"/>
              <p:nvPr/>
            </p:nvSpPr>
            <p:spPr>
              <a:xfrm>
                <a:off x="6572246" y="4340228"/>
                <a:ext cx="785815" cy="36988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b="1" dirty="0">
                    <a:solidFill>
                      <a:schemeClr val="accent3"/>
                    </a:solidFill>
                  </a:rPr>
                  <a:t>R2</a:t>
                </a:r>
                <a:endParaRPr lang="zh-CN" altLang="en-US" b="1" dirty="0">
                  <a:solidFill>
                    <a:schemeClr val="accent3"/>
                  </a:solidFill>
                </a:endParaRPr>
              </a:p>
            </p:txBody>
          </p:sp>
          <p:pic>
            <p:nvPicPr>
              <p:cNvPr id="11282" name="Picture 7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835150" y="4054465"/>
                <a:ext cx="1022338" cy="6016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8" name="TextBox 87"/>
              <p:cNvSpPr txBox="1"/>
              <p:nvPr/>
            </p:nvSpPr>
            <p:spPr>
              <a:xfrm>
                <a:off x="2071667" y="4340228"/>
                <a:ext cx="785816" cy="36988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b="1" dirty="0">
                    <a:solidFill>
                      <a:schemeClr val="accent3"/>
                    </a:solidFill>
                  </a:rPr>
                  <a:t>R1</a:t>
                </a:r>
                <a:endParaRPr lang="zh-CN" altLang="en-US" b="1" dirty="0">
                  <a:solidFill>
                    <a:schemeClr val="accent3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43DF0-43BF-1825-5885-5AE413ED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1">
            <a:extLst>
              <a:ext uri="{FF2B5EF4-FFF2-40B4-BE49-F238E27FC236}">
                <a16:creationId xmlns:a16="http://schemas.microsoft.com/office/drawing/2014/main" id="{5A1612F8-A628-44D4-F0B1-784A265FB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VPN</a:t>
            </a:r>
            <a:r>
              <a:rPr lang="zh-CN" altLang="en-US"/>
              <a:t>建立“保护”网络实体之间的通信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使用加密技术防止数据被窃听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数据完整性验证防止数据被破坏、篡改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通过认证机制确认身份，防止数据被截获、回放</a:t>
            </a: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2291" name="标题 2">
            <a:extLst>
              <a:ext uri="{FF2B5EF4-FFF2-40B4-BE49-F238E27FC236}">
                <a16:creationId xmlns:a16="http://schemas.microsoft.com/office/drawing/2014/main" id="{143E47F5-DC7D-43E6-A1DB-CC90396E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VPN</a:t>
            </a:r>
            <a:r>
              <a:rPr lang="zh-CN" altLang="en-US"/>
              <a:t>的定义</a:t>
            </a:r>
            <a:r>
              <a:rPr lang="en-US" altLang="zh-CN"/>
              <a:t>2-2</a:t>
            </a:r>
            <a:endParaRPr lang="zh-CN" altLang="en-US"/>
          </a:p>
        </p:txBody>
      </p:sp>
      <p:pic>
        <p:nvPicPr>
          <p:cNvPr id="12292" name="Picture 39">
            <a:extLst>
              <a:ext uri="{FF2B5EF4-FFF2-40B4-BE49-F238E27FC236}">
                <a16:creationId xmlns:a16="http://schemas.microsoft.com/office/drawing/2014/main" id="{F18D3262-6C3C-AA31-6E7E-23CCE750C2EB}"/>
              </a:ext>
            </a:extLst>
          </p:cNvPr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10564" y="3500439"/>
            <a:ext cx="746125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36">
            <a:extLst>
              <a:ext uri="{FF2B5EF4-FFF2-40B4-BE49-F238E27FC236}">
                <a16:creationId xmlns:a16="http://schemas.microsoft.com/office/drawing/2014/main" id="{E3C94C0A-F822-E6D5-93B3-2FC90DDB87EC}"/>
              </a:ext>
            </a:extLst>
          </p:cNvPr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1" y="3571876"/>
            <a:ext cx="1357313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294" name="AutoShape 40">
            <a:extLst>
              <a:ext uri="{FF2B5EF4-FFF2-40B4-BE49-F238E27FC236}">
                <a16:creationId xmlns:a16="http://schemas.microsoft.com/office/drawing/2014/main" id="{D240E0BD-7CDE-52BC-6E9D-6DBF3EEF1BF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68726" y="4589464"/>
            <a:ext cx="4763" cy="5984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pic>
        <p:nvPicPr>
          <p:cNvPr id="12295" name="Picture 8">
            <a:extLst>
              <a:ext uri="{FF2B5EF4-FFF2-40B4-BE49-F238E27FC236}">
                <a16:creationId xmlns:a16="http://schemas.microsoft.com/office/drawing/2014/main" id="{E5480AFB-538A-1A39-DE6A-A6DCCB6CAE55}"/>
              </a:ext>
            </a:extLst>
          </p:cNvPr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38751" y="3929064"/>
            <a:ext cx="1470025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296" name="AutoShape 21">
            <a:extLst>
              <a:ext uri="{FF2B5EF4-FFF2-40B4-BE49-F238E27FC236}">
                <a16:creationId xmlns:a16="http://schemas.microsoft.com/office/drawing/2014/main" id="{1674E0C2-E46E-D3E6-8472-3023CA0F1DD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9264" y="4343400"/>
            <a:ext cx="1081087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2297" name="AutoShape 22">
            <a:extLst>
              <a:ext uri="{FF2B5EF4-FFF2-40B4-BE49-F238E27FC236}">
                <a16:creationId xmlns:a16="http://schemas.microsoft.com/office/drawing/2014/main" id="{1DCEDFE3-539C-3BC7-1634-1211EE8FC75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626226" y="4341814"/>
            <a:ext cx="1127125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71" name="Text Box 23">
            <a:extLst>
              <a:ext uri="{FF2B5EF4-FFF2-40B4-BE49-F238E27FC236}">
                <a16:creationId xmlns:a16="http://schemas.microsoft.com/office/drawing/2014/main" id="{CD54870E-AA6B-3BA3-E63F-BFC4E8803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614" y="4179888"/>
            <a:ext cx="10429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2"/>
                </a:solidFill>
              </a:rPr>
              <a:t>Internet</a:t>
            </a:r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FC8AC599-FBAD-0243-654D-5CAE2C97E777}"/>
              </a:ext>
            </a:extLst>
          </p:cNvPr>
          <p:cNvGrpSpPr>
            <a:grpSpLocks/>
          </p:cNvGrpSpPr>
          <p:nvPr/>
        </p:nvGrpSpPr>
        <p:grpSpPr bwMode="auto">
          <a:xfrm>
            <a:off x="2687639" y="5187950"/>
            <a:ext cx="2160587" cy="863600"/>
            <a:chOff x="771" y="3067"/>
            <a:chExt cx="1361" cy="544"/>
          </a:xfrm>
        </p:grpSpPr>
        <p:sp>
          <p:nvSpPr>
            <p:cNvPr id="82" name="Oval 31" descr="5%">
              <a:extLst>
                <a:ext uri="{FF2B5EF4-FFF2-40B4-BE49-F238E27FC236}">
                  <a16:creationId xmlns:a16="http://schemas.microsoft.com/office/drawing/2014/main" id="{1C91C97A-BFF9-0DF9-55A1-0EEC24403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pic>
          <p:nvPicPr>
            <p:cNvPr id="83" name="Picture 32" descr="电脑图标">
              <a:extLst>
                <a:ext uri="{FF2B5EF4-FFF2-40B4-BE49-F238E27FC236}">
                  <a16:creationId xmlns:a16="http://schemas.microsoft.com/office/drawing/2014/main" id="{C5024FD5-ADB8-8DF6-EBAE-D14FCD5ECB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84" name="Picture 33" descr="电脑图标">
              <a:extLst>
                <a:ext uri="{FF2B5EF4-FFF2-40B4-BE49-F238E27FC236}">
                  <a16:creationId xmlns:a16="http://schemas.microsoft.com/office/drawing/2014/main" id="{018EBA58-EEF5-BBD0-3206-69A7EDC6E1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85" name="AutoShape 34">
              <a:extLst>
                <a:ext uri="{FF2B5EF4-FFF2-40B4-BE49-F238E27FC236}">
                  <a16:creationId xmlns:a16="http://schemas.microsoft.com/office/drawing/2014/main" id="{570FC6DA-64AB-323A-583A-4BA6C1D864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3" name="Group 35">
            <a:extLst>
              <a:ext uri="{FF2B5EF4-FFF2-40B4-BE49-F238E27FC236}">
                <a16:creationId xmlns:a16="http://schemas.microsoft.com/office/drawing/2014/main" id="{9B0238FF-0BCE-4876-2E33-9CC31BBD490F}"/>
              </a:ext>
            </a:extLst>
          </p:cNvPr>
          <p:cNvGrpSpPr>
            <a:grpSpLocks/>
          </p:cNvGrpSpPr>
          <p:nvPr/>
        </p:nvGrpSpPr>
        <p:grpSpPr bwMode="auto">
          <a:xfrm>
            <a:off x="7154864" y="5191125"/>
            <a:ext cx="2160587" cy="863600"/>
            <a:chOff x="771" y="3067"/>
            <a:chExt cx="1361" cy="544"/>
          </a:xfrm>
        </p:grpSpPr>
        <p:sp>
          <p:nvSpPr>
            <p:cNvPr id="78" name="Oval 36" descr="5%">
              <a:extLst>
                <a:ext uri="{FF2B5EF4-FFF2-40B4-BE49-F238E27FC236}">
                  <a16:creationId xmlns:a16="http://schemas.microsoft.com/office/drawing/2014/main" id="{BF7A0749-19F6-F787-1794-E80AF52EC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pic>
          <p:nvPicPr>
            <p:cNvPr id="79" name="Picture 37" descr="电脑图标">
              <a:extLst>
                <a:ext uri="{FF2B5EF4-FFF2-40B4-BE49-F238E27FC236}">
                  <a16:creationId xmlns:a16="http://schemas.microsoft.com/office/drawing/2014/main" id="{F77922C0-79AC-6E93-5A1F-AA4F06F38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80" name="Picture 38" descr="电脑图标">
              <a:extLst>
                <a:ext uri="{FF2B5EF4-FFF2-40B4-BE49-F238E27FC236}">
                  <a16:creationId xmlns:a16="http://schemas.microsoft.com/office/drawing/2014/main" id="{39676640-046C-B9B1-9E87-9BDD9BF42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81" name="AutoShape 39">
              <a:extLst>
                <a:ext uri="{FF2B5EF4-FFF2-40B4-BE49-F238E27FC236}">
                  <a16:creationId xmlns:a16="http://schemas.microsoft.com/office/drawing/2014/main" id="{4024D0C1-8259-5678-19ED-09BE4CE3FD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12301" name="AutoShape 41">
            <a:extLst>
              <a:ext uri="{FF2B5EF4-FFF2-40B4-BE49-F238E27FC236}">
                <a16:creationId xmlns:a16="http://schemas.microsoft.com/office/drawing/2014/main" id="{2B04F5A6-0B3E-80EC-2078-45234F99CF7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35951" y="4587875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pic>
        <p:nvPicPr>
          <p:cNvPr id="12302" name="Picture 7">
            <a:extLst>
              <a:ext uri="{FF2B5EF4-FFF2-40B4-BE49-F238E27FC236}">
                <a16:creationId xmlns:a16="http://schemas.microsoft.com/office/drawing/2014/main" id="{012310C1-FA81-5B28-B226-2EE915122B3F}"/>
              </a:ext>
            </a:extLst>
          </p:cNvPr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287713" y="4054476"/>
            <a:ext cx="1022350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AutoShape 30">
            <a:extLst>
              <a:ext uri="{FF2B5EF4-FFF2-40B4-BE49-F238E27FC236}">
                <a16:creationId xmlns:a16="http://schemas.microsoft.com/office/drawing/2014/main" id="{F8337A97-E324-A505-432D-E2A258394C4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881688" y="2571751"/>
            <a:ext cx="285750" cy="3571875"/>
          </a:xfrm>
          <a:prstGeom prst="can">
            <a:avLst>
              <a:gd name="adj" fmla="val 71991"/>
            </a:avLst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marL="342900" indent="-342900" algn="ctr"/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vpn</a:t>
            </a:r>
            <a:r>
              <a: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隧道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231C21-08B8-A1DA-AC94-854DC0586355}"/>
              </a:ext>
            </a:extLst>
          </p:cNvPr>
          <p:cNvSpPr txBox="1"/>
          <p:nvPr/>
        </p:nvSpPr>
        <p:spPr bwMode="auto">
          <a:xfrm>
            <a:off x="3524251" y="4344989"/>
            <a:ext cx="78581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accent3"/>
                </a:solidFill>
              </a:rPr>
              <a:t>R1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pic>
        <p:nvPicPr>
          <p:cNvPr id="12305" name="Picture 7">
            <a:extLst>
              <a:ext uri="{FF2B5EF4-FFF2-40B4-BE49-F238E27FC236}">
                <a16:creationId xmlns:a16="http://schemas.microsoft.com/office/drawing/2014/main" id="{FF9B321B-0FC7-3228-4A84-6D0D83CCF2FF}"/>
              </a:ext>
            </a:extLst>
          </p:cNvPr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739064" y="4054475"/>
            <a:ext cx="9858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C91E9C3-38B5-572F-C5B4-B4981615F204}"/>
              </a:ext>
            </a:extLst>
          </p:cNvPr>
          <p:cNvSpPr txBox="1"/>
          <p:nvPr/>
        </p:nvSpPr>
        <p:spPr bwMode="auto">
          <a:xfrm>
            <a:off x="8024813" y="4340225"/>
            <a:ext cx="7858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accent3"/>
                </a:solidFill>
              </a:rPr>
              <a:t>R2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32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传输模式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封装模式相对简单，传输效率较高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IP</a:t>
            </a:r>
            <a:r>
              <a:rPr lang="zh-CN" altLang="en-US"/>
              <a:t>包头未被保护</a:t>
            </a:r>
          </a:p>
        </p:txBody>
      </p:sp>
      <p:sp>
        <p:nvSpPr>
          <p:cNvPr id="1331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VPN</a:t>
            </a:r>
            <a:r>
              <a:rPr lang="zh-CN" altLang="en-US"/>
              <a:t>的连接模式</a:t>
            </a:r>
            <a:r>
              <a:rPr lang="en-US" altLang="zh-CN"/>
              <a:t>2-1</a:t>
            </a:r>
            <a:endParaRPr lang="zh-CN" altLang="en-US"/>
          </a:p>
        </p:txBody>
      </p:sp>
      <p:pic>
        <p:nvPicPr>
          <p:cNvPr id="13316" name="Picture 8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1789" y="3805238"/>
            <a:ext cx="1285875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317" name="AutoShape 5"/>
          <p:cNvCxnSpPr>
            <a:cxnSpLocks noChangeShapeType="1"/>
          </p:cNvCxnSpPr>
          <p:nvPr/>
        </p:nvCxnSpPr>
        <p:spPr bwMode="auto">
          <a:xfrm>
            <a:off x="4330700" y="4148138"/>
            <a:ext cx="1081088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3318" name="AutoShape 6"/>
          <p:cNvCxnSpPr>
            <a:cxnSpLocks noChangeShapeType="1"/>
          </p:cNvCxnSpPr>
          <p:nvPr/>
        </p:nvCxnSpPr>
        <p:spPr bwMode="auto">
          <a:xfrm flipV="1">
            <a:off x="6697664" y="4146550"/>
            <a:ext cx="1127125" cy="15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607050" y="3984626"/>
            <a:ext cx="10429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759075" y="4992688"/>
            <a:ext cx="2160588" cy="863600"/>
            <a:chOff x="771" y="3067"/>
            <a:chExt cx="1361" cy="544"/>
          </a:xfrm>
        </p:grpSpPr>
        <p:sp>
          <p:nvSpPr>
            <p:cNvPr id="9" name="Oval 9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0" name="Picture 10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1" name="Picture 11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2" name="AutoShape 12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226300" y="4995863"/>
            <a:ext cx="2160588" cy="863600"/>
            <a:chOff x="771" y="3067"/>
            <a:chExt cx="1361" cy="544"/>
          </a:xfrm>
        </p:grpSpPr>
        <p:sp>
          <p:nvSpPr>
            <p:cNvPr id="14" name="Oval 14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5" name="Picture 15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6" name="Picture 1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7" name="AutoShape 17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13322" name="AutoShape 18"/>
          <p:cNvCxnSpPr>
            <a:cxnSpLocks noChangeShapeType="1"/>
          </p:cNvCxnSpPr>
          <p:nvPr/>
        </p:nvCxnSpPr>
        <p:spPr bwMode="auto">
          <a:xfrm flipH="1">
            <a:off x="3840163" y="4394200"/>
            <a:ext cx="4762" cy="5984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3323" name="AutoShape 19"/>
          <p:cNvCxnSpPr>
            <a:cxnSpLocks noChangeShapeType="1"/>
          </p:cNvCxnSpPr>
          <p:nvPr/>
        </p:nvCxnSpPr>
        <p:spPr bwMode="auto">
          <a:xfrm flipV="1">
            <a:off x="8307389" y="4392613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3381375" y="3900489"/>
            <a:ext cx="971550" cy="541337"/>
            <a:chOff x="1170" y="1108"/>
            <a:chExt cx="612" cy="341"/>
          </a:xfrm>
        </p:grpSpPr>
        <p:pic>
          <p:nvPicPr>
            <p:cNvPr id="13343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70" y="1108"/>
              <a:ext cx="612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1350" y="1237"/>
              <a:ext cx="409" cy="212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7810501" y="3898900"/>
            <a:ext cx="1000125" cy="552450"/>
            <a:chOff x="3960" y="1107"/>
            <a:chExt cx="630" cy="348"/>
          </a:xfrm>
        </p:grpSpPr>
        <p:pic>
          <p:nvPicPr>
            <p:cNvPr id="13341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60" y="1107"/>
              <a:ext cx="612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4181" y="1243"/>
              <a:ext cx="409" cy="212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2281239" y="5676900"/>
            <a:ext cx="8286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包头</a:t>
            </a: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3108325" y="5676900"/>
            <a:ext cx="1619250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有效载荷</a:t>
            </a: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2279651" y="3392488"/>
            <a:ext cx="8286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包头</a:t>
            </a: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109914" y="3048000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头</a:t>
            </a: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3106738" y="3392488"/>
            <a:ext cx="1619250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有效载荷</a:t>
            </a: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5573714" y="3048000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尾</a:t>
            </a:r>
          </a:p>
        </p:txBody>
      </p: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2279650" y="3382963"/>
            <a:ext cx="4152900" cy="336550"/>
            <a:chOff x="476" y="1849"/>
            <a:chExt cx="2616" cy="212"/>
          </a:xfrm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476" y="1853"/>
              <a:ext cx="522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34" name="Rectangle 22"/>
            <p:cNvSpPr>
              <a:spLocks noChangeArrowheads="1"/>
            </p:cNvSpPr>
            <p:nvPr/>
          </p:nvSpPr>
          <p:spPr bwMode="auto">
            <a:xfrm>
              <a:off x="999" y="1849"/>
              <a:ext cx="53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VPN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头</a:t>
              </a:r>
            </a:p>
          </p:txBody>
        </p:sp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1533" y="1853"/>
              <a:ext cx="1020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有效载荷</a:t>
              </a:r>
            </a:p>
          </p:txBody>
        </p:sp>
        <p:sp>
          <p:nvSpPr>
            <p:cNvPr id="36" name="Rectangle 22"/>
            <p:cNvSpPr>
              <a:spLocks noChangeArrowheads="1"/>
            </p:cNvSpPr>
            <p:nvPr/>
          </p:nvSpPr>
          <p:spPr bwMode="auto">
            <a:xfrm>
              <a:off x="2554" y="1857"/>
              <a:ext cx="53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VPN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尾</a:t>
              </a: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6240464" y="3390900"/>
            <a:ext cx="8286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包头</a:t>
            </a:r>
          </a:p>
        </p:txBody>
      </p:sp>
      <p:sp>
        <p:nvSpPr>
          <p:cNvPr id="38" name="Rectangle 22"/>
          <p:cNvSpPr>
            <a:spLocks noChangeArrowheads="1"/>
          </p:cNvSpPr>
          <p:nvPr/>
        </p:nvSpPr>
        <p:spPr bwMode="auto">
          <a:xfrm>
            <a:off x="7070726" y="3384550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头</a:t>
            </a:r>
          </a:p>
        </p:txBody>
      </p:sp>
      <p:sp>
        <p:nvSpPr>
          <p:cNvPr id="39" name="Rectangle 24"/>
          <p:cNvSpPr>
            <a:spLocks noChangeArrowheads="1"/>
          </p:cNvSpPr>
          <p:nvPr/>
        </p:nvSpPr>
        <p:spPr bwMode="auto">
          <a:xfrm>
            <a:off x="7092951" y="3384550"/>
            <a:ext cx="8286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包头</a:t>
            </a:r>
          </a:p>
        </p:txBody>
      </p:sp>
      <p:sp>
        <p:nvSpPr>
          <p:cNvPr id="40" name="Rectangle 25"/>
          <p:cNvSpPr>
            <a:spLocks noChangeArrowheads="1"/>
          </p:cNvSpPr>
          <p:nvPr/>
        </p:nvSpPr>
        <p:spPr bwMode="auto">
          <a:xfrm>
            <a:off x="7918450" y="3367088"/>
            <a:ext cx="1619250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有效载荷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1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23 L 0.0941 -0.0002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0.00602 L 1.11111E-6 0.0493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0.00602 L 1.11111E-6 0.049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6 L 0.43438 3.7037E-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0"/>
                            </p:stCondLst>
                            <p:childTnLst>
                              <p:par>
                                <p:cTn id="60" presetID="3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22222E-6 L 0.09254 2.22222E-6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0"/>
                            </p:stCondLst>
                            <p:childTnLst>
                              <p:par>
                                <p:cTn id="7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00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333  E" pathEditMode="relative" ptsTypes="">
                                      <p:cBhvr>
                                        <p:cTn id="7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333  E" pathEditMode="relative" ptsTypes="">
                                      <p:cBhvr>
                                        <p:cTn id="7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隧道模式 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IP</a:t>
            </a:r>
            <a:r>
              <a:rPr lang="zh-CN" altLang="en-US"/>
              <a:t>包头被保护</a:t>
            </a:r>
          </a:p>
        </p:txBody>
      </p:sp>
      <p:sp>
        <p:nvSpPr>
          <p:cNvPr id="1433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VPN</a:t>
            </a:r>
            <a:r>
              <a:rPr lang="zh-CN" altLang="en-US"/>
              <a:t>的连接模式</a:t>
            </a:r>
            <a:r>
              <a:rPr lang="en-US" altLang="zh-CN"/>
              <a:t>2-2</a:t>
            </a:r>
            <a:endParaRPr lang="zh-CN" altLang="en-US"/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1582738" y="3376614"/>
            <a:ext cx="4572000" cy="333375"/>
            <a:chOff x="2979" y="1488"/>
            <a:chExt cx="2880" cy="210"/>
          </a:xfrm>
        </p:grpSpPr>
        <p:sp>
          <p:nvSpPr>
            <p:cNvPr id="5" name="Rectangle 22"/>
            <p:cNvSpPr>
              <a:spLocks noChangeArrowheads="1"/>
            </p:cNvSpPr>
            <p:nvPr/>
          </p:nvSpPr>
          <p:spPr bwMode="auto">
            <a:xfrm>
              <a:off x="2979" y="1488"/>
              <a:ext cx="53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FFCC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新</a:t>
              </a: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头</a:t>
              </a:r>
            </a:p>
          </p:txBody>
        </p:sp>
        <p:sp>
          <p:nvSpPr>
            <p:cNvPr id="6" name="Rectangle 22"/>
            <p:cNvSpPr>
              <a:spLocks noChangeArrowheads="1"/>
            </p:cNvSpPr>
            <p:nvPr/>
          </p:nvSpPr>
          <p:spPr bwMode="auto">
            <a:xfrm>
              <a:off x="3515" y="1488"/>
              <a:ext cx="53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VPN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头</a:t>
              </a:r>
            </a:p>
          </p:txBody>
        </p:sp>
        <p:grpSp>
          <p:nvGrpSpPr>
            <p:cNvPr id="3" name="Group 53"/>
            <p:cNvGrpSpPr>
              <a:grpSpLocks/>
            </p:cNvGrpSpPr>
            <p:nvPr/>
          </p:nvGrpSpPr>
          <p:grpSpPr bwMode="auto">
            <a:xfrm>
              <a:off x="4051" y="1494"/>
              <a:ext cx="1269" cy="204"/>
              <a:chOff x="1089" y="3408"/>
              <a:chExt cx="1269" cy="204"/>
            </a:xfrm>
          </p:grpSpPr>
          <p:sp>
            <p:nvSpPr>
              <p:cNvPr id="9" name="Rectangle 24"/>
              <p:cNvSpPr>
                <a:spLocks noChangeArrowheads="1"/>
              </p:cNvSpPr>
              <p:nvPr/>
            </p:nvSpPr>
            <p:spPr bwMode="auto">
              <a:xfrm>
                <a:off x="1089" y="3408"/>
                <a:ext cx="522" cy="204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FF"/>
                  </a:gs>
                </a:gsLst>
                <a:lin ang="5400000" scaled="1"/>
              </a:gra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IP</a:t>
                </a:r>
                <a:r>
                  <a:rPr lang="zh-CN" altLang="en-US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包头</a:t>
                </a:r>
              </a:p>
            </p:txBody>
          </p:sp>
          <p:sp>
            <p:nvSpPr>
              <p:cNvPr id="10" name="Rectangle 25"/>
              <p:cNvSpPr>
                <a:spLocks noChangeArrowheads="1"/>
              </p:cNvSpPr>
              <p:nvPr/>
            </p:nvSpPr>
            <p:spPr bwMode="auto">
              <a:xfrm>
                <a:off x="1610" y="3408"/>
                <a:ext cx="748" cy="204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CCFFFF"/>
                  </a:gs>
                </a:gsLst>
                <a:lin ang="5400000" scaled="1"/>
              </a:gra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有效载荷</a:t>
                </a:r>
              </a:p>
            </p:txBody>
          </p:sp>
        </p:grpSp>
        <p:sp>
          <p:nvSpPr>
            <p:cNvPr id="8" name="Rectangle 22"/>
            <p:cNvSpPr>
              <a:spLocks noChangeArrowheads="1"/>
            </p:cNvSpPr>
            <p:nvPr/>
          </p:nvSpPr>
          <p:spPr bwMode="auto">
            <a:xfrm>
              <a:off x="5321" y="1494"/>
              <a:ext cx="53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VPN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尾</a:t>
              </a:r>
            </a:p>
          </p:txBody>
        </p:sp>
      </p:grpSp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1573214" y="3375025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CC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新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头</a:t>
            </a:r>
          </a:p>
        </p:txBody>
      </p:sp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2435226" y="3051175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头</a:t>
            </a:r>
          </a:p>
        </p:txBody>
      </p:sp>
      <p:pic>
        <p:nvPicPr>
          <p:cNvPr id="14343" name="Picture 8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26" y="3795714"/>
            <a:ext cx="1374775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344" name="AutoShape 5"/>
          <p:cNvCxnSpPr>
            <a:cxnSpLocks noChangeShapeType="1"/>
          </p:cNvCxnSpPr>
          <p:nvPr/>
        </p:nvCxnSpPr>
        <p:spPr bwMode="auto">
          <a:xfrm>
            <a:off x="4354514" y="4138613"/>
            <a:ext cx="1081087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4345" name="AutoShape 6"/>
          <p:cNvCxnSpPr>
            <a:cxnSpLocks noChangeShapeType="1"/>
          </p:cNvCxnSpPr>
          <p:nvPr/>
        </p:nvCxnSpPr>
        <p:spPr bwMode="auto">
          <a:xfrm flipV="1">
            <a:off x="6721476" y="4137025"/>
            <a:ext cx="1127125" cy="15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630864" y="3975101"/>
            <a:ext cx="10429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2782889" y="4983163"/>
            <a:ext cx="2160587" cy="863600"/>
            <a:chOff x="771" y="3067"/>
            <a:chExt cx="1361" cy="544"/>
          </a:xfrm>
        </p:grpSpPr>
        <p:sp>
          <p:nvSpPr>
            <p:cNvPr id="18" name="Oval 9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9" name="Picture 10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20" name="Picture 11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21" name="AutoShape 12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7250114" y="4986338"/>
            <a:ext cx="2160587" cy="863600"/>
            <a:chOff x="771" y="3067"/>
            <a:chExt cx="1361" cy="544"/>
          </a:xfrm>
        </p:grpSpPr>
        <p:sp>
          <p:nvSpPr>
            <p:cNvPr id="23" name="Oval 14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24" name="Picture 15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25" name="Picture 1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26" name="AutoShape 17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14349" name="AutoShape 18"/>
          <p:cNvCxnSpPr>
            <a:cxnSpLocks noChangeShapeType="1"/>
          </p:cNvCxnSpPr>
          <p:nvPr/>
        </p:nvCxnSpPr>
        <p:spPr bwMode="auto">
          <a:xfrm flipH="1">
            <a:off x="3863976" y="4384675"/>
            <a:ext cx="4763" cy="5984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4350" name="AutoShape 19"/>
          <p:cNvCxnSpPr>
            <a:cxnSpLocks noChangeShapeType="1"/>
          </p:cNvCxnSpPr>
          <p:nvPr/>
        </p:nvCxnSpPr>
        <p:spPr bwMode="auto">
          <a:xfrm flipV="1">
            <a:off x="8331201" y="4383088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382964" y="3890964"/>
            <a:ext cx="998537" cy="541337"/>
            <a:chOff x="1156" y="1108"/>
            <a:chExt cx="629" cy="341"/>
          </a:xfrm>
        </p:grpSpPr>
        <p:pic>
          <p:nvPicPr>
            <p:cNvPr id="14366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56" y="1108"/>
              <a:ext cx="612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" name="Text Box 22"/>
            <p:cNvSpPr txBox="1">
              <a:spLocks noChangeArrowheads="1"/>
            </p:cNvSpPr>
            <p:nvPr/>
          </p:nvSpPr>
          <p:spPr bwMode="auto">
            <a:xfrm>
              <a:off x="1376" y="1237"/>
              <a:ext cx="409" cy="212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14" name="Group 23"/>
          <p:cNvGrpSpPr>
            <a:grpSpLocks/>
          </p:cNvGrpSpPr>
          <p:nvPr/>
        </p:nvGrpSpPr>
        <p:grpSpPr bwMode="auto">
          <a:xfrm>
            <a:off x="7848600" y="3889375"/>
            <a:ext cx="971550" cy="552450"/>
            <a:chOff x="3969" y="1107"/>
            <a:chExt cx="612" cy="348"/>
          </a:xfrm>
        </p:grpSpPr>
        <p:pic>
          <p:nvPicPr>
            <p:cNvPr id="14364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69" y="1107"/>
              <a:ext cx="612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" name="Text Box 25"/>
            <p:cNvSpPr txBox="1">
              <a:spLocks noChangeArrowheads="1"/>
            </p:cNvSpPr>
            <p:nvPr/>
          </p:nvSpPr>
          <p:spPr bwMode="auto">
            <a:xfrm>
              <a:off x="4166" y="1243"/>
              <a:ext cx="409" cy="212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15" name="Group 43"/>
          <p:cNvGrpSpPr>
            <a:grpSpLocks/>
          </p:cNvGrpSpPr>
          <p:nvPr/>
        </p:nvGrpSpPr>
        <p:grpSpPr bwMode="auto">
          <a:xfrm>
            <a:off x="3289300" y="5680075"/>
            <a:ext cx="2014538" cy="323850"/>
            <a:chOff x="1089" y="3408"/>
            <a:chExt cx="1269" cy="204"/>
          </a:xfrm>
        </p:grpSpPr>
        <p:sp>
          <p:nvSpPr>
            <p:cNvPr id="36" name="Rectangle 24"/>
            <p:cNvSpPr>
              <a:spLocks noChangeArrowheads="1"/>
            </p:cNvSpPr>
            <p:nvPr/>
          </p:nvSpPr>
          <p:spPr bwMode="auto">
            <a:xfrm>
              <a:off x="1089" y="3408"/>
              <a:ext cx="522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37" name="Rectangle 25"/>
            <p:cNvSpPr>
              <a:spLocks noChangeArrowheads="1"/>
            </p:cNvSpPr>
            <p:nvPr/>
          </p:nvSpPr>
          <p:spPr bwMode="auto">
            <a:xfrm>
              <a:off x="1610" y="3408"/>
              <a:ext cx="74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有效载荷</a:t>
              </a:r>
            </a:p>
          </p:txBody>
        </p:sp>
      </p:grpSp>
      <p:sp>
        <p:nvSpPr>
          <p:cNvPr id="38" name="AutoShape 4"/>
          <p:cNvSpPr>
            <a:spLocks noChangeArrowheads="1"/>
          </p:cNvSpPr>
          <p:nvPr/>
        </p:nvSpPr>
        <p:spPr bwMode="auto">
          <a:xfrm>
            <a:off x="3348038" y="2714626"/>
            <a:ext cx="1549400" cy="504825"/>
          </a:xfrm>
          <a:prstGeom prst="wedgeRoundRectCallout">
            <a:avLst>
              <a:gd name="adj1" fmla="val -30329"/>
              <a:gd name="adj2" fmla="val 9622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被保护的</a:t>
            </a:r>
          </a:p>
        </p:txBody>
      </p:sp>
      <p:sp>
        <p:nvSpPr>
          <p:cNvPr id="39" name="Rectangle 22"/>
          <p:cNvSpPr>
            <a:spLocks noChangeArrowheads="1"/>
          </p:cNvSpPr>
          <p:nvPr/>
        </p:nvSpPr>
        <p:spPr bwMode="auto">
          <a:xfrm>
            <a:off x="5810251" y="3376613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CC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新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头</a:t>
            </a:r>
          </a:p>
        </p:txBody>
      </p:sp>
      <p:sp>
        <p:nvSpPr>
          <p:cNvPr id="40" name="Rectangle 22"/>
          <p:cNvSpPr>
            <a:spLocks noChangeArrowheads="1"/>
          </p:cNvSpPr>
          <p:nvPr/>
        </p:nvSpPr>
        <p:spPr bwMode="auto">
          <a:xfrm>
            <a:off x="6661151" y="3376613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头</a:t>
            </a:r>
          </a:p>
        </p:txBody>
      </p:sp>
      <p:grpSp>
        <p:nvGrpSpPr>
          <p:cNvPr id="17" name="Group 61"/>
          <p:cNvGrpSpPr>
            <a:grpSpLocks/>
          </p:cNvGrpSpPr>
          <p:nvPr/>
        </p:nvGrpSpPr>
        <p:grpSpPr bwMode="auto">
          <a:xfrm>
            <a:off x="7512050" y="3386138"/>
            <a:ext cx="2014538" cy="323850"/>
            <a:chOff x="1089" y="3408"/>
            <a:chExt cx="1269" cy="204"/>
          </a:xfrm>
        </p:grpSpPr>
        <p:sp>
          <p:nvSpPr>
            <p:cNvPr id="42" name="Rectangle 24"/>
            <p:cNvSpPr>
              <a:spLocks noChangeArrowheads="1"/>
            </p:cNvSpPr>
            <p:nvPr/>
          </p:nvSpPr>
          <p:spPr bwMode="auto">
            <a:xfrm>
              <a:off x="1089" y="3408"/>
              <a:ext cx="522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43" name="Rectangle 25"/>
            <p:cNvSpPr>
              <a:spLocks noChangeArrowheads="1"/>
            </p:cNvSpPr>
            <p:nvPr/>
          </p:nvSpPr>
          <p:spPr bwMode="auto">
            <a:xfrm>
              <a:off x="1610" y="3408"/>
              <a:ext cx="748" cy="20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有效载荷</a:t>
              </a:r>
            </a:p>
          </p:txBody>
        </p:sp>
      </p:grpSp>
      <p:sp>
        <p:nvSpPr>
          <p:cNvPr id="44" name="Rectangle 22"/>
          <p:cNvSpPr>
            <a:spLocks noChangeArrowheads="1"/>
          </p:cNvSpPr>
          <p:nvPr/>
        </p:nvSpPr>
        <p:spPr bwMode="auto">
          <a:xfrm>
            <a:off x="9528176" y="3386138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尾</a:t>
            </a:r>
          </a:p>
        </p:txBody>
      </p:sp>
      <p:sp>
        <p:nvSpPr>
          <p:cNvPr id="45" name="Rectangle 22"/>
          <p:cNvSpPr>
            <a:spLocks noChangeArrowheads="1"/>
          </p:cNvSpPr>
          <p:nvPr/>
        </p:nvSpPr>
        <p:spPr bwMode="auto">
          <a:xfrm>
            <a:off x="5278439" y="3051175"/>
            <a:ext cx="854075" cy="3238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VPN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0.00602 L 1.11111E-6 0.049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0.00602 L 1.11111E-6 0.049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0.46267 3.33333E-6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3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333  E" pathEditMode="relative" ptsTypes="">
                                      <p:cBhvr>
                                        <p:cTn id="8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2" grpId="2" animBg="1"/>
      <p:bldP spid="38" grpId="0" animBg="1"/>
      <p:bldP spid="39" grpId="0" animBg="1"/>
      <p:bldP spid="40" grpId="0" animBg="1"/>
      <p:bldP spid="44" grpId="0" animBg="1"/>
      <p:bldP spid="45" grpId="0" animBg="1"/>
      <p:bldP spid="45" grpId="1" animBg="1"/>
      <p:bldP spid="4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站点到站点</a:t>
            </a:r>
            <a:r>
              <a:rPr lang="en-US" altLang="zh-CN"/>
              <a:t>VPN</a:t>
            </a:r>
            <a:endParaRPr lang="zh-CN" altLang="en-US"/>
          </a:p>
        </p:txBody>
      </p:sp>
      <p:sp>
        <p:nvSpPr>
          <p:cNvPr id="1536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VPN</a:t>
            </a:r>
            <a:r>
              <a:rPr lang="zh-CN" altLang="en-US"/>
              <a:t>的类型</a:t>
            </a:r>
            <a:r>
              <a:rPr lang="en-US" altLang="zh-CN"/>
              <a:t>2-1</a:t>
            </a:r>
            <a:endParaRPr lang="zh-CN" altLang="en-US"/>
          </a:p>
        </p:txBody>
      </p:sp>
      <p:sp>
        <p:nvSpPr>
          <p:cNvPr id="15364" name="Freeform 31"/>
          <p:cNvSpPr>
            <a:spLocks/>
          </p:cNvSpPr>
          <p:nvPr/>
        </p:nvSpPr>
        <p:spPr bwMode="auto">
          <a:xfrm>
            <a:off x="4375151" y="2608263"/>
            <a:ext cx="739775" cy="88900"/>
          </a:xfrm>
          <a:custGeom>
            <a:avLst/>
            <a:gdLst>
              <a:gd name="T0" fmla="*/ 0 w 2017"/>
              <a:gd name="T1" fmla="*/ 0 h 97"/>
              <a:gd name="T2" fmla="*/ 2147483647 w 2017"/>
              <a:gd name="T3" fmla="*/ 0 h 97"/>
              <a:gd name="T4" fmla="*/ 2147483647 w 2017"/>
              <a:gd name="T5" fmla="*/ 2147483647 h 97"/>
              <a:gd name="T6" fmla="*/ 2147483647 w 2017"/>
              <a:gd name="T7" fmla="*/ 2147483647 h 97"/>
              <a:gd name="T8" fmla="*/ 0 60000 65536"/>
              <a:gd name="T9" fmla="*/ 0 60000 65536"/>
              <a:gd name="T10" fmla="*/ 0 60000 65536"/>
              <a:gd name="T11" fmla="*/ 0 60000 65536"/>
              <a:gd name="T12" fmla="*/ 0 w 2017"/>
              <a:gd name="T13" fmla="*/ 0 h 97"/>
              <a:gd name="T14" fmla="*/ 2017 w 2017"/>
              <a:gd name="T15" fmla="*/ 97 h 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5" name="Freeform 32"/>
          <p:cNvSpPr>
            <a:spLocks/>
          </p:cNvSpPr>
          <p:nvPr/>
        </p:nvSpPr>
        <p:spPr bwMode="auto">
          <a:xfrm>
            <a:off x="6662739" y="2608263"/>
            <a:ext cx="1017587" cy="88900"/>
          </a:xfrm>
          <a:custGeom>
            <a:avLst/>
            <a:gdLst>
              <a:gd name="T0" fmla="*/ 0 w 2017"/>
              <a:gd name="T1" fmla="*/ 0 h 97"/>
              <a:gd name="T2" fmla="*/ 2147483647 w 2017"/>
              <a:gd name="T3" fmla="*/ 0 h 97"/>
              <a:gd name="T4" fmla="*/ 2147483647 w 2017"/>
              <a:gd name="T5" fmla="*/ 2147483647 h 97"/>
              <a:gd name="T6" fmla="*/ 2147483647 w 2017"/>
              <a:gd name="T7" fmla="*/ 2147483647 h 97"/>
              <a:gd name="T8" fmla="*/ 0 60000 65536"/>
              <a:gd name="T9" fmla="*/ 0 60000 65536"/>
              <a:gd name="T10" fmla="*/ 0 60000 65536"/>
              <a:gd name="T11" fmla="*/ 0 60000 65536"/>
              <a:gd name="T12" fmla="*/ 0 w 2017"/>
              <a:gd name="T13" fmla="*/ 0 h 97"/>
              <a:gd name="T14" fmla="*/ 2017 w 2017"/>
              <a:gd name="T15" fmla="*/ 97 h 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366" name="Picture 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4439" y="2071689"/>
            <a:ext cx="1754187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7" name="Text Box 34"/>
          <p:cNvSpPr txBox="1">
            <a:spLocks noChangeArrowheads="1"/>
          </p:cNvSpPr>
          <p:nvPr/>
        </p:nvSpPr>
        <p:spPr bwMode="auto">
          <a:xfrm>
            <a:off x="5392739" y="2428876"/>
            <a:ext cx="11334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Internet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2803525" y="1962151"/>
            <a:ext cx="1665288" cy="1038225"/>
            <a:chOff x="1020" y="1822"/>
            <a:chExt cx="817" cy="526"/>
          </a:xfrm>
        </p:grpSpPr>
        <p:pic>
          <p:nvPicPr>
            <p:cNvPr id="15395" name="Picture 36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20" y="1822"/>
              <a:ext cx="666" cy="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96" name="Picture 3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74" y="2033"/>
              <a:ext cx="363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7427914" y="2143126"/>
            <a:ext cx="1114425" cy="949325"/>
            <a:chOff x="3742" y="1570"/>
            <a:chExt cx="547" cy="480"/>
          </a:xfrm>
        </p:grpSpPr>
        <p:pic>
          <p:nvPicPr>
            <p:cNvPr id="15393" name="Picture 39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23" y="1570"/>
              <a:ext cx="36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94" name="Picture 40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42" y="1706"/>
              <a:ext cx="363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AutoShape 45"/>
          <p:cNvSpPr>
            <a:spLocks noChangeArrowheads="1"/>
          </p:cNvSpPr>
          <p:nvPr/>
        </p:nvSpPr>
        <p:spPr bwMode="auto">
          <a:xfrm>
            <a:off x="5710239" y="3286125"/>
            <a:ext cx="528637" cy="446088"/>
          </a:xfrm>
          <a:prstGeom prst="upDownArrow">
            <a:avLst>
              <a:gd name="adj1" fmla="val 50000"/>
              <a:gd name="adj2" fmla="val 20000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pic>
        <p:nvPicPr>
          <p:cNvPr id="15371" name="Picture 46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56026" y="4286251"/>
            <a:ext cx="739775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2" name="Picture 46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43789" y="4286251"/>
            <a:ext cx="739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5032375" y="4006850"/>
            <a:ext cx="2000250" cy="1257300"/>
            <a:chOff x="2245" y="2523"/>
            <a:chExt cx="1260" cy="792"/>
          </a:xfrm>
        </p:grpSpPr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2245" y="2557"/>
              <a:ext cx="1105" cy="646"/>
              <a:chOff x="4655" y="2183"/>
              <a:chExt cx="1105" cy="646"/>
            </a:xfrm>
          </p:grpSpPr>
          <p:pic>
            <p:nvPicPr>
              <p:cNvPr id="15391" name="Picture 3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655" y="2183"/>
                <a:ext cx="1105" cy="6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392" name="Text Box 34"/>
              <p:cNvSpPr txBox="1">
                <a:spLocks noChangeArrowheads="1"/>
              </p:cNvSpPr>
              <p:nvPr/>
            </p:nvSpPr>
            <p:spPr bwMode="auto">
              <a:xfrm>
                <a:off x="4882" y="2419"/>
                <a:ext cx="71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</a:rPr>
                  <a:t>Internet</a:t>
                </a:r>
              </a:p>
            </p:txBody>
          </p:sp>
        </p:grpSp>
        <p:pic>
          <p:nvPicPr>
            <p:cNvPr id="15389" name="Picture 46"/>
            <p:cNvPicPr>
              <a:picLocks noChangeArrowheads="1"/>
            </p:cNvPicPr>
            <p:nvPr/>
          </p:nvPicPr>
          <p:blipFill>
            <a:blip r:embed="rId4">
              <a:lum bright="52000" contrast="-46000"/>
              <a:grayscl/>
            </a:blip>
            <a:srcRect/>
            <a:stretch>
              <a:fillRect/>
            </a:stretch>
          </p:blipFill>
          <p:spPr bwMode="auto">
            <a:xfrm>
              <a:off x="3039" y="2523"/>
              <a:ext cx="466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90" name="Picture 46"/>
            <p:cNvPicPr>
              <a:picLocks noChangeArrowheads="1"/>
            </p:cNvPicPr>
            <p:nvPr/>
          </p:nvPicPr>
          <p:blipFill>
            <a:blip r:embed="rId4">
              <a:lum bright="40000" contrast="-44000"/>
              <a:grayscl/>
            </a:blip>
            <a:srcRect/>
            <a:stretch>
              <a:fillRect/>
            </a:stretch>
          </p:blipFill>
          <p:spPr bwMode="auto">
            <a:xfrm>
              <a:off x="2268" y="3090"/>
              <a:ext cx="466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2027239" y="5399088"/>
            <a:ext cx="2160587" cy="863600"/>
            <a:chOff x="771" y="3067"/>
            <a:chExt cx="1361" cy="544"/>
          </a:xfrm>
        </p:grpSpPr>
        <p:sp>
          <p:nvSpPr>
            <p:cNvPr id="24" name="Oval 37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25" name="Picture 38" descr="电脑图标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26" name="Picture 39" descr="电脑图标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27" name="AutoShape 40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15375" name="AutoShape 41"/>
          <p:cNvCxnSpPr>
            <a:cxnSpLocks noChangeShapeType="1"/>
          </p:cNvCxnSpPr>
          <p:nvPr/>
        </p:nvCxnSpPr>
        <p:spPr bwMode="auto">
          <a:xfrm>
            <a:off x="4495801" y="4564064"/>
            <a:ext cx="536575" cy="9525"/>
          </a:xfrm>
          <a:prstGeom prst="straightConnector1">
            <a:avLst/>
          </a:prstGeom>
          <a:noFill/>
          <a:ln w="15875">
            <a:solidFill>
              <a:srgbClr val="FF3300"/>
            </a:solidFill>
            <a:round/>
            <a:headEnd/>
            <a:tailEnd/>
          </a:ln>
          <a:effectLst>
            <a:prstShdw prst="shdw17" dist="17961" dir="2700000">
              <a:srgbClr val="991F00"/>
            </a:prstShdw>
          </a:effectLst>
        </p:spPr>
      </p:cxnSp>
      <p:cxnSp>
        <p:nvCxnSpPr>
          <p:cNvPr id="15376" name="AutoShape 42"/>
          <p:cNvCxnSpPr>
            <a:cxnSpLocks noChangeShapeType="1"/>
          </p:cNvCxnSpPr>
          <p:nvPr/>
        </p:nvCxnSpPr>
        <p:spPr bwMode="auto">
          <a:xfrm flipV="1">
            <a:off x="6786564" y="4570414"/>
            <a:ext cx="657225" cy="3175"/>
          </a:xfrm>
          <a:prstGeom prst="straightConnector1">
            <a:avLst/>
          </a:prstGeom>
          <a:noFill/>
          <a:ln w="15875">
            <a:solidFill>
              <a:srgbClr val="FF3300"/>
            </a:solidFill>
            <a:round/>
            <a:headEnd/>
            <a:tailEnd/>
          </a:ln>
          <a:effectLst>
            <a:prstShdw prst="shdw17" dist="17961" dir="2700000">
              <a:srgbClr val="991F00"/>
            </a:prstShdw>
          </a:effectLst>
        </p:spPr>
      </p:cxn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7715250" y="5422900"/>
            <a:ext cx="2160588" cy="863600"/>
            <a:chOff x="771" y="3067"/>
            <a:chExt cx="1361" cy="544"/>
          </a:xfrm>
        </p:grpSpPr>
        <p:sp>
          <p:nvSpPr>
            <p:cNvPr id="31" name="Oval 44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32" name="Picture 45" descr="电脑图标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33" name="Picture 46" descr="电脑图标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34" name="AutoShape 47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15378" name="AutoShape 48"/>
          <p:cNvCxnSpPr>
            <a:cxnSpLocks noChangeShapeType="1"/>
          </p:cNvCxnSpPr>
          <p:nvPr/>
        </p:nvCxnSpPr>
        <p:spPr bwMode="auto">
          <a:xfrm rot="-5400000">
            <a:off x="3014663" y="4657726"/>
            <a:ext cx="835025" cy="647700"/>
          </a:xfrm>
          <a:prstGeom prst="bentConnector2">
            <a:avLst/>
          </a:prstGeom>
          <a:noFill/>
          <a:ln w="15875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</p:cxnSp>
      <p:cxnSp>
        <p:nvCxnSpPr>
          <p:cNvPr id="15379" name="AutoShape 49"/>
          <p:cNvCxnSpPr>
            <a:cxnSpLocks noChangeShapeType="1"/>
          </p:cNvCxnSpPr>
          <p:nvPr/>
        </p:nvCxnSpPr>
        <p:spPr bwMode="auto">
          <a:xfrm>
            <a:off x="8183564" y="4570414"/>
            <a:ext cx="612775" cy="852487"/>
          </a:xfrm>
          <a:prstGeom prst="bentConnector2">
            <a:avLst/>
          </a:prstGeom>
          <a:noFill/>
          <a:ln w="15875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远程访问</a:t>
            </a:r>
            <a:r>
              <a:rPr lang="en-US" altLang="zh-CN"/>
              <a:t>VPN</a:t>
            </a:r>
            <a:r>
              <a:rPr lang="en-US" altLang="zh-CN" sz="2400"/>
              <a:t> </a:t>
            </a: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638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VPN</a:t>
            </a:r>
            <a:r>
              <a:rPr lang="zh-CN" altLang="en-US"/>
              <a:t>的类型</a:t>
            </a:r>
            <a:r>
              <a:rPr lang="en-US" altLang="zh-CN"/>
              <a:t>2-2</a:t>
            </a:r>
            <a:endParaRPr lang="zh-CN" altLang="en-US"/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1952626" y="1979614"/>
            <a:ext cx="7008813" cy="4306887"/>
            <a:chOff x="481013" y="1857375"/>
            <a:chExt cx="7008812" cy="4306888"/>
          </a:xfrm>
        </p:grpSpPr>
        <p:sp>
          <p:nvSpPr>
            <p:cNvPr id="16389" name="Freeform 28"/>
            <p:cNvSpPr>
              <a:spLocks/>
            </p:cNvSpPr>
            <p:nvPr/>
          </p:nvSpPr>
          <p:spPr bwMode="auto">
            <a:xfrm>
              <a:off x="2819400" y="2473325"/>
              <a:ext cx="747713" cy="80963"/>
            </a:xfrm>
            <a:custGeom>
              <a:avLst/>
              <a:gdLst>
                <a:gd name="T0" fmla="*/ 0 w 2017"/>
                <a:gd name="T1" fmla="*/ 0 h 97"/>
                <a:gd name="T2" fmla="*/ 2147483647 w 2017"/>
                <a:gd name="T3" fmla="*/ 0 h 97"/>
                <a:gd name="T4" fmla="*/ 2147483647 w 2017"/>
                <a:gd name="T5" fmla="*/ 2147483647 h 97"/>
                <a:gd name="T6" fmla="*/ 2147483647 w 2017"/>
                <a:gd name="T7" fmla="*/ 2147483647 h 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7"/>
                <a:gd name="T13" fmla="*/ 0 h 97"/>
                <a:gd name="T14" fmla="*/ 2017 w 2017"/>
                <a:gd name="T15" fmla="*/ 97 h 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7" h="97">
                  <a:moveTo>
                    <a:pt x="0" y="0"/>
                  </a:moveTo>
                  <a:lnTo>
                    <a:pt x="1008" y="0"/>
                  </a:lnTo>
                  <a:lnTo>
                    <a:pt x="912" y="96"/>
                  </a:lnTo>
                  <a:lnTo>
                    <a:pt x="2016" y="96"/>
                  </a:lnTo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0" name="Freeform 29"/>
            <p:cNvSpPr>
              <a:spLocks/>
            </p:cNvSpPr>
            <p:nvPr/>
          </p:nvSpPr>
          <p:spPr bwMode="auto">
            <a:xfrm>
              <a:off x="5154613" y="2435225"/>
              <a:ext cx="1027112" cy="80963"/>
            </a:xfrm>
            <a:custGeom>
              <a:avLst/>
              <a:gdLst>
                <a:gd name="T0" fmla="*/ 0 w 2017"/>
                <a:gd name="T1" fmla="*/ 0 h 97"/>
                <a:gd name="T2" fmla="*/ 2147483647 w 2017"/>
                <a:gd name="T3" fmla="*/ 0 h 97"/>
                <a:gd name="T4" fmla="*/ 2147483647 w 2017"/>
                <a:gd name="T5" fmla="*/ 2147483647 h 97"/>
                <a:gd name="T6" fmla="*/ 2147483647 w 2017"/>
                <a:gd name="T7" fmla="*/ 2147483647 h 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7"/>
                <a:gd name="T13" fmla="*/ 0 h 97"/>
                <a:gd name="T14" fmla="*/ 2017 w 2017"/>
                <a:gd name="T15" fmla="*/ 97 h 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7" h="97">
                  <a:moveTo>
                    <a:pt x="0" y="0"/>
                  </a:moveTo>
                  <a:lnTo>
                    <a:pt x="1008" y="0"/>
                  </a:lnTo>
                  <a:lnTo>
                    <a:pt x="912" y="96"/>
                  </a:lnTo>
                  <a:lnTo>
                    <a:pt x="2016" y="96"/>
                  </a:lnTo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6391" name="Picture 3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473450" y="1978025"/>
              <a:ext cx="1773238" cy="946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2" name="Text Box 31"/>
            <p:cNvSpPr txBox="1">
              <a:spLocks noChangeArrowheads="1"/>
            </p:cNvSpPr>
            <p:nvPr/>
          </p:nvSpPr>
          <p:spPr bwMode="auto">
            <a:xfrm>
              <a:off x="3846513" y="2306638"/>
              <a:ext cx="1144587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</a:rPr>
                <a:t>Internet</a:t>
              </a:r>
            </a:p>
          </p:txBody>
        </p:sp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1231900" y="1857375"/>
              <a:ext cx="1681163" cy="957263"/>
              <a:chOff x="1020" y="1822"/>
              <a:chExt cx="817" cy="526"/>
            </a:xfrm>
          </p:grpSpPr>
          <p:pic>
            <p:nvPicPr>
              <p:cNvPr id="16413" name="Picture 33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020" y="1822"/>
                <a:ext cx="666" cy="5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4" name="Picture 34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474" y="2018"/>
                <a:ext cx="363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6394" name="Picture 3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122988" y="2058988"/>
              <a:ext cx="681037" cy="760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395" name="Picture 3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804025" y="2092325"/>
              <a:ext cx="685800" cy="7413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13" name="AutoShape 40"/>
            <p:cNvSpPr>
              <a:spLocks noChangeArrowheads="1"/>
            </p:cNvSpPr>
            <p:nvPr/>
          </p:nvSpPr>
          <p:spPr bwMode="auto">
            <a:xfrm>
              <a:off x="4195762" y="3141662"/>
              <a:ext cx="534988" cy="412750"/>
            </a:xfrm>
            <a:prstGeom prst="upDownArrow">
              <a:avLst>
                <a:gd name="adj1" fmla="val 50000"/>
                <a:gd name="adj2" fmla="val 20000"/>
              </a:avLst>
            </a:prstGeom>
            <a:gradFill rotWithShape="1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12700" cap="rnd" algn="ctr">
              <a:solidFill>
                <a:srgbClr val="3399FF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buFont typeface="Wingdings" pitchFamily="2" charset="2"/>
                <a:buNone/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6397" name="Picture 46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97100" y="4178300"/>
              <a:ext cx="739775" cy="465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3473450" y="3873500"/>
              <a:ext cx="2000250" cy="1257300"/>
              <a:chOff x="2245" y="2523"/>
              <a:chExt cx="1260" cy="792"/>
            </a:xfrm>
          </p:grpSpPr>
          <p:grpSp>
            <p:nvGrpSpPr>
              <p:cNvPr id="5" name="Group 29"/>
              <p:cNvGrpSpPr>
                <a:grpSpLocks/>
              </p:cNvGrpSpPr>
              <p:nvPr/>
            </p:nvGrpSpPr>
            <p:grpSpPr bwMode="auto">
              <a:xfrm>
                <a:off x="2245" y="2557"/>
                <a:ext cx="1105" cy="646"/>
                <a:chOff x="4655" y="2183"/>
                <a:chExt cx="1105" cy="646"/>
              </a:xfrm>
            </p:grpSpPr>
            <p:pic>
              <p:nvPicPr>
                <p:cNvPr id="16411" name="Picture 33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4655" y="2183"/>
                  <a:ext cx="1105" cy="6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41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882" y="2419"/>
                  <a:ext cx="714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anchorCtr="1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solidFill>
                        <a:schemeClr val="tx2"/>
                      </a:solidFill>
                    </a:rPr>
                    <a:t>Internet</a:t>
                  </a:r>
                </a:p>
              </p:txBody>
            </p:sp>
          </p:grpSp>
          <p:pic>
            <p:nvPicPr>
              <p:cNvPr id="16409" name="Picture 46"/>
              <p:cNvPicPr>
                <a:picLocks noChangeArrowheads="1"/>
              </p:cNvPicPr>
              <p:nvPr/>
            </p:nvPicPr>
            <p:blipFill>
              <a:blip r:embed="rId4">
                <a:lum bright="52000" contrast="-46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3039" y="2523"/>
                <a:ext cx="466" cy="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10" name="Picture 46"/>
              <p:cNvPicPr>
                <a:picLocks noChangeArrowheads="1"/>
              </p:cNvPicPr>
              <p:nvPr/>
            </p:nvPicPr>
            <p:blipFill>
              <a:blip r:embed="rId4">
                <a:lum bright="40000" contrast="-44000"/>
                <a:grayscl/>
              </a:blip>
              <a:srcRect/>
              <a:stretch>
                <a:fillRect/>
              </a:stretch>
            </p:blipFill>
            <p:spPr bwMode="auto">
              <a:xfrm>
                <a:off x="2268" y="3090"/>
                <a:ext cx="466" cy="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16399" name="AutoShape 39"/>
            <p:cNvCxnSpPr>
              <a:cxnSpLocks noChangeShapeType="1"/>
            </p:cNvCxnSpPr>
            <p:nvPr/>
          </p:nvCxnSpPr>
          <p:spPr bwMode="auto">
            <a:xfrm>
              <a:off x="2936875" y="4430713"/>
              <a:ext cx="536575" cy="9525"/>
            </a:xfrm>
            <a:prstGeom prst="straightConnector1">
              <a:avLst/>
            </a:prstGeom>
            <a:noFill/>
            <a:ln w="15875">
              <a:solidFill>
                <a:srgbClr val="FF3300"/>
              </a:solidFill>
              <a:round/>
              <a:headEnd/>
              <a:tailEnd/>
            </a:ln>
            <a:effectLst>
              <a:prstShdw prst="shdw17" dist="17961" dir="2700000">
                <a:srgbClr val="991F00"/>
              </a:prstShdw>
            </a:effectLst>
          </p:spPr>
        </p:cxnSp>
        <p:cxnSp>
          <p:nvCxnSpPr>
            <p:cNvPr id="16400" name="AutoShape 40"/>
            <p:cNvCxnSpPr>
              <a:cxnSpLocks noChangeShapeType="1"/>
            </p:cNvCxnSpPr>
            <p:nvPr/>
          </p:nvCxnSpPr>
          <p:spPr bwMode="auto">
            <a:xfrm>
              <a:off x="5227638" y="4440238"/>
              <a:ext cx="1539875" cy="7937"/>
            </a:xfrm>
            <a:prstGeom prst="straightConnector1">
              <a:avLst/>
            </a:prstGeom>
            <a:noFill/>
            <a:ln w="1587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prstShdw prst="shdw17" dist="17961" dir="2700000">
                <a:srgbClr val="991F00"/>
              </a:prstShdw>
            </a:effectLst>
          </p:spPr>
        </p:cxnSp>
        <p:cxnSp>
          <p:nvCxnSpPr>
            <p:cNvPr id="16401" name="AutoShape 46"/>
            <p:cNvCxnSpPr>
              <a:cxnSpLocks noChangeShapeType="1"/>
              <a:stCxn id="25" idx="0"/>
            </p:cNvCxnSpPr>
            <p:nvPr/>
          </p:nvCxnSpPr>
          <p:spPr bwMode="auto">
            <a:xfrm rot="-5400000">
              <a:off x="1444625" y="4548188"/>
              <a:ext cx="869950" cy="635000"/>
            </a:xfrm>
            <a:prstGeom prst="bentConnector2">
              <a:avLst/>
            </a:prstGeom>
            <a:noFill/>
            <a:ln w="15875">
              <a:solidFill>
                <a:srgbClr val="FF3300"/>
              </a:solidFill>
              <a:miter lim="800000"/>
              <a:headEnd/>
              <a:tailEnd/>
            </a:ln>
            <a:effectLst>
              <a:prstShdw prst="shdw17" dist="17961" dir="2700000">
                <a:srgbClr val="991F00"/>
              </a:prstShdw>
            </a:effectLst>
          </p:spPr>
        </p:cxnSp>
        <p:grpSp>
          <p:nvGrpSpPr>
            <p:cNvPr id="6" name="Group 48"/>
            <p:cNvGrpSpPr>
              <a:grpSpLocks/>
            </p:cNvGrpSpPr>
            <p:nvPr/>
          </p:nvGrpSpPr>
          <p:grpSpPr bwMode="auto">
            <a:xfrm>
              <a:off x="481013" y="5300663"/>
              <a:ext cx="2160587" cy="863600"/>
              <a:chOff x="2517" y="3385"/>
              <a:chExt cx="1361" cy="544"/>
            </a:xfrm>
          </p:grpSpPr>
          <p:sp>
            <p:nvSpPr>
              <p:cNvPr id="25" name="Oval 49" descr="5%"/>
              <p:cNvSpPr>
                <a:spLocks noChangeArrowheads="1"/>
              </p:cNvSpPr>
              <p:nvPr/>
            </p:nvSpPr>
            <p:spPr bwMode="auto">
              <a:xfrm>
                <a:off x="2517" y="3385"/>
                <a:ext cx="1361" cy="544"/>
              </a:xfrm>
              <a:prstGeom prst="ellipse">
                <a:avLst/>
              </a:prstGeom>
              <a:pattFill prst="pct5">
                <a:fgClr>
                  <a:srgbClr val="33CC33"/>
                </a:fgClr>
                <a:bgClr>
                  <a:schemeClr val="bg1"/>
                </a:bgClr>
              </a:pattFill>
              <a:ln w="9525" algn="ctr">
                <a:solidFill>
                  <a:srgbClr val="008000"/>
                </a:solidFill>
                <a:prstDash val="dash"/>
                <a:round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chemeClr val="tx2"/>
                  </a:solidFill>
                </a:endParaRPr>
              </a:p>
            </p:txBody>
          </p:sp>
          <p:cxnSp>
            <p:nvCxnSpPr>
              <p:cNvPr id="16405" name="AutoShape 50"/>
              <p:cNvCxnSpPr>
                <a:cxnSpLocks noChangeShapeType="1"/>
              </p:cNvCxnSpPr>
              <p:nvPr/>
            </p:nvCxnSpPr>
            <p:spPr bwMode="auto">
              <a:xfrm>
                <a:off x="3058" y="3682"/>
                <a:ext cx="253" cy="0"/>
              </a:xfrm>
              <a:prstGeom prst="straightConnector1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</p:spPr>
          </p:cxnSp>
          <p:pic>
            <p:nvPicPr>
              <p:cNvPr id="16406" name="Picture 30" descr="black_server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721" y="3526"/>
                <a:ext cx="337" cy="3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7" name="Picture 30" descr="black_server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3311" y="3526"/>
                <a:ext cx="337" cy="3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6403" name="Picture 53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767513" y="4184650"/>
              <a:ext cx="665162" cy="52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加密算法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对称加密算法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非对称加密算法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密钥交换 </a:t>
            </a:r>
          </a:p>
          <a:p>
            <a:pPr>
              <a:spcBef>
                <a:spcPts val="675"/>
              </a:spcBef>
            </a:pPr>
            <a:endParaRPr lang="zh-CN" altLang="en-US"/>
          </a:p>
          <a:p>
            <a:pPr>
              <a:spcBef>
                <a:spcPts val="675"/>
              </a:spcBef>
            </a:pPr>
            <a:r>
              <a:rPr lang="zh-CN" altLang="en-US"/>
              <a:t>数据报文验证 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HMAC 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MD5</a:t>
            </a:r>
            <a:r>
              <a:rPr lang="zh-CN" altLang="en-US"/>
              <a:t>和</a:t>
            </a:r>
            <a:r>
              <a:rPr lang="en-US" altLang="zh-CN"/>
              <a:t>SHA </a:t>
            </a:r>
          </a:p>
        </p:txBody>
      </p:sp>
      <p:sp>
        <p:nvSpPr>
          <p:cNvPr id="1741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VPN</a:t>
            </a:r>
            <a:r>
              <a:rPr lang="zh-CN" altLang="en-US"/>
              <a:t>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对称加密算法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DES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3DES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AES</a:t>
            </a:r>
            <a:endParaRPr lang="zh-CN" altLang="en-US"/>
          </a:p>
        </p:txBody>
      </p:sp>
      <p:sp>
        <p:nvSpPr>
          <p:cNvPr id="1843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加密算法</a:t>
            </a:r>
            <a:r>
              <a:rPr lang="en-US" altLang="zh-CN"/>
              <a:t>4-1</a:t>
            </a:r>
            <a:endParaRPr lang="zh-CN" altLang="en-US"/>
          </a:p>
        </p:txBody>
      </p:sp>
      <p:pic>
        <p:nvPicPr>
          <p:cNvPr id="18436" name="Picture 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0039" y="4475163"/>
            <a:ext cx="146367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29"/>
          <p:cNvSpPr txBox="1">
            <a:spLocks noChangeArrowheads="1"/>
          </p:cNvSpPr>
          <p:nvPr/>
        </p:nvSpPr>
        <p:spPr bwMode="auto">
          <a:xfrm>
            <a:off x="5580064" y="4716463"/>
            <a:ext cx="10890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Internet</a:t>
            </a:r>
          </a:p>
        </p:txBody>
      </p:sp>
      <p:pic>
        <p:nvPicPr>
          <p:cNvPr id="18438" name="Picture 30" descr="black_ser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1325" y="5403850"/>
            <a:ext cx="5349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9" name="Line 31"/>
          <p:cNvSpPr>
            <a:spLocks noChangeShapeType="1"/>
          </p:cNvSpPr>
          <p:nvPr/>
        </p:nvSpPr>
        <p:spPr bwMode="auto">
          <a:xfrm>
            <a:off x="4225926" y="4914900"/>
            <a:ext cx="1154113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8440" name="Line 32"/>
          <p:cNvSpPr>
            <a:spLocks noChangeShapeType="1"/>
          </p:cNvSpPr>
          <p:nvPr/>
        </p:nvSpPr>
        <p:spPr bwMode="auto">
          <a:xfrm>
            <a:off x="6800850" y="4908550"/>
            <a:ext cx="1244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cxnSp>
        <p:nvCxnSpPr>
          <p:cNvPr id="18441" name="AutoShape 33"/>
          <p:cNvCxnSpPr>
            <a:cxnSpLocks noChangeShapeType="1"/>
          </p:cNvCxnSpPr>
          <p:nvPr/>
        </p:nvCxnSpPr>
        <p:spPr bwMode="auto">
          <a:xfrm rot="10800000" flipV="1">
            <a:off x="3249613" y="4929188"/>
            <a:ext cx="709612" cy="474662"/>
          </a:xfrm>
          <a:prstGeom prst="bentConnector2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18442" name="AutoShape 34"/>
          <p:cNvCxnSpPr>
            <a:cxnSpLocks noChangeShapeType="1"/>
          </p:cNvCxnSpPr>
          <p:nvPr/>
        </p:nvCxnSpPr>
        <p:spPr bwMode="auto">
          <a:xfrm>
            <a:off x="8566150" y="4916488"/>
            <a:ext cx="368300" cy="520700"/>
          </a:xfrm>
          <a:prstGeom prst="bentConnector2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</p:cxnSp>
      <p:pic>
        <p:nvPicPr>
          <p:cNvPr id="18443" name="Picture 35" descr="black_ser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66164" y="5403850"/>
            <a:ext cx="53498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37"/>
          <p:cNvSpPr txBox="1">
            <a:spLocks noChangeArrowheads="1"/>
          </p:cNvSpPr>
          <p:nvPr/>
        </p:nvSpPr>
        <p:spPr bwMode="auto">
          <a:xfrm>
            <a:off x="2243139" y="5965825"/>
            <a:ext cx="1838325" cy="3762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明文数据“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m”</a:t>
            </a:r>
          </a:p>
        </p:txBody>
      </p:sp>
      <p:sp>
        <p:nvSpPr>
          <p:cNvPr id="13" name="AutoShape 40"/>
          <p:cNvSpPr>
            <a:spLocks noChangeArrowheads="1"/>
          </p:cNvSpPr>
          <p:nvPr/>
        </p:nvSpPr>
        <p:spPr bwMode="auto">
          <a:xfrm>
            <a:off x="2711451" y="3136900"/>
            <a:ext cx="2455863" cy="1193800"/>
          </a:xfrm>
          <a:prstGeom prst="cloudCallout">
            <a:avLst>
              <a:gd name="adj1" fmla="val 10995"/>
              <a:gd name="adj2" fmla="val 76065"/>
            </a:avLst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②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加密函数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E (</a:t>
            </a:r>
            <a:r>
              <a:rPr lang="en-US" altLang="zh-CN" b="1">
                <a:solidFill>
                  <a:srgbClr val="FF0000"/>
                </a:solidFill>
              </a:rPr>
              <a:t>k</a:t>
            </a:r>
            <a:r>
              <a:rPr lang="zh-CN" altLang="en-US" b="1">
                <a:solidFill>
                  <a:schemeClr val="tx2"/>
                </a:solidFill>
              </a:rPr>
              <a:t>，</a:t>
            </a:r>
            <a:r>
              <a:rPr lang="en-US" altLang="zh-CN" b="1">
                <a:solidFill>
                  <a:schemeClr val="tx2"/>
                </a:solidFill>
              </a:rPr>
              <a:t>m) = c</a:t>
            </a:r>
          </a:p>
        </p:txBody>
      </p:sp>
      <p:sp>
        <p:nvSpPr>
          <p:cNvPr id="14" name="AutoShape 41"/>
          <p:cNvSpPr>
            <a:spLocks noChangeArrowheads="1"/>
          </p:cNvSpPr>
          <p:nvPr/>
        </p:nvSpPr>
        <p:spPr bwMode="auto">
          <a:xfrm>
            <a:off x="7824788" y="3136900"/>
            <a:ext cx="2366962" cy="1193800"/>
          </a:xfrm>
          <a:prstGeom prst="cloudCallout">
            <a:avLst>
              <a:gd name="adj1" fmla="val -31222"/>
              <a:gd name="adj2" fmla="val 76727"/>
            </a:avLst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③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解密函数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 (</a:t>
            </a:r>
            <a:r>
              <a:rPr lang="en-US" altLang="zh-CN" b="1">
                <a:solidFill>
                  <a:srgbClr val="FF0000"/>
                </a:solidFill>
              </a:rPr>
              <a:t>k</a:t>
            </a:r>
            <a:r>
              <a:rPr lang="zh-CN" altLang="en-US" b="1">
                <a:solidFill>
                  <a:schemeClr val="tx2"/>
                </a:solidFill>
              </a:rPr>
              <a:t>，</a:t>
            </a:r>
            <a:r>
              <a:rPr lang="en-US" altLang="zh-CN" b="1">
                <a:solidFill>
                  <a:schemeClr val="tx2"/>
                </a:solidFill>
              </a:rPr>
              <a:t>c) = m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7945438" y="5964238"/>
            <a:ext cx="1784350" cy="393700"/>
            <a:chOff x="4045" y="3623"/>
            <a:chExt cx="1124" cy="248"/>
          </a:xfrm>
        </p:grpSpPr>
        <p:sp>
          <p:nvSpPr>
            <p:cNvPr id="18461" name="Rectangle 42"/>
            <p:cNvSpPr>
              <a:spLocks noChangeArrowheads="1"/>
            </p:cNvSpPr>
            <p:nvPr/>
          </p:nvSpPr>
          <p:spPr bwMode="auto">
            <a:xfrm>
              <a:off x="4045" y="3634"/>
              <a:ext cx="1124" cy="23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8462" name="Text Box 43"/>
            <p:cNvSpPr txBox="1">
              <a:spLocks noChangeArrowheads="1"/>
            </p:cNvSpPr>
            <p:nvPr/>
          </p:nvSpPr>
          <p:spPr bwMode="auto">
            <a:xfrm>
              <a:off x="4105" y="3623"/>
              <a:ext cx="100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明文数据“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m”</a:t>
              </a:r>
            </a:p>
          </p:txBody>
        </p:sp>
      </p:grpSp>
      <p:sp>
        <p:nvSpPr>
          <p:cNvPr id="18" name="AutoShape 44"/>
          <p:cNvSpPr>
            <a:spLocks noChangeArrowheads="1"/>
          </p:cNvSpPr>
          <p:nvPr/>
        </p:nvSpPr>
        <p:spPr bwMode="auto">
          <a:xfrm rot="5400000">
            <a:off x="5966620" y="3645695"/>
            <a:ext cx="371475" cy="2487613"/>
          </a:xfrm>
          <a:prstGeom prst="upDownArrow">
            <a:avLst>
              <a:gd name="adj1" fmla="val 50000"/>
              <a:gd name="adj2" fmla="val 133932"/>
            </a:avLst>
          </a:prstGeom>
          <a:gradFill rotWithShape="1">
            <a:gsLst>
              <a:gs pos="0">
                <a:schemeClr val="bg1"/>
              </a:gs>
              <a:gs pos="100000">
                <a:srgbClr val="3399FF"/>
              </a:gs>
            </a:gsLst>
            <a:lin ang="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 rot="10800000" vert="eaVert"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19" name="Text Box 46"/>
          <p:cNvSpPr txBox="1">
            <a:spLocks noChangeArrowheads="1"/>
          </p:cNvSpPr>
          <p:nvPr/>
        </p:nvSpPr>
        <p:spPr bwMode="auto">
          <a:xfrm>
            <a:off x="5232401" y="5254626"/>
            <a:ext cx="18002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①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共享密钥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k</a:t>
            </a:r>
          </a:p>
        </p:txBody>
      </p:sp>
      <p:sp>
        <p:nvSpPr>
          <p:cNvPr id="20" name="AutoShape 48"/>
          <p:cNvSpPr>
            <a:spLocks noChangeArrowheads="1"/>
          </p:cNvSpPr>
          <p:nvPr/>
        </p:nvSpPr>
        <p:spPr bwMode="auto">
          <a:xfrm rot="13117941">
            <a:off x="3216275" y="4289425"/>
            <a:ext cx="357188" cy="928688"/>
          </a:xfrm>
          <a:prstGeom prst="curvedLeftArrow">
            <a:avLst>
              <a:gd name="adj1" fmla="val 52000"/>
              <a:gd name="adj2" fmla="val 104000"/>
              <a:gd name="adj3" fmla="val 33333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1" name="AutoShape 49"/>
          <p:cNvSpPr>
            <a:spLocks noChangeArrowheads="1"/>
          </p:cNvSpPr>
          <p:nvPr/>
        </p:nvSpPr>
        <p:spPr bwMode="auto">
          <a:xfrm rot="19461802">
            <a:off x="8932863" y="4495800"/>
            <a:ext cx="334962" cy="744538"/>
          </a:xfrm>
          <a:prstGeom prst="curvedLeftArrow">
            <a:avLst>
              <a:gd name="adj1" fmla="val 44455"/>
              <a:gd name="adj2" fmla="val 88910"/>
              <a:gd name="adj3" fmla="val 33333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pic>
        <p:nvPicPr>
          <p:cNvPr id="18452" name="Picture 52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90938" y="4743450"/>
            <a:ext cx="7985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53" name="Picture 53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67651" y="4727575"/>
            <a:ext cx="7985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5" descr="ke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9614" y="4678363"/>
            <a:ext cx="63023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45" descr="ke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4850" y="4686301"/>
            <a:ext cx="630238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4224339" y="4325939"/>
            <a:ext cx="1838325" cy="376237"/>
            <a:chOff x="2267" y="2386"/>
            <a:chExt cx="1158" cy="237"/>
          </a:xfrm>
        </p:grpSpPr>
        <p:sp>
          <p:nvSpPr>
            <p:cNvPr id="18459" name="Rectangle 38"/>
            <p:cNvSpPr>
              <a:spLocks noChangeArrowheads="1"/>
            </p:cNvSpPr>
            <p:nvPr/>
          </p:nvSpPr>
          <p:spPr bwMode="auto">
            <a:xfrm>
              <a:off x="2267" y="2386"/>
              <a:ext cx="1158" cy="23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8460" name="Text Box 39"/>
            <p:cNvSpPr txBox="1">
              <a:spLocks noChangeArrowheads="1"/>
            </p:cNvSpPr>
            <p:nvPr/>
          </p:nvSpPr>
          <p:spPr bwMode="auto">
            <a:xfrm>
              <a:off x="2358" y="2386"/>
              <a:ext cx="103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密文数据“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c”</a:t>
              </a:r>
            </a:p>
          </p:txBody>
        </p:sp>
      </p:grpSp>
      <p:sp>
        <p:nvSpPr>
          <p:cNvPr id="29" name="Line 36"/>
          <p:cNvSpPr>
            <a:spLocks noChangeShapeType="1"/>
          </p:cNvSpPr>
          <p:nvPr/>
        </p:nvSpPr>
        <p:spPr bwMode="auto">
          <a:xfrm>
            <a:off x="3540125" y="4073526"/>
            <a:ext cx="503238" cy="612775"/>
          </a:xfrm>
          <a:prstGeom prst="line">
            <a:avLst/>
          </a:prstGeom>
          <a:noFill/>
          <a:ln w="15875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7"/>
          <p:cNvSpPr>
            <a:spLocks noChangeShapeType="1"/>
          </p:cNvSpPr>
          <p:nvPr/>
        </p:nvSpPr>
        <p:spPr bwMode="auto">
          <a:xfrm flipH="1">
            <a:off x="8256588" y="4071939"/>
            <a:ext cx="323850" cy="649287"/>
          </a:xfrm>
          <a:prstGeom prst="line">
            <a:avLst/>
          </a:prstGeom>
          <a:noFill/>
          <a:ln w="15875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7037E-6 L 0.24323 3.7037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7037E-6 L -0.20903 -3.7037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8" grpId="0" animBg="1"/>
      <p:bldP spid="19" grpId="0"/>
      <p:bldP spid="20" grpId="0" animBg="1"/>
      <p:bldP spid="21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非对称加密算法的原理</a:t>
            </a:r>
          </a:p>
          <a:p>
            <a:pPr lvl="1">
              <a:spcBef>
                <a:spcPts val="475"/>
              </a:spcBef>
            </a:pPr>
            <a:r>
              <a:rPr lang="en-US" altLang="zh-CN" sz="2000"/>
              <a:t>DH</a:t>
            </a:r>
            <a:r>
              <a:rPr lang="zh-CN" altLang="en-US" sz="2000"/>
              <a:t>算法（</a:t>
            </a:r>
            <a:r>
              <a:rPr lang="en-US" altLang="zh-CN" sz="2000"/>
              <a:t>Diffie-Hellman</a:t>
            </a:r>
            <a:r>
              <a:rPr lang="zh-CN" altLang="en-US" sz="2000"/>
              <a:t>，迪菲</a:t>
            </a:r>
            <a:r>
              <a:rPr lang="en-US" altLang="zh-CN" sz="2000"/>
              <a:t>-</a:t>
            </a:r>
            <a:r>
              <a:rPr lang="zh-CN" altLang="en-US" sz="2000"/>
              <a:t>赫尔曼）</a:t>
            </a:r>
            <a:r>
              <a:rPr lang="zh-CN" altLang="en-US"/>
              <a:t> 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945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加密算法</a:t>
            </a:r>
            <a:r>
              <a:rPr lang="en-US" altLang="zh-CN"/>
              <a:t>4-2</a:t>
            </a:r>
            <a:endParaRPr lang="zh-CN" altLang="en-US"/>
          </a:p>
        </p:txBody>
      </p:sp>
      <p:pic>
        <p:nvPicPr>
          <p:cNvPr id="19460" name="Picture 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9539" y="4127501"/>
            <a:ext cx="1419225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Text Box 34"/>
          <p:cNvSpPr txBox="1">
            <a:spLocks noChangeArrowheads="1"/>
          </p:cNvSpPr>
          <p:nvPr/>
        </p:nvSpPr>
        <p:spPr bwMode="auto">
          <a:xfrm>
            <a:off x="5383214" y="4360863"/>
            <a:ext cx="1055687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Internet</a:t>
            </a:r>
          </a:p>
        </p:txBody>
      </p:sp>
      <p:pic>
        <p:nvPicPr>
          <p:cNvPr id="19462" name="Picture 35" descr="black_ser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62263" y="5024439"/>
            <a:ext cx="519112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3" name="Line 36"/>
          <p:cNvSpPr>
            <a:spLocks noChangeShapeType="1"/>
          </p:cNvSpPr>
          <p:nvPr/>
        </p:nvSpPr>
        <p:spPr bwMode="auto">
          <a:xfrm>
            <a:off x="4068764" y="4548188"/>
            <a:ext cx="112077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9464" name="Line 37"/>
          <p:cNvSpPr>
            <a:spLocks noChangeShapeType="1"/>
          </p:cNvSpPr>
          <p:nvPr/>
        </p:nvSpPr>
        <p:spPr bwMode="auto">
          <a:xfrm>
            <a:off x="6565900" y="4548188"/>
            <a:ext cx="1208088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cxnSp>
        <p:nvCxnSpPr>
          <p:cNvPr id="19465" name="AutoShape 38"/>
          <p:cNvCxnSpPr>
            <a:cxnSpLocks noChangeShapeType="1"/>
          </p:cNvCxnSpPr>
          <p:nvPr/>
        </p:nvCxnSpPr>
        <p:spPr bwMode="auto">
          <a:xfrm rot="10800000" flipV="1">
            <a:off x="3122614" y="4567238"/>
            <a:ext cx="687387" cy="457200"/>
          </a:xfrm>
          <a:prstGeom prst="bentConnector2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19466" name="AutoShape 39"/>
          <p:cNvCxnSpPr>
            <a:cxnSpLocks noChangeShapeType="1"/>
          </p:cNvCxnSpPr>
          <p:nvPr/>
        </p:nvCxnSpPr>
        <p:spPr bwMode="auto">
          <a:xfrm>
            <a:off x="8280400" y="4554539"/>
            <a:ext cx="355600" cy="503237"/>
          </a:xfrm>
          <a:prstGeom prst="bentConnector2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</p:cxnSp>
      <p:pic>
        <p:nvPicPr>
          <p:cNvPr id="19467" name="Picture 40" descr="black_ser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77239" y="5024439"/>
            <a:ext cx="5175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AutoShape 45"/>
          <p:cNvSpPr>
            <a:spLocks noChangeArrowheads="1"/>
          </p:cNvSpPr>
          <p:nvPr/>
        </p:nvSpPr>
        <p:spPr bwMode="auto">
          <a:xfrm>
            <a:off x="2603501" y="2767014"/>
            <a:ext cx="2492375" cy="1222375"/>
          </a:xfrm>
          <a:prstGeom prst="cloudCallout">
            <a:avLst>
              <a:gd name="adj1" fmla="val 8819"/>
              <a:gd name="adj2" fmla="val 74546"/>
            </a:avLst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②</a:t>
            </a:r>
            <a:r>
              <a:rPr lang="zh-CN" altLang="en-US" b="1">
                <a:solidFill>
                  <a:schemeClr val="tx2"/>
                </a:solidFill>
              </a:rPr>
              <a:t>公钥加密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E (</a:t>
            </a:r>
            <a:r>
              <a:rPr lang="en-US" altLang="zh-CN" b="1">
                <a:solidFill>
                  <a:srgbClr val="FF0000"/>
                </a:solidFill>
              </a:rPr>
              <a:t>p</a:t>
            </a:r>
            <a:r>
              <a:rPr lang="zh-CN" altLang="en-US" b="1">
                <a:solidFill>
                  <a:schemeClr val="tx2"/>
                </a:solidFill>
              </a:rPr>
              <a:t>，</a:t>
            </a:r>
            <a:r>
              <a:rPr lang="en-US" altLang="zh-CN" b="1">
                <a:solidFill>
                  <a:schemeClr val="tx2"/>
                </a:solidFill>
              </a:rPr>
              <a:t>m) = c</a:t>
            </a:r>
          </a:p>
        </p:txBody>
      </p:sp>
      <p:sp>
        <p:nvSpPr>
          <p:cNvPr id="13" name="AutoShape 46"/>
          <p:cNvSpPr>
            <a:spLocks noChangeArrowheads="1"/>
          </p:cNvSpPr>
          <p:nvPr/>
        </p:nvSpPr>
        <p:spPr bwMode="auto">
          <a:xfrm>
            <a:off x="7429500" y="2840038"/>
            <a:ext cx="2338388" cy="1149350"/>
          </a:xfrm>
          <a:prstGeom prst="cloudCallout">
            <a:avLst>
              <a:gd name="adj1" fmla="val -31532"/>
              <a:gd name="adj2" fmla="val 76935"/>
            </a:avLst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③</a:t>
            </a:r>
            <a:r>
              <a:rPr lang="zh-CN" altLang="en-US" b="1">
                <a:solidFill>
                  <a:schemeClr val="tx2"/>
                </a:solidFill>
              </a:rPr>
              <a:t>私钥解密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 (</a:t>
            </a:r>
            <a:r>
              <a:rPr lang="en-US" altLang="zh-CN" b="1">
                <a:solidFill>
                  <a:srgbClr val="FF0000"/>
                </a:solidFill>
              </a:rPr>
              <a:t>q</a:t>
            </a:r>
            <a:r>
              <a:rPr lang="zh-CN" altLang="en-US" b="1">
                <a:solidFill>
                  <a:schemeClr val="tx2"/>
                </a:solidFill>
              </a:rPr>
              <a:t>，</a:t>
            </a:r>
            <a:r>
              <a:rPr lang="en-US" altLang="zh-CN" b="1">
                <a:solidFill>
                  <a:schemeClr val="tx2"/>
                </a:solidFill>
              </a:rPr>
              <a:t>c) = m</a:t>
            </a:r>
          </a:p>
        </p:txBody>
      </p:sp>
      <p:sp>
        <p:nvSpPr>
          <p:cNvPr id="14" name="Text Box 51"/>
          <p:cNvSpPr txBox="1">
            <a:spLocks noChangeArrowheads="1"/>
          </p:cNvSpPr>
          <p:nvPr/>
        </p:nvSpPr>
        <p:spPr bwMode="auto">
          <a:xfrm>
            <a:off x="5556250" y="4941888"/>
            <a:ext cx="215423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① 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将公钥给对方</a:t>
            </a:r>
          </a:p>
        </p:txBody>
      </p:sp>
      <p:pic>
        <p:nvPicPr>
          <p:cNvPr id="19471" name="Picture 57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49650" y="4387851"/>
            <a:ext cx="774700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72" name="Picture 58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99363" y="4387851"/>
            <a:ext cx="774700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37"/>
          <p:cNvSpPr txBox="1">
            <a:spLocks noChangeArrowheads="1"/>
          </p:cNvSpPr>
          <p:nvPr/>
        </p:nvSpPr>
        <p:spPr bwMode="auto">
          <a:xfrm>
            <a:off x="2208214" y="5661025"/>
            <a:ext cx="1838325" cy="3762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明文数据“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m”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4043364" y="3897314"/>
            <a:ext cx="1838325" cy="376237"/>
            <a:chOff x="2267" y="2386"/>
            <a:chExt cx="1158" cy="237"/>
          </a:xfrm>
        </p:grpSpPr>
        <p:sp>
          <p:nvSpPr>
            <p:cNvPr id="19485" name="Rectangle 38"/>
            <p:cNvSpPr>
              <a:spLocks noChangeArrowheads="1"/>
            </p:cNvSpPr>
            <p:nvPr/>
          </p:nvSpPr>
          <p:spPr bwMode="auto">
            <a:xfrm>
              <a:off x="2267" y="2386"/>
              <a:ext cx="1158" cy="23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9486" name="Text Box 39"/>
            <p:cNvSpPr txBox="1">
              <a:spLocks noChangeArrowheads="1"/>
            </p:cNvSpPr>
            <p:nvPr/>
          </p:nvSpPr>
          <p:spPr bwMode="auto">
            <a:xfrm>
              <a:off x="2358" y="2386"/>
              <a:ext cx="103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密文数据“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c”</a:t>
              </a:r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7751763" y="5626100"/>
            <a:ext cx="1784350" cy="393700"/>
            <a:chOff x="4045" y="3623"/>
            <a:chExt cx="1124" cy="248"/>
          </a:xfrm>
        </p:grpSpPr>
        <p:sp>
          <p:nvSpPr>
            <p:cNvPr id="19483" name="Rectangle 42"/>
            <p:cNvSpPr>
              <a:spLocks noChangeArrowheads="1"/>
            </p:cNvSpPr>
            <p:nvPr/>
          </p:nvSpPr>
          <p:spPr bwMode="auto">
            <a:xfrm>
              <a:off x="4045" y="3634"/>
              <a:ext cx="1124" cy="23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9484" name="Text Box 43"/>
            <p:cNvSpPr txBox="1">
              <a:spLocks noChangeArrowheads="1"/>
            </p:cNvSpPr>
            <p:nvPr/>
          </p:nvSpPr>
          <p:spPr bwMode="auto">
            <a:xfrm>
              <a:off x="4105" y="3623"/>
              <a:ext cx="100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明文数据“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m”</a:t>
              </a:r>
            </a:p>
          </p:txBody>
        </p:sp>
      </p:grpSp>
      <p:pic>
        <p:nvPicPr>
          <p:cNvPr id="24" name="Picture 49" descr="ke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88275" y="4329114"/>
            <a:ext cx="77470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53" descr="锁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19963" y="4149726"/>
            <a:ext cx="43815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AutoShape 48"/>
          <p:cNvSpPr>
            <a:spLocks noChangeArrowheads="1"/>
          </p:cNvSpPr>
          <p:nvPr/>
        </p:nvSpPr>
        <p:spPr bwMode="auto">
          <a:xfrm rot="13117941">
            <a:off x="3000375" y="3954464"/>
            <a:ext cx="357188" cy="928687"/>
          </a:xfrm>
          <a:prstGeom prst="curvedLeftArrow">
            <a:avLst>
              <a:gd name="adj1" fmla="val 52000"/>
              <a:gd name="adj2" fmla="val 104000"/>
              <a:gd name="adj3" fmla="val 33333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7" name="AutoShape 49"/>
          <p:cNvSpPr>
            <a:spLocks noChangeArrowheads="1"/>
          </p:cNvSpPr>
          <p:nvPr/>
        </p:nvSpPr>
        <p:spPr bwMode="auto">
          <a:xfrm rot="19461802">
            <a:off x="8716963" y="4160839"/>
            <a:ext cx="334962" cy="744537"/>
          </a:xfrm>
          <a:prstGeom prst="curvedLeftArrow">
            <a:avLst>
              <a:gd name="adj1" fmla="val 44455"/>
              <a:gd name="adj2" fmla="val 88910"/>
              <a:gd name="adj3" fmla="val 33333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3432176" y="3716339"/>
            <a:ext cx="506413" cy="541337"/>
          </a:xfrm>
          <a:prstGeom prst="line">
            <a:avLst/>
          </a:prstGeom>
          <a:noFill/>
          <a:ln w="15875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44"/>
          <p:cNvSpPr>
            <a:spLocks noChangeShapeType="1"/>
          </p:cNvSpPr>
          <p:nvPr/>
        </p:nvSpPr>
        <p:spPr bwMode="auto">
          <a:xfrm flipH="1">
            <a:off x="8012113" y="3852863"/>
            <a:ext cx="144462" cy="576262"/>
          </a:xfrm>
          <a:prstGeom prst="line">
            <a:avLst/>
          </a:prstGeom>
          <a:noFill/>
          <a:ln w="15875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auto">
          <a:xfrm>
            <a:off x="5667372" y="2928935"/>
            <a:ext cx="1709738" cy="792163"/>
          </a:xfrm>
          <a:prstGeom prst="wedgeRoundRectCallout">
            <a:avLst>
              <a:gd name="adj1" fmla="val 89052"/>
              <a:gd name="adj2" fmla="val 15829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私钥始终未在网上传输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-0.37048 4.07407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7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密钥交换</a:t>
            </a:r>
            <a:endParaRPr lang="en-US" altLang="zh-CN"/>
          </a:p>
          <a:p>
            <a:pPr lvl="1">
              <a:spcBef>
                <a:spcPts val="675"/>
              </a:spcBef>
            </a:pPr>
            <a:r>
              <a:rPr lang="zh-CN" altLang="en-US"/>
              <a:t>带外共享</a:t>
            </a:r>
            <a:endParaRPr lang="en-US" altLang="zh-CN"/>
          </a:p>
          <a:p>
            <a:pPr lvl="1">
              <a:spcBef>
                <a:spcPts val="675"/>
              </a:spcBef>
            </a:pPr>
            <a:r>
              <a:rPr lang="zh-CN" altLang="en-US"/>
              <a:t>带内共享</a:t>
            </a:r>
            <a:endParaRPr lang="en-US" altLang="zh-CN"/>
          </a:p>
          <a:p>
            <a:pPr lvl="1"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en-US" altLang="zh-CN"/>
              <a:t>IKE</a:t>
            </a:r>
            <a:r>
              <a:rPr lang="zh-CN" altLang="en-US"/>
              <a:t>（</a:t>
            </a:r>
            <a:r>
              <a:rPr lang="en-US" altLang="zh-CN"/>
              <a:t>Internet Key Exchange</a:t>
            </a:r>
            <a:r>
              <a:rPr lang="zh-CN" altLang="en-US"/>
              <a:t>）因特网密钥交换协议</a:t>
            </a:r>
          </a:p>
        </p:txBody>
      </p:sp>
      <p:sp>
        <p:nvSpPr>
          <p:cNvPr id="2048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加密算法</a:t>
            </a:r>
            <a:r>
              <a:rPr lang="en-US" altLang="zh-CN"/>
              <a:t>4-3</a:t>
            </a:r>
            <a:endParaRPr lang="zh-CN" altLang="en-US"/>
          </a:p>
        </p:txBody>
      </p:sp>
      <p:pic>
        <p:nvPicPr>
          <p:cNvPr id="20484" name="Picture 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0039" y="4148138"/>
            <a:ext cx="146367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Text Box 29"/>
          <p:cNvSpPr txBox="1">
            <a:spLocks noChangeArrowheads="1"/>
          </p:cNvSpPr>
          <p:nvPr/>
        </p:nvSpPr>
        <p:spPr bwMode="auto">
          <a:xfrm>
            <a:off x="5580064" y="4389438"/>
            <a:ext cx="10890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Internet</a:t>
            </a:r>
          </a:p>
        </p:txBody>
      </p:sp>
      <p:pic>
        <p:nvPicPr>
          <p:cNvPr id="20486" name="Picture 30" descr="black_ser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1325" y="5076825"/>
            <a:ext cx="5349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7" name="Line 31"/>
          <p:cNvSpPr>
            <a:spLocks noChangeShapeType="1"/>
          </p:cNvSpPr>
          <p:nvPr/>
        </p:nvSpPr>
        <p:spPr bwMode="auto">
          <a:xfrm>
            <a:off x="4225926" y="4587875"/>
            <a:ext cx="1154113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20488" name="Line 32"/>
          <p:cNvSpPr>
            <a:spLocks noChangeShapeType="1"/>
          </p:cNvSpPr>
          <p:nvPr/>
        </p:nvSpPr>
        <p:spPr bwMode="auto">
          <a:xfrm>
            <a:off x="6800850" y="4581525"/>
            <a:ext cx="1244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cxnSp>
        <p:nvCxnSpPr>
          <p:cNvPr id="20489" name="AutoShape 33"/>
          <p:cNvCxnSpPr>
            <a:cxnSpLocks noChangeShapeType="1"/>
          </p:cNvCxnSpPr>
          <p:nvPr/>
        </p:nvCxnSpPr>
        <p:spPr bwMode="auto">
          <a:xfrm rot="10800000" flipV="1">
            <a:off x="3249613" y="4602163"/>
            <a:ext cx="709612" cy="474662"/>
          </a:xfrm>
          <a:prstGeom prst="bentConnector2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20490" name="AutoShape 34"/>
          <p:cNvCxnSpPr>
            <a:cxnSpLocks noChangeShapeType="1"/>
          </p:cNvCxnSpPr>
          <p:nvPr/>
        </p:nvCxnSpPr>
        <p:spPr bwMode="auto">
          <a:xfrm>
            <a:off x="8566150" y="4589463"/>
            <a:ext cx="368300" cy="520700"/>
          </a:xfrm>
          <a:prstGeom prst="bentConnector2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</p:cxnSp>
      <p:pic>
        <p:nvPicPr>
          <p:cNvPr id="20491" name="Picture 35" descr="black_ser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66164" y="5076825"/>
            <a:ext cx="53498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2" name="Text Box 46"/>
          <p:cNvSpPr txBox="1">
            <a:spLocks noChangeArrowheads="1"/>
          </p:cNvSpPr>
          <p:nvPr/>
        </p:nvSpPr>
        <p:spPr bwMode="auto">
          <a:xfrm>
            <a:off x="5232401" y="4927601"/>
            <a:ext cx="18002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共享密钥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key</a:t>
            </a:r>
          </a:p>
        </p:txBody>
      </p:sp>
      <p:pic>
        <p:nvPicPr>
          <p:cNvPr id="20493" name="Picture 52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90938" y="4416425"/>
            <a:ext cx="7985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4" name="Picture 53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67651" y="4400550"/>
            <a:ext cx="7985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32"/>
          <p:cNvGrpSpPr>
            <a:grpSpLocks/>
          </p:cNvGrpSpPr>
          <p:nvPr/>
        </p:nvGrpSpPr>
        <p:grpSpPr bwMode="auto">
          <a:xfrm>
            <a:off x="4524376" y="4244975"/>
            <a:ext cx="3357563" cy="571500"/>
            <a:chOff x="3000364" y="5000638"/>
            <a:chExt cx="3357586" cy="571505"/>
          </a:xfrm>
        </p:grpSpPr>
        <p:sp>
          <p:nvSpPr>
            <p:cNvPr id="19" name="AutoShape 44"/>
            <p:cNvSpPr>
              <a:spLocks noChangeArrowheads="1"/>
            </p:cNvSpPr>
            <p:nvPr/>
          </p:nvSpPr>
          <p:spPr bwMode="auto">
            <a:xfrm rot="5400000">
              <a:off x="4393405" y="3607597"/>
              <a:ext cx="571505" cy="3357586"/>
            </a:xfrm>
            <a:prstGeom prst="upDownArrow">
              <a:avLst>
                <a:gd name="adj1" fmla="val 50000"/>
                <a:gd name="adj2" fmla="val 133932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3399FF"/>
                </a:gs>
              </a:gsLst>
              <a:lin ang="0" scaled="1"/>
            </a:gradFill>
            <a:ln w="12700" cap="rnd" algn="ctr">
              <a:solidFill>
                <a:srgbClr val="3399FF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808080">
                  <a:alpha val="50000"/>
                </a:srgbClr>
              </a:outerShdw>
            </a:effectLst>
          </p:spPr>
          <p:txBody>
            <a:bodyPr rot="10800000" vert="eaVert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32" name="Text Box 46"/>
            <p:cNvSpPr txBox="1">
              <a:spLocks noChangeArrowheads="1"/>
            </p:cNvSpPr>
            <p:nvPr/>
          </p:nvSpPr>
          <p:spPr bwMode="auto">
            <a:xfrm>
              <a:off x="3857620" y="5072077"/>
              <a:ext cx="1800237" cy="36671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Exchange</a:t>
              </a:r>
            </a:p>
          </p:txBody>
        </p:sp>
      </p:grpSp>
      <p:pic>
        <p:nvPicPr>
          <p:cNvPr id="25" name="Picture 45" descr="ke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24814" y="4387851"/>
            <a:ext cx="630237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45" descr="ke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38564" y="4387851"/>
            <a:ext cx="630237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70028E-8 L 0.45468 3.70028E-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07 -4.89362E-6 L -0.48768 0.0009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问题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使用对称加密算法，密钥可能被窃听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使用非对称加密算法，计算复杂，效率太低，影响传输速度</a:t>
            </a:r>
          </a:p>
          <a:p>
            <a:pPr>
              <a:spcBef>
                <a:spcPts val="675"/>
              </a:spcBef>
            </a:pPr>
            <a:r>
              <a:rPr lang="zh-CN" altLang="en-US"/>
              <a:t>解决方案 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通过非对称加密算法加密对称加密算法的密钥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然后再用对称加密算法加密实际要传输的数据</a:t>
            </a:r>
          </a:p>
        </p:txBody>
      </p:sp>
      <p:sp>
        <p:nvSpPr>
          <p:cNvPr id="2150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加密算法的应用</a:t>
            </a:r>
            <a:r>
              <a:rPr lang="en-US" altLang="zh-CN"/>
              <a:t>4-4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 dirty="0"/>
              <a:t>HMAC</a:t>
            </a:r>
          </a:p>
          <a:p>
            <a:pPr lvl="1">
              <a:spcBef>
                <a:spcPts val="475"/>
              </a:spcBef>
            </a:pPr>
            <a:r>
              <a:rPr lang="zh-CN" altLang="en-US" dirty="0"/>
              <a:t>实现数据完整性验证</a:t>
            </a:r>
          </a:p>
          <a:p>
            <a:pPr lvl="1">
              <a:spcBef>
                <a:spcPts val="475"/>
              </a:spcBef>
            </a:pPr>
            <a:r>
              <a:rPr lang="zh-CN" altLang="en-US" dirty="0"/>
              <a:t>实现身份验证</a:t>
            </a:r>
          </a:p>
          <a:p>
            <a:pPr>
              <a:spcBef>
                <a:spcPts val="675"/>
              </a:spcBef>
            </a:pPr>
            <a:endParaRPr lang="zh-CN" altLang="en-US" dirty="0"/>
          </a:p>
        </p:txBody>
      </p:sp>
      <p:sp>
        <p:nvSpPr>
          <p:cNvPr id="2253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数据报文验证 </a:t>
            </a:r>
          </a:p>
        </p:txBody>
      </p:sp>
      <p:sp>
        <p:nvSpPr>
          <p:cNvPr id="4" name="Text Box 47"/>
          <p:cNvSpPr txBox="1">
            <a:spLocks noChangeArrowheads="1"/>
          </p:cNvSpPr>
          <p:nvPr/>
        </p:nvSpPr>
        <p:spPr bwMode="auto">
          <a:xfrm>
            <a:off x="2616200" y="4865689"/>
            <a:ext cx="1574800" cy="3762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ECFF"/>
              </a:gs>
            </a:gsLst>
            <a:lin ang="5400000" scaled="1"/>
          </a:gradFill>
          <a:ln w="9525" algn="ctr">
            <a:solidFill>
              <a:srgbClr val="99CCFF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数字签名</a:t>
            </a:r>
          </a:p>
        </p:txBody>
      </p:sp>
      <p:pic>
        <p:nvPicPr>
          <p:cNvPr id="22533" name="Picture 3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35264" y="2965451"/>
            <a:ext cx="879475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4" name="Picture 3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27626" y="2786063"/>
            <a:ext cx="16097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5" name="Text Box 36"/>
          <p:cNvSpPr txBox="1">
            <a:spLocks noChangeArrowheads="1"/>
          </p:cNvSpPr>
          <p:nvPr/>
        </p:nvSpPr>
        <p:spPr bwMode="auto">
          <a:xfrm>
            <a:off x="5357813" y="3038476"/>
            <a:ext cx="11985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Internet</a:t>
            </a:r>
          </a:p>
        </p:txBody>
      </p:sp>
      <p:cxnSp>
        <p:nvCxnSpPr>
          <p:cNvPr id="22536" name="AutoShape 37"/>
          <p:cNvCxnSpPr>
            <a:cxnSpLocks noChangeShapeType="1"/>
          </p:cNvCxnSpPr>
          <p:nvPr/>
        </p:nvCxnSpPr>
        <p:spPr bwMode="auto">
          <a:xfrm>
            <a:off x="3614739" y="3184525"/>
            <a:ext cx="1512887" cy="15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2537" name="AutoShape 38"/>
          <p:cNvCxnSpPr>
            <a:cxnSpLocks noChangeShapeType="1"/>
          </p:cNvCxnSpPr>
          <p:nvPr/>
        </p:nvCxnSpPr>
        <p:spPr bwMode="auto">
          <a:xfrm flipV="1">
            <a:off x="6737351" y="3179763"/>
            <a:ext cx="1738313" cy="63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22538" name="Text Box 39"/>
          <p:cNvSpPr txBox="1">
            <a:spLocks noChangeArrowheads="1"/>
          </p:cNvSpPr>
          <p:nvPr/>
        </p:nvSpPr>
        <p:spPr bwMode="auto">
          <a:xfrm>
            <a:off x="3001964" y="3092450"/>
            <a:ext cx="2936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539" name="Text Box 40"/>
          <p:cNvSpPr txBox="1">
            <a:spLocks noChangeArrowheads="1"/>
          </p:cNvSpPr>
          <p:nvPr/>
        </p:nvSpPr>
        <p:spPr bwMode="auto">
          <a:xfrm>
            <a:off x="8729664" y="3090863"/>
            <a:ext cx="2936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B</a:t>
            </a:r>
          </a:p>
        </p:txBody>
      </p:sp>
      <p:pic>
        <p:nvPicPr>
          <p:cNvPr id="22540" name="Picture 41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75664" y="2967038"/>
            <a:ext cx="879475" cy="4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41" name="Text Box 42"/>
          <p:cNvSpPr txBox="1">
            <a:spLocks noChangeArrowheads="1"/>
          </p:cNvSpPr>
          <p:nvPr/>
        </p:nvSpPr>
        <p:spPr bwMode="auto">
          <a:xfrm>
            <a:off x="8785225" y="3116263"/>
            <a:ext cx="2921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4" name="AutoShape 45"/>
          <p:cNvSpPr>
            <a:spLocks noChangeArrowheads="1"/>
          </p:cNvSpPr>
          <p:nvPr/>
        </p:nvSpPr>
        <p:spPr bwMode="auto">
          <a:xfrm>
            <a:off x="2571750" y="3362325"/>
            <a:ext cx="1150938" cy="4318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33CCFF"/>
              </a:gs>
              <a:gs pos="100000">
                <a:schemeClr val="bg1"/>
              </a:gs>
            </a:gsLst>
            <a:lin ang="5400000" scaled="1"/>
          </a:gradFill>
          <a:ln w="158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2066925" y="3735389"/>
            <a:ext cx="2844800" cy="384175"/>
            <a:chOff x="181" y="2236"/>
            <a:chExt cx="1792" cy="242"/>
          </a:xfrm>
        </p:grpSpPr>
        <p:sp>
          <p:nvSpPr>
            <p:cNvPr id="22558" name="Text Box 44"/>
            <p:cNvSpPr txBox="1">
              <a:spLocks noChangeArrowheads="1"/>
            </p:cNvSpPr>
            <p:nvPr/>
          </p:nvSpPr>
          <p:spPr bwMode="auto">
            <a:xfrm>
              <a:off x="1451" y="2247"/>
              <a:ext cx="52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+K1</a:t>
              </a:r>
            </a:p>
          </p:txBody>
        </p:sp>
        <p:sp>
          <p:nvSpPr>
            <p:cNvPr id="22559" name="Text Box 37"/>
            <p:cNvSpPr txBox="1">
              <a:spLocks noChangeArrowheads="1"/>
            </p:cNvSpPr>
            <p:nvPr/>
          </p:nvSpPr>
          <p:spPr bwMode="auto">
            <a:xfrm>
              <a:off x="181" y="2236"/>
              <a:ext cx="1338" cy="23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加密后的数据“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d”</a:t>
              </a:r>
            </a:p>
          </p:txBody>
        </p:sp>
      </p:grpSp>
      <p:sp>
        <p:nvSpPr>
          <p:cNvPr id="18" name="Text Box 47"/>
          <p:cNvSpPr txBox="1">
            <a:spLocks noChangeArrowheads="1"/>
          </p:cNvSpPr>
          <p:nvPr/>
        </p:nvSpPr>
        <p:spPr bwMode="auto">
          <a:xfrm>
            <a:off x="8151813" y="4767264"/>
            <a:ext cx="1574800" cy="3762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ECFF"/>
              </a:gs>
            </a:gsLst>
            <a:lin ang="5400000" scaled="1"/>
          </a:gradFill>
          <a:ln w="9525" algn="ctr">
            <a:solidFill>
              <a:srgbClr val="99CCFF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数字签名</a:t>
            </a:r>
          </a:p>
        </p:txBody>
      </p:sp>
      <p:sp>
        <p:nvSpPr>
          <p:cNvPr id="19" name="AutoShape 35"/>
          <p:cNvSpPr>
            <a:spLocks noChangeArrowheads="1"/>
          </p:cNvSpPr>
          <p:nvPr/>
        </p:nvSpPr>
        <p:spPr bwMode="auto">
          <a:xfrm>
            <a:off x="2355851" y="4586288"/>
            <a:ext cx="2124075" cy="792162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0" scaled="1"/>
          </a:gradFill>
          <a:ln w="15875">
            <a:solidFill>
              <a:srgbClr val="99CCFF"/>
            </a:solidFill>
            <a:round/>
            <a:headEnd/>
            <a:tailEnd/>
          </a:ln>
          <a:effectLst>
            <a:prstShdw prst="shdw17" dist="17961" dir="2700000">
              <a:srgbClr val="99CCFF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marL="342900" indent="-342900" algn="ctr">
              <a:defRPr/>
            </a:pPr>
            <a:r>
              <a:rPr lang="en-US" altLang="zh-CN" sz="20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Hash</a:t>
            </a:r>
            <a:r>
              <a:rPr lang="zh-CN" altLang="en-US" sz="20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算法</a:t>
            </a:r>
          </a:p>
        </p:txBody>
      </p:sp>
      <p:sp>
        <p:nvSpPr>
          <p:cNvPr id="20" name="Text Box 37"/>
          <p:cNvSpPr txBox="1">
            <a:spLocks noChangeArrowheads="1"/>
          </p:cNvSpPr>
          <p:nvPr/>
        </p:nvSpPr>
        <p:spPr bwMode="auto">
          <a:xfrm>
            <a:off x="2066926" y="3759200"/>
            <a:ext cx="2124075" cy="3762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加密后的数据</a:t>
            </a:r>
            <a:endParaRPr lang="en-US" altLang="zh-CN" b="1">
              <a:solidFill>
                <a:schemeClr val="tx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1" name="Text Box 47"/>
          <p:cNvSpPr txBox="1">
            <a:spLocks noChangeArrowheads="1"/>
          </p:cNvSpPr>
          <p:nvPr/>
        </p:nvSpPr>
        <p:spPr bwMode="auto">
          <a:xfrm>
            <a:off x="2689225" y="5818189"/>
            <a:ext cx="1574800" cy="3762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ECFF"/>
              </a:gs>
            </a:gsLst>
            <a:lin ang="5400000" scaled="1"/>
          </a:gradFill>
          <a:ln w="9525" algn="ctr">
            <a:solidFill>
              <a:srgbClr val="99CCFF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数字签名</a:t>
            </a:r>
          </a:p>
        </p:txBody>
      </p:sp>
      <p:sp>
        <p:nvSpPr>
          <p:cNvPr id="22" name="Text Box 52"/>
          <p:cNvSpPr txBox="1">
            <a:spLocks noChangeArrowheads="1"/>
          </p:cNvSpPr>
          <p:nvPr/>
        </p:nvSpPr>
        <p:spPr bwMode="auto">
          <a:xfrm>
            <a:off x="9628189" y="3759201"/>
            <a:ext cx="611187" cy="366713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>
                <a:solidFill>
                  <a:srgbClr val="FF0000"/>
                </a:solidFill>
              </a:rPr>
              <a:t>+K1</a:t>
            </a:r>
          </a:p>
        </p:txBody>
      </p: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7539038" y="3759200"/>
            <a:ext cx="2698750" cy="376238"/>
            <a:chOff x="3334" y="2251"/>
            <a:chExt cx="1700" cy="237"/>
          </a:xfrm>
        </p:grpSpPr>
        <p:sp>
          <p:nvSpPr>
            <p:cNvPr id="22556" name="Text Box 37"/>
            <p:cNvSpPr txBox="1">
              <a:spLocks noChangeArrowheads="1"/>
            </p:cNvSpPr>
            <p:nvPr/>
          </p:nvSpPr>
          <p:spPr bwMode="auto">
            <a:xfrm>
              <a:off x="3334" y="2251"/>
              <a:ext cx="1338" cy="23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CFFCC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加密后的数据</a:t>
              </a:r>
              <a:endPara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5" name="Text Box 54"/>
            <p:cNvSpPr txBox="1">
              <a:spLocks noChangeArrowheads="1"/>
            </p:cNvSpPr>
            <p:nvPr/>
          </p:nvSpPr>
          <p:spPr bwMode="auto">
            <a:xfrm>
              <a:off x="4649" y="2251"/>
              <a:ext cx="385" cy="231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0000"/>
                  </a:solidFill>
                </a:rPr>
                <a:t>+K1</a:t>
              </a:r>
            </a:p>
          </p:txBody>
        </p:sp>
      </p:grp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7756526" y="4551363"/>
            <a:ext cx="2124075" cy="792162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0" scaled="1"/>
          </a:gradFill>
          <a:ln w="15875">
            <a:solidFill>
              <a:srgbClr val="99CCFF"/>
            </a:solidFill>
            <a:round/>
            <a:headEnd/>
            <a:tailEnd/>
          </a:ln>
          <a:effectLst>
            <a:prstShdw prst="shdw17" dist="17961" dir="2700000">
              <a:srgbClr val="99CCFF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marL="342900" indent="-342900" algn="ctr">
              <a:defRPr/>
            </a:pPr>
            <a:r>
              <a:rPr lang="en-US" altLang="zh-CN" sz="20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Hash</a:t>
            </a:r>
            <a:r>
              <a:rPr lang="zh-CN" altLang="en-US" sz="20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算法</a:t>
            </a:r>
          </a:p>
        </p:txBody>
      </p: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7288213" y="5691189"/>
            <a:ext cx="792162" cy="587375"/>
            <a:chOff x="3470" y="3468"/>
            <a:chExt cx="499" cy="370"/>
          </a:xfrm>
        </p:grpSpPr>
        <p:sp>
          <p:nvSpPr>
            <p:cNvPr id="22554" name="Line 56"/>
            <p:cNvSpPr>
              <a:spLocks noChangeShapeType="1"/>
            </p:cNvSpPr>
            <p:nvPr/>
          </p:nvSpPr>
          <p:spPr bwMode="auto">
            <a:xfrm>
              <a:off x="3516" y="3657"/>
              <a:ext cx="38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>
              <a:prstShdw prst="shdw17" dist="17961" dir="2700000">
                <a:srgbClr val="000000"/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57"/>
            <p:cNvSpPr txBox="1">
              <a:spLocks noChangeArrowheads="1"/>
            </p:cNvSpPr>
            <p:nvPr/>
          </p:nvSpPr>
          <p:spPr bwMode="auto">
            <a:xfrm>
              <a:off x="3470" y="3468"/>
              <a:ext cx="499" cy="370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lnSpc>
                  <a:spcPct val="90000"/>
                </a:lnSpc>
                <a:defRPr/>
              </a:pPr>
              <a:r>
                <a:rPr lang="zh-CN" altLang="en-US">
                  <a:solidFill>
                    <a:srgbClr val="FF0000"/>
                  </a:solidFill>
                </a:rPr>
                <a:t>是否</a:t>
              </a:r>
            </a:p>
            <a:p>
              <a:pPr marL="342900" indent="-342900">
                <a:lnSpc>
                  <a:spcPct val="90000"/>
                </a:lnSpc>
                <a:defRPr/>
              </a:pPr>
              <a:r>
                <a:rPr lang="zh-CN" altLang="en-US">
                  <a:solidFill>
                    <a:srgbClr val="FF0000"/>
                  </a:solidFill>
                </a:rPr>
                <a:t>相同</a:t>
              </a:r>
            </a:p>
          </p:txBody>
        </p:sp>
      </p:grpSp>
      <p:sp>
        <p:nvSpPr>
          <p:cNvPr id="30" name="Text Box 47"/>
          <p:cNvSpPr txBox="1">
            <a:spLocks noChangeArrowheads="1"/>
          </p:cNvSpPr>
          <p:nvPr/>
        </p:nvSpPr>
        <p:spPr bwMode="auto">
          <a:xfrm>
            <a:off x="3651250" y="3975100"/>
            <a:ext cx="5003800" cy="37623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ECFF"/>
              </a:gs>
            </a:gsLst>
            <a:lin ang="5400000" scaled="1"/>
          </a:gradFill>
          <a:ln w="9525" algn="ctr">
            <a:solidFill>
              <a:srgbClr val="99CCFF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如果数据被篡改将无法得到相同的数字签名</a:t>
            </a:r>
          </a:p>
        </p:txBody>
      </p:sp>
      <p:sp>
        <p:nvSpPr>
          <p:cNvPr id="34" name="内容占位符 1"/>
          <p:cNvSpPr txBox="1">
            <a:spLocks/>
          </p:cNvSpPr>
          <p:nvPr/>
        </p:nvSpPr>
        <p:spPr bwMode="auto">
          <a:xfrm>
            <a:off x="1738313" y="1143000"/>
            <a:ext cx="8501062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5"/>
              </a:spcBef>
              <a:buClr>
                <a:schemeClr val="hlink"/>
              </a:buClr>
              <a:buBlip>
                <a:blip r:embed="rId5"/>
              </a:buBlip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HMAC</a:t>
            </a:r>
          </a:p>
          <a:p>
            <a:pPr marL="742950" lvl="1" indent="-285750" eaLnBrk="0" hangingPunct="0">
              <a:lnSpc>
                <a:spcPts val="3000"/>
              </a:lnSpc>
              <a:spcBef>
                <a:spcPts val="475"/>
              </a:spcBef>
              <a:buClr>
                <a:srgbClr val="0099CC"/>
              </a:buClr>
              <a:buBlip>
                <a:blip r:embed="rId6"/>
              </a:buBlip>
              <a:defRPr/>
            </a:pPr>
            <a:r>
              <a:rPr lang="en-US" altLang="zh-CN" sz="2400" dirty="0">
                <a:solidFill>
                  <a:schemeClr val="tx2"/>
                </a:solidFill>
              </a:rPr>
              <a:t>MD5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marL="742950" lvl="1" indent="-285750" eaLnBrk="0" hangingPunct="0">
              <a:lnSpc>
                <a:spcPts val="3000"/>
              </a:lnSpc>
              <a:spcBef>
                <a:spcPts val="475"/>
              </a:spcBef>
              <a:buClr>
                <a:srgbClr val="0099CC"/>
              </a:buClr>
              <a:buBlip>
                <a:blip r:embed="rId6"/>
              </a:buBlip>
              <a:defRPr/>
            </a:pPr>
            <a:r>
              <a:rPr lang="en-US" altLang="zh-CN" sz="2400" dirty="0">
                <a:solidFill>
                  <a:schemeClr val="tx2"/>
                </a:solidFill>
              </a:rPr>
              <a:t>SHA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zh-CN" altLang="en-US" sz="2800" b="1" kern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85185E-6 L 8.33333E-7 0.1275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8 -0.00509 L 0.00938 0.13565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7037E-7 L 0.60052 3.7037E-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0.33264 -3.7037E-7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9 0.00509 L -0.0059 0.1090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29 0.00417 L -0.01129 0.15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4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20" grpId="0" animBg="1"/>
      <p:bldP spid="20" grpId="1" animBg="1"/>
      <p:bldP spid="20" grpId="2" animBg="1"/>
      <p:bldP spid="21" grpId="0" animBg="1"/>
      <p:bldP spid="21" grpId="1" animBg="1"/>
      <p:bldP spid="22" grpId="0"/>
      <p:bldP spid="22" grpId="1"/>
      <p:bldP spid="26" grpId="0" animBg="1"/>
      <p:bldP spid="30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  <a:spcAft>
                <a:spcPct val="25000"/>
              </a:spcAft>
            </a:pPr>
            <a:r>
              <a:rPr lang="zh-CN" altLang="en-US"/>
              <a:t>请思考：</a:t>
            </a:r>
          </a:p>
          <a:p>
            <a:pPr lvl="1">
              <a:spcBef>
                <a:spcPts val="475"/>
              </a:spcBef>
              <a:spcAft>
                <a:spcPct val="25000"/>
              </a:spcAft>
            </a:pPr>
            <a:r>
              <a:rPr lang="zh-CN" altLang="en-US"/>
              <a:t>简述</a:t>
            </a:r>
            <a:r>
              <a:rPr lang="en-US" altLang="zh-CN"/>
              <a:t>VPN</a:t>
            </a:r>
            <a:r>
              <a:rPr lang="zh-CN" altLang="en-US"/>
              <a:t>的连接模式有哪些？区别是什么？</a:t>
            </a:r>
          </a:p>
          <a:p>
            <a:pPr lvl="1">
              <a:spcBef>
                <a:spcPts val="475"/>
              </a:spcBef>
              <a:spcAft>
                <a:spcPct val="25000"/>
              </a:spcAft>
            </a:pPr>
            <a:r>
              <a:rPr lang="zh-CN" altLang="en-US"/>
              <a:t>简述</a:t>
            </a:r>
            <a:r>
              <a:rPr lang="en-US" altLang="zh-CN"/>
              <a:t>VPN</a:t>
            </a:r>
            <a:r>
              <a:rPr lang="zh-CN" altLang="en-US"/>
              <a:t>的类型有哪些？</a:t>
            </a:r>
            <a:endParaRPr lang="en-US" altLang="zh-CN"/>
          </a:p>
          <a:p>
            <a:pPr lvl="1">
              <a:spcBef>
                <a:spcPts val="475"/>
              </a:spcBef>
              <a:spcAft>
                <a:spcPct val="25000"/>
              </a:spcAft>
            </a:pPr>
            <a:r>
              <a:rPr lang="zh-CN" altLang="en-US"/>
              <a:t>简述常见的对称加密算法有哪些？哪种更安全？</a:t>
            </a:r>
          </a:p>
          <a:p>
            <a:pPr>
              <a:spcBef>
                <a:spcPts val="675"/>
              </a:spcBef>
              <a:spcAft>
                <a:spcPct val="25000"/>
              </a:spcAft>
              <a:buNone/>
            </a:pPr>
            <a:endParaRPr lang="zh-CN" altLang="en-US" sz="3200">
              <a:solidFill>
                <a:srgbClr val="003399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78" name="直接连接符 56"/>
          <p:cNvCxnSpPr>
            <a:cxnSpLocks noChangeShapeType="1"/>
          </p:cNvCxnSpPr>
          <p:nvPr/>
        </p:nvCxnSpPr>
        <p:spPr bwMode="auto">
          <a:xfrm rot="5400000">
            <a:off x="6917532" y="4534695"/>
            <a:ext cx="2216150" cy="1587"/>
          </a:xfrm>
          <a:prstGeom prst="line">
            <a:avLst/>
          </a:prstGeom>
          <a:noFill/>
          <a:ln w="31750" algn="ctr">
            <a:solidFill>
              <a:schemeClr val="tx2"/>
            </a:solidFill>
            <a:prstDash val="dash"/>
            <a:round/>
            <a:headEnd/>
            <a:tailEnd/>
          </a:ln>
        </p:spPr>
      </p:cxnSp>
      <p:cxnSp>
        <p:nvCxnSpPr>
          <p:cNvPr id="24579" name="直接连接符 55"/>
          <p:cNvCxnSpPr>
            <a:cxnSpLocks noChangeShapeType="1"/>
          </p:cNvCxnSpPr>
          <p:nvPr/>
        </p:nvCxnSpPr>
        <p:spPr bwMode="auto">
          <a:xfrm rot="5400000">
            <a:off x="3344863" y="4535488"/>
            <a:ext cx="2214563" cy="1588"/>
          </a:xfrm>
          <a:prstGeom prst="line">
            <a:avLst/>
          </a:prstGeom>
          <a:noFill/>
          <a:ln w="31750" algn="ctr">
            <a:solidFill>
              <a:schemeClr val="tx2"/>
            </a:solidFill>
            <a:prstDash val="dash"/>
            <a:round/>
            <a:headEnd/>
            <a:tailEnd/>
          </a:ln>
        </p:spPr>
      </p:cxn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建立</a:t>
            </a:r>
            <a:r>
              <a:rPr lang="en-US" altLang="zh-CN"/>
              <a:t>IPSec VPN</a:t>
            </a:r>
            <a:r>
              <a:rPr lang="zh-CN" altLang="en-US"/>
              <a:t>连接需要</a:t>
            </a:r>
            <a:r>
              <a:rPr lang="en-US" altLang="zh-CN"/>
              <a:t>3</a:t>
            </a:r>
            <a:r>
              <a:rPr lang="zh-CN" altLang="en-US"/>
              <a:t>个步骤：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流量触发</a:t>
            </a:r>
            <a:r>
              <a:rPr lang="en-US" altLang="zh-CN"/>
              <a:t>IPSec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建立管理连接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建立数据连接</a:t>
            </a:r>
          </a:p>
        </p:txBody>
      </p:sp>
      <p:sp>
        <p:nvSpPr>
          <p:cNvPr id="2458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IPSec</a:t>
            </a:r>
            <a:r>
              <a:rPr lang="zh-CN" altLang="en-US"/>
              <a:t>连接</a:t>
            </a:r>
          </a:p>
        </p:txBody>
      </p:sp>
      <p:cxnSp>
        <p:nvCxnSpPr>
          <p:cNvPr id="24582" name="AutoShape 8"/>
          <p:cNvCxnSpPr>
            <a:cxnSpLocks noChangeShapeType="1"/>
          </p:cNvCxnSpPr>
          <p:nvPr/>
        </p:nvCxnSpPr>
        <p:spPr bwMode="auto">
          <a:xfrm>
            <a:off x="4438650" y="4786313"/>
            <a:ext cx="3086100" cy="0"/>
          </a:xfrm>
          <a:prstGeom prst="straightConnector1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</p:cxnSp>
      <p:pic>
        <p:nvPicPr>
          <p:cNvPr id="24583" name="Picture 8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25" y="4286251"/>
            <a:ext cx="1612900" cy="9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838825" y="4572001"/>
            <a:ext cx="10429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cxnSp>
        <p:nvCxnSpPr>
          <p:cNvPr id="24585" name="AutoShape 22"/>
          <p:cNvCxnSpPr>
            <a:cxnSpLocks noChangeShapeType="1"/>
          </p:cNvCxnSpPr>
          <p:nvPr/>
        </p:nvCxnSpPr>
        <p:spPr bwMode="auto">
          <a:xfrm>
            <a:off x="3314701" y="4784725"/>
            <a:ext cx="709613" cy="15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4586" name="AutoShape 23"/>
          <p:cNvCxnSpPr>
            <a:cxnSpLocks noChangeShapeType="1"/>
          </p:cNvCxnSpPr>
          <p:nvPr/>
        </p:nvCxnSpPr>
        <p:spPr bwMode="auto">
          <a:xfrm rot="10800000">
            <a:off x="8524876" y="4786314"/>
            <a:ext cx="568325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pic>
        <p:nvPicPr>
          <p:cNvPr id="24587" name="Picture 8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064" y="4357688"/>
            <a:ext cx="12858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4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52688" y="4214813"/>
            <a:ext cx="4318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13" name="Picture 15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5500" y="4857751"/>
            <a:ext cx="4318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24590" name="Picture 8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0626" y="4357688"/>
            <a:ext cx="12858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14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82125" y="4143376"/>
            <a:ext cx="4318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49" name="Picture 15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67875" y="4786313"/>
            <a:ext cx="4318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18" name="Picture 20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07450" y="4572001"/>
            <a:ext cx="4318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17" name="Picture 19" descr="电脑图标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52750" y="4572001"/>
            <a:ext cx="4318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>
            <a:off x="4810125" y="4713289"/>
            <a:ext cx="2643188" cy="1587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prstDash val="sysDash"/>
            <a:round/>
            <a:headEnd/>
            <a:tailEnd type="arrow" w="med" len="med"/>
          </a:ln>
        </p:spPr>
      </p:cxnSp>
      <p:sp>
        <p:nvSpPr>
          <p:cNvPr id="60" name="AutoShape 38"/>
          <p:cNvSpPr>
            <a:spLocks noChangeArrowheads="1"/>
          </p:cNvSpPr>
          <p:nvPr/>
        </p:nvSpPr>
        <p:spPr bwMode="auto">
          <a:xfrm rot="5400000">
            <a:off x="6096000" y="3500438"/>
            <a:ext cx="285750" cy="2571750"/>
          </a:xfrm>
          <a:prstGeom prst="can">
            <a:avLst>
              <a:gd name="adj" fmla="val 61958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0" scaled="1"/>
          </a:gradFill>
          <a:ln w="9525">
            <a:solidFill>
              <a:srgbClr val="99CC00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marL="342900" indent="-342900" algn="ctr"/>
            <a:endParaRPr lang="en-US" altLang="zh-CN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3" name="组合 40"/>
          <p:cNvGrpSpPr>
            <a:grpSpLocks/>
          </p:cNvGrpSpPr>
          <p:nvPr/>
        </p:nvGrpSpPr>
        <p:grpSpPr bwMode="auto">
          <a:xfrm>
            <a:off x="7453314" y="4500565"/>
            <a:ext cx="1214437" cy="560804"/>
            <a:chOff x="6300788" y="3968767"/>
            <a:chExt cx="1057294" cy="494384"/>
          </a:xfrm>
        </p:grpSpPr>
        <p:pic>
          <p:nvPicPr>
            <p:cNvPr id="24610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300788" y="3968767"/>
              <a:ext cx="971550" cy="493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6639398" y="4164694"/>
              <a:ext cx="718684" cy="298457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</a:rPr>
                <a:t>B</a:t>
              </a:r>
            </a:p>
          </p:txBody>
        </p:sp>
      </p:grpSp>
      <p:grpSp>
        <p:nvGrpSpPr>
          <p:cNvPr id="4" name="组合 69"/>
          <p:cNvGrpSpPr>
            <a:grpSpLocks/>
          </p:cNvGrpSpPr>
          <p:nvPr/>
        </p:nvGrpSpPr>
        <p:grpSpPr bwMode="auto">
          <a:xfrm>
            <a:off x="5024438" y="4601643"/>
            <a:ext cx="2214562" cy="369332"/>
            <a:chOff x="3786182" y="3672961"/>
            <a:chExt cx="2214578" cy="369335"/>
          </a:xfrm>
        </p:grpSpPr>
        <p:sp>
          <p:nvSpPr>
            <p:cNvPr id="24602" name="矩形 61"/>
            <p:cNvSpPr>
              <a:spLocks noChangeArrowheads="1"/>
            </p:cNvSpPr>
            <p:nvPr/>
          </p:nvSpPr>
          <p:spPr bwMode="auto">
            <a:xfrm>
              <a:off x="3786182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3" name="矩形 62"/>
            <p:cNvSpPr>
              <a:spLocks noChangeArrowheads="1"/>
            </p:cNvSpPr>
            <p:nvPr/>
          </p:nvSpPr>
          <p:spPr bwMode="auto">
            <a:xfrm>
              <a:off x="4071934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4" name="矩形 63"/>
            <p:cNvSpPr>
              <a:spLocks noChangeArrowheads="1"/>
            </p:cNvSpPr>
            <p:nvPr/>
          </p:nvSpPr>
          <p:spPr bwMode="auto">
            <a:xfrm>
              <a:off x="4357686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5" name="矩形 64"/>
            <p:cNvSpPr>
              <a:spLocks noChangeArrowheads="1"/>
            </p:cNvSpPr>
            <p:nvPr/>
          </p:nvSpPr>
          <p:spPr bwMode="auto">
            <a:xfrm>
              <a:off x="4643438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6" name="矩形 65"/>
            <p:cNvSpPr>
              <a:spLocks noChangeArrowheads="1"/>
            </p:cNvSpPr>
            <p:nvPr/>
          </p:nvSpPr>
          <p:spPr bwMode="auto">
            <a:xfrm>
              <a:off x="4929190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7" name="矩形 66"/>
            <p:cNvSpPr>
              <a:spLocks noChangeArrowheads="1"/>
            </p:cNvSpPr>
            <p:nvPr/>
          </p:nvSpPr>
          <p:spPr bwMode="auto">
            <a:xfrm>
              <a:off x="5214942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8" name="矩形 67"/>
            <p:cNvSpPr>
              <a:spLocks noChangeArrowheads="1"/>
            </p:cNvSpPr>
            <p:nvPr/>
          </p:nvSpPr>
          <p:spPr bwMode="auto">
            <a:xfrm>
              <a:off x="5500694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609" name="矩形 68"/>
            <p:cNvSpPr>
              <a:spLocks noChangeArrowheads="1"/>
            </p:cNvSpPr>
            <p:nvPr/>
          </p:nvSpPr>
          <p:spPr bwMode="auto">
            <a:xfrm>
              <a:off x="5786446" y="3672961"/>
              <a:ext cx="214314" cy="369335"/>
            </a:xfrm>
            <a:prstGeom prst="rect">
              <a:avLst/>
            </a:prstGeom>
            <a:solidFill>
              <a:schemeClr val="tx2"/>
            </a:soli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marL="95250" algn="ctr"/>
              <a:endParaRPr lang="zh-CN" altLang="en-US" b="1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组合 39"/>
          <p:cNvGrpSpPr>
            <a:grpSpLocks/>
          </p:cNvGrpSpPr>
          <p:nvPr/>
        </p:nvGrpSpPr>
        <p:grpSpPr bwMode="auto">
          <a:xfrm>
            <a:off x="3881438" y="4470400"/>
            <a:ext cx="1147762" cy="656054"/>
            <a:chOff x="1857356" y="3970355"/>
            <a:chExt cx="1004889" cy="516730"/>
          </a:xfrm>
        </p:grpSpPr>
        <p:pic>
          <p:nvPicPr>
            <p:cNvPr id="24600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857356" y="3970355"/>
              <a:ext cx="971550" cy="493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2143673" y="4220429"/>
              <a:ext cx="718572" cy="266656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marL="342900" indent="-342900"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</a:rPr>
                <a:t>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阶段</a:t>
            </a:r>
            <a:r>
              <a:rPr lang="en-US" altLang="zh-CN"/>
              <a:t>1</a:t>
            </a:r>
            <a:r>
              <a:rPr lang="zh-CN" altLang="en-US"/>
              <a:t>的三个任务 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协商采用何种方式建立管理连接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DH</a:t>
            </a:r>
            <a:r>
              <a:rPr lang="zh-CN" altLang="en-US"/>
              <a:t>算法共享密钥信息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对等体彼此进行身份验证</a:t>
            </a:r>
          </a:p>
        </p:txBody>
      </p:sp>
      <p:sp>
        <p:nvSpPr>
          <p:cNvPr id="2560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1</a:t>
            </a:r>
            <a:endParaRPr lang="zh-CN" altLang="en-US"/>
          </a:p>
        </p:txBody>
      </p:sp>
      <p:pic>
        <p:nvPicPr>
          <p:cNvPr id="25604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9150" y="4219576"/>
            <a:ext cx="971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1789" y="4124326"/>
            <a:ext cx="1285875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606" name="AutoShape 8"/>
          <p:cNvCxnSpPr>
            <a:cxnSpLocks noChangeShapeType="1"/>
          </p:cNvCxnSpPr>
          <p:nvPr/>
        </p:nvCxnSpPr>
        <p:spPr bwMode="auto">
          <a:xfrm>
            <a:off x="4330700" y="4467225"/>
            <a:ext cx="1081088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5607" name="AutoShape 9"/>
          <p:cNvCxnSpPr>
            <a:cxnSpLocks noChangeShapeType="1"/>
          </p:cNvCxnSpPr>
          <p:nvPr/>
        </p:nvCxnSpPr>
        <p:spPr bwMode="auto">
          <a:xfrm flipV="1">
            <a:off x="6697664" y="4465639"/>
            <a:ext cx="1127125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607050" y="4303713"/>
            <a:ext cx="104298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pic>
        <p:nvPicPr>
          <p:cNvPr id="25609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4788" y="4217988"/>
            <a:ext cx="9715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759075" y="5311775"/>
            <a:ext cx="2160588" cy="863600"/>
            <a:chOff x="771" y="3067"/>
            <a:chExt cx="1361" cy="544"/>
          </a:xfrm>
        </p:grpSpPr>
        <p:sp>
          <p:nvSpPr>
            <p:cNvPr id="11" name="Oval 13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2" name="Picture 14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3" name="Picture 15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4" name="AutoShape 16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7226300" y="5314950"/>
            <a:ext cx="2160588" cy="863600"/>
            <a:chOff x="771" y="3067"/>
            <a:chExt cx="1361" cy="544"/>
          </a:xfrm>
        </p:grpSpPr>
        <p:sp>
          <p:nvSpPr>
            <p:cNvPr id="16" name="Oval 18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7" name="Picture 19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8" name="Picture 20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9" name="AutoShape 21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25612" name="AutoShape 22"/>
          <p:cNvCxnSpPr>
            <a:cxnSpLocks noChangeShapeType="1"/>
          </p:cNvCxnSpPr>
          <p:nvPr/>
        </p:nvCxnSpPr>
        <p:spPr bwMode="auto">
          <a:xfrm flipH="1">
            <a:off x="3840163" y="4713289"/>
            <a:ext cx="4762" cy="5984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5613" name="AutoShape 23"/>
          <p:cNvCxnSpPr>
            <a:cxnSpLocks noChangeShapeType="1"/>
          </p:cNvCxnSpPr>
          <p:nvPr/>
        </p:nvCxnSpPr>
        <p:spPr bwMode="auto">
          <a:xfrm flipV="1">
            <a:off x="8307389" y="4711700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22" name="AutoShape 24"/>
          <p:cNvSpPr>
            <a:spLocks noChangeArrowheads="1"/>
          </p:cNvSpPr>
          <p:nvPr/>
        </p:nvSpPr>
        <p:spPr bwMode="auto">
          <a:xfrm>
            <a:off x="2027238" y="3225801"/>
            <a:ext cx="1439862" cy="1116013"/>
          </a:xfrm>
          <a:prstGeom prst="verticalScroll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 marL="342900" indent="-342900"/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传输集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</a:t>
            </a:r>
          </a:p>
          <a:p>
            <a:pPr marL="342900" indent="-342900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……</a:t>
            </a:r>
          </a:p>
          <a:p>
            <a:pPr marL="342900" indent="-342900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…… </a:t>
            </a: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3662364" y="4357688"/>
            <a:ext cx="719137" cy="336550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sz="1600" b="1" dirty="0">
                <a:solidFill>
                  <a:schemeClr val="accent3"/>
                </a:solidFill>
              </a:rPr>
              <a:t>A</a:t>
            </a: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8096250" y="4429125"/>
            <a:ext cx="719138" cy="336550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sz="1600" b="1" dirty="0">
                <a:solidFill>
                  <a:schemeClr val="accent3"/>
                </a:solidFill>
              </a:rPr>
              <a:t>B</a:t>
            </a:r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953376" y="3190876"/>
            <a:ext cx="2354263" cy="1116013"/>
            <a:chOff x="4050" y="1911"/>
            <a:chExt cx="1483" cy="703"/>
          </a:xfrm>
        </p:grpSpPr>
        <p:sp>
          <p:nvSpPr>
            <p:cNvPr id="25625" name="AutoShape 27"/>
            <p:cNvSpPr>
              <a:spLocks noChangeArrowheads="1"/>
            </p:cNvSpPr>
            <p:nvPr/>
          </p:nvSpPr>
          <p:spPr bwMode="auto">
            <a:xfrm>
              <a:off x="4626" y="1911"/>
              <a:ext cx="907" cy="703"/>
            </a:xfrm>
            <a:prstGeom prst="verticalScroll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pPr marL="342900" indent="-342900"/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传输集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B</a:t>
              </a:r>
            </a:p>
            <a:p>
              <a:pPr marL="342900" indent="-342900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</a:rPr>
                <a:t>……</a:t>
              </a:r>
            </a:p>
            <a:p>
              <a:pPr marL="342900" indent="-342900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</a:rPr>
                <a:t>…… </a:t>
              </a: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>
              <a:off x="4050" y="2092"/>
              <a:ext cx="613" cy="341"/>
            </a:xfrm>
            <a:prstGeom prst="leftRightArrow">
              <a:avLst>
                <a:gd name="adj1" fmla="val 50000"/>
                <a:gd name="adj2" fmla="val 35953"/>
              </a:avLst>
            </a:prstGeom>
            <a:gradFill rotWithShape="1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12700" cap="rnd" algn="ctr">
              <a:solidFill>
                <a:srgbClr val="3399FF"/>
              </a:solidFill>
              <a:miter lim="800000"/>
              <a:headEnd/>
              <a:tailEnd/>
            </a:ln>
            <a:effectLst>
              <a:outerShdw dist="71842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ea typeface="楷体_GB2312" pitchFamily="49" charset="-122"/>
                </a:rPr>
                <a:t>比对</a:t>
              </a:r>
            </a:p>
          </p:txBody>
        </p:sp>
      </p:grp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2566989" y="4557713"/>
            <a:ext cx="3673475" cy="1871662"/>
          </a:xfrm>
          <a:prstGeom prst="wedgeRoundRectCallout">
            <a:avLst>
              <a:gd name="adj1" fmla="val -36519"/>
              <a:gd name="adj2" fmla="val -7069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742950" lvl="1" indent="-285750"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加密算法</a:t>
            </a:r>
          </a:p>
          <a:p>
            <a:pPr marL="742950" lvl="1" indent="-285750"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2.HMAC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功能</a:t>
            </a:r>
          </a:p>
          <a:p>
            <a:pPr marL="742950" lvl="1" indent="-285750"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设备验证的类型</a:t>
            </a:r>
          </a:p>
          <a:p>
            <a:pPr marL="742950" lvl="1" indent="-285750"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4.DH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密钥组</a:t>
            </a:r>
          </a:p>
          <a:p>
            <a:pPr marL="742950" lvl="1" indent="-285750">
              <a:defRPr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管理连接的生存周期</a:t>
            </a:r>
          </a:p>
        </p:txBody>
      </p:sp>
      <p:sp>
        <p:nvSpPr>
          <p:cNvPr id="29" name="AutoShape 34"/>
          <p:cNvSpPr>
            <a:spLocks noChangeArrowheads="1"/>
          </p:cNvSpPr>
          <p:nvPr/>
        </p:nvSpPr>
        <p:spPr bwMode="auto">
          <a:xfrm>
            <a:off x="3000375" y="3597275"/>
            <a:ext cx="1619250" cy="3238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15875" algn="ctr">
            <a:solidFill>
              <a:srgbClr val="99CCFF"/>
            </a:solidFill>
            <a:round/>
            <a:headEnd/>
            <a:tailEnd/>
          </a:ln>
          <a:effectLst>
            <a:prstShdw prst="shdw17" dist="17961" dir="2700000">
              <a:srgbClr val="5C7A99"/>
            </a:prstShdw>
          </a:effectLst>
        </p:spPr>
        <p:txBody>
          <a:bodyPr wrap="none" anchor="ctr"/>
          <a:lstStyle/>
          <a:p>
            <a:pPr marL="342900" indent="-342900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预共享密钥</a:t>
            </a:r>
          </a:p>
        </p:txBody>
      </p:sp>
      <p:sp>
        <p:nvSpPr>
          <p:cNvPr id="30" name="AutoShape 35"/>
          <p:cNvSpPr>
            <a:spLocks noChangeArrowheads="1"/>
          </p:cNvSpPr>
          <p:nvPr/>
        </p:nvSpPr>
        <p:spPr bwMode="auto">
          <a:xfrm>
            <a:off x="7500938" y="3609975"/>
            <a:ext cx="1619250" cy="3238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5400000" scaled="1"/>
          </a:gradFill>
          <a:ln w="15875" algn="ctr">
            <a:solidFill>
              <a:srgbClr val="99CCFF"/>
            </a:solidFill>
            <a:round/>
            <a:headEnd/>
            <a:tailEnd/>
          </a:ln>
          <a:effectLst>
            <a:prstShdw prst="shdw17" dist="17961" dir="2700000">
              <a:srgbClr val="5C7A99"/>
            </a:prstShdw>
          </a:effectLst>
        </p:spPr>
        <p:txBody>
          <a:bodyPr wrap="none" anchor="ctr"/>
          <a:lstStyle/>
          <a:p>
            <a:pPr marL="342900" indent="-342900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预共享密钥</a:t>
            </a:r>
          </a:p>
        </p:txBody>
      </p:sp>
      <p:sp>
        <p:nvSpPr>
          <p:cNvPr id="31" name="AutoShape 37"/>
          <p:cNvSpPr>
            <a:spLocks noChangeArrowheads="1"/>
          </p:cNvSpPr>
          <p:nvPr/>
        </p:nvSpPr>
        <p:spPr bwMode="auto">
          <a:xfrm>
            <a:off x="5184775" y="3598863"/>
            <a:ext cx="1619250" cy="3238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15875" algn="ctr">
            <a:solidFill>
              <a:srgbClr val="99CC00"/>
            </a:solidFill>
            <a:round/>
            <a:headEnd/>
            <a:tailEnd/>
          </a:ln>
          <a:effectLst>
            <a:prstShdw prst="shdw17" dist="17961" dir="2700000">
              <a:srgbClr val="5C7A00"/>
            </a:prstShdw>
          </a:effectLst>
        </p:spPr>
        <p:txBody>
          <a:bodyPr wrap="none" anchor="ctr"/>
          <a:lstStyle/>
          <a:p>
            <a:pPr marL="342900" indent="-342900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共享密钥</a:t>
            </a:r>
          </a:p>
        </p:txBody>
      </p:sp>
      <p:sp>
        <p:nvSpPr>
          <p:cNvPr id="32" name="AutoShape 40"/>
          <p:cNvSpPr>
            <a:spLocks noChangeArrowheads="1"/>
          </p:cNvSpPr>
          <p:nvPr/>
        </p:nvSpPr>
        <p:spPr bwMode="auto">
          <a:xfrm>
            <a:off x="5195888" y="3586163"/>
            <a:ext cx="1619250" cy="3238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5400000" scaled="1"/>
          </a:gradFill>
          <a:ln w="15875" algn="ctr">
            <a:solidFill>
              <a:srgbClr val="99CC00"/>
            </a:solidFill>
            <a:round/>
            <a:headEnd/>
            <a:tailEnd/>
          </a:ln>
          <a:effectLst>
            <a:prstShdw prst="shdw17" dist="17961" dir="2700000">
              <a:srgbClr val="5C7A00"/>
            </a:prstShdw>
          </a:effectLst>
        </p:spPr>
        <p:txBody>
          <a:bodyPr wrap="none" anchor="ctr"/>
          <a:lstStyle/>
          <a:p>
            <a:pPr marL="342900" indent="-342900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共享密钥</a:t>
            </a:r>
          </a:p>
        </p:txBody>
      </p:sp>
      <p:sp>
        <p:nvSpPr>
          <p:cNvPr id="33" name="AutoShape 36"/>
          <p:cNvSpPr>
            <a:spLocks noChangeArrowheads="1"/>
          </p:cNvSpPr>
          <p:nvPr/>
        </p:nvSpPr>
        <p:spPr bwMode="auto">
          <a:xfrm rot="5400000">
            <a:off x="5429251" y="2873376"/>
            <a:ext cx="1152525" cy="1835150"/>
          </a:xfrm>
          <a:prstGeom prst="can">
            <a:avLst>
              <a:gd name="adj" fmla="val 39807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0" scaled="1"/>
          </a:gradFill>
          <a:ln w="15875">
            <a:solidFill>
              <a:srgbClr val="99CCFF"/>
            </a:solidFill>
            <a:round/>
            <a:headEnd/>
            <a:tailEnd/>
          </a:ln>
          <a:effectLst>
            <a:prstShdw prst="shdw17" dist="17961" dir="2700000">
              <a:srgbClr val="99CCFF">
                <a:gamma/>
                <a:shade val="60000"/>
                <a:invGamma/>
              </a:srgbClr>
            </a:prstShdw>
          </a:effectLst>
        </p:spPr>
        <p:txBody>
          <a:bodyPr rot="10800000" vert="eaVert" wrap="none" anchor="ctr"/>
          <a:lstStyle/>
          <a:p>
            <a:pPr marL="342900" indent="-342900">
              <a:defRPr/>
            </a:pPr>
            <a:r>
              <a:rPr lang="en-US" altLang="zh-CN" sz="2400" b="1">
                <a:solidFill>
                  <a:schemeClr val="tx2"/>
                </a:solidFill>
                <a:ea typeface="楷体_GB2312" pitchFamily="49" charset="-122"/>
              </a:rPr>
              <a:t>DH</a:t>
            </a:r>
            <a:r>
              <a:rPr lang="zh-CN" altLang="en-US" sz="2400" b="1">
                <a:solidFill>
                  <a:schemeClr val="tx2"/>
                </a:solidFill>
                <a:ea typeface="楷体_GB2312" pitchFamily="49" charset="-122"/>
              </a:rPr>
              <a:t>算法</a:t>
            </a:r>
          </a:p>
        </p:txBody>
      </p:sp>
      <p:sp>
        <p:nvSpPr>
          <p:cNvPr id="34" name="Text Box 47"/>
          <p:cNvSpPr txBox="1">
            <a:spLocks noChangeArrowheads="1"/>
          </p:cNvSpPr>
          <p:nvPr/>
        </p:nvSpPr>
        <p:spPr bwMode="auto">
          <a:xfrm>
            <a:off x="4008439" y="3154364"/>
            <a:ext cx="4860925" cy="14763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CECFF"/>
              </a:gs>
            </a:gsLst>
            <a:lin ang="5400000" scaled="1"/>
          </a:gradFill>
          <a:ln w="9525" algn="ctr">
            <a:solidFill>
              <a:srgbClr val="99CCFF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anchorCtr="1">
            <a:spAutoFit/>
          </a:bodyPr>
          <a:lstStyle/>
          <a:p>
            <a:pPr marL="533400" indent="-533400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使用密钥加密用户身份信息</a:t>
            </a:r>
          </a:p>
          <a:p>
            <a:pPr marL="533400" indent="-533400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使用密钥和用户信息通过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hash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算法计算数字签名</a:t>
            </a:r>
          </a:p>
          <a:p>
            <a:pPr marL="533400" indent="-533400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对方比对数字签名确认身份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6 L 0.49236 -0.0025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0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5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8" grpId="0" animBg="1"/>
      <p:bldP spid="28" grpId="1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配置安全策略</a:t>
            </a:r>
          </a:p>
        </p:txBody>
      </p:sp>
      <p:sp>
        <p:nvSpPr>
          <p:cNvPr id="2662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1</a:t>
            </a:r>
            <a:r>
              <a:rPr lang="zh-CN" altLang="en-US"/>
              <a:t>的配置</a:t>
            </a:r>
            <a:r>
              <a:rPr lang="en-US" altLang="zh-CN"/>
              <a:t>2-1</a:t>
            </a:r>
            <a:endParaRPr lang="zh-CN" altLang="en-US"/>
          </a:p>
        </p:txBody>
      </p:sp>
      <p:pic>
        <p:nvPicPr>
          <p:cNvPr id="26628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9150" y="1738313"/>
            <a:ext cx="971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1789" y="1643064"/>
            <a:ext cx="1285875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6630" name="AutoShape 10"/>
          <p:cNvCxnSpPr>
            <a:cxnSpLocks noChangeShapeType="1"/>
          </p:cNvCxnSpPr>
          <p:nvPr/>
        </p:nvCxnSpPr>
        <p:spPr bwMode="auto">
          <a:xfrm>
            <a:off x="4330700" y="1985964"/>
            <a:ext cx="1081088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6631" name="AutoShape 11"/>
          <p:cNvCxnSpPr>
            <a:cxnSpLocks noChangeShapeType="1"/>
          </p:cNvCxnSpPr>
          <p:nvPr/>
        </p:nvCxnSpPr>
        <p:spPr bwMode="auto">
          <a:xfrm flipV="1">
            <a:off x="6697664" y="1984375"/>
            <a:ext cx="1127125" cy="15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5607050" y="1822450"/>
            <a:ext cx="1042988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pic>
        <p:nvPicPr>
          <p:cNvPr id="26633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4788" y="1736725"/>
            <a:ext cx="971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759075" y="2830513"/>
            <a:ext cx="2160588" cy="755650"/>
            <a:chOff x="771" y="3067"/>
            <a:chExt cx="1361" cy="544"/>
          </a:xfrm>
        </p:grpSpPr>
        <p:sp>
          <p:nvSpPr>
            <p:cNvPr id="12" name="Oval 15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3" name="Picture 16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4" name="Picture 17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5" name="AutoShape 18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226300" y="2833688"/>
            <a:ext cx="2160588" cy="755650"/>
            <a:chOff x="771" y="3067"/>
            <a:chExt cx="1361" cy="544"/>
          </a:xfrm>
        </p:grpSpPr>
        <p:sp>
          <p:nvSpPr>
            <p:cNvPr id="17" name="Oval 20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8" name="Picture 21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9" name="Picture 22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20" name="AutoShape 23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26636" name="AutoShape 24"/>
          <p:cNvCxnSpPr>
            <a:cxnSpLocks noChangeShapeType="1"/>
          </p:cNvCxnSpPr>
          <p:nvPr/>
        </p:nvCxnSpPr>
        <p:spPr bwMode="auto">
          <a:xfrm rot="5400000">
            <a:off x="3548064" y="2459039"/>
            <a:ext cx="585787" cy="793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6637" name="AutoShape 25"/>
          <p:cNvCxnSpPr>
            <a:cxnSpLocks noChangeShapeType="1"/>
          </p:cNvCxnSpPr>
          <p:nvPr/>
        </p:nvCxnSpPr>
        <p:spPr bwMode="auto">
          <a:xfrm rot="5400000" flipH="1" flipV="1">
            <a:off x="7976395" y="2499520"/>
            <a:ext cx="665163" cy="31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995488" y="2182814"/>
            <a:ext cx="8172450" cy="3246437"/>
            <a:chOff x="295" y="1003"/>
            <a:chExt cx="5148" cy="2336"/>
          </a:xfrm>
        </p:grpSpPr>
        <p:sp>
          <p:nvSpPr>
            <p:cNvPr id="26651" name="AutoShape 30"/>
            <p:cNvSpPr>
              <a:spLocks noChangeArrowheads="1"/>
            </p:cNvSpPr>
            <p:nvPr/>
          </p:nvSpPr>
          <p:spPr bwMode="auto">
            <a:xfrm>
              <a:off x="295" y="1003"/>
              <a:ext cx="2336" cy="454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587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6652" name="AutoShape 17"/>
            <p:cNvSpPr>
              <a:spLocks noChangeArrowheads="1"/>
            </p:cNvSpPr>
            <p:nvPr/>
          </p:nvSpPr>
          <p:spPr bwMode="auto">
            <a:xfrm>
              <a:off x="386" y="1479"/>
              <a:ext cx="5057" cy="1860"/>
            </a:xfrm>
            <a:prstGeom prst="roundRect">
              <a:avLst>
                <a:gd name="adj" fmla="val 11671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Router(config)#crypto isakmp policy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priority</a:t>
              </a:r>
              <a:r>
                <a:rPr lang="en-US" altLang="zh-CN" sz="2000" b="1">
                  <a:solidFill>
                    <a:schemeClr val="tx2"/>
                  </a:solidFill>
                </a:rPr>
                <a:t> </a:t>
              </a:r>
            </a:p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Router(config-isakmp)#encryption { des | 3des | aes }</a:t>
              </a:r>
            </a:p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Router(config-isakmp)#hash { sha | md5 } </a:t>
              </a:r>
            </a:p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Router(config-isakmp)#authentication pre-share </a:t>
              </a:r>
              <a:r>
                <a:rPr lang="en-US" altLang="zh-CN" b="1">
                  <a:solidFill>
                    <a:schemeClr val="tx2"/>
                  </a:solidFill>
                </a:rPr>
                <a:t> </a:t>
              </a:r>
            </a:p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Router(config-isakmp)#group { 1 | 2 | 5 }</a:t>
              </a:r>
              <a:r>
                <a:rPr lang="en-US" altLang="zh-CN" b="1">
                  <a:solidFill>
                    <a:schemeClr val="tx2"/>
                  </a:solidFill>
                </a:rPr>
                <a:t> </a:t>
              </a:r>
            </a:p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Router(config-isakmp)#lifetime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seconds</a:t>
              </a:r>
              <a:r>
                <a:rPr lang="en-US" altLang="zh-CN" b="1">
                  <a:solidFill>
                    <a:schemeClr val="tx2"/>
                  </a:solidFill>
                </a:rPr>
                <a:t> </a:t>
              </a:r>
            </a:p>
          </p:txBody>
        </p:sp>
      </p:grpSp>
      <p:sp>
        <p:nvSpPr>
          <p:cNvPr id="26" name="AutoShape 4"/>
          <p:cNvSpPr>
            <a:spLocks noChangeArrowheads="1"/>
          </p:cNvSpPr>
          <p:nvPr/>
        </p:nvSpPr>
        <p:spPr bwMode="auto">
          <a:xfrm>
            <a:off x="8167689" y="2794001"/>
            <a:ext cx="1982787" cy="436563"/>
          </a:xfrm>
          <a:prstGeom prst="wedgeRoundRectCallout">
            <a:avLst>
              <a:gd name="adj1" fmla="val -61472"/>
              <a:gd name="adj2" fmla="val 7928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指定加密算法</a:t>
            </a:r>
          </a:p>
        </p:txBody>
      </p:sp>
      <p:sp>
        <p:nvSpPr>
          <p:cNvPr id="27" name="Text Box 47"/>
          <p:cNvSpPr txBox="1">
            <a:spLocks noChangeArrowheads="1"/>
          </p:cNvSpPr>
          <p:nvPr/>
        </p:nvSpPr>
        <p:spPr bwMode="auto">
          <a:xfrm>
            <a:off x="3738563" y="4929189"/>
            <a:ext cx="4500562" cy="3698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FFCC"/>
              </a:gs>
            </a:gsLst>
            <a:lin ang="5400000" scaled="1"/>
          </a:gradFill>
          <a:ln w="9525" algn="ctr">
            <a:solidFill>
              <a:srgbClr val="FFCC00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用于加密和验证阶段</a:t>
            </a:r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第</a:t>
            </a:r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5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6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个数据包</a:t>
            </a:r>
          </a:p>
        </p:txBody>
      </p: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8167688" y="3590926"/>
            <a:ext cx="1839912" cy="409575"/>
          </a:xfrm>
          <a:prstGeom prst="wedgeRoundRectCallout">
            <a:avLst>
              <a:gd name="adj1" fmla="val -95165"/>
              <a:gd name="adj2" fmla="val -89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指定</a:t>
            </a:r>
            <a:r>
              <a:rPr lang="en-US" altLang="zh-CN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hash</a:t>
            </a: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算法</a:t>
            </a: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7810500" y="4408489"/>
            <a:ext cx="2571750" cy="409575"/>
          </a:xfrm>
          <a:prstGeom prst="wedgeRoundRectCallout">
            <a:avLst>
              <a:gd name="adj1" fmla="val -35012"/>
              <a:gd name="adj2" fmla="val -10024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采用预共享密钥方式</a:t>
            </a:r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auto">
          <a:xfrm>
            <a:off x="7453314" y="4591051"/>
            <a:ext cx="2917825" cy="473075"/>
          </a:xfrm>
          <a:prstGeom prst="wedgeRoundRectCallout">
            <a:avLst>
              <a:gd name="adj1" fmla="val -57920"/>
              <a:gd name="adj2" fmla="val -7472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指定</a:t>
            </a:r>
            <a:r>
              <a:rPr lang="en-US" altLang="zh-CN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DH</a:t>
            </a: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算法的密钥长度</a:t>
            </a:r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1955801" y="2184401"/>
            <a:ext cx="8353425" cy="4244975"/>
            <a:chOff x="272" y="1004"/>
            <a:chExt cx="5262" cy="3055"/>
          </a:xfrm>
        </p:grpSpPr>
        <p:sp>
          <p:nvSpPr>
            <p:cNvPr id="26649" name="AutoShape 38"/>
            <p:cNvSpPr>
              <a:spLocks noChangeArrowheads="1"/>
            </p:cNvSpPr>
            <p:nvPr/>
          </p:nvSpPr>
          <p:spPr bwMode="auto">
            <a:xfrm>
              <a:off x="612" y="1004"/>
              <a:ext cx="1678" cy="385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587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6650" name="AutoShape 17"/>
            <p:cNvSpPr>
              <a:spLocks noChangeArrowheads="1"/>
            </p:cNvSpPr>
            <p:nvPr/>
          </p:nvSpPr>
          <p:spPr bwMode="auto">
            <a:xfrm>
              <a:off x="272" y="1366"/>
              <a:ext cx="5262" cy="2693"/>
            </a:xfrm>
            <a:prstGeom prst="roundRect">
              <a:avLst>
                <a:gd name="adj" fmla="val 11671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Router#show crypto isakmp policy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Protection suite of priority 1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encryption algorithm:   AES – Advanced Encryption Standard (128 bit keys).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hash algorithm:         Secure Hash Standard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authentication method:  Pre-Shared Key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Diffie-Hellman group:   #2 (1024 bit)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lifetime:               3600 seconds, no volume limit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Default protection suite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encryption algorithm:   DES - Data Encryption Standard (56 bit keysk).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	hash algorithm:         Secure Hash Standard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authentication method:  Rivest-Shamir-Adleman Signature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Diffie-Hellman group:   #1 (768 bit)</a:t>
              </a:r>
            </a:p>
            <a:p>
              <a:pPr marL="342900" indent="-342900"/>
              <a:r>
                <a:rPr lang="fr-FR" altLang="zh-CN" sz="1600" b="1">
                  <a:solidFill>
                    <a:schemeClr val="tx2"/>
                  </a:solidFill>
                </a:rPr>
                <a:t> 	lifetime:               86400 seconds, no volume limit</a:t>
              </a:r>
              <a:endParaRPr lang="en-US" altLang="zh-CN" sz="1600" b="1">
                <a:solidFill>
                  <a:schemeClr val="tx2"/>
                </a:solidFill>
              </a:endParaRPr>
            </a:p>
          </p:txBody>
        </p:sp>
      </p:grpSp>
      <p:sp>
        <p:nvSpPr>
          <p:cNvPr id="34" name="Rectangle 40"/>
          <p:cNvSpPr>
            <a:spLocks noChangeArrowheads="1"/>
          </p:cNvSpPr>
          <p:nvPr/>
        </p:nvSpPr>
        <p:spPr bwMode="auto">
          <a:xfrm>
            <a:off x="2214564" y="4786314"/>
            <a:ext cx="7667625" cy="1277937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5" name="Rectangle 41"/>
          <p:cNvSpPr>
            <a:spLocks noChangeArrowheads="1"/>
          </p:cNvSpPr>
          <p:nvPr/>
        </p:nvSpPr>
        <p:spPr bwMode="auto">
          <a:xfrm>
            <a:off x="2214564" y="3357564"/>
            <a:ext cx="7667625" cy="1214437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6" name="AutoShape 4"/>
          <p:cNvSpPr>
            <a:spLocks noChangeArrowheads="1"/>
          </p:cNvSpPr>
          <p:nvPr/>
        </p:nvSpPr>
        <p:spPr bwMode="auto">
          <a:xfrm>
            <a:off x="8239126" y="4090989"/>
            <a:ext cx="1692275" cy="409575"/>
          </a:xfrm>
          <a:prstGeom prst="wedgeRoundRectCallout">
            <a:avLst>
              <a:gd name="adj1" fmla="val -55055"/>
              <a:gd name="adj2" fmla="val -9073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配置结果</a:t>
            </a:r>
          </a:p>
        </p:txBody>
      </p:sp>
      <p:sp>
        <p:nvSpPr>
          <p:cNvPr id="37" name="AutoShape 4"/>
          <p:cNvSpPr>
            <a:spLocks noChangeArrowheads="1"/>
          </p:cNvSpPr>
          <p:nvPr/>
        </p:nvSpPr>
        <p:spPr bwMode="auto">
          <a:xfrm>
            <a:off x="8167689" y="5448301"/>
            <a:ext cx="1728787" cy="379413"/>
          </a:xfrm>
          <a:prstGeom prst="wedgeRoundRectCallout">
            <a:avLst>
              <a:gd name="adj1" fmla="val -49438"/>
              <a:gd name="adj2" fmla="val -9459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默认配置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4" grpId="0" animBg="1"/>
      <p:bldP spid="35" grpId="0" animBg="1"/>
      <p:bldP spid="36" grpId="0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配置预共享密钥</a:t>
            </a:r>
          </a:p>
        </p:txBody>
      </p:sp>
      <p:sp>
        <p:nvSpPr>
          <p:cNvPr id="2765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1</a:t>
            </a:r>
            <a:r>
              <a:rPr lang="zh-CN" altLang="en-US"/>
              <a:t>的配置</a:t>
            </a:r>
            <a:r>
              <a:rPr lang="en-US" altLang="zh-CN"/>
              <a:t>2-2</a:t>
            </a:r>
            <a:endParaRPr lang="zh-CN" altLang="en-US"/>
          </a:p>
        </p:txBody>
      </p:sp>
      <p:pic>
        <p:nvPicPr>
          <p:cNvPr id="27652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9150" y="1879601"/>
            <a:ext cx="971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3" name="Picture 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1789" y="1784351"/>
            <a:ext cx="1285875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7654" name="AutoShape 6"/>
          <p:cNvCxnSpPr>
            <a:cxnSpLocks noChangeShapeType="1"/>
          </p:cNvCxnSpPr>
          <p:nvPr/>
        </p:nvCxnSpPr>
        <p:spPr bwMode="auto">
          <a:xfrm>
            <a:off x="4330700" y="2127250"/>
            <a:ext cx="1081088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7655" name="AutoShape 7"/>
          <p:cNvCxnSpPr>
            <a:cxnSpLocks noChangeShapeType="1"/>
          </p:cNvCxnSpPr>
          <p:nvPr/>
        </p:nvCxnSpPr>
        <p:spPr bwMode="auto">
          <a:xfrm flipV="1">
            <a:off x="6697664" y="2125664"/>
            <a:ext cx="1127125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68" name="Text Box 8"/>
          <p:cNvSpPr txBox="1">
            <a:spLocks noChangeArrowheads="1"/>
          </p:cNvSpPr>
          <p:nvPr/>
        </p:nvSpPr>
        <p:spPr bwMode="auto">
          <a:xfrm>
            <a:off x="5607050" y="1963738"/>
            <a:ext cx="104298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pic>
        <p:nvPicPr>
          <p:cNvPr id="27657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4788" y="1878013"/>
            <a:ext cx="9715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759075" y="2971800"/>
            <a:ext cx="2160588" cy="863600"/>
            <a:chOff x="771" y="3067"/>
            <a:chExt cx="1361" cy="544"/>
          </a:xfrm>
        </p:grpSpPr>
        <p:sp>
          <p:nvSpPr>
            <p:cNvPr id="71" name="Oval 11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72" name="Picture 12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73" name="Picture 13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74" name="AutoShape 14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7226300" y="2974975"/>
            <a:ext cx="2160588" cy="863600"/>
            <a:chOff x="771" y="3067"/>
            <a:chExt cx="1361" cy="544"/>
          </a:xfrm>
        </p:grpSpPr>
        <p:sp>
          <p:nvSpPr>
            <p:cNvPr id="76" name="Oval 16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77" name="Picture 17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78" name="Picture 18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79" name="AutoShape 19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27660" name="AutoShape 20"/>
          <p:cNvCxnSpPr>
            <a:cxnSpLocks noChangeShapeType="1"/>
          </p:cNvCxnSpPr>
          <p:nvPr/>
        </p:nvCxnSpPr>
        <p:spPr bwMode="auto">
          <a:xfrm flipH="1">
            <a:off x="3840163" y="2373314"/>
            <a:ext cx="4762" cy="5984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7661" name="AutoShape 21"/>
          <p:cNvCxnSpPr>
            <a:cxnSpLocks noChangeShapeType="1"/>
          </p:cNvCxnSpPr>
          <p:nvPr/>
        </p:nvCxnSpPr>
        <p:spPr bwMode="auto">
          <a:xfrm flipV="1">
            <a:off x="8307389" y="2371725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281239" y="2360614"/>
            <a:ext cx="8027987" cy="1368425"/>
            <a:chOff x="317" y="1888"/>
            <a:chExt cx="5057" cy="862"/>
          </a:xfrm>
        </p:grpSpPr>
        <p:sp>
          <p:nvSpPr>
            <p:cNvPr id="27673" name="AutoShape 38"/>
            <p:cNvSpPr>
              <a:spLocks noChangeArrowheads="1"/>
            </p:cNvSpPr>
            <p:nvPr/>
          </p:nvSpPr>
          <p:spPr bwMode="auto">
            <a:xfrm>
              <a:off x="363" y="1888"/>
              <a:ext cx="1882" cy="318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587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7674" name="AutoShape 17"/>
            <p:cNvSpPr>
              <a:spLocks noChangeArrowheads="1"/>
            </p:cNvSpPr>
            <p:nvPr/>
          </p:nvSpPr>
          <p:spPr bwMode="auto">
            <a:xfrm>
              <a:off x="317" y="2183"/>
              <a:ext cx="5057" cy="567"/>
            </a:xfrm>
            <a:prstGeom prst="roundRect">
              <a:avLst>
                <a:gd name="adj" fmla="val 11671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marL="342900" indent="-342900"/>
              <a:r>
                <a:rPr lang="fr-FR" altLang="zh-CN" sz="2000" b="1">
                  <a:solidFill>
                    <a:schemeClr val="tx2"/>
                  </a:solidFill>
                </a:rPr>
                <a:t>Router(config)#crypto isakmp key { 0 | 6 } </a:t>
              </a:r>
              <a:r>
                <a:rPr lang="fr-FR" altLang="zh-CN" sz="2000" b="1" i="1">
                  <a:solidFill>
                    <a:schemeClr val="tx2"/>
                  </a:solidFill>
                </a:rPr>
                <a:t>keystring</a:t>
              </a:r>
              <a:r>
                <a:rPr lang="fr-FR" altLang="zh-CN" sz="2000" b="1">
                  <a:solidFill>
                    <a:schemeClr val="tx2"/>
                  </a:solidFill>
                </a:rPr>
                <a:t> address </a:t>
              </a:r>
              <a:r>
                <a:rPr lang="fr-FR" altLang="zh-CN" sz="2000" b="1" i="1">
                  <a:solidFill>
                    <a:schemeClr val="tx2"/>
                  </a:solidFill>
                </a:rPr>
                <a:t>peer-address</a:t>
              </a:r>
              <a:r>
                <a:rPr lang="fr-FR" altLang="zh-CN" sz="2000" b="1">
                  <a:solidFill>
                    <a:schemeClr val="tx2"/>
                  </a:solidFill>
                </a:rPr>
                <a:t> {</a:t>
              </a:r>
              <a:r>
                <a:rPr lang="fr-FR" altLang="zh-CN" sz="2000" b="1" i="1">
                  <a:solidFill>
                    <a:schemeClr val="tx2"/>
                  </a:solidFill>
                </a:rPr>
                <a:t>subnet_mask</a:t>
              </a:r>
              <a:r>
                <a:rPr lang="fr-FR" altLang="zh-CN" sz="2000" b="1">
                  <a:solidFill>
                    <a:schemeClr val="tx2"/>
                  </a:solidFill>
                </a:rPr>
                <a:t>}</a:t>
              </a:r>
              <a:r>
                <a:rPr lang="fr-FR" altLang="zh-CN" b="1">
                  <a:solidFill>
                    <a:schemeClr val="tx2"/>
                  </a:solidFill>
                </a:rPr>
                <a:t> </a:t>
              </a:r>
              <a:endParaRPr lang="en-US" altLang="zh-CN" b="1">
                <a:solidFill>
                  <a:schemeClr val="tx2"/>
                </a:solidFill>
              </a:endParaRPr>
            </a:p>
          </p:txBody>
        </p:sp>
      </p:grpSp>
      <p:sp>
        <p:nvSpPr>
          <p:cNvPr id="85" name="AutoShape 41"/>
          <p:cNvSpPr>
            <a:spLocks noChangeArrowheads="1"/>
          </p:cNvSpPr>
          <p:nvPr/>
        </p:nvSpPr>
        <p:spPr bwMode="auto">
          <a:xfrm>
            <a:off x="5916614" y="3800476"/>
            <a:ext cx="720725" cy="684213"/>
          </a:xfrm>
          <a:prstGeom prst="upDownArrow">
            <a:avLst>
              <a:gd name="adj1" fmla="val 50000"/>
              <a:gd name="adj2" fmla="val 20000"/>
            </a:avLst>
          </a:prstGeom>
          <a:gradFill rotWithShape="1">
            <a:gsLst>
              <a:gs pos="0">
                <a:srgbClr val="3399FF"/>
              </a:gs>
              <a:gs pos="100000">
                <a:schemeClr val="bg1"/>
              </a:gs>
            </a:gsLst>
            <a:lin ang="5400000" scaled="1"/>
          </a:gradFill>
          <a:ln w="12700" cap="rnd" algn="ctr">
            <a:solidFill>
              <a:srgbClr val="3399FF"/>
            </a:solidFill>
            <a:miter lim="800000"/>
            <a:headEnd/>
            <a:tailEnd/>
          </a:ln>
          <a:effectLst>
            <a:outerShdw dist="7184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86" name="AutoShape 17"/>
          <p:cNvSpPr>
            <a:spLocks noChangeArrowheads="1"/>
          </p:cNvSpPr>
          <p:nvPr/>
        </p:nvSpPr>
        <p:spPr bwMode="auto">
          <a:xfrm>
            <a:off x="2208214" y="4592638"/>
            <a:ext cx="8027987" cy="1331912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Router#show crypto isakmp key                                   </a:t>
            </a:r>
          </a:p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Keyring               Hostname/Address                   Preshared Key</a:t>
            </a:r>
          </a:p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default                 1.1.1.1                                          (encrypted)</a:t>
            </a:r>
            <a:endParaRPr lang="en-US" altLang="zh-CN" sz="2000" b="1">
              <a:solidFill>
                <a:schemeClr val="tx2"/>
              </a:solidFill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7032625" y="2865438"/>
            <a:ext cx="287338" cy="323850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88" name="Rectangle 44"/>
          <p:cNvSpPr>
            <a:spLocks noChangeArrowheads="1"/>
          </p:cNvSpPr>
          <p:nvPr/>
        </p:nvSpPr>
        <p:spPr bwMode="auto">
          <a:xfrm>
            <a:off x="7823200" y="4929188"/>
            <a:ext cx="1981200" cy="863600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89" name="AutoShape 4"/>
          <p:cNvSpPr>
            <a:spLocks noChangeArrowheads="1"/>
          </p:cNvSpPr>
          <p:nvPr/>
        </p:nvSpPr>
        <p:spPr bwMode="auto">
          <a:xfrm>
            <a:off x="2952750" y="3643314"/>
            <a:ext cx="2128838" cy="650875"/>
          </a:xfrm>
          <a:prstGeom prst="wedgeRoundRectCallout">
            <a:avLst>
              <a:gd name="adj1" fmla="val 56919"/>
              <a:gd name="adj2" fmla="val -762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未指定子网掩码时，默认为</a:t>
            </a:r>
            <a:r>
              <a:rPr lang="en-US" altLang="zh-CN" sz="20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/32</a:t>
            </a:r>
          </a:p>
        </p:txBody>
      </p:sp>
      <p:sp>
        <p:nvSpPr>
          <p:cNvPr id="90" name="AutoShape 17"/>
          <p:cNvSpPr>
            <a:spLocks noChangeArrowheads="1"/>
          </p:cNvSpPr>
          <p:nvPr/>
        </p:nvSpPr>
        <p:spPr bwMode="auto">
          <a:xfrm>
            <a:off x="2208214" y="4592639"/>
            <a:ext cx="8027987" cy="1836737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Router(config)#key config-key password-encrypt</a:t>
            </a:r>
          </a:p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New key:                                           </a:t>
            </a:r>
          </a:p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Confirm key:                                     </a:t>
            </a:r>
          </a:p>
          <a:p>
            <a:pPr marL="342900" indent="-342900"/>
            <a:r>
              <a:rPr lang="fr-FR" altLang="zh-CN" sz="2000" b="1">
                <a:solidFill>
                  <a:schemeClr val="tx2"/>
                </a:solidFill>
              </a:rPr>
              <a:t>Router(config)#password encryption aes</a:t>
            </a:r>
            <a:endParaRPr lang="en-US" altLang="zh-CN" sz="2000" b="1">
              <a:solidFill>
                <a:schemeClr val="tx2"/>
              </a:solidFill>
            </a:endParaRPr>
          </a:p>
        </p:txBody>
      </p:sp>
      <p:sp>
        <p:nvSpPr>
          <p:cNvPr id="91" name="AutoShape 4"/>
          <p:cNvSpPr>
            <a:spLocks noChangeArrowheads="1"/>
          </p:cNvSpPr>
          <p:nvPr/>
        </p:nvSpPr>
        <p:spPr bwMode="auto">
          <a:xfrm>
            <a:off x="7932739" y="3656013"/>
            <a:ext cx="2339975" cy="863600"/>
          </a:xfrm>
          <a:prstGeom prst="wedgeRoundRectCallout">
            <a:avLst>
              <a:gd name="adj1" fmla="val -22051"/>
              <a:gd name="adj2" fmla="val 7407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加密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show run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信息的密钥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key</a:t>
            </a:r>
          </a:p>
        </p:txBody>
      </p:sp>
      <p:sp>
        <p:nvSpPr>
          <p:cNvPr id="92" name="AutoShape 4"/>
          <p:cNvSpPr>
            <a:spLocks noChangeArrowheads="1"/>
          </p:cNvSpPr>
          <p:nvPr/>
        </p:nvSpPr>
        <p:spPr bwMode="auto">
          <a:xfrm>
            <a:off x="5375276" y="4629150"/>
            <a:ext cx="1908175" cy="863600"/>
          </a:xfrm>
          <a:prstGeom prst="wedgeRoundRectCallout">
            <a:avLst>
              <a:gd name="adj1" fmla="val 29532"/>
              <a:gd name="adj2" fmla="val 7702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设备需支持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aes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算法</a:t>
            </a:r>
          </a:p>
        </p:txBody>
      </p:sp>
      <p:sp>
        <p:nvSpPr>
          <p:cNvPr id="93" name="Rectangle 48"/>
          <p:cNvSpPr>
            <a:spLocks noChangeArrowheads="1"/>
          </p:cNvSpPr>
          <p:nvPr/>
        </p:nvSpPr>
        <p:spPr bwMode="auto">
          <a:xfrm>
            <a:off x="6816725" y="5643563"/>
            <a:ext cx="611188" cy="323850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94" name="AutoShape 19"/>
          <p:cNvSpPr>
            <a:spLocks noChangeArrowheads="1"/>
          </p:cNvSpPr>
          <p:nvPr/>
        </p:nvSpPr>
        <p:spPr bwMode="auto">
          <a:xfrm>
            <a:off x="7024688" y="3429000"/>
            <a:ext cx="857250" cy="357188"/>
          </a:xfrm>
          <a:prstGeom prst="wedgeRoundRectCallout">
            <a:avLst>
              <a:gd name="adj1" fmla="val -33338"/>
              <a:gd name="adj2" fmla="val -9180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密文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1" grpId="0" animBg="1"/>
      <p:bldP spid="92" grpId="0" animBg="1"/>
      <p:bldP spid="93" grpId="0" animBg="1"/>
      <p:bldP spid="94" grpId="0" animBg="1"/>
      <p:bldP spid="9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r>
              <a:rPr lang="zh-CN" altLang="en-US"/>
              <a:t>需要完成的任务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定义对等体间需要保护何种流量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定义用来保护数据的安全协议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定义传输模式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定义数据连接的生存周期以及密钥刷新的方式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867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endParaRPr lang="zh-CN" altLang="en-US"/>
          </a:p>
        </p:txBody>
      </p:sp>
      <p:pic>
        <p:nvPicPr>
          <p:cNvPr id="28676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625" y="4448176"/>
            <a:ext cx="971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264" y="4352926"/>
            <a:ext cx="1285875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8678" name="AutoShape 8"/>
          <p:cNvCxnSpPr>
            <a:cxnSpLocks noChangeShapeType="1"/>
          </p:cNvCxnSpPr>
          <p:nvPr/>
        </p:nvCxnSpPr>
        <p:spPr bwMode="auto">
          <a:xfrm>
            <a:off x="4067175" y="4695825"/>
            <a:ext cx="1081088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8679" name="AutoShape 9"/>
          <p:cNvCxnSpPr>
            <a:cxnSpLocks noChangeShapeType="1"/>
          </p:cNvCxnSpPr>
          <p:nvPr/>
        </p:nvCxnSpPr>
        <p:spPr bwMode="auto">
          <a:xfrm flipV="1">
            <a:off x="6434139" y="4694239"/>
            <a:ext cx="1127125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343525" y="4532313"/>
            <a:ext cx="104298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pic>
        <p:nvPicPr>
          <p:cNvPr id="28681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61263" y="4446588"/>
            <a:ext cx="9715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6962775" y="5543550"/>
            <a:ext cx="2160588" cy="863600"/>
            <a:chOff x="771" y="3067"/>
            <a:chExt cx="1361" cy="544"/>
          </a:xfrm>
        </p:grpSpPr>
        <p:sp>
          <p:nvSpPr>
            <p:cNvPr id="11" name="Oval 18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2" name="Picture 19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3" name="Picture 20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4" name="AutoShape 21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28683" name="AutoShape 22"/>
          <p:cNvCxnSpPr>
            <a:cxnSpLocks noChangeShapeType="1"/>
          </p:cNvCxnSpPr>
          <p:nvPr/>
        </p:nvCxnSpPr>
        <p:spPr bwMode="auto">
          <a:xfrm flipH="1">
            <a:off x="3576638" y="4941889"/>
            <a:ext cx="4762" cy="5984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8684" name="AutoShape 23"/>
          <p:cNvCxnSpPr>
            <a:cxnSpLocks noChangeShapeType="1"/>
          </p:cNvCxnSpPr>
          <p:nvPr/>
        </p:nvCxnSpPr>
        <p:spPr bwMode="auto">
          <a:xfrm flipV="1">
            <a:off x="8043864" y="4940300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381375" y="4643438"/>
            <a:ext cx="719138" cy="336550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sz="1600" b="1" dirty="0">
                <a:solidFill>
                  <a:schemeClr val="accent3"/>
                </a:solidFill>
              </a:rPr>
              <a:t>A</a:t>
            </a: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7877175" y="4665663"/>
            <a:ext cx="719138" cy="336550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sz="1600" b="1" dirty="0">
                <a:solidFill>
                  <a:schemeClr val="accent3"/>
                </a:solidFill>
              </a:rPr>
              <a:t>B</a:t>
            </a:r>
          </a:p>
        </p:txBody>
      </p:sp>
      <p:sp>
        <p:nvSpPr>
          <p:cNvPr id="19" name="AutoShape 37"/>
          <p:cNvSpPr>
            <a:spLocks noChangeArrowheads="1"/>
          </p:cNvSpPr>
          <p:nvPr/>
        </p:nvSpPr>
        <p:spPr bwMode="auto">
          <a:xfrm rot="5400000">
            <a:off x="5661820" y="2499520"/>
            <a:ext cx="287337" cy="3419475"/>
          </a:xfrm>
          <a:prstGeom prst="can">
            <a:avLst>
              <a:gd name="adj" fmla="val 54104"/>
            </a:avLst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lin ang="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marL="342900" indent="-342900" algn="ctr"/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vpn</a:t>
            </a:r>
            <a:r>
              <a: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隧道</a:t>
            </a:r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20" name="AutoShape 38"/>
          <p:cNvSpPr>
            <a:spLocks noChangeArrowheads="1"/>
          </p:cNvSpPr>
          <p:nvPr/>
        </p:nvSpPr>
        <p:spPr bwMode="auto">
          <a:xfrm rot="5400000">
            <a:off x="5689601" y="2120901"/>
            <a:ext cx="250825" cy="3419475"/>
          </a:xfrm>
          <a:prstGeom prst="can">
            <a:avLst>
              <a:gd name="adj" fmla="val 61979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0" scaled="1"/>
          </a:gradFill>
          <a:ln w="9525">
            <a:solidFill>
              <a:srgbClr val="99CC00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marL="342900" indent="-342900" algn="ctr"/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vpn</a:t>
            </a:r>
            <a:r>
              <a: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隧道</a:t>
            </a:r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21" name="Freeform 42"/>
          <p:cNvSpPr>
            <a:spLocks/>
          </p:cNvSpPr>
          <p:nvPr/>
        </p:nvSpPr>
        <p:spPr bwMode="auto">
          <a:xfrm>
            <a:off x="3425826" y="4029075"/>
            <a:ext cx="41275" cy="1944688"/>
          </a:xfrm>
          <a:custGeom>
            <a:avLst/>
            <a:gdLst/>
            <a:ahLst/>
            <a:cxnLst>
              <a:cxn ang="0">
                <a:pos x="26" y="1225"/>
              </a:cxn>
              <a:cxn ang="0">
                <a:pos x="26" y="0"/>
              </a:cxn>
            </a:cxnLst>
            <a:rect l="0" t="0" r="r" b="b"/>
            <a:pathLst>
              <a:path w="26" h="1225">
                <a:moveTo>
                  <a:pt x="26" y="1225"/>
                </a:moveTo>
                <a:cubicBezTo>
                  <a:pt x="13" y="729"/>
                  <a:pt x="0" y="234"/>
                  <a:pt x="26" y="0"/>
                </a:cubicBezTo>
              </a:path>
            </a:pathLst>
          </a:custGeom>
          <a:noFill/>
          <a:ln w="15875" cap="flat" cmpd="sng">
            <a:noFill/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2" name="Freeform 44"/>
          <p:cNvSpPr>
            <a:spLocks/>
          </p:cNvSpPr>
          <p:nvPr/>
        </p:nvSpPr>
        <p:spPr bwMode="auto">
          <a:xfrm>
            <a:off x="3078163" y="3806826"/>
            <a:ext cx="4926012" cy="2201863"/>
          </a:xfrm>
          <a:custGeom>
            <a:avLst/>
            <a:gdLst>
              <a:gd name="T0" fmla="*/ 2147483647 w 3103"/>
              <a:gd name="T1" fmla="*/ 2147483647 h 1387"/>
              <a:gd name="T2" fmla="*/ 2147483647 w 3103"/>
              <a:gd name="T3" fmla="*/ 2147483647 h 1387"/>
              <a:gd name="T4" fmla="*/ 2147483647 w 3103"/>
              <a:gd name="T5" fmla="*/ 2147483647 h 1387"/>
              <a:gd name="T6" fmla="*/ 2147483647 w 3103"/>
              <a:gd name="T7" fmla="*/ 2147483647 h 1387"/>
              <a:gd name="T8" fmla="*/ 2147483647 w 3103"/>
              <a:gd name="T9" fmla="*/ 2147483647 h 1387"/>
              <a:gd name="T10" fmla="*/ 2147483647 w 3103"/>
              <a:gd name="T11" fmla="*/ 2147483647 h 13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03"/>
              <a:gd name="T19" fmla="*/ 0 h 1387"/>
              <a:gd name="T20" fmla="*/ 3103 w 3103"/>
              <a:gd name="T21" fmla="*/ 1387 h 13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03" h="1387">
                <a:moveTo>
                  <a:pt x="19" y="1387"/>
                </a:moveTo>
                <a:cubicBezTo>
                  <a:pt x="9" y="992"/>
                  <a:pt x="0" y="597"/>
                  <a:pt x="19" y="389"/>
                </a:cubicBezTo>
                <a:cubicBezTo>
                  <a:pt x="38" y="181"/>
                  <a:pt x="75" y="200"/>
                  <a:pt x="132" y="140"/>
                </a:cubicBezTo>
                <a:cubicBezTo>
                  <a:pt x="189" y="80"/>
                  <a:pt x="249" y="49"/>
                  <a:pt x="359" y="26"/>
                </a:cubicBezTo>
                <a:cubicBezTo>
                  <a:pt x="469" y="3"/>
                  <a:pt x="333" y="8"/>
                  <a:pt x="790" y="4"/>
                </a:cubicBezTo>
                <a:cubicBezTo>
                  <a:pt x="1247" y="0"/>
                  <a:pt x="2687" y="4"/>
                  <a:pt x="3103" y="4"/>
                </a:cubicBezTo>
              </a:path>
            </a:pathLst>
          </a:custGeom>
          <a:noFill/>
          <a:ln w="15875">
            <a:solidFill>
              <a:srgbClr val="99FF99"/>
            </a:solidFill>
            <a:prstDash val="dash"/>
            <a:round/>
            <a:headEnd/>
            <a:tailEnd type="triangle" w="med" len="med"/>
          </a:ln>
          <a:effectLst>
            <a:prstShdw prst="shdw17" dist="17961" dir="2700000">
              <a:srgbClr val="5C995C"/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45"/>
          <p:cNvSpPr>
            <a:spLocks/>
          </p:cNvSpPr>
          <p:nvPr/>
        </p:nvSpPr>
        <p:spPr bwMode="auto">
          <a:xfrm>
            <a:off x="3309939" y="4143376"/>
            <a:ext cx="4732337" cy="1865313"/>
          </a:xfrm>
          <a:custGeom>
            <a:avLst/>
            <a:gdLst>
              <a:gd name="T0" fmla="*/ 2147483647 w 2974"/>
              <a:gd name="T1" fmla="*/ 2147483647 h 1134"/>
              <a:gd name="T2" fmla="*/ 2147483647 w 2974"/>
              <a:gd name="T3" fmla="*/ 2147483647 h 1134"/>
              <a:gd name="T4" fmla="*/ 2147483647 w 2974"/>
              <a:gd name="T5" fmla="*/ 2147483647 h 1134"/>
              <a:gd name="T6" fmla="*/ 2147483647 w 2974"/>
              <a:gd name="T7" fmla="*/ 2147483647 h 1134"/>
              <a:gd name="T8" fmla="*/ 2147483647 w 2974"/>
              <a:gd name="T9" fmla="*/ 0 h 11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74"/>
              <a:gd name="T16" fmla="*/ 0 h 1134"/>
              <a:gd name="T17" fmla="*/ 2974 w 2974"/>
              <a:gd name="T18" fmla="*/ 1134 h 11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74" h="1134">
                <a:moveTo>
                  <a:pt x="26" y="1134"/>
                </a:moveTo>
                <a:cubicBezTo>
                  <a:pt x="13" y="833"/>
                  <a:pt x="0" y="533"/>
                  <a:pt x="26" y="363"/>
                </a:cubicBezTo>
                <a:cubicBezTo>
                  <a:pt x="52" y="193"/>
                  <a:pt x="93" y="171"/>
                  <a:pt x="184" y="114"/>
                </a:cubicBezTo>
                <a:cubicBezTo>
                  <a:pt x="275" y="57"/>
                  <a:pt x="105" y="42"/>
                  <a:pt x="570" y="23"/>
                </a:cubicBezTo>
                <a:cubicBezTo>
                  <a:pt x="1035" y="4"/>
                  <a:pt x="2573" y="30"/>
                  <a:pt x="2974" y="0"/>
                </a:cubicBezTo>
              </a:path>
            </a:pathLst>
          </a:custGeom>
          <a:noFill/>
          <a:ln w="15875">
            <a:solidFill>
              <a:srgbClr val="99CCFF"/>
            </a:solidFill>
            <a:prstDash val="dash"/>
            <a:round/>
            <a:headEnd/>
            <a:tailEnd type="triangle" w="med" len="med"/>
          </a:ln>
          <a:effectLst>
            <a:prstShdw prst="shdw17" dist="17961" dir="2700000">
              <a:srgbClr val="5C7A99"/>
            </a:prst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46"/>
          <p:cNvSpPr>
            <a:spLocks/>
          </p:cNvSpPr>
          <p:nvPr/>
        </p:nvSpPr>
        <p:spPr bwMode="auto">
          <a:xfrm>
            <a:off x="3636964" y="4510088"/>
            <a:ext cx="4403725" cy="1535112"/>
          </a:xfrm>
          <a:custGeom>
            <a:avLst/>
            <a:gdLst>
              <a:gd name="T0" fmla="*/ 2147483647 w 2774"/>
              <a:gd name="T1" fmla="*/ 2147483647 h 967"/>
              <a:gd name="T2" fmla="*/ 2147483647 w 2774"/>
              <a:gd name="T3" fmla="*/ 2147483647 h 967"/>
              <a:gd name="T4" fmla="*/ 2147483647 w 2774"/>
              <a:gd name="T5" fmla="*/ 2147483647 h 967"/>
              <a:gd name="T6" fmla="*/ 2147483647 w 2774"/>
              <a:gd name="T7" fmla="*/ 2147483647 h 967"/>
              <a:gd name="T8" fmla="*/ 2147483647 w 2774"/>
              <a:gd name="T9" fmla="*/ 2147483647 h 967"/>
              <a:gd name="T10" fmla="*/ 2147483647 w 2774"/>
              <a:gd name="T11" fmla="*/ 2147483647 h 9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74"/>
              <a:gd name="T19" fmla="*/ 0 h 967"/>
              <a:gd name="T20" fmla="*/ 2774 w 2774"/>
              <a:gd name="T21" fmla="*/ 967 h 96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74" h="967">
                <a:moveTo>
                  <a:pt x="7" y="967"/>
                </a:moveTo>
                <a:cubicBezTo>
                  <a:pt x="3" y="642"/>
                  <a:pt x="0" y="317"/>
                  <a:pt x="7" y="173"/>
                </a:cubicBezTo>
                <a:cubicBezTo>
                  <a:pt x="14" y="29"/>
                  <a:pt x="18" y="131"/>
                  <a:pt x="52" y="105"/>
                </a:cubicBezTo>
                <a:cubicBezTo>
                  <a:pt x="86" y="79"/>
                  <a:pt x="128" y="30"/>
                  <a:pt x="211" y="15"/>
                </a:cubicBezTo>
                <a:cubicBezTo>
                  <a:pt x="294" y="0"/>
                  <a:pt x="124" y="15"/>
                  <a:pt x="551" y="15"/>
                </a:cubicBezTo>
                <a:cubicBezTo>
                  <a:pt x="978" y="15"/>
                  <a:pt x="2332" y="11"/>
                  <a:pt x="2774" y="15"/>
                </a:cubicBezTo>
              </a:path>
            </a:pathLst>
          </a:cu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>
            <a:prstShdw prst="shdw17" dist="17961" dir="2700000">
              <a:srgbClr val="990000"/>
            </a:prst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495550" y="5540375"/>
            <a:ext cx="2160588" cy="863600"/>
            <a:chOff x="771" y="3067"/>
            <a:chExt cx="1361" cy="544"/>
          </a:xfrm>
        </p:grpSpPr>
        <p:sp>
          <p:nvSpPr>
            <p:cNvPr id="26" name="Oval 13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27" name="Picture 14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28" name="Picture 15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29" name="AutoShape 16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sp>
        <p:nvSpPr>
          <p:cNvPr id="30" name="Text Box 37"/>
          <p:cNvSpPr txBox="1">
            <a:spLocks noChangeArrowheads="1"/>
          </p:cNvSpPr>
          <p:nvPr/>
        </p:nvSpPr>
        <p:spPr bwMode="auto">
          <a:xfrm>
            <a:off x="8040689" y="3557589"/>
            <a:ext cx="2124075" cy="376237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匹配隧道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ACL</a:t>
            </a:r>
          </a:p>
        </p:txBody>
      </p:sp>
      <p:sp>
        <p:nvSpPr>
          <p:cNvPr id="31" name="Text Box 37"/>
          <p:cNvSpPr txBox="1">
            <a:spLocks noChangeArrowheads="1"/>
          </p:cNvSpPr>
          <p:nvPr/>
        </p:nvSpPr>
        <p:spPr bwMode="auto">
          <a:xfrm>
            <a:off x="8040689" y="3952875"/>
            <a:ext cx="2124075" cy="3762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 algn="ctr">
            <a:solidFill>
              <a:srgbClr val="99CCFF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匹配隧道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ACL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8040689" y="4337050"/>
            <a:ext cx="2124075" cy="3762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CCC"/>
              </a:gs>
            </a:gsLst>
            <a:lin ang="5400000" scaled="1"/>
          </a:gra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不匹配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ACL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的流量</a:t>
            </a:r>
          </a:p>
        </p:txBody>
      </p:sp>
      <p:sp>
        <p:nvSpPr>
          <p:cNvPr id="33" name="AutoShape 41"/>
          <p:cNvSpPr>
            <a:spLocks noChangeArrowheads="1"/>
          </p:cNvSpPr>
          <p:nvPr/>
        </p:nvSpPr>
        <p:spPr bwMode="auto">
          <a:xfrm rot="5400000">
            <a:off x="3277394" y="3894931"/>
            <a:ext cx="1187450" cy="592138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rgbClr val="C0C0C0"/>
              </a:gs>
              <a:gs pos="50000">
                <a:schemeClr val="bg1"/>
              </a:gs>
              <a:gs pos="100000">
                <a:srgbClr val="C0C0C0"/>
              </a:gs>
            </a:gsLst>
            <a:lin ang="0" scaled="1"/>
          </a:gradFill>
          <a:ln w="15875">
            <a:solidFill>
              <a:srgbClr val="333333"/>
            </a:solidFill>
            <a:round/>
            <a:headEnd/>
            <a:tailEnd/>
          </a:ln>
          <a:effectLst>
            <a:prstShdw prst="shdw17" dist="17961" dir="2700000">
              <a:srgbClr val="333333">
                <a:gamma/>
                <a:shade val="60000"/>
                <a:invGamma/>
              </a:srgbClr>
            </a:prstShdw>
          </a:effectLst>
        </p:spPr>
        <p:txBody>
          <a:bodyPr rot="10800000" vert="eaVert" wrap="none" anchor="ctr"/>
          <a:lstStyle/>
          <a:p>
            <a:pPr marL="342900" indent="-342900"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ACL</a:t>
            </a:r>
          </a:p>
        </p:txBody>
      </p:sp>
      <p:graphicFrame>
        <p:nvGraphicFramePr>
          <p:cNvPr id="34" name="Group 159"/>
          <p:cNvGraphicFramePr>
            <a:graphicFrameLocks noGrp="1"/>
          </p:cNvGraphicFramePr>
          <p:nvPr/>
        </p:nvGraphicFramePr>
        <p:xfrm>
          <a:off x="3144839" y="2928938"/>
          <a:ext cx="6372225" cy="1280160"/>
        </p:xfrm>
        <a:graphic>
          <a:graphicData uri="http://schemas.openxmlformats.org/drawingml/2006/table">
            <a:tbl>
              <a:tblPr/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Arial" charset="0"/>
                        </a:rPr>
                        <a:t>AH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楷体_GB2312" pitchFamily="49" charset="-122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Arial" charset="0"/>
                        </a:rPr>
                        <a:t>ESP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Arial" charset="0"/>
                        </a:rPr>
                        <a:t>验证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楷体_GB2312" pitchFamily="49" charset="-122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Arial" charset="0"/>
                        </a:rPr>
                        <a:t>ESP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Arial" charset="0"/>
                        </a:rPr>
                        <a:t>加密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楷体_GB2312" pitchFamily="49" charset="-122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ah-md5-hmac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ah-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sha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-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hmac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esp-md5-hmac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esp-sha-hmac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esp-null</a:t>
                      </a:r>
                      <a:endParaRPr kumimoji="0" lang="fr-FR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esp-des</a:t>
                      </a:r>
                      <a:endParaRPr kumimoji="0" lang="fr-FR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esp-3des</a:t>
                      </a:r>
                      <a:endParaRPr kumimoji="0" lang="fr-FR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esp-aes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128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esp-aes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192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esp-aes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256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CCFF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安全关联的定义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整合必要的安全组件用于建立与对等体的</a:t>
            </a:r>
            <a:r>
              <a:rPr lang="en-US" altLang="zh-CN"/>
              <a:t>IPSec</a:t>
            </a:r>
            <a:r>
              <a:rPr lang="zh-CN" altLang="en-US"/>
              <a:t>连接</a:t>
            </a:r>
          </a:p>
          <a:p>
            <a:pPr lvl="2" eaLnBrk="1" hangingPunct="1">
              <a:spcBef>
                <a:spcPct val="0"/>
              </a:spcBef>
            </a:pPr>
            <a:r>
              <a:rPr lang="zh-CN" altLang="en-US"/>
              <a:t>阶段</a:t>
            </a:r>
            <a:r>
              <a:rPr lang="en-US" altLang="zh-CN"/>
              <a:t>1</a:t>
            </a:r>
            <a:r>
              <a:rPr lang="zh-CN" altLang="en-US"/>
              <a:t>的</a:t>
            </a:r>
            <a:r>
              <a:rPr lang="en-US" altLang="zh-CN"/>
              <a:t>SA</a:t>
            </a:r>
            <a:r>
              <a:rPr lang="zh-CN" altLang="en-US"/>
              <a:t>是双向连接</a:t>
            </a:r>
          </a:p>
          <a:p>
            <a:pPr lvl="2" eaLnBrk="1" hangingPunct="1">
              <a:spcBef>
                <a:spcPct val="0"/>
              </a:spcBef>
            </a:pPr>
            <a:r>
              <a:rPr lang="zh-CN" altLang="en-US"/>
              <a:t>阶段</a:t>
            </a:r>
            <a:r>
              <a:rPr lang="en-US" altLang="zh-CN"/>
              <a:t>2</a:t>
            </a:r>
            <a:r>
              <a:rPr lang="zh-CN" altLang="en-US"/>
              <a:t>的</a:t>
            </a:r>
            <a:r>
              <a:rPr lang="en-US" altLang="zh-CN"/>
              <a:t>SA</a:t>
            </a:r>
            <a:r>
              <a:rPr lang="zh-CN" altLang="en-US"/>
              <a:t>是单向连接</a:t>
            </a:r>
          </a:p>
          <a:p>
            <a:pPr>
              <a:spcBef>
                <a:spcPts val="675"/>
              </a:spcBef>
            </a:pPr>
            <a:r>
              <a:rPr lang="en-US" altLang="zh-CN"/>
              <a:t>SA</a:t>
            </a:r>
            <a:r>
              <a:rPr lang="zh-CN" altLang="en-US"/>
              <a:t>的三个要素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安全参数索引（</a:t>
            </a:r>
            <a:r>
              <a:rPr lang="en-US" altLang="zh-CN"/>
              <a:t>SPI</a:t>
            </a:r>
            <a:r>
              <a:rPr lang="zh-CN" altLang="en-US"/>
              <a:t>）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安全协议类型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目的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969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3" name="Picture 3" descr="ESP"/>
          <p:cNvPicPr>
            <a:picLocks noChangeAspect="1" noChangeArrowheads="1"/>
          </p:cNvPicPr>
          <p:nvPr/>
        </p:nvPicPr>
        <p:blipFill>
          <a:blip r:embed="rId2"/>
          <a:srcRect t="484" b="1236"/>
          <a:stretch>
            <a:fillRect/>
          </a:stretch>
        </p:blipFill>
        <p:spPr bwMode="auto">
          <a:xfrm>
            <a:off x="4452938" y="4429125"/>
            <a:ext cx="6000750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2" name="Picture 2" descr="AH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0064" y="1785939"/>
            <a:ext cx="61436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r>
              <a:rPr lang="zh-CN" altLang="en-US"/>
              <a:t>的安全协议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AH</a:t>
            </a:r>
            <a:r>
              <a:rPr lang="zh-CN" altLang="en-US"/>
              <a:t>（认证头协议）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数据完整性服务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数据验证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防止数据回放攻击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ESP</a:t>
            </a:r>
            <a:r>
              <a:rPr lang="zh-CN" altLang="en-US"/>
              <a:t>（封装安全载荷协议） </a:t>
            </a:r>
          </a:p>
          <a:p>
            <a:pPr lvl="2">
              <a:spcBef>
                <a:spcPct val="0"/>
              </a:spcBef>
            </a:pPr>
            <a:r>
              <a:rPr lang="en-US" altLang="zh-CN"/>
              <a:t>ESP</a:t>
            </a:r>
            <a:r>
              <a:rPr lang="zh-CN" altLang="en-US"/>
              <a:t>对用户数据实现加密功能</a:t>
            </a:r>
          </a:p>
          <a:p>
            <a:pPr lvl="2">
              <a:spcBef>
                <a:spcPct val="0"/>
              </a:spcBef>
            </a:pPr>
            <a:r>
              <a:rPr lang="en-US" altLang="zh-CN"/>
              <a:t>ESP</a:t>
            </a:r>
            <a:r>
              <a:rPr lang="zh-CN" altLang="en-US"/>
              <a:t>只对</a:t>
            </a:r>
            <a:r>
              <a:rPr lang="en-US" altLang="zh-CN"/>
              <a:t>IP</a:t>
            </a:r>
            <a:r>
              <a:rPr lang="zh-CN" altLang="en-US"/>
              <a:t>数据的有效载荷进行验证，不包括外部的</a:t>
            </a:r>
            <a:r>
              <a:rPr lang="en-US" altLang="zh-CN"/>
              <a:t>IP</a:t>
            </a:r>
            <a:r>
              <a:rPr lang="zh-CN" altLang="en-US"/>
              <a:t>包头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072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配置</a:t>
            </a:r>
            <a:r>
              <a:rPr lang="en-US" altLang="zh-CN"/>
              <a:t>crypto ACL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配置阶段</a:t>
            </a:r>
            <a:r>
              <a:rPr lang="en-US" altLang="zh-CN"/>
              <a:t>2</a:t>
            </a:r>
            <a:r>
              <a:rPr lang="zh-CN" altLang="en-US"/>
              <a:t>传输集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配置连接模式</a:t>
            </a:r>
          </a:p>
        </p:txBody>
      </p:sp>
      <p:sp>
        <p:nvSpPr>
          <p:cNvPr id="3174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r>
              <a:rPr lang="zh-CN" altLang="en-US"/>
              <a:t>的配置</a:t>
            </a:r>
            <a:r>
              <a:rPr lang="en-US" altLang="zh-CN"/>
              <a:t>2-1</a:t>
            </a:r>
            <a:endParaRPr lang="zh-CN" altLang="en-US"/>
          </a:p>
        </p:txBody>
      </p:sp>
      <p:pic>
        <p:nvPicPr>
          <p:cNvPr id="31748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9150" y="1720851"/>
            <a:ext cx="971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9" name="Picture 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1789" y="1571626"/>
            <a:ext cx="1285875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1750" name="AutoShape 29"/>
          <p:cNvCxnSpPr>
            <a:cxnSpLocks noChangeShapeType="1"/>
          </p:cNvCxnSpPr>
          <p:nvPr/>
        </p:nvCxnSpPr>
        <p:spPr bwMode="auto">
          <a:xfrm>
            <a:off x="4330700" y="1914525"/>
            <a:ext cx="1081088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1751" name="AutoShape 30"/>
          <p:cNvCxnSpPr>
            <a:cxnSpLocks noChangeShapeType="1"/>
          </p:cNvCxnSpPr>
          <p:nvPr/>
        </p:nvCxnSpPr>
        <p:spPr bwMode="auto">
          <a:xfrm flipV="1">
            <a:off x="6697664" y="1912939"/>
            <a:ext cx="1127125" cy="1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5607050" y="1751013"/>
            <a:ext cx="104298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pic>
        <p:nvPicPr>
          <p:cNvPr id="31753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4788" y="1720851"/>
            <a:ext cx="971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759075" y="2759075"/>
            <a:ext cx="2160588" cy="863600"/>
            <a:chOff x="771" y="3067"/>
            <a:chExt cx="1361" cy="544"/>
          </a:xfrm>
        </p:grpSpPr>
        <p:sp>
          <p:nvSpPr>
            <p:cNvPr id="11" name="Oval 34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2" name="Picture 35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3" name="Picture 36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4" name="AutoShape 37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7226300" y="2762250"/>
            <a:ext cx="2160588" cy="863600"/>
            <a:chOff x="771" y="3067"/>
            <a:chExt cx="1361" cy="544"/>
          </a:xfrm>
        </p:grpSpPr>
        <p:sp>
          <p:nvSpPr>
            <p:cNvPr id="16" name="Oval 39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7" name="Picture 40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8" name="Picture 41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9" name="AutoShape 42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31756" name="AutoShape 43"/>
          <p:cNvCxnSpPr>
            <a:cxnSpLocks noChangeShapeType="1"/>
          </p:cNvCxnSpPr>
          <p:nvPr/>
        </p:nvCxnSpPr>
        <p:spPr bwMode="auto">
          <a:xfrm flipH="1">
            <a:off x="3840163" y="2160589"/>
            <a:ext cx="4762" cy="5984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1757" name="AutoShape 44"/>
          <p:cNvCxnSpPr>
            <a:cxnSpLocks noChangeShapeType="1"/>
          </p:cNvCxnSpPr>
          <p:nvPr/>
        </p:nvCxnSpPr>
        <p:spPr bwMode="auto">
          <a:xfrm flipV="1">
            <a:off x="8307389" y="2159000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2135189" y="2149476"/>
            <a:ext cx="8027987" cy="1546225"/>
            <a:chOff x="385" y="1049"/>
            <a:chExt cx="5057" cy="974"/>
          </a:xfrm>
        </p:grpSpPr>
        <p:sp>
          <p:nvSpPr>
            <p:cNvPr id="31764" name="AutoShape 17"/>
            <p:cNvSpPr>
              <a:spLocks noChangeArrowheads="1"/>
            </p:cNvSpPr>
            <p:nvPr/>
          </p:nvSpPr>
          <p:spPr bwMode="auto">
            <a:xfrm>
              <a:off x="385" y="1275"/>
              <a:ext cx="5057" cy="748"/>
            </a:xfrm>
            <a:prstGeom prst="roundRect">
              <a:avLst>
                <a:gd name="adj" fmla="val 11671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marL="342900" indent="-342900"/>
              <a:r>
                <a:rPr lang="en-US" altLang="zh-CN" sz="2000" b="1">
                  <a:solidFill>
                    <a:schemeClr val="tx2"/>
                  </a:solidFill>
                </a:rPr>
                <a:t>Router(config)#access-list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access-list-number</a:t>
              </a:r>
              <a:r>
                <a:rPr lang="en-US" altLang="zh-CN" sz="2000" b="1">
                  <a:solidFill>
                    <a:schemeClr val="tx2"/>
                  </a:solidFill>
                </a:rPr>
                <a:t> { deny | permit }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protocol</a:t>
              </a:r>
              <a:r>
                <a:rPr lang="en-US" altLang="zh-CN" sz="2000" b="1">
                  <a:solidFill>
                    <a:schemeClr val="tx2"/>
                  </a:solidFill>
                </a:rPr>
                <a:t>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source source-wildcard destination destination-wildcard</a:t>
              </a:r>
              <a:r>
                <a:rPr lang="en-US" altLang="zh-CN" b="1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31765" name="AutoShape 49"/>
            <p:cNvSpPr>
              <a:spLocks noChangeArrowheads="1"/>
            </p:cNvSpPr>
            <p:nvPr/>
          </p:nvSpPr>
          <p:spPr bwMode="auto">
            <a:xfrm>
              <a:off x="498" y="1049"/>
              <a:ext cx="1928" cy="227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587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</a:endParaRPr>
            </a:p>
          </p:txBody>
        </p:sp>
      </p:grpSp>
      <p:sp>
        <p:nvSpPr>
          <p:cNvPr id="25" name="AutoShape 4"/>
          <p:cNvSpPr>
            <a:spLocks noChangeArrowheads="1"/>
          </p:cNvSpPr>
          <p:nvPr/>
        </p:nvSpPr>
        <p:spPr bwMode="auto">
          <a:xfrm>
            <a:off x="7327900" y="1643063"/>
            <a:ext cx="2268538" cy="755650"/>
          </a:xfrm>
          <a:prstGeom prst="wedgeRoundRectCallout">
            <a:avLst>
              <a:gd name="adj1" fmla="val -33204"/>
              <a:gd name="adj2" fmla="val 756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使用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ACL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定义何种流量被保护</a:t>
            </a:r>
          </a:p>
        </p:txBody>
      </p:sp>
      <p:sp>
        <p:nvSpPr>
          <p:cNvPr id="31760" name="AutoShape 17"/>
          <p:cNvSpPr>
            <a:spLocks noChangeArrowheads="1"/>
          </p:cNvSpPr>
          <p:nvPr/>
        </p:nvSpPr>
        <p:spPr bwMode="auto">
          <a:xfrm>
            <a:off x="2135189" y="4270375"/>
            <a:ext cx="8027987" cy="827088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r>
              <a:rPr lang="en-US" altLang="zh-CN" sz="2000" b="1">
                <a:solidFill>
                  <a:schemeClr val="tx2"/>
                </a:solidFill>
              </a:rPr>
              <a:t>Router(config)#crypto ipsec transform-set </a:t>
            </a:r>
            <a:r>
              <a:rPr lang="en-US" altLang="zh-CN" sz="2000" b="1" i="1">
                <a:solidFill>
                  <a:schemeClr val="tx2"/>
                </a:solidFill>
              </a:rPr>
              <a:t>transform_set_name</a:t>
            </a:r>
            <a:r>
              <a:rPr lang="en-US" altLang="zh-CN" sz="2000" b="1">
                <a:solidFill>
                  <a:schemeClr val="tx2"/>
                </a:solidFill>
              </a:rPr>
              <a:t> </a:t>
            </a:r>
            <a:r>
              <a:rPr lang="en-US" altLang="zh-CN" sz="2000" b="1" i="1">
                <a:solidFill>
                  <a:schemeClr val="tx2"/>
                </a:solidFill>
              </a:rPr>
              <a:t>transform1</a:t>
            </a:r>
            <a:r>
              <a:rPr lang="en-US" altLang="zh-CN" sz="2000" b="1">
                <a:solidFill>
                  <a:schemeClr val="tx2"/>
                </a:solidFill>
              </a:rPr>
              <a:t>[</a:t>
            </a:r>
            <a:r>
              <a:rPr lang="en-US" altLang="zh-CN" sz="2000" b="1" i="1">
                <a:solidFill>
                  <a:schemeClr val="tx2"/>
                </a:solidFill>
              </a:rPr>
              <a:t>transform2</a:t>
            </a:r>
            <a:r>
              <a:rPr lang="en-US" altLang="zh-CN" sz="2000" b="1">
                <a:solidFill>
                  <a:schemeClr val="tx2"/>
                </a:solidFill>
              </a:rPr>
              <a:t> [</a:t>
            </a:r>
            <a:r>
              <a:rPr lang="en-US" altLang="zh-CN" sz="2000" b="1" i="1">
                <a:solidFill>
                  <a:schemeClr val="tx2"/>
                </a:solidFill>
              </a:rPr>
              <a:t>transform3</a:t>
            </a:r>
            <a:r>
              <a:rPr lang="en-US" altLang="zh-CN" sz="2000" b="1">
                <a:solidFill>
                  <a:schemeClr val="tx2"/>
                </a:solidFill>
              </a:rPr>
              <a:t>]</a:t>
            </a:r>
            <a:endParaRPr lang="en-US" altLang="zh-CN" b="1">
              <a:solidFill>
                <a:schemeClr val="tx2"/>
              </a:solidFill>
            </a:endParaRPr>
          </a:p>
        </p:txBody>
      </p:sp>
      <p:sp>
        <p:nvSpPr>
          <p:cNvPr id="31761" name="AutoShape 17"/>
          <p:cNvSpPr>
            <a:spLocks noChangeArrowheads="1"/>
          </p:cNvSpPr>
          <p:nvPr/>
        </p:nvSpPr>
        <p:spPr bwMode="auto">
          <a:xfrm>
            <a:off x="2135189" y="5786438"/>
            <a:ext cx="8027987" cy="571500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r>
              <a:rPr lang="en-US" altLang="zh-CN" sz="2000" b="1">
                <a:solidFill>
                  <a:schemeClr val="tx2"/>
                </a:solidFill>
              </a:rPr>
              <a:t>Router(cfg-crypto-tran)#mode { tunnel | transport }</a:t>
            </a:r>
            <a:r>
              <a:rPr lang="en-US" altLang="zh-CN" b="1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2" name="AutoShape 4"/>
          <p:cNvSpPr>
            <a:spLocks noChangeArrowheads="1"/>
          </p:cNvSpPr>
          <p:nvPr/>
        </p:nvSpPr>
        <p:spPr bwMode="auto">
          <a:xfrm>
            <a:off x="7788275" y="3335338"/>
            <a:ext cx="2268538" cy="755650"/>
          </a:xfrm>
          <a:prstGeom prst="wedgeRoundRectCallout">
            <a:avLst>
              <a:gd name="adj1" fmla="val -33204"/>
              <a:gd name="adj2" fmla="val 756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配置阶段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传输集定义安全协议</a:t>
            </a:r>
          </a:p>
        </p:txBody>
      </p:sp>
      <p:sp>
        <p:nvSpPr>
          <p:cNvPr id="33" name="AutoShape 4"/>
          <p:cNvSpPr>
            <a:spLocks noChangeArrowheads="1"/>
          </p:cNvSpPr>
          <p:nvPr/>
        </p:nvSpPr>
        <p:spPr bwMode="auto">
          <a:xfrm>
            <a:off x="7788275" y="4929188"/>
            <a:ext cx="2268538" cy="755650"/>
          </a:xfrm>
          <a:prstGeom prst="wedgeRoundRectCallout">
            <a:avLst>
              <a:gd name="adj1" fmla="val -33204"/>
              <a:gd name="adj2" fmla="val 756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定义传输模式，默认为隧道模式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760" grpId="0" animBg="1"/>
      <p:bldP spid="3176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</a:t>
            </a:r>
            <a:r>
              <a:rPr lang="en-US" altLang="zh-CN"/>
              <a:t>Crypto Map</a:t>
            </a:r>
            <a:endParaRPr lang="zh-CN" altLang="en-US"/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ISAKMP/IKE</a:t>
            </a:r>
            <a:r>
              <a:rPr lang="zh-CN" altLang="en-US"/>
              <a:t>阶段</a:t>
            </a:r>
            <a:r>
              <a:rPr lang="en-US" altLang="zh-CN"/>
              <a:t>2</a:t>
            </a:r>
            <a:r>
              <a:rPr lang="zh-CN" altLang="en-US"/>
              <a:t>的配置</a:t>
            </a:r>
            <a:r>
              <a:rPr lang="en-US" altLang="zh-CN"/>
              <a:t>2-2</a:t>
            </a:r>
            <a:endParaRPr lang="zh-CN" altLang="en-US"/>
          </a:p>
        </p:txBody>
      </p:sp>
      <p:pic>
        <p:nvPicPr>
          <p:cNvPr id="32772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9150" y="1738313"/>
            <a:ext cx="9715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1789" y="1643063"/>
            <a:ext cx="1285875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774" name="AutoShape 6"/>
          <p:cNvCxnSpPr>
            <a:cxnSpLocks noChangeShapeType="1"/>
          </p:cNvCxnSpPr>
          <p:nvPr/>
        </p:nvCxnSpPr>
        <p:spPr bwMode="auto">
          <a:xfrm>
            <a:off x="4330700" y="1985963"/>
            <a:ext cx="1081088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2775" name="AutoShape 7"/>
          <p:cNvCxnSpPr>
            <a:cxnSpLocks noChangeShapeType="1"/>
          </p:cNvCxnSpPr>
          <p:nvPr/>
        </p:nvCxnSpPr>
        <p:spPr bwMode="auto">
          <a:xfrm flipV="1">
            <a:off x="6697664" y="1984375"/>
            <a:ext cx="1127125" cy="15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607050" y="1822451"/>
            <a:ext cx="10429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</a:rPr>
              <a:t>Internet</a:t>
            </a:r>
          </a:p>
        </p:txBody>
      </p:sp>
      <p:pic>
        <p:nvPicPr>
          <p:cNvPr id="32777" name="Picture 7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4788" y="1736726"/>
            <a:ext cx="9715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759075" y="2830513"/>
            <a:ext cx="2160588" cy="863600"/>
            <a:chOff x="771" y="3067"/>
            <a:chExt cx="1361" cy="544"/>
          </a:xfrm>
        </p:grpSpPr>
        <p:sp>
          <p:nvSpPr>
            <p:cNvPr id="11" name="Oval 11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2" name="Picture 12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3" name="Picture 13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4" name="AutoShape 14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7226300" y="2833688"/>
            <a:ext cx="2160588" cy="863600"/>
            <a:chOff x="771" y="3067"/>
            <a:chExt cx="1361" cy="544"/>
          </a:xfrm>
        </p:grpSpPr>
        <p:sp>
          <p:nvSpPr>
            <p:cNvPr id="16" name="Oval 16" descr="5%"/>
            <p:cNvSpPr>
              <a:spLocks noChangeArrowheads="1"/>
            </p:cNvSpPr>
            <p:nvPr/>
          </p:nvSpPr>
          <p:spPr bwMode="auto">
            <a:xfrm>
              <a:off x="771" y="3067"/>
              <a:ext cx="1361" cy="544"/>
            </a:xfrm>
            <a:prstGeom prst="ellipse">
              <a:avLst/>
            </a:prstGeom>
            <a:pattFill prst="pct5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rgbClr val="0080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</a:endParaRPr>
            </a:p>
          </p:txBody>
        </p:sp>
        <p:pic>
          <p:nvPicPr>
            <p:cNvPr id="17" name="Picture 17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67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pic>
          <p:nvPicPr>
            <p:cNvPr id="18" name="Picture 18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65" y="3226"/>
              <a:ext cx="27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pic>
        <p:cxnSp>
          <p:nvCxnSpPr>
            <p:cNvPr id="19" name="AutoShape 19"/>
            <p:cNvCxnSpPr>
              <a:cxnSpLocks noChangeShapeType="1"/>
            </p:cNvCxnSpPr>
            <p:nvPr/>
          </p:nvCxnSpPr>
          <p:spPr bwMode="auto">
            <a:xfrm>
              <a:off x="1339" y="3356"/>
              <a:ext cx="226" cy="0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</p:cxnSp>
      </p:grpSp>
      <p:cxnSp>
        <p:nvCxnSpPr>
          <p:cNvPr id="32780" name="AutoShape 20"/>
          <p:cNvCxnSpPr>
            <a:cxnSpLocks noChangeShapeType="1"/>
          </p:cNvCxnSpPr>
          <p:nvPr/>
        </p:nvCxnSpPr>
        <p:spPr bwMode="auto">
          <a:xfrm flipH="1">
            <a:off x="3840163" y="2232025"/>
            <a:ext cx="4762" cy="598488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2781" name="AutoShape 21"/>
          <p:cNvCxnSpPr>
            <a:cxnSpLocks noChangeShapeType="1"/>
          </p:cNvCxnSpPr>
          <p:nvPr/>
        </p:nvCxnSpPr>
        <p:spPr bwMode="auto">
          <a:xfrm flipV="1">
            <a:off x="8307389" y="2230438"/>
            <a:ext cx="3175" cy="6032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1774826" y="2217739"/>
            <a:ext cx="8677275" cy="3673475"/>
            <a:chOff x="158" y="935"/>
            <a:chExt cx="5466" cy="2314"/>
          </a:xfrm>
        </p:grpSpPr>
        <p:sp>
          <p:nvSpPr>
            <p:cNvPr id="32789" name="AutoShape 35"/>
            <p:cNvSpPr>
              <a:spLocks noChangeArrowheads="1"/>
            </p:cNvSpPr>
            <p:nvPr/>
          </p:nvSpPr>
          <p:spPr bwMode="auto">
            <a:xfrm>
              <a:off x="589" y="935"/>
              <a:ext cx="1747" cy="238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1587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32790" name="AutoShape 17"/>
            <p:cNvSpPr>
              <a:spLocks noChangeArrowheads="1"/>
            </p:cNvSpPr>
            <p:nvPr/>
          </p:nvSpPr>
          <p:spPr bwMode="auto">
            <a:xfrm>
              <a:off x="158" y="1153"/>
              <a:ext cx="5466" cy="2096"/>
            </a:xfrm>
            <a:prstGeom prst="roundRect">
              <a:avLst>
                <a:gd name="adj" fmla="val 11671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Router(config)# crypto map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map_name seq_num</a:t>
              </a:r>
              <a:r>
                <a:rPr lang="en-US" altLang="zh-CN" sz="2000" b="1">
                  <a:solidFill>
                    <a:schemeClr val="tx2"/>
                  </a:solidFill>
                </a:rPr>
                <a:t> ipsec-isakmp </a:t>
              </a:r>
            </a:p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Router(config-crypto-m)# match address ACL_name_or_num </a:t>
              </a:r>
            </a:p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Router(config-crypto-m)# set peer {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hostname</a:t>
              </a:r>
              <a:r>
                <a:rPr lang="en-US" altLang="zh-CN" sz="2000" b="1">
                  <a:solidFill>
                    <a:schemeClr val="tx2"/>
                  </a:solidFill>
                </a:rPr>
                <a:t> |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IP_address</a:t>
              </a:r>
              <a:r>
                <a:rPr lang="en-US" altLang="zh-CN" sz="2000" b="1">
                  <a:solidFill>
                    <a:schemeClr val="tx2"/>
                  </a:solidFill>
                </a:rPr>
                <a:t> } </a:t>
              </a:r>
            </a:p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Router(config-crypto-m)# set transform-set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transform_set_name1</a:t>
              </a:r>
              <a:r>
                <a:rPr lang="en-US" altLang="zh-CN" sz="2000" b="1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Router(config-crypto-m)# set pfs [ group1 | group2 | group5 ] </a:t>
              </a:r>
            </a:p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Router(config-crypto-m)# set security-association lifetime {seconds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seconds</a:t>
              </a:r>
              <a:r>
                <a:rPr lang="en-US" altLang="zh-CN" sz="2000" b="1">
                  <a:solidFill>
                    <a:schemeClr val="tx2"/>
                  </a:solidFill>
                </a:rPr>
                <a:t> | kilobytes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kilobytes</a:t>
              </a:r>
              <a:r>
                <a:rPr lang="en-US" altLang="zh-CN" sz="2000" b="1">
                  <a:solidFill>
                    <a:schemeClr val="tx2"/>
                  </a:solidFill>
                </a:rPr>
                <a:t>}</a:t>
              </a:r>
            </a:p>
            <a:p>
              <a:pPr marL="342900" indent="-342900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tx2"/>
                  </a:solidFill>
                </a:rPr>
                <a:t>Router(config-crypto-m)# set security-association idle-time </a:t>
              </a:r>
              <a:r>
                <a:rPr lang="en-US" altLang="zh-CN" sz="2000" b="1" i="1">
                  <a:solidFill>
                    <a:schemeClr val="tx2"/>
                  </a:solidFill>
                </a:rPr>
                <a:t>seconds</a:t>
              </a:r>
              <a:endParaRPr lang="en-US" altLang="zh-CN" sz="2000" b="1">
                <a:solidFill>
                  <a:schemeClr val="tx2"/>
                </a:solidFill>
              </a:endParaRPr>
            </a:p>
          </p:txBody>
        </p:sp>
      </p:grpSp>
      <p:sp>
        <p:nvSpPr>
          <p:cNvPr id="25" name="Rectangle 38"/>
          <p:cNvSpPr>
            <a:spLocks noChangeArrowheads="1"/>
          </p:cNvSpPr>
          <p:nvPr/>
        </p:nvSpPr>
        <p:spPr bwMode="auto">
          <a:xfrm>
            <a:off x="6734175" y="2757489"/>
            <a:ext cx="1189038" cy="325437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pPr marL="342900" indent="-342900"/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>
            <a:off x="7104064" y="3406775"/>
            <a:ext cx="2268537" cy="755650"/>
          </a:xfrm>
          <a:prstGeom prst="wedgeRoundRectCallout">
            <a:avLst>
              <a:gd name="adj1" fmla="val -33204"/>
              <a:gd name="adj2" fmla="val -8739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既是序列号，更是优先级</a:t>
            </a:r>
          </a:p>
        </p:txBody>
      </p:sp>
      <p:sp>
        <p:nvSpPr>
          <p:cNvPr id="27" name="Rectangle 42"/>
          <p:cNvSpPr>
            <a:spLocks noChangeArrowheads="1"/>
          </p:cNvSpPr>
          <p:nvPr/>
        </p:nvSpPr>
        <p:spPr bwMode="auto">
          <a:xfrm>
            <a:off x="1882776" y="3082926"/>
            <a:ext cx="8208963" cy="1008063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/>
          <a:lstStyle/>
          <a:p>
            <a:pPr marL="342900" indent="-342900"/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5519739" y="4341813"/>
            <a:ext cx="2268537" cy="755650"/>
          </a:xfrm>
          <a:prstGeom prst="wedgeRoundRectCallout">
            <a:avLst>
              <a:gd name="adj1" fmla="val -35236"/>
              <a:gd name="adj2" fmla="val -1006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静态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crypto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中必须指定的参数</a:t>
            </a: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7212014" y="4991100"/>
            <a:ext cx="2268537" cy="755650"/>
          </a:xfrm>
          <a:prstGeom prst="wedgeRoundRectCallout">
            <a:avLst>
              <a:gd name="adj1" fmla="val -35236"/>
              <a:gd name="adj2" fmla="val -1006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阶段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SA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的生存周期</a:t>
            </a:r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auto">
          <a:xfrm>
            <a:off x="5881687" y="5857892"/>
            <a:ext cx="2268537" cy="755650"/>
          </a:xfrm>
          <a:prstGeom prst="wedgeRoundRectCallout">
            <a:avLst>
              <a:gd name="adj1" fmla="val -27863"/>
              <a:gd name="adj2" fmla="val -11686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1620000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>
              <a:defRPr/>
            </a:pP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阶段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SA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的空闲超时时间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查看</a:t>
            </a:r>
            <a:r>
              <a:rPr lang="en-US" altLang="zh-CN"/>
              <a:t>IKE</a:t>
            </a:r>
            <a:r>
              <a:rPr lang="zh-CN" altLang="en-US"/>
              <a:t>策略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查看管理连接</a:t>
            </a:r>
            <a:r>
              <a:rPr lang="en-US" altLang="zh-CN"/>
              <a:t>SA</a:t>
            </a:r>
            <a:r>
              <a:rPr lang="zh-CN" altLang="en-US"/>
              <a:t>的状态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查看</a:t>
            </a:r>
            <a:r>
              <a:rPr lang="en-US" altLang="zh-CN"/>
              <a:t>IPSec</a:t>
            </a:r>
            <a:r>
              <a:rPr lang="zh-CN" altLang="en-US"/>
              <a:t>传输集</a:t>
            </a:r>
            <a:endParaRPr lang="en-US" altLang="zh-CN"/>
          </a:p>
          <a:p>
            <a:pPr>
              <a:spcBef>
                <a:spcPts val="675"/>
              </a:spcBef>
              <a:buNone/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查看数据连接</a:t>
            </a:r>
            <a:r>
              <a:rPr lang="en-US" altLang="zh-CN"/>
              <a:t>SA</a:t>
            </a:r>
            <a:r>
              <a:rPr lang="zh-CN" altLang="en-US"/>
              <a:t>的状态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查看</a:t>
            </a:r>
            <a:r>
              <a:rPr lang="en-US" altLang="zh-CN"/>
              <a:t>Crypto Map </a:t>
            </a:r>
            <a:endParaRPr lang="zh-CN" altLang="en-US"/>
          </a:p>
        </p:txBody>
      </p:sp>
      <p:sp>
        <p:nvSpPr>
          <p:cNvPr id="3379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IPSec VPN</a:t>
            </a:r>
            <a:r>
              <a:rPr lang="zh-CN" altLang="en-US"/>
              <a:t>的验证</a:t>
            </a:r>
          </a:p>
        </p:txBody>
      </p:sp>
      <p:sp>
        <p:nvSpPr>
          <p:cNvPr id="33796" name="AutoShape 17"/>
          <p:cNvSpPr>
            <a:spLocks noChangeArrowheads="1"/>
          </p:cNvSpPr>
          <p:nvPr/>
        </p:nvSpPr>
        <p:spPr bwMode="auto">
          <a:xfrm>
            <a:off x="2095500" y="1698625"/>
            <a:ext cx="8027988" cy="444500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2000" b="1">
                <a:solidFill>
                  <a:schemeClr val="tx2"/>
                </a:solidFill>
              </a:rPr>
              <a:t>R1#show crypto isakmp policy </a:t>
            </a:r>
            <a:endParaRPr lang="zh-CN" altLang="en-US" sz="2000" b="1">
              <a:solidFill>
                <a:schemeClr val="tx2"/>
              </a:solidFill>
            </a:endParaRPr>
          </a:p>
        </p:txBody>
      </p:sp>
      <p:sp>
        <p:nvSpPr>
          <p:cNvPr id="33797" name="AutoShape 17"/>
          <p:cNvSpPr>
            <a:spLocks noChangeArrowheads="1"/>
          </p:cNvSpPr>
          <p:nvPr/>
        </p:nvSpPr>
        <p:spPr bwMode="auto">
          <a:xfrm>
            <a:off x="2095500" y="2714625"/>
            <a:ext cx="8027988" cy="444500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2000" b="1">
                <a:solidFill>
                  <a:schemeClr val="tx2"/>
                </a:solidFill>
              </a:rPr>
              <a:t>R1#show crypto isakmp sa </a:t>
            </a:r>
            <a:endParaRPr lang="zh-CN" altLang="en-US" sz="2000" b="1">
              <a:solidFill>
                <a:schemeClr val="tx2"/>
              </a:solidFill>
            </a:endParaRPr>
          </a:p>
        </p:txBody>
      </p:sp>
      <p:sp>
        <p:nvSpPr>
          <p:cNvPr id="33798" name="AutoShape 17"/>
          <p:cNvSpPr>
            <a:spLocks noChangeArrowheads="1"/>
          </p:cNvSpPr>
          <p:nvPr/>
        </p:nvSpPr>
        <p:spPr bwMode="auto">
          <a:xfrm>
            <a:off x="2095500" y="3770313"/>
            <a:ext cx="8027988" cy="444500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2000" b="1">
                <a:solidFill>
                  <a:schemeClr val="tx2"/>
                </a:solidFill>
              </a:rPr>
              <a:t>R1#show crypto ipsec transform-set </a:t>
            </a:r>
            <a:endParaRPr lang="zh-CN" altLang="en-US" sz="2000" b="1">
              <a:solidFill>
                <a:schemeClr val="tx2"/>
              </a:solidFill>
            </a:endParaRPr>
          </a:p>
        </p:txBody>
      </p:sp>
      <p:sp>
        <p:nvSpPr>
          <p:cNvPr id="33799" name="AutoShape 17"/>
          <p:cNvSpPr>
            <a:spLocks noChangeArrowheads="1"/>
          </p:cNvSpPr>
          <p:nvPr/>
        </p:nvSpPr>
        <p:spPr bwMode="auto">
          <a:xfrm>
            <a:off x="2095500" y="4786313"/>
            <a:ext cx="8027988" cy="444500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2000" b="1">
                <a:solidFill>
                  <a:schemeClr val="tx2"/>
                </a:solidFill>
              </a:rPr>
              <a:t>R1#show crypto ipsec sa </a:t>
            </a:r>
            <a:endParaRPr lang="zh-CN" altLang="en-US" sz="2000" b="1">
              <a:solidFill>
                <a:schemeClr val="tx2"/>
              </a:solidFill>
            </a:endParaRPr>
          </a:p>
        </p:txBody>
      </p:sp>
      <p:sp>
        <p:nvSpPr>
          <p:cNvPr id="33800" name="AutoShape 17"/>
          <p:cNvSpPr>
            <a:spLocks noChangeArrowheads="1"/>
          </p:cNvSpPr>
          <p:nvPr/>
        </p:nvSpPr>
        <p:spPr bwMode="auto">
          <a:xfrm>
            <a:off x="2095500" y="5786438"/>
            <a:ext cx="8027988" cy="444500"/>
          </a:xfrm>
          <a:prstGeom prst="roundRect">
            <a:avLst>
              <a:gd name="adj" fmla="val 11671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sz="2000" b="1">
                <a:solidFill>
                  <a:schemeClr val="tx2"/>
                </a:solidFill>
              </a:rPr>
              <a:t>R1#show crypto map </a:t>
            </a:r>
            <a:endParaRPr lang="zh-CN" altLang="en-US" sz="2000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某软件公司项目需求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开发项目小组可以通过</a:t>
            </a:r>
            <a:r>
              <a:rPr lang="en-US" altLang="zh-CN"/>
              <a:t>VPN</a:t>
            </a:r>
            <a:r>
              <a:rPr lang="zh-CN" altLang="en-US"/>
              <a:t>访问总公司开发服务器，但不能访问</a:t>
            </a:r>
            <a:r>
              <a:rPr lang="en-US" altLang="zh-CN"/>
              <a:t>Internet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分公司的其他客户端可以访问</a:t>
            </a:r>
            <a:r>
              <a:rPr lang="en-US" altLang="zh-CN"/>
              <a:t>Internet</a:t>
            </a:r>
            <a:endParaRPr lang="zh-CN" altLang="en-US"/>
          </a:p>
        </p:txBody>
      </p:sp>
      <p:sp>
        <p:nvSpPr>
          <p:cNvPr id="3481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IPSec VPN</a:t>
            </a:r>
            <a:r>
              <a:rPr lang="zh-CN" altLang="en-US"/>
              <a:t>的配置实现</a:t>
            </a:r>
          </a:p>
        </p:txBody>
      </p:sp>
      <p:pic>
        <p:nvPicPr>
          <p:cNvPr id="34820" name="Picture 2" descr="分支公司VP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9814" y="3286125"/>
            <a:ext cx="7691437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6623</TotalTime>
  <Words>1925</Words>
  <Application>Microsoft Office PowerPoint</Application>
  <PresentationFormat>宽屏</PresentationFormat>
  <Paragraphs>374</Paragraphs>
  <Slides>27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Myriad Pro</vt:lpstr>
      <vt:lpstr>楷体_GB2312</vt:lpstr>
      <vt:lpstr>宋体</vt:lpstr>
      <vt:lpstr>Arial</vt:lpstr>
      <vt:lpstr>Symbol</vt:lpstr>
      <vt:lpstr>Times New Roman</vt:lpstr>
      <vt:lpstr>Wingdings</vt:lpstr>
      <vt:lpstr>Office Theme</vt:lpstr>
      <vt:lpstr>目标</vt:lpstr>
      <vt:lpstr>本章结构</vt:lpstr>
      <vt:lpstr>VPN的定义2-1</vt:lpstr>
      <vt:lpstr>VPN的定义2-2</vt:lpstr>
      <vt:lpstr>VPN的连接模式2-1</vt:lpstr>
      <vt:lpstr>VPN的连接模式2-2</vt:lpstr>
      <vt:lpstr>VPN的类型2-1</vt:lpstr>
      <vt:lpstr>VPN的类型2-2</vt:lpstr>
      <vt:lpstr>VPN技术</vt:lpstr>
      <vt:lpstr>加密算法4-1</vt:lpstr>
      <vt:lpstr>加密算法4-2</vt:lpstr>
      <vt:lpstr>加密算法4-3</vt:lpstr>
      <vt:lpstr>加密算法的应用4-4</vt:lpstr>
      <vt:lpstr>数据报文验证 </vt:lpstr>
      <vt:lpstr>小结</vt:lpstr>
      <vt:lpstr>IPSec连接</vt:lpstr>
      <vt:lpstr>ISAKMP/IKE阶段1</vt:lpstr>
      <vt:lpstr>ISAKMP/IKE阶段1的配置2-1</vt:lpstr>
      <vt:lpstr>ISAKMP/IKE阶段1的配置2-2</vt:lpstr>
      <vt:lpstr>ISAKMP/IKE阶段2</vt:lpstr>
      <vt:lpstr>ISAKMP/IKE阶段2</vt:lpstr>
      <vt:lpstr>ISAKMP/IKE阶段2</vt:lpstr>
      <vt:lpstr>ISAKMP/IKE阶段2的配置2-1</vt:lpstr>
      <vt:lpstr>ISAKMP/IKE阶段2的配置2-2</vt:lpstr>
      <vt:lpstr>IPSec VPN的验证</vt:lpstr>
      <vt:lpstr>IPSec VPN的配置实现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Administrator</cp:lastModifiedBy>
  <cp:revision>172</cp:revision>
  <dcterms:created xsi:type="dcterms:W3CDTF">2019-12-12T13:30:13Z</dcterms:created>
  <dcterms:modified xsi:type="dcterms:W3CDTF">2026-05-28T08:01:33Z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