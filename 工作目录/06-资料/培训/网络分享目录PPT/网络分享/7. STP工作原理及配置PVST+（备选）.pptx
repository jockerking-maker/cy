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38"/>
  </p:notesMasterIdLst>
  <p:sldIdLst>
    <p:sldId id="490" r:id="rId2"/>
    <p:sldId id="491" r:id="rId3"/>
    <p:sldId id="492" r:id="rId4"/>
    <p:sldId id="493" r:id="rId5"/>
    <p:sldId id="494" r:id="rId6"/>
    <p:sldId id="495" r:id="rId7"/>
    <p:sldId id="496" r:id="rId8"/>
    <p:sldId id="497" r:id="rId9"/>
    <p:sldId id="498" r:id="rId10"/>
    <p:sldId id="499" r:id="rId11"/>
    <p:sldId id="500" r:id="rId12"/>
    <p:sldId id="501" r:id="rId13"/>
    <p:sldId id="502" r:id="rId14"/>
    <p:sldId id="503" r:id="rId15"/>
    <p:sldId id="504" r:id="rId16"/>
    <p:sldId id="505" r:id="rId17"/>
    <p:sldId id="506" r:id="rId18"/>
    <p:sldId id="507" r:id="rId19"/>
    <p:sldId id="508" r:id="rId20"/>
    <p:sldId id="509" r:id="rId21"/>
    <p:sldId id="510" r:id="rId22"/>
    <p:sldId id="511" r:id="rId23"/>
    <p:sldId id="512" r:id="rId24"/>
    <p:sldId id="513" r:id="rId25"/>
    <p:sldId id="514" r:id="rId26"/>
    <p:sldId id="515" r:id="rId27"/>
    <p:sldId id="516" r:id="rId28"/>
    <p:sldId id="517" r:id="rId29"/>
    <p:sldId id="518" r:id="rId30"/>
    <p:sldId id="519" r:id="rId31"/>
    <p:sldId id="520" r:id="rId32"/>
    <p:sldId id="521" r:id="rId33"/>
    <p:sldId id="522" r:id="rId34"/>
    <p:sldId id="523" r:id="rId35"/>
    <p:sldId id="524" r:id="rId36"/>
    <p:sldId id="298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776B"/>
    <a:srgbClr val="E44C3C"/>
    <a:srgbClr val="BC291A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50" autoAdjust="0"/>
    <p:restoredTop sz="95232" autoAdjust="0"/>
  </p:normalViewPr>
  <p:slideViewPr>
    <p:cSldViewPr snapToGrid="0">
      <p:cViewPr varScale="1">
        <p:scale>
          <a:sx n="40" d="100"/>
          <a:sy n="40" d="100"/>
        </p:scale>
        <p:origin x="81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6680" y="726440"/>
            <a:ext cx="6704640" cy="377136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2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217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218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219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1435F71D-641E-4ECC-830F-6558CD869574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12153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C00DEF3-F175-46DC-ADEC-D212D2088250}" type="slidenum">
              <a:rPr lang="zh-CN" altLang="en-US" smtClean="0"/>
              <a:pPr>
                <a:defRPr/>
              </a:pPr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62C877-8867-4D91-83FE-816CE31CF97F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主要是通过回忆交换机的工作原理，介绍在有物理环路的交换网络中广播通信带来的危害，从而引出</a:t>
            </a:r>
            <a:r>
              <a:rPr lang="en-US" altLang="zh-CN">
                <a:ea typeface="宋体" charset="-122"/>
              </a:rPr>
              <a:t>STP</a:t>
            </a:r>
            <a:r>
              <a:rPr lang="zh-CN" altLang="en-US">
                <a:ea typeface="宋体" charset="-122"/>
              </a:rPr>
              <a:t>的作用</a:t>
            </a:r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这种广播风暴只有在物理环路消失时才可能停止。</a:t>
            </a:r>
          </a:p>
          <a:p>
            <a:r>
              <a:rPr lang="zh-CN" altLang="en-US">
                <a:ea typeface="宋体" charset="-122"/>
              </a:rPr>
              <a:t>但是环状的物理链路能够为网络提供备份线路，增强网络的可靠性，这在网络设计中是必要的，因此，这就需要一种解决方法，一方面保证网络的可靠性，另一方面还要防止广播风暴的产生。</a:t>
            </a:r>
          </a:p>
          <a:p>
            <a:r>
              <a:rPr lang="en-US" altLang="zh-CN">
                <a:ea typeface="宋体" charset="-122"/>
              </a:rPr>
              <a:t>STP</a:t>
            </a:r>
            <a:r>
              <a:rPr lang="zh-CN" altLang="en-US">
                <a:ea typeface="宋体" charset="-122"/>
              </a:rPr>
              <a:t>协议就是用来解决这个问题的。</a:t>
            </a:r>
            <a:r>
              <a:rPr lang="en-US" altLang="zh-CN">
                <a:ea typeface="宋体" charset="-122"/>
              </a:rPr>
              <a:t>STP</a:t>
            </a:r>
            <a:r>
              <a:rPr lang="zh-CN" altLang="en-US">
                <a:ea typeface="宋体" charset="-122"/>
              </a:rPr>
              <a:t>协议并不是断掉物理环路，而是在逻辑上断开环路，防止广播风暴的产生。</a:t>
            </a:r>
          </a:p>
          <a:p>
            <a:endParaRPr lang="zh-CN" altLang="en-US">
              <a:ea typeface="宋体" charset="-122"/>
            </a:endParaRPr>
          </a:p>
          <a:p>
            <a:endParaRPr lang="zh-CN" altLang="en-US">
              <a:ea typeface="宋体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82B09C8-B409-407F-B6DF-89E8F9783C94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8B2A6FC-D196-41DA-A1F1-4B981619A278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ea typeface="宋体" charset="-122"/>
              </a:rPr>
              <a:t>使用</a:t>
            </a:r>
            <a:r>
              <a:rPr lang="en-US" altLang="zh-CN">
                <a:ea typeface="宋体" charset="-122"/>
              </a:rPr>
              <a:t>STP</a:t>
            </a:r>
            <a:r>
              <a:rPr lang="zh-CN" altLang="en-US">
                <a:ea typeface="宋体" charset="-122"/>
              </a:rPr>
              <a:t>从逻辑上打破环路，生成一个树状的结构。那么</a:t>
            </a:r>
            <a:r>
              <a:rPr lang="en-US" altLang="zh-CN">
                <a:ea typeface="宋体" charset="-122"/>
              </a:rPr>
              <a:t>STP</a:t>
            </a:r>
            <a:r>
              <a:rPr lang="zh-CN" altLang="en-US">
                <a:ea typeface="宋体" charset="-122"/>
              </a:rPr>
              <a:t>是如何进行计算哪个端口应该被阻塞呢？引出</a:t>
            </a:r>
            <a:r>
              <a:rPr lang="en-US" altLang="zh-CN">
                <a:ea typeface="宋体" charset="-122"/>
              </a:rPr>
              <a:t>STP</a:t>
            </a:r>
            <a:r>
              <a:rPr lang="zh-CN" altLang="en-US">
                <a:ea typeface="宋体" charset="-122"/>
              </a:rPr>
              <a:t>算法，分为</a:t>
            </a:r>
            <a:r>
              <a:rPr lang="en-US" altLang="zh-CN">
                <a:ea typeface="宋体" charset="-122"/>
              </a:rPr>
              <a:t>3</a:t>
            </a:r>
            <a:r>
              <a:rPr lang="zh-CN" altLang="en-US">
                <a:ea typeface="宋体" charset="-122"/>
              </a:rPr>
              <a:t>个步骤。</a:t>
            </a:r>
            <a:endParaRPr lang="en-US" altLang="zh-CN">
              <a:ea typeface="宋体" charset="-122"/>
            </a:endParaRPr>
          </a:p>
          <a:p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注意：网桥是交换机的前身，由于</a:t>
            </a:r>
            <a:r>
              <a:rPr lang="en-US" altLang="zh-CN">
                <a:ea typeface="宋体" charset="-122"/>
              </a:rPr>
              <a:t>STP</a:t>
            </a:r>
            <a:r>
              <a:rPr lang="zh-CN" altLang="en-US">
                <a:ea typeface="宋体" charset="-122"/>
              </a:rPr>
              <a:t>是在网桥基础上开发的，因此现在在交换机的网络中仍然沿用网桥这一术语</a:t>
            </a:r>
          </a:p>
          <a:p>
            <a:endParaRPr lang="zh-CN" altLang="en-US">
              <a:ea typeface="宋体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A449535-EEC1-4492-9E5D-CF97FE90059A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B933AAD-2A6D-4204-A1ED-701811760A89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CN">
                <a:latin typeface="楷体_GB2312" pitchFamily="49" charset="-122"/>
                <a:ea typeface="楷体_GB2312" pitchFamily="49" charset="-122"/>
              </a:rPr>
              <a:t>PVST+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的配置命令，注意命令格式和作用的讲解。</a:t>
            </a:r>
            <a:endParaRPr lang="en-US" altLang="zh-CN"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>
                <a:latin typeface="楷体_GB2312" pitchFamily="49" charset="-122"/>
                <a:ea typeface="楷体_GB2312" pitchFamily="49" charset="-122"/>
              </a:rPr>
              <a:t>需要注意说明，指定根网桥配置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、优先级的值是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4096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的倍数；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、配置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primary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，优先级是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24576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；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、配置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secondary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，优先级是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28672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  <a:p>
            <a:endParaRPr lang="zh-CN" altLang="en-US">
              <a:ea typeface="宋体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FFB264B-D6BA-49A3-BD62-71678099C050}" type="slidenum">
              <a:rPr lang="zh-CN" altLang="en-US" smtClean="0"/>
              <a:pPr>
                <a:defRPr/>
              </a:pPr>
              <a:t>27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13A599-B65D-4911-BFDF-39A893CD75E3}" type="slidenum">
              <a:rPr lang="zh-CN" altLang="en-US" smtClean="0"/>
              <a:pPr>
                <a:defRPr/>
              </a:pPr>
              <a:t>30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787EA0-3F05-47D6-BB35-3F85B74434DE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E8896B0-60C6-4D97-8109-E1D94AAE98B5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5F5149CD-6443-4082-B7BE-265594F1CDE5}" type="slidenum">
              <a:rPr lang="en-US" altLang="zh-CN" sz="1200">
                <a:ea typeface="宋体" charset="-122"/>
              </a:rPr>
              <a:pPr algn="r"/>
              <a:t>32</a:t>
            </a:fld>
            <a:endParaRPr lang="en-US" altLang="zh-CN" sz="1200">
              <a:ea typeface="宋体" charset="-122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F77112-292E-427B-951D-071E656A369C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5939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2B730D2-144D-48BA-825E-C0894AE67BE7}" type="slidenum">
              <a:rPr lang="en-US" altLang="zh-CN" sz="1200">
                <a:ea typeface="宋体" charset="-122"/>
              </a:rPr>
              <a:pPr algn="r"/>
              <a:t>34</a:t>
            </a:fld>
            <a:endParaRPr lang="en-US" altLang="zh-CN" sz="1200">
              <a:ea typeface="宋体" charset="-122"/>
            </a:endParaRPr>
          </a:p>
        </p:txBody>
      </p:sp>
      <p:sp>
        <p:nvSpPr>
          <p:cNvPr id="593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8" y="727075"/>
            <a:ext cx="6702425" cy="3770313"/>
          </a:xfrm>
          <a:ln/>
        </p:spPr>
      </p:sp>
      <p:sp>
        <p:nvSpPr>
          <p:cNvPr id="5939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1435F71D-641E-4ECC-830F-6558CD869574}" type="slidenum">
              <a:rPr lang="en-US" sz="1400" b="0" strike="noStrike" spc="-1" smtClean="0">
                <a:latin typeface="Times New Roman"/>
              </a:rPr>
              <a:t>36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2068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AA452-31F6-42F1-88E2-2BEAFFB3D008}" type="datetimeFigureOut">
              <a:rPr lang="zh-CN" altLang="en-US" smtClean="0"/>
              <a:t>2021/10/14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A76C8-063D-4826-91C2-CB3A25A9B5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61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2520" y="6760080"/>
            <a:ext cx="12186720" cy="121320"/>
          </a:xfrm>
          <a:prstGeom prst="rect">
            <a:avLst/>
          </a:prstGeom>
          <a:gradFill rotWithShape="0">
            <a:gsLst>
              <a:gs pos="0">
                <a:srgbClr val="007BF7"/>
              </a:gs>
              <a:gs pos="100000">
                <a:srgbClr val="0BB3E8"/>
              </a:gs>
            </a:gsLst>
            <a:lin ang="360000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/>
          <p:cNvSpPr/>
          <p:nvPr/>
        </p:nvSpPr>
        <p:spPr>
          <a:xfrm>
            <a:off x="334440" y="6515640"/>
            <a:ext cx="672840" cy="204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pPr>
              <a:lnSpc>
                <a:spcPct val="100000"/>
              </a:lnSpc>
              <a:spcBef>
                <a:spcPts val="666"/>
              </a:spcBef>
            </a:pPr>
            <a:fld id="{BE2697B1-93DF-4FA3-9179-2157CC991DBC}" type="slidenum">
              <a:rPr lang="en-US" sz="1340" b="0" strike="noStrike" spc="-1">
                <a:solidFill>
                  <a:srgbClr val="5A5A5A"/>
                </a:solidFill>
                <a:latin typeface="Myriad Pro"/>
                <a:ea typeface="微软雅黑"/>
              </a:rPr>
              <a:t>‹#›</a:t>
            </a:fld>
            <a:endParaRPr lang="en-US" sz="1340" b="0" strike="noStrike" spc="-1">
              <a:latin typeface="Arial"/>
            </a:endParaRPr>
          </a:p>
        </p:txBody>
      </p:sp>
      <p:sp>
        <p:nvSpPr>
          <p:cNvPr id="44" name="CustomShape 3"/>
          <p:cNvSpPr/>
          <p:nvPr/>
        </p:nvSpPr>
        <p:spPr>
          <a:xfrm>
            <a:off x="0" y="165240"/>
            <a:ext cx="670680" cy="2869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8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idx="1"/>
          </p:nvPr>
        </p:nvSpPr>
        <p:spPr>
          <a:xfrm>
            <a:off x="1738313" y="1143001"/>
            <a:ext cx="8501062" cy="1888957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 dirty="0"/>
              <a:t>理解</a:t>
            </a:r>
            <a:r>
              <a:rPr lang="en-US" altLang="zh-CN" dirty="0"/>
              <a:t>STP</a:t>
            </a:r>
            <a:r>
              <a:rPr lang="zh-CN" altLang="en-US" dirty="0"/>
              <a:t>工作原理</a:t>
            </a:r>
          </a:p>
          <a:p>
            <a:pPr>
              <a:spcBef>
                <a:spcPts val="675"/>
              </a:spcBef>
            </a:pPr>
            <a:r>
              <a:rPr lang="zh-CN" altLang="en-US" dirty="0"/>
              <a:t>会配置</a:t>
            </a:r>
            <a:r>
              <a:rPr lang="en-US" altLang="zh-CN" dirty="0"/>
              <a:t>PVST+</a:t>
            </a:r>
            <a:r>
              <a:rPr lang="zh-CN" altLang="en-US" dirty="0"/>
              <a:t>实现负载均衡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/>
              <a:t>目标</a:t>
            </a:r>
            <a:endParaRPr lang="en-US" altLang="zh-CN" sz="4400" b="1" spc="-1" dirty="0">
              <a:solidFill>
                <a:srgbClr val="4472C4"/>
              </a:solidFill>
              <a:latin typeface="微软雅黑"/>
              <a:ea typeface="微软雅黑"/>
              <a:cs typeface="+mj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5"/>
          <p:cNvSpPr>
            <a:spLocks noChangeShapeType="1"/>
          </p:cNvSpPr>
          <p:nvPr/>
        </p:nvSpPr>
        <p:spPr bwMode="auto">
          <a:xfrm flipV="1">
            <a:off x="6680201" y="3706814"/>
            <a:ext cx="360363" cy="1587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4" name="Line 16"/>
          <p:cNvSpPr>
            <a:spLocks noChangeShapeType="1"/>
          </p:cNvSpPr>
          <p:nvPr/>
        </p:nvSpPr>
        <p:spPr bwMode="auto">
          <a:xfrm>
            <a:off x="6656389" y="1697038"/>
            <a:ext cx="358775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5" name="Line 16"/>
          <p:cNvSpPr>
            <a:spLocks noChangeShapeType="1"/>
          </p:cNvSpPr>
          <p:nvPr/>
        </p:nvSpPr>
        <p:spPr bwMode="auto">
          <a:xfrm>
            <a:off x="6664326" y="2883626"/>
            <a:ext cx="360363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6" name="Line 26"/>
          <p:cNvSpPr>
            <a:spLocks noChangeShapeType="1"/>
          </p:cNvSpPr>
          <p:nvPr/>
        </p:nvSpPr>
        <p:spPr bwMode="auto">
          <a:xfrm flipV="1">
            <a:off x="6678613" y="3354389"/>
            <a:ext cx="349250" cy="3175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8" name="Line 8"/>
          <p:cNvSpPr>
            <a:spLocks noChangeShapeType="1"/>
          </p:cNvSpPr>
          <p:nvPr/>
        </p:nvSpPr>
        <p:spPr bwMode="auto">
          <a:xfrm>
            <a:off x="4238626" y="3357563"/>
            <a:ext cx="2428875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9" name="Line 10"/>
          <p:cNvSpPr>
            <a:spLocks noChangeShapeType="1"/>
          </p:cNvSpPr>
          <p:nvPr/>
        </p:nvSpPr>
        <p:spPr bwMode="auto">
          <a:xfrm>
            <a:off x="4227514" y="4984750"/>
            <a:ext cx="2439987" cy="254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00" name="Line 10"/>
          <p:cNvSpPr>
            <a:spLocks noChangeShapeType="1"/>
          </p:cNvSpPr>
          <p:nvPr/>
        </p:nvSpPr>
        <p:spPr bwMode="auto">
          <a:xfrm>
            <a:off x="3806825" y="3632200"/>
            <a:ext cx="4318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12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本章结构</a:t>
            </a:r>
          </a:p>
        </p:txBody>
      </p:sp>
      <p:sp>
        <p:nvSpPr>
          <p:cNvPr id="12303" name="AutoShape 5"/>
          <p:cNvSpPr>
            <a:spLocks noChangeArrowheads="1"/>
          </p:cNvSpPr>
          <p:nvPr/>
        </p:nvSpPr>
        <p:spPr bwMode="auto">
          <a:xfrm>
            <a:off x="4492626" y="3197306"/>
            <a:ext cx="1971675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STP</a:t>
            </a: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工作原理</a:t>
            </a:r>
          </a:p>
        </p:txBody>
      </p:sp>
      <p:sp>
        <p:nvSpPr>
          <p:cNvPr id="12307" name="Line 14"/>
          <p:cNvSpPr>
            <a:spLocks noChangeShapeType="1"/>
          </p:cNvSpPr>
          <p:nvPr/>
        </p:nvSpPr>
        <p:spPr bwMode="auto">
          <a:xfrm>
            <a:off x="6667500" y="1703388"/>
            <a:ext cx="0" cy="493712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08" name="AutoShape 18"/>
          <p:cNvSpPr>
            <a:spLocks noChangeArrowheads="1"/>
          </p:cNvSpPr>
          <p:nvPr/>
        </p:nvSpPr>
        <p:spPr bwMode="auto">
          <a:xfrm>
            <a:off x="6988175" y="2714621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生成树算法及验证</a:t>
            </a:r>
          </a:p>
        </p:txBody>
      </p:sp>
      <p:sp>
        <p:nvSpPr>
          <p:cNvPr id="12309" name="AutoShape 27"/>
          <p:cNvSpPr>
            <a:spLocks noChangeArrowheads="1"/>
          </p:cNvSpPr>
          <p:nvPr/>
        </p:nvSpPr>
        <p:spPr bwMode="auto">
          <a:xfrm>
            <a:off x="6992422" y="3632889"/>
            <a:ext cx="2675479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STP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的收敛</a:t>
            </a:r>
          </a:p>
        </p:txBody>
      </p:sp>
      <p:sp>
        <p:nvSpPr>
          <p:cNvPr id="12310" name="AutoShape 28"/>
          <p:cNvSpPr>
            <a:spLocks noChangeArrowheads="1"/>
          </p:cNvSpPr>
          <p:nvPr/>
        </p:nvSpPr>
        <p:spPr bwMode="auto">
          <a:xfrm>
            <a:off x="6988175" y="3182933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BPDU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（桥协议数据单元）</a:t>
            </a:r>
          </a:p>
        </p:txBody>
      </p:sp>
      <p:sp>
        <p:nvSpPr>
          <p:cNvPr id="12311" name="AutoShape 4"/>
          <p:cNvSpPr>
            <a:spLocks noChangeArrowheads="1"/>
          </p:cNvSpPr>
          <p:nvPr/>
        </p:nvSpPr>
        <p:spPr bwMode="auto">
          <a:xfrm>
            <a:off x="1820848" y="3436738"/>
            <a:ext cx="2132012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生成树协议（</a:t>
            </a: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STP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）</a:t>
            </a:r>
          </a:p>
        </p:txBody>
      </p:sp>
      <p:sp>
        <p:nvSpPr>
          <p:cNvPr id="12314" name="Line 36"/>
          <p:cNvSpPr>
            <a:spLocks noChangeShapeType="1"/>
          </p:cNvSpPr>
          <p:nvPr/>
        </p:nvSpPr>
        <p:spPr bwMode="auto">
          <a:xfrm flipH="1">
            <a:off x="4238625" y="1928813"/>
            <a:ext cx="0" cy="3071812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15" name="Line 37"/>
          <p:cNvSpPr>
            <a:spLocks noChangeShapeType="1"/>
          </p:cNvSpPr>
          <p:nvPr/>
        </p:nvSpPr>
        <p:spPr bwMode="auto">
          <a:xfrm>
            <a:off x="6667500" y="2882900"/>
            <a:ext cx="0" cy="83185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17" name="AutoShape 11"/>
          <p:cNvSpPr>
            <a:spLocks noChangeArrowheads="1"/>
          </p:cNvSpPr>
          <p:nvPr/>
        </p:nvSpPr>
        <p:spPr bwMode="auto">
          <a:xfrm>
            <a:off x="6988175" y="1533598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交换网络环路的产生</a:t>
            </a:r>
          </a:p>
        </p:txBody>
      </p:sp>
      <p:sp>
        <p:nvSpPr>
          <p:cNvPr id="12319" name="AutoShape 5"/>
          <p:cNvSpPr>
            <a:spLocks noChangeArrowheads="1"/>
          </p:cNvSpPr>
          <p:nvPr/>
        </p:nvSpPr>
        <p:spPr bwMode="auto">
          <a:xfrm>
            <a:off x="4485201" y="4804036"/>
            <a:ext cx="2000263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STP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的应用</a:t>
            </a:r>
          </a:p>
        </p:txBody>
      </p:sp>
      <p:sp>
        <p:nvSpPr>
          <p:cNvPr id="39" name="Line 25"/>
          <p:cNvSpPr>
            <a:spLocks noChangeShapeType="1"/>
          </p:cNvSpPr>
          <p:nvPr/>
        </p:nvSpPr>
        <p:spPr bwMode="auto">
          <a:xfrm flipV="1">
            <a:off x="6683376" y="5353776"/>
            <a:ext cx="360363" cy="15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40" name="Line 16"/>
          <p:cNvSpPr>
            <a:spLocks noChangeShapeType="1"/>
          </p:cNvSpPr>
          <p:nvPr/>
        </p:nvSpPr>
        <p:spPr bwMode="auto">
          <a:xfrm>
            <a:off x="6667501" y="4578350"/>
            <a:ext cx="360363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41" name="Line 26"/>
          <p:cNvSpPr>
            <a:spLocks noChangeShapeType="1"/>
          </p:cNvSpPr>
          <p:nvPr/>
        </p:nvSpPr>
        <p:spPr bwMode="auto">
          <a:xfrm flipV="1">
            <a:off x="6681788" y="5003801"/>
            <a:ext cx="349250" cy="3175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43" name="AutoShape 18"/>
          <p:cNvSpPr>
            <a:spLocks noChangeArrowheads="1"/>
          </p:cNvSpPr>
          <p:nvPr/>
        </p:nvSpPr>
        <p:spPr bwMode="auto">
          <a:xfrm>
            <a:off x="6992042" y="4357695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STP</a:t>
            </a: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与</a:t>
            </a: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VLAN</a:t>
            </a: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的关系</a:t>
            </a:r>
          </a:p>
        </p:txBody>
      </p:sp>
      <p:sp>
        <p:nvSpPr>
          <p:cNvPr id="44" name="AutoShape 27"/>
          <p:cNvSpPr>
            <a:spLocks noChangeArrowheads="1"/>
          </p:cNvSpPr>
          <p:nvPr/>
        </p:nvSpPr>
        <p:spPr bwMode="auto">
          <a:xfrm>
            <a:off x="6996289" y="5275963"/>
            <a:ext cx="2675479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PVST+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的配置案例</a:t>
            </a:r>
          </a:p>
        </p:txBody>
      </p:sp>
      <p:sp>
        <p:nvSpPr>
          <p:cNvPr id="45" name="AutoShape 28"/>
          <p:cNvSpPr>
            <a:spLocks noChangeArrowheads="1"/>
          </p:cNvSpPr>
          <p:nvPr/>
        </p:nvSpPr>
        <p:spPr bwMode="auto">
          <a:xfrm>
            <a:off x="6992042" y="4826007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PVST+</a:t>
            </a: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的配置命令</a:t>
            </a:r>
          </a:p>
        </p:txBody>
      </p:sp>
      <p:cxnSp>
        <p:nvCxnSpPr>
          <p:cNvPr id="37" name="直接连接符 36"/>
          <p:cNvCxnSpPr/>
          <p:nvPr/>
        </p:nvCxnSpPr>
        <p:spPr bwMode="auto">
          <a:xfrm rot="16200000" flipH="1">
            <a:off x="6274594" y="4971257"/>
            <a:ext cx="78581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38" name="Line 16"/>
          <p:cNvSpPr>
            <a:spLocks noChangeShapeType="1"/>
          </p:cNvSpPr>
          <p:nvPr/>
        </p:nvSpPr>
        <p:spPr bwMode="auto">
          <a:xfrm>
            <a:off x="6667501" y="2197100"/>
            <a:ext cx="358775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18" name="AutoShape 11"/>
          <p:cNvSpPr>
            <a:spLocks noChangeArrowheads="1"/>
          </p:cNvSpPr>
          <p:nvPr/>
        </p:nvSpPr>
        <p:spPr bwMode="auto">
          <a:xfrm>
            <a:off x="6988175" y="1982860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STP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简介</a:t>
            </a:r>
          </a:p>
        </p:txBody>
      </p:sp>
      <p:cxnSp>
        <p:nvCxnSpPr>
          <p:cNvPr id="49" name="直接连接符 48"/>
          <p:cNvCxnSpPr>
            <a:stCxn id="12314" idx="0"/>
          </p:cNvCxnSpPr>
          <p:nvPr/>
        </p:nvCxnSpPr>
        <p:spPr bwMode="auto">
          <a:xfrm rot="16200000" flipH="1">
            <a:off x="5453063" y="714376"/>
            <a:ext cx="0" cy="242887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12320" name="AutoShape 5"/>
          <p:cNvSpPr>
            <a:spLocks noChangeArrowheads="1"/>
          </p:cNvSpPr>
          <p:nvPr/>
        </p:nvSpPr>
        <p:spPr bwMode="auto">
          <a:xfrm>
            <a:off x="4481514" y="1785926"/>
            <a:ext cx="1971675" cy="37465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STP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概述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" dur="500"/>
                                        <p:tgtEl>
                                          <p:spTgt spid="1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4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1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1" dur="5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4" dur="500"/>
                                        <p:tgtEl>
                                          <p:spTgt spid="1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7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0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3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3" grpId="0" animBg="1"/>
      <p:bldP spid="12308" grpId="0" animBg="1"/>
      <p:bldP spid="12309" grpId="0" animBg="1"/>
      <p:bldP spid="12310" grpId="0" animBg="1"/>
      <p:bldP spid="12311" grpId="0" animBg="1"/>
      <p:bldP spid="12317" grpId="0" animBg="1"/>
      <p:bldP spid="12319" grpId="0" animBg="1"/>
      <p:bldP spid="43" grpId="0" animBg="1"/>
      <p:bldP spid="44" grpId="0" animBg="1"/>
      <p:bldP spid="45" grpId="0" animBg="1"/>
      <p:bldP spid="12318" grpId="0" animBg="1"/>
      <p:bldP spid="123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内容占位符 1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642938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675"/>
              </a:spcBef>
            </a:pPr>
            <a:r>
              <a:rPr lang="zh-CN" altLang="en-US"/>
              <a:t>交换网络环路的产生</a:t>
            </a:r>
          </a:p>
          <a:p>
            <a:pPr lvl="1">
              <a:spcBef>
                <a:spcPts val="675"/>
              </a:spcBef>
            </a:pPr>
            <a:r>
              <a:rPr lang="zh-CN" altLang="en-US"/>
              <a:t>广播风暴的形成</a:t>
            </a:r>
            <a:endParaRPr lang="en-US" altLang="zh-CN"/>
          </a:p>
          <a:p>
            <a:pPr lvl="1">
              <a:spcBef>
                <a:spcPts val="675"/>
              </a:spcBef>
            </a:pPr>
            <a:endParaRPr lang="en-US" altLang="zh-CN"/>
          </a:p>
        </p:txBody>
      </p:sp>
      <p:sp>
        <p:nvSpPr>
          <p:cNvPr id="12291" name="标题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en-US" altLang="zh-CN"/>
              <a:t>STP</a:t>
            </a:r>
            <a:r>
              <a:rPr lang="zh-CN" altLang="en-US"/>
              <a:t>概述</a:t>
            </a:r>
            <a:r>
              <a:rPr lang="en-US" altLang="zh-CN"/>
              <a:t>2-1</a:t>
            </a:r>
            <a:endParaRPr lang="zh-CN" altLang="en-US"/>
          </a:p>
        </p:txBody>
      </p:sp>
      <p:pic>
        <p:nvPicPr>
          <p:cNvPr id="12292" name="图片 11" descr="asdf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48163" y="5410200"/>
            <a:ext cx="6159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组合 111"/>
          <p:cNvGrpSpPr>
            <a:grpSpLocks/>
          </p:cNvGrpSpPr>
          <p:nvPr/>
        </p:nvGrpSpPr>
        <p:grpSpPr bwMode="auto">
          <a:xfrm>
            <a:off x="4087813" y="2452689"/>
            <a:ext cx="1116012" cy="509587"/>
            <a:chOff x="7310475" y="1639863"/>
            <a:chExt cx="838200" cy="382831"/>
          </a:xfrm>
        </p:grpSpPr>
        <p:pic>
          <p:nvPicPr>
            <p:cNvPr id="12329" name="Picture 1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310475" y="1639863"/>
              <a:ext cx="838200" cy="358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 Box 33"/>
            <p:cNvSpPr txBox="1">
              <a:spLocks noChangeArrowheads="1"/>
            </p:cNvSpPr>
            <p:nvPr/>
          </p:nvSpPr>
          <p:spPr bwMode="auto">
            <a:xfrm>
              <a:off x="7392745" y="1768666"/>
              <a:ext cx="472158" cy="25402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chemeClr val="accent3"/>
                  </a:solidFill>
                  <a:cs typeface="Arial" charset="0"/>
                </a:rPr>
                <a:t>SW3</a:t>
              </a:r>
            </a:p>
          </p:txBody>
        </p:sp>
      </p:grpSp>
      <p:sp>
        <p:nvSpPr>
          <p:cNvPr id="12294" name="Text Box 33"/>
          <p:cNvSpPr txBox="1">
            <a:spLocks noChangeArrowheads="1"/>
          </p:cNvSpPr>
          <p:nvPr/>
        </p:nvSpPr>
        <p:spPr bwMode="auto">
          <a:xfrm>
            <a:off x="3868738" y="5519739"/>
            <a:ext cx="582612" cy="339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Ctr="1">
            <a:spAutoFit/>
          </a:bodyPr>
          <a:lstStyle/>
          <a:p>
            <a:pPr algn="ctr"/>
            <a:r>
              <a:rPr lang="en-US" altLang="zh-CN" sz="1600" b="1">
                <a:solidFill>
                  <a:schemeClr val="tx2"/>
                </a:solidFill>
                <a:cs typeface="Arial" charset="0"/>
              </a:rPr>
              <a:t>PC1</a:t>
            </a:r>
          </a:p>
        </p:txBody>
      </p:sp>
      <p:sp>
        <p:nvSpPr>
          <p:cNvPr id="12295" name="Text Box 33"/>
          <p:cNvSpPr txBox="1">
            <a:spLocks noChangeArrowheads="1"/>
          </p:cNvSpPr>
          <p:nvPr/>
        </p:nvSpPr>
        <p:spPr bwMode="auto">
          <a:xfrm>
            <a:off x="7712076" y="5510214"/>
            <a:ext cx="581025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Ctr="1">
            <a:spAutoFit/>
          </a:bodyPr>
          <a:lstStyle/>
          <a:p>
            <a:pPr algn="ctr"/>
            <a:r>
              <a:rPr lang="en-US" altLang="zh-CN" sz="1600" b="1">
                <a:solidFill>
                  <a:schemeClr val="tx2"/>
                </a:solidFill>
                <a:cs typeface="Arial" charset="0"/>
              </a:rPr>
              <a:t>PC2</a:t>
            </a:r>
          </a:p>
        </p:txBody>
      </p:sp>
      <p:sp>
        <p:nvSpPr>
          <p:cNvPr id="12296" name="Text Box 33"/>
          <p:cNvSpPr txBox="1">
            <a:spLocks noChangeArrowheads="1"/>
          </p:cNvSpPr>
          <p:nvPr/>
        </p:nvSpPr>
        <p:spPr bwMode="auto">
          <a:xfrm>
            <a:off x="5146676" y="2443164"/>
            <a:ext cx="595313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Ctr="1">
            <a:spAutoFit/>
          </a:bodyPr>
          <a:lstStyle/>
          <a:p>
            <a:pPr algn="ctr"/>
            <a:r>
              <a:rPr lang="en-US" altLang="zh-CN" sz="1600" b="1">
                <a:solidFill>
                  <a:schemeClr val="tx2"/>
                </a:solidFill>
                <a:cs typeface="Arial" charset="0"/>
              </a:rPr>
              <a:t>F0/2</a:t>
            </a:r>
          </a:p>
        </p:txBody>
      </p:sp>
      <p:sp>
        <p:nvSpPr>
          <p:cNvPr id="12297" name="Text Box 33"/>
          <p:cNvSpPr txBox="1">
            <a:spLocks noChangeArrowheads="1"/>
          </p:cNvSpPr>
          <p:nvPr/>
        </p:nvSpPr>
        <p:spPr bwMode="auto">
          <a:xfrm>
            <a:off x="7348538" y="3962400"/>
            <a:ext cx="595312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Ctr="1">
            <a:spAutoFit/>
          </a:bodyPr>
          <a:lstStyle/>
          <a:p>
            <a:pPr algn="ctr"/>
            <a:r>
              <a:rPr lang="en-US" altLang="zh-CN" sz="1600" b="1">
                <a:solidFill>
                  <a:schemeClr val="tx2"/>
                </a:solidFill>
                <a:cs typeface="Arial" charset="0"/>
              </a:rPr>
              <a:t>F0/2</a:t>
            </a:r>
          </a:p>
        </p:txBody>
      </p:sp>
      <p:sp>
        <p:nvSpPr>
          <p:cNvPr id="12298" name="Text Box 33"/>
          <p:cNvSpPr txBox="1">
            <a:spLocks noChangeArrowheads="1"/>
          </p:cNvSpPr>
          <p:nvPr/>
        </p:nvSpPr>
        <p:spPr bwMode="auto">
          <a:xfrm>
            <a:off x="5099051" y="4205289"/>
            <a:ext cx="593725" cy="339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Ctr="1">
            <a:spAutoFit/>
          </a:bodyPr>
          <a:lstStyle/>
          <a:p>
            <a:pPr algn="ctr"/>
            <a:r>
              <a:rPr lang="en-US" altLang="zh-CN" sz="1600" b="1">
                <a:solidFill>
                  <a:schemeClr val="tx2"/>
                </a:solidFill>
                <a:cs typeface="Arial" charset="0"/>
              </a:rPr>
              <a:t>F0/1</a:t>
            </a:r>
          </a:p>
        </p:txBody>
      </p:sp>
      <p:sp>
        <p:nvSpPr>
          <p:cNvPr id="12299" name="Text Box 33"/>
          <p:cNvSpPr txBox="1">
            <a:spLocks noChangeArrowheads="1"/>
          </p:cNvSpPr>
          <p:nvPr/>
        </p:nvSpPr>
        <p:spPr bwMode="auto">
          <a:xfrm>
            <a:off x="6450013" y="4205289"/>
            <a:ext cx="595312" cy="339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Ctr="1">
            <a:spAutoFit/>
          </a:bodyPr>
          <a:lstStyle/>
          <a:p>
            <a:pPr algn="ctr"/>
            <a:r>
              <a:rPr lang="en-US" altLang="zh-CN" sz="1600" b="1">
                <a:solidFill>
                  <a:schemeClr val="tx2"/>
                </a:solidFill>
                <a:cs typeface="Arial" charset="0"/>
              </a:rPr>
              <a:t>F0/1</a:t>
            </a:r>
          </a:p>
        </p:txBody>
      </p:sp>
      <p:sp>
        <p:nvSpPr>
          <p:cNvPr id="14" name="Text Box 33"/>
          <p:cNvSpPr txBox="1">
            <a:spLocks noChangeArrowheads="1"/>
          </p:cNvSpPr>
          <p:nvPr/>
        </p:nvSpPr>
        <p:spPr bwMode="auto">
          <a:xfrm>
            <a:off x="5627689" y="4670425"/>
            <a:ext cx="663575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 algn="ctr"/>
            <a:r>
              <a:rPr lang="zh-CN" altLang="en-US" sz="1600" b="1">
                <a:solidFill>
                  <a:schemeClr val="tx2"/>
                </a:solidFill>
                <a:cs typeface="Arial" charset="0"/>
              </a:rPr>
              <a:t>广播</a:t>
            </a:r>
            <a:endParaRPr lang="en-US" altLang="zh-CN" sz="1600" b="1">
              <a:solidFill>
                <a:schemeClr val="tx2"/>
              </a:solidFill>
              <a:cs typeface="Arial" charset="0"/>
            </a:endParaRPr>
          </a:p>
        </p:txBody>
      </p:sp>
      <p:sp>
        <p:nvSpPr>
          <p:cNvPr id="15" name="Text Box 33"/>
          <p:cNvSpPr txBox="1">
            <a:spLocks noChangeArrowheads="1"/>
          </p:cNvSpPr>
          <p:nvPr/>
        </p:nvSpPr>
        <p:spPr bwMode="auto">
          <a:xfrm>
            <a:off x="3827464" y="4889500"/>
            <a:ext cx="625475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 algn="ctr"/>
            <a:r>
              <a:rPr lang="zh-CN" altLang="en-US" sz="1600" b="1">
                <a:solidFill>
                  <a:schemeClr val="tx2"/>
                </a:solidFill>
                <a:cs typeface="Arial" charset="0"/>
              </a:rPr>
              <a:t>广播</a:t>
            </a:r>
            <a:endParaRPr lang="en-US" altLang="zh-CN" sz="1600" b="1">
              <a:solidFill>
                <a:schemeClr val="tx2"/>
              </a:solidFill>
              <a:cs typeface="Arial" charset="0"/>
            </a:endParaRPr>
          </a:p>
        </p:txBody>
      </p:sp>
      <p:cxnSp>
        <p:nvCxnSpPr>
          <p:cNvPr id="12302" name="直接连接符 21"/>
          <p:cNvCxnSpPr>
            <a:cxnSpLocks noChangeShapeType="1"/>
          </p:cNvCxnSpPr>
          <p:nvPr/>
        </p:nvCxnSpPr>
        <p:spPr bwMode="auto">
          <a:xfrm>
            <a:off x="5203826" y="2692400"/>
            <a:ext cx="2270125" cy="154940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  <a:headEnd/>
            <a:tailEnd/>
          </a:ln>
        </p:spPr>
      </p:cxnSp>
      <p:sp>
        <p:nvSpPr>
          <p:cNvPr id="12303" name="Text Box 33"/>
          <p:cNvSpPr txBox="1">
            <a:spLocks noChangeArrowheads="1"/>
          </p:cNvSpPr>
          <p:nvPr/>
        </p:nvSpPr>
        <p:spPr bwMode="auto">
          <a:xfrm>
            <a:off x="4113213" y="2844800"/>
            <a:ext cx="595312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Ctr="1">
            <a:spAutoFit/>
          </a:bodyPr>
          <a:lstStyle/>
          <a:p>
            <a:pPr algn="ctr"/>
            <a:r>
              <a:rPr lang="en-US" altLang="zh-CN" sz="1600" b="1">
                <a:solidFill>
                  <a:schemeClr val="tx2"/>
                </a:solidFill>
                <a:cs typeface="Arial" charset="0"/>
              </a:rPr>
              <a:t>F0/1</a:t>
            </a:r>
          </a:p>
        </p:txBody>
      </p:sp>
      <p:sp>
        <p:nvSpPr>
          <p:cNvPr id="12304" name="Text Box 33"/>
          <p:cNvSpPr txBox="1">
            <a:spLocks noChangeArrowheads="1"/>
          </p:cNvSpPr>
          <p:nvPr/>
        </p:nvSpPr>
        <p:spPr bwMode="auto">
          <a:xfrm>
            <a:off x="4124326" y="3976689"/>
            <a:ext cx="595313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Ctr="1">
            <a:spAutoFit/>
          </a:bodyPr>
          <a:lstStyle/>
          <a:p>
            <a:pPr algn="ctr"/>
            <a:r>
              <a:rPr lang="en-US" altLang="zh-CN" sz="1600" b="1">
                <a:solidFill>
                  <a:schemeClr val="tx2"/>
                </a:solidFill>
                <a:cs typeface="Arial" charset="0"/>
              </a:rPr>
              <a:t>F0/2</a:t>
            </a:r>
          </a:p>
        </p:txBody>
      </p:sp>
      <p:sp>
        <p:nvSpPr>
          <p:cNvPr id="19" name="Line 80"/>
          <p:cNvSpPr>
            <a:spLocks noChangeShapeType="1"/>
          </p:cNvSpPr>
          <p:nvPr/>
        </p:nvSpPr>
        <p:spPr bwMode="auto">
          <a:xfrm rot="-5400000">
            <a:off x="4237831" y="5049044"/>
            <a:ext cx="503238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20" name="Line 80"/>
          <p:cNvSpPr>
            <a:spLocks noChangeShapeType="1"/>
          </p:cNvSpPr>
          <p:nvPr/>
        </p:nvSpPr>
        <p:spPr bwMode="auto">
          <a:xfrm rot="-5400000">
            <a:off x="4129882" y="3590132"/>
            <a:ext cx="719137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21" name="Line 80"/>
          <p:cNvSpPr>
            <a:spLocks noChangeShapeType="1"/>
          </p:cNvSpPr>
          <p:nvPr/>
        </p:nvSpPr>
        <p:spPr bwMode="auto">
          <a:xfrm>
            <a:off x="5561014" y="4606925"/>
            <a:ext cx="936625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</p:spPr>
        <p:txBody>
          <a:bodyPr anchor="b"/>
          <a:lstStyle/>
          <a:p>
            <a:endParaRPr lang="zh-CN" altLang="en-US"/>
          </a:p>
        </p:txBody>
      </p:sp>
      <p:grpSp>
        <p:nvGrpSpPr>
          <p:cNvPr id="3" name="组合 111"/>
          <p:cNvGrpSpPr>
            <a:grpSpLocks/>
          </p:cNvGrpSpPr>
          <p:nvPr/>
        </p:nvGrpSpPr>
        <p:grpSpPr bwMode="auto">
          <a:xfrm>
            <a:off x="6915151" y="4241800"/>
            <a:ext cx="1116013" cy="509588"/>
            <a:chOff x="7310475" y="1639863"/>
            <a:chExt cx="838200" cy="382830"/>
          </a:xfrm>
        </p:grpSpPr>
        <p:pic>
          <p:nvPicPr>
            <p:cNvPr id="12327" name="Picture 1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310475" y="1639863"/>
              <a:ext cx="838200" cy="358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" name="Text Box 33"/>
            <p:cNvSpPr txBox="1">
              <a:spLocks noChangeArrowheads="1"/>
            </p:cNvSpPr>
            <p:nvPr/>
          </p:nvSpPr>
          <p:spPr bwMode="auto">
            <a:xfrm>
              <a:off x="7392745" y="1768665"/>
              <a:ext cx="472158" cy="25402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chemeClr val="accent3"/>
                  </a:solidFill>
                  <a:cs typeface="Arial" charset="0"/>
                </a:rPr>
                <a:t>SW2</a:t>
              </a:r>
            </a:p>
          </p:txBody>
        </p:sp>
      </p:grpSp>
      <p:grpSp>
        <p:nvGrpSpPr>
          <p:cNvPr id="4" name="组合 111"/>
          <p:cNvGrpSpPr>
            <a:grpSpLocks/>
          </p:cNvGrpSpPr>
          <p:nvPr/>
        </p:nvGrpSpPr>
        <p:grpSpPr bwMode="auto">
          <a:xfrm>
            <a:off x="4087813" y="4241800"/>
            <a:ext cx="1116012" cy="509588"/>
            <a:chOff x="7310475" y="1639863"/>
            <a:chExt cx="838200" cy="382830"/>
          </a:xfrm>
        </p:grpSpPr>
        <p:pic>
          <p:nvPicPr>
            <p:cNvPr id="12325" name="Picture 10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310475" y="1639863"/>
              <a:ext cx="838200" cy="358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7" name="Text Box 33"/>
            <p:cNvSpPr txBox="1">
              <a:spLocks noChangeArrowheads="1"/>
            </p:cNvSpPr>
            <p:nvPr/>
          </p:nvSpPr>
          <p:spPr bwMode="auto">
            <a:xfrm>
              <a:off x="7392745" y="1768665"/>
              <a:ext cx="472158" cy="25402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pPr algn="ctr">
                <a:defRPr/>
              </a:pPr>
              <a:r>
                <a:rPr lang="en-US" altLang="zh-CN" sz="1600" b="1" dirty="0">
                  <a:solidFill>
                    <a:schemeClr val="accent3"/>
                  </a:solidFill>
                  <a:cs typeface="Arial" charset="0"/>
                </a:rPr>
                <a:t>SW1</a:t>
              </a:r>
            </a:p>
          </p:txBody>
        </p:sp>
      </p:grpSp>
      <p:cxnSp>
        <p:nvCxnSpPr>
          <p:cNvPr id="12310" name="直接连接符 21"/>
          <p:cNvCxnSpPr>
            <a:cxnSpLocks noChangeShapeType="1"/>
          </p:cNvCxnSpPr>
          <p:nvPr/>
        </p:nvCxnSpPr>
        <p:spPr bwMode="auto">
          <a:xfrm rot="5400000">
            <a:off x="3990182" y="3586957"/>
            <a:ext cx="1311275" cy="1588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12311" name="直接连接符 21"/>
          <p:cNvCxnSpPr>
            <a:cxnSpLocks noChangeShapeType="1"/>
          </p:cNvCxnSpPr>
          <p:nvPr/>
        </p:nvCxnSpPr>
        <p:spPr bwMode="auto">
          <a:xfrm rot="10800000">
            <a:off x="5203826" y="4481514"/>
            <a:ext cx="1711325" cy="1587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  <a:headEnd/>
            <a:tailEnd/>
          </a:ln>
        </p:spPr>
      </p:cxnSp>
      <p:pic>
        <p:nvPicPr>
          <p:cNvPr id="12312" name="图片 11" descr="asdf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59625" y="5410200"/>
            <a:ext cx="6159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313" name="直接连接符 21"/>
          <p:cNvCxnSpPr>
            <a:cxnSpLocks noChangeShapeType="1"/>
          </p:cNvCxnSpPr>
          <p:nvPr/>
        </p:nvCxnSpPr>
        <p:spPr bwMode="auto">
          <a:xfrm rot="16200000" flipV="1">
            <a:off x="4305301" y="5059363"/>
            <a:ext cx="690562" cy="11113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12314" name="直接连接符 21"/>
          <p:cNvCxnSpPr>
            <a:cxnSpLocks noChangeShapeType="1"/>
          </p:cNvCxnSpPr>
          <p:nvPr/>
        </p:nvCxnSpPr>
        <p:spPr bwMode="auto">
          <a:xfrm rot="5400000" flipH="1" flipV="1">
            <a:off x="7125494" y="5061744"/>
            <a:ext cx="690562" cy="6350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  <a:headEnd/>
            <a:tailEnd/>
          </a:ln>
        </p:spPr>
      </p:cxnSp>
      <p:sp>
        <p:nvSpPr>
          <p:cNvPr id="33" name="Text Box 33"/>
          <p:cNvSpPr txBox="1">
            <a:spLocks noChangeArrowheads="1"/>
          </p:cNvSpPr>
          <p:nvPr/>
        </p:nvSpPr>
        <p:spPr bwMode="auto">
          <a:xfrm>
            <a:off x="3827464" y="3475038"/>
            <a:ext cx="661987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Ctr="1">
            <a:spAutoFit/>
          </a:bodyPr>
          <a:lstStyle/>
          <a:p>
            <a:pPr algn="ctr"/>
            <a:r>
              <a:rPr lang="zh-CN" altLang="en-US" sz="1600" b="1">
                <a:solidFill>
                  <a:schemeClr val="tx2"/>
                </a:solidFill>
                <a:cs typeface="Arial" charset="0"/>
              </a:rPr>
              <a:t>广播</a:t>
            </a:r>
            <a:endParaRPr lang="en-US" altLang="zh-CN" sz="1600" b="1">
              <a:solidFill>
                <a:schemeClr val="tx2"/>
              </a:solidFill>
              <a:cs typeface="Arial" charset="0"/>
            </a:endParaRPr>
          </a:p>
        </p:txBody>
      </p:sp>
      <p:sp>
        <p:nvSpPr>
          <p:cNvPr id="34" name="Line 80"/>
          <p:cNvSpPr>
            <a:spLocks noChangeShapeType="1"/>
          </p:cNvSpPr>
          <p:nvPr/>
        </p:nvSpPr>
        <p:spPr bwMode="auto">
          <a:xfrm rot="16200000" flipH="1">
            <a:off x="5475288" y="2844801"/>
            <a:ext cx="693738" cy="985837"/>
          </a:xfrm>
          <a:prstGeom prst="line">
            <a:avLst/>
          </a:prstGeom>
          <a:noFill/>
          <a:ln w="50800">
            <a:solidFill>
              <a:srgbClr val="0066FF"/>
            </a:solidFill>
            <a:round/>
            <a:headEnd/>
            <a:tailEnd type="stealth" w="lg" len="lg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35" name="Line 80"/>
          <p:cNvSpPr>
            <a:spLocks noChangeShapeType="1"/>
          </p:cNvSpPr>
          <p:nvPr/>
        </p:nvSpPr>
        <p:spPr bwMode="auto">
          <a:xfrm rot="16200000" flipV="1">
            <a:off x="5767389" y="3319464"/>
            <a:ext cx="693737" cy="985837"/>
          </a:xfrm>
          <a:prstGeom prst="line">
            <a:avLst/>
          </a:prstGeom>
          <a:noFill/>
          <a:ln w="50800">
            <a:solidFill>
              <a:srgbClr val="7030A0"/>
            </a:solidFill>
            <a:round/>
            <a:headEnd/>
            <a:tailEnd type="stealth" w="lg" len="lg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36" name="AutoShape 115"/>
          <p:cNvSpPr>
            <a:spLocks noChangeArrowheads="1"/>
          </p:cNvSpPr>
          <p:nvPr/>
        </p:nvSpPr>
        <p:spPr bwMode="auto">
          <a:xfrm>
            <a:off x="6753225" y="2406651"/>
            <a:ext cx="2763838" cy="657225"/>
          </a:xfrm>
          <a:prstGeom prst="wedgeRoundRectCallout">
            <a:avLst>
              <a:gd name="adj1" fmla="val -70907"/>
              <a:gd name="adj2" fmla="val 154347"/>
              <a:gd name="adj3" fmla="val 16667"/>
            </a:avLst>
          </a:prstGeom>
          <a:gradFill rotWithShape="1">
            <a:gsLst>
              <a:gs pos="0">
                <a:schemeClr val="bg1"/>
              </a:gs>
              <a:gs pos="100000">
                <a:srgbClr val="FFFF00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b="1">
                <a:solidFill>
                  <a:schemeClr val="tx2"/>
                </a:solidFill>
                <a:ea typeface="楷体_GB2312" pitchFamily="49" charset="-122"/>
              </a:rPr>
              <a:t>SW2</a:t>
            </a:r>
            <a:r>
              <a:rPr lang="zh-CN" altLang="en-US" b="1">
                <a:solidFill>
                  <a:schemeClr val="tx2"/>
                </a:solidFill>
                <a:ea typeface="楷体_GB2312" pitchFamily="49" charset="-122"/>
              </a:rPr>
              <a:t>和</a:t>
            </a:r>
            <a:r>
              <a:rPr lang="en-US" altLang="zh-CN" b="1">
                <a:solidFill>
                  <a:schemeClr val="tx2"/>
                </a:solidFill>
                <a:ea typeface="楷体_GB2312" pitchFamily="49" charset="-122"/>
              </a:rPr>
              <a:t>SW3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从所有非接收端口转发广播</a:t>
            </a:r>
          </a:p>
        </p:txBody>
      </p:sp>
      <p:sp>
        <p:nvSpPr>
          <p:cNvPr id="37" name="Line 80"/>
          <p:cNvSpPr>
            <a:spLocks noChangeShapeType="1"/>
          </p:cNvSpPr>
          <p:nvPr/>
        </p:nvSpPr>
        <p:spPr bwMode="auto">
          <a:xfrm rot="5400000" flipV="1">
            <a:off x="7414420" y="5031582"/>
            <a:ext cx="503237" cy="0"/>
          </a:xfrm>
          <a:prstGeom prst="line">
            <a:avLst/>
          </a:prstGeom>
          <a:noFill/>
          <a:ln w="50800">
            <a:solidFill>
              <a:srgbClr val="7030A0"/>
            </a:solidFill>
            <a:round/>
            <a:headEnd/>
            <a:tailEnd type="stealth" w="lg" len="lg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38" name="Line 80"/>
          <p:cNvSpPr>
            <a:spLocks noChangeShapeType="1"/>
          </p:cNvSpPr>
          <p:nvPr/>
        </p:nvSpPr>
        <p:spPr bwMode="auto">
          <a:xfrm flipH="1">
            <a:off x="5584826" y="4341813"/>
            <a:ext cx="936625" cy="0"/>
          </a:xfrm>
          <a:prstGeom prst="line">
            <a:avLst/>
          </a:prstGeom>
          <a:noFill/>
          <a:ln w="50800">
            <a:solidFill>
              <a:srgbClr val="0066FF"/>
            </a:solidFill>
            <a:round/>
            <a:headEnd/>
            <a:tailEnd type="stealth" w="lg" len="lg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39" name="Line 80"/>
          <p:cNvSpPr>
            <a:spLocks noChangeShapeType="1"/>
          </p:cNvSpPr>
          <p:nvPr/>
        </p:nvSpPr>
        <p:spPr bwMode="auto">
          <a:xfrm rot="5400000" flipV="1">
            <a:off x="4457701" y="3606801"/>
            <a:ext cx="720725" cy="0"/>
          </a:xfrm>
          <a:prstGeom prst="line">
            <a:avLst/>
          </a:prstGeom>
          <a:noFill/>
          <a:ln w="50800">
            <a:solidFill>
              <a:srgbClr val="7030A0"/>
            </a:solidFill>
            <a:round/>
            <a:headEnd/>
            <a:tailEnd type="stealth" w="lg" len="lg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40" name="Freeform 196"/>
          <p:cNvSpPr>
            <a:spLocks/>
          </p:cNvSpPr>
          <p:nvPr/>
        </p:nvSpPr>
        <p:spPr bwMode="auto">
          <a:xfrm>
            <a:off x="4743451" y="3063876"/>
            <a:ext cx="2155825" cy="1350963"/>
          </a:xfrm>
          <a:custGeom>
            <a:avLst/>
            <a:gdLst>
              <a:gd name="T0" fmla="*/ 2147483647 w 1066"/>
              <a:gd name="T1" fmla="*/ 0 h 531"/>
              <a:gd name="T2" fmla="*/ 2147483647 w 1066"/>
              <a:gd name="T3" fmla="*/ 2147483647 h 531"/>
              <a:gd name="T4" fmla="*/ 2147483647 w 1066"/>
              <a:gd name="T5" fmla="*/ 2147483647 h 531"/>
              <a:gd name="T6" fmla="*/ 2147483647 w 1066"/>
              <a:gd name="T7" fmla="*/ 2147483647 h 531"/>
              <a:gd name="T8" fmla="*/ 2147483647 w 1066"/>
              <a:gd name="T9" fmla="*/ 2147483647 h 53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66"/>
              <a:gd name="T16" fmla="*/ 0 h 531"/>
              <a:gd name="T17" fmla="*/ 1066 w 1066"/>
              <a:gd name="T18" fmla="*/ 531 h 53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66" h="531">
                <a:moveTo>
                  <a:pt x="61" y="0"/>
                </a:moveTo>
                <a:cubicBezTo>
                  <a:pt x="0" y="110"/>
                  <a:pt x="15" y="414"/>
                  <a:pt x="136" y="467"/>
                </a:cubicBezTo>
                <a:cubicBezTo>
                  <a:pt x="193" y="531"/>
                  <a:pt x="524" y="523"/>
                  <a:pt x="671" y="513"/>
                </a:cubicBezTo>
                <a:cubicBezTo>
                  <a:pt x="818" y="503"/>
                  <a:pt x="1066" y="490"/>
                  <a:pt x="1018" y="405"/>
                </a:cubicBezTo>
                <a:cubicBezTo>
                  <a:pt x="970" y="320"/>
                  <a:pt x="464" y="54"/>
                  <a:pt x="381" y="1"/>
                </a:cubicBezTo>
              </a:path>
            </a:pathLst>
          </a:custGeom>
          <a:noFill/>
          <a:ln w="50800">
            <a:solidFill>
              <a:srgbClr val="7030A0"/>
            </a:solidFill>
            <a:round/>
            <a:headEnd/>
            <a:tailEnd type="triangle" w="lg" len="lg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41" name="Freeform 197"/>
          <p:cNvSpPr>
            <a:spLocks/>
          </p:cNvSpPr>
          <p:nvPr/>
        </p:nvSpPr>
        <p:spPr bwMode="auto">
          <a:xfrm>
            <a:off x="4379913" y="2808289"/>
            <a:ext cx="2698750" cy="1812925"/>
          </a:xfrm>
          <a:custGeom>
            <a:avLst/>
            <a:gdLst>
              <a:gd name="T0" fmla="*/ 2147483647 w 1386"/>
              <a:gd name="T1" fmla="*/ 0 h 655"/>
              <a:gd name="T2" fmla="*/ 2147483647 w 1386"/>
              <a:gd name="T3" fmla="*/ 2147483647 h 655"/>
              <a:gd name="T4" fmla="*/ 2147483647 w 1386"/>
              <a:gd name="T5" fmla="*/ 2147483647 h 655"/>
              <a:gd name="T6" fmla="*/ 2147483647 w 1386"/>
              <a:gd name="T7" fmla="*/ 2147483647 h 655"/>
              <a:gd name="T8" fmla="*/ 2147483647 w 1386"/>
              <a:gd name="T9" fmla="*/ 2147483647 h 655"/>
              <a:gd name="T10" fmla="*/ 2147483647 w 1386"/>
              <a:gd name="T11" fmla="*/ 2147483647 h 65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86"/>
              <a:gd name="T19" fmla="*/ 0 h 655"/>
              <a:gd name="T20" fmla="*/ 1386 w 1386"/>
              <a:gd name="T21" fmla="*/ 655 h 65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86" h="655">
                <a:moveTo>
                  <a:pt x="642" y="0"/>
                </a:moveTo>
                <a:cubicBezTo>
                  <a:pt x="711" y="33"/>
                  <a:pt x="1031" y="158"/>
                  <a:pt x="1153" y="230"/>
                </a:cubicBezTo>
                <a:cubicBezTo>
                  <a:pt x="1275" y="302"/>
                  <a:pt x="1386" y="368"/>
                  <a:pt x="1375" y="433"/>
                </a:cubicBezTo>
                <a:cubicBezTo>
                  <a:pt x="1364" y="498"/>
                  <a:pt x="1288" y="598"/>
                  <a:pt x="1088" y="621"/>
                </a:cubicBezTo>
                <a:cubicBezTo>
                  <a:pt x="888" y="644"/>
                  <a:pt x="348" y="655"/>
                  <a:pt x="174" y="569"/>
                </a:cubicBezTo>
                <a:cubicBezTo>
                  <a:pt x="0" y="483"/>
                  <a:pt x="58" y="170"/>
                  <a:pt x="43" y="102"/>
                </a:cubicBezTo>
              </a:path>
            </a:pathLst>
          </a:custGeom>
          <a:noFill/>
          <a:ln w="50800">
            <a:solidFill>
              <a:srgbClr val="0066FF"/>
            </a:solidFill>
            <a:round/>
            <a:headEnd/>
            <a:tailEnd type="triangle" w="lg" len="lg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42" name="AutoShape 115"/>
          <p:cNvSpPr>
            <a:spLocks noChangeArrowheads="1"/>
          </p:cNvSpPr>
          <p:nvPr/>
        </p:nvSpPr>
        <p:spPr bwMode="auto">
          <a:xfrm>
            <a:off x="6972300" y="2333626"/>
            <a:ext cx="2471738" cy="474663"/>
          </a:xfrm>
          <a:prstGeom prst="wedgeRoundRectCallout">
            <a:avLst>
              <a:gd name="adj1" fmla="val -72866"/>
              <a:gd name="adj2" fmla="val 201838"/>
              <a:gd name="adj3" fmla="val 16667"/>
            </a:avLst>
          </a:prstGeom>
          <a:gradFill rotWithShape="1">
            <a:gsLst>
              <a:gs pos="0">
                <a:schemeClr val="bg1"/>
              </a:gs>
              <a:gs pos="100000">
                <a:srgbClr val="FFFF00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anchor="ctr" anchorCtr="1"/>
          <a:lstStyle/>
          <a:p>
            <a:pPr algn="ctr"/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最终形成广播风暴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9" grpId="0" animBg="1"/>
      <p:bldP spid="20" grpId="0" animBg="1"/>
      <p:bldP spid="20" grpId="1" animBg="1"/>
      <p:bldP spid="21" grpId="0" animBg="1"/>
      <p:bldP spid="21" grpId="1" animBg="1"/>
      <p:bldP spid="33" grpId="0"/>
      <p:bldP spid="33" grpId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1" grpId="0" animBg="1"/>
      <p:bldP spid="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2143125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STP</a:t>
            </a:r>
            <a:r>
              <a:rPr lang="zh-CN" altLang="en-US"/>
              <a:t>简介</a:t>
            </a:r>
          </a:p>
          <a:p>
            <a:pPr lvl="1">
              <a:spcBef>
                <a:spcPts val="475"/>
              </a:spcBef>
            </a:pPr>
            <a:r>
              <a:rPr lang="en-US" altLang="zh-CN"/>
              <a:t>STP </a:t>
            </a:r>
            <a:r>
              <a:rPr lang="zh-CN" altLang="en-US"/>
              <a:t>－ </a:t>
            </a:r>
            <a:r>
              <a:rPr lang="en-US" altLang="zh-CN"/>
              <a:t>Spanning Tree Protocol(</a:t>
            </a:r>
            <a:r>
              <a:rPr lang="zh-CN" altLang="en-US"/>
              <a:t>生成树协议</a:t>
            </a:r>
            <a:r>
              <a:rPr lang="en-US" altLang="zh-CN"/>
              <a:t>)</a:t>
            </a:r>
          </a:p>
          <a:p>
            <a:pPr lvl="2">
              <a:spcBef>
                <a:spcPct val="0"/>
              </a:spcBef>
            </a:pPr>
            <a:r>
              <a:rPr lang="zh-CN" altLang="en-US"/>
              <a:t>逻辑上断开环路，防止广播风暴的产生</a:t>
            </a:r>
          </a:p>
          <a:p>
            <a:pPr lvl="2">
              <a:spcBef>
                <a:spcPct val="0"/>
              </a:spcBef>
            </a:pPr>
            <a:r>
              <a:rPr lang="zh-CN" altLang="en-US"/>
              <a:t>当线路故障，阻塞接口被激活，恢复通信，起备份线路的作用</a:t>
            </a:r>
          </a:p>
          <a:p>
            <a:pPr lvl="1">
              <a:spcBef>
                <a:spcPts val="475"/>
              </a:spcBef>
            </a:pPr>
            <a:endParaRPr lang="zh-CN" altLang="en-US"/>
          </a:p>
          <a:p>
            <a:pPr lvl="1">
              <a:spcBef>
                <a:spcPts val="475"/>
              </a:spcBef>
            </a:pPr>
            <a:endParaRPr lang="zh-CN" altLang="en-US"/>
          </a:p>
        </p:txBody>
      </p:sp>
      <p:sp>
        <p:nvSpPr>
          <p:cNvPr id="1331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STP</a:t>
            </a:r>
            <a:r>
              <a:rPr lang="zh-CN" altLang="en-US"/>
              <a:t>概述</a:t>
            </a:r>
            <a:r>
              <a:rPr lang="en-US" altLang="zh-CN"/>
              <a:t>2-2</a:t>
            </a:r>
            <a:endParaRPr lang="zh-CN" altLang="en-US"/>
          </a:p>
        </p:txBody>
      </p:sp>
      <p:sp>
        <p:nvSpPr>
          <p:cNvPr id="4" name="Line 80"/>
          <p:cNvSpPr>
            <a:spLocks noChangeShapeType="1"/>
          </p:cNvSpPr>
          <p:nvPr/>
        </p:nvSpPr>
        <p:spPr bwMode="auto">
          <a:xfrm>
            <a:off x="5548314" y="5473700"/>
            <a:ext cx="1241425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</p:spPr>
        <p:txBody>
          <a:bodyPr anchor="b"/>
          <a:lstStyle/>
          <a:p>
            <a:endParaRPr lang="zh-CN" altLang="en-US"/>
          </a:p>
        </p:txBody>
      </p:sp>
      <p:grpSp>
        <p:nvGrpSpPr>
          <p:cNvPr id="3" name="组合 111"/>
          <p:cNvGrpSpPr>
            <a:grpSpLocks/>
          </p:cNvGrpSpPr>
          <p:nvPr/>
        </p:nvGrpSpPr>
        <p:grpSpPr bwMode="auto">
          <a:xfrm>
            <a:off x="4197351" y="3246437"/>
            <a:ext cx="1116013" cy="523587"/>
            <a:chOff x="7310475" y="1639863"/>
            <a:chExt cx="838200" cy="392791"/>
          </a:xfrm>
        </p:grpSpPr>
        <p:pic>
          <p:nvPicPr>
            <p:cNvPr id="13331" name="Picture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310475" y="1639863"/>
              <a:ext cx="838200" cy="358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32" name="Text Box 33"/>
            <p:cNvSpPr txBox="1">
              <a:spLocks noChangeArrowheads="1"/>
            </p:cNvSpPr>
            <p:nvPr/>
          </p:nvSpPr>
          <p:spPr bwMode="auto">
            <a:xfrm>
              <a:off x="7419283" y="1778674"/>
              <a:ext cx="472194" cy="25398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pPr algn="ctr"/>
              <a:r>
                <a:rPr lang="en-US" altLang="zh-CN" sz="1600" b="1">
                  <a:solidFill>
                    <a:schemeClr val="bg1"/>
                  </a:solidFill>
                  <a:cs typeface="Arial" charset="0"/>
                </a:rPr>
                <a:t>SW3</a:t>
              </a:r>
            </a:p>
          </p:txBody>
        </p:sp>
      </p:grpSp>
      <p:cxnSp>
        <p:nvCxnSpPr>
          <p:cNvPr id="13318" name="直接连接符 21"/>
          <p:cNvCxnSpPr>
            <a:cxnSpLocks noChangeShapeType="1"/>
          </p:cNvCxnSpPr>
          <p:nvPr/>
        </p:nvCxnSpPr>
        <p:spPr bwMode="auto">
          <a:xfrm>
            <a:off x="5313364" y="3484564"/>
            <a:ext cx="2270125" cy="1550987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  <a:headEnd/>
            <a:tailEnd/>
          </a:ln>
        </p:spPr>
      </p:cxnSp>
      <p:grpSp>
        <p:nvGrpSpPr>
          <p:cNvPr id="5" name="组合 111"/>
          <p:cNvGrpSpPr>
            <a:grpSpLocks/>
          </p:cNvGrpSpPr>
          <p:nvPr/>
        </p:nvGrpSpPr>
        <p:grpSpPr bwMode="auto">
          <a:xfrm>
            <a:off x="7024688" y="5035551"/>
            <a:ext cx="1116012" cy="523875"/>
            <a:chOff x="7310475" y="1639863"/>
            <a:chExt cx="838200" cy="393080"/>
          </a:xfrm>
        </p:grpSpPr>
        <p:pic>
          <p:nvPicPr>
            <p:cNvPr id="13329" name="Picture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310475" y="1639863"/>
              <a:ext cx="838200" cy="358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30" name="Text Box 33"/>
            <p:cNvSpPr txBox="1">
              <a:spLocks noChangeArrowheads="1"/>
            </p:cNvSpPr>
            <p:nvPr/>
          </p:nvSpPr>
          <p:spPr bwMode="auto">
            <a:xfrm>
              <a:off x="7392761" y="1778676"/>
              <a:ext cx="472278" cy="25426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pPr algn="ctr"/>
              <a:r>
                <a:rPr lang="en-US" altLang="zh-CN" sz="1600" b="1">
                  <a:solidFill>
                    <a:schemeClr val="bg1"/>
                  </a:solidFill>
                  <a:cs typeface="Arial" charset="0"/>
                </a:rPr>
                <a:t>SW2</a:t>
              </a:r>
            </a:p>
          </p:txBody>
        </p:sp>
      </p:grpSp>
      <p:grpSp>
        <p:nvGrpSpPr>
          <p:cNvPr id="6" name="组合 111"/>
          <p:cNvGrpSpPr>
            <a:grpSpLocks/>
          </p:cNvGrpSpPr>
          <p:nvPr/>
        </p:nvGrpSpPr>
        <p:grpSpPr bwMode="auto">
          <a:xfrm>
            <a:off x="4197351" y="5035551"/>
            <a:ext cx="1116013" cy="523875"/>
            <a:chOff x="7310475" y="1639863"/>
            <a:chExt cx="838200" cy="393080"/>
          </a:xfrm>
        </p:grpSpPr>
        <p:pic>
          <p:nvPicPr>
            <p:cNvPr id="13327" name="Picture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310475" y="1639863"/>
              <a:ext cx="838200" cy="358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28" name="Text Box 33"/>
            <p:cNvSpPr txBox="1">
              <a:spLocks noChangeArrowheads="1"/>
            </p:cNvSpPr>
            <p:nvPr/>
          </p:nvSpPr>
          <p:spPr bwMode="auto">
            <a:xfrm>
              <a:off x="7392761" y="1778676"/>
              <a:ext cx="472278" cy="25426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Ctr="1">
              <a:spAutoFit/>
            </a:bodyPr>
            <a:lstStyle/>
            <a:p>
              <a:pPr algn="ctr"/>
              <a:r>
                <a:rPr lang="en-US" altLang="zh-CN" sz="1600" b="1">
                  <a:solidFill>
                    <a:schemeClr val="bg1"/>
                  </a:solidFill>
                  <a:cs typeface="Arial" charset="0"/>
                </a:rPr>
                <a:t>SW1</a:t>
              </a:r>
            </a:p>
          </p:txBody>
        </p:sp>
      </p:grpSp>
      <p:cxnSp>
        <p:nvCxnSpPr>
          <p:cNvPr id="13321" name="直接连接符 21"/>
          <p:cNvCxnSpPr>
            <a:cxnSpLocks noChangeShapeType="1"/>
          </p:cNvCxnSpPr>
          <p:nvPr/>
        </p:nvCxnSpPr>
        <p:spPr bwMode="auto">
          <a:xfrm rot="5400000">
            <a:off x="4098926" y="4379914"/>
            <a:ext cx="1312863" cy="1587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13322" name="直接连接符 21"/>
          <p:cNvCxnSpPr>
            <a:cxnSpLocks noChangeShapeType="1"/>
          </p:cNvCxnSpPr>
          <p:nvPr/>
        </p:nvCxnSpPr>
        <p:spPr bwMode="auto">
          <a:xfrm rot="10800000">
            <a:off x="5313364" y="5273675"/>
            <a:ext cx="1711325" cy="1588"/>
          </a:xfrm>
          <a:prstGeom prst="line">
            <a:avLst/>
          </a:prstGeom>
          <a:noFill/>
          <a:ln w="38100" algn="ctr">
            <a:solidFill>
              <a:schemeClr val="tx2"/>
            </a:solidFill>
            <a:round/>
            <a:headEnd/>
            <a:tailEnd/>
          </a:ln>
        </p:spPr>
      </p:cxnSp>
      <p:sp>
        <p:nvSpPr>
          <p:cNvPr id="17" name="AutoShape 154"/>
          <p:cNvSpPr>
            <a:spLocks noChangeArrowheads="1"/>
          </p:cNvSpPr>
          <p:nvPr/>
        </p:nvSpPr>
        <p:spPr bwMode="auto">
          <a:xfrm>
            <a:off x="7337425" y="4816476"/>
            <a:ext cx="330200" cy="328613"/>
          </a:xfrm>
          <a:prstGeom prst="flowChartSummingJunction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8" name="Text Box 33"/>
          <p:cNvSpPr txBox="1">
            <a:spLocks noChangeArrowheads="1"/>
          </p:cNvSpPr>
          <p:nvPr/>
        </p:nvSpPr>
        <p:spPr bwMode="auto">
          <a:xfrm>
            <a:off x="5803900" y="4597400"/>
            <a:ext cx="573088" cy="1016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Ctr="1">
            <a:spAutoFit/>
          </a:bodyPr>
          <a:lstStyle/>
          <a:p>
            <a:pPr algn="ctr"/>
            <a:r>
              <a:rPr lang="en-US" altLang="zh-CN" sz="6000" b="1">
                <a:solidFill>
                  <a:srgbClr val="FF0000"/>
                </a:solidFill>
                <a:latin typeface="方正姚体" pitchFamily="2" charset="-122"/>
                <a:ea typeface="方正姚体" pitchFamily="2" charset="-122"/>
                <a:cs typeface="Times New Roman" pitchFamily="18" charset="0"/>
              </a:rPr>
              <a:t>×</a:t>
            </a:r>
          </a:p>
        </p:txBody>
      </p:sp>
      <p:sp>
        <p:nvSpPr>
          <p:cNvPr id="19" name="Line 80"/>
          <p:cNvSpPr>
            <a:spLocks noChangeShapeType="1"/>
          </p:cNvSpPr>
          <p:nvPr/>
        </p:nvSpPr>
        <p:spPr bwMode="auto">
          <a:xfrm rot="-5400000">
            <a:off x="4142582" y="4396582"/>
            <a:ext cx="912813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20" name="Line 80"/>
          <p:cNvSpPr>
            <a:spLocks noChangeShapeType="1"/>
          </p:cNvSpPr>
          <p:nvPr/>
        </p:nvSpPr>
        <p:spPr bwMode="auto">
          <a:xfrm rot="16200000" flipH="1">
            <a:off x="6004720" y="3374232"/>
            <a:ext cx="1131887" cy="160655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</p:spPr>
        <p:txBody>
          <a:bodyPr anchor="b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17" grpId="0" animBg="1"/>
      <p:bldP spid="17" grpId="1" animBg="1"/>
      <p:bldP spid="18" grpId="0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200025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生成树算法及验证</a:t>
            </a:r>
          </a:p>
          <a:p>
            <a:pPr>
              <a:spcBef>
                <a:spcPts val="675"/>
              </a:spcBef>
            </a:pPr>
            <a:r>
              <a:rPr lang="en-US" altLang="zh-CN"/>
              <a:t>BPDU</a:t>
            </a:r>
            <a:r>
              <a:rPr lang="zh-CN" altLang="en-US"/>
              <a:t>（桥协议数据单元）</a:t>
            </a:r>
          </a:p>
          <a:p>
            <a:pPr>
              <a:spcBef>
                <a:spcPts val="675"/>
              </a:spcBef>
            </a:pPr>
            <a:r>
              <a:rPr lang="en-US" altLang="zh-CN"/>
              <a:t>STP</a:t>
            </a:r>
            <a:r>
              <a:rPr lang="zh-CN" altLang="en-US"/>
              <a:t>的收敛</a:t>
            </a:r>
          </a:p>
        </p:txBody>
      </p:sp>
      <p:sp>
        <p:nvSpPr>
          <p:cNvPr id="14339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STP</a:t>
            </a:r>
            <a:r>
              <a:rPr lang="zh-CN"/>
              <a:t>工作原理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1214438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675"/>
              </a:spcBef>
            </a:pPr>
            <a:r>
              <a:rPr lang="zh-CN" altLang="en-US"/>
              <a:t>生成树算法分为</a:t>
            </a:r>
            <a:r>
              <a:rPr lang="en-US" altLang="zh-CN"/>
              <a:t>3</a:t>
            </a:r>
            <a:r>
              <a:rPr lang="zh-CN" altLang="en-US"/>
              <a:t>个步骤：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选择根网桥（</a:t>
            </a:r>
            <a:r>
              <a:rPr lang="en-US" altLang="zh-CN"/>
              <a:t>Root Bridge</a:t>
            </a:r>
            <a:r>
              <a:rPr lang="zh-CN" altLang="en-US"/>
              <a:t>）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选择根端口（</a:t>
            </a:r>
            <a:r>
              <a:rPr lang="en-US" altLang="zh-CN"/>
              <a:t>Root Ports</a:t>
            </a:r>
            <a:r>
              <a:rPr lang="zh-CN" altLang="en-US"/>
              <a:t>）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选择指定端口（</a:t>
            </a:r>
            <a:r>
              <a:rPr lang="en-US" altLang="zh-CN"/>
              <a:t>Designated Ports</a:t>
            </a:r>
            <a:r>
              <a:rPr lang="zh-CN" altLang="en-US"/>
              <a:t>）</a:t>
            </a:r>
          </a:p>
          <a:p>
            <a:pPr lvl="1">
              <a:spcBef>
                <a:spcPts val="475"/>
              </a:spcBef>
            </a:pPr>
            <a:endParaRPr lang="zh-CN" altLang="en-US"/>
          </a:p>
        </p:txBody>
      </p:sp>
      <p:sp>
        <p:nvSpPr>
          <p:cNvPr id="1536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生成树的算法</a:t>
            </a:r>
            <a:r>
              <a:rPr lang="en-US" altLang="zh-CN"/>
              <a:t>10-1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内容占位符 1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1571625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网桥</a:t>
            </a:r>
            <a:r>
              <a:rPr lang="en-US" altLang="zh-CN"/>
              <a:t>ID</a:t>
            </a:r>
            <a:r>
              <a:rPr lang="zh-CN" altLang="en-US"/>
              <a:t>（</a:t>
            </a:r>
            <a:r>
              <a:rPr lang="en-US" altLang="zh-CN"/>
              <a:t>BID</a:t>
            </a:r>
            <a:r>
              <a:rPr lang="zh-CN" altLang="en-US"/>
              <a:t>）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网桥</a:t>
            </a:r>
            <a:r>
              <a:rPr lang="en-US" altLang="zh-CN"/>
              <a:t>ID</a:t>
            </a:r>
            <a:r>
              <a:rPr lang="zh-CN" altLang="en-US"/>
              <a:t>是唯一的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选择交换网络中网桥</a:t>
            </a:r>
            <a:r>
              <a:rPr lang="en-US" altLang="zh-CN"/>
              <a:t>ID</a:t>
            </a:r>
            <a:r>
              <a:rPr lang="zh-CN" altLang="en-US"/>
              <a:t>最小的交换机成为根网桥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16387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生成树的算法</a:t>
            </a:r>
            <a:r>
              <a:rPr lang="en-US" altLang="zh-CN"/>
              <a:t>10-2</a:t>
            </a:r>
            <a:endParaRPr lang="zh-CN" altLang="en-US"/>
          </a:p>
        </p:txBody>
      </p:sp>
      <p:sp>
        <p:nvSpPr>
          <p:cNvPr id="16388" name="Line 6"/>
          <p:cNvSpPr>
            <a:spLocks noChangeShapeType="1"/>
          </p:cNvSpPr>
          <p:nvPr/>
        </p:nvSpPr>
        <p:spPr bwMode="auto">
          <a:xfrm>
            <a:off x="3071813" y="4246563"/>
            <a:ext cx="0" cy="360362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6389" name="Line 7"/>
          <p:cNvSpPr>
            <a:spLocks noChangeShapeType="1"/>
          </p:cNvSpPr>
          <p:nvPr/>
        </p:nvSpPr>
        <p:spPr bwMode="auto">
          <a:xfrm>
            <a:off x="5357813" y="4246563"/>
            <a:ext cx="0" cy="360362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6390" name="Line 8"/>
          <p:cNvSpPr>
            <a:spLocks noChangeShapeType="1"/>
          </p:cNvSpPr>
          <p:nvPr/>
        </p:nvSpPr>
        <p:spPr bwMode="auto">
          <a:xfrm>
            <a:off x="8890000" y="4246563"/>
            <a:ext cx="0" cy="360362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6391" name="Line 9"/>
          <p:cNvSpPr>
            <a:spLocks noChangeShapeType="1"/>
          </p:cNvSpPr>
          <p:nvPr/>
        </p:nvSpPr>
        <p:spPr bwMode="auto">
          <a:xfrm flipH="1">
            <a:off x="3071813" y="4462463"/>
            <a:ext cx="431800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6392" name="Line 10"/>
          <p:cNvSpPr>
            <a:spLocks noChangeShapeType="1"/>
          </p:cNvSpPr>
          <p:nvPr/>
        </p:nvSpPr>
        <p:spPr bwMode="auto">
          <a:xfrm>
            <a:off x="4854575" y="4462463"/>
            <a:ext cx="503238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6393" name="Line 11"/>
          <p:cNvSpPr>
            <a:spLocks noChangeShapeType="1"/>
          </p:cNvSpPr>
          <p:nvPr/>
        </p:nvSpPr>
        <p:spPr bwMode="auto">
          <a:xfrm flipH="1">
            <a:off x="5357813" y="4462463"/>
            <a:ext cx="431800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6394" name="Line 12"/>
          <p:cNvSpPr>
            <a:spLocks noChangeShapeType="1"/>
          </p:cNvSpPr>
          <p:nvPr/>
        </p:nvSpPr>
        <p:spPr bwMode="auto">
          <a:xfrm>
            <a:off x="8386764" y="4462463"/>
            <a:ext cx="503237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6395" name="Text Box 13"/>
          <p:cNvSpPr txBox="1">
            <a:spLocks noChangeArrowheads="1"/>
          </p:cNvSpPr>
          <p:nvPr/>
        </p:nvSpPr>
        <p:spPr bwMode="auto">
          <a:xfrm>
            <a:off x="3721100" y="4254501"/>
            <a:ext cx="1296988" cy="4619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字节</a:t>
            </a:r>
          </a:p>
        </p:txBody>
      </p:sp>
      <p:sp>
        <p:nvSpPr>
          <p:cNvPr id="16396" name="Text Box 14"/>
          <p:cNvSpPr txBox="1">
            <a:spLocks noChangeArrowheads="1"/>
          </p:cNvSpPr>
          <p:nvPr/>
        </p:nvSpPr>
        <p:spPr bwMode="auto">
          <a:xfrm>
            <a:off x="6551614" y="4254501"/>
            <a:ext cx="1296987" cy="4619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字节</a:t>
            </a:r>
          </a:p>
        </p:txBody>
      </p:sp>
      <p:sp>
        <p:nvSpPr>
          <p:cNvPr id="16397" name="Text Box 15"/>
          <p:cNvSpPr txBox="1">
            <a:spLocks noChangeArrowheads="1"/>
          </p:cNvSpPr>
          <p:nvPr/>
        </p:nvSpPr>
        <p:spPr bwMode="auto">
          <a:xfrm>
            <a:off x="2408238" y="5005388"/>
            <a:ext cx="4445000" cy="1016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取值范围：</a:t>
            </a:r>
            <a:r>
              <a:rPr lang="en-US" altLang="zh-CN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0 </a:t>
            </a: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～ </a:t>
            </a:r>
            <a:r>
              <a:rPr lang="en-US" altLang="zh-CN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65535</a:t>
            </a:r>
          </a:p>
          <a:p>
            <a:pPr algn="ctr">
              <a:spcBef>
                <a:spcPct val="50000"/>
              </a:spcBef>
            </a:pP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缺省值：</a:t>
            </a:r>
            <a:r>
              <a:rPr lang="en-US" altLang="zh-CN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32768</a:t>
            </a:r>
          </a:p>
        </p:txBody>
      </p:sp>
      <p:grpSp>
        <p:nvGrpSpPr>
          <p:cNvPr id="2" name="组合 28"/>
          <p:cNvGrpSpPr>
            <a:grpSpLocks/>
          </p:cNvGrpSpPr>
          <p:nvPr/>
        </p:nvGrpSpPr>
        <p:grpSpPr bwMode="auto">
          <a:xfrm>
            <a:off x="3057526" y="3027363"/>
            <a:ext cx="5832475" cy="1200150"/>
            <a:chOff x="1908175" y="3513138"/>
            <a:chExt cx="5832475" cy="1200329"/>
          </a:xfrm>
        </p:grpSpPr>
        <p:sp>
          <p:nvSpPr>
            <p:cNvPr id="16401" name="Text Box 4"/>
            <p:cNvSpPr txBox="1">
              <a:spLocks noChangeArrowheads="1"/>
            </p:cNvSpPr>
            <p:nvPr/>
          </p:nvSpPr>
          <p:spPr bwMode="auto">
            <a:xfrm>
              <a:off x="1908175" y="3513138"/>
              <a:ext cx="2305050" cy="1200329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</a:p>
            <a:p>
              <a:pPr algn="ctr">
                <a:spcBef>
                  <a:spcPct val="50000"/>
                </a:spcBef>
              </a:pPr>
              <a:endPara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6402" name="Text Box 5"/>
            <p:cNvSpPr txBox="1">
              <a:spLocks noChangeArrowheads="1"/>
            </p:cNvSpPr>
            <p:nvPr/>
          </p:nvSpPr>
          <p:spPr bwMode="auto">
            <a:xfrm>
              <a:off x="4211638" y="3513138"/>
              <a:ext cx="3529012" cy="1200329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</a:p>
            <a:p>
              <a:pPr algn="ctr">
                <a:spcBef>
                  <a:spcPct val="50000"/>
                </a:spcBef>
              </a:pPr>
              <a:endPara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16399" name="Text Box 15"/>
          <p:cNvSpPr txBox="1">
            <a:spLocks noChangeArrowheads="1"/>
          </p:cNvSpPr>
          <p:nvPr/>
        </p:nvSpPr>
        <p:spPr bwMode="auto">
          <a:xfrm>
            <a:off x="3284538" y="3392488"/>
            <a:ext cx="1846262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网桥优先级</a:t>
            </a:r>
            <a:endParaRPr lang="en-US" altLang="zh-CN" sz="24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400" name="Text Box 15"/>
          <p:cNvSpPr txBox="1">
            <a:spLocks noChangeArrowheads="1"/>
          </p:cNvSpPr>
          <p:nvPr/>
        </p:nvSpPr>
        <p:spPr bwMode="auto">
          <a:xfrm>
            <a:off x="6034089" y="3392489"/>
            <a:ext cx="2211387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网桥的</a:t>
            </a:r>
            <a:r>
              <a:rPr lang="en-US" altLang="zh-CN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MAC</a:t>
            </a: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地址</a:t>
            </a:r>
            <a:endParaRPr lang="en-US" altLang="zh-CN" sz="24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2071688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以此拓扑为例，介绍</a:t>
            </a:r>
            <a:r>
              <a:rPr lang="en-US" altLang="zh-CN"/>
              <a:t>STP</a:t>
            </a:r>
            <a:r>
              <a:rPr lang="zh-CN" altLang="en-US"/>
              <a:t>的计算过程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根据网桥</a:t>
            </a:r>
            <a:r>
              <a:rPr lang="en-US" altLang="zh-CN"/>
              <a:t>ID</a:t>
            </a:r>
            <a:r>
              <a:rPr lang="zh-CN" altLang="en-US"/>
              <a:t>选择根网桥</a:t>
            </a:r>
          </a:p>
          <a:p>
            <a:pPr lvl="1">
              <a:spcBef>
                <a:spcPts val="4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17411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生成树的算法</a:t>
            </a:r>
            <a:r>
              <a:rPr lang="en-US" altLang="zh-CN"/>
              <a:t>10-3</a:t>
            </a:r>
            <a:endParaRPr lang="zh-CN" altLang="en-US"/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5183189" y="4967289"/>
            <a:ext cx="1614487" cy="657225"/>
            <a:chOff x="1837" y="1706"/>
            <a:chExt cx="816" cy="392"/>
          </a:xfrm>
        </p:grpSpPr>
        <p:pic>
          <p:nvPicPr>
            <p:cNvPr id="17429" name="Picture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Text Box 12"/>
            <p:cNvSpPr txBox="1">
              <a:spLocks noChangeArrowheads="1"/>
            </p:cNvSpPr>
            <p:nvPr/>
          </p:nvSpPr>
          <p:spPr bwMode="auto">
            <a:xfrm>
              <a:off x="1891" y="1878"/>
              <a:ext cx="544" cy="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b="1" dirty="0">
                  <a:solidFill>
                    <a:schemeClr val="accent3"/>
                  </a:solidFill>
                  <a:ea typeface="宋体" pitchFamily="2" charset="-122"/>
                  <a:cs typeface="Arial" charset="0"/>
                </a:rPr>
                <a:t>SW2</a:t>
              </a:r>
            </a:p>
          </p:txBody>
        </p:sp>
      </p:grpSp>
      <p:sp>
        <p:nvSpPr>
          <p:cNvPr id="7" name="Text Box 22"/>
          <p:cNvSpPr txBox="1">
            <a:spLocks noChangeArrowheads="1"/>
          </p:cNvSpPr>
          <p:nvPr/>
        </p:nvSpPr>
        <p:spPr bwMode="auto">
          <a:xfrm>
            <a:off x="4598989" y="5576889"/>
            <a:ext cx="2160587" cy="923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优先级：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4096</a:t>
            </a:r>
            <a:b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</a:b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MAC</a:t>
            </a: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地址： 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000d.2800.b100</a:t>
            </a:r>
          </a:p>
        </p:txBody>
      </p:sp>
      <p:sp>
        <p:nvSpPr>
          <p:cNvPr id="17414" name="Text Box 23"/>
          <p:cNvSpPr txBox="1">
            <a:spLocks noChangeArrowheads="1"/>
          </p:cNvSpPr>
          <p:nvPr/>
        </p:nvSpPr>
        <p:spPr bwMode="auto">
          <a:xfrm>
            <a:off x="7629525" y="5576889"/>
            <a:ext cx="2160588" cy="923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优先级：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32768</a:t>
            </a:r>
            <a:b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</a:b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MAC</a:t>
            </a: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地址： 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000d.2800.b101</a:t>
            </a:r>
          </a:p>
        </p:txBody>
      </p:sp>
      <p:sp>
        <p:nvSpPr>
          <p:cNvPr id="17415" name="Text Box 24"/>
          <p:cNvSpPr txBox="1">
            <a:spLocks noChangeArrowheads="1"/>
          </p:cNvSpPr>
          <p:nvPr/>
        </p:nvSpPr>
        <p:spPr bwMode="auto">
          <a:xfrm>
            <a:off x="6680201" y="1962151"/>
            <a:ext cx="2373313" cy="923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优先级：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32768</a:t>
            </a:r>
            <a:b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</a:b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MAC</a:t>
            </a: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地址： 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000d.2800.b102</a:t>
            </a:r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8359775" y="4967289"/>
            <a:ext cx="1614488" cy="657225"/>
            <a:chOff x="1837" y="1706"/>
            <a:chExt cx="816" cy="392"/>
          </a:xfrm>
        </p:grpSpPr>
        <p:pic>
          <p:nvPicPr>
            <p:cNvPr id="17427" name="Picture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1891" y="1878"/>
              <a:ext cx="544" cy="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b="1" dirty="0">
                  <a:solidFill>
                    <a:schemeClr val="accent3"/>
                  </a:solidFill>
                  <a:ea typeface="宋体" pitchFamily="2" charset="-122"/>
                  <a:cs typeface="Arial" charset="0"/>
                </a:rPr>
                <a:t>SW3</a:t>
              </a:r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5183189" y="2338389"/>
            <a:ext cx="1614487" cy="657225"/>
            <a:chOff x="1837" y="1706"/>
            <a:chExt cx="816" cy="392"/>
          </a:xfrm>
        </p:grpSpPr>
        <p:pic>
          <p:nvPicPr>
            <p:cNvPr id="17425" name="Picture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1891" y="1878"/>
              <a:ext cx="544" cy="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b="1" dirty="0">
                  <a:solidFill>
                    <a:schemeClr val="accent3"/>
                  </a:solidFill>
                  <a:ea typeface="宋体" pitchFamily="2" charset="-122"/>
                  <a:cs typeface="Arial" charset="0"/>
                </a:rPr>
                <a:t>SW1</a:t>
              </a:r>
            </a:p>
          </p:txBody>
        </p:sp>
      </p:grpSp>
      <p:cxnSp>
        <p:nvCxnSpPr>
          <p:cNvPr id="17418" name="直接连接符 21"/>
          <p:cNvCxnSpPr>
            <a:cxnSpLocks noChangeShapeType="1"/>
          </p:cNvCxnSpPr>
          <p:nvPr/>
        </p:nvCxnSpPr>
        <p:spPr bwMode="auto">
          <a:xfrm rot="5400000">
            <a:off x="4979195" y="3956845"/>
            <a:ext cx="2022475" cy="1587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17419" name="直接连接符 21"/>
          <p:cNvCxnSpPr>
            <a:cxnSpLocks noChangeShapeType="1"/>
          </p:cNvCxnSpPr>
          <p:nvPr/>
        </p:nvCxnSpPr>
        <p:spPr bwMode="auto">
          <a:xfrm>
            <a:off x="6680201" y="2703514"/>
            <a:ext cx="2487613" cy="2263775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17420" name="直接连接符 21"/>
          <p:cNvCxnSpPr>
            <a:cxnSpLocks noChangeShapeType="1"/>
          </p:cNvCxnSpPr>
          <p:nvPr/>
        </p:nvCxnSpPr>
        <p:spPr bwMode="auto">
          <a:xfrm>
            <a:off x="6797675" y="5270500"/>
            <a:ext cx="1562100" cy="1588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sp>
        <p:nvSpPr>
          <p:cNvPr id="19" name="Text Box 26"/>
          <p:cNvSpPr txBox="1">
            <a:spLocks noChangeArrowheads="1"/>
          </p:cNvSpPr>
          <p:nvPr/>
        </p:nvSpPr>
        <p:spPr bwMode="auto">
          <a:xfrm>
            <a:off x="4452939" y="4478339"/>
            <a:ext cx="1296987" cy="7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FF0000"/>
                </a:solidFill>
              </a:rPr>
              <a:t>Root Bridge</a:t>
            </a:r>
          </a:p>
        </p:txBody>
      </p:sp>
      <p:sp>
        <p:nvSpPr>
          <p:cNvPr id="17422" name="Text Box 23"/>
          <p:cNvSpPr txBox="1">
            <a:spLocks noChangeArrowheads="1"/>
          </p:cNvSpPr>
          <p:nvPr/>
        </p:nvSpPr>
        <p:spPr bwMode="auto">
          <a:xfrm>
            <a:off x="7081838" y="5222876"/>
            <a:ext cx="1223962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100M</a:t>
            </a:r>
          </a:p>
        </p:txBody>
      </p:sp>
      <p:sp>
        <p:nvSpPr>
          <p:cNvPr id="17423" name="Text Box 23"/>
          <p:cNvSpPr txBox="1">
            <a:spLocks noChangeArrowheads="1"/>
          </p:cNvSpPr>
          <p:nvPr/>
        </p:nvSpPr>
        <p:spPr bwMode="auto">
          <a:xfrm>
            <a:off x="7958138" y="3543301"/>
            <a:ext cx="1223962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100M</a:t>
            </a:r>
          </a:p>
        </p:txBody>
      </p:sp>
      <p:sp>
        <p:nvSpPr>
          <p:cNvPr id="17424" name="Text Box 23"/>
          <p:cNvSpPr txBox="1">
            <a:spLocks noChangeArrowheads="1"/>
          </p:cNvSpPr>
          <p:nvPr/>
        </p:nvSpPr>
        <p:spPr bwMode="auto">
          <a:xfrm>
            <a:off x="5256213" y="3725863"/>
            <a:ext cx="1223962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100M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33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选择根端口的依据：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到根网桥最低的根路径成本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直连的网桥</a:t>
            </a:r>
            <a:r>
              <a:rPr lang="en-US" altLang="zh-CN"/>
              <a:t>ID</a:t>
            </a:r>
            <a:r>
              <a:rPr lang="zh-CN" altLang="en-US"/>
              <a:t>最小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端口</a:t>
            </a:r>
            <a:r>
              <a:rPr lang="en-US" altLang="zh-CN"/>
              <a:t>ID</a:t>
            </a:r>
            <a:r>
              <a:rPr lang="zh-CN" altLang="en-US"/>
              <a:t>最小</a:t>
            </a: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根路径成本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网桥到根网桥的路径上所有链路的成本之和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1843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生成树的算法</a:t>
            </a:r>
            <a:r>
              <a:rPr lang="en-US" altLang="zh-CN"/>
              <a:t>10-4</a:t>
            </a:r>
            <a:endParaRPr lang="zh-CN" altLang="en-US"/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5219701" y="5038726"/>
            <a:ext cx="1350963" cy="549275"/>
            <a:chOff x="1837" y="1706"/>
            <a:chExt cx="816" cy="392"/>
          </a:xfrm>
        </p:grpSpPr>
        <p:pic>
          <p:nvPicPr>
            <p:cNvPr id="18449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50" name="Text Box 12"/>
            <p:cNvSpPr txBox="1">
              <a:spLocks noChangeArrowheads="1"/>
            </p:cNvSpPr>
            <p:nvPr/>
          </p:nvSpPr>
          <p:spPr bwMode="auto">
            <a:xfrm>
              <a:off x="1891" y="1834"/>
              <a:ext cx="544" cy="26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SW2</a:t>
              </a: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7885113" y="5038726"/>
            <a:ext cx="1350962" cy="549275"/>
            <a:chOff x="1837" y="1706"/>
            <a:chExt cx="816" cy="392"/>
          </a:xfrm>
        </p:grpSpPr>
        <p:pic>
          <p:nvPicPr>
            <p:cNvPr id="18447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48" name="Text Box 12"/>
            <p:cNvSpPr txBox="1">
              <a:spLocks noChangeArrowheads="1"/>
            </p:cNvSpPr>
            <p:nvPr/>
          </p:nvSpPr>
          <p:spPr bwMode="auto">
            <a:xfrm>
              <a:off x="1891" y="1834"/>
              <a:ext cx="544" cy="26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SW3</a:t>
              </a:r>
            </a:p>
          </p:txBody>
        </p:sp>
      </p:grpSp>
      <p:cxnSp>
        <p:nvCxnSpPr>
          <p:cNvPr id="18438" name="直接连接符 21"/>
          <p:cNvCxnSpPr>
            <a:cxnSpLocks noChangeShapeType="1"/>
          </p:cNvCxnSpPr>
          <p:nvPr/>
        </p:nvCxnSpPr>
        <p:spPr bwMode="auto">
          <a:xfrm>
            <a:off x="6570663" y="5292725"/>
            <a:ext cx="1314450" cy="1588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2627313" y="5038726"/>
            <a:ext cx="1350962" cy="549275"/>
            <a:chOff x="1837" y="1706"/>
            <a:chExt cx="816" cy="392"/>
          </a:xfrm>
        </p:grpSpPr>
        <p:pic>
          <p:nvPicPr>
            <p:cNvPr id="18445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46" name="Text Box 12"/>
            <p:cNvSpPr txBox="1">
              <a:spLocks noChangeArrowheads="1"/>
            </p:cNvSpPr>
            <p:nvPr/>
          </p:nvSpPr>
          <p:spPr bwMode="auto">
            <a:xfrm>
              <a:off x="1891" y="1834"/>
              <a:ext cx="544" cy="26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SW1</a:t>
              </a:r>
            </a:p>
          </p:txBody>
        </p:sp>
      </p:grpSp>
      <p:cxnSp>
        <p:nvCxnSpPr>
          <p:cNvPr id="18440" name="直接连接符 21"/>
          <p:cNvCxnSpPr>
            <a:cxnSpLocks noChangeShapeType="1"/>
          </p:cNvCxnSpPr>
          <p:nvPr/>
        </p:nvCxnSpPr>
        <p:spPr bwMode="auto">
          <a:xfrm>
            <a:off x="3978276" y="5292725"/>
            <a:ext cx="1241425" cy="1588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3905250" y="4775200"/>
            <a:ext cx="1727200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C6B0FE">
                <a:gamma/>
                <a:shade val="60000"/>
                <a:invGamma/>
              </a:srgbClr>
            </a:prst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1600" b="1" dirty="0">
                <a:solidFill>
                  <a:schemeClr val="tx2"/>
                </a:solidFill>
                <a:latin typeface="+mn-ea"/>
                <a:cs typeface="Times New Roman" pitchFamily="18" charset="0"/>
              </a:rPr>
              <a:t>路径成本：</a:t>
            </a:r>
            <a:r>
              <a:rPr lang="en-US" altLang="zh-CN" sz="1600" b="1" dirty="0">
                <a:solidFill>
                  <a:schemeClr val="tx2"/>
                </a:solidFill>
                <a:latin typeface="+mn-ea"/>
                <a:cs typeface="Times New Roman" pitchFamily="18" charset="0"/>
              </a:rPr>
              <a:t>19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6450013" y="4773614"/>
            <a:ext cx="1727200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C6B0FE">
                <a:gamma/>
                <a:shade val="60000"/>
                <a:invGamma/>
              </a:srgbClr>
            </a:prst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1600" b="1" dirty="0">
                <a:solidFill>
                  <a:schemeClr val="tx2"/>
                </a:solidFill>
                <a:latin typeface="+mn-ea"/>
                <a:cs typeface="Times New Roman" pitchFamily="18" charset="0"/>
              </a:rPr>
              <a:t>路径成本：</a:t>
            </a:r>
            <a:r>
              <a:rPr lang="en-US" altLang="zh-CN" sz="1600" b="1" dirty="0">
                <a:solidFill>
                  <a:schemeClr val="tx2"/>
                </a:solidFill>
                <a:latin typeface="+mn-ea"/>
                <a:cs typeface="Times New Roman" pitchFamily="18" charset="0"/>
              </a:rPr>
              <a:t>100</a:t>
            </a:r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4233864" y="5768976"/>
            <a:ext cx="5038725" cy="517525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tIns="118800" bIns="118800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SW3</a:t>
            </a:r>
            <a:r>
              <a:rPr lang="zh-CN" altLang="en-US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的</a:t>
            </a:r>
            <a:r>
              <a:rPr lang="en-US" altLang="zh-CN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Port 1</a:t>
            </a:r>
            <a:r>
              <a:rPr lang="zh-CN" altLang="en-US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根路径成本＝</a:t>
            </a:r>
            <a:r>
              <a:rPr lang="en-US" altLang="zh-CN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19</a:t>
            </a:r>
            <a:r>
              <a:rPr lang="zh-CN" altLang="en-US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＋</a:t>
            </a:r>
            <a:r>
              <a:rPr lang="en-US" altLang="zh-CN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100</a:t>
            </a:r>
            <a:r>
              <a:rPr lang="zh-CN" altLang="en-US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＝</a:t>
            </a:r>
            <a:r>
              <a:rPr lang="en-US" altLang="zh-CN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119</a:t>
            </a:r>
          </a:p>
        </p:txBody>
      </p:sp>
      <p:sp>
        <p:nvSpPr>
          <p:cNvPr id="18444" name="Text Box 11"/>
          <p:cNvSpPr txBox="1">
            <a:spLocks noChangeArrowheads="1"/>
          </p:cNvSpPr>
          <p:nvPr/>
        </p:nvSpPr>
        <p:spPr bwMode="auto">
          <a:xfrm>
            <a:off x="6996113" y="5310188"/>
            <a:ext cx="9715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</a:rPr>
              <a:t>Port 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内容占位符 1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714375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带宽与路径成本的关系</a:t>
            </a:r>
          </a:p>
        </p:txBody>
      </p:sp>
      <p:sp>
        <p:nvSpPr>
          <p:cNvPr id="19459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生成树的算法</a:t>
            </a:r>
            <a:r>
              <a:rPr lang="en-US" altLang="zh-CN"/>
              <a:t>10-5</a:t>
            </a:r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430589" y="2071689"/>
          <a:ext cx="5513463" cy="3505251"/>
        </p:xfrm>
        <a:graphic>
          <a:graphicData uri="http://schemas.openxmlformats.org/drawingml/2006/table">
            <a:tbl>
              <a:tblPr/>
              <a:tblGrid>
                <a:gridCol w="28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6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9643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400" b="1" dirty="0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Arial" pitchFamily="34" charset="0"/>
                        </a:rPr>
                        <a:t>链路带宽（</a:t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Arial" pitchFamily="34" charset="0"/>
                        </a:rPr>
                        <a:t>Mbps</a:t>
                      </a:r>
                      <a:r>
                        <a:rPr lang="zh-CN" sz="2400" b="1" dirty="0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Arial" pitchFamily="34" charset="0"/>
                        </a:rPr>
                        <a:t>）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2400" b="1" dirty="0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  <a:cs typeface="Arial" pitchFamily="34" charset="0"/>
                        </a:rPr>
                        <a:t>路径成本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A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451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仿宋_GB2312" pitchFamily="49" charset="-122"/>
                          <a:ea typeface="仿宋_GB2312" pitchFamily="49" charset="-122"/>
                          <a:cs typeface="Arial" pitchFamily="34" charset="0"/>
                        </a:rPr>
                        <a:t>10</a:t>
                      </a:r>
                      <a:endParaRPr lang="zh-CN" sz="2000" b="1" dirty="0">
                        <a:latin typeface="仿宋_GB2312" pitchFamily="49" charset="-122"/>
                        <a:ea typeface="仿宋_GB2312" pitchFamily="49" charset="-122"/>
                        <a:cs typeface="Arial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仿宋_GB2312" pitchFamily="49" charset="-122"/>
                          <a:ea typeface="仿宋_GB2312" pitchFamily="49" charset="-122"/>
                          <a:cs typeface="Arial" pitchFamily="34" charset="0"/>
                        </a:rPr>
                        <a:t>100</a:t>
                      </a:r>
                      <a:endParaRPr lang="zh-CN" sz="2000" b="1">
                        <a:latin typeface="仿宋_GB2312" pitchFamily="49" charset="-122"/>
                        <a:ea typeface="仿宋_GB2312" pitchFamily="49" charset="-122"/>
                        <a:cs typeface="Arial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451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仿宋_GB2312" pitchFamily="49" charset="-122"/>
                          <a:ea typeface="仿宋_GB2312" pitchFamily="49" charset="-122"/>
                          <a:cs typeface="Arial" pitchFamily="34" charset="0"/>
                        </a:rPr>
                        <a:t>16</a:t>
                      </a:r>
                      <a:endParaRPr lang="zh-CN" sz="2000" b="1" dirty="0">
                        <a:latin typeface="仿宋_GB2312" pitchFamily="49" charset="-122"/>
                        <a:ea typeface="仿宋_GB2312" pitchFamily="49" charset="-122"/>
                        <a:cs typeface="Arial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仿宋_GB2312" pitchFamily="49" charset="-122"/>
                          <a:ea typeface="仿宋_GB2312" pitchFamily="49" charset="-122"/>
                          <a:cs typeface="Arial" pitchFamily="34" charset="0"/>
                        </a:rPr>
                        <a:t>62</a:t>
                      </a:r>
                      <a:endParaRPr lang="zh-CN" sz="2000" b="1">
                        <a:latin typeface="仿宋_GB2312" pitchFamily="49" charset="-122"/>
                        <a:ea typeface="仿宋_GB2312" pitchFamily="49" charset="-122"/>
                        <a:cs typeface="Arial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451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仿宋_GB2312" pitchFamily="49" charset="-122"/>
                          <a:ea typeface="仿宋_GB2312" pitchFamily="49" charset="-122"/>
                          <a:cs typeface="Arial" pitchFamily="34" charset="0"/>
                        </a:rPr>
                        <a:t>45</a:t>
                      </a:r>
                      <a:endParaRPr lang="zh-CN" sz="2000" b="1" dirty="0">
                        <a:latin typeface="仿宋_GB2312" pitchFamily="49" charset="-122"/>
                        <a:ea typeface="仿宋_GB2312" pitchFamily="49" charset="-122"/>
                        <a:cs typeface="Arial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仿宋_GB2312" pitchFamily="49" charset="-122"/>
                          <a:ea typeface="仿宋_GB2312" pitchFamily="49" charset="-122"/>
                          <a:cs typeface="Arial" pitchFamily="34" charset="0"/>
                        </a:rPr>
                        <a:t>39</a:t>
                      </a:r>
                      <a:endParaRPr lang="zh-CN" sz="2000" b="1" dirty="0">
                        <a:latin typeface="仿宋_GB2312" pitchFamily="49" charset="-122"/>
                        <a:ea typeface="仿宋_GB2312" pitchFamily="49" charset="-122"/>
                        <a:cs typeface="Arial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451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仿宋_GB2312" pitchFamily="49" charset="-122"/>
                          <a:ea typeface="仿宋_GB2312" pitchFamily="49" charset="-122"/>
                          <a:cs typeface="Arial" pitchFamily="34" charset="0"/>
                        </a:rPr>
                        <a:t>100</a:t>
                      </a:r>
                      <a:endParaRPr lang="zh-CN" sz="2000" b="1" dirty="0">
                        <a:latin typeface="仿宋_GB2312" pitchFamily="49" charset="-122"/>
                        <a:ea typeface="仿宋_GB2312" pitchFamily="49" charset="-122"/>
                        <a:cs typeface="Arial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仿宋_GB2312" pitchFamily="49" charset="-122"/>
                          <a:ea typeface="仿宋_GB2312" pitchFamily="49" charset="-122"/>
                          <a:cs typeface="Arial" pitchFamily="34" charset="0"/>
                        </a:rPr>
                        <a:t>19</a:t>
                      </a:r>
                      <a:endParaRPr lang="zh-CN" sz="2000" b="1" dirty="0">
                        <a:latin typeface="仿宋_GB2312" pitchFamily="49" charset="-122"/>
                        <a:ea typeface="仿宋_GB2312" pitchFamily="49" charset="-122"/>
                        <a:cs typeface="Arial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451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仿宋_GB2312" pitchFamily="49" charset="-122"/>
                          <a:ea typeface="仿宋_GB2312" pitchFamily="49" charset="-122"/>
                          <a:cs typeface="Arial" pitchFamily="34" charset="0"/>
                        </a:rPr>
                        <a:t>155</a:t>
                      </a:r>
                      <a:endParaRPr lang="zh-CN" sz="2000" b="1" dirty="0">
                        <a:latin typeface="仿宋_GB2312" pitchFamily="49" charset="-122"/>
                        <a:ea typeface="仿宋_GB2312" pitchFamily="49" charset="-122"/>
                        <a:cs typeface="Arial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仿宋_GB2312" pitchFamily="49" charset="-122"/>
                          <a:ea typeface="仿宋_GB2312" pitchFamily="49" charset="-122"/>
                          <a:cs typeface="Arial" pitchFamily="34" charset="0"/>
                        </a:rPr>
                        <a:t>14</a:t>
                      </a:r>
                      <a:endParaRPr lang="zh-CN" sz="2000" b="1" dirty="0">
                        <a:latin typeface="仿宋_GB2312" pitchFamily="49" charset="-122"/>
                        <a:ea typeface="仿宋_GB2312" pitchFamily="49" charset="-122"/>
                        <a:cs typeface="Arial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451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仿宋_GB2312" pitchFamily="49" charset="-122"/>
                          <a:ea typeface="仿宋_GB2312" pitchFamily="49" charset="-122"/>
                          <a:cs typeface="Arial" pitchFamily="34" charset="0"/>
                        </a:rPr>
                        <a:t>622</a:t>
                      </a:r>
                      <a:endParaRPr lang="zh-CN" sz="2000" b="1">
                        <a:latin typeface="仿宋_GB2312" pitchFamily="49" charset="-122"/>
                        <a:ea typeface="仿宋_GB2312" pitchFamily="49" charset="-122"/>
                        <a:cs typeface="Arial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仿宋_GB2312" pitchFamily="49" charset="-122"/>
                          <a:ea typeface="仿宋_GB2312" pitchFamily="49" charset="-122"/>
                          <a:cs typeface="Arial" pitchFamily="34" charset="0"/>
                        </a:rPr>
                        <a:t>6</a:t>
                      </a:r>
                      <a:endParaRPr lang="zh-CN" sz="2000" b="1" dirty="0">
                        <a:latin typeface="仿宋_GB2312" pitchFamily="49" charset="-122"/>
                        <a:ea typeface="仿宋_GB2312" pitchFamily="49" charset="-122"/>
                        <a:cs typeface="Arial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451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仿宋_GB2312" pitchFamily="49" charset="-122"/>
                          <a:ea typeface="仿宋_GB2312" pitchFamily="49" charset="-122"/>
                          <a:cs typeface="Arial" pitchFamily="34" charset="0"/>
                        </a:rPr>
                        <a:t>1000</a:t>
                      </a:r>
                      <a:endParaRPr lang="zh-CN" sz="2000" b="1">
                        <a:latin typeface="仿宋_GB2312" pitchFamily="49" charset="-122"/>
                        <a:ea typeface="仿宋_GB2312" pitchFamily="49" charset="-122"/>
                        <a:cs typeface="Arial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仿宋_GB2312" pitchFamily="49" charset="-122"/>
                          <a:ea typeface="仿宋_GB2312" pitchFamily="49" charset="-122"/>
                          <a:cs typeface="Arial" pitchFamily="34" charset="0"/>
                        </a:rPr>
                        <a:t>4</a:t>
                      </a:r>
                      <a:endParaRPr lang="zh-CN" sz="2000" b="1" dirty="0">
                        <a:latin typeface="仿宋_GB2312" pitchFamily="49" charset="-122"/>
                        <a:ea typeface="仿宋_GB2312" pitchFamily="49" charset="-122"/>
                        <a:cs typeface="Arial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451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仿宋_GB2312" pitchFamily="49" charset="-122"/>
                          <a:ea typeface="仿宋_GB2312" pitchFamily="49" charset="-122"/>
                          <a:cs typeface="Arial" pitchFamily="34" charset="0"/>
                        </a:rPr>
                        <a:t>10000</a:t>
                      </a:r>
                      <a:endParaRPr lang="zh-CN" sz="2000" b="1">
                        <a:latin typeface="仿宋_GB2312" pitchFamily="49" charset="-122"/>
                        <a:ea typeface="仿宋_GB2312" pitchFamily="49" charset="-122"/>
                        <a:cs typeface="Arial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仿宋_GB2312" pitchFamily="49" charset="-122"/>
                          <a:ea typeface="仿宋_GB2312" pitchFamily="49" charset="-122"/>
                          <a:cs typeface="Arial" pitchFamily="34" charset="0"/>
                        </a:rPr>
                        <a:t>2</a:t>
                      </a:r>
                      <a:endParaRPr lang="zh-CN" sz="2000" b="1" dirty="0">
                        <a:latin typeface="仿宋_GB2312" pitchFamily="49" charset="-122"/>
                        <a:ea typeface="仿宋_GB2312" pitchFamily="49" charset="-122"/>
                        <a:cs typeface="Arial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642938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端口</a:t>
            </a:r>
            <a:r>
              <a:rPr lang="en-US" altLang="zh-CN"/>
              <a:t>ID</a:t>
            </a:r>
            <a:endParaRPr lang="zh-CN" altLang="en-US"/>
          </a:p>
        </p:txBody>
      </p:sp>
      <p:sp>
        <p:nvSpPr>
          <p:cNvPr id="2048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生成树的算法</a:t>
            </a:r>
            <a:r>
              <a:rPr lang="en-US" altLang="zh-CN"/>
              <a:t>10-6</a:t>
            </a:r>
            <a:endParaRPr lang="zh-CN" altLang="en-US"/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5951538" y="2160588"/>
            <a:ext cx="2563812" cy="120015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algn="ctr">
              <a:spcBef>
                <a:spcPct val="50000"/>
              </a:spcBef>
            </a:pPr>
            <a:endParaRPr lang="zh-CN" altLang="en-US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485" name="Line 6"/>
          <p:cNvSpPr>
            <a:spLocks noChangeShapeType="1"/>
          </p:cNvSpPr>
          <p:nvPr/>
        </p:nvSpPr>
        <p:spPr bwMode="auto">
          <a:xfrm>
            <a:off x="3402013" y="3379788"/>
            <a:ext cx="0" cy="360362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20486" name="Line 7"/>
          <p:cNvSpPr>
            <a:spLocks noChangeShapeType="1"/>
          </p:cNvSpPr>
          <p:nvPr/>
        </p:nvSpPr>
        <p:spPr bwMode="auto">
          <a:xfrm>
            <a:off x="5945188" y="3379788"/>
            <a:ext cx="0" cy="360362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20487" name="Line 8"/>
          <p:cNvSpPr>
            <a:spLocks noChangeShapeType="1"/>
          </p:cNvSpPr>
          <p:nvPr/>
        </p:nvSpPr>
        <p:spPr bwMode="auto">
          <a:xfrm>
            <a:off x="8524875" y="3379788"/>
            <a:ext cx="0" cy="360362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20488" name="Line 9"/>
          <p:cNvSpPr>
            <a:spLocks noChangeShapeType="1"/>
          </p:cNvSpPr>
          <p:nvPr/>
        </p:nvSpPr>
        <p:spPr bwMode="auto">
          <a:xfrm flipH="1">
            <a:off x="3402013" y="3595688"/>
            <a:ext cx="431800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20489" name="Line 10"/>
          <p:cNvSpPr>
            <a:spLocks noChangeShapeType="1"/>
          </p:cNvSpPr>
          <p:nvPr/>
        </p:nvSpPr>
        <p:spPr bwMode="auto">
          <a:xfrm>
            <a:off x="5441950" y="3595688"/>
            <a:ext cx="503238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20490" name="Line 11"/>
          <p:cNvSpPr>
            <a:spLocks noChangeShapeType="1"/>
          </p:cNvSpPr>
          <p:nvPr/>
        </p:nvSpPr>
        <p:spPr bwMode="auto">
          <a:xfrm flipH="1">
            <a:off x="5945188" y="3595688"/>
            <a:ext cx="431800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20491" name="Line 12"/>
          <p:cNvSpPr>
            <a:spLocks noChangeShapeType="1"/>
          </p:cNvSpPr>
          <p:nvPr/>
        </p:nvSpPr>
        <p:spPr bwMode="auto">
          <a:xfrm>
            <a:off x="8021639" y="3595688"/>
            <a:ext cx="503237" cy="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20492" name="Text Box 13"/>
          <p:cNvSpPr txBox="1">
            <a:spLocks noChangeArrowheads="1"/>
          </p:cNvSpPr>
          <p:nvPr/>
        </p:nvSpPr>
        <p:spPr bwMode="auto">
          <a:xfrm>
            <a:off x="4379914" y="3387726"/>
            <a:ext cx="731837" cy="4619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位</a:t>
            </a:r>
          </a:p>
        </p:txBody>
      </p:sp>
      <p:sp>
        <p:nvSpPr>
          <p:cNvPr id="20493" name="Text Box 4"/>
          <p:cNvSpPr txBox="1">
            <a:spLocks noChangeArrowheads="1"/>
          </p:cNvSpPr>
          <p:nvPr/>
        </p:nvSpPr>
        <p:spPr bwMode="auto">
          <a:xfrm>
            <a:off x="3387726" y="2160588"/>
            <a:ext cx="2563813" cy="120015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  <a:p>
            <a:pPr algn="ctr">
              <a:spcBef>
                <a:spcPct val="50000"/>
              </a:spcBef>
            </a:pPr>
            <a:endParaRPr lang="zh-CN" altLang="en-US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494" name="Text Box 15"/>
          <p:cNvSpPr txBox="1">
            <a:spLocks noChangeArrowheads="1"/>
          </p:cNvSpPr>
          <p:nvPr/>
        </p:nvSpPr>
        <p:spPr bwMode="auto">
          <a:xfrm>
            <a:off x="3813176" y="2525713"/>
            <a:ext cx="1846263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端口优先级</a:t>
            </a:r>
            <a:endParaRPr lang="en-US" altLang="zh-CN" sz="24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495" name="Text Box 15"/>
          <p:cNvSpPr txBox="1">
            <a:spLocks noChangeArrowheads="1"/>
          </p:cNvSpPr>
          <p:nvPr/>
        </p:nvSpPr>
        <p:spPr bwMode="auto">
          <a:xfrm>
            <a:off x="6473826" y="2525713"/>
            <a:ext cx="1558925" cy="4619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端口编号</a:t>
            </a:r>
            <a:endParaRPr lang="en-US" altLang="zh-CN" sz="24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496" name="Text Box 13"/>
          <p:cNvSpPr txBox="1">
            <a:spLocks noChangeArrowheads="1"/>
          </p:cNvSpPr>
          <p:nvPr/>
        </p:nvSpPr>
        <p:spPr bwMode="auto">
          <a:xfrm>
            <a:off x="6937375" y="3378201"/>
            <a:ext cx="731838" cy="4619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位</a:t>
            </a:r>
          </a:p>
        </p:txBody>
      </p:sp>
      <p:sp>
        <p:nvSpPr>
          <p:cNvPr id="20497" name="Text Box 15"/>
          <p:cNvSpPr txBox="1">
            <a:spLocks noChangeArrowheads="1"/>
          </p:cNvSpPr>
          <p:nvPr/>
        </p:nvSpPr>
        <p:spPr bwMode="auto">
          <a:xfrm>
            <a:off x="2417763" y="3984625"/>
            <a:ext cx="4445000" cy="1016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取值范围：</a:t>
            </a:r>
            <a:r>
              <a:rPr lang="en-US" altLang="zh-CN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0 </a:t>
            </a: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～ </a:t>
            </a:r>
            <a:r>
              <a:rPr lang="en-US" altLang="zh-CN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255</a:t>
            </a:r>
          </a:p>
          <a:p>
            <a:pPr algn="ctr">
              <a:spcBef>
                <a:spcPct val="50000"/>
              </a:spcBef>
            </a:pP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缺省值：</a:t>
            </a:r>
            <a:r>
              <a:rPr lang="en-US" altLang="zh-CN" sz="24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128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06" name="直接连接符 21"/>
          <p:cNvCxnSpPr>
            <a:cxnSpLocks noChangeShapeType="1"/>
          </p:cNvCxnSpPr>
          <p:nvPr/>
        </p:nvCxnSpPr>
        <p:spPr bwMode="auto">
          <a:xfrm>
            <a:off x="7085013" y="5216525"/>
            <a:ext cx="1562100" cy="1588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21507" name="直接连接符 21"/>
          <p:cNvCxnSpPr>
            <a:cxnSpLocks noChangeShapeType="1"/>
          </p:cNvCxnSpPr>
          <p:nvPr/>
        </p:nvCxnSpPr>
        <p:spPr bwMode="auto">
          <a:xfrm>
            <a:off x="6967538" y="2649539"/>
            <a:ext cx="2487612" cy="2263775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8596314" y="4772026"/>
            <a:ext cx="1614487" cy="657225"/>
            <a:chOff x="1837" y="1706"/>
            <a:chExt cx="816" cy="392"/>
          </a:xfrm>
        </p:grpSpPr>
        <p:pic>
          <p:nvPicPr>
            <p:cNvPr id="21530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531" name="Text Box 12"/>
            <p:cNvSpPr txBox="1">
              <a:spLocks noChangeArrowheads="1"/>
            </p:cNvSpPr>
            <p:nvPr/>
          </p:nvSpPr>
          <p:spPr bwMode="auto">
            <a:xfrm>
              <a:off x="1891" y="1878"/>
              <a:ext cx="544" cy="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SW3</a:t>
              </a:r>
            </a:p>
          </p:txBody>
        </p:sp>
      </p:grpSp>
      <p:sp>
        <p:nvSpPr>
          <p:cNvPr id="21509" name="内容占位符 1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785813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在非根网桥上，选择一个根端口（</a:t>
            </a:r>
            <a:r>
              <a:rPr lang="en-US" altLang="zh-CN"/>
              <a:t>RP</a:t>
            </a:r>
            <a:r>
              <a:rPr lang="zh-CN" altLang="en-US"/>
              <a:t>）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21510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生成树的算法</a:t>
            </a:r>
            <a:r>
              <a:rPr lang="en-US" altLang="zh-CN"/>
              <a:t>10-7</a:t>
            </a:r>
            <a:endParaRPr lang="zh-CN" altLang="en-US"/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5470525" y="4913314"/>
            <a:ext cx="1614488" cy="657225"/>
            <a:chOff x="1837" y="1706"/>
            <a:chExt cx="816" cy="392"/>
          </a:xfrm>
        </p:grpSpPr>
        <p:pic>
          <p:nvPicPr>
            <p:cNvPr id="21528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529" name="Text Box 12"/>
            <p:cNvSpPr txBox="1">
              <a:spLocks noChangeArrowheads="1"/>
            </p:cNvSpPr>
            <p:nvPr/>
          </p:nvSpPr>
          <p:spPr bwMode="auto">
            <a:xfrm>
              <a:off x="1891" y="1878"/>
              <a:ext cx="544" cy="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SW2</a:t>
              </a:r>
            </a:p>
          </p:txBody>
        </p:sp>
      </p:grpSp>
      <p:sp>
        <p:nvSpPr>
          <p:cNvPr id="21512" name="Text Box 22"/>
          <p:cNvSpPr txBox="1">
            <a:spLocks noChangeArrowheads="1"/>
          </p:cNvSpPr>
          <p:nvPr/>
        </p:nvSpPr>
        <p:spPr bwMode="auto">
          <a:xfrm>
            <a:off x="4886325" y="5522914"/>
            <a:ext cx="2160588" cy="923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优先级：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4096</a:t>
            </a:r>
            <a:b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</a:b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MAC</a:t>
            </a: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地址： 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000d.2800.b100</a:t>
            </a:r>
          </a:p>
        </p:txBody>
      </p:sp>
      <p:sp>
        <p:nvSpPr>
          <p:cNvPr id="21513" name="Text Box 23"/>
          <p:cNvSpPr txBox="1">
            <a:spLocks noChangeArrowheads="1"/>
          </p:cNvSpPr>
          <p:nvPr/>
        </p:nvSpPr>
        <p:spPr bwMode="auto">
          <a:xfrm>
            <a:off x="7916864" y="5522914"/>
            <a:ext cx="2160587" cy="923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优先级：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32768</a:t>
            </a:r>
            <a:b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</a:b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MAC</a:t>
            </a: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地址： 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000d.2800.b101</a:t>
            </a:r>
          </a:p>
        </p:txBody>
      </p:sp>
      <p:sp>
        <p:nvSpPr>
          <p:cNvPr id="21514" name="Text Box 24"/>
          <p:cNvSpPr txBox="1">
            <a:spLocks noChangeArrowheads="1"/>
          </p:cNvSpPr>
          <p:nvPr/>
        </p:nvSpPr>
        <p:spPr bwMode="auto">
          <a:xfrm>
            <a:off x="6967538" y="1908176"/>
            <a:ext cx="2373312" cy="923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优先级：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32768</a:t>
            </a:r>
            <a:b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</a:b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MAC</a:t>
            </a: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地址： 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000d.2800.b102</a:t>
            </a:r>
          </a:p>
        </p:txBody>
      </p: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5470525" y="2284414"/>
            <a:ext cx="1614488" cy="657225"/>
            <a:chOff x="1837" y="1706"/>
            <a:chExt cx="816" cy="392"/>
          </a:xfrm>
        </p:grpSpPr>
        <p:pic>
          <p:nvPicPr>
            <p:cNvPr id="21526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527" name="Text Box 12"/>
            <p:cNvSpPr txBox="1">
              <a:spLocks noChangeArrowheads="1"/>
            </p:cNvSpPr>
            <p:nvPr/>
          </p:nvSpPr>
          <p:spPr bwMode="auto">
            <a:xfrm>
              <a:off x="1891" y="1878"/>
              <a:ext cx="544" cy="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SW1</a:t>
              </a:r>
            </a:p>
          </p:txBody>
        </p:sp>
      </p:grpSp>
      <p:cxnSp>
        <p:nvCxnSpPr>
          <p:cNvPr id="21516" name="直接连接符 21"/>
          <p:cNvCxnSpPr>
            <a:cxnSpLocks noChangeShapeType="1"/>
          </p:cNvCxnSpPr>
          <p:nvPr/>
        </p:nvCxnSpPr>
        <p:spPr bwMode="auto">
          <a:xfrm rot="5400000">
            <a:off x="5266532" y="3902869"/>
            <a:ext cx="2022475" cy="1588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sp>
        <p:nvSpPr>
          <p:cNvPr id="21517" name="Text Box 26"/>
          <p:cNvSpPr txBox="1">
            <a:spLocks noChangeArrowheads="1"/>
          </p:cNvSpPr>
          <p:nvPr/>
        </p:nvSpPr>
        <p:spPr bwMode="auto">
          <a:xfrm>
            <a:off x="4740275" y="4424364"/>
            <a:ext cx="1296988" cy="7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FF0000"/>
                </a:solidFill>
              </a:rPr>
              <a:t>Root Bridge</a:t>
            </a:r>
          </a:p>
        </p:txBody>
      </p:sp>
      <p:sp>
        <p:nvSpPr>
          <p:cNvPr id="17" name="AutoShape 66"/>
          <p:cNvSpPr>
            <a:spLocks noChangeArrowheads="1"/>
          </p:cNvSpPr>
          <p:nvPr/>
        </p:nvSpPr>
        <p:spPr bwMode="auto">
          <a:xfrm>
            <a:off x="2166939" y="1615401"/>
            <a:ext cx="3121025" cy="1123712"/>
          </a:xfrm>
          <a:prstGeom prst="wedgeRoundRectCallout">
            <a:avLst>
              <a:gd name="adj1" fmla="val 56560"/>
              <a:gd name="adj2" fmla="val 80611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anchor="ctr" anchorCtr="1">
            <a:spAutoFit/>
          </a:bodyPr>
          <a:lstStyle/>
          <a:p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SW1</a:t>
            </a: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SW3</a:t>
            </a: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上，到达</a:t>
            </a:r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SW2</a:t>
            </a: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最近的端口是根端口</a:t>
            </a:r>
          </a:p>
        </p:txBody>
      </p:sp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4703764" y="2868614"/>
            <a:ext cx="1533525" cy="369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Root Port</a:t>
            </a:r>
          </a:p>
        </p:txBody>
      </p:sp>
      <p:sp>
        <p:nvSpPr>
          <p:cNvPr id="20" name="Oval 25"/>
          <p:cNvSpPr>
            <a:spLocks noChangeArrowheads="1"/>
          </p:cNvSpPr>
          <p:nvPr/>
        </p:nvSpPr>
        <p:spPr bwMode="auto">
          <a:xfrm>
            <a:off x="6096001" y="2759076"/>
            <a:ext cx="366713" cy="328613"/>
          </a:xfrm>
          <a:prstGeom prst="ellipse">
            <a:avLst/>
          </a:prstGeom>
          <a:noFill/>
          <a:ln w="476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5400" b="1">
              <a:solidFill>
                <a:schemeClr val="tx2"/>
              </a:solidFill>
            </a:endParaRPr>
          </a:p>
        </p:txBody>
      </p:sp>
      <p:sp>
        <p:nvSpPr>
          <p:cNvPr id="21521" name="Text Box 23"/>
          <p:cNvSpPr txBox="1">
            <a:spLocks noChangeArrowheads="1"/>
          </p:cNvSpPr>
          <p:nvPr/>
        </p:nvSpPr>
        <p:spPr bwMode="auto">
          <a:xfrm>
            <a:off x="7313613" y="5205413"/>
            <a:ext cx="1223962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100M</a:t>
            </a:r>
          </a:p>
        </p:txBody>
      </p:sp>
      <p:sp>
        <p:nvSpPr>
          <p:cNvPr id="21522" name="Text Box 23"/>
          <p:cNvSpPr txBox="1">
            <a:spLocks noChangeArrowheads="1"/>
          </p:cNvSpPr>
          <p:nvPr/>
        </p:nvSpPr>
        <p:spPr bwMode="auto">
          <a:xfrm>
            <a:off x="8245476" y="3489326"/>
            <a:ext cx="1223963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100M</a:t>
            </a:r>
          </a:p>
        </p:txBody>
      </p:sp>
      <p:sp>
        <p:nvSpPr>
          <p:cNvPr id="21523" name="Text Box 23"/>
          <p:cNvSpPr txBox="1">
            <a:spLocks noChangeArrowheads="1"/>
          </p:cNvSpPr>
          <p:nvPr/>
        </p:nvSpPr>
        <p:spPr bwMode="auto">
          <a:xfrm>
            <a:off x="5543551" y="3671888"/>
            <a:ext cx="1223963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100M</a:t>
            </a:r>
          </a:p>
        </p:txBody>
      </p: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7442201" y="4616450"/>
            <a:ext cx="1533525" cy="369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Root Port</a:t>
            </a:r>
          </a:p>
        </p:txBody>
      </p:sp>
      <p:sp>
        <p:nvSpPr>
          <p:cNvPr id="18" name="Oval 25"/>
          <p:cNvSpPr>
            <a:spLocks noChangeArrowheads="1"/>
          </p:cNvSpPr>
          <p:nvPr/>
        </p:nvSpPr>
        <p:spPr bwMode="auto">
          <a:xfrm>
            <a:off x="8428039" y="5022851"/>
            <a:ext cx="382587" cy="328613"/>
          </a:xfrm>
          <a:prstGeom prst="ellipse">
            <a:avLst/>
          </a:prstGeom>
          <a:noFill/>
          <a:ln w="476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5400" b="1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/>
      <p:bldP spid="20" grpId="0" animBg="1"/>
      <p:bldP spid="24" grpId="0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2857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根桥上的端口全是指定端口</a:t>
            </a:r>
          </a:p>
          <a:p>
            <a:pPr>
              <a:spcBef>
                <a:spcPts val="675"/>
              </a:spcBef>
            </a:pPr>
            <a:r>
              <a:rPr lang="zh-CN" altLang="en-US"/>
              <a:t>在每个网段上，选择</a:t>
            </a:r>
            <a:r>
              <a:rPr lang="en-US" altLang="zh-CN"/>
              <a:t>1</a:t>
            </a:r>
            <a:r>
              <a:rPr lang="zh-CN" altLang="en-US"/>
              <a:t>个指定端口</a:t>
            </a:r>
          </a:p>
          <a:p>
            <a:pPr>
              <a:spcBef>
                <a:spcPts val="675"/>
              </a:spcBef>
            </a:pPr>
            <a:r>
              <a:rPr lang="zh-CN" altLang="en-US"/>
              <a:t>非根桥上的指定端口，选择顺序：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根路径成本较低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所在的交换机的网桥</a:t>
            </a:r>
            <a:r>
              <a:rPr lang="en-US" altLang="zh-CN"/>
              <a:t>ID</a:t>
            </a:r>
            <a:r>
              <a:rPr lang="zh-CN" altLang="en-US"/>
              <a:t>的值较小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端口</a:t>
            </a:r>
            <a:r>
              <a:rPr lang="en-US" altLang="zh-CN"/>
              <a:t>ID</a:t>
            </a:r>
            <a:r>
              <a:rPr lang="zh-CN" altLang="en-US"/>
              <a:t>的值较小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22531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生成树的算法</a:t>
            </a:r>
            <a:r>
              <a:rPr lang="en-US" altLang="zh-CN"/>
              <a:t>10-8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内容占位符 1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1000125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在每个网段选择</a:t>
            </a:r>
            <a:r>
              <a:rPr lang="en-US" altLang="zh-CN"/>
              <a:t>1</a:t>
            </a:r>
            <a:r>
              <a:rPr lang="zh-CN" altLang="en-US"/>
              <a:t>个指定端口（</a:t>
            </a:r>
            <a:r>
              <a:rPr lang="en-US" altLang="zh-CN"/>
              <a:t>DP</a:t>
            </a:r>
            <a:r>
              <a:rPr lang="zh-CN" altLang="en-US"/>
              <a:t>）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2355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生成树的算法</a:t>
            </a:r>
            <a:r>
              <a:rPr lang="en-US" altLang="zh-CN"/>
              <a:t>10-9</a:t>
            </a:r>
            <a:endParaRPr lang="zh-CN" altLang="en-US"/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4618039" y="4926014"/>
            <a:ext cx="1614487" cy="657225"/>
            <a:chOff x="1837" y="1706"/>
            <a:chExt cx="816" cy="392"/>
          </a:xfrm>
        </p:grpSpPr>
        <p:pic>
          <p:nvPicPr>
            <p:cNvPr id="23587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588" name="Text Box 12"/>
            <p:cNvSpPr txBox="1">
              <a:spLocks noChangeArrowheads="1"/>
            </p:cNvSpPr>
            <p:nvPr/>
          </p:nvSpPr>
          <p:spPr bwMode="auto">
            <a:xfrm>
              <a:off x="1891" y="1878"/>
              <a:ext cx="544" cy="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SW2</a:t>
              </a:r>
            </a:p>
          </p:txBody>
        </p:sp>
      </p:grpSp>
      <p:sp>
        <p:nvSpPr>
          <p:cNvPr id="23557" name="Text Box 22"/>
          <p:cNvSpPr txBox="1">
            <a:spLocks noChangeArrowheads="1"/>
          </p:cNvSpPr>
          <p:nvPr/>
        </p:nvSpPr>
        <p:spPr bwMode="auto">
          <a:xfrm>
            <a:off x="4033839" y="5535614"/>
            <a:ext cx="2160587" cy="923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优先级：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4096</a:t>
            </a:r>
            <a:b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</a:b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MAC</a:t>
            </a: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地址： 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000d.2800.b100</a:t>
            </a:r>
          </a:p>
        </p:txBody>
      </p:sp>
      <p:sp>
        <p:nvSpPr>
          <p:cNvPr id="23558" name="Text Box 23"/>
          <p:cNvSpPr txBox="1">
            <a:spLocks noChangeArrowheads="1"/>
          </p:cNvSpPr>
          <p:nvPr/>
        </p:nvSpPr>
        <p:spPr bwMode="auto">
          <a:xfrm>
            <a:off x="7064375" y="5535614"/>
            <a:ext cx="2160588" cy="923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优先级：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32768</a:t>
            </a:r>
            <a:b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</a:b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MAC</a:t>
            </a: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地址： 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000d.2800.b101</a:t>
            </a:r>
          </a:p>
        </p:txBody>
      </p:sp>
      <p:sp>
        <p:nvSpPr>
          <p:cNvPr id="23559" name="Text Box 24"/>
          <p:cNvSpPr txBox="1">
            <a:spLocks noChangeArrowheads="1"/>
          </p:cNvSpPr>
          <p:nvPr/>
        </p:nvSpPr>
        <p:spPr bwMode="auto">
          <a:xfrm>
            <a:off x="6115051" y="1920876"/>
            <a:ext cx="2373313" cy="923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优先级：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32768</a:t>
            </a:r>
            <a:b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</a:b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MAC</a:t>
            </a: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地址： 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000d.2800.b102</a:t>
            </a:r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7786689" y="4926014"/>
            <a:ext cx="1614487" cy="657225"/>
            <a:chOff x="1837" y="1706"/>
            <a:chExt cx="816" cy="392"/>
          </a:xfrm>
        </p:grpSpPr>
        <p:pic>
          <p:nvPicPr>
            <p:cNvPr id="23585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586" name="Text Box 12"/>
            <p:cNvSpPr txBox="1">
              <a:spLocks noChangeArrowheads="1"/>
            </p:cNvSpPr>
            <p:nvPr/>
          </p:nvSpPr>
          <p:spPr bwMode="auto">
            <a:xfrm>
              <a:off x="1891" y="1878"/>
              <a:ext cx="544" cy="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SW3</a:t>
              </a:r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4618039" y="2297114"/>
            <a:ext cx="1614487" cy="657225"/>
            <a:chOff x="1837" y="1706"/>
            <a:chExt cx="816" cy="392"/>
          </a:xfrm>
        </p:grpSpPr>
        <p:pic>
          <p:nvPicPr>
            <p:cNvPr id="23583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584" name="Text Box 12"/>
            <p:cNvSpPr txBox="1">
              <a:spLocks noChangeArrowheads="1"/>
            </p:cNvSpPr>
            <p:nvPr/>
          </p:nvSpPr>
          <p:spPr bwMode="auto">
            <a:xfrm>
              <a:off x="1891" y="1878"/>
              <a:ext cx="544" cy="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SW1</a:t>
              </a:r>
            </a:p>
          </p:txBody>
        </p:sp>
      </p:grpSp>
      <p:cxnSp>
        <p:nvCxnSpPr>
          <p:cNvPr id="23562" name="直接连接符 21"/>
          <p:cNvCxnSpPr>
            <a:cxnSpLocks noChangeShapeType="1"/>
          </p:cNvCxnSpPr>
          <p:nvPr/>
        </p:nvCxnSpPr>
        <p:spPr bwMode="auto">
          <a:xfrm rot="5400000">
            <a:off x="4414045" y="3915570"/>
            <a:ext cx="2022475" cy="1587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23563" name="直接连接符 21"/>
          <p:cNvCxnSpPr>
            <a:cxnSpLocks noChangeShapeType="1"/>
          </p:cNvCxnSpPr>
          <p:nvPr/>
        </p:nvCxnSpPr>
        <p:spPr bwMode="auto">
          <a:xfrm>
            <a:off x="6115051" y="2662239"/>
            <a:ext cx="2487613" cy="2263775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23564" name="直接连接符 21"/>
          <p:cNvCxnSpPr>
            <a:cxnSpLocks noChangeShapeType="1"/>
          </p:cNvCxnSpPr>
          <p:nvPr/>
        </p:nvCxnSpPr>
        <p:spPr bwMode="auto">
          <a:xfrm>
            <a:off x="6232525" y="5229225"/>
            <a:ext cx="1562100" cy="1588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sp>
        <p:nvSpPr>
          <p:cNvPr id="23565" name="Text Box 26"/>
          <p:cNvSpPr txBox="1">
            <a:spLocks noChangeArrowheads="1"/>
          </p:cNvSpPr>
          <p:nvPr/>
        </p:nvSpPr>
        <p:spPr bwMode="auto">
          <a:xfrm>
            <a:off x="4087814" y="4341814"/>
            <a:ext cx="1296987" cy="708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FF0000"/>
                </a:solidFill>
              </a:rPr>
              <a:t>Root Bridge</a:t>
            </a:r>
          </a:p>
        </p:txBody>
      </p:sp>
      <p:sp>
        <p:nvSpPr>
          <p:cNvPr id="23566" name="Oval 25"/>
          <p:cNvSpPr>
            <a:spLocks noChangeArrowheads="1"/>
          </p:cNvSpPr>
          <p:nvPr/>
        </p:nvSpPr>
        <p:spPr bwMode="auto">
          <a:xfrm>
            <a:off x="7596189" y="5035551"/>
            <a:ext cx="357187" cy="328613"/>
          </a:xfrm>
          <a:prstGeom prst="ellipse">
            <a:avLst/>
          </a:prstGeom>
          <a:noFill/>
          <a:ln w="476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5400" b="1">
              <a:solidFill>
                <a:schemeClr val="tx2"/>
              </a:solidFill>
            </a:endParaRPr>
          </a:p>
        </p:txBody>
      </p:sp>
      <p:sp>
        <p:nvSpPr>
          <p:cNvPr id="23567" name="Text Box 22"/>
          <p:cNvSpPr txBox="1">
            <a:spLocks noChangeArrowheads="1"/>
          </p:cNvSpPr>
          <p:nvPr/>
        </p:nvSpPr>
        <p:spPr bwMode="auto">
          <a:xfrm>
            <a:off x="3851276" y="2881314"/>
            <a:ext cx="1533525" cy="369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FF3300"/>
                </a:solidFill>
                <a:ea typeface="宋体" charset="-122"/>
                <a:cs typeface="Arial" charset="0"/>
              </a:rPr>
              <a:t>Root Port</a:t>
            </a:r>
          </a:p>
        </p:txBody>
      </p:sp>
      <p:sp>
        <p:nvSpPr>
          <p:cNvPr id="23568" name="Oval 25"/>
          <p:cNvSpPr>
            <a:spLocks noChangeArrowheads="1"/>
          </p:cNvSpPr>
          <p:nvPr/>
        </p:nvSpPr>
        <p:spPr bwMode="auto">
          <a:xfrm>
            <a:off x="5238750" y="2771776"/>
            <a:ext cx="369888" cy="328613"/>
          </a:xfrm>
          <a:prstGeom prst="ellipse">
            <a:avLst/>
          </a:prstGeom>
          <a:noFill/>
          <a:ln w="476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5400" b="1">
              <a:solidFill>
                <a:schemeClr val="tx2"/>
              </a:solidFill>
            </a:endParaRPr>
          </a:p>
        </p:txBody>
      </p:sp>
      <p:sp>
        <p:nvSpPr>
          <p:cNvPr id="23569" name="Text Box 23"/>
          <p:cNvSpPr txBox="1">
            <a:spLocks noChangeArrowheads="1"/>
          </p:cNvSpPr>
          <p:nvPr/>
        </p:nvSpPr>
        <p:spPr bwMode="auto">
          <a:xfrm>
            <a:off x="6461126" y="5218113"/>
            <a:ext cx="1223963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100M</a:t>
            </a:r>
          </a:p>
        </p:txBody>
      </p:sp>
      <p:sp>
        <p:nvSpPr>
          <p:cNvPr id="23570" name="Text Box 23"/>
          <p:cNvSpPr txBox="1">
            <a:spLocks noChangeArrowheads="1"/>
          </p:cNvSpPr>
          <p:nvPr/>
        </p:nvSpPr>
        <p:spPr bwMode="auto">
          <a:xfrm>
            <a:off x="7872413" y="4013201"/>
            <a:ext cx="1223962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100M</a:t>
            </a:r>
          </a:p>
        </p:txBody>
      </p:sp>
      <p:sp>
        <p:nvSpPr>
          <p:cNvPr id="23571" name="Text Box 23"/>
          <p:cNvSpPr txBox="1">
            <a:spLocks noChangeArrowheads="1"/>
          </p:cNvSpPr>
          <p:nvPr/>
        </p:nvSpPr>
        <p:spPr bwMode="auto">
          <a:xfrm>
            <a:off x="4691063" y="3684588"/>
            <a:ext cx="1223962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100M</a:t>
            </a:r>
          </a:p>
        </p:txBody>
      </p:sp>
      <p:sp>
        <p:nvSpPr>
          <p:cNvPr id="23572" name="Text Box 22"/>
          <p:cNvSpPr txBox="1">
            <a:spLocks noChangeArrowheads="1"/>
          </p:cNvSpPr>
          <p:nvPr/>
        </p:nvSpPr>
        <p:spPr bwMode="auto">
          <a:xfrm>
            <a:off x="6589714" y="4629150"/>
            <a:ext cx="1533525" cy="369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FF3300"/>
                </a:solidFill>
                <a:ea typeface="宋体" charset="-122"/>
                <a:cs typeface="Arial" charset="0"/>
              </a:rPr>
              <a:t>Root Port</a:t>
            </a:r>
          </a:p>
        </p:txBody>
      </p:sp>
      <p:sp>
        <p:nvSpPr>
          <p:cNvPr id="27" name="AutoShape 66"/>
          <p:cNvSpPr>
            <a:spLocks noChangeArrowheads="1"/>
          </p:cNvSpPr>
          <p:nvPr/>
        </p:nvSpPr>
        <p:spPr bwMode="auto">
          <a:xfrm>
            <a:off x="2098675" y="4013201"/>
            <a:ext cx="2044700" cy="949325"/>
          </a:xfrm>
          <a:prstGeom prst="wedgeRoundRectCallout">
            <a:avLst>
              <a:gd name="adj1" fmla="val 71685"/>
              <a:gd name="adj2" fmla="val 86014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根网桥上的端口都是指定端口</a:t>
            </a:r>
          </a:p>
        </p:txBody>
      </p:sp>
      <p:sp>
        <p:nvSpPr>
          <p:cNvPr id="28" name="AutoShape 30"/>
          <p:cNvSpPr>
            <a:spLocks noChangeArrowheads="1"/>
          </p:cNvSpPr>
          <p:nvPr/>
        </p:nvSpPr>
        <p:spPr bwMode="auto">
          <a:xfrm>
            <a:off x="6005513" y="4999039"/>
            <a:ext cx="336550" cy="339725"/>
          </a:xfrm>
          <a:prstGeom prst="star5">
            <a:avLst/>
          </a:prstGeom>
          <a:noFill/>
          <a:ln w="47625" algn="ctr">
            <a:solidFill>
              <a:srgbClr val="FF993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29" name="AutoShape 30"/>
          <p:cNvSpPr>
            <a:spLocks noChangeArrowheads="1"/>
          </p:cNvSpPr>
          <p:nvPr/>
        </p:nvSpPr>
        <p:spPr bwMode="auto">
          <a:xfrm>
            <a:off x="5267325" y="4670426"/>
            <a:ext cx="336550" cy="339725"/>
          </a:xfrm>
          <a:prstGeom prst="star5">
            <a:avLst/>
          </a:prstGeom>
          <a:noFill/>
          <a:ln w="47625" algn="ctr">
            <a:solidFill>
              <a:srgbClr val="FF993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30" name="AutoShape 30"/>
          <p:cNvSpPr>
            <a:spLocks noChangeArrowheads="1"/>
          </p:cNvSpPr>
          <p:nvPr/>
        </p:nvSpPr>
        <p:spPr bwMode="auto">
          <a:xfrm>
            <a:off x="8378825" y="4670426"/>
            <a:ext cx="336550" cy="339725"/>
          </a:xfrm>
          <a:prstGeom prst="star5">
            <a:avLst/>
          </a:prstGeom>
          <a:noFill/>
          <a:ln w="47625" algn="ctr">
            <a:solidFill>
              <a:srgbClr val="FF993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31" name="AutoShape 154"/>
          <p:cNvSpPr>
            <a:spLocks noChangeArrowheads="1"/>
          </p:cNvSpPr>
          <p:nvPr/>
        </p:nvSpPr>
        <p:spPr bwMode="auto">
          <a:xfrm>
            <a:off x="5953126" y="2500313"/>
            <a:ext cx="347663" cy="328612"/>
          </a:xfrm>
          <a:prstGeom prst="flowChartSummingJunction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32" name="AutoShape 66"/>
          <p:cNvSpPr>
            <a:spLocks noChangeArrowheads="1"/>
          </p:cNvSpPr>
          <p:nvPr/>
        </p:nvSpPr>
        <p:spPr bwMode="auto">
          <a:xfrm>
            <a:off x="8013700" y="2771775"/>
            <a:ext cx="2439988" cy="1131888"/>
          </a:xfrm>
          <a:prstGeom prst="wedgeRoundRectCallout">
            <a:avLst>
              <a:gd name="adj1" fmla="val -69463"/>
              <a:gd name="adj2" fmla="val 43898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在这个网段上，</a:t>
            </a: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的网桥</a:t>
            </a: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ID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较小，所以</a:t>
            </a: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上的端口为指定端口</a:t>
            </a:r>
          </a:p>
        </p:txBody>
      </p:sp>
      <p:sp>
        <p:nvSpPr>
          <p:cNvPr id="33" name="AutoShape 66"/>
          <p:cNvSpPr>
            <a:spLocks noChangeArrowheads="1"/>
          </p:cNvSpPr>
          <p:nvPr/>
        </p:nvSpPr>
        <p:spPr bwMode="auto">
          <a:xfrm>
            <a:off x="1806575" y="1785938"/>
            <a:ext cx="2941638" cy="1058862"/>
          </a:xfrm>
          <a:prstGeom prst="wedgeRoundRectCallout">
            <a:avLst>
              <a:gd name="adj1" fmla="val 91444"/>
              <a:gd name="adj2" fmla="val 27361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anchor="ctr" anchorCtr="1"/>
          <a:lstStyle/>
          <a:p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这个端口既不是根端口，也不是指定端口，</a:t>
            </a: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STP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将这个端口阻塞（</a:t>
            </a: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Block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</a:p>
        </p:txBody>
      </p:sp>
      <p:sp>
        <p:nvSpPr>
          <p:cNvPr id="34" name="Text Box 23"/>
          <p:cNvSpPr txBox="1">
            <a:spLocks noChangeArrowheads="1"/>
          </p:cNvSpPr>
          <p:nvPr/>
        </p:nvSpPr>
        <p:spPr bwMode="auto">
          <a:xfrm>
            <a:off x="5457825" y="4487863"/>
            <a:ext cx="547688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DP</a:t>
            </a:r>
          </a:p>
        </p:txBody>
      </p:sp>
      <p:sp>
        <p:nvSpPr>
          <p:cNvPr id="35" name="Text Box 23"/>
          <p:cNvSpPr txBox="1">
            <a:spLocks noChangeArrowheads="1"/>
          </p:cNvSpPr>
          <p:nvPr/>
        </p:nvSpPr>
        <p:spPr bwMode="auto">
          <a:xfrm>
            <a:off x="6151564" y="4816476"/>
            <a:ext cx="547687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DP</a:t>
            </a:r>
          </a:p>
        </p:txBody>
      </p:sp>
      <p:sp>
        <p:nvSpPr>
          <p:cNvPr id="36" name="Text Box 23"/>
          <p:cNvSpPr txBox="1">
            <a:spLocks noChangeArrowheads="1"/>
          </p:cNvSpPr>
          <p:nvPr/>
        </p:nvSpPr>
        <p:spPr bwMode="auto">
          <a:xfrm>
            <a:off x="8634414" y="4451351"/>
            <a:ext cx="547687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DP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31" grpId="0" animBg="1"/>
      <p:bldP spid="32" grpId="0" animBg="1"/>
      <p:bldP spid="32" grpId="1" animBg="1"/>
      <p:bldP spid="33" grpId="0" animBg="1"/>
      <p:bldP spid="34" grpId="0"/>
      <p:bldP spid="35" grpId="0"/>
      <p:bldP spid="3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642938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最终形成逻辑结构无环拓扑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24579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生成树的算法</a:t>
            </a:r>
            <a:r>
              <a:rPr lang="en-US" altLang="zh-CN"/>
              <a:t>10-10</a:t>
            </a:r>
            <a:endParaRPr lang="zh-CN" altLang="en-US"/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4608514" y="4933951"/>
            <a:ext cx="1614487" cy="657225"/>
            <a:chOff x="1837" y="1706"/>
            <a:chExt cx="816" cy="392"/>
          </a:xfrm>
        </p:grpSpPr>
        <p:pic>
          <p:nvPicPr>
            <p:cNvPr id="24597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598" name="Text Box 12"/>
            <p:cNvSpPr txBox="1">
              <a:spLocks noChangeArrowheads="1"/>
            </p:cNvSpPr>
            <p:nvPr/>
          </p:nvSpPr>
          <p:spPr bwMode="auto">
            <a:xfrm>
              <a:off x="1891" y="1878"/>
              <a:ext cx="544" cy="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SW2</a:t>
              </a:r>
            </a:p>
          </p:txBody>
        </p:sp>
      </p:grpSp>
      <p:sp>
        <p:nvSpPr>
          <p:cNvPr id="24581" name="Text Box 22"/>
          <p:cNvSpPr txBox="1">
            <a:spLocks noChangeArrowheads="1"/>
          </p:cNvSpPr>
          <p:nvPr/>
        </p:nvSpPr>
        <p:spPr bwMode="auto">
          <a:xfrm>
            <a:off x="4024314" y="5543551"/>
            <a:ext cx="2160587" cy="923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优先级：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4096</a:t>
            </a:r>
            <a:b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</a:b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MAC</a:t>
            </a: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地址： 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000d.2800.b100</a:t>
            </a:r>
          </a:p>
        </p:txBody>
      </p:sp>
      <p:sp>
        <p:nvSpPr>
          <p:cNvPr id="24582" name="Text Box 23"/>
          <p:cNvSpPr txBox="1">
            <a:spLocks noChangeArrowheads="1"/>
          </p:cNvSpPr>
          <p:nvPr/>
        </p:nvSpPr>
        <p:spPr bwMode="auto">
          <a:xfrm>
            <a:off x="7054850" y="5543551"/>
            <a:ext cx="2160588" cy="923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优先级：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32768</a:t>
            </a:r>
            <a:b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</a:b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MAC</a:t>
            </a: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地址： 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000d.2800.b101</a:t>
            </a:r>
          </a:p>
        </p:txBody>
      </p:sp>
      <p:sp>
        <p:nvSpPr>
          <p:cNvPr id="24583" name="Text Box 24"/>
          <p:cNvSpPr txBox="1">
            <a:spLocks noChangeArrowheads="1"/>
          </p:cNvSpPr>
          <p:nvPr/>
        </p:nvSpPr>
        <p:spPr bwMode="auto">
          <a:xfrm>
            <a:off x="6105526" y="1928814"/>
            <a:ext cx="2373313" cy="923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优先级：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32768</a:t>
            </a:r>
            <a:b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</a:b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MAC</a:t>
            </a: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地址： 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000d.2800.b102</a:t>
            </a:r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7777164" y="4933951"/>
            <a:ext cx="1614487" cy="657225"/>
            <a:chOff x="1837" y="1706"/>
            <a:chExt cx="816" cy="392"/>
          </a:xfrm>
        </p:grpSpPr>
        <p:pic>
          <p:nvPicPr>
            <p:cNvPr id="24595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596" name="Text Box 12"/>
            <p:cNvSpPr txBox="1">
              <a:spLocks noChangeArrowheads="1"/>
            </p:cNvSpPr>
            <p:nvPr/>
          </p:nvSpPr>
          <p:spPr bwMode="auto">
            <a:xfrm>
              <a:off x="1891" y="1878"/>
              <a:ext cx="544" cy="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SW3</a:t>
              </a:r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4608514" y="2305051"/>
            <a:ext cx="1614487" cy="657225"/>
            <a:chOff x="1837" y="1706"/>
            <a:chExt cx="816" cy="392"/>
          </a:xfrm>
        </p:grpSpPr>
        <p:pic>
          <p:nvPicPr>
            <p:cNvPr id="24593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594" name="Text Box 12"/>
            <p:cNvSpPr txBox="1">
              <a:spLocks noChangeArrowheads="1"/>
            </p:cNvSpPr>
            <p:nvPr/>
          </p:nvSpPr>
          <p:spPr bwMode="auto">
            <a:xfrm>
              <a:off x="1891" y="1878"/>
              <a:ext cx="544" cy="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SW1</a:t>
              </a:r>
            </a:p>
          </p:txBody>
        </p:sp>
      </p:grpSp>
      <p:cxnSp>
        <p:nvCxnSpPr>
          <p:cNvPr id="24586" name="直接连接符 21"/>
          <p:cNvCxnSpPr>
            <a:cxnSpLocks noChangeShapeType="1"/>
          </p:cNvCxnSpPr>
          <p:nvPr/>
        </p:nvCxnSpPr>
        <p:spPr bwMode="auto">
          <a:xfrm rot="5400000">
            <a:off x="4404520" y="3923508"/>
            <a:ext cx="2022475" cy="1587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17" name="直接连接符 21"/>
          <p:cNvCxnSpPr>
            <a:cxnSpLocks noChangeShapeType="1"/>
          </p:cNvCxnSpPr>
          <p:nvPr/>
        </p:nvCxnSpPr>
        <p:spPr bwMode="auto">
          <a:xfrm>
            <a:off x="6105526" y="2670176"/>
            <a:ext cx="2487613" cy="2263775"/>
          </a:xfrm>
          <a:prstGeom prst="line">
            <a:avLst/>
          </a:prstGeom>
          <a:noFill/>
          <a:ln w="44450" algn="ctr">
            <a:solidFill>
              <a:schemeClr val="bg2"/>
            </a:solidFill>
            <a:prstDash val="dash"/>
            <a:round/>
            <a:headEnd/>
            <a:tailEnd/>
          </a:ln>
        </p:spPr>
      </p:cxnSp>
      <p:cxnSp>
        <p:nvCxnSpPr>
          <p:cNvPr id="24588" name="直接连接符 21"/>
          <p:cNvCxnSpPr>
            <a:cxnSpLocks noChangeShapeType="1"/>
          </p:cNvCxnSpPr>
          <p:nvPr/>
        </p:nvCxnSpPr>
        <p:spPr bwMode="auto">
          <a:xfrm>
            <a:off x="6223000" y="5237164"/>
            <a:ext cx="1562100" cy="1587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sp>
        <p:nvSpPr>
          <p:cNvPr id="24589" name="Text Box 23"/>
          <p:cNvSpPr txBox="1">
            <a:spLocks noChangeArrowheads="1"/>
          </p:cNvSpPr>
          <p:nvPr/>
        </p:nvSpPr>
        <p:spPr bwMode="auto">
          <a:xfrm>
            <a:off x="6451601" y="5226051"/>
            <a:ext cx="1223963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100M</a:t>
            </a:r>
          </a:p>
        </p:txBody>
      </p:sp>
      <p:sp>
        <p:nvSpPr>
          <p:cNvPr id="20" name="Text Box 23"/>
          <p:cNvSpPr txBox="1">
            <a:spLocks noChangeArrowheads="1"/>
          </p:cNvSpPr>
          <p:nvPr/>
        </p:nvSpPr>
        <p:spPr bwMode="auto">
          <a:xfrm>
            <a:off x="6835776" y="3875088"/>
            <a:ext cx="1223963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100M</a:t>
            </a:r>
          </a:p>
        </p:txBody>
      </p:sp>
      <p:sp>
        <p:nvSpPr>
          <p:cNvPr id="24591" name="Text Box 23"/>
          <p:cNvSpPr txBox="1">
            <a:spLocks noChangeArrowheads="1"/>
          </p:cNvSpPr>
          <p:nvPr/>
        </p:nvSpPr>
        <p:spPr bwMode="auto">
          <a:xfrm>
            <a:off x="4681538" y="3692526"/>
            <a:ext cx="1223962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100M</a:t>
            </a:r>
          </a:p>
        </p:txBody>
      </p:sp>
      <p:sp>
        <p:nvSpPr>
          <p:cNvPr id="22" name="AutoShape 66"/>
          <p:cNvSpPr>
            <a:spLocks noChangeArrowheads="1"/>
          </p:cNvSpPr>
          <p:nvPr/>
        </p:nvSpPr>
        <p:spPr bwMode="auto">
          <a:xfrm>
            <a:off x="7712075" y="3071814"/>
            <a:ext cx="1423988" cy="511175"/>
          </a:xfrm>
          <a:prstGeom prst="wedgeRoundRectCallout">
            <a:avLst>
              <a:gd name="adj1" fmla="val -52519"/>
              <a:gd name="adj2" fmla="val 143278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anchor="ctr" anchorCtr="1"/>
          <a:lstStyle/>
          <a:p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备份链路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内容占位符 1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1571625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三台交换机的生成树协议选举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2560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生成树算法的验证</a:t>
            </a:r>
            <a:r>
              <a:rPr lang="en-US" altLang="zh-CN"/>
              <a:t>4-1</a:t>
            </a:r>
            <a:endParaRPr lang="zh-CN" altLang="en-US"/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3576639" y="2613026"/>
            <a:ext cx="1614487" cy="657225"/>
            <a:chOff x="1837" y="1706"/>
            <a:chExt cx="816" cy="392"/>
          </a:xfrm>
        </p:grpSpPr>
        <p:pic>
          <p:nvPicPr>
            <p:cNvPr id="25638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639" name="Text Box 12"/>
            <p:cNvSpPr txBox="1">
              <a:spLocks noChangeArrowheads="1"/>
            </p:cNvSpPr>
            <p:nvPr/>
          </p:nvSpPr>
          <p:spPr bwMode="auto">
            <a:xfrm>
              <a:off x="1891" y="1878"/>
              <a:ext cx="544" cy="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SW1</a:t>
              </a: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7219950" y="2613026"/>
            <a:ext cx="1614488" cy="657225"/>
            <a:chOff x="1837" y="1706"/>
            <a:chExt cx="816" cy="392"/>
          </a:xfrm>
        </p:grpSpPr>
        <p:pic>
          <p:nvPicPr>
            <p:cNvPr id="25636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637" name="Text Box 12"/>
            <p:cNvSpPr txBox="1">
              <a:spLocks noChangeArrowheads="1"/>
            </p:cNvSpPr>
            <p:nvPr/>
          </p:nvSpPr>
          <p:spPr bwMode="auto">
            <a:xfrm>
              <a:off x="1891" y="1878"/>
              <a:ext cx="544" cy="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SW2</a:t>
              </a:r>
            </a:p>
          </p:txBody>
        </p:sp>
      </p:grpSp>
      <p:sp>
        <p:nvSpPr>
          <p:cNvPr id="25606" name="Text Box 22"/>
          <p:cNvSpPr txBox="1">
            <a:spLocks noChangeArrowheads="1"/>
          </p:cNvSpPr>
          <p:nvPr/>
        </p:nvSpPr>
        <p:spPr bwMode="auto">
          <a:xfrm>
            <a:off x="8650289" y="2071689"/>
            <a:ext cx="2160587" cy="923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优先级：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32768</a:t>
            </a:r>
            <a:b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</a:b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MAC</a:t>
            </a: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地址： 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0021.1ba5.6980</a:t>
            </a:r>
          </a:p>
        </p:txBody>
      </p:sp>
      <p:sp>
        <p:nvSpPr>
          <p:cNvPr id="25607" name="Text Box 23"/>
          <p:cNvSpPr txBox="1">
            <a:spLocks noChangeArrowheads="1"/>
          </p:cNvSpPr>
          <p:nvPr/>
        </p:nvSpPr>
        <p:spPr bwMode="auto">
          <a:xfrm>
            <a:off x="7007225" y="5219701"/>
            <a:ext cx="2160588" cy="923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优先级：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32768</a:t>
            </a:r>
            <a:b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</a:b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MAC</a:t>
            </a: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地址： 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0021.d780.7400</a:t>
            </a:r>
          </a:p>
        </p:txBody>
      </p:sp>
      <p:sp>
        <p:nvSpPr>
          <p:cNvPr id="25608" name="Text Box 24"/>
          <p:cNvSpPr txBox="1">
            <a:spLocks noChangeArrowheads="1"/>
          </p:cNvSpPr>
          <p:nvPr/>
        </p:nvSpPr>
        <p:spPr bwMode="auto">
          <a:xfrm>
            <a:off x="1531938" y="2528889"/>
            <a:ext cx="2373312" cy="923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优先级：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32768</a:t>
            </a:r>
            <a:b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</a:b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MAC</a:t>
            </a: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地址： 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001f.caff.1000</a:t>
            </a:r>
          </a:p>
        </p:txBody>
      </p: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5475289" y="5314951"/>
            <a:ext cx="1614487" cy="657225"/>
            <a:chOff x="1837" y="1706"/>
            <a:chExt cx="816" cy="392"/>
          </a:xfrm>
        </p:grpSpPr>
        <p:pic>
          <p:nvPicPr>
            <p:cNvPr id="25634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635" name="Text Box 12"/>
            <p:cNvSpPr txBox="1">
              <a:spLocks noChangeArrowheads="1"/>
            </p:cNvSpPr>
            <p:nvPr/>
          </p:nvSpPr>
          <p:spPr bwMode="auto">
            <a:xfrm>
              <a:off x="1891" y="1878"/>
              <a:ext cx="544" cy="2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SW3</a:t>
              </a:r>
            </a:p>
          </p:txBody>
        </p:sp>
      </p:grpSp>
      <p:cxnSp>
        <p:nvCxnSpPr>
          <p:cNvPr id="25610" name="直接连接符 21"/>
          <p:cNvCxnSpPr>
            <a:cxnSpLocks noChangeShapeType="1"/>
          </p:cNvCxnSpPr>
          <p:nvPr/>
        </p:nvCxnSpPr>
        <p:spPr bwMode="auto">
          <a:xfrm rot="16200000" flipH="1">
            <a:off x="4170363" y="3433763"/>
            <a:ext cx="2087562" cy="1662112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25611" name="直接连接符 21"/>
          <p:cNvCxnSpPr>
            <a:cxnSpLocks noChangeShapeType="1"/>
          </p:cNvCxnSpPr>
          <p:nvPr/>
        </p:nvCxnSpPr>
        <p:spPr bwMode="auto">
          <a:xfrm flipV="1">
            <a:off x="5191126" y="2917825"/>
            <a:ext cx="2028825" cy="0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25612" name="直接连接符 21"/>
          <p:cNvCxnSpPr>
            <a:cxnSpLocks noChangeShapeType="1"/>
          </p:cNvCxnSpPr>
          <p:nvPr/>
        </p:nvCxnSpPr>
        <p:spPr bwMode="auto">
          <a:xfrm rot="5400000" flipH="1" flipV="1">
            <a:off x="6246813" y="3552825"/>
            <a:ext cx="2112962" cy="1449388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sp>
        <p:nvSpPr>
          <p:cNvPr id="19" name="Text Box 26"/>
          <p:cNvSpPr txBox="1">
            <a:spLocks noChangeArrowheads="1"/>
          </p:cNvSpPr>
          <p:nvPr/>
        </p:nvSpPr>
        <p:spPr bwMode="auto">
          <a:xfrm>
            <a:off x="3613150" y="2143125"/>
            <a:ext cx="1716088" cy="4000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FF0000"/>
                </a:solidFill>
              </a:rPr>
              <a:t>Root Bridge</a:t>
            </a:r>
          </a:p>
        </p:txBody>
      </p:sp>
      <p:sp>
        <p:nvSpPr>
          <p:cNvPr id="20" name="Oval 25"/>
          <p:cNvSpPr>
            <a:spLocks noChangeArrowheads="1"/>
          </p:cNvSpPr>
          <p:nvPr/>
        </p:nvSpPr>
        <p:spPr bwMode="auto">
          <a:xfrm>
            <a:off x="5810250" y="5095876"/>
            <a:ext cx="400050" cy="328613"/>
          </a:xfrm>
          <a:prstGeom prst="ellipse">
            <a:avLst/>
          </a:prstGeom>
          <a:noFill/>
          <a:ln w="476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5400" b="1">
              <a:solidFill>
                <a:schemeClr val="tx2"/>
              </a:solidFill>
            </a:endParaRPr>
          </a:p>
        </p:txBody>
      </p:sp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5810251" y="3087689"/>
            <a:ext cx="1533525" cy="369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FF3300"/>
                </a:solidFill>
                <a:ea typeface="宋体" charset="-122"/>
                <a:cs typeface="Arial" charset="0"/>
              </a:rPr>
              <a:t>Root Port</a:t>
            </a:r>
          </a:p>
        </p:txBody>
      </p:sp>
      <p:sp>
        <p:nvSpPr>
          <p:cNvPr id="22" name="Oval 25"/>
          <p:cNvSpPr>
            <a:spLocks noChangeArrowheads="1"/>
          </p:cNvSpPr>
          <p:nvPr/>
        </p:nvSpPr>
        <p:spPr bwMode="auto">
          <a:xfrm>
            <a:off x="7024689" y="2722563"/>
            <a:ext cx="390525" cy="328612"/>
          </a:xfrm>
          <a:prstGeom prst="ellipse">
            <a:avLst/>
          </a:prstGeom>
          <a:noFill/>
          <a:ln w="476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5400" b="1">
              <a:solidFill>
                <a:schemeClr val="tx2"/>
              </a:solidFill>
            </a:endParaRPr>
          </a:p>
        </p:txBody>
      </p:sp>
      <p:sp>
        <p:nvSpPr>
          <p:cNvPr id="25617" name="Text Box 23"/>
          <p:cNvSpPr txBox="1">
            <a:spLocks noChangeArrowheads="1"/>
          </p:cNvSpPr>
          <p:nvPr/>
        </p:nvSpPr>
        <p:spPr bwMode="auto">
          <a:xfrm>
            <a:off x="7318376" y="4110038"/>
            <a:ext cx="1223963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100M</a:t>
            </a:r>
          </a:p>
        </p:txBody>
      </p:sp>
      <p:sp>
        <p:nvSpPr>
          <p:cNvPr id="25618" name="Text Box 23"/>
          <p:cNvSpPr txBox="1">
            <a:spLocks noChangeArrowheads="1"/>
          </p:cNvSpPr>
          <p:nvPr/>
        </p:nvSpPr>
        <p:spPr bwMode="auto">
          <a:xfrm>
            <a:off x="5930901" y="2576513"/>
            <a:ext cx="1223963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100M</a:t>
            </a:r>
          </a:p>
        </p:txBody>
      </p:sp>
      <p:sp>
        <p:nvSpPr>
          <p:cNvPr id="25619" name="Text Box 23"/>
          <p:cNvSpPr txBox="1">
            <a:spLocks noChangeArrowheads="1"/>
          </p:cNvSpPr>
          <p:nvPr/>
        </p:nvSpPr>
        <p:spPr bwMode="auto">
          <a:xfrm>
            <a:off x="4452938" y="4146551"/>
            <a:ext cx="1223962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100M</a:t>
            </a:r>
          </a:p>
        </p:txBody>
      </p:sp>
      <p:sp>
        <p:nvSpPr>
          <p:cNvPr id="26" name="Text Box 22"/>
          <p:cNvSpPr txBox="1">
            <a:spLocks noChangeArrowheads="1"/>
          </p:cNvSpPr>
          <p:nvPr/>
        </p:nvSpPr>
        <p:spPr bwMode="auto">
          <a:xfrm>
            <a:off x="4379914" y="5168900"/>
            <a:ext cx="1533525" cy="369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>
                <a:solidFill>
                  <a:srgbClr val="FF3300"/>
                </a:solidFill>
                <a:ea typeface="宋体" charset="-122"/>
                <a:cs typeface="Arial" charset="0"/>
              </a:rPr>
              <a:t>Root Port</a:t>
            </a:r>
          </a:p>
        </p:txBody>
      </p:sp>
      <p:sp>
        <p:nvSpPr>
          <p:cNvPr id="27" name="AutoShape 30"/>
          <p:cNvSpPr>
            <a:spLocks noChangeArrowheads="1"/>
          </p:cNvSpPr>
          <p:nvPr/>
        </p:nvSpPr>
        <p:spPr bwMode="auto">
          <a:xfrm>
            <a:off x="4233863" y="3087689"/>
            <a:ext cx="336550" cy="339725"/>
          </a:xfrm>
          <a:prstGeom prst="star5">
            <a:avLst/>
          </a:prstGeom>
          <a:noFill/>
          <a:ln w="47625" algn="ctr">
            <a:solidFill>
              <a:srgbClr val="FF993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28" name="AutoShape 30"/>
          <p:cNvSpPr>
            <a:spLocks noChangeArrowheads="1"/>
          </p:cNvSpPr>
          <p:nvPr/>
        </p:nvSpPr>
        <p:spPr bwMode="auto">
          <a:xfrm>
            <a:off x="7775575" y="3160714"/>
            <a:ext cx="336550" cy="339725"/>
          </a:xfrm>
          <a:prstGeom prst="star5">
            <a:avLst/>
          </a:prstGeom>
          <a:noFill/>
          <a:ln w="47625" algn="ctr">
            <a:solidFill>
              <a:srgbClr val="FF993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29" name="AutoShape 30"/>
          <p:cNvSpPr>
            <a:spLocks noChangeArrowheads="1"/>
          </p:cNvSpPr>
          <p:nvPr/>
        </p:nvSpPr>
        <p:spPr bwMode="auto">
          <a:xfrm>
            <a:off x="5037138" y="2686051"/>
            <a:ext cx="336550" cy="339725"/>
          </a:xfrm>
          <a:prstGeom prst="star5">
            <a:avLst/>
          </a:prstGeom>
          <a:noFill/>
          <a:ln w="47625" algn="ctr">
            <a:solidFill>
              <a:srgbClr val="FF993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30" name="AutoShape 154"/>
          <p:cNvSpPr>
            <a:spLocks noChangeArrowheads="1"/>
          </p:cNvSpPr>
          <p:nvPr/>
        </p:nvSpPr>
        <p:spPr bwMode="auto">
          <a:xfrm>
            <a:off x="6453188" y="5132388"/>
            <a:ext cx="374650" cy="328612"/>
          </a:xfrm>
          <a:prstGeom prst="flowChartSummingJunction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ffectLst>
            <a:prstShdw prst="shdw17" dist="17961" dir="2700000">
              <a:srgbClr val="005C5C"/>
            </a:prstShdw>
          </a:effectLst>
        </p:spPr>
        <p:txBody>
          <a:bodyPr wrap="none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31" name="Text Box 23"/>
          <p:cNvSpPr txBox="1">
            <a:spLocks noChangeArrowheads="1"/>
          </p:cNvSpPr>
          <p:nvPr/>
        </p:nvSpPr>
        <p:spPr bwMode="auto">
          <a:xfrm>
            <a:off x="7227889" y="3197226"/>
            <a:ext cx="547687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DP</a:t>
            </a:r>
          </a:p>
        </p:txBody>
      </p:sp>
      <p:sp>
        <p:nvSpPr>
          <p:cNvPr id="32" name="Text Box 23"/>
          <p:cNvSpPr txBox="1">
            <a:spLocks noChangeArrowheads="1"/>
          </p:cNvSpPr>
          <p:nvPr/>
        </p:nvSpPr>
        <p:spPr bwMode="auto">
          <a:xfrm>
            <a:off x="4525964" y="3160713"/>
            <a:ext cx="547687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DP</a:t>
            </a:r>
          </a:p>
        </p:txBody>
      </p:sp>
      <p:sp>
        <p:nvSpPr>
          <p:cNvPr id="33" name="Text Box 23"/>
          <p:cNvSpPr txBox="1">
            <a:spLocks noChangeArrowheads="1"/>
          </p:cNvSpPr>
          <p:nvPr/>
        </p:nvSpPr>
        <p:spPr bwMode="auto">
          <a:xfrm>
            <a:off x="4964114" y="2978151"/>
            <a:ext cx="547687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DP</a:t>
            </a:r>
          </a:p>
        </p:txBody>
      </p:sp>
      <p:sp>
        <p:nvSpPr>
          <p:cNvPr id="25628" name="Text Box 23"/>
          <p:cNvSpPr txBox="1">
            <a:spLocks noChangeArrowheads="1"/>
          </p:cNvSpPr>
          <p:nvPr/>
        </p:nvSpPr>
        <p:spPr bwMode="auto">
          <a:xfrm>
            <a:off x="3759200" y="3376613"/>
            <a:ext cx="833438" cy="3683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F0/23</a:t>
            </a:r>
          </a:p>
        </p:txBody>
      </p:sp>
      <p:sp>
        <p:nvSpPr>
          <p:cNvPr id="25629" name="Text Box 23"/>
          <p:cNvSpPr txBox="1">
            <a:spLocks noChangeArrowheads="1"/>
          </p:cNvSpPr>
          <p:nvPr/>
        </p:nvSpPr>
        <p:spPr bwMode="auto">
          <a:xfrm>
            <a:off x="5080000" y="2393950"/>
            <a:ext cx="833438" cy="369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F0/24</a:t>
            </a:r>
          </a:p>
        </p:txBody>
      </p:sp>
      <p:sp>
        <p:nvSpPr>
          <p:cNvPr id="25630" name="Text Box 23"/>
          <p:cNvSpPr txBox="1">
            <a:spLocks noChangeArrowheads="1"/>
          </p:cNvSpPr>
          <p:nvPr/>
        </p:nvSpPr>
        <p:spPr bwMode="auto">
          <a:xfrm>
            <a:off x="6826250" y="2393950"/>
            <a:ext cx="833438" cy="369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F0/24</a:t>
            </a:r>
          </a:p>
        </p:txBody>
      </p:sp>
      <p:sp>
        <p:nvSpPr>
          <p:cNvPr id="25631" name="Text Box 23"/>
          <p:cNvSpPr txBox="1">
            <a:spLocks noChangeArrowheads="1"/>
          </p:cNvSpPr>
          <p:nvPr/>
        </p:nvSpPr>
        <p:spPr bwMode="auto">
          <a:xfrm>
            <a:off x="6796089" y="4837113"/>
            <a:ext cx="833437" cy="3683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F0/24</a:t>
            </a:r>
          </a:p>
        </p:txBody>
      </p:sp>
      <p:sp>
        <p:nvSpPr>
          <p:cNvPr id="25632" name="Text Box 23"/>
          <p:cNvSpPr txBox="1">
            <a:spLocks noChangeArrowheads="1"/>
          </p:cNvSpPr>
          <p:nvPr/>
        </p:nvSpPr>
        <p:spPr bwMode="auto">
          <a:xfrm>
            <a:off x="4927600" y="4840289"/>
            <a:ext cx="833438" cy="369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F0/23</a:t>
            </a:r>
          </a:p>
        </p:txBody>
      </p:sp>
      <p:sp>
        <p:nvSpPr>
          <p:cNvPr id="25633" name="Text Box 23"/>
          <p:cNvSpPr txBox="1">
            <a:spLocks noChangeArrowheads="1"/>
          </p:cNvSpPr>
          <p:nvPr/>
        </p:nvSpPr>
        <p:spPr bwMode="auto">
          <a:xfrm>
            <a:off x="7891464" y="3379789"/>
            <a:ext cx="833437" cy="369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F0/23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  <p:bldP spid="21" grpId="0"/>
      <p:bldP spid="22" grpId="0" animBg="1"/>
      <p:bldP spid="26" grpId="0"/>
      <p:bldP spid="30" grpId="0" animBg="1"/>
      <p:bldP spid="31" grpId="0"/>
      <p:bldP spid="32" grpId="0"/>
      <p:bldP spid="3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AutoShape 8"/>
          <p:cNvSpPr>
            <a:spLocks noChangeArrowheads="1"/>
          </p:cNvSpPr>
          <p:nvPr/>
        </p:nvSpPr>
        <p:spPr bwMode="auto">
          <a:xfrm>
            <a:off x="1854201" y="1646238"/>
            <a:ext cx="7813675" cy="4926012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zh-CN"/>
          </a:p>
        </p:txBody>
      </p:sp>
      <p:sp>
        <p:nvSpPr>
          <p:cNvPr id="26627" name="内容占位符 1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500063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SW1</a:t>
            </a:r>
            <a:r>
              <a:rPr lang="zh-CN" altLang="en-US"/>
              <a:t>的生成树状态</a:t>
            </a:r>
          </a:p>
        </p:txBody>
      </p:sp>
      <p:sp>
        <p:nvSpPr>
          <p:cNvPr id="26628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生成树算法的验证</a:t>
            </a:r>
            <a:r>
              <a:rPr lang="en-US" altLang="zh-CN"/>
              <a:t>4-2</a:t>
            </a:r>
            <a:endParaRPr lang="zh-CN" altLang="en-US"/>
          </a:p>
        </p:txBody>
      </p:sp>
      <p:sp>
        <p:nvSpPr>
          <p:cNvPr id="26629" name="矩形 3"/>
          <p:cNvSpPr>
            <a:spLocks noChangeArrowheads="1"/>
          </p:cNvSpPr>
          <p:nvPr/>
        </p:nvSpPr>
        <p:spPr bwMode="auto">
          <a:xfrm>
            <a:off x="2024063" y="1643063"/>
            <a:ext cx="828675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solidFill>
                  <a:schemeClr val="tx2"/>
                </a:solidFill>
              </a:rPr>
              <a:t>SW1#show spanning-tree 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VLAN0001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Spanning tree enabled protocol ieee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Root ID    Priority    32769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           Address     001f.caff.1000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           This bridge is the root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           Hello Time   2 sec  Max Age 20 sec  Forward Delay 15 sec</a:t>
            </a:r>
          </a:p>
          <a:p>
            <a:endParaRPr lang="en-US" altLang="zh-CN" b="1">
              <a:solidFill>
                <a:schemeClr val="tx2"/>
              </a:solidFill>
            </a:endParaRPr>
          </a:p>
          <a:p>
            <a:r>
              <a:rPr lang="en-US" altLang="zh-CN" b="1">
                <a:solidFill>
                  <a:schemeClr val="tx2"/>
                </a:solidFill>
              </a:rPr>
              <a:t>  Bridge ID  Priority    32769  (priority 32768 sys-id-ext 1)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           Address     001f.caff.1000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           Hello Time   2 sec  Max Age 20 sec  Forward Delay 15 sec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           Aging Time 300</a:t>
            </a:r>
          </a:p>
          <a:p>
            <a:endParaRPr lang="en-US" altLang="zh-CN" b="1">
              <a:solidFill>
                <a:schemeClr val="tx2"/>
              </a:solidFill>
            </a:endParaRPr>
          </a:p>
          <a:p>
            <a:r>
              <a:rPr lang="en-US" altLang="zh-CN" b="1">
                <a:solidFill>
                  <a:schemeClr val="tx2"/>
                </a:solidFill>
              </a:rPr>
              <a:t>Interface        Role Sts Cost      Prio.Nbr Type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---------------- ---- --- --------- -------- -----------------------------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Fa0/23           Desg FWD 19        128.25   P2p 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Fa0/24           Desg FWD 19        128.26   P2p</a:t>
            </a: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8" name="圆角矩形 7"/>
          <p:cNvSpPr>
            <a:spLocks noChangeArrowheads="1"/>
          </p:cNvSpPr>
          <p:nvPr/>
        </p:nvSpPr>
        <p:spPr bwMode="auto">
          <a:xfrm>
            <a:off x="2024063" y="1965326"/>
            <a:ext cx="7429500" cy="1749425"/>
          </a:xfrm>
          <a:prstGeom prst="roundRect">
            <a:avLst>
              <a:gd name="adj" fmla="val 10616"/>
            </a:avLst>
          </a:prstGeom>
          <a:noFill/>
          <a:ln w="2540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 anchorCtr="1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>
            <a:spLocks noChangeArrowheads="1"/>
          </p:cNvSpPr>
          <p:nvPr/>
        </p:nvSpPr>
        <p:spPr bwMode="auto">
          <a:xfrm>
            <a:off x="2024063" y="3857626"/>
            <a:ext cx="7429500" cy="1285875"/>
          </a:xfrm>
          <a:prstGeom prst="roundRect">
            <a:avLst>
              <a:gd name="adj" fmla="val 10616"/>
            </a:avLst>
          </a:prstGeom>
          <a:noFill/>
          <a:ln w="2540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 anchorCtr="1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>
            <a:spLocks noChangeArrowheads="1"/>
          </p:cNvSpPr>
          <p:nvPr/>
        </p:nvSpPr>
        <p:spPr bwMode="auto">
          <a:xfrm>
            <a:off x="2024063" y="5214938"/>
            <a:ext cx="7429500" cy="1143000"/>
          </a:xfrm>
          <a:prstGeom prst="roundRect">
            <a:avLst>
              <a:gd name="adj" fmla="val 10616"/>
            </a:avLst>
          </a:prstGeom>
          <a:noFill/>
          <a:ln w="2540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 anchorCtr="1"/>
          <a:lstStyle/>
          <a:p>
            <a:pPr algn="ctr"/>
            <a:endParaRPr lang="zh-CN" altLang="en-US"/>
          </a:p>
        </p:txBody>
      </p:sp>
      <p:sp>
        <p:nvSpPr>
          <p:cNvPr id="11" name="AutoShape 11"/>
          <p:cNvSpPr>
            <a:spLocks noChangeArrowheads="1"/>
          </p:cNvSpPr>
          <p:nvPr/>
        </p:nvSpPr>
        <p:spPr bwMode="auto">
          <a:xfrm>
            <a:off x="8167688" y="1857376"/>
            <a:ext cx="1638300" cy="442913"/>
          </a:xfrm>
          <a:prstGeom prst="wedgeRoundRectCallout">
            <a:avLst>
              <a:gd name="adj1" fmla="val -49611"/>
              <a:gd name="adj2" fmla="val 84407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anchor="ctr" anchorCtr="1">
            <a:spAutoFit/>
          </a:bodyPr>
          <a:lstStyle/>
          <a:p>
            <a:pPr algn="ctr"/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根网桥信息</a:t>
            </a:r>
            <a:endParaRPr lang="en-US" altLang="zh-CN" sz="20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" name="AutoShape 11"/>
          <p:cNvSpPr>
            <a:spLocks noChangeArrowheads="1"/>
          </p:cNvSpPr>
          <p:nvPr/>
        </p:nvSpPr>
        <p:spPr bwMode="auto">
          <a:xfrm>
            <a:off x="8310564" y="5000626"/>
            <a:ext cx="2166937" cy="442913"/>
          </a:xfrm>
          <a:prstGeom prst="wedgeRoundRectCallout">
            <a:avLst>
              <a:gd name="adj1" fmla="val -52565"/>
              <a:gd name="adj2" fmla="val -107741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anchor="ctr" anchorCtr="1">
            <a:spAutoFit/>
          </a:bodyPr>
          <a:lstStyle/>
          <a:p>
            <a:pPr algn="ctr"/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本地交换机信息</a:t>
            </a:r>
            <a:endParaRPr lang="en-US" altLang="zh-CN" sz="20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" name="AutoShape 11"/>
          <p:cNvSpPr>
            <a:spLocks noChangeArrowheads="1"/>
          </p:cNvSpPr>
          <p:nvPr/>
        </p:nvSpPr>
        <p:spPr bwMode="auto">
          <a:xfrm>
            <a:off x="6881813" y="6072188"/>
            <a:ext cx="2692400" cy="442912"/>
          </a:xfrm>
          <a:prstGeom prst="wedgeRoundRectCallout">
            <a:avLst>
              <a:gd name="adj1" fmla="val -47019"/>
              <a:gd name="adj2" fmla="val -88333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anchor="ctr" anchorCtr="1">
            <a:spAutoFit/>
          </a:bodyPr>
          <a:lstStyle/>
          <a:p>
            <a:pPr algn="ctr"/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本地交换机接口信息</a:t>
            </a:r>
            <a:endParaRPr lang="en-US" altLang="zh-CN" sz="20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" name="AutoShape 52"/>
          <p:cNvSpPr>
            <a:spLocks noChangeArrowheads="1"/>
          </p:cNvSpPr>
          <p:nvPr/>
        </p:nvSpPr>
        <p:spPr bwMode="auto">
          <a:xfrm>
            <a:off x="5953126" y="2643188"/>
            <a:ext cx="1928813" cy="474662"/>
          </a:xfrm>
          <a:prstGeom prst="wedgeRoundRectCallout">
            <a:avLst>
              <a:gd name="adj1" fmla="val -72193"/>
              <a:gd name="adj2" fmla="val 64937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0"/>
          </a:gradFill>
          <a:ln w="9525" algn="ctr">
            <a:solidFill>
              <a:srgbClr val="FF99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="ctr" anchorCtr="1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生成树的根</a:t>
            </a:r>
          </a:p>
        </p:txBody>
      </p:sp>
      <p:sp>
        <p:nvSpPr>
          <p:cNvPr id="17" name="AutoShape 52"/>
          <p:cNvSpPr>
            <a:spLocks noChangeArrowheads="1"/>
          </p:cNvSpPr>
          <p:nvPr/>
        </p:nvSpPr>
        <p:spPr bwMode="auto">
          <a:xfrm>
            <a:off x="1666875" y="5286376"/>
            <a:ext cx="1785938" cy="474663"/>
          </a:xfrm>
          <a:prstGeom prst="wedgeRoundRectCallout">
            <a:avLst>
              <a:gd name="adj1" fmla="val 50840"/>
              <a:gd name="adj2" fmla="val 80990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0"/>
          </a:gradFill>
          <a:ln w="9525" algn="ctr">
            <a:solidFill>
              <a:srgbClr val="FF99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="ctr" anchorCtr="1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都是指定端口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6" grpId="1" animBg="1"/>
      <p:bldP spid="17" grpId="0" animBg="1"/>
      <p:bldP spid="17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8"/>
          <p:cNvSpPr>
            <a:spLocks noChangeArrowheads="1"/>
          </p:cNvSpPr>
          <p:nvPr/>
        </p:nvSpPr>
        <p:spPr bwMode="auto">
          <a:xfrm>
            <a:off x="1952626" y="1571626"/>
            <a:ext cx="7813675" cy="5000625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zh-CN"/>
          </a:p>
        </p:txBody>
      </p:sp>
      <p:sp>
        <p:nvSpPr>
          <p:cNvPr id="27651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SW2</a:t>
            </a:r>
            <a:r>
              <a:rPr lang="zh-CN" altLang="en-US"/>
              <a:t>的生成树状态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27652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生成树算法的验证</a:t>
            </a:r>
            <a:r>
              <a:rPr lang="en-US" altLang="zh-CN"/>
              <a:t>4-3</a:t>
            </a:r>
            <a:endParaRPr lang="zh-CN" altLang="en-US"/>
          </a:p>
        </p:txBody>
      </p:sp>
      <p:sp>
        <p:nvSpPr>
          <p:cNvPr id="27653" name="矩形 3"/>
          <p:cNvSpPr>
            <a:spLocks noChangeArrowheads="1"/>
          </p:cNvSpPr>
          <p:nvPr/>
        </p:nvSpPr>
        <p:spPr bwMode="auto">
          <a:xfrm>
            <a:off x="2095501" y="1571626"/>
            <a:ext cx="7858125" cy="5078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solidFill>
                  <a:schemeClr val="tx2"/>
                </a:solidFill>
              </a:rPr>
              <a:t>SW2#show spanning-tree 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VLAN0001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Spanning tree enabled protocol ieee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Root ID    Priority    32769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           Address     001f.caff.1000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           Cost        19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           Port        26 (FastEthernet0/24)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           Hello Time   2 sec  Max Age 20 sec  Forward Delay 15 sec</a:t>
            </a:r>
          </a:p>
          <a:p>
            <a:endParaRPr lang="en-US" altLang="zh-CN" b="1">
              <a:solidFill>
                <a:schemeClr val="tx2"/>
              </a:solidFill>
            </a:endParaRPr>
          </a:p>
          <a:p>
            <a:r>
              <a:rPr lang="en-US" altLang="zh-CN" b="1">
                <a:solidFill>
                  <a:schemeClr val="tx2"/>
                </a:solidFill>
              </a:rPr>
              <a:t>  Bridge ID  Priority    32769  (priority 32768 sys-id-ext 1)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           Address     0021.1ba5.6980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           Hello Time   2 sec  Max Age 20 sec  Forward Delay 15 sec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           Aging Time 300</a:t>
            </a:r>
          </a:p>
          <a:p>
            <a:endParaRPr lang="en-US" altLang="zh-CN" b="1">
              <a:solidFill>
                <a:schemeClr val="tx2"/>
              </a:solidFill>
            </a:endParaRPr>
          </a:p>
          <a:p>
            <a:r>
              <a:rPr lang="en-US" altLang="zh-CN" b="1">
                <a:solidFill>
                  <a:schemeClr val="tx2"/>
                </a:solidFill>
              </a:rPr>
              <a:t>Interface        Role Sts Cost      Prio.Nbr Type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------------- ---- --- --------- -------- --------------------------------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Fa0/23           Desg FWD 19        128.25   P2p               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Fa0/24           Root FWD 19        128.26   P2p</a:t>
            </a: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7" name="AutoShape 52"/>
          <p:cNvSpPr>
            <a:spLocks noChangeArrowheads="1"/>
          </p:cNvSpPr>
          <p:nvPr/>
        </p:nvSpPr>
        <p:spPr bwMode="auto">
          <a:xfrm>
            <a:off x="4310063" y="5286376"/>
            <a:ext cx="1879600" cy="474663"/>
          </a:xfrm>
          <a:prstGeom prst="wedgeRoundRectCallout">
            <a:avLst>
              <a:gd name="adj1" fmla="val -71170"/>
              <a:gd name="adj2" fmla="val 115390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0"/>
          </a:gradFill>
          <a:ln w="9525" algn="ctr">
            <a:solidFill>
              <a:srgbClr val="FF99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="ctr" anchorCtr="1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指定端口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AutoShape 8"/>
          <p:cNvSpPr>
            <a:spLocks noChangeArrowheads="1"/>
          </p:cNvSpPr>
          <p:nvPr/>
        </p:nvSpPr>
        <p:spPr bwMode="auto">
          <a:xfrm>
            <a:off x="1952626" y="1571626"/>
            <a:ext cx="7813675" cy="5072063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zh-CN"/>
          </a:p>
        </p:txBody>
      </p:sp>
      <p:sp>
        <p:nvSpPr>
          <p:cNvPr id="28675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71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SW3</a:t>
            </a:r>
            <a:r>
              <a:rPr lang="zh-CN" altLang="en-US"/>
              <a:t>的生成树状态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28676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生成树算法的验证</a:t>
            </a:r>
            <a:r>
              <a:rPr lang="en-US" altLang="zh-CN"/>
              <a:t>4-4</a:t>
            </a:r>
            <a:endParaRPr lang="zh-CN" altLang="en-US"/>
          </a:p>
        </p:txBody>
      </p:sp>
      <p:sp>
        <p:nvSpPr>
          <p:cNvPr id="28677" name="矩形 4"/>
          <p:cNvSpPr>
            <a:spLocks noChangeArrowheads="1"/>
          </p:cNvSpPr>
          <p:nvPr/>
        </p:nvSpPr>
        <p:spPr bwMode="auto">
          <a:xfrm>
            <a:off x="2095500" y="1571626"/>
            <a:ext cx="8358188" cy="5078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solidFill>
                  <a:schemeClr val="tx2"/>
                </a:solidFill>
              </a:rPr>
              <a:t>SW3#show spanning-tree 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VLAN0001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Spanning tree enabled protocol ieee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Root ID    Priority    32769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           Address     001f.caff.1000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           Cost        19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           Port        23 (FastEthernet0/23)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           Hello Time   2 sec  Max Age 20 sec  Forward Delay 15 sec</a:t>
            </a:r>
          </a:p>
          <a:p>
            <a:endParaRPr lang="en-US" altLang="zh-CN" b="1">
              <a:solidFill>
                <a:schemeClr val="tx2"/>
              </a:solidFill>
            </a:endParaRPr>
          </a:p>
          <a:p>
            <a:r>
              <a:rPr lang="en-US" altLang="zh-CN" b="1">
                <a:solidFill>
                  <a:schemeClr val="tx2"/>
                </a:solidFill>
              </a:rPr>
              <a:t>  Bridge ID  Priority    32769  (priority 32768 sys-id-ext 1)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           Address     0021.d780.7400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           Hello Time   2 sec  Max Age 20 sec  Forward Delay 15 sec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             Aging Time 300</a:t>
            </a:r>
          </a:p>
          <a:p>
            <a:endParaRPr lang="en-US" altLang="zh-CN" b="1">
              <a:solidFill>
                <a:schemeClr val="tx2"/>
              </a:solidFill>
            </a:endParaRPr>
          </a:p>
          <a:p>
            <a:r>
              <a:rPr lang="en-US" altLang="zh-CN" b="1">
                <a:solidFill>
                  <a:schemeClr val="tx2"/>
                </a:solidFill>
              </a:rPr>
              <a:t>Interface        Role Sts Cost      Prio.Nbr Type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------------- ---- --- --------- -------- --------------------------------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Fa0/23           Root FWD 19        128.23   P2p </a:t>
            </a:r>
          </a:p>
          <a:p>
            <a:r>
              <a:rPr lang="en-US" altLang="zh-CN" b="1">
                <a:solidFill>
                  <a:schemeClr val="tx2"/>
                </a:solidFill>
              </a:rPr>
              <a:t>Fa0/24           Altn  BLK 19        128.24   P2p </a:t>
            </a: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7" name="AutoShape 52"/>
          <p:cNvSpPr>
            <a:spLocks noChangeArrowheads="1"/>
          </p:cNvSpPr>
          <p:nvPr/>
        </p:nvSpPr>
        <p:spPr bwMode="auto">
          <a:xfrm>
            <a:off x="5095876" y="5715001"/>
            <a:ext cx="1285875" cy="474663"/>
          </a:xfrm>
          <a:prstGeom prst="wedgeRoundRectCallout">
            <a:avLst>
              <a:gd name="adj1" fmla="val -61183"/>
              <a:gd name="adj2" fmla="val 85578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rgbClr val="FFFFFF"/>
              </a:gs>
            </a:gsLst>
            <a:lin ang="5400000" scaled="0"/>
          </a:gradFill>
          <a:ln w="9525" algn="ctr">
            <a:solidFill>
              <a:srgbClr val="FF9900"/>
            </a:solidFill>
            <a:miter lim="800000"/>
            <a:headEnd/>
            <a:tailEnd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anchor="ctr" anchorCtr="1"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阻塞端口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内容占位符 1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785813"/>
          </a:xfrm>
        </p:spPr>
        <p:txBody>
          <a:bodyPr>
            <a:normAutofit fontScale="25000" lnSpcReduction="20000"/>
          </a:bodyPr>
          <a:lstStyle/>
          <a:p>
            <a:pPr>
              <a:spcBef>
                <a:spcPts val="675"/>
              </a:spcBef>
            </a:pPr>
            <a:r>
              <a:rPr lang="en-US" altLang="zh-CN"/>
              <a:t>BPDU</a:t>
            </a:r>
          </a:p>
          <a:p>
            <a:pPr lvl="1">
              <a:spcBef>
                <a:spcPts val="475"/>
              </a:spcBef>
            </a:pPr>
            <a:r>
              <a:rPr lang="en-US" altLang="zh-CN"/>
              <a:t>Bridge Protocol Data Unit </a:t>
            </a:r>
            <a:r>
              <a:rPr lang="zh-CN" altLang="en-US"/>
              <a:t>－桥协议数据单元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使用组播发送</a:t>
            </a:r>
            <a:r>
              <a:rPr lang="en-US" altLang="zh-CN"/>
              <a:t>BPDU</a:t>
            </a:r>
            <a:endParaRPr lang="zh-CN" altLang="en-US"/>
          </a:p>
          <a:p>
            <a:pPr>
              <a:spcBef>
                <a:spcPts val="675"/>
              </a:spcBef>
            </a:pPr>
            <a:r>
              <a:rPr lang="en-US" altLang="zh-CN"/>
              <a:t>BPDU</a:t>
            </a:r>
            <a:r>
              <a:rPr lang="zh-CN" altLang="en-US"/>
              <a:t>分为</a:t>
            </a:r>
            <a:r>
              <a:rPr lang="en-US" altLang="zh-CN"/>
              <a:t>2</a:t>
            </a:r>
            <a:r>
              <a:rPr lang="zh-CN" altLang="en-US"/>
              <a:t>种类型：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配置</a:t>
            </a:r>
            <a:r>
              <a:rPr lang="en-US" altLang="zh-CN"/>
              <a:t>BPDU</a:t>
            </a:r>
            <a:endParaRPr lang="zh-CN" altLang="en-US"/>
          </a:p>
          <a:p>
            <a:pPr lvl="1">
              <a:spcBef>
                <a:spcPts val="475"/>
              </a:spcBef>
            </a:pPr>
            <a:r>
              <a:rPr lang="zh-CN" altLang="en-US"/>
              <a:t>拓扑变更通告（</a:t>
            </a:r>
            <a:r>
              <a:rPr lang="en-US" altLang="zh-CN"/>
              <a:t>TCN</a:t>
            </a:r>
            <a:r>
              <a:rPr lang="zh-CN" altLang="en-US"/>
              <a:t>）</a:t>
            </a:r>
            <a:r>
              <a:rPr lang="en-US" altLang="zh-CN"/>
              <a:t>BPDU</a:t>
            </a:r>
          </a:p>
          <a:p>
            <a:pPr>
              <a:spcBef>
                <a:spcPts val="675"/>
              </a:spcBef>
            </a:pPr>
            <a:r>
              <a:rPr lang="en-US" altLang="zh-CN"/>
              <a:t>BPDU</a:t>
            </a:r>
            <a:r>
              <a:rPr lang="zh-CN" altLang="en-US"/>
              <a:t>报文字段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29699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BPDU</a:t>
            </a:r>
            <a:r>
              <a:rPr lang="zh-CN" altLang="en-US"/>
              <a:t>（桥协议数据单元）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71500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675"/>
              </a:spcBef>
            </a:pPr>
            <a:r>
              <a:rPr lang="zh-CN" altLang="en-US"/>
              <a:t>当交换机启动时，假定自己是根网桥，在向外发送的</a:t>
            </a:r>
            <a:r>
              <a:rPr lang="en-US" altLang="zh-CN"/>
              <a:t>BPDU</a:t>
            </a:r>
            <a:r>
              <a:rPr lang="zh-CN" altLang="en-US"/>
              <a:t>中根网桥</a:t>
            </a:r>
            <a:r>
              <a:rPr lang="en-US" altLang="zh-CN"/>
              <a:t>ID</a:t>
            </a:r>
            <a:r>
              <a:rPr lang="zh-CN" altLang="en-US"/>
              <a:t>字段填写自己的网桥</a:t>
            </a:r>
            <a:r>
              <a:rPr lang="en-US" altLang="zh-CN"/>
              <a:t>ID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3072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STP</a:t>
            </a:r>
            <a:r>
              <a:rPr lang="zh-CN" altLang="en-US"/>
              <a:t>利用</a:t>
            </a:r>
            <a:r>
              <a:rPr lang="en-US" altLang="zh-CN"/>
              <a:t>BPDU</a:t>
            </a:r>
            <a:r>
              <a:rPr lang="zh-CN" altLang="en-US"/>
              <a:t>选择根网桥</a:t>
            </a:r>
          </a:p>
        </p:txBody>
      </p:sp>
      <p:sp>
        <p:nvSpPr>
          <p:cNvPr id="30724" name="Text Box 22"/>
          <p:cNvSpPr txBox="1">
            <a:spLocks noChangeArrowheads="1"/>
          </p:cNvSpPr>
          <p:nvPr/>
        </p:nvSpPr>
        <p:spPr bwMode="auto">
          <a:xfrm>
            <a:off x="4727575" y="5783263"/>
            <a:ext cx="2501900" cy="64611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网桥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ID</a:t>
            </a: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：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4096.000d.2800.b100</a:t>
            </a:r>
          </a:p>
        </p:txBody>
      </p:sp>
      <p:sp>
        <p:nvSpPr>
          <p:cNvPr id="30725" name="Text Box 23"/>
          <p:cNvSpPr txBox="1">
            <a:spLocks noChangeArrowheads="1"/>
          </p:cNvSpPr>
          <p:nvPr/>
        </p:nvSpPr>
        <p:spPr bwMode="auto">
          <a:xfrm>
            <a:off x="7758114" y="5783263"/>
            <a:ext cx="2624137" cy="64611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网桥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ID</a:t>
            </a: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： 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32768.000d.2800.b101</a:t>
            </a:r>
          </a:p>
        </p:txBody>
      </p:sp>
      <p:sp>
        <p:nvSpPr>
          <p:cNvPr id="30726" name="Text Box 24"/>
          <p:cNvSpPr txBox="1">
            <a:spLocks noChangeArrowheads="1"/>
          </p:cNvSpPr>
          <p:nvPr/>
        </p:nvSpPr>
        <p:spPr bwMode="auto">
          <a:xfrm>
            <a:off x="6808788" y="2168526"/>
            <a:ext cx="2665412" cy="64611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网桥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ID</a:t>
            </a:r>
            <a:r>
              <a:rPr lang="zh-CN" altLang="en-US" b="1">
                <a:solidFill>
                  <a:schemeClr val="tx2"/>
                </a:solidFill>
                <a:ea typeface="宋体" charset="-122"/>
                <a:cs typeface="Arial" charset="0"/>
              </a:rPr>
              <a:t>：</a:t>
            </a:r>
            <a:r>
              <a:rPr lang="en-US" altLang="zh-CN" b="1">
                <a:solidFill>
                  <a:schemeClr val="tx2"/>
                </a:solidFill>
                <a:ea typeface="宋体" charset="-122"/>
                <a:cs typeface="Arial" charset="0"/>
              </a:rPr>
              <a:t>32768.000d.2800.b102</a:t>
            </a:r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5430838" y="2690814"/>
            <a:ext cx="1524000" cy="623887"/>
            <a:chOff x="1837" y="1706"/>
            <a:chExt cx="816" cy="394"/>
          </a:xfrm>
        </p:grpSpPr>
        <p:pic>
          <p:nvPicPr>
            <p:cNvPr id="30808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809" name="Text Box 12"/>
            <p:cNvSpPr txBox="1">
              <a:spLocks noChangeArrowheads="1"/>
            </p:cNvSpPr>
            <p:nvPr/>
          </p:nvSpPr>
          <p:spPr bwMode="auto">
            <a:xfrm>
              <a:off x="1894" y="1867"/>
              <a:ext cx="544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SW3</a:t>
              </a:r>
            </a:p>
          </p:txBody>
        </p:sp>
      </p:grpSp>
      <p:cxnSp>
        <p:nvCxnSpPr>
          <p:cNvPr id="30728" name="直接连接符 21"/>
          <p:cNvCxnSpPr>
            <a:cxnSpLocks noChangeShapeType="1"/>
          </p:cNvCxnSpPr>
          <p:nvPr/>
        </p:nvCxnSpPr>
        <p:spPr bwMode="auto">
          <a:xfrm rot="5400000">
            <a:off x="5219701" y="4237038"/>
            <a:ext cx="1946275" cy="0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30729" name="直接连接符 21"/>
          <p:cNvCxnSpPr>
            <a:cxnSpLocks noChangeShapeType="1"/>
          </p:cNvCxnSpPr>
          <p:nvPr/>
        </p:nvCxnSpPr>
        <p:spPr bwMode="auto">
          <a:xfrm>
            <a:off x="6954838" y="5497513"/>
            <a:ext cx="1460500" cy="0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sp>
        <p:nvSpPr>
          <p:cNvPr id="30730" name="Text Box 23"/>
          <p:cNvSpPr txBox="1">
            <a:spLocks noChangeArrowheads="1"/>
          </p:cNvSpPr>
          <p:nvPr/>
        </p:nvSpPr>
        <p:spPr bwMode="auto">
          <a:xfrm>
            <a:off x="7264401" y="5173663"/>
            <a:ext cx="1223963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100M</a:t>
            </a:r>
          </a:p>
        </p:txBody>
      </p:sp>
      <p:sp>
        <p:nvSpPr>
          <p:cNvPr id="30731" name="Text Box 23"/>
          <p:cNvSpPr txBox="1">
            <a:spLocks noChangeArrowheads="1"/>
          </p:cNvSpPr>
          <p:nvPr/>
        </p:nvSpPr>
        <p:spPr bwMode="auto">
          <a:xfrm>
            <a:off x="7483476" y="4040188"/>
            <a:ext cx="1223963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100M</a:t>
            </a:r>
          </a:p>
        </p:txBody>
      </p:sp>
      <p:sp>
        <p:nvSpPr>
          <p:cNvPr id="30732" name="Text Box 23"/>
          <p:cNvSpPr txBox="1">
            <a:spLocks noChangeArrowheads="1"/>
          </p:cNvSpPr>
          <p:nvPr/>
        </p:nvSpPr>
        <p:spPr bwMode="auto">
          <a:xfrm>
            <a:off x="5457826" y="4076701"/>
            <a:ext cx="1223963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100M</a:t>
            </a:r>
          </a:p>
        </p:txBody>
      </p:sp>
      <p:cxnSp>
        <p:nvCxnSpPr>
          <p:cNvPr id="30733" name="直接连接符 21"/>
          <p:cNvCxnSpPr>
            <a:cxnSpLocks noChangeShapeType="1"/>
          </p:cNvCxnSpPr>
          <p:nvPr/>
        </p:nvCxnSpPr>
        <p:spPr bwMode="auto">
          <a:xfrm>
            <a:off x="6954838" y="2978151"/>
            <a:ext cx="2222500" cy="2232025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sp>
        <p:nvSpPr>
          <p:cNvPr id="16" name="Line 80"/>
          <p:cNvSpPr>
            <a:spLocks noChangeShapeType="1"/>
          </p:cNvSpPr>
          <p:nvPr/>
        </p:nvSpPr>
        <p:spPr bwMode="auto">
          <a:xfrm flipH="1">
            <a:off x="7027864" y="5903913"/>
            <a:ext cx="1241425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7" name="Line 80"/>
          <p:cNvSpPr>
            <a:spLocks noChangeShapeType="1"/>
          </p:cNvSpPr>
          <p:nvPr/>
        </p:nvSpPr>
        <p:spPr bwMode="auto">
          <a:xfrm flipH="1" flipV="1">
            <a:off x="7612063" y="3421063"/>
            <a:ext cx="1350962" cy="131445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18" name="AutoShape 42"/>
          <p:cNvSpPr>
            <a:spLocks noChangeArrowheads="1"/>
          </p:cNvSpPr>
          <p:nvPr/>
        </p:nvSpPr>
        <p:spPr bwMode="auto">
          <a:xfrm>
            <a:off x="6954838" y="4151313"/>
            <a:ext cx="1752600" cy="1600200"/>
          </a:xfrm>
          <a:prstGeom prst="rtTriangle">
            <a:avLst/>
          </a:prstGeom>
          <a:gradFill rotWithShape="1">
            <a:gsLst>
              <a:gs pos="0">
                <a:srgbClr val="66CCFF"/>
              </a:gs>
              <a:gs pos="100000">
                <a:schemeClr val="bg1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 wrap="none" anchor="ctr"/>
          <a:lstStyle/>
          <a:p>
            <a:pPr algn="ctr"/>
            <a:endParaRPr lang="zh-CN" altLang="en-US" sz="1100">
              <a:latin typeface="Times New Roman" pitchFamily="18" charset="0"/>
              <a:ea typeface="宋体" charset="-122"/>
              <a:cs typeface="Times New Roman" pitchFamily="18" charset="0"/>
            </a:endParaRPr>
          </a:p>
        </p:txBody>
      </p: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8415338" y="5210175"/>
            <a:ext cx="1524000" cy="641350"/>
            <a:chOff x="1837" y="1706"/>
            <a:chExt cx="816" cy="405"/>
          </a:xfrm>
        </p:grpSpPr>
        <p:pic>
          <p:nvPicPr>
            <p:cNvPr id="30806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807" name="Text Box 12"/>
            <p:cNvSpPr txBox="1">
              <a:spLocks noChangeArrowheads="1"/>
            </p:cNvSpPr>
            <p:nvPr/>
          </p:nvSpPr>
          <p:spPr bwMode="auto">
            <a:xfrm>
              <a:off x="1898" y="1878"/>
              <a:ext cx="544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SW2</a:t>
              </a:r>
            </a:p>
          </p:txBody>
        </p:sp>
      </p:grpSp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2611438" y="2676526"/>
          <a:ext cx="4308534" cy="1632585"/>
        </p:xfrm>
        <a:graphic>
          <a:graphicData uri="http://schemas.openxmlformats.org/drawingml/2006/table">
            <a:tbl>
              <a:tblPr/>
              <a:tblGrid>
                <a:gridCol w="1530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8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28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400" b="1" i="0" u="none" strike="noStrike" dirty="0">
                          <a:solidFill>
                            <a:schemeClr val="tx2"/>
                          </a:solidFill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字段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400" b="1" i="0" u="none" strike="noStrike" dirty="0">
                          <a:solidFill>
                            <a:schemeClr val="tx2"/>
                          </a:solidFill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88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2000" b="1" i="0" u="none" strike="noStrike">
                          <a:solidFill>
                            <a:srgbClr val="FF3300"/>
                          </a:solidFill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根网桥</a:t>
                      </a:r>
                      <a:r>
                        <a:rPr lang="en-US" sz="2000" b="1" i="0" u="none" strike="noStrike">
                          <a:solidFill>
                            <a:srgbClr val="FF3300"/>
                          </a:solidFill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2000" b="1" dirty="0">
                          <a:solidFill>
                            <a:srgbClr val="FF3300"/>
                          </a:solidFill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4096.000d.2800.b100</a:t>
                      </a:r>
                      <a:endParaRPr lang="en-US" sz="2000" b="1" i="0" u="none" strike="noStrike" dirty="0">
                        <a:solidFill>
                          <a:srgbClr val="FF3300"/>
                        </a:solidFill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88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2000" b="1" i="0" u="none" strike="noStrike">
                          <a:solidFill>
                            <a:schemeClr val="tx2"/>
                          </a:solidFill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根路径成本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2000" b="1" i="0" u="none" strike="noStrike" dirty="0">
                          <a:solidFill>
                            <a:schemeClr val="tx2"/>
                          </a:solidFill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88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2000" b="1" i="0" u="none" strike="noStrike">
                          <a:solidFill>
                            <a:schemeClr val="tx2"/>
                          </a:solidFill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发送网桥</a:t>
                      </a:r>
                      <a:r>
                        <a:rPr lang="en-US" sz="2000" b="1" i="0" u="none" strike="noStrike">
                          <a:solidFill>
                            <a:schemeClr val="tx2"/>
                          </a:solidFill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2000" b="1" dirty="0">
                          <a:solidFill>
                            <a:schemeClr val="tx2"/>
                          </a:solidFill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4096.000d.2800.b100</a:t>
                      </a:r>
                      <a:endParaRPr lang="en-US" sz="2000" b="1" i="0" u="none" strike="noStrike" dirty="0">
                        <a:solidFill>
                          <a:schemeClr val="tx2"/>
                        </a:solidFill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288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2000" b="1" i="0" u="none" strike="noStrike" dirty="0">
                          <a:solidFill>
                            <a:schemeClr val="tx2"/>
                          </a:solidFill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端口</a:t>
                      </a:r>
                      <a:r>
                        <a:rPr lang="en-US" sz="2000" b="1" i="0" u="none" strike="noStrike" dirty="0">
                          <a:solidFill>
                            <a:schemeClr val="tx2"/>
                          </a:solidFill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1" i="0" u="none" strike="noStrike" dirty="0">
                          <a:solidFill>
                            <a:schemeClr val="tx2"/>
                          </a:solidFill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xxxx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AutoShape 42"/>
          <p:cNvSpPr>
            <a:spLocks noChangeArrowheads="1"/>
          </p:cNvSpPr>
          <p:nvPr/>
        </p:nvSpPr>
        <p:spPr bwMode="auto">
          <a:xfrm rot="16200000" flipH="1">
            <a:off x="4178301" y="2741614"/>
            <a:ext cx="1160463" cy="4344987"/>
          </a:xfrm>
          <a:prstGeom prst="rtTriangle">
            <a:avLst/>
          </a:prstGeom>
          <a:gradFill rotWithShape="1">
            <a:gsLst>
              <a:gs pos="0">
                <a:srgbClr val="66CCFF"/>
              </a:gs>
              <a:gs pos="100000">
                <a:schemeClr val="bg1"/>
              </a:gs>
            </a:gsLst>
            <a:lin ang="0" scaled="1"/>
          </a:gradFill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 wrap="none" anchor="ctr"/>
          <a:lstStyle/>
          <a:p>
            <a:pPr algn="ctr"/>
            <a:endParaRPr lang="zh-CN" altLang="en-US" sz="1100">
              <a:latin typeface="Times New Roman" pitchFamily="18" charset="0"/>
              <a:ea typeface="宋体" charset="-122"/>
              <a:cs typeface="Times New Roman" pitchFamily="18" charset="0"/>
            </a:endParaRPr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5430838" y="5210176"/>
            <a:ext cx="1524000" cy="620713"/>
            <a:chOff x="1837" y="1706"/>
            <a:chExt cx="816" cy="392"/>
          </a:xfrm>
        </p:grpSpPr>
        <p:pic>
          <p:nvPicPr>
            <p:cNvPr id="30804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805" name="Text Box 12"/>
            <p:cNvSpPr txBox="1">
              <a:spLocks noChangeArrowheads="1"/>
            </p:cNvSpPr>
            <p:nvPr/>
          </p:nvSpPr>
          <p:spPr bwMode="auto">
            <a:xfrm>
              <a:off x="1898" y="1865"/>
              <a:ext cx="544" cy="23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SW1</a:t>
              </a:r>
            </a:p>
          </p:txBody>
        </p:sp>
      </p:grpSp>
      <p:sp>
        <p:nvSpPr>
          <p:cNvPr id="27" name="Line 80"/>
          <p:cNvSpPr>
            <a:spLocks noChangeShapeType="1"/>
          </p:cNvSpPr>
          <p:nvPr/>
        </p:nvSpPr>
        <p:spPr bwMode="auto">
          <a:xfrm>
            <a:off x="7100889" y="5648325"/>
            <a:ext cx="1241425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28" name="Line 80"/>
          <p:cNvSpPr>
            <a:spLocks noChangeShapeType="1"/>
          </p:cNvSpPr>
          <p:nvPr/>
        </p:nvSpPr>
        <p:spPr bwMode="auto">
          <a:xfrm rot="-5400000">
            <a:off x="6480176" y="4370388"/>
            <a:ext cx="1241425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</p:spPr>
        <p:txBody>
          <a:bodyPr anchor="b"/>
          <a:lstStyle/>
          <a:p>
            <a:endParaRPr lang="zh-CN" altLang="en-US"/>
          </a:p>
        </p:txBody>
      </p: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2501901" y="4100514"/>
          <a:ext cx="4454525" cy="2242185"/>
        </p:xfrm>
        <a:graphic>
          <a:graphicData uri="http://schemas.openxmlformats.org/drawingml/2006/table">
            <a:tbl>
              <a:tblPr/>
              <a:tblGrid>
                <a:gridCol w="1582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1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字段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值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根网桥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ID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32768.000d.2800.b101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根路径成本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发送网桥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ID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32768.000d.2800.b101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端口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ID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xxxx</a:t>
                      </a:r>
                    </a:p>
                  </a:txBody>
                  <a:tcPr marL="9525" marR="9525" marT="9525" marB="0"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2489200" y="4114801"/>
          <a:ext cx="4454586" cy="1937385"/>
        </p:xfrm>
        <a:graphic>
          <a:graphicData uri="http://schemas.openxmlformats.org/drawingml/2006/table">
            <a:tbl>
              <a:tblPr/>
              <a:tblGrid>
                <a:gridCol w="1582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2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828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400" b="1" i="0" u="none" strike="noStrike" dirty="0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字段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400" b="1" i="0" u="none" strike="noStrike" dirty="0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rgbClr val="CCECFF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288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2000" b="1" i="0" u="none" strike="noStrike">
                          <a:solidFill>
                            <a:srgbClr val="FF33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根网桥</a:t>
                      </a:r>
                      <a:r>
                        <a:rPr lang="en-US" sz="2000" b="1" i="0" u="none" strike="noStrike">
                          <a:solidFill>
                            <a:srgbClr val="FF33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2000" b="1" dirty="0">
                          <a:solidFill>
                            <a:srgbClr val="FF3300"/>
                          </a:solidFill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4096.000d.2800.b100</a:t>
                      </a:r>
                      <a:endParaRPr lang="en-US" sz="2000" b="1" i="0" u="none" strike="noStrike" dirty="0">
                        <a:solidFill>
                          <a:srgbClr val="FF3300"/>
                        </a:solidFill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88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根路径成本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2000" b="1" i="0" u="none" strike="noStrike" dirty="0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88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20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发送网桥</a:t>
                      </a: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32768.000d.2800.b101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288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2000" b="1" i="0" u="none" strike="noStrike" dirty="0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端口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ID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xxxx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AutoShape 5"/>
          <p:cNvSpPr>
            <a:spLocks noChangeArrowheads="1"/>
          </p:cNvSpPr>
          <p:nvPr/>
        </p:nvSpPr>
        <p:spPr bwMode="auto">
          <a:xfrm>
            <a:off x="2828926" y="3421063"/>
            <a:ext cx="6207125" cy="131445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anchor="ctr" anchorCtr="1"/>
          <a:lstStyle/>
          <a:p>
            <a:pPr algn="ctr">
              <a:spcBef>
                <a:spcPct val="50000"/>
              </a:spcBef>
            </a:pP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当全网所有的交换机接收到全部的</a:t>
            </a:r>
            <a:r>
              <a:rPr lang="en-US" altLang="zh-CN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BPDU</a:t>
            </a: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并作比较后，就可以选择出唯一的一个根网桥</a:t>
            </a:r>
          </a:p>
        </p:txBody>
      </p:sp>
      <p:sp>
        <p:nvSpPr>
          <p:cNvPr id="35" name="内容占位符 1"/>
          <p:cNvSpPr txBox="1">
            <a:spLocks/>
          </p:cNvSpPr>
          <p:nvPr/>
        </p:nvSpPr>
        <p:spPr bwMode="auto">
          <a:xfrm>
            <a:off x="1738314" y="1143000"/>
            <a:ext cx="8777287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72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r>
              <a:rPr lang="zh-CN" altLang="en-US" sz="2800" b="1" dirty="0">
                <a:solidFill>
                  <a:schemeClr val="tx2"/>
                </a:solidFill>
              </a:rPr>
              <a:t>当接收到其他交换机发出的</a:t>
            </a:r>
            <a:r>
              <a:rPr lang="en-US" altLang="zh-CN" sz="2800" b="1" dirty="0">
                <a:solidFill>
                  <a:schemeClr val="tx2"/>
                </a:solidFill>
              </a:rPr>
              <a:t>BPDU</a:t>
            </a:r>
            <a:r>
              <a:rPr lang="zh-CN" altLang="en-US" sz="2800" b="1" dirty="0">
                <a:solidFill>
                  <a:schemeClr val="tx2"/>
                </a:solidFill>
              </a:rPr>
              <a:t>后，比较网桥</a:t>
            </a:r>
            <a:r>
              <a:rPr lang="en-US" altLang="zh-CN" sz="2800" b="1" dirty="0">
                <a:solidFill>
                  <a:schemeClr val="tx2"/>
                </a:solidFill>
              </a:rPr>
              <a:t>ID</a:t>
            </a:r>
            <a:r>
              <a:rPr lang="zh-CN" altLang="en-US" sz="2800" b="1" dirty="0">
                <a:solidFill>
                  <a:schemeClr val="tx2"/>
                </a:solidFill>
              </a:rPr>
              <a:t>，选择较小的添加到根网桥</a:t>
            </a:r>
            <a:r>
              <a:rPr lang="en-US" altLang="zh-CN" sz="2800" b="1" dirty="0">
                <a:solidFill>
                  <a:schemeClr val="tx2"/>
                </a:solidFill>
              </a:rPr>
              <a:t>ID</a:t>
            </a:r>
            <a:r>
              <a:rPr lang="zh-CN" altLang="en-US" sz="2800" b="1" dirty="0">
                <a:solidFill>
                  <a:schemeClr val="tx2"/>
                </a:solidFill>
              </a:rPr>
              <a:t>中</a:t>
            </a:r>
          </a:p>
          <a:p>
            <a:pPr marL="342900" indent="-342900" eaLnBrk="0" hangingPunct="0">
              <a:spcBef>
                <a:spcPts val="672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endParaRPr lang="en-US" altLang="zh-CN" sz="2800" b="1" kern="0" dirty="0">
              <a:solidFill>
                <a:schemeClr val="tx2"/>
              </a:solidFill>
            </a:endParaRPr>
          </a:p>
          <a:p>
            <a:pPr marL="342900" indent="-342900" eaLnBrk="0" hangingPunct="0">
              <a:spcBef>
                <a:spcPts val="672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endParaRPr lang="zh-CN" altLang="en-US" sz="2800" b="1" kern="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8" grpId="2" animBg="1"/>
      <p:bldP spid="18" grpId="3" animBg="1"/>
      <p:bldP spid="23" grpId="0" animBg="1"/>
      <p:bldP spid="23" grpId="1" animBg="1"/>
      <p:bldP spid="27" grpId="0" animBg="1"/>
      <p:bldP spid="27" grpId="1" animBg="1"/>
      <p:bldP spid="28" grpId="0" animBg="1"/>
      <p:bldP spid="28" grpId="1" animBg="1"/>
      <p:bldP spid="31" grpId="0" animBg="1"/>
      <p:bldP spid="3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内容占位符 1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500063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交换机端口的</a:t>
            </a:r>
            <a:r>
              <a:rPr lang="en-US" altLang="zh-CN"/>
              <a:t>5</a:t>
            </a:r>
            <a:r>
              <a:rPr lang="zh-CN" altLang="en-US"/>
              <a:t>种</a:t>
            </a:r>
            <a:r>
              <a:rPr lang="en-US" altLang="zh-CN"/>
              <a:t>STP</a:t>
            </a:r>
            <a:r>
              <a:rPr lang="zh-CN" altLang="en-US"/>
              <a:t>状态</a:t>
            </a:r>
            <a:endParaRPr lang="en-US" altLang="zh-CN"/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31747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STP</a:t>
            </a:r>
            <a:r>
              <a:rPr lang="zh-CN" altLang="en-US"/>
              <a:t>的收敛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952750" y="2143126"/>
          <a:ext cx="6643734" cy="2452703"/>
        </p:xfrm>
        <a:graphic>
          <a:graphicData uri="http://schemas.openxmlformats.org/drawingml/2006/table">
            <a:tbl>
              <a:tblPr/>
              <a:tblGrid>
                <a:gridCol w="3052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1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8">
                <a:tc>
                  <a:txBody>
                    <a:bodyPr/>
                    <a:lstStyle/>
                    <a:p>
                      <a:pPr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000" b="1" dirty="0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状　　态</a:t>
                      </a: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000" b="1" dirty="0">
                          <a:solidFill>
                            <a:schemeClr val="bg1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用　　途</a:t>
                      </a: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5">
                <a:tc>
                  <a:txBody>
                    <a:bodyPr/>
                    <a:lstStyle/>
                    <a:p>
                      <a:pPr algn="just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0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转发（</a:t>
                      </a:r>
                      <a:r>
                        <a:rPr lang="en-US" sz="20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Forwarding</a:t>
                      </a:r>
                      <a:r>
                        <a:rPr lang="zh-CN" sz="20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）</a:t>
                      </a: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0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发送</a:t>
                      </a:r>
                      <a:r>
                        <a:rPr lang="en-US" sz="20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/</a:t>
                      </a:r>
                      <a:r>
                        <a:rPr lang="zh-CN" sz="2000" b="1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接收用户数据</a:t>
                      </a: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815">
                <a:tc>
                  <a:txBody>
                    <a:bodyPr/>
                    <a:lstStyle/>
                    <a:p>
                      <a:pPr algn="just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0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学习（</a:t>
                      </a:r>
                      <a:r>
                        <a:rPr lang="en-US" sz="20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Learning</a:t>
                      </a:r>
                      <a:r>
                        <a:rPr lang="zh-CN" sz="20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）</a:t>
                      </a: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0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构建网桥表</a:t>
                      </a: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15">
                <a:tc>
                  <a:txBody>
                    <a:bodyPr/>
                    <a:lstStyle/>
                    <a:p>
                      <a:pPr algn="just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0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侦听（</a:t>
                      </a:r>
                      <a:r>
                        <a:rPr lang="en-US" sz="20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Listening</a:t>
                      </a:r>
                      <a:r>
                        <a:rPr lang="zh-CN" sz="20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）</a:t>
                      </a: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0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构建“活动”拓扑</a:t>
                      </a: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815">
                <a:tc>
                  <a:txBody>
                    <a:bodyPr/>
                    <a:lstStyle/>
                    <a:p>
                      <a:pPr algn="just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0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阻塞（</a:t>
                      </a:r>
                      <a:r>
                        <a:rPr lang="en-US" sz="20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Blocking</a:t>
                      </a:r>
                      <a:r>
                        <a:rPr lang="zh-CN" sz="20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）</a:t>
                      </a: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0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只接收</a:t>
                      </a:r>
                      <a:r>
                        <a:rPr lang="en-US" sz="20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BPDU</a:t>
                      </a:r>
                      <a:endParaRPr lang="zh-CN" sz="2000" b="1" dirty="0">
                        <a:solidFill>
                          <a:schemeClr val="tx2"/>
                        </a:solidFill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815">
                <a:tc>
                  <a:txBody>
                    <a:bodyPr/>
                    <a:lstStyle/>
                    <a:p>
                      <a:pPr algn="just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0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禁用（</a:t>
                      </a:r>
                      <a:r>
                        <a:rPr lang="en-US" sz="20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Disabled</a:t>
                      </a:r>
                      <a:r>
                        <a:rPr lang="zh-CN" sz="20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）</a:t>
                      </a: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1560"/>
                        </a:lnSpc>
                        <a:spcAft>
                          <a:spcPts val="0"/>
                        </a:spcAft>
                      </a:pPr>
                      <a:r>
                        <a:rPr lang="zh-CN" sz="2000" b="1" dirty="0">
                          <a:solidFill>
                            <a:schemeClr val="tx2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强制关闭</a:t>
                      </a:r>
                    </a:p>
                  </a:txBody>
                  <a:tcPr marL="68580" marR="68580" marT="0" marB="2159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AC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内容占位符 1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1857375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STP</a:t>
            </a:r>
            <a:r>
              <a:rPr lang="zh-CN" altLang="en-US"/>
              <a:t>的</a:t>
            </a:r>
            <a:r>
              <a:rPr lang="en-US" altLang="zh-CN"/>
              <a:t>3</a:t>
            </a:r>
            <a:r>
              <a:rPr lang="zh-CN" altLang="en-US"/>
              <a:t>种计时器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en-US" altLang="zh-CN"/>
              <a:t>Hello</a:t>
            </a:r>
            <a:r>
              <a:rPr lang="zh-CN" altLang="en-US"/>
              <a:t>时间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转发延迟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最大老化时间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1028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生成树计时器</a:t>
            </a:r>
          </a:p>
        </p:txBody>
      </p:sp>
      <p:graphicFrame>
        <p:nvGraphicFramePr>
          <p:cNvPr id="1026" name="Object 1"/>
          <p:cNvGraphicFramePr>
            <a:graphicFrameLocks noChangeAspect="1"/>
          </p:cNvGraphicFramePr>
          <p:nvPr/>
        </p:nvGraphicFramePr>
        <p:xfrm>
          <a:off x="3900488" y="3506788"/>
          <a:ext cx="4081462" cy="249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234053" imgH="2494026" progId="">
                  <p:embed/>
                </p:oleObj>
              </mc:Choice>
              <mc:Fallback>
                <p:oleObj name="Visio" r:id="rId2" imgW="4234053" imgH="2494026" progId="">
                  <p:embed/>
                  <p:pic>
                    <p:nvPicPr>
                      <p:cNvPr id="1026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3230"/>
                      <a:stretch>
                        <a:fillRect/>
                      </a:stretch>
                    </p:blipFill>
                    <p:spPr bwMode="auto">
                      <a:xfrm>
                        <a:off x="3900488" y="3506788"/>
                        <a:ext cx="4081462" cy="2493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 noChangeArrowheads="1"/>
          </p:cNvSpPr>
          <p:nvPr>
            <p:ph idx="1"/>
          </p:nvPr>
        </p:nvSpPr>
        <p:spPr>
          <a:xfrm>
            <a:off x="1738313" y="1143000"/>
            <a:ext cx="8501062" cy="2286000"/>
          </a:xfrm>
        </p:spPr>
        <p:txBody>
          <a:bodyPr/>
          <a:lstStyle/>
          <a:p>
            <a:pPr>
              <a:spcBef>
                <a:spcPts val="675"/>
              </a:spcBef>
              <a:spcAft>
                <a:spcPct val="25000"/>
              </a:spcAft>
            </a:pPr>
            <a:r>
              <a:rPr lang="zh-CN" altLang="en-US"/>
              <a:t>请思考：</a:t>
            </a:r>
          </a:p>
          <a:p>
            <a:pPr lvl="1">
              <a:spcBef>
                <a:spcPts val="475"/>
              </a:spcBef>
            </a:pPr>
            <a:r>
              <a:rPr lang="en-US" altLang="zh-CN"/>
              <a:t>STP</a:t>
            </a:r>
            <a:r>
              <a:rPr lang="zh-CN" altLang="en-US"/>
              <a:t>选举过程中，如何确定哪些端口被阻塞？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生成树端口状态有哪些，分别表示什么含义？</a:t>
            </a:r>
            <a:endParaRPr lang="en-US" altLang="zh-CN"/>
          </a:p>
          <a:p>
            <a:pPr>
              <a:spcBef>
                <a:spcPts val="675"/>
              </a:spcBef>
              <a:spcAft>
                <a:spcPct val="25000"/>
              </a:spcAft>
              <a:buNone/>
            </a:pPr>
            <a:endParaRPr lang="zh-CN" altLang="en-US" sz="3200">
              <a:solidFill>
                <a:srgbClr val="003399"/>
              </a:solidFill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小结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71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en-US" altLang="zh-CN"/>
              <a:t> IEEE</a:t>
            </a:r>
            <a:r>
              <a:rPr lang="zh-CN" altLang="en-US"/>
              <a:t>通用生成树（</a:t>
            </a:r>
            <a:r>
              <a:rPr lang="en-US" altLang="zh-CN"/>
              <a:t>CST</a:t>
            </a:r>
            <a:r>
              <a:rPr lang="zh-CN" altLang="en-US"/>
              <a:t>）不考虑</a:t>
            </a:r>
            <a:r>
              <a:rPr lang="en-US" altLang="zh-CN"/>
              <a:t>VLAN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3379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 </a:t>
            </a:r>
            <a:r>
              <a:rPr lang="en-US" altLang="zh-CN"/>
              <a:t>VLAN</a:t>
            </a:r>
            <a:r>
              <a:rPr lang="zh-CN" altLang="en-US"/>
              <a:t>与</a:t>
            </a:r>
            <a:r>
              <a:rPr lang="en-US" altLang="zh-CN"/>
              <a:t>STP</a:t>
            </a:r>
            <a:r>
              <a:rPr lang="zh-CN" altLang="en-US"/>
              <a:t>关系</a:t>
            </a:r>
          </a:p>
        </p:txBody>
      </p:sp>
      <p:sp>
        <p:nvSpPr>
          <p:cNvPr id="20" name="Rectangle 54"/>
          <p:cNvSpPr>
            <a:spLocks noChangeArrowheads="1"/>
          </p:cNvSpPr>
          <p:nvPr/>
        </p:nvSpPr>
        <p:spPr bwMode="auto">
          <a:xfrm>
            <a:off x="2919413" y="2406651"/>
            <a:ext cx="2374900" cy="576263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scene3d>
            <a:camera prst="legacyPerspectiveTopRight">
              <a:rot lat="300000" lon="0" rev="0"/>
            </a:camera>
            <a:lightRig rig="legacyFlat4" dir="t"/>
          </a:scene3d>
          <a:sp3d extrusionH="430200" prstMaterial="legacyMatte">
            <a:bevelT w="13500" h="13500" prst="angle"/>
            <a:bevelB w="13500" h="13500" prst="angle"/>
            <a:extrusionClr>
              <a:schemeClr val="bg1"/>
            </a:extrusionClr>
          </a:sp3d>
        </p:spPr>
        <p:txBody>
          <a:bodyPr wrap="none" anchor="ctr">
            <a:flatTx/>
          </a:bodyPr>
          <a:lstStyle/>
          <a:p>
            <a:endParaRPr lang="zh-CN" altLang="en-US" b="1">
              <a:cs typeface="Arial" charset="0"/>
            </a:endParaRPr>
          </a:p>
        </p:txBody>
      </p:sp>
      <p:sp>
        <p:nvSpPr>
          <p:cNvPr id="21" name="Rectangle 57"/>
          <p:cNvSpPr>
            <a:spLocks noChangeArrowheads="1"/>
          </p:cNvSpPr>
          <p:nvPr/>
        </p:nvSpPr>
        <p:spPr bwMode="auto">
          <a:xfrm>
            <a:off x="2919413" y="4565651"/>
            <a:ext cx="2374900" cy="576263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scene3d>
            <a:camera prst="legacyPerspectiveTopRight">
              <a:rot lat="30000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bg1"/>
            </a:extrusionClr>
          </a:sp3d>
        </p:spPr>
        <p:txBody>
          <a:bodyPr wrap="none" anchor="ctr">
            <a:flatTx/>
          </a:bodyPr>
          <a:lstStyle/>
          <a:p>
            <a:endParaRPr lang="zh-CN" altLang="en-US" b="1">
              <a:cs typeface="Arial" charset="0"/>
            </a:endParaRPr>
          </a:p>
        </p:txBody>
      </p:sp>
      <p:sp>
        <p:nvSpPr>
          <p:cNvPr id="22" name="Rectangle 60"/>
          <p:cNvSpPr>
            <a:spLocks noChangeArrowheads="1"/>
          </p:cNvSpPr>
          <p:nvPr/>
        </p:nvSpPr>
        <p:spPr bwMode="auto">
          <a:xfrm>
            <a:off x="6230938" y="2406651"/>
            <a:ext cx="2374900" cy="576263"/>
          </a:xfrm>
          <a:prstGeom prst="rect">
            <a:avLst/>
          </a:prstGeom>
          <a:solidFill>
            <a:schemeClr val="bg1"/>
          </a:solidFill>
          <a:ln w="9525">
            <a:miter lim="800000"/>
            <a:headEnd/>
            <a:tailEnd/>
          </a:ln>
          <a:scene3d>
            <a:camera prst="legacyPerspectiveTopRight">
              <a:rot lat="30000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bg1"/>
            </a:extrusionClr>
          </a:sp3d>
        </p:spPr>
        <p:txBody>
          <a:bodyPr wrap="none" anchor="ctr">
            <a:flatTx/>
          </a:bodyPr>
          <a:lstStyle/>
          <a:p>
            <a:endParaRPr lang="zh-CN" altLang="en-US" b="1">
              <a:cs typeface="Arial" charset="0"/>
            </a:endParaRPr>
          </a:p>
        </p:txBody>
      </p:sp>
      <p:sp>
        <p:nvSpPr>
          <p:cNvPr id="23" name="Line 63"/>
          <p:cNvSpPr>
            <a:spLocks noChangeShapeType="1"/>
          </p:cNvSpPr>
          <p:nvPr/>
        </p:nvSpPr>
        <p:spPr bwMode="auto">
          <a:xfrm>
            <a:off x="3567113" y="2909889"/>
            <a:ext cx="0" cy="1800225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24" name="Line 64"/>
          <p:cNvSpPr>
            <a:spLocks noChangeShapeType="1"/>
          </p:cNvSpPr>
          <p:nvPr/>
        </p:nvSpPr>
        <p:spPr bwMode="auto">
          <a:xfrm>
            <a:off x="5151438" y="2735263"/>
            <a:ext cx="1223962" cy="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25" name="Line 65"/>
          <p:cNvSpPr>
            <a:spLocks noChangeShapeType="1"/>
          </p:cNvSpPr>
          <p:nvPr/>
        </p:nvSpPr>
        <p:spPr bwMode="auto">
          <a:xfrm flipV="1">
            <a:off x="4719639" y="2838450"/>
            <a:ext cx="3095625" cy="1843088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26" name="Rectangle 62"/>
          <p:cNvSpPr>
            <a:spLocks noChangeArrowheads="1"/>
          </p:cNvSpPr>
          <p:nvPr/>
        </p:nvSpPr>
        <p:spPr bwMode="auto">
          <a:xfrm>
            <a:off x="7454901" y="2549526"/>
            <a:ext cx="1008063" cy="360363"/>
          </a:xfrm>
          <a:prstGeom prst="rect">
            <a:avLst/>
          </a:prstGeom>
          <a:solidFill>
            <a:srgbClr val="0066FF"/>
          </a:solidFill>
          <a:ln w="28575" algn="ctr">
            <a:solidFill>
              <a:srgbClr val="0066FF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b="1">
                <a:solidFill>
                  <a:schemeClr val="bg1"/>
                </a:solidFill>
                <a:cs typeface="Arial" charset="0"/>
              </a:rPr>
              <a:t>VLAN3</a:t>
            </a:r>
          </a:p>
        </p:txBody>
      </p:sp>
      <p:sp>
        <p:nvSpPr>
          <p:cNvPr id="27" name="Rectangle 61"/>
          <p:cNvSpPr>
            <a:spLocks noChangeArrowheads="1"/>
          </p:cNvSpPr>
          <p:nvPr/>
        </p:nvSpPr>
        <p:spPr bwMode="auto">
          <a:xfrm>
            <a:off x="6373813" y="2549526"/>
            <a:ext cx="1008062" cy="360363"/>
          </a:xfrm>
          <a:prstGeom prst="rect">
            <a:avLst/>
          </a:prstGeom>
          <a:solidFill>
            <a:srgbClr val="FF9933"/>
          </a:solidFill>
          <a:ln w="28575" algn="ctr">
            <a:solidFill>
              <a:srgbClr val="FF9933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b="1">
                <a:solidFill>
                  <a:schemeClr val="bg1"/>
                </a:solidFill>
                <a:cs typeface="Arial" charset="0"/>
              </a:rPr>
              <a:t>VLAN2</a:t>
            </a:r>
          </a:p>
        </p:txBody>
      </p:sp>
      <p:sp>
        <p:nvSpPr>
          <p:cNvPr id="28" name="Rectangle 56"/>
          <p:cNvSpPr>
            <a:spLocks noChangeArrowheads="1"/>
          </p:cNvSpPr>
          <p:nvPr/>
        </p:nvSpPr>
        <p:spPr bwMode="auto">
          <a:xfrm>
            <a:off x="4143376" y="2549526"/>
            <a:ext cx="1008063" cy="360363"/>
          </a:xfrm>
          <a:prstGeom prst="rect">
            <a:avLst/>
          </a:prstGeom>
          <a:solidFill>
            <a:srgbClr val="FF9933"/>
          </a:solidFill>
          <a:ln w="28575" algn="ctr">
            <a:solidFill>
              <a:srgbClr val="FF9933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b="1">
                <a:solidFill>
                  <a:schemeClr val="bg1"/>
                </a:solidFill>
                <a:cs typeface="Arial" charset="0"/>
              </a:rPr>
              <a:t>VLAN2</a:t>
            </a:r>
          </a:p>
        </p:txBody>
      </p:sp>
      <p:sp>
        <p:nvSpPr>
          <p:cNvPr id="29" name="Rectangle 55"/>
          <p:cNvSpPr>
            <a:spLocks noChangeArrowheads="1"/>
          </p:cNvSpPr>
          <p:nvPr/>
        </p:nvSpPr>
        <p:spPr bwMode="auto">
          <a:xfrm>
            <a:off x="3062288" y="2549526"/>
            <a:ext cx="1008062" cy="360363"/>
          </a:xfrm>
          <a:prstGeom prst="rect">
            <a:avLst/>
          </a:prstGeom>
          <a:solidFill>
            <a:srgbClr val="7030A0">
              <a:alpha val="69019"/>
            </a:srgbClr>
          </a:solidFill>
          <a:ln w="28575" algn="ctr">
            <a:solidFill>
              <a:srgbClr val="9933FF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b="1">
                <a:solidFill>
                  <a:schemeClr val="bg1"/>
                </a:solidFill>
                <a:cs typeface="Arial" charset="0"/>
              </a:rPr>
              <a:t>VLAN1</a:t>
            </a:r>
          </a:p>
        </p:txBody>
      </p:sp>
      <p:sp>
        <p:nvSpPr>
          <p:cNvPr id="30" name="Rectangle 58"/>
          <p:cNvSpPr>
            <a:spLocks noChangeArrowheads="1"/>
          </p:cNvSpPr>
          <p:nvPr/>
        </p:nvSpPr>
        <p:spPr bwMode="auto">
          <a:xfrm>
            <a:off x="3062288" y="4708526"/>
            <a:ext cx="1008062" cy="360363"/>
          </a:xfrm>
          <a:prstGeom prst="rect">
            <a:avLst/>
          </a:prstGeom>
          <a:solidFill>
            <a:srgbClr val="7030A0">
              <a:alpha val="69019"/>
            </a:srgbClr>
          </a:solidFill>
          <a:ln w="28575" algn="ctr">
            <a:solidFill>
              <a:srgbClr val="9933FF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b="1">
                <a:solidFill>
                  <a:schemeClr val="bg1"/>
                </a:solidFill>
                <a:cs typeface="Arial" charset="0"/>
              </a:rPr>
              <a:t>VLAN1</a:t>
            </a:r>
          </a:p>
        </p:txBody>
      </p:sp>
      <p:sp>
        <p:nvSpPr>
          <p:cNvPr id="31" name="Rectangle 59"/>
          <p:cNvSpPr>
            <a:spLocks noChangeArrowheads="1"/>
          </p:cNvSpPr>
          <p:nvPr/>
        </p:nvSpPr>
        <p:spPr bwMode="auto">
          <a:xfrm>
            <a:off x="4143376" y="4708526"/>
            <a:ext cx="1008063" cy="360363"/>
          </a:xfrm>
          <a:prstGeom prst="rect">
            <a:avLst/>
          </a:prstGeom>
          <a:solidFill>
            <a:srgbClr val="0066FF"/>
          </a:solidFill>
          <a:ln w="28575" algn="ctr">
            <a:solidFill>
              <a:srgbClr val="0066FF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b="1">
                <a:solidFill>
                  <a:schemeClr val="bg1"/>
                </a:solidFill>
                <a:cs typeface="Arial" charset="0"/>
              </a:rPr>
              <a:t>VLAN3</a:t>
            </a:r>
          </a:p>
        </p:txBody>
      </p:sp>
      <p:sp>
        <p:nvSpPr>
          <p:cNvPr id="32" name="AutoShape 67"/>
          <p:cNvSpPr>
            <a:spLocks noChangeArrowheads="1"/>
          </p:cNvSpPr>
          <p:nvPr/>
        </p:nvSpPr>
        <p:spPr bwMode="auto">
          <a:xfrm>
            <a:off x="5767388" y="4524375"/>
            <a:ext cx="2519362" cy="839788"/>
          </a:xfrm>
          <a:prstGeom prst="wedgeRoundRectCallout">
            <a:avLst>
              <a:gd name="adj1" fmla="val -43278"/>
              <a:gd name="adj2" fmla="val -108222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wrap="none" anchor="ctr" anchorCtr="1"/>
          <a:lstStyle/>
          <a:p>
            <a:pPr algn="ctr"/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经过</a:t>
            </a:r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STP</a:t>
            </a: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计算，会</a:t>
            </a:r>
            <a:endParaRPr lang="en-US" altLang="zh-CN" sz="20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ctr"/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有一条链路被断开</a:t>
            </a:r>
          </a:p>
        </p:txBody>
      </p:sp>
      <p:sp>
        <p:nvSpPr>
          <p:cNvPr id="33" name="AutoShape 68"/>
          <p:cNvSpPr>
            <a:spLocks noChangeArrowheads="1"/>
          </p:cNvSpPr>
          <p:nvPr/>
        </p:nvSpPr>
        <p:spPr bwMode="auto">
          <a:xfrm>
            <a:off x="4502150" y="4494213"/>
            <a:ext cx="431800" cy="431800"/>
          </a:xfrm>
          <a:prstGeom prst="flowChartSummingJunction">
            <a:avLst/>
          </a:prstGeom>
          <a:noFill/>
          <a:ln w="444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b="1">
              <a:cs typeface="Arial" charset="0"/>
            </a:endParaRPr>
          </a:p>
        </p:txBody>
      </p:sp>
      <p:sp>
        <p:nvSpPr>
          <p:cNvPr id="34" name="Oval 42"/>
          <p:cNvSpPr>
            <a:spLocks noChangeArrowheads="1"/>
          </p:cNvSpPr>
          <p:nvPr/>
        </p:nvSpPr>
        <p:spPr bwMode="auto">
          <a:xfrm>
            <a:off x="2816225" y="2195513"/>
            <a:ext cx="1512888" cy="3168650"/>
          </a:xfrm>
          <a:prstGeom prst="ellipse">
            <a:avLst/>
          </a:prstGeom>
          <a:solidFill>
            <a:srgbClr val="9933FF">
              <a:alpha val="20000"/>
            </a:srgbClr>
          </a:solidFill>
          <a:ln w="28575" algn="ctr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Oval 43"/>
          <p:cNvSpPr>
            <a:spLocks noChangeArrowheads="1"/>
          </p:cNvSpPr>
          <p:nvPr/>
        </p:nvSpPr>
        <p:spPr bwMode="auto">
          <a:xfrm>
            <a:off x="4014788" y="2005013"/>
            <a:ext cx="3384550" cy="1223962"/>
          </a:xfrm>
          <a:prstGeom prst="ellipse">
            <a:avLst/>
          </a:prstGeom>
          <a:solidFill>
            <a:srgbClr val="FFCC00">
              <a:alpha val="20000"/>
            </a:srgbClr>
          </a:solidFill>
          <a:ln w="28575" algn="ctr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Oval 44"/>
          <p:cNvSpPr>
            <a:spLocks noChangeArrowheads="1"/>
          </p:cNvSpPr>
          <p:nvPr/>
        </p:nvSpPr>
        <p:spPr bwMode="auto">
          <a:xfrm rot="-1685239">
            <a:off x="3760788" y="3089275"/>
            <a:ext cx="5313362" cy="1708150"/>
          </a:xfrm>
          <a:prstGeom prst="ellipse">
            <a:avLst/>
          </a:prstGeom>
          <a:solidFill>
            <a:srgbClr val="0066FF">
              <a:alpha val="20000"/>
            </a:srgbClr>
          </a:solidFill>
          <a:ln w="28575" algn="ctr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组合 79"/>
          <p:cNvGrpSpPr>
            <a:grpSpLocks/>
          </p:cNvGrpSpPr>
          <p:nvPr/>
        </p:nvGrpSpPr>
        <p:grpSpPr bwMode="auto">
          <a:xfrm>
            <a:off x="2533651" y="2765425"/>
            <a:ext cx="6410325" cy="2014538"/>
            <a:chOff x="1279503" y="5783330"/>
            <a:chExt cx="6410333" cy="2014551"/>
          </a:xfrm>
        </p:grpSpPr>
        <p:pic>
          <p:nvPicPr>
            <p:cNvPr id="33816" name="Picture 4"/>
            <p:cNvPicPr>
              <a:picLocks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081315" y="5783330"/>
              <a:ext cx="2665413" cy="1223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" name="Group 49"/>
            <p:cNvGrpSpPr>
              <a:grpSpLocks/>
            </p:cNvGrpSpPr>
            <p:nvPr/>
          </p:nvGrpSpPr>
          <p:grpSpPr bwMode="auto">
            <a:xfrm>
              <a:off x="1279503" y="6573905"/>
              <a:ext cx="2665412" cy="1223962"/>
              <a:chOff x="1720" y="2843"/>
              <a:chExt cx="1679" cy="771"/>
            </a:xfrm>
          </p:grpSpPr>
          <p:sp>
            <p:nvSpPr>
              <p:cNvPr id="64" name="AutoShape 29"/>
              <p:cNvSpPr>
                <a:spLocks noChangeAspect="1" noChangeArrowheads="1" noTextEdit="1"/>
              </p:cNvSpPr>
              <p:nvPr/>
            </p:nvSpPr>
            <p:spPr bwMode="auto">
              <a:xfrm>
                <a:off x="1720" y="2843"/>
                <a:ext cx="1679" cy="7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5" name="Group 30"/>
              <p:cNvGrpSpPr>
                <a:grpSpLocks/>
              </p:cNvGrpSpPr>
              <p:nvPr/>
            </p:nvGrpSpPr>
            <p:grpSpPr bwMode="auto">
              <a:xfrm>
                <a:off x="1745" y="2871"/>
                <a:ext cx="1654" cy="743"/>
                <a:chOff x="3313" y="1870"/>
                <a:chExt cx="1654" cy="743"/>
              </a:xfrm>
            </p:grpSpPr>
            <p:sp>
              <p:nvSpPr>
                <p:cNvPr id="75" name="Oval 31"/>
                <p:cNvSpPr>
                  <a:spLocks noChangeArrowheads="1"/>
                </p:cNvSpPr>
                <p:nvPr/>
              </p:nvSpPr>
              <p:spPr bwMode="auto">
                <a:xfrm>
                  <a:off x="3885" y="1870"/>
                  <a:ext cx="709" cy="301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2400" b="1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76" name="Oval 32"/>
                <p:cNvSpPr>
                  <a:spLocks noChangeArrowheads="1"/>
                </p:cNvSpPr>
                <p:nvPr/>
              </p:nvSpPr>
              <p:spPr bwMode="auto">
                <a:xfrm>
                  <a:off x="3487" y="1945"/>
                  <a:ext cx="535" cy="311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2400" b="1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77" name="Oval 33"/>
                <p:cNvSpPr>
                  <a:spLocks noChangeArrowheads="1"/>
                </p:cNvSpPr>
                <p:nvPr/>
              </p:nvSpPr>
              <p:spPr bwMode="auto">
                <a:xfrm>
                  <a:off x="3313" y="2133"/>
                  <a:ext cx="361" cy="245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2400" b="1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78" name="Oval 34"/>
                <p:cNvSpPr>
                  <a:spLocks noChangeArrowheads="1"/>
                </p:cNvSpPr>
                <p:nvPr/>
              </p:nvSpPr>
              <p:spPr bwMode="auto">
                <a:xfrm>
                  <a:off x="3425" y="2256"/>
                  <a:ext cx="547" cy="263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2400" b="1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79" name="Oval 35"/>
                <p:cNvSpPr>
                  <a:spLocks noChangeArrowheads="1"/>
                </p:cNvSpPr>
                <p:nvPr/>
              </p:nvSpPr>
              <p:spPr bwMode="auto">
                <a:xfrm>
                  <a:off x="3823" y="2293"/>
                  <a:ext cx="833" cy="320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2400" b="1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80" name="Oval 36"/>
                <p:cNvSpPr>
                  <a:spLocks noChangeArrowheads="1"/>
                </p:cNvSpPr>
                <p:nvPr/>
              </p:nvSpPr>
              <p:spPr bwMode="auto">
                <a:xfrm>
                  <a:off x="4358" y="1955"/>
                  <a:ext cx="522" cy="235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2400" b="1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81" name="Oval 37"/>
                <p:cNvSpPr>
                  <a:spLocks noChangeArrowheads="1"/>
                </p:cNvSpPr>
                <p:nvPr/>
              </p:nvSpPr>
              <p:spPr bwMode="auto">
                <a:xfrm>
                  <a:off x="4445" y="2115"/>
                  <a:ext cx="522" cy="235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2400" b="1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82" name="Oval 38"/>
                <p:cNvSpPr>
                  <a:spLocks noChangeArrowheads="1"/>
                </p:cNvSpPr>
                <p:nvPr/>
              </p:nvSpPr>
              <p:spPr bwMode="auto">
                <a:xfrm>
                  <a:off x="4395" y="2171"/>
                  <a:ext cx="510" cy="386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2400" b="1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83" name="Oval 39"/>
                <p:cNvSpPr>
                  <a:spLocks noChangeArrowheads="1"/>
                </p:cNvSpPr>
                <p:nvPr/>
              </p:nvSpPr>
              <p:spPr bwMode="auto">
                <a:xfrm>
                  <a:off x="3611" y="2049"/>
                  <a:ext cx="1070" cy="395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2400" b="1"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66" name="Oval 40"/>
              <p:cNvSpPr>
                <a:spLocks noChangeArrowheads="1"/>
              </p:cNvSpPr>
              <p:nvPr/>
            </p:nvSpPr>
            <p:spPr bwMode="auto">
              <a:xfrm>
                <a:off x="2292" y="2843"/>
                <a:ext cx="697" cy="301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7" name="Oval 41"/>
              <p:cNvSpPr>
                <a:spLocks noChangeArrowheads="1"/>
              </p:cNvSpPr>
              <p:nvPr/>
            </p:nvSpPr>
            <p:spPr bwMode="auto">
              <a:xfrm>
                <a:off x="1894" y="2928"/>
                <a:ext cx="535" cy="301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8" name="Oval 42"/>
              <p:cNvSpPr>
                <a:spLocks noChangeArrowheads="1"/>
              </p:cNvSpPr>
              <p:nvPr/>
            </p:nvSpPr>
            <p:spPr bwMode="auto">
              <a:xfrm>
                <a:off x="1720" y="3116"/>
                <a:ext cx="361" cy="244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9" name="Oval 43"/>
              <p:cNvSpPr>
                <a:spLocks noChangeArrowheads="1"/>
              </p:cNvSpPr>
              <p:nvPr/>
            </p:nvSpPr>
            <p:spPr bwMode="auto">
              <a:xfrm>
                <a:off x="1832" y="3229"/>
                <a:ext cx="547" cy="263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0" name="Oval 44"/>
              <p:cNvSpPr>
                <a:spLocks noChangeArrowheads="1"/>
              </p:cNvSpPr>
              <p:nvPr/>
            </p:nvSpPr>
            <p:spPr bwMode="auto">
              <a:xfrm>
                <a:off x="2230" y="3276"/>
                <a:ext cx="821" cy="319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1" name="Oval 45"/>
              <p:cNvSpPr>
                <a:spLocks noChangeArrowheads="1"/>
              </p:cNvSpPr>
              <p:nvPr/>
            </p:nvSpPr>
            <p:spPr bwMode="auto">
              <a:xfrm>
                <a:off x="2765" y="2937"/>
                <a:ext cx="522" cy="235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2" name="Oval 46"/>
              <p:cNvSpPr>
                <a:spLocks noChangeArrowheads="1"/>
              </p:cNvSpPr>
              <p:nvPr/>
            </p:nvSpPr>
            <p:spPr bwMode="auto">
              <a:xfrm>
                <a:off x="2839" y="3097"/>
                <a:ext cx="523" cy="235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3" name="Oval 47"/>
              <p:cNvSpPr>
                <a:spLocks noChangeArrowheads="1"/>
              </p:cNvSpPr>
              <p:nvPr/>
            </p:nvSpPr>
            <p:spPr bwMode="auto">
              <a:xfrm>
                <a:off x="2790" y="3144"/>
                <a:ext cx="522" cy="395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74" name="Oval 48"/>
              <p:cNvSpPr>
                <a:spLocks noChangeArrowheads="1"/>
              </p:cNvSpPr>
              <p:nvPr/>
            </p:nvSpPr>
            <p:spPr bwMode="auto">
              <a:xfrm>
                <a:off x="2018" y="3022"/>
                <a:ext cx="1070" cy="395"/>
              </a:xfrm>
              <a:prstGeom prst="ellipse">
                <a:avLst/>
              </a:prstGeom>
              <a:solidFill>
                <a:srgbClr val="FFFF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40" name="Text Box 51"/>
            <p:cNvSpPr txBox="1">
              <a:spLocks noChangeArrowheads="1"/>
            </p:cNvSpPr>
            <p:nvPr/>
          </p:nvSpPr>
          <p:spPr bwMode="auto">
            <a:xfrm>
              <a:off x="3584556" y="6215133"/>
              <a:ext cx="1800227" cy="45720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>
              <a:prstShdw prst="shdw17" dist="17961" dir="2700000">
                <a:srgbClr val="CC99FF">
                  <a:gamma/>
                  <a:shade val="60000"/>
                  <a:invGamma/>
                </a:srgbClr>
              </a:prst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PVST+</a:t>
              </a:r>
              <a:r>
                <a:rPr lang="zh-CN" altLang="en-US" sz="24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区域</a:t>
              </a:r>
            </a:p>
          </p:txBody>
        </p:sp>
        <p:sp>
          <p:nvSpPr>
            <p:cNvPr id="41" name="Text Box 52"/>
            <p:cNvSpPr txBox="1">
              <a:spLocks noChangeArrowheads="1"/>
            </p:cNvSpPr>
            <p:nvPr/>
          </p:nvSpPr>
          <p:spPr bwMode="auto">
            <a:xfrm>
              <a:off x="1784329" y="6981901"/>
              <a:ext cx="1657352" cy="45720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>
              <a:prstShdw prst="shdw17" dist="17961" dir="2700000">
                <a:srgbClr val="CC99FF">
                  <a:gamma/>
                  <a:shade val="60000"/>
                  <a:invGamma/>
                </a:srgbClr>
              </a:prst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4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PVST</a:t>
              </a:r>
              <a:r>
                <a:rPr lang="zh-CN" altLang="en-US" sz="24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区域</a:t>
              </a:r>
            </a:p>
          </p:txBody>
        </p:sp>
        <p:grpSp>
          <p:nvGrpSpPr>
            <p:cNvPr id="6" name="Group 54"/>
            <p:cNvGrpSpPr>
              <a:grpSpLocks/>
            </p:cNvGrpSpPr>
            <p:nvPr/>
          </p:nvGrpSpPr>
          <p:grpSpPr bwMode="auto">
            <a:xfrm>
              <a:off x="5024421" y="6573915"/>
              <a:ext cx="2665415" cy="1223966"/>
              <a:chOff x="3288" y="1842"/>
              <a:chExt cx="1679" cy="771"/>
            </a:xfrm>
          </p:grpSpPr>
          <p:sp>
            <p:nvSpPr>
              <p:cNvPr id="43" name="AutoShape 7"/>
              <p:cNvSpPr>
                <a:spLocks noChangeAspect="1" noChangeArrowheads="1" noTextEdit="1"/>
              </p:cNvSpPr>
              <p:nvPr/>
            </p:nvSpPr>
            <p:spPr bwMode="auto">
              <a:xfrm>
                <a:off x="3288" y="1842"/>
                <a:ext cx="1679" cy="7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7" name="Group 18"/>
              <p:cNvGrpSpPr>
                <a:grpSpLocks/>
              </p:cNvGrpSpPr>
              <p:nvPr/>
            </p:nvGrpSpPr>
            <p:grpSpPr bwMode="auto">
              <a:xfrm>
                <a:off x="3313" y="1870"/>
                <a:ext cx="1654" cy="743"/>
                <a:chOff x="3313" y="1870"/>
                <a:chExt cx="1654" cy="743"/>
              </a:xfrm>
            </p:grpSpPr>
            <p:sp>
              <p:nvSpPr>
                <p:cNvPr id="55" name="Oval 9"/>
                <p:cNvSpPr>
                  <a:spLocks noChangeArrowheads="1"/>
                </p:cNvSpPr>
                <p:nvPr/>
              </p:nvSpPr>
              <p:spPr bwMode="auto">
                <a:xfrm>
                  <a:off x="3885" y="1870"/>
                  <a:ext cx="709" cy="301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2400" b="1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56" name="Oval 10"/>
                <p:cNvSpPr>
                  <a:spLocks noChangeArrowheads="1"/>
                </p:cNvSpPr>
                <p:nvPr/>
              </p:nvSpPr>
              <p:spPr bwMode="auto">
                <a:xfrm>
                  <a:off x="3487" y="1945"/>
                  <a:ext cx="535" cy="311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2400" b="1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57" name="Oval 11"/>
                <p:cNvSpPr>
                  <a:spLocks noChangeArrowheads="1"/>
                </p:cNvSpPr>
                <p:nvPr/>
              </p:nvSpPr>
              <p:spPr bwMode="auto">
                <a:xfrm>
                  <a:off x="3313" y="2133"/>
                  <a:ext cx="361" cy="245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2400" b="1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58" name="Oval 12"/>
                <p:cNvSpPr>
                  <a:spLocks noChangeArrowheads="1"/>
                </p:cNvSpPr>
                <p:nvPr/>
              </p:nvSpPr>
              <p:spPr bwMode="auto">
                <a:xfrm>
                  <a:off x="3425" y="2256"/>
                  <a:ext cx="547" cy="263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2400" b="1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59" name="Oval 13"/>
                <p:cNvSpPr>
                  <a:spLocks noChangeArrowheads="1"/>
                </p:cNvSpPr>
                <p:nvPr/>
              </p:nvSpPr>
              <p:spPr bwMode="auto">
                <a:xfrm>
                  <a:off x="3823" y="2293"/>
                  <a:ext cx="833" cy="320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2400" b="1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60" name="Oval 14"/>
                <p:cNvSpPr>
                  <a:spLocks noChangeArrowheads="1"/>
                </p:cNvSpPr>
                <p:nvPr/>
              </p:nvSpPr>
              <p:spPr bwMode="auto">
                <a:xfrm>
                  <a:off x="4358" y="1955"/>
                  <a:ext cx="522" cy="235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2400" b="1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61" name="Oval 15"/>
                <p:cNvSpPr>
                  <a:spLocks noChangeArrowheads="1"/>
                </p:cNvSpPr>
                <p:nvPr/>
              </p:nvSpPr>
              <p:spPr bwMode="auto">
                <a:xfrm>
                  <a:off x="4445" y="2115"/>
                  <a:ext cx="522" cy="235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2400" b="1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62" name="Oval 16"/>
                <p:cNvSpPr>
                  <a:spLocks noChangeArrowheads="1"/>
                </p:cNvSpPr>
                <p:nvPr/>
              </p:nvSpPr>
              <p:spPr bwMode="auto">
                <a:xfrm>
                  <a:off x="4395" y="2171"/>
                  <a:ext cx="510" cy="386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2400" b="1"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63" name="Oval 17"/>
                <p:cNvSpPr>
                  <a:spLocks noChangeArrowheads="1"/>
                </p:cNvSpPr>
                <p:nvPr/>
              </p:nvSpPr>
              <p:spPr bwMode="auto">
                <a:xfrm>
                  <a:off x="3611" y="2049"/>
                  <a:ext cx="1070" cy="395"/>
                </a:xfrm>
                <a:prstGeom prst="ellipse">
                  <a:avLst/>
                </a:pr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 sz="2400" b="1"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45" name="Oval 19"/>
              <p:cNvSpPr>
                <a:spLocks noChangeArrowheads="1"/>
              </p:cNvSpPr>
              <p:nvPr/>
            </p:nvSpPr>
            <p:spPr bwMode="auto">
              <a:xfrm>
                <a:off x="3860" y="1842"/>
                <a:ext cx="697" cy="301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6" name="Oval 20"/>
              <p:cNvSpPr>
                <a:spLocks noChangeArrowheads="1"/>
              </p:cNvSpPr>
              <p:nvPr/>
            </p:nvSpPr>
            <p:spPr bwMode="auto">
              <a:xfrm>
                <a:off x="3462" y="1927"/>
                <a:ext cx="535" cy="301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7" name="Oval 21"/>
              <p:cNvSpPr>
                <a:spLocks noChangeArrowheads="1"/>
              </p:cNvSpPr>
              <p:nvPr/>
            </p:nvSpPr>
            <p:spPr bwMode="auto">
              <a:xfrm>
                <a:off x="3288" y="2115"/>
                <a:ext cx="361" cy="244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8" name="Oval 22"/>
              <p:cNvSpPr>
                <a:spLocks noChangeArrowheads="1"/>
              </p:cNvSpPr>
              <p:nvPr/>
            </p:nvSpPr>
            <p:spPr bwMode="auto">
              <a:xfrm>
                <a:off x="3400" y="2228"/>
                <a:ext cx="547" cy="263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49" name="Oval 23"/>
              <p:cNvSpPr>
                <a:spLocks noChangeArrowheads="1"/>
              </p:cNvSpPr>
              <p:nvPr/>
            </p:nvSpPr>
            <p:spPr bwMode="auto">
              <a:xfrm>
                <a:off x="3798" y="2275"/>
                <a:ext cx="821" cy="319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0" name="Oval 24"/>
              <p:cNvSpPr>
                <a:spLocks noChangeArrowheads="1"/>
              </p:cNvSpPr>
              <p:nvPr/>
            </p:nvSpPr>
            <p:spPr bwMode="auto">
              <a:xfrm>
                <a:off x="4333" y="1936"/>
                <a:ext cx="522" cy="235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1" name="Oval 25"/>
              <p:cNvSpPr>
                <a:spLocks noChangeArrowheads="1"/>
              </p:cNvSpPr>
              <p:nvPr/>
            </p:nvSpPr>
            <p:spPr bwMode="auto">
              <a:xfrm>
                <a:off x="4407" y="2096"/>
                <a:ext cx="523" cy="235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2" name="Oval 26"/>
              <p:cNvSpPr>
                <a:spLocks noChangeArrowheads="1"/>
              </p:cNvSpPr>
              <p:nvPr/>
            </p:nvSpPr>
            <p:spPr bwMode="auto">
              <a:xfrm>
                <a:off x="4358" y="2143"/>
                <a:ext cx="522" cy="395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3" name="Oval 27"/>
              <p:cNvSpPr>
                <a:spLocks noChangeArrowheads="1"/>
              </p:cNvSpPr>
              <p:nvPr/>
            </p:nvSpPr>
            <p:spPr bwMode="auto">
              <a:xfrm>
                <a:off x="3586" y="2021"/>
                <a:ext cx="1070" cy="395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1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4" name="Text Box 53"/>
              <p:cNvSpPr txBox="1">
                <a:spLocks noChangeArrowheads="1"/>
              </p:cNvSpPr>
              <p:nvPr/>
            </p:nvSpPr>
            <p:spPr bwMode="auto">
              <a:xfrm>
                <a:off x="3651" y="2069"/>
                <a:ext cx="1044" cy="291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rgbClr val="CC99FF">
                    <a:gamma/>
                    <a:shade val="60000"/>
                    <a:invGamma/>
                  </a:srgbClr>
                </a:prstShdw>
              </a:effec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2400" b="1" dirty="0">
                    <a:solidFill>
                      <a:schemeClr val="tx2"/>
                    </a:solidFill>
                    <a:latin typeface="Arial" pitchFamily="34" charset="0"/>
                    <a:cs typeface="Arial" pitchFamily="34" charset="0"/>
                  </a:rPr>
                  <a:t>CST</a:t>
                </a:r>
                <a:r>
                  <a:rPr lang="zh-CN" altLang="en-US" sz="2400" b="1" dirty="0">
                    <a:solidFill>
                      <a:schemeClr val="tx2"/>
                    </a:solidFill>
                    <a:latin typeface="Arial" pitchFamily="34" charset="0"/>
                    <a:cs typeface="Arial" pitchFamily="34" charset="0"/>
                  </a:rPr>
                  <a:t>区域</a:t>
                </a:r>
              </a:p>
            </p:txBody>
          </p:sp>
        </p:grpSp>
      </p:grpSp>
      <p:sp>
        <p:nvSpPr>
          <p:cNvPr id="84" name="内容占位符 1"/>
          <p:cNvSpPr txBox="1">
            <a:spLocks/>
          </p:cNvSpPr>
          <p:nvPr/>
        </p:nvSpPr>
        <p:spPr bwMode="auto">
          <a:xfrm>
            <a:off x="1738313" y="1143000"/>
            <a:ext cx="8501062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72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r>
              <a:rPr lang="en-US" sz="2800" b="1" kern="0" dirty="0">
                <a:solidFill>
                  <a:schemeClr val="tx2"/>
                </a:solidFill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</a:rPr>
              <a:t>PVST</a:t>
            </a:r>
            <a:r>
              <a:rPr lang="zh-CN" altLang="en-US" sz="2800" b="1" dirty="0">
                <a:solidFill>
                  <a:schemeClr val="tx2"/>
                </a:solidFill>
              </a:rPr>
              <a:t>（</a:t>
            </a:r>
            <a:r>
              <a:rPr lang="en-US" altLang="zh-CN" sz="2800" b="1" dirty="0">
                <a:solidFill>
                  <a:schemeClr val="tx2"/>
                </a:solidFill>
              </a:rPr>
              <a:t>Cisco</a:t>
            </a:r>
            <a:r>
              <a:rPr lang="zh-CN" altLang="en-US" sz="2800" b="1" dirty="0">
                <a:solidFill>
                  <a:schemeClr val="tx2"/>
                </a:solidFill>
                <a:latin typeface="黑体" pitchFamily="2" charset="-122"/>
              </a:rPr>
              <a:t>私有）为每个</a:t>
            </a:r>
            <a:r>
              <a:rPr lang="en-US" altLang="zh-CN" sz="2800" b="1" dirty="0">
                <a:solidFill>
                  <a:schemeClr val="tx2"/>
                </a:solidFill>
              </a:rPr>
              <a:t>VLAN</a:t>
            </a:r>
            <a:r>
              <a:rPr lang="zh-CN" altLang="en-US" sz="2800" b="1" dirty="0">
                <a:solidFill>
                  <a:schemeClr val="tx2"/>
                </a:solidFill>
                <a:latin typeface="黑体" pitchFamily="2" charset="-122"/>
              </a:rPr>
              <a:t>构造一个生成树实例</a:t>
            </a:r>
          </a:p>
          <a:p>
            <a:pPr marL="342900" indent="-342900" eaLnBrk="0" hangingPunct="0">
              <a:spcBef>
                <a:spcPts val="672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endParaRPr lang="en-US" altLang="zh-CN" sz="2800" b="1" kern="0" dirty="0">
              <a:solidFill>
                <a:schemeClr val="tx2"/>
              </a:solidFill>
            </a:endParaRPr>
          </a:p>
          <a:p>
            <a:pPr marL="342900" indent="-342900" eaLnBrk="0" hangingPunct="0">
              <a:spcBef>
                <a:spcPts val="672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endParaRPr lang="zh-CN" altLang="en-US" sz="2800" b="1" kern="0" dirty="0">
              <a:solidFill>
                <a:schemeClr val="tx2"/>
              </a:solidFill>
            </a:endParaRPr>
          </a:p>
        </p:txBody>
      </p:sp>
      <p:sp>
        <p:nvSpPr>
          <p:cNvPr id="85" name="内容占位符 1"/>
          <p:cNvSpPr txBox="1">
            <a:spLocks/>
          </p:cNvSpPr>
          <p:nvPr/>
        </p:nvSpPr>
        <p:spPr bwMode="auto">
          <a:xfrm>
            <a:off x="1738313" y="1143000"/>
            <a:ext cx="8501062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ts val="672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r>
              <a:rPr lang="en-US" sz="2800" b="1" kern="0" dirty="0">
                <a:solidFill>
                  <a:schemeClr val="tx2"/>
                </a:solidFill>
              </a:rPr>
              <a:t> </a:t>
            </a:r>
            <a:r>
              <a:rPr lang="en-US" altLang="zh-CN" sz="2800" b="1" kern="0" dirty="0">
                <a:solidFill>
                  <a:schemeClr val="tx2"/>
                </a:solidFill>
              </a:rPr>
              <a:t>IEEEPVST+</a:t>
            </a:r>
          </a:p>
          <a:p>
            <a:pPr marL="800100" lvl="1" indent="-342900" eaLnBrk="0" hangingPunct="0">
              <a:spcBef>
                <a:spcPts val="672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/>
            </a:pPr>
            <a:r>
              <a:rPr lang="en-US" altLang="zh-CN" sz="2800" b="1" kern="0" dirty="0">
                <a:solidFill>
                  <a:schemeClr val="tx2"/>
                </a:solidFill>
              </a:rPr>
              <a:t>Cisco</a:t>
            </a:r>
            <a:r>
              <a:rPr lang="zh-CN" altLang="en-US" sz="2800" b="1" kern="0" dirty="0">
                <a:solidFill>
                  <a:schemeClr val="tx2"/>
                </a:solidFill>
              </a:rPr>
              <a:t>私有</a:t>
            </a:r>
            <a:endParaRPr lang="en-US" altLang="zh-CN" sz="2800" b="1" kern="0" dirty="0">
              <a:solidFill>
                <a:schemeClr val="tx2"/>
              </a:solidFill>
            </a:endParaRPr>
          </a:p>
          <a:p>
            <a:pPr marL="800100" lvl="1" indent="-342900" eaLnBrk="0" hangingPunct="0">
              <a:spcBef>
                <a:spcPts val="672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/>
            </a:pPr>
            <a:r>
              <a:rPr lang="zh-CN" altLang="en-US" sz="2800" b="1" kern="0" dirty="0">
                <a:solidFill>
                  <a:schemeClr val="tx2"/>
                </a:solidFill>
              </a:rPr>
              <a:t>可以与</a:t>
            </a:r>
            <a:r>
              <a:rPr lang="en-US" altLang="zh-CN" sz="2800" b="1" kern="0" dirty="0">
                <a:solidFill>
                  <a:schemeClr val="tx2"/>
                </a:solidFill>
              </a:rPr>
              <a:t>CST</a:t>
            </a:r>
            <a:r>
              <a:rPr lang="zh-CN" altLang="en-US" sz="2800" b="1" kern="0" dirty="0">
                <a:solidFill>
                  <a:schemeClr val="tx2"/>
                </a:solidFill>
              </a:rPr>
              <a:t>互操作</a:t>
            </a:r>
            <a:endParaRPr lang="en-US" altLang="zh-CN" sz="2800" b="1" kern="0" dirty="0">
              <a:solidFill>
                <a:schemeClr val="tx2"/>
              </a:solidFill>
            </a:endParaRPr>
          </a:p>
          <a:p>
            <a:pPr marL="342900" indent="-342900" eaLnBrk="0" hangingPunct="0">
              <a:spcBef>
                <a:spcPts val="672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endParaRPr lang="zh-CN" altLang="en-US" sz="2800" b="1" kern="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4" grpId="1" animBg="1"/>
      <p:bldP spid="35" grpId="0" animBg="1"/>
      <p:bldP spid="36" grpId="0" animBg="1"/>
      <p:bldP spid="84" grpId="0" build="allAtOnce"/>
      <p:bldP spid="8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642938"/>
          </a:xfrm>
        </p:spPr>
        <p:txBody>
          <a:bodyPr>
            <a:normAutofit fontScale="55000" lnSpcReduction="20000"/>
          </a:bodyPr>
          <a:lstStyle/>
          <a:p>
            <a:pPr>
              <a:spcBef>
                <a:spcPts val="675"/>
              </a:spcBef>
            </a:pPr>
            <a:r>
              <a:rPr lang="en-US" altLang="zh-CN"/>
              <a:t>PVST+</a:t>
            </a:r>
            <a:r>
              <a:rPr lang="zh-CN" altLang="en-US"/>
              <a:t>配置的意义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配置网络中比较稳定的交换机为根网桥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利用</a:t>
            </a:r>
            <a:r>
              <a:rPr lang="en-US" altLang="zh-CN"/>
              <a:t>PVST+</a:t>
            </a:r>
            <a:r>
              <a:rPr lang="zh-CN" altLang="en-US"/>
              <a:t>实现网络的负载分担</a:t>
            </a:r>
          </a:p>
        </p:txBody>
      </p:sp>
      <p:sp>
        <p:nvSpPr>
          <p:cNvPr id="34819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PVST+</a:t>
            </a:r>
            <a:r>
              <a:rPr lang="zh-CN" altLang="en-US"/>
              <a:t>的配置命令</a:t>
            </a:r>
          </a:p>
        </p:txBody>
      </p:sp>
      <p:sp>
        <p:nvSpPr>
          <p:cNvPr id="34820" name="Text Box 22"/>
          <p:cNvSpPr txBox="1">
            <a:spLocks noChangeArrowheads="1"/>
          </p:cNvSpPr>
          <p:nvPr/>
        </p:nvSpPr>
        <p:spPr bwMode="auto">
          <a:xfrm>
            <a:off x="3130550" y="5902325"/>
            <a:ext cx="1409700" cy="3381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>
            <a:prstShdw prst="shdw17" dist="17961" dir="2700000">
              <a:srgbClr val="7A5C99"/>
            </a:prst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  <a:cs typeface="Arial" charset="0"/>
              </a:rPr>
              <a:t>VLAN 1</a:t>
            </a:r>
            <a:r>
              <a:rPr lang="zh-CN" altLang="en-US" sz="1600" b="1">
                <a:solidFill>
                  <a:schemeClr val="tx2"/>
                </a:solidFill>
                <a:cs typeface="Arial" charset="0"/>
              </a:rPr>
              <a:t>～</a:t>
            </a:r>
            <a:r>
              <a:rPr lang="en-US" altLang="zh-CN" sz="1600" b="1">
                <a:solidFill>
                  <a:schemeClr val="tx2"/>
                </a:solidFill>
                <a:cs typeface="Arial" charset="0"/>
              </a:rPr>
              <a:t>10</a:t>
            </a:r>
          </a:p>
        </p:txBody>
      </p:sp>
      <p:sp>
        <p:nvSpPr>
          <p:cNvPr id="34821" name="Text Box 25"/>
          <p:cNvSpPr txBox="1">
            <a:spLocks noChangeArrowheads="1"/>
          </p:cNvSpPr>
          <p:nvPr/>
        </p:nvSpPr>
        <p:spPr bwMode="auto">
          <a:xfrm>
            <a:off x="4481513" y="2798763"/>
            <a:ext cx="1643062" cy="646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chemeClr val="tx2"/>
                </a:solidFill>
                <a:cs typeface="Arial" charset="0"/>
              </a:rPr>
              <a:t>VLAN 1</a:t>
            </a:r>
            <a:r>
              <a:rPr lang="zh-CN" altLang="en-US">
                <a:solidFill>
                  <a:schemeClr val="tx2"/>
                </a:solidFill>
                <a:cs typeface="Arial" charset="0"/>
              </a:rPr>
              <a:t>～</a:t>
            </a:r>
            <a:r>
              <a:rPr lang="en-US" altLang="zh-CN">
                <a:solidFill>
                  <a:schemeClr val="tx2"/>
                </a:solidFill>
                <a:cs typeface="Arial" charset="0"/>
              </a:rPr>
              <a:t>5   </a:t>
            </a:r>
            <a:r>
              <a:rPr lang="zh-CN" altLang="en-US">
                <a:solidFill>
                  <a:schemeClr val="tx2"/>
                </a:solidFill>
                <a:latin typeface="黑体" pitchFamily="2" charset="-122"/>
              </a:rPr>
              <a:t>的根网桥</a:t>
            </a:r>
          </a:p>
        </p:txBody>
      </p:sp>
      <p:sp>
        <p:nvSpPr>
          <p:cNvPr id="6" name="AutoShape 33"/>
          <p:cNvSpPr>
            <a:spLocks noChangeArrowheads="1"/>
          </p:cNvSpPr>
          <p:nvPr/>
        </p:nvSpPr>
        <p:spPr bwMode="auto">
          <a:xfrm>
            <a:off x="1706399" y="4295499"/>
            <a:ext cx="1637042" cy="783193"/>
          </a:xfrm>
          <a:prstGeom prst="wedgeRoundRectCallout">
            <a:avLst>
              <a:gd name="adj1" fmla="val 80185"/>
              <a:gd name="adj2" fmla="val 78856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wrap="none" anchor="ctr" anchorCtr="1">
            <a:spAutoFit/>
          </a:bodyPr>
          <a:lstStyle/>
          <a:p>
            <a:pPr algn="ctr"/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VLAN 1</a:t>
            </a: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～</a:t>
            </a:r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</a:t>
            </a:r>
          </a:p>
          <a:p>
            <a:pPr algn="ctr"/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的根端口</a:t>
            </a:r>
          </a:p>
        </p:txBody>
      </p:sp>
      <p:sp>
        <p:nvSpPr>
          <p:cNvPr id="7" name="AutoShape 35"/>
          <p:cNvSpPr>
            <a:spLocks noChangeArrowheads="1"/>
          </p:cNvSpPr>
          <p:nvPr/>
        </p:nvSpPr>
        <p:spPr bwMode="auto">
          <a:xfrm>
            <a:off x="2743830" y="3366811"/>
            <a:ext cx="1637042" cy="783193"/>
          </a:xfrm>
          <a:prstGeom prst="wedgeRoundRectCallout">
            <a:avLst>
              <a:gd name="adj1" fmla="val 55634"/>
              <a:gd name="adj2" fmla="val 94301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wrap="none" anchor="ctr" anchorCtr="1">
            <a:spAutoFit/>
          </a:bodyPr>
          <a:lstStyle/>
          <a:p>
            <a:pPr algn="ctr"/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VLAN 1</a:t>
            </a: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～</a:t>
            </a:r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5</a:t>
            </a:r>
          </a:p>
          <a:p>
            <a:pPr algn="ctr"/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数据的流向</a:t>
            </a:r>
          </a:p>
        </p:txBody>
      </p:sp>
      <p:sp>
        <p:nvSpPr>
          <p:cNvPr id="34824" name="Text Box 47"/>
          <p:cNvSpPr txBox="1">
            <a:spLocks noChangeArrowheads="1"/>
          </p:cNvSpPr>
          <p:nvPr/>
        </p:nvSpPr>
        <p:spPr bwMode="auto">
          <a:xfrm>
            <a:off x="2071689" y="5605464"/>
            <a:ext cx="1423987" cy="3698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>
            <a:prstShdw prst="shdw17" dist="17961" dir="2700000">
              <a:srgbClr val="7A5C99"/>
            </a:prst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黑体" pitchFamily="2" charset="-122"/>
              </a:rPr>
              <a:t>接入交换机</a:t>
            </a:r>
          </a:p>
        </p:txBody>
      </p:sp>
      <p:pic>
        <p:nvPicPr>
          <p:cNvPr id="34825" name="Picture 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92689" y="3419475"/>
            <a:ext cx="669925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26" name="Picture 1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86138" y="5500688"/>
            <a:ext cx="1117600" cy="474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4827" name="直接连接符 50"/>
          <p:cNvCxnSpPr>
            <a:cxnSpLocks noChangeShapeType="1"/>
          </p:cNvCxnSpPr>
          <p:nvPr/>
        </p:nvCxnSpPr>
        <p:spPr bwMode="auto">
          <a:xfrm rot="10800000">
            <a:off x="5662613" y="3749675"/>
            <a:ext cx="1179512" cy="1588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sp>
        <p:nvSpPr>
          <p:cNvPr id="34828" name="Text Box 22"/>
          <p:cNvSpPr txBox="1">
            <a:spLocks noChangeArrowheads="1"/>
          </p:cNvSpPr>
          <p:nvPr/>
        </p:nvSpPr>
        <p:spPr bwMode="auto">
          <a:xfrm>
            <a:off x="5283201" y="5902325"/>
            <a:ext cx="1425575" cy="3381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>
            <a:prstShdw prst="shdw17" dist="17961" dir="2700000">
              <a:srgbClr val="7A5C99"/>
            </a:prst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  <a:cs typeface="Arial" charset="0"/>
              </a:rPr>
              <a:t>VLAN 1</a:t>
            </a:r>
            <a:r>
              <a:rPr lang="zh-CN" altLang="en-US" sz="1600" b="1">
                <a:solidFill>
                  <a:schemeClr val="tx2"/>
                </a:solidFill>
                <a:cs typeface="Arial" charset="0"/>
              </a:rPr>
              <a:t>～</a:t>
            </a:r>
            <a:r>
              <a:rPr lang="en-US" altLang="zh-CN" sz="1600" b="1">
                <a:solidFill>
                  <a:schemeClr val="tx2"/>
                </a:solidFill>
                <a:cs typeface="Arial" charset="0"/>
              </a:rPr>
              <a:t>10</a:t>
            </a:r>
          </a:p>
        </p:txBody>
      </p:sp>
      <p:sp>
        <p:nvSpPr>
          <p:cNvPr id="34829" name="Text Box 22"/>
          <p:cNvSpPr txBox="1">
            <a:spLocks noChangeArrowheads="1"/>
          </p:cNvSpPr>
          <p:nvPr/>
        </p:nvSpPr>
        <p:spPr bwMode="auto">
          <a:xfrm>
            <a:off x="7473951" y="5892800"/>
            <a:ext cx="1425575" cy="3381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>
            <a:prstShdw prst="shdw17" dist="17961" dir="2700000">
              <a:srgbClr val="7A5C99"/>
            </a:prst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  <a:cs typeface="Arial" charset="0"/>
              </a:rPr>
              <a:t>VLAN 1</a:t>
            </a:r>
            <a:r>
              <a:rPr lang="zh-CN" altLang="en-US" sz="1600" b="1">
                <a:solidFill>
                  <a:schemeClr val="tx2"/>
                </a:solidFill>
                <a:cs typeface="Arial" charset="0"/>
              </a:rPr>
              <a:t>～</a:t>
            </a:r>
            <a:r>
              <a:rPr lang="en-US" altLang="zh-CN" sz="1600" b="1">
                <a:solidFill>
                  <a:schemeClr val="tx2"/>
                </a:solidFill>
                <a:cs typeface="Arial" charset="0"/>
              </a:rPr>
              <a:t>10</a:t>
            </a:r>
          </a:p>
        </p:txBody>
      </p:sp>
      <p:pic>
        <p:nvPicPr>
          <p:cNvPr id="34830" name="Picture 1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45413" y="5500688"/>
            <a:ext cx="1117600" cy="474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31" name="Picture 1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18150" y="5500688"/>
            <a:ext cx="1117600" cy="474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32" name="Picture 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42126" y="3419475"/>
            <a:ext cx="669925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4833" name="直接连接符 50"/>
          <p:cNvCxnSpPr>
            <a:cxnSpLocks noChangeShapeType="1"/>
          </p:cNvCxnSpPr>
          <p:nvPr/>
        </p:nvCxnSpPr>
        <p:spPr bwMode="auto">
          <a:xfrm rot="5400000">
            <a:off x="4974432" y="3293269"/>
            <a:ext cx="1416050" cy="2989263"/>
          </a:xfrm>
          <a:prstGeom prst="line">
            <a:avLst/>
          </a:prstGeom>
          <a:noFill/>
          <a:ln w="190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34834" name="直接连接符 50"/>
          <p:cNvCxnSpPr>
            <a:cxnSpLocks noChangeShapeType="1"/>
          </p:cNvCxnSpPr>
          <p:nvPr/>
        </p:nvCxnSpPr>
        <p:spPr bwMode="auto">
          <a:xfrm rot="5400000">
            <a:off x="6003132" y="4334669"/>
            <a:ext cx="1428750" cy="919163"/>
          </a:xfrm>
          <a:prstGeom prst="line">
            <a:avLst/>
          </a:prstGeom>
          <a:noFill/>
          <a:ln w="190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34835" name="直接连接符 50"/>
          <p:cNvCxnSpPr>
            <a:cxnSpLocks noChangeShapeType="1"/>
          </p:cNvCxnSpPr>
          <p:nvPr/>
        </p:nvCxnSpPr>
        <p:spPr bwMode="auto">
          <a:xfrm rot="16200000" flipH="1">
            <a:off x="7145338" y="4111626"/>
            <a:ext cx="1420813" cy="1357312"/>
          </a:xfrm>
          <a:prstGeom prst="line">
            <a:avLst/>
          </a:prstGeom>
          <a:noFill/>
          <a:ln w="190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34836" name="直接连接符 50"/>
          <p:cNvCxnSpPr>
            <a:cxnSpLocks noChangeShapeType="1"/>
          </p:cNvCxnSpPr>
          <p:nvPr/>
        </p:nvCxnSpPr>
        <p:spPr bwMode="auto">
          <a:xfrm rot="16200000" flipH="1">
            <a:off x="4900613" y="4506913"/>
            <a:ext cx="1428750" cy="574675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34837" name="直接连接符 50"/>
          <p:cNvCxnSpPr>
            <a:cxnSpLocks noChangeShapeType="1"/>
          </p:cNvCxnSpPr>
          <p:nvPr/>
        </p:nvCxnSpPr>
        <p:spPr bwMode="auto">
          <a:xfrm rot="16200000" flipH="1">
            <a:off x="6024563" y="3382963"/>
            <a:ext cx="1428750" cy="2822575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34838" name="直接连接符 50"/>
          <p:cNvCxnSpPr>
            <a:cxnSpLocks noChangeShapeType="1"/>
          </p:cNvCxnSpPr>
          <p:nvPr/>
        </p:nvCxnSpPr>
        <p:spPr bwMode="auto">
          <a:xfrm rot="5400000">
            <a:off x="3833813" y="4014788"/>
            <a:ext cx="1428750" cy="1558925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sp>
        <p:nvSpPr>
          <p:cNvPr id="34839" name="Text Box 25"/>
          <p:cNvSpPr txBox="1">
            <a:spLocks noChangeArrowheads="1"/>
          </p:cNvSpPr>
          <p:nvPr/>
        </p:nvSpPr>
        <p:spPr bwMode="auto">
          <a:xfrm>
            <a:off x="6307139" y="2786063"/>
            <a:ext cx="1728787" cy="646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chemeClr val="tx2"/>
                </a:solidFill>
                <a:cs typeface="Arial" charset="0"/>
              </a:rPr>
              <a:t>VLAN 6</a:t>
            </a:r>
            <a:r>
              <a:rPr lang="zh-CN" altLang="en-US">
                <a:solidFill>
                  <a:schemeClr val="tx2"/>
                </a:solidFill>
                <a:cs typeface="Arial" charset="0"/>
              </a:rPr>
              <a:t>～</a:t>
            </a:r>
            <a:r>
              <a:rPr lang="en-US" altLang="zh-CN">
                <a:solidFill>
                  <a:schemeClr val="tx2"/>
                </a:solidFill>
                <a:cs typeface="Arial" charset="0"/>
              </a:rPr>
              <a:t>10  </a:t>
            </a:r>
            <a:r>
              <a:rPr lang="zh-CN" altLang="en-US">
                <a:solidFill>
                  <a:schemeClr val="tx2"/>
                </a:solidFill>
                <a:latin typeface="黑体" pitchFamily="2" charset="-122"/>
              </a:rPr>
              <a:t>的根网桥</a:t>
            </a:r>
          </a:p>
        </p:txBody>
      </p:sp>
      <p:sp>
        <p:nvSpPr>
          <p:cNvPr id="24" name="Oval 31"/>
          <p:cNvSpPr>
            <a:spLocks noChangeArrowheads="1"/>
          </p:cNvSpPr>
          <p:nvPr/>
        </p:nvSpPr>
        <p:spPr bwMode="auto">
          <a:xfrm>
            <a:off x="3678239" y="5354639"/>
            <a:ext cx="219075" cy="219075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25" name="Oval 31"/>
          <p:cNvSpPr>
            <a:spLocks noChangeArrowheads="1"/>
          </p:cNvSpPr>
          <p:nvPr/>
        </p:nvSpPr>
        <p:spPr bwMode="auto">
          <a:xfrm>
            <a:off x="5759451" y="5354639"/>
            <a:ext cx="219075" cy="219075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26" name="Oval 31"/>
          <p:cNvSpPr>
            <a:spLocks noChangeArrowheads="1"/>
          </p:cNvSpPr>
          <p:nvPr/>
        </p:nvSpPr>
        <p:spPr bwMode="auto">
          <a:xfrm>
            <a:off x="7986714" y="5354639"/>
            <a:ext cx="219075" cy="219075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27" name="Line 80"/>
          <p:cNvSpPr>
            <a:spLocks noChangeShapeType="1"/>
          </p:cNvSpPr>
          <p:nvPr/>
        </p:nvSpPr>
        <p:spPr bwMode="auto">
          <a:xfrm rot="5400000" flipH="1" flipV="1">
            <a:off x="4048125" y="4227513"/>
            <a:ext cx="730250" cy="79375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28" name="Line 80"/>
          <p:cNvSpPr>
            <a:spLocks noChangeShapeType="1"/>
          </p:cNvSpPr>
          <p:nvPr/>
        </p:nvSpPr>
        <p:spPr bwMode="auto">
          <a:xfrm rot="5400000" flipH="1">
            <a:off x="5047457" y="4752182"/>
            <a:ext cx="949325" cy="328612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29" name="Line 80"/>
          <p:cNvSpPr>
            <a:spLocks noChangeShapeType="1"/>
          </p:cNvSpPr>
          <p:nvPr/>
        </p:nvSpPr>
        <p:spPr bwMode="auto">
          <a:xfrm rot="5400000" flipH="1">
            <a:off x="6346032" y="4179095"/>
            <a:ext cx="785813" cy="1571625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stealth" w="lg" len="lg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30" name="Line 80"/>
          <p:cNvSpPr>
            <a:spLocks noChangeShapeType="1"/>
          </p:cNvSpPr>
          <p:nvPr/>
        </p:nvSpPr>
        <p:spPr bwMode="auto">
          <a:xfrm rot="5400000" flipH="1" flipV="1">
            <a:off x="5289551" y="4265613"/>
            <a:ext cx="612775" cy="1428750"/>
          </a:xfrm>
          <a:prstGeom prst="line">
            <a:avLst/>
          </a:prstGeom>
          <a:noFill/>
          <a:ln w="50800">
            <a:solidFill>
              <a:srgbClr val="FF9933"/>
            </a:solidFill>
            <a:round/>
            <a:headEnd/>
            <a:tailEnd type="stealth" w="lg" len="lg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31" name="Line 80"/>
          <p:cNvSpPr>
            <a:spLocks noChangeShapeType="1"/>
          </p:cNvSpPr>
          <p:nvPr/>
        </p:nvSpPr>
        <p:spPr bwMode="auto">
          <a:xfrm rot="5400000" flipH="1" flipV="1">
            <a:off x="5996783" y="4569620"/>
            <a:ext cx="985837" cy="657225"/>
          </a:xfrm>
          <a:prstGeom prst="line">
            <a:avLst/>
          </a:prstGeom>
          <a:noFill/>
          <a:ln w="50800">
            <a:solidFill>
              <a:srgbClr val="FF9933"/>
            </a:solidFill>
            <a:round/>
            <a:headEnd/>
            <a:tailEnd type="stealth" w="lg" len="lg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32" name="Line 80"/>
          <p:cNvSpPr>
            <a:spLocks noChangeShapeType="1"/>
          </p:cNvSpPr>
          <p:nvPr/>
        </p:nvSpPr>
        <p:spPr bwMode="auto">
          <a:xfrm rot="5400000" flipH="1">
            <a:off x="7311232" y="4460082"/>
            <a:ext cx="803275" cy="766762"/>
          </a:xfrm>
          <a:prstGeom prst="line">
            <a:avLst/>
          </a:prstGeom>
          <a:noFill/>
          <a:ln w="50800">
            <a:solidFill>
              <a:srgbClr val="FF9933"/>
            </a:solidFill>
            <a:round/>
            <a:headEnd/>
            <a:tailEnd type="stealth" w="lg" len="lg"/>
          </a:ln>
        </p:spPr>
        <p:txBody>
          <a:bodyPr anchor="b"/>
          <a:lstStyle/>
          <a:p>
            <a:endParaRPr lang="zh-CN" altLang="en-US"/>
          </a:p>
        </p:txBody>
      </p:sp>
      <p:sp>
        <p:nvSpPr>
          <p:cNvPr id="33" name="Oval 31"/>
          <p:cNvSpPr>
            <a:spLocks noChangeArrowheads="1"/>
          </p:cNvSpPr>
          <p:nvPr/>
        </p:nvSpPr>
        <p:spPr bwMode="auto">
          <a:xfrm>
            <a:off x="4079876" y="5354639"/>
            <a:ext cx="219075" cy="219075"/>
          </a:xfrm>
          <a:prstGeom prst="ellipse">
            <a:avLst/>
          </a:prstGeom>
          <a:noFill/>
          <a:ln w="38100" algn="ctr">
            <a:solidFill>
              <a:srgbClr val="FF9933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34" name="Oval 31"/>
          <p:cNvSpPr>
            <a:spLocks noChangeArrowheads="1"/>
          </p:cNvSpPr>
          <p:nvPr/>
        </p:nvSpPr>
        <p:spPr bwMode="auto">
          <a:xfrm>
            <a:off x="6161089" y="5391151"/>
            <a:ext cx="219075" cy="219075"/>
          </a:xfrm>
          <a:prstGeom prst="ellipse">
            <a:avLst/>
          </a:prstGeom>
          <a:noFill/>
          <a:ln w="38100" algn="ctr">
            <a:solidFill>
              <a:srgbClr val="FF9933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35" name="Oval 31"/>
          <p:cNvSpPr>
            <a:spLocks noChangeArrowheads="1"/>
          </p:cNvSpPr>
          <p:nvPr/>
        </p:nvSpPr>
        <p:spPr bwMode="auto">
          <a:xfrm>
            <a:off x="8388351" y="5391151"/>
            <a:ext cx="219075" cy="219075"/>
          </a:xfrm>
          <a:prstGeom prst="ellipse">
            <a:avLst/>
          </a:prstGeom>
          <a:noFill/>
          <a:ln w="38100" algn="ctr">
            <a:solidFill>
              <a:srgbClr val="FF9933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36" name="AutoShape 33"/>
          <p:cNvSpPr>
            <a:spLocks noChangeArrowheads="1"/>
          </p:cNvSpPr>
          <p:nvPr/>
        </p:nvSpPr>
        <p:spPr bwMode="auto">
          <a:xfrm>
            <a:off x="8847899" y="4478061"/>
            <a:ext cx="1801879" cy="783193"/>
          </a:xfrm>
          <a:prstGeom prst="wedgeRoundRectCallout">
            <a:avLst>
              <a:gd name="adj1" fmla="val -75764"/>
              <a:gd name="adj2" fmla="val 67505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wrap="none" anchor="ctr" anchorCtr="1">
            <a:spAutoFit/>
          </a:bodyPr>
          <a:lstStyle/>
          <a:p>
            <a:pPr algn="ctr"/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VLAN 6</a:t>
            </a: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～</a:t>
            </a:r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</a:p>
          <a:p>
            <a:pPr algn="ctr"/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的根端口</a:t>
            </a:r>
          </a:p>
        </p:txBody>
      </p:sp>
      <p:sp>
        <p:nvSpPr>
          <p:cNvPr id="37" name="AutoShape 35"/>
          <p:cNvSpPr>
            <a:spLocks noChangeArrowheads="1"/>
          </p:cNvSpPr>
          <p:nvPr/>
        </p:nvSpPr>
        <p:spPr bwMode="auto">
          <a:xfrm>
            <a:off x="7749349" y="3492224"/>
            <a:ext cx="1801879" cy="783193"/>
          </a:xfrm>
          <a:prstGeom prst="wedgeRoundRectCallout">
            <a:avLst>
              <a:gd name="adj1" fmla="val -61806"/>
              <a:gd name="adj2" fmla="val 104028"/>
              <a:gd name="adj3" fmla="val 16667"/>
            </a:avLst>
          </a:prstGeom>
          <a:gradFill rotWithShape="1">
            <a:gsLst>
              <a:gs pos="0">
                <a:srgbClr val="FFFF99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FFC000"/>
            </a:solidFill>
            <a:round/>
            <a:headEnd/>
            <a:tailEnd/>
          </a:ln>
        </p:spPr>
        <p:txBody>
          <a:bodyPr wrap="none" anchor="ctr" anchorCtr="1">
            <a:spAutoFit/>
          </a:bodyPr>
          <a:lstStyle/>
          <a:p>
            <a:pPr algn="ctr"/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VLAN 6</a:t>
            </a:r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～</a:t>
            </a:r>
            <a:r>
              <a:rPr lang="en-US" altLang="zh-CN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</a:p>
          <a:p>
            <a:pPr algn="ctr"/>
            <a:r>
              <a:rPr lang="zh-CN" altLang="en-US" sz="20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数据的流向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8"/>
          <p:cNvSpPr>
            <a:spLocks noChangeArrowheads="1"/>
          </p:cNvSpPr>
          <p:nvPr/>
        </p:nvSpPr>
        <p:spPr bwMode="auto">
          <a:xfrm>
            <a:off x="2095472" y="5000636"/>
            <a:ext cx="7886700" cy="428628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zh-CN"/>
          </a:p>
        </p:txBody>
      </p:sp>
      <p:sp>
        <p:nvSpPr>
          <p:cNvPr id="35843" name="AutoShape 8"/>
          <p:cNvSpPr>
            <a:spLocks noChangeArrowheads="1"/>
          </p:cNvSpPr>
          <p:nvPr/>
        </p:nvSpPr>
        <p:spPr bwMode="auto">
          <a:xfrm>
            <a:off x="2095472" y="4000504"/>
            <a:ext cx="7886700" cy="431800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zh-CN"/>
          </a:p>
        </p:txBody>
      </p:sp>
      <p:sp>
        <p:nvSpPr>
          <p:cNvPr id="35844" name="AutoShape 8"/>
          <p:cNvSpPr>
            <a:spLocks noChangeArrowheads="1"/>
          </p:cNvSpPr>
          <p:nvPr/>
        </p:nvSpPr>
        <p:spPr bwMode="auto">
          <a:xfrm>
            <a:off x="2095500" y="2590802"/>
            <a:ext cx="7886700" cy="909637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zh-CN"/>
          </a:p>
        </p:txBody>
      </p:sp>
      <p:sp>
        <p:nvSpPr>
          <p:cNvPr id="35845" name="AutoShape 8"/>
          <p:cNvSpPr>
            <a:spLocks noChangeArrowheads="1"/>
          </p:cNvSpPr>
          <p:nvPr/>
        </p:nvSpPr>
        <p:spPr bwMode="auto">
          <a:xfrm>
            <a:off x="2095500" y="1643063"/>
            <a:ext cx="7886700" cy="431800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zh-CN"/>
          </a:p>
        </p:txBody>
      </p:sp>
      <p:sp>
        <p:nvSpPr>
          <p:cNvPr id="35846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1071554"/>
          </a:xfrm>
        </p:spPr>
        <p:txBody>
          <a:bodyPr>
            <a:normAutofit fontScale="25000" lnSpcReduction="20000"/>
          </a:bodyPr>
          <a:lstStyle/>
          <a:p>
            <a:pPr>
              <a:spcBef>
                <a:spcPts val="675"/>
              </a:spcBef>
            </a:pPr>
            <a:r>
              <a:rPr lang="zh-CN" altLang="en-US"/>
              <a:t>启用生成树命令</a:t>
            </a:r>
            <a:endParaRPr lang="en-US" altLang="zh-CN"/>
          </a:p>
          <a:p>
            <a:pPr lvl="1">
              <a:spcBef>
                <a:spcPts val="475"/>
              </a:spcBef>
              <a:buNone/>
            </a:pPr>
            <a:r>
              <a:rPr lang="en-US" altLang="en-US" sz="2000"/>
              <a:t>Switch</a:t>
            </a:r>
            <a:r>
              <a:rPr lang="en-US" altLang="zh-CN" sz="2000"/>
              <a:t>(</a:t>
            </a:r>
            <a:r>
              <a:rPr lang="en-US" altLang="en-US" sz="2000"/>
              <a:t>config</a:t>
            </a:r>
            <a:r>
              <a:rPr lang="en-US" altLang="zh-CN" sz="2000"/>
              <a:t>)</a:t>
            </a:r>
            <a:r>
              <a:rPr lang="en-US" altLang="en-US" sz="2000"/>
              <a:t>#spanning-tree vlan </a:t>
            </a:r>
            <a:r>
              <a:rPr lang="en-US" altLang="en-US" sz="2000" i="1"/>
              <a:t>vlan-list</a:t>
            </a:r>
          </a:p>
          <a:p>
            <a:pPr>
              <a:spcBef>
                <a:spcPts val="675"/>
              </a:spcBef>
            </a:pPr>
            <a:r>
              <a:rPr lang="zh-CN" altLang="en-US"/>
              <a:t>指定根网桥</a:t>
            </a:r>
            <a:endParaRPr lang="en-US" altLang="zh-CN"/>
          </a:p>
          <a:p>
            <a:pPr lvl="1">
              <a:spcBef>
                <a:spcPts val="475"/>
              </a:spcBef>
              <a:buNone/>
            </a:pPr>
            <a:r>
              <a:rPr lang="en-US" altLang="en-US" sz="2000"/>
              <a:t>Switch</a:t>
            </a:r>
            <a:r>
              <a:rPr lang="en-US" altLang="zh-CN" sz="2000"/>
              <a:t>(</a:t>
            </a:r>
            <a:r>
              <a:rPr lang="en-US" altLang="en-US" sz="2000"/>
              <a:t>config</a:t>
            </a:r>
            <a:r>
              <a:rPr lang="en-US" altLang="zh-CN" sz="2000"/>
              <a:t>)</a:t>
            </a:r>
            <a:r>
              <a:rPr lang="en-US" altLang="en-US" sz="2000"/>
              <a:t>#spanning-tree vlan </a:t>
            </a:r>
            <a:r>
              <a:rPr lang="en-US" altLang="en-US" sz="2000" i="1"/>
              <a:t>vlan-list</a:t>
            </a:r>
            <a:r>
              <a:rPr lang="en-US" altLang="en-US" sz="2000"/>
              <a:t> priority </a:t>
            </a:r>
            <a:r>
              <a:rPr lang="en-US" altLang="en-US" sz="2000" i="1"/>
              <a:t>Bridge-priority</a:t>
            </a:r>
            <a:endParaRPr lang="en-US" altLang="zh-CN" sz="2000" i="1"/>
          </a:p>
          <a:p>
            <a:pPr lvl="1">
              <a:spcBef>
                <a:spcPts val="475"/>
              </a:spcBef>
              <a:buNone/>
            </a:pPr>
            <a:r>
              <a:rPr lang="en-US" altLang="en-US" sz="2000"/>
              <a:t>Switch</a:t>
            </a:r>
            <a:r>
              <a:rPr lang="en-US" altLang="zh-CN" sz="2000"/>
              <a:t>(</a:t>
            </a:r>
            <a:r>
              <a:rPr lang="en-US" altLang="en-US" sz="2000"/>
              <a:t>config</a:t>
            </a:r>
            <a:r>
              <a:rPr lang="en-US" altLang="zh-CN" sz="2000"/>
              <a:t>)</a:t>
            </a:r>
            <a:r>
              <a:rPr lang="en-US" altLang="en-US" sz="2000"/>
              <a:t>#spanning-tree vlan </a:t>
            </a:r>
            <a:r>
              <a:rPr lang="en-US" altLang="en-US" sz="2000" i="1"/>
              <a:t>vlan-list</a:t>
            </a:r>
            <a:r>
              <a:rPr lang="en-US" altLang="en-US" sz="2000"/>
              <a:t> root { primary|secondary }</a:t>
            </a: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修改端口成本</a:t>
            </a:r>
            <a:endParaRPr lang="en-US" altLang="en-US" sz="2000"/>
          </a:p>
          <a:p>
            <a:pPr lvl="1">
              <a:spcBef>
                <a:spcPts val="475"/>
              </a:spcBef>
              <a:buNone/>
            </a:pPr>
            <a:r>
              <a:rPr lang="en-US" altLang="en-US" sz="2000"/>
              <a:t>Switch</a:t>
            </a:r>
            <a:r>
              <a:rPr lang="en-US" altLang="zh-CN" sz="2000"/>
              <a:t>(</a:t>
            </a:r>
            <a:r>
              <a:rPr lang="en-US" altLang="en-US" sz="2000"/>
              <a:t>config-if</a:t>
            </a:r>
            <a:r>
              <a:rPr lang="en-US" altLang="zh-CN" sz="2000"/>
              <a:t>)</a:t>
            </a:r>
            <a:r>
              <a:rPr lang="en-US" altLang="en-US" sz="2000"/>
              <a:t>#spanning-tree vlan </a:t>
            </a:r>
            <a:r>
              <a:rPr lang="en-US" altLang="en-US" sz="2000" i="1"/>
              <a:t>vlan-list</a:t>
            </a:r>
            <a:r>
              <a:rPr lang="en-US" altLang="en-US" sz="2000"/>
              <a:t> cost </a:t>
            </a:r>
            <a:r>
              <a:rPr lang="en-US" altLang="en-US" sz="2000" i="1"/>
              <a:t>cost</a:t>
            </a:r>
          </a:p>
          <a:p>
            <a:pPr>
              <a:spcBef>
                <a:spcPts val="675"/>
              </a:spcBef>
            </a:pPr>
            <a:r>
              <a:rPr lang="zh-CN" altLang="en-US"/>
              <a:t>修改端口优先级</a:t>
            </a:r>
            <a:endParaRPr lang="en-US" altLang="zh-CN"/>
          </a:p>
          <a:p>
            <a:pPr lvl="1">
              <a:spcBef>
                <a:spcPts val="475"/>
              </a:spcBef>
              <a:buNone/>
            </a:pPr>
            <a:r>
              <a:rPr lang="en-US" altLang="en-US" sz="2000"/>
              <a:t>Switch</a:t>
            </a:r>
            <a:r>
              <a:rPr lang="en-US" altLang="zh-CN" sz="2000"/>
              <a:t>(</a:t>
            </a:r>
            <a:r>
              <a:rPr lang="en-US" altLang="en-US" sz="2000"/>
              <a:t>config-if</a:t>
            </a:r>
            <a:r>
              <a:rPr lang="en-US" altLang="zh-CN" sz="2000"/>
              <a:t>)</a:t>
            </a:r>
            <a:r>
              <a:rPr lang="en-US" altLang="en-US" sz="2000"/>
              <a:t>#spanning-tree vlan </a:t>
            </a:r>
            <a:r>
              <a:rPr lang="en-US" altLang="en-US" sz="2000" i="1"/>
              <a:t>vlan-list </a:t>
            </a:r>
            <a:r>
              <a:rPr lang="en-US" altLang="en-US" sz="2000"/>
              <a:t>port-priority </a:t>
            </a:r>
            <a:r>
              <a:rPr lang="en-US" altLang="en-US" sz="2000" i="1"/>
              <a:t>priority</a:t>
            </a:r>
            <a:endParaRPr lang="zh-CN" altLang="en-US" sz="2000" i="1"/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35847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PVST+</a:t>
            </a:r>
            <a:r>
              <a:rPr lang="zh-CN" altLang="en-US"/>
              <a:t>的配置命令</a:t>
            </a:r>
            <a:r>
              <a:rPr lang="en-US" altLang="zh-CN"/>
              <a:t>2-1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AutoShape 8"/>
          <p:cNvSpPr>
            <a:spLocks noChangeArrowheads="1"/>
          </p:cNvSpPr>
          <p:nvPr/>
        </p:nvSpPr>
        <p:spPr bwMode="auto">
          <a:xfrm>
            <a:off x="2238375" y="2854325"/>
            <a:ext cx="7886700" cy="431800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zh-CN"/>
          </a:p>
        </p:txBody>
      </p:sp>
      <p:sp>
        <p:nvSpPr>
          <p:cNvPr id="36867" name="AutoShape 8"/>
          <p:cNvSpPr>
            <a:spLocks noChangeArrowheads="1"/>
          </p:cNvSpPr>
          <p:nvPr/>
        </p:nvSpPr>
        <p:spPr bwMode="auto">
          <a:xfrm>
            <a:off x="2238375" y="1714500"/>
            <a:ext cx="7886700" cy="431800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zh-CN"/>
          </a:p>
        </p:txBody>
      </p:sp>
      <p:sp>
        <p:nvSpPr>
          <p:cNvPr id="36868" name="AutoShape 8"/>
          <p:cNvSpPr>
            <a:spLocks noChangeArrowheads="1"/>
          </p:cNvSpPr>
          <p:nvPr/>
        </p:nvSpPr>
        <p:spPr bwMode="auto">
          <a:xfrm>
            <a:off x="2238375" y="3929063"/>
            <a:ext cx="7886700" cy="431800"/>
          </a:xfrm>
          <a:prstGeom prst="roundRect">
            <a:avLst>
              <a:gd name="adj" fmla="val 5477"/>
            </a:avLst>
          </a:prstGeom>
          <a:gradFill rotWithShape="1">
            <a:gsLst>
              <a:gs pos="0">
                <a:srgbClr val="CCFFFF"/>
              </a:gs>
              <a:gs pos="100000">
                <a:schemeClr val="bg1"/>
              </a:gs>
            </a:gsLst>
            <a:lin ang="5400000" scaled="1"/>
          </a:gradFill>
          <a:ln w="9525" algn="ctr">
            <a:solidFill>
              <a:srgbClr val="006666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zh-CN"/>
          </a:p>
        </p:txBody>
      </p:sp>
      <p:sp>
        <p:nvSpPr>
          <p:cNvPr id="36869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642938"/>
          </a:xfrm>
        </p:spPr>
        <p:txBody>
          <a:bodyPr>
            <a:normAutofit fontScale="25000" lnSpcReduction="20000"/>
          </a:bodyPr>
          <a:lstStyle/>
          <a:p>
            <a:pPr>
              <a:spcBef>
                <a:spcPts val="675"/>
              </a:spcBef>
              <a:spcAft>
                <a:spcPts val="600"/>
              </a:spcAft>
            </a:pPr>
            <a:r>
              <a:rPr lang="zh-CN" altLang="en-US"/>
              <a:t>配置速端口</a:t>
            </a:r>
            <a:endParaRPr lang="en-US" altLang="zh-CN"/>
          </a:p>
          <a:p>
            <a:pPr lvl="1">
              <a:spcBef>
                <a:spcPts val="475"/>
              </a:spcBef>
              <a:spcAft>
                <a:spcPts val="600"/>
              </a:spcAft>
              <a:buNone/>
            </a:pPr>
            <a:r>
              <a:rPr lang="en-US" altLang="zh-CN" sz="2000"/>
              <a:t>Switch(config-if)#spanning-tree portfast</a:t>
            </a:r>
          </a:p>
          <a:p>
            <a:pPr>
              <a:spcBef>
                <a:spcPts val="675"/>
              </a:spcBef>
              <a:spcAft>
                <a:spcPts val="600"/>
              </a:spcAft>
            </a:pPr>
            <a:r>
              <a:rPr lang="zh-CN" altLang="en-US"/>
              <a:t>查看生成树的配置</a:t>
            </a:r>
            <a:endParaRPr lang="en-US" altLang="zh-CN"/>
          </a:p>
          <a:p>
            <a:pPr lvl="1">
              <a:spcBef>
                <a:spcPts val="475"/>
              </a:spcBef>
              <a:spcAft>
                <a:spcPts val="600"/>
              </a:spcAft>
              <a:buNone/>
            </a:pPr>
            <a:r>
              <a:rPr lang="en-US" altLang="zh-CN" sz="2000"/>
              <a:t>Switch#show spanning-tree</a:t>
            </a:r>
          </a:p>
          <a:p>
            <a:pPr>
              <a:spcBef>
                <a:spcPts val="675"/>
              </a:spcBef>
              <a:spcAft>
                <a:spcPts val="600"/>
              </a:spcAft>
            </a:pPr>
            <a:r>
              <a:rPr lang="zh-CN" altLang="en-US"/>
              <a:t>查看某个</a:t>
            </a:r>
            <a:r>
              <a:rPr lang="en-US" altLang="zh-CN"/>
              <a:t>VLAN</a:t>
            </a:r>
            <a:r>
              <a:rPr lang="zh-CN" altLang="en-US"/>
              <a:t>的生成树详细信息</a:t>
            </a:r>
            <a:endParaRPr lang="en-US" altLang="zh-CN"/>
          </a:p>
          <a:p>
            <a:pPr lvl="1">
              <a:spcBef>
                <a:spcPts val="475"/>
              </a:spcBef>
              <a:spcAft>
                <a:spcPts val="600"/>
              </a:spcAft>
              <a:buNone/>
            </a:pPr>
            <a:r>
              <a:rPr lang="en-US" altLang="zh-CN" sz="2000"/>
              <a:t>Switch#show spanning-tree vlan vlan-id detail</a:t>
            </a:r>
            <a:endParaRPr lang="zh-CN" altLang="en-US" sz="2000"/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36870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PVST+</a:t>
            </a:r>
            <a:r>
              <a:rPr lang="zh-CN" altLang="en-US"/>
              <a:t>的配置命令</a:t>
            </a:r>
            <a:r>
              <a:rPr lang="en-US" altLang="zh-CN"/>
              <a:t>2-2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内容占位符 1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714375"/>
          </a:xfrm>
        </p:spPr>
        <p:txBody>
          <a:bodyPr>
            <a:normAutofit fontScale="55000" lnSpcReduction="20000"/>
          </a:bodyPr>
          <a:lstStyle/>
          <a:p>
            <a:pPr>
              <a:spcBef>
                <a:spcPts val="675"/>
              </a:spcBef>
            </a:pPr>
            <a:r>
              <a:rPr lang="zh-CN" altLang="en-US"/>
              <a:t>需求描述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三台交换机相连，配置</a:t>
            </a:r>
            <a:r>
              <a:rPr lang="en-US" altLang="zh-CN"/>
              <a:t>PVST+</a:t>
            </a:r>
            <a:r>
              <a:rPr lang="zh-CN" altLang="en-US"/>
              <a:t>负载均衡</a:t>
            </a:r>
          </a:p>
          <a:p>
            <a:pPr lvl="2">
              <a:spcBef>
                <a:spcPct val="0"/>
              </a:spcBef>
            </a:pPr>
            <a:r>
              <a:rPr lang="en-US" altLang="zh-CN"/>
              <a:t>SW1</a:t>
            </a:r>
            <a:r>
              <a:rPr lang="zh-CN" altLang="en-US"/>
              <a:t>成为</a:t>
            </a:r>
            <a:r>
              <a:rPr lang="en-US" altLang="zh-CN"/>
              <a:t>VLAN 1</a:t>
            </a:r>
            <a:r>
              <a:rPr lang="zh-CN" altLang="en-US"/>
              <a:t>的根网桥</a:t>
            </a:r>
            <a:endParaRPr lang="en-US" altLang="zh-CN"/>
          </a:p>
          <a:p>
            <a:pPr lvl="2">
              <a:spcBef>
                <a:spcPct val="0"/>
              </a:spcBef>
            </a:pPr>
            <a:r>
              <a:rPr lang="en-US" altLang="zh-CN"/>
              <a:t>SW2</a:t>
            </a:r>
            <a:r>
              <a:rPr lang="zh-CN" altLang="en-US"/>
              <a:t>成为</a:t>
            </a:r>
            <a:r>
              <a:rPr lang="en-US" altLang="zh-CN"/>
              <a:t>VLAN 2</a:t>
            </a:r>
            <a:r>
              <a:rPr lang="zh-CN" altLang="en-US"/>
              <a:t>的根网桥</a:t>
            </a:r>
            <a:endParaRPr lang="en-US" altLang="zh-CN"/>
          </a:p>
          <a:p>
            <a:pPr lvl="2">
              <a:spcBef>
                <a:spcPct val="0"/>
              </a:spcBef>
            </a:pPr>
            <a:r>
              <a:rPr lang="en-US" altLang="zh-CN"/>
              <a:t>SW3</a:t>
            </a:r>
            <a:r>
              <a:rPr lang="zh-CN" altLang="en-US"/>
              <a:t>上配置速端口（</a:t>
            </a:r>
            <a:r>
              <a:rPr lang="en-US" altLang="zh-CN"/>
              <a:t>F0/1</a:t>
            </a:r>
            <a:r>
              <a:rPr lang="zh-CN" altLang="en-US"/>
              <a:t>～</a:t>
            </a:r>
            <a:r>
              <a:rPr lang="en-US" altLang="zh-CN"/>
              <a:t>F0/10</a:t>
            </a:r>
            <a:r>
              <a:rPr lang="zh-CN" altLang="en-US"/>
              <a:t>）</a:t>
            </a:r>
            <a:endParaRPr lang="en-US" altLang="zh-CN"/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37891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PVST+</a:t>
            </a:r>
            <a:r>
              <a:rPr lang="zh-CN" altLang="en-US"/>
              <a:t>的配置案例</a:t>
            </a:r>
            <a:r>
              <a:rPr lang="en-US" altLang="zh-CN"/>
              <a:t>2-1</a:t>
            </a:r>
            <a:endParaRPr lang="zh-CN" altLang="en-US"/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5194300" y="5619750"/>
            <a:ext cx="1423988" cy="579438"/>
            <a:chOff x="1837" y="1706"/>
            <a:chExt cx="816" cy="392"/>
          </a:xfrm>
        </p:grpSpPr>
        <p:pic>
          <p:nvPicPr>
            <p:cNvPr id="37910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911" name="Text Box 12"/>
            <p:cNvSpPr txBox="1">
              <a:spLocks noChangeArrowheads="1"/>
            </p:cNvSpPr>
            <p:nvPr/>
          </p:nvSpPr>
          <p:spPr bwMode="auto">
            <a:xfrm>
              <a:off x="1891" y="1848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SW3</a:t>
              </a:r>
            </a:p>
          </p:txBody>
        </p:sp>
      </p:grpSp>
      <p:cxnSp>
        <p:nvCxnSpPr>
          <p:cNvPr id="37893" name="直接连接符 21"/>
          <p:cNvCxnSpPr>
            <a:cxnSpLocks noChangeShapeType="1"/>
          </p:cNvCxnSpPr>
          <p:nvPr/>
        </p:nvCxnSpPr>
        <p:spPr bwMode="auto">
          <a:xfrm rot="16200000" flipH="1">
            <a:off x="4484689" y="4362451"/>
            <a:ext cx="1546225" cy="968375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37894" name="直接连接符 21"/>
          <p:cNvCxnSpPr>
            <a:cxnSpLocks noChangeShapeType="1"/>
          </p:cNvCxnSpPr>
          <p:nvPr/>
        </p:nvCxnSpPr>
        <p:spPr bwMode="auto">
          <a:xfrm>
            <a:off x="5486400" y="3987800"/>
            <a:ext cx="1277938" cy="1588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37895" name="直接连接符 21"/>
          <p:cNvCxnSpPr>
            <a:cxnSpLocks noChangeShapeType="1"/>
          </p:cNvCxnSpPr>
          <p:nvPr/>
        </p:nvCxnSpPr>
        <p:spPr bwMode="auto">
          <a:xfrm rot="5400000" flipH="1" flipV="1">
            <a:off x="6056313" y="4206876"/>
            <a:ext cx="1554163" cy="1287462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sp>
        <p:nvSpPr>
          <p:cNvPr id="37896" name="Text Box 23"/>
          <p:cNvSpPr txBox="1">
            <a:spLocks noChangeArrowheads="1"/>
          </p:cNvSpPr>
          <p:nvPr/>
        </p:nvSpPr>
        <p:spPr bwMode="auto">
          <a:xfrm>
            <a:off x="4062414" y="4159250"/>
            <a:ext cx="833437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</a:rPr>
              <a:t>F0/23</a:t>
            </a:r>
          </a:p>
        </p:txBody>
      </p:sp>
      <p:sp>
        <p:nvSpPr>
          <p:cNvPr id="37897" name="Text Box 23"/>
          <p:cNvSpPr txBox="1">
            <a:spLocks noChangeArrowheads="1"/>
          </p:cNvSpPr>
          <p:nvPr/>
        </p:nvSpPr>
        <p:spPr bwMode="auto">
          <a:xfrm>
            <a:off x="6289675" y="5327650"/>
            <a:ext cx="833438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</a:rPr>
              <a:t>F0/24</a:t>
            </a:r>
          </a:p>
        </p:txBody>
      </p:sp>
      <p:sp>
        <p:nvSpPr>
          <p:cNvPr id="37898" name="Text Box 23"/>
          <p:cNvSpPr txBox="1">
            <a:spLocks noChangeArrowheads="1"/>
          </p:cNvSpPr>
          <p:nvPr/>
        </p:nvSpPr>
        <p:spPr bwMode="auto">
          <a:xfrm>
            <a:off x="4908550" y="5322889"/>
            <a:ext cx="833438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</a:rPr>
              <a:t>F0/23</a:t>
            </a:r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6764339" y="3721101"/>
            <a:ext cx="1423987" cy="587375"/>
            <a:chOff x="1837" y="1706"/>
            <a:chExt cx="816" cy="398"/>
          </a:xfrm>
        </p:grpSpPr>
        <p:pic>
          <p:nvPicPr>
            <p:cNvPr id="37908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909" name="Text Box 12"/>
            <p:cNvSpPr txBox="1">
              <a:spLocks noChangeArrowheads="1"/>
            </p:cNvSpPr>
            <p:nvPr/>
          </p:nvSpPr>
          <p:spPr bwMode="auto">
            <a:xfrm>
              <a:off x="1891" y="1854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SW2</a:t>
              </a:r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4062414" y="3721101"/>
            <a:ext cx="1423987" cy="587375"/>
            <a:chOff x="1837" y="1706"/>
            <a:chExt cx="816" cy="398"/>
          </a:xfrm>
        </p:grpSpPr>
        <p:pic>
          <p:nvPicPr>
            <p:cNvPr id="37906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907" name="Text Box 12"/>
            <p:cNvSpPr txBox="1">
              <a:spLocks noChangeArrowheads="1"/>
            </p:cNvSpPr>
            <p:nvPr/>
          </p:nvSpPr>
          <p:spPr bwMode="auto">
            <a:xfrm>
              <a:off x="1891" y="1854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SW1</a:t>
              </a:r>
            </a:p>
          </p:txBody>
        </p:sp>
      </p:grpSp>
      <p:sp>
        <p:nvSpPr>
          <p:cNvPr id="37901" name="Text Box 23"/>
          <p:cNvSpPr txBox="1">
            <a:spLocks noChangeArrowheads="1"/>
          </p:cNvSpPr>
          <p:nvPr/>
        </p:nvSpPr>
        <p:spPr bwMode="auto">
          <a:xfrm>
            <a:off x="6180139" y="3684589"/>
            <a:ext cx="833437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</a:rPr>
              <a:t>F0/24</a:t>
            </a:r>
          </a:p>
        </p:txBody>
      </p:sp>
      <p:sp>
        <p:nvSpPr>
          <p:cNvPr id="37902" name="Text Box 23"/>
          <p:cNvSpPr txBox="1">
            <a:spLocks noChangeArrowheads="1"/>
          </p:cNvSpPr>
          <p:nvPr/>
        </p:nvSpPr>
        <p:spPr bwMode="auto">
          <a:xfrm>
            <a:off x="5267325" y="3937000"/>
            <a:ext cx="833438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</a:rPr>
              <a:t>F0/24</a:t>
            </a:r>
          </a:p>
        </p:txBody>
      </p:sp>
      <p:sp>
        <p:nvSpPr>
          <p:cNvPr id="37903" name="Text Box 23"/>
          <p:cNvSpPr txBox="1">
            <a:spLocks noChangeArrowheads="1"/>
          </p:cNvSpPr>
          <p:nvPr/>
        </p:nvSpPr>
        <p:spPr bwMode="auto">
          <a:xfrm>
            <a:off x="7385050" y="4159250"/>
            <a:ext cx="833438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</a:rPr>
              <a:t>F0/23</a:t>
            </a:r>
          </a:p>
        </p:txBody>
      </p:sp>
      <p:sp>
        <p:nvSpPr>
          <p:cNvPr id="37904" name="Text Box 33"/>
          <p:cNvSpPr txBox="1">
            <a:spLocks noChangeArrowheads="1"/>
          </p:cNvSpPr>
          <p:nvPr/>
        </p:nvSpPr>
        <p:spPr bwMode="auto">
          <a:xfrm>
            <a:off x="3952875" y="3357564"/>
            <a:ext cx="1739900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Ctr="1">
            <a:spAutoFit/>
          </a:bodyPr>
          <a:lstStyle/>
          <a:p>
            <a:pPr algn="ctr"/>
            <a:r>
              <a:rPr lang="en-US" altLang="zh-CN" sz="1600" b="1">
                <a:solidFill>
                  <a:schemeClr val="tx2"/>
                </a:solidFill>
                <a:cs typeface="Arial" charset="0"/>
              </a:rPr>
              <a:t>VLAN 1</a:t>
            </a:r>
            <a:r>
              <a:rPr lang="zh-CN" altLang="en-US" sz="1600" b="1">
                <a:solidFill>
                  <a:schemeClr val="tx2"/>
                </a:solidFill>
                <a:cs typeface="Arial" charset="0"/>
              </a:rPr>
              <a:t>的根网桥</a:t>
            </a:r>
            <a:endParaRPr lang="en-US" altLang="zh-CN" sz="1600" b="1">
              <a:solidFill>
                <a:schemeClr val="tx2"/>
              </a:solidFill>
              <a:cs typeface="Arial" charset="0"/>
            </a:endParaRPr>
          </a:p>
        </p:txBody>
      </p:sp>
      <p:sp>
        <p:nvSpPr>
          <p:cNvPr id="37905" name="Text Box 33"/>
          <p:cNvSpPr txBox="1">
            <a:spLocks noChangeArrowheads="1"/>
          </p:cNvSpPr>
          <p:nvPr/>
        </p:nvSpPr>
        <p:spPr bwMode="auto">
          <a:xfrm>
            <a:off x="6727825" y="3357564"/>
            <a:ext cx="1739900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Ctr="1">
            <a:spAutoFit/>
          </a:bodyPr>
          <a:lstStyle/>
          <a:p>
            <a:pPr algn="ctr"/>
            <a:r>
              <a:rPr lang="en-US" altLang="zh-CN" sz="1600" b="1">
                <a:solidFill>
                  <a:schemeClr val="tx2"/>
                </a:solidFill>
                <a:cs typeface="Arial" charset="0"/>
              </a:rPr>
              <a:t>VLAN 2</a:t>
            </a:r>
            <a:r>
              <a:rPr lang="zh-CN" altLang="en-US" sz="1600" b="1">
                <a:solidFill>
                  <a:schemeClr val="tx2"/>
                </a:solidFill>
                <a:cs typeface="Arial" charset="0"/>
              </a:rPr>
              <a:t>的根网桥</a:t>
            </a:r>
            <a:endParaRPr lang="en-US" altLang="zh-CN" sz="1600" b="1">
              <a:solidFill>
                <a:schemeClr val="tx2"/>
              </a:solidFill>
              <a:cs typeface="Arial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2786066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配置思路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为交换机配置</a:t>
            </a:r>
            <a:r>
              <a:rPr lang="en-US" altLang="zh-CN"/>
              <a:t>VLAN</a:t>
            </a:r>
            <a:r>
              <a:rPr lang="zh-CN" altLang="en-US"/>
              <a:t>并配置交换机连接端口为</a:t>
            </a:r>
            <a:r>
              <a:rPr lang="en-US" altLang="zh-CN"/>
              <a:t>Trunk</a:t>
            </a:r>
            <a:r>
              <a:rPr lang="zh-CN" altLang="en-US"/>
              <a:t>模式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配置</a:t>
            </a:r>
            <a:r>
              <a:rPr lang="en-US" altLang="zh-CN"/>
              <a:t>VLAN</a:t>
            </a:r>
            <a:r>
              <a:rPr lang="zh-CN" altLang="en-US"/>
              <a:t>负载均衡</a:t>
            </a:r>
          </a:p>
          <a:p>
            <a:pPr lvl="1">
              <a:spcBef>
                <a:spcPts val="475"/>
              </a:spcBef>
            </a:pPr>
            <a:r>
              <a:rPr lang="zh-CN" altLang="en-US"/>
              <a:t>验证</a:t>
            </a:r>
            <a:r>
              <a:rPr lang="en-US" altLang="zh-CN"/>
              <a:t>STP</a:t>
            </a:r>
            <a:r>
              <a:rPr lang="zh-CN" altLang="en-US"/>
              <a:t>信息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配置速端口</a:t>
            </a:r>
          </a:p>
        </p:txBody>
      </p:sp>
      <p:sp>
        <p:nvSpPr>
          <p:cNvPr id="38915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PVST+</a:t>
            </a:r>
            <a:r>
              <a:rPr lang="zh-CN" altLang="en-US"/>
              <a:t>的配置案例</a:t>
            </a:r>
            <a:r>
              <a:rPr lang="en-US" altLang="zh-CN"/>
              <a:t>2-2</a:t>
            </a:r>
            <a:endParaRPr lang="zh-CN" altLang="en-US"/>
          </a:p>
        </p:txBody>
      </p: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4310050" y="6000768"/>
            <a:ext cx="3348038" cy="463550"/>
            <a:chOff x="3457" y="1661"/>
            <a:chExt cx="2086" cy="292"/>
          </a:xfrm>
        </p:grpSpPr>
        <p:sp>
          <p:nvSpPr>
            <p:cNvPr id="5" name="AutoShape 17"/>
            <p:cNvSpPr>
              <a:spLocks noChangeArrowheads="1"/>
            </p:cNvSpPr>
            <p:nvPr/>
          </p:nvSpPr>
          <p:spPr bwMode="auto">
            <a:xfrm>
              <a:off x="3457" y="1661"/>
              <a:ext cx="2086" cy="272"/>
            </a:xfrm>
            <a:prstGeom prst="flowChartAlternateProcess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A1DFED"/>
                </a:gs>
              </a:gsLst>
              <a:lin ang="5400000" scaled="1"/>
            </a:gradFill>
            <a:ln w="31750" algn="ctr">
              <a:solidFill>
                <a:srgbClr val="008080"/>
              </a:solidFill>
              <a:miter lim="800000"/>
              <a:headEnd/>
              <a:tailEnd/>
            </a:ln>
            <a:effectLst>
              <a:prstShdw prst="shdw13" dist="53882" dir="13500000">
                <a:srgbClr val="1C99C6">
                  <a:alpha val="50000"/>
                </a:srgbClr>
              </a:prst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6" name="Picture 18" descr="说话气泡new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515" y="1661"/>
              <a:ext cx="418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3" dist="12700" dir="10800000">
                <a:srgbClr val="0099FF">
                  <a:alpha val="50000"/>
                </a:srgbClr>
              </a:prstShdw>
            </a:effectLst>
          </p:spPr>
        </p:pic>
        <p:sp>
          <p:nvSpPr>
            <p:cNvPr id="7" name="Text Box 19"/>
            <p:cNvSpPr txBox="1">
              <a:spLocks noChangeArrowheads="1"/>
            </p:cNvSpPr>
            <p:nvPr/>
          </p:nvSpPr>
          <p:spPr bwMode="auto">
            <a:xfrm>
              <a:off x="4053" y="1669"/>
              <a:ext cx="1276" cy="231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1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ea typeface="黑体" pitchFamily="2" charset="-122"/>
                </a:rPr>
                <a:t>教员</a:t>
              </a:r>
              <a:r>
                <a:rPr lang="zh-CN" altLang="en-US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charset="0"/>
                  <a:ea typeface="黑体" pitchFamily="2" charset="-122"/>
                </a:rPr>
                <a:t>演示操作过程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25"/>
          <p:cNvSpPr>
            <a:spLocks noChangeShapeType="1"/>
          </p:cNvSpPr>
          <p:nvPr/>
        </p:nvSpPr>
        <p:spPr bwMode="auto">
          <a:xfrm flipV="1">
            <a:off x="6680201" y="3706814"/>
            <a:ext cx="360363" cy="1587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4" name="Line 16"/>
          <p:cNvSpPr>
            <a:spLocks noChangeShapeType="1"/>
          </p:cNvSpPr>
          <p:nvPr/>
        </p:nvSpPr>
        <p:spPr bwMode="auto">
          <a:xfrm>
            <a:off x="6656389" y="1697038"/>
            <a:ext cx="358775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5" name="Line 16"/>
          <p:cNvSpPr>
            <a:spLocks noChangeShapeType="1"/>
          </p:cNvSpPr>
          <p:nvPr/>
        </p:nvSpPr>
        <p:spPr bwMode="auto">
          <a:xfrm>
            <a:off x="6664326" y="2883626"/>
            <a:ext cx="360363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6" name="Line 26"/>
          <p:cNvSpPr>
            <a:spLocks noChangeShapeType="1"/>
          </p:cNvSpPr>
          <p:nvPr/>
        </p:nvSpPr>
        <p:spPr bwMode="auto">
          <a:xfrm flipV="1">
            <a:off x="6678613" y="3354389"/>
            <a:ext cx="349250" cy="3175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8" name="Line 8"/>
          <p:cNvSpPr>
            <a:spLocks noChangeShapeType="1"/>
          </p:cNvSpPr>
          <p:nvPr/>
        </p:nvSpPr>
        <p:spPr bwMode="auto">
          <a:xfrm>
            <a:off x="4238626" y="3357563"/>
            <a:ext cx="2428875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299" name="Line 10"/>
          <p:cNvSpPr>
            <a:spLocks noChangeShapeType="1"/>
          </p:cNvSpPr>
          <p:nvPr/>
        </p:nvSpPr>
        <p:spPr bwMode="auto">
          <a:xfrm>
            <a:off x="4227514" y="4984750"/>
            <a:ext cx="2439987" cy="254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00" name="Line 10"/>
          <p:cNvSpPr>
            <a:spLocks noChangeShapeType="1"/>
          </p:cNvSpPr>
          <p:nvPr/>
        </p:nvSpPr>
        <p:spPr bwMode="auto">
          <a:xfrm>
            <a:off x="3806825" y="3632200"/>
            <a:ext cx="4318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399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本章总结</a:t>
            </a:r>
          </a:p>
        </p:txBody>
      </p:sp>
      <p:sp>
        <p:nvSpPr>
          <p:cNvPr id="12303" name="AutoShape 5"/>
          <p:cNvSpPr>
            <a:spLocks noChangeArrowheads="1"/>
          </p:cNvSpPr>
          <p:nvPr/>
        </p:nvSpPr>
        <p:spPr bwMode="auto">
          <a:xfrm>
            <a:off x="4492626" y="3197306"/>
            <a:ext cx="1971675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STP</a:t>
            </a: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工作原理</a:t>
            </a:r>
          </a:p>
        </p:txBody>
      </p:sp>
      <p:sp>
        <p:nvSpPr>
          <p:cNvPr id="12307" name="Line 14"/>
          <p:cNvSpPr>
            <a:spLocks noChangeShapeType="1"/>
          </p:cNvSpPr>
          <p:nvPr/>
        </p:nvSpPr>
        <p:spPr bwMode="auto">
          <a:xfrm>
            <a:off x="6667500" y="1703388"/>
            <a:ext cx="0" cy="493712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08" name="AutoShape 18"/>
          <p:cNvSpPr>
            <a:spLocks noChangeArrowheads="1"/>
          </p:cNvSpPr>
          <p:nvPr/>
        </p:nvSpPr>
        <p:spPr bwMode="auto">
          <a:xfrm>
            <a:off x="6988175" y="2714621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生成树算法及验证</a:t>
            </a:r>
          </a:p>
        </p:txBody>
      </p:sp>
      <p:sp>
        <p:nvSpPr>
          <p:cNvPr id="12309" name="AutoShape 27"/>
          <p:cNvSpPr>
            <a:spLocks noChangeArrowheads="1"/>
          </p:cNvSpPr>
          <p:nvPr/>
        </p:nvSpPr>
        <p:spPr bwMode="auto">
          <a:xfrm>
            <a:off x="6992422" y="3632889"/>
            <a:ext cx="2675479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STP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的收敛</a:t>
            </a:r>
          </a:p>
        </p:txBody>
      </p:sp>
      <p:sp>
        <p:nvSpPr>
          <p:cNvPr id="12310" name="AutoShape 28"/>
          <p:cNvSpPr>
            <a:spLocks noChangeArrowheads="1"/>
          </p:cNvSpPr>
          <p:nvPr/>
        </p:nvSpPr>
        <p:spPr bwMode="auto">
          <a:xfrm>
            <a:off x="6988175" y="3182933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BPDU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（桥协议数据单元）</a:t>
            </a:r>
          </a:p>
        </p:txBody>
      </p:sp>
      <p:sp>
        <p:nvSpPr>
          <p:cNvPr id="12311" name="AutoShape 4"/>
          <p:cNvSpPr>
            <a:spLocks noChangeArrowheads="1"/>
          </p:cNvSpPr>
          <p:nvPr/>
        </p:nvSpPr>
        <p:spPr bwMode="auto">
          <a:xfrm>
            <a:off x="1820848" y="3436738"/>
            <a:ext cx="2132012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生成树协议（</a:t>
            </a: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STP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）</a:t>
            </a:r>
          </a:p>
        </p:txBody>
      </p:sp>
      <p:sp>
        <p:nvSpPr>
          <p:cNvPr id="12314" name="Line 36"/>
          <p:cNvSpPr>
            <a:spLocks noChangeShapeType="1"/>
          </p:cNvSpPr>
          <p:nvPr/>
        </p:nvSpPr>
        <p:spPr bwMode="auto">
          <a:xfrm flipH="1">
            <a:off x="4238625" y="1928813"/>
            <a:ext cx="0" cy="3071812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15" name="Line 37"/>
          <p:cNvSpPr>
            <a:spLocks noChangeShapeType="1"/>
          </p:cNvSpPr>
          <p:nvPr/>
        </p:nvSpPr>
        <p:spPr bwMode="auto">
          <a:xfrm>
            <a:off x="6667500" y="2882900"/>
            <a:ext cx="0" cy="83185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17" name="AutoShape 11"/>
          <p:cNvSpPr>
            <a:spLocks noChangeArrowheads="1"/>
          </p:cNvSpPr>
          <p:nvPr/>
        </p:nvSpPr>
        <p:spPr bwMode="auto">
          <a:xfrm>
            <a:off x="6988175" y="1533598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交换网络环路的产生</a:t>
            </a:r>
          </a:p>
        </p:txBody>
      </p:sp>
      <p:sp>
        <p:nvSpPr>
          <p:cNvPr id="12319" name="AutoShape 5"/>
          <p:cNvSpPr>
            <a:spLocks noChangeArrowheads="1"/>
          </p:cNvSpPr>
          <p:nvPr/>
        </p:nvSpPr>
        <p:spPr bwMode="auto">
          <a:xfrm>
            <a:off x="4485201" y="4804036"/>
            <a:ext cx="2000263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STP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的应用</a:t>
            </a:r>
          </a:p>
        </p:txBody>
      </p:sp>
      <p:sp>
        <p:nvSpPr>
          <p:cNvPr id="39" name="Line 25"/>
          <p:cNvSpPr>
            <a:spLocks noChangeShapeType="1"/>
          </p:cNvSpPr>
          <p:nvPr/>
        </p:nvSpPr>
        <p:spPr bwMode="auto">
          <a:xfrm flipV="1">
            <a:off x="6683376" y="5353776"/>
            <a:ext cx="360363" cy="1588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40" name="Line 16"/>
          <p:cNvSpPr>
            <a:spLocks noChangeShapeType="1"/>
          </p:cNvSpPr>
          <p:nvPr/>
        </p:nvSpPr>
        <p:spPr bwMode="auto">
          <a:xfrm>
            <a:off x="6667501" y="4578350"/>
            <a:ext cx="360363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41" name="Line 26"/>
          <p:cNvSpPr>
            <a:spLocks noChangeShapeType="1"/>
          </p:cNvSpPr>
          <p:nvPr/>
        </p:nvSpPr>
        <p:spPr bwMode="auto">
          <a:xfrm flipV="1">
            <a:off x="6681788" y="5003801"/>
            <a:ext cx="349250" cy="3175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43" name="AutoShape 18"/>
          <p:cNvSpPr>
            <a:spLocks noChangeArrowheads="1"/>
          </p:cNvSpPr>
          <p:nvPr/>
        </p:nvSpPr>
        <p:spPr bwMode="auto">
          <a:xfrm>
            <a:off x="6992042" y="4357695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STP</a:t>
            </a: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与</a:t>
            </a: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VLAN</a:t>
            </a: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的关系</a:t>
            </a:r>
          </a:p>
        </p:txBody>
      </p:sp>
      <p:sp>
        <p:nvSpPr>
          <p:cNvPr id="44" name="AutoShape 27"/>
          <p:cNvSpPr>
            <a:spLocks noChangeArrowheads="1"/>
          </p:cNvSpPr>
          <p:nvPr/>
        </p:nvSpPr>
        <p:spPr bwMode="auto">
          <a:xfrm>
            <a:off x="6996289" y="5275963"/>
            <a:ext cx="2675479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PVST+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的配置案例</a:t>
            </a:r>
          </a:p>
        </p:txBody>
      </p:sp>
      <p:sp>
        <p:nvSpPr>
          <p:cNvPr id="45" name="AutoShape 28"/>
          <p:cNvSpPr>
            <a:spLocks noChangeArrowheads="1"/>
          </p:cNvSpPr>
          <p:nvPr/>
        </p:nvSpPr>
        <p:spPr bwMode="auto">
          <a:xfrm>
            <a:off x="6992042" y="4826007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PVST+</a:t>
            </a:r>
            <a:r>
              <a:rPr lang="zh-CN" altLang="en-US" sz="1600" b="1" dirty="0">
                <a:solidFill>
                  <a:srgbClr val="FF0000"/>
                </a:solidFill>
                <a:latin typeface="Arial" pitchFamily="34" charset="0"/>
                <a:ea typeface="楷体_GB2312" pitchFamily="49" charset="-122"/>
              </a:rPr>
              <a:t>的配置命令</a:t>
            </a:r>
          </a:p>
        </p:txBody>
      </p:sp>
      <p:cxnSp>
        <p:nvCxnSpPr>
          <p:cNvPr id="37" name="直接连接符 36"/>
          <p:cNvCxnSpPr/>
          <p:nvPr/>
        </p:nvCxnSpPr>
        <p:spPr bwMode="auto">
          <a:xfrm rot="16200000" flipH="1">
            <a:off x="6274594" y="4971257"/>
            <a:ext cx="78581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38" name="Line 16"/>
          <p:cNvSpPr>
            <a:spLocks noChangeShapeType="1"/>
          </p:cNvSpPr>
          <p:nvPr/>
        </p:nvSpPr>
        <p:spPr bwMode="auto">
          <a:xfrm>
            <a:off x="6667501" y="2197100"/>
            <a:ext cx="358775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2318" name="AutoShape 11"/>
          <p:cNvSpPr>
            <a:spLocks noChangeArrowheads="1"/>
          </p:cNvSpPr>
          <p:nvPr/>
        </p:nvSpPr>
        <p:spPr bwMode="auto">
          <a:xfrm>
            <a:off x="6988175" y="1982860"/>
            <a:ext cx="2700338" cy="37457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STP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简介</a:t>
            </a:r>
          </a:p>
        </p:txBody>
      </p:sp>
      <p:cxnSp>
        <p:nvCxnSpPr>
          <p:cNvPr id="49" name="直接连接符 48"/>
          <p:cNvCxnSpPr>
            <a:stCxn id="12314" idx="0"/>
          </p:cNvCxnSpPr>
          <p:nvPr/>
        </p:nvCxnSpPr>
        <p:spPr bwMode="auto">
          <a:xfrm rot="16200000" flipH="1">
            <a:off x="5453063" y="714376"/>
            <a:ext cx="0" cy="242887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12320" name="AutoShape 5"/>
          <p:cNvSpPr>
            <a:spLocks noChangeArrowheads="1"/>
          </p:cNvSpPr>
          <p:nvPr/>
        </p:nvSpPr>
        <p:spPr bwMode="auto">
          <a:xfrm>
            <a:off x="4481514" y="1785926"/>
            <a:ext cx="1971675" cy="374650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algn="ctr">
              <a:defRPr/>
            </a:pPr>
            <a:r>
              <a:rPr lang="en-US" altLang="zh-CN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STP</a:t>
            </a:r>
            <a:r>
              <a:rPr lang="zh-CN" altLang="en-US" sz="1600" b="1" dirty="0">
                <a:solidFill>
                  <a:srgbClr val="000000"/>
                </a:solidFill>
                <a:latin typeface="Arial" pitchFamily="34" charset="0"/>
                <a:ea typeface="楷体_GB2312" pitchFamily="49" charset="-122"/>
              </a:rPr>
              <a:t>概述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500"/>
                                        <p:tgtEl>
                                          <p:spTgt spid="1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1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500"/>
                                        <p:tgtEl>
                                          <p:spTgt spid="1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8" dur="500"/>
                                        <p:tgtEl>
                                          <p:spTgt spid="1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nimBg="1"/>
      <p:bldP spid="12294" grpId="0" animBg="1"/>
      <p:bldP spid="12295" grpId="0" animBg="1"/>
      <p:bldP spid="12296" grpId="0" animBg="1"/>
      <p:bldP spid="12298" grpId="0" animBg="1"/>
      <p:bldP spid="12299" grpId="0" animBg="1"/>
      <p:bldP spid="12300" grpId="0" animBg="1"/>
      <p:bldP spid="12303" grpId="0" animBg="1"/>
      <p:bldP spid="12307" grpId="0" animBg="1"/>
      <p:bldP spid="12308" grpId="0" animBg="1"/>
      <p:bldP spid="12309" grpId="0" animBg="1"/>
      <p:bldP spid="12310" grpId="0" animBg="1"/>
      <p:bldP spid="12311" grpId="0" animBg="1"/>
      <p:bldP spid="12314" grpId="0" animBg="1"/>
      <p:bldP spid="12315" grpId="0" animBg="1"/>
      <p:bldP spid="12317" grpId="0" animBg="1"/>
      <p:bldP spid="12319" grpId="0" animBg="1"/>
      <p:bldP spid="39" grpId="0" animBg="1"/>
      <p:bldP spid="40" grpId="0" animBg="1"/>
      <p:bldP spid="41" grpId="0" animBg="1"/>
      <p:bldP spid="43" grpId="0" animBg="1"/>
      <p:bldP spid="44" grpId="0" animBg="1"/>
      <p:bldP spid="45" grpId="0" animBg="1"/>
      <p:bldP spid="38" grpId="0" animBg="1"/>
      <p:bldP spid="12318" grpId="0" animBg="1"/>
      <p:bldP spid="1232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内容占位符 4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428625"/>
          </a:xfrm>
        </p:spPr>
        <p:txBody>
          <a:bodyPr>
            <a:normAutofit fontScale="25000" lnSpcReduction="20000"/>
          </a:bodyPr>
          <a:lstStyle/>
          <a:p>
            <a:pPr>
              <a:spcBef>
                <a:spcPts val="675"/>
              </a:spcBef>
            </a:pPr>
            <a:r>
              <a:rPr lang="zh-CN" altLang="en-US"/>
              <a:t>需求描述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在交换机上添加</a:t>
            </a:r>
            <a:r>
              <a:rPr lang="en-US" altLang="zh-CN"/>
              <a:t>VLAN 2</a:t>
            </a:r>
            <a:r>
              <a:rPr lang="zh-CN" altLang="en-US"/>
              <a:t>和</a:t>
            </a:r>
            <a:r>
              <a:rPr lang="en-US" altLang="zh-CN"/>
              <a:t>VLAN 3</a:t>
            </a:r>
          </a:p>
          <a:p>
            <a:pPr lvl="2">
              <a:spcBef>
                <a:spcPct val="0"/>
              </a:spcBef>
            </a:pPr>
            <a:r>
              <a:rPr lang="en-US" altLang="zh-CN"/>
              <a:t>SW1</a:t>
            </a:r>
            <a:r>
              <a:rPr lang="zh-CN" altLang="en-US"/>
              <a:t>成为</a:t>
            </a:r>
            <a:r>
              <a:rPr lang="en-US" altLang="zh-CN"/>
              <a:t>VLAN 1</a:t>
            </a:r>
            <a:r>
              <a:rPr lang="zh-CN" altLang="en-US"/>
              <a:t>的根网桥</a:t>
            </a:r>
            <a:endParaRPr lang="en-US" altLang="zh-CN"/>
          </a:p>
          <a:p>
            <a:pPr lvl="2">
              <a:spcBef>
                <a:spcPct val="0"/>
              </a:spcBef>
            </a:pPr>
            <a:r>
              <a:rPr lang="en-US" altLang="zh-CN"/>
              <a:t>SW2</a:t>
            </a:r>
            <a:r>
              <a:rPr lang="zh-CN" altLang="en-US"/>
              <a:t>成为</a:t>
            </a:r>
            <a:r>
              <a:rPr lang="en-US" altLang="zh-CN"/>
              <a:t>VLAN 2</a:t>
            </a:r>
            <a:r>
              <a:rPr lang="zh-CN" altLang="en-US"/>
              <a:t>的根网桥</a:t>
            </a:r>
            <a:endParaRPr lang="en-US" altLang="zh-CN"/>
          </a:p>
          <a:p>
            <a:pPr lvl="2">
              <a:spcBef>
                <a:spcPct val="0"/>
              </a:spcBef>
            </a:pPr>
            <a:r>
              <a:rPr lang="en-US" altLang="zh-CN"/>
              <a:t>SW3</a:t>
            </a:r>
            <a:r>
              <a:rPr lang="zh-CN" altLang="en-US"/>
              <a:t>成为</a:t>
            </a:r>
            <a:r>
              <a:rPr lang="en-US" altLang="zh-CN"/>
              <a:t>VLAN 3</a:t>
            </a:r>
            <a:r>
              <a:rPr lang="zh-CN" altLang="en-US"/>
              <a:t>的根网桥</a:t>
            </a: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实验一：</a:t>
            </a:r>
            <a:r>
              <a:rPr lang="zh-CN"/>
              <a:t>配置</a:t>
            </a:r>
            <a:r>
              <a:rPr lang="en-US" altLang="zh-CN"/>
              <a:t>STP 2-1</a:t>
            </a:r>
            <a:endParaRPr lang="en-US" altLang="zh-CN">
              <a:latin typeface="黑体" pitchFamily="2" charset="-122"/>
            </a:endParaRP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5156200" y="5492750"/>
            <a:ext cx="1423988" cy="579438"/>
            <a:chOff x="1837" y="1706"/>
            <a:chExt cx="816" cy="392"/>
          </a:xfrm>
        </p:grpSpPr>
        <p:pic>
          <p:nvPicPr>
            <p:cNvPr id="42004" name="Picture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2005" name="Text Box 12"/>
            <p:cNvSpPr txBox="1">
              <a:spLocks noChangeArrowheads="1"/>
            </p:cNvSpPr>
            <p:nvPr/>
          </p:nvSpPr>
          <p:spPr bwMode="auto">
            <a:xfrm>
              <a:off x="1891" y="1848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SW3</a:t>
              </a:r>
            </a:p>
          </p:txBody>
        </p:sp>
      </p:grpSp>
      <p:cxnSp>
        <p:nvCxnSpPr>
          <p:cNvPr id="41989" name="直接连接符 21"/>
          <p:cNvCxnSpPr>
            <a:cxnSpLocks noChangeShapeType="1"/>
          </p:cNvCxnSpPr>
          <p:nvPr/>
        </p:nvCxnSpPr>
        <p:spPr bwMode="auto">
          <a:xfrm rot="16200000" flipH="1">
            <a:off x="4446589" y="4235451"/>
            <a:ext cx="1546225" cy="968375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41990" name="直接连接符 21"/>
          <p:cNvCxnSpPr>
            <a:cxnSpLocks noChangeShapeType="1"/>
          </p:cNvCxnSpPr>
          <p:nvPr/>
        </p:nvCxnSpPr>
        <p:spPr bwMode="auto">
          <a:xfrm>
            <a:off x="5024438" y="3843338"/>
            <a:ext cx="2005012" cy="17462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41991" name="直接连接符 21"/>
          <p:cNvCxnSpPr>
            <a:cxnSpLocks noChangeShapeType="1"/>
          </p:cNvCxnSpPr>
          <p:nvPr/>
        </p:nvCxnSpPr>
        <p:spPr bwMode="auto">
          <a:xfrm rot="5400000" flipH="1" flipV="1">
            <a:off x="6018213" y="4079876"/>
            <a:ext cx="1554163" cy="1287462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sp>
        <p:nvSpPr>
          <p:cNvPr id="41992" name="Text Box 23"/>
          <p:cNvSpPr txBox="1">
            <a:spLocks noChangeArrowheads="1"/>
          </p:cNvSpPr>
          <p:nvPr/>
        </p:nvSpPr>
        <p:spPr bwMode="auto">
          <a:xfrm>
            <a:off x="4119564" y="4148139"/>
            <a:ext cx="833437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</a:rPr>
              <a:t>F0/14</a:t>
            </a:r>
          </a:p>
        </p:txBody>
      </p:sp>
      <p:sp>
        <p:nvSpPr>
          <p:cNvPr id="41993" name="Text Box 23"/>
          <p:cNvSpPr txBox="1">
            <a:spLocks noChangeArrowheads="1"/>
          </p:cNvSpPr>
          <p:nvPr/>
        </p:nvSpPr>
        <p:spPr bwMode="auto">
          <a:xfrm>
            <a:off x="6477000" y="5129214"/>
            <a:ext cx="833438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</a:rPr>
              <a:t>F0/14</a:t>
            </a:r>
          </a:p>
        </p:txBody>
      </p:sp>
      <p:sp>
        <p:nvSpPr>
          <p:cNvPr id="41994" name="Text Box 23"/>
          <p:cNvSpPr txBox="1">
            <a:spLocks noChangeArrowheads="1"/>
          </p:cNvSpPr>
          <p:nvPr/>
        </p:nvSpPr>
        <p:spPr bwMode="auto">
          <a:xfrm>
            <a:off x="4870450" y="5195889"/>
            <a:ext cx="833438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</a:rPr>
              <a:t>F0/15</a:t>
            </a:r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7029450" y="3594101"/>
            <a:ext cx="1423988" cy="587375"/>
            <a:chOff x="1837" y="1706"/>
            <a:chExt cx="816" cy="398"/>
          </a:xfrm>
        </p:grpSpPr>
        <p:pic>
          <p:nvPicPr>
            <p:cNvPr id="42002" name="Picture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2003" name="Text Box 12"/>
            <p:cNvSpPr txBox="1">
              <a:spLocks noChangeArrowheads="1"/>
            </p:cNvSpPr>
            <p:nvPr/>
          </p:nvSpPr>
          <p:spPr bwMode="auto">
            <a:xfrm>
              <a:off x="1891" y="1854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SW2</a:t>
              </a:r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3738564" y="3594101"/>
            <a:ext cx="1423987" cy="587375"/>
            <a:chOff x="1837" y="1706"/>
            <a:chExt cx="816" cy="398"/>
          </a:xfrm>
        </p:grpSpPr>
        <p:pic>
          <p:nvPicPr>
            <p:cNvPr id="42000" name="Picture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2001" name="Text Box 12"/>
            <p:cNvSpPr txBox="1">
              <a:spLocks noChangeArrowheads="1"/>
            </p:cNvSpPr>
            <p:nvPr/>
          </p:nvSpPr>
          <p:spPr bwMode="auto">
            <a:xfrm>
              <a:off x="1891" y="1854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SW1</a:t>
              </a:r>
            </a:p>
          </p:txBody>
        </p:sp>
      </p:grpSp>
      <p:sp>
        <p:nvSpPr>
          <p:cNvPr id="41997" name="Text Box 23"/>
          <p:cNvSpPr txBox="1">
            <a:spLocks noChangeArrowheads="1"/>
          </p:cNvSpPr>
          <p:nvPr/>
        </p:nvSpPr>
        <p:spPr bwMode="auto">
          <a:xfrm>
            <a:off x="6405564" y="3557589"/>
            <a:ext cx="833437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</a:rPr>
              <a:t>F0/15</a:t>
            </a:r>
          </a:p>
        </p:txBody>
      </p:sp>
      <p:sp>
        <p:nvSpPr>
          <p:cNvPr id="41998" name="Text Box 23"/>
          <p:cNvSpPr txBox="1">
            <a:spLocks noChangeArrowheads="1"/>
          </p:cNvSpPr>
          <p:nvPr/>
        </p:nvSpPr>
        <p:spPr bwMode="auto">
          <a:xfrm>
            <a:off x="5095875" y="3557589"/>
            <a:ext cx="833438" cy="33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</a:rPr>
              <a:t>F0/15</a:t>
            </a:r>
          </a:p>
        </p:txBody>
      </p:sp>
      <p:sp>
        <p:nvSpPr>
          <p:cNvPr id="41999" name="Text Box 23"/>
          <p:cNvSpPr txBox="1">
            <a:spLocks noChangeArrowheads="1"/>
          </p:cNvSpPr>
          <p:nvPr/>
        </p:nvSpPr>
        <p:spPr bwMode="auto">
          <a:xfrm>
            <a:off x="7191375" y="4219575"/>
            <a:ext cx="833438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rgbClr val="776A98"/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>
                <a:solidFill>
                  <a:schemeClr val="tx2"/>
                </a:solidFill>
              </a:rPr>
              <a:t>F0/14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内容占位符 1"/>
          <p:cNvSpPr>
            <a:spLocks noGrp="1"/>
          </p:cNvSpPr>
          <p:nvPr>
            <p:ph idx="1"/>
          </p:nvPr>
        </p:nvSpPr>
        <p:spPr>
          <a:xfrm>
            <a:off x="1738313" y="1143000"/>
            <a:ext cx="8501062" cy="5143500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实现思路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更改</a:t>
            </a:r>
            <a:r>
              <a:rPr lang="en-US" altLang="zh-CN"/>
              <a:t>STP</a:t>
            </a:r>
            <a:r>
              <a:rPr lang="zh-CN" altLang="en-US"/>
              <a:t>优先级，使交换机成为相应</a:t>
            </a:r>
            <a:r>
              <a:rPr lang="en-US" altLang="zh-CN"/>
              <a:t>VLAN</a:t>
            </a:r>
            <a:r>
              <a:rPr lang="zh-CN" altLang="en-US"/>
              <a:t>的根网桥</a:t>
            </a:r>
            <a:endParaRPr lang="en-US" altLang="zh-CN"/>
          </a:p>
          <a:p>
            <a:pPr lvl="1">
              <a:spcBef>
                <a:spcPts val="475"/>
              </a:spcBef>
            </a:pPr>
            <a:endParaRPr lang="en-US" altLang="zh-CN"/>
          </a:p>
          <a:p>
            <a:pPr lvl="1">
              <a:spcBef>
                <a:spcPts val="4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学员练习</a:t>
            </a:r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43011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实验一：</a:t>
            </a:r>
            <a:r>
              <a:rPr lang="zh-CN"/>
              <a:t>配置</a:t>
            </a:r>
            <a:r>
              <a:rPr lang="en-US" altLang="zh-CN"/>
              <a:t>STP 2-2</a:t>
            </a:r>
            <a:endParaRPr lang="zh-CN" altLang="en-US"/>
          </a:p>
        </p:txBody>
      </p:sp>
      <p:grpSp>
        <p:nvGrpSpPr>
          <p:cNvPr id="2" name="组合 7"/>
          <p:cNvGrpSpPr>
            <a:grpSpLocks/>
          </p:cNvGrpSpPr>
          <p:nvPr/>
        </p:nvGrpSpPr>
        <p:grpSpPr bwMode="auto">
          <a:xfrm>
            <a:off x="4497388" y="4657725"/>
            <a:ext cx="3598862" cy="914400"/>
            <a:chOff x="1079500" y="5657872"/>
            <a:chExt cx="3598863" cy="914400"/>
          </a:xfrm>
        </p:grpSpPr>
        <p:pic>
          <p:nvPicPr>
            <p:cNvPr id="43013" name="Picture 4" descr="练习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79500" y="5657872"/>
              <a:ext cx="1008063" cy="914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3014" name="Rectangle 5"/>
            <p:cNvSpPr>
              <a:spLocks noChangeArrowheads="1"/>
            </p:cNvSpPr>
            <p:nvPr/>
          </p:nvSpPr>
          <p:spPr bwMode="auto">
            <a:xfrm>
              <a:off x="1943100" y="5854720"/>
              <a:ext cx="2735263" cy="503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rgbClr val="006600"/>
                </a:buClr>
                <a:buSzPct val="80000"/>
              </a:pPr>
              <a:r>
                <a:rPr lang="en-US" altLang="zh-CN" sz="2400" b="1">
                  <a:solidFill>
                    <a:srgbClr val="FF9933"/>
                  </a:solidFill>
                  <a:latin typeface="黑体" pitchFamily="2" charset="-122"/>
                </a:rPr>
                <a:t>40</a:t>
              </a:r>
              <a:r>
                <a:rPr lang="zh-CN" altLang="en-US" sz="2400" b="1">
                  <a:solidFill>
                    <a:srgbClr val="FF9933"/>
                  </a:solidFill>
                  <a:latin typeface="黑体" pitchFamily="2" charset="-122"/>
                </a:rPr>
                <a:t>分钟完成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内容占位符 5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3286125"/>
          </a:xfrm>
        </p:spPr>
        <p:txBody>
          <a:bodyPr/>
          <a:lstStyle/>
          <a:p>
            <a:pPr>
              <a:spcBef>
                <a:spcPts val="675"/>
              </a:spcBef>
            </a:pPr>
            <a:r>
              <a:rPr lang="zh-CN" altLang="en-US"/>
              <a:t>需求描述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四台交换机相连，配置</a:t>
            </a:r>
            <a:r>
              <a:rPr lang="en-US" altLang="zh-CN"/>
              <a:t>PVST+</a:t>
            </a:r>
            <a:r>
              <a:rPr lang="zh-CN" altLang="en-US"/>
              <a:t>负载均衡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链路均为</a:t>
            </a:r>
            <a:r>
              <a:rPr lang="en-US" altLang="en-US"/>
              <a:t>100M</a:t>
            </a:r>
            <a:r>
              <a:rPr lang="zh-CN" altLang="en-US"/>
              <a:t>链路，其中的交换机设备都为默认配置</a:t>
            </a: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实验二：</a:t>
            </a:r>
            <a:r>
              <a:rPr lang="zh-CN"/>
              <a:t>配置</a:t>
            </a:r>
            <a:r>
              <a:rPr lang="en-US" altLang="zh-CN"/>
              <a:t>VLAN</a:t>
            </a:r>
            <a:r>
              <a:rPr lang="zh-CN"/>
              <a:t>负载均衡</a:t>
            </a:r>
            <a:r>
              <a:rPr lang="en-US" altLang="zh-CN"/>
              <a:t>2-1</a:t>
            </a:r>
            <a:endParaRPr lang="en-US" altLang="zh-CN">
              <a:latin typeface="黑体" pitchFamily="2" charset="-122"/>
            </a:endParaRP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3868739" y="3354388"/>
            <a:ext cx="1423987" cy="588962"/>
            <a:chOff x="1837" y="1706"/>
            <a:chExt cx="816" cy="398"/>
          </a:xfrm>
        </p:grpSpPr>
        <p:pic>
          <p:nvPicPr>
            <p:cNvPr id="44063" name="Picture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4064" name="Text Box 12"/>
            <p:cNvSpPr txBox="1">
              <a:spLocks noChangeArrowheads="1"/>
            </p:cNvSpPr>
            <p:nvPr/>
          </p:nvSpPr>
          <p:spPr bwMode="auto">
            <a:xfrm>
              <a:off x="1891" y="1854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SW1</a:t>
              </a: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6789739" y="3354388"/>
            <a:ext cx="1423987" cy="588962"/>
            <a:chOff x="1837" y="1706"/>
            <a:chExt cx="816" cy="398"/>
          </a:xfrm>
        </p:grpSpPr>
        <p:pic>
          <p:nvPicPr>
            <p:cNvPr id="44061" name="Picture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4062" name="Text Box 12"/>
            <p:cNvSpPr txBox="1">
              <a:spLocks noChangeArrowheads="1"/>
            </p:cNvSpPr>
            <p:nvPr/>
          </p:nvSpPr>
          <p:spPr bwMode="auto">
            <a:xfrm>
              <a:off x="1891" y="1854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SW2</a:t>
              </a:r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7483475" y="5138738"/>
            <a:ext cx="1423988" cy="588962"/>
            <a:chOff x="1837" y="1706"/>
            <a:chExt cx="816" cy="398"/>
          </a:xfrm>
        </p:grpSpPr>
        <p:pic>
          <p:nvPicPr>
            <p:cNvPr id="44059" name="Picture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4060" name="Text Box 12"/>
            <p:cNvSpPr txBox="1">
              <a:spLocks noChangeArrowheads="1"/>
            </p:cNvSpPr>
            <p:nvPr/>
          </p:nvSpPr>
          <p:spPr bwMode="auto">
            <a:xfrm>
              <a:off x="1891" y="1854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SW4</a:t>
              </a:r>
            </a:p>
          </p:txBody>
        </p: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3028950" y="5138738"/>
            <a:ext cx="1423988" cy="588962"/>
            <a:chOff x="1837" y="1706"/>
            <a:chExt cx="816" cy="398"/>
          </a:xfrm>
        </p:grpSpPr>
        <p:pic>
          <p:nvPicPr>
            <p:cNvPr id="44057" name="Picture 1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837" y="1706"/>
              <a:ext cx="816" cy="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4058" name="Text Box 12"/>
            <p:cNvSpPr txBox="1">
              <a:spLocks noChangeArrowheads="1"/>
            </p:cNvSpPr>
            <p:nvPr/>
          </p:nvSpPr>
          <p:spPr bwMode="auto">
            <a:xfrm>
              <a:off x="1891" y="1854"/>
              <a:ext cx="544" cy="2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anchor="b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b="1">
                  <a:solidFill>
                    <a:schemeClr val="bg1"/>
                  </a:solidFill>
                  <a:ea typeface="宋体" charset="-122"/>
                  <a:cs typeface="Arial" charset="0"/>
                </a:rPr>
                <a:t>SW3</a:t>
              </a:r>
            </a:p>
          </p:txBody>
        </p:sp>
      </p:grpSp>
      <p:cxnSp>
        <p:nvCxnSpPr>
          <p:cNvPr id="44040" name="直接连接符 21"/>
          <p:cNvCxnSpPr>
            <a:cxnSpLocks noChangeShapeType="1"/>
          </p:cNvCxnSpPr>
          <p:nvPr/>
        </p:nvCxnSpPr>
        <p:spPr bwMode="auto">
          <a:xfrm rot="16200000" flipV="1">
            <a:off x="7224713" y="4167188"/>
            <a:ext cx="1249363" cy="693738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44041" name="直接连接符 21"/>
          <p:cNvCxnSpPr>
            <a:cxnSpLocks noChangeShapeType="1"/>
          </p:cNvCxnSpPr>
          <p:nvPr/>
        </p:nvCxnSpPr>
        <p:spPr bwMode="auto">
          <a:xfrm rot="10800000">
            <a:off x="5292726" y="3622675"/>
            <a:ext cx="1497013" cy="1588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44042" name="直接连接符 21"/>
          <p:cNvCxnSpPr>
            <a:cxnSpLocks noChangeShapeType="1"/>
          </p:cNvCxnSpPr>
          <p:nvPr/>
        </p:nvCxnSpPr>
        <p:spPr bwMode="auto">
          <a:xfrm rot="5400000">
            <a:off x="4996657" y="2632870"/>
            <a:ext cx="1249363" cy="3762375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44043" name="直接连接符 21"/>
          <p:cNvCxnSpPr>
            <a:cxnSpLocks noChangeShapeType="1"/>
          </p:cNvCxnSpPr>
          <p:nvPr/>
        </p:nvCxnSpPr>
        <p:spPr bwMode="auto">
          <a:xfrm rot="16200000" flipH="1">
            <a:off x="5763420" y="2705895"/>
            <a:ext cx="1249363" cy="3616325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44044" name="直接连接符 21"/>
          <p:cNvCxnSpPr>
            <a:cxnSpLocks noChangeShapeType="1"/>
          </p:cNvCxnSpPr>
          <p:nvPr/>
        </p:nvCxnSpPr>
        <p:spPr bwMode="auto">
          <a:xfrm rot="5400000" flipH="1" flipV="1">
            <a:off x="3535363" y="4094163"/>
            <a:ext cx="1249363" cy="839788"/>
          </a:xfrm>
          <a:prstGeom prst="line">
            <a:avLst/>
          </a:prstGeom>
          <a:noFill/>
          <a:ln w="44450" algn="ctr">
            <a:solidFill>
              <a:schemeClr val="tx2"/>
            </a:solidFill>
            <a:round/>
            <a:headEnd/>
            <a:tailEnd/>
          </a:ln>
        </p:spPr>
      </p:cxnSp>
      <p:sp>
        <p:nvSpPr>
          <p:cNvPr id="44045" name="Text Box 33"/>
          <p:cNvSpPr txBox="1">
            <a:spLocks noChangeArrowheads="1"/>
          </p:cNvSpPr>
          <p:nvPr/>
        </p:nvSpPr>
        <p:spPr bwMode="auto">
          <a:xfrm>
            <a:off x="6169025" y="3313114"/>
            <a:ext cx="774700" cy="369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Ctr="1">
            <a:spAutoFit/>
          </a:bodyPr>
          <a:lstStyle/>
          <a:p>
            <a:pPr algn="ctr"/>
            <a:r>
              <a:rPr lang="en-US" altLang="zh-CN" b="1">
                <a:solidFill>
                  <a:schemeClr val="tx2"/>
                </a:solidFill>
                <a:cs typeface="Arial" charset="0"/>
              </a:rPr>
              <a:t>F0/15</a:t>
            </a:r>
          </a:p>
        </p:txBody>
      </p:sp>
      <p:sp>
        <p:nvSpPr>
          <p:cNvPr id="44046" name="Text Box 33"/>
          <p:cNvSpPr txBox="1">
            <a:spLocks noChangeArrowheads="1"/>
          </p:cNvSpPr>
          <p:nvPr/>
        </p:nvSpPr>
        <p:spPr bwMode="auto">
          <a:xfrm>
            <a:off x="5211763" y="3313114"/>
            <a:ext cx="774700" cy="369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Ctr="1">
            <a:spAutoFit/>
          </a:bodyPr>
          <a:lstStyle/>
          <a:p>
            <a:pPr algn="ctr"/>
            <a:r>
              <a:rPr lang="en-US" altLang="zh-CN" b="1">
                <a:solidFill>
                  <a:schemeClr val="tx2"/>
                </a:solidFill>
                <a:cs typeface="Arial" charset="0"/>
              </a:rPr>
              <a:t>F0/15</a:t>
            </a:r>
          </a:p>
        </p:txBody>
      </p:sp>
      <p:sp>
        <p:nvSpPr>
          <p:cNvPr id="44047" name="Text Box 33"/>
          <p:cNvSpPr txBox="1">
            <a:spLocks noChangeArrowheads="1"/>
          </p:cNvSpPr>
          <p:nvPr/>
        </p:nvSpPr>
        <p:spPr bwMode="auto">
          <a:xfrm>
            <a:off x="3751263" y="3787775"/>
            <a:ext cx="774700" cy="369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Ctr="1">
            <a:spAutoFit/>
          </a:bodyPr>
          <a:lstStyle/>
          <a:p>
            <a:pPr algn="ctr"/>
            <a:r>
              <a:rPr lang="en-US" altLang="zh-CN" b="1">
                <a:solidFill>
                  <a:schemeClr val="tx2"/>
                </a:solidFill>
                <a:cs typeface="Arial" charset="0"/>
              </a:rPr>
              <a:t>F0/14</a:t>
            </a:r>
          </a:p>
        </p:txBody>
      </p:sp>
      <p:sp>
        <p:nvSpPr>
          <p:cNvPr id="44048" name="Text Box 33"/>
          <p:cNvSpPr txBox="1">
            <a:spLocks noChangeArrowheads="1"/>
          </p:cNvSpPr>
          <p:nvPr/>
        </p:nvSpPr>
        <p:spPr bwMode="auto">
          <a:xfrm>
            <a:off x="3028950" y="4810125"/>
            <a:ext cx="774700" cy="369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Ctr="1">
            <a:spAutoFit/>
          </a:bodyPr>
          <a:lstStyle/>
          <a:p>
            <a:pPr algn="ctr"/>
            <a:r>
              <a:rPr lang="en-US" altLang="zh-CN" b="1">
                <a:solidFill>
                  <a:schemeClr val="tx2"/>
                </a:solidFill>
                <a:cs typeface="Arial" charset="0"/>
              </a:rPr>
              <a:t>F0/14</a:t>
            </a:r>
          </a:p>
        </p:txBody>
      </p:sp>
      <p:sp>
        <p:nvSpPr>
          <p:cNvPr id="44049" name="Text Box 33"/>
          <p:cNvSpPr txBox="1">
            <a:spLocks noChangeArrowheads="1"/>
          </p:cNvSpPr>
          <p:nvPr/>
        </p:nvSpPr>
        <p:spPr bwMode="auto">
          <a:xfrm>
            <a:off x="7081838" y="4960939"/>
            <a:ext cx="774700" cy="369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Ctr="1">
            <a:spAutoFit/>
          </a:bodyPr>
          <a:lstStyle/>
          <a:p>
            <a:pPr algn="ctr"/>
            <a:r>
              <a:rPr lang="en-US" altLang="zh-CN" b="1">
                <a:solidFill>
                  <a:schemeClr val="tx2"/>
                </a:solidFill>
                <a:cs typeface="Arial" charset="0"/>
              </a:rPr>
              <a:t>F0/14</a:t>
            </a:r>
          </a:p>
        </p:txBody>
      </p:sp>
      <p:sp>
        <p:nvSpPr>
          <p:cNvPr id="44050" name="Text Box 33"/>
          <p:cNvSpPr txBox="1">
            <a:spLocks noChangeArrowheads="1"/>
          </p:cNvSpPr>
          <p:nvPr/>
        </p:nvSpPr>
        <p:spPr bwMode="auto">
          <a:xfrm>
            <a:off x="6278563" y="3756025"/>
            <a:ext cx="774700" cy="369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Ctr="1">
            <a:spAutoFit/>
          </a:bodyPr>
          <a:lstStyle/>
          <a:p>
            <a:pPr algn="ctr"/>
            <a:r>
              <a:rPr lang="en-US" altLang="zh-CN" b="1">
                <a:solidFill>
                  <a:schemeClr val="tx2"/>
                </a:solidFill>
                <a:cs typeface="Arial" charset="0"/>
              </a:rPr>
              <a:t>F0/14</a:t>
            </a:r>
          </a:p>
        </p:txBody>
      </p:sp>
      <p:sp>
        <p:nvSpPr>
          <p:cNvPr id="44051" name="Text Box 33"/>
          <p:cNvSpPr txBox="1">
            <a:spLocks noChangeArrowheads="1"/>
          </p:cNvSpPr>
          <p:nvPr/>
        </p:nvSpPr>
        <p:spPr bwMode="auto">
          <a:xfrm>
            <a:off x="4883150" y="3719514"/>
            <a:ext cx="774700" cy="369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Ctr="1">
            <a:spAutoFit/>
          </a:bodyPr>
          <a:lstStyle/>
          <a:p>
            <a:pPr algn="ctr"/>
            <a:r>
              <a:rPr lang="en-US" altLang="zh-CN" b="1">
                <a:solidFill>
                  <a:schemeClr val="tx2"/>
                </a:solidFill>
                <a:cs typeface="Arial" charset="0"/>
              </a:rPr>
              <a:t>F0/13</a:t>
            </a:r>
          </a:p>
        </p:txBody>
      </p:sp>
      <p:sp>
        <p:nvSpPr>
          <p:cNvPr id="44052" name="Text Box 33"/>
          <p:cNvSpPr txBox="1">
            <a:spLocks noChangeArrowheads="1"/>
          </p:cNvSpPr>
          <p:nvPr/>
        </p:nvSpPr>
        <p:spPr bwMode="auto">
          <a:xfrm>
            <a:off x="4197350" y="4887914"/>
            <a:ext cx="774700" cy="369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Ctr="1">
            <a:spAutoFit/>
          </a:bodyPr>
          <a:lstStyle/>
          <a:p>
            <a:pPr algn="ctr"/>
            <a:r>
              <a:rPr lang="en-US" altLang="zh-CN" b="1">
                <a:solidFill>
                  <a:schemeClr val="tx2"/>
                </a:solidFill>
                <a:cs typeface="Arial" charset="0"/>
              </a:rPr>
              <a:t>F0/15</a:t>
            </a:r>
          </a:p>
        </p:txBody>
      </p:sp>
      <p:sp>
        <p:nvSpPr>
          <p:cNvPr id="44053" name="Text Box 33"/>
          <p:cNvSpPr txBox="1">
            <a:spLocks noChangeArrowheads="1"/>
          </p:cNvSpPr>
          <p:nvPr/>
        </p:nvSpPr>
        <p:spPr bwMode="auto">
          <a:xfrm>
            <a:off x="7519988" y="3792539"/>
            <a:ext cx="774700" cy="369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Ctr="1">
            <a:spAutoFit/>
          </a:bodyPr>
          <a:lstStyle/>
          <a:p>
            <a:pPr algn="ctr"/>
            <a:r>
              <a:rPr lang="en-US" altLang="zh-CN" b="1">
                <a:solidFill>
                  <a:schemeClr val="tx2"/>
                </a:solidFill>
                <a:cs typeface="Arial" charset="0"/>
              </a:rPr>
              <a:t>F0/13</a:t>
            </a:r>
          </a:p>
        </p:txBody>
      </p:sp>
      <p:sp>
        <p:nvSpPr>
          <p:cNvPr id="44054" name="Text Box 33"/>
          <p:cNvSpPr txBox="1">
            <a:spLocks noChangeArrowheads="1"/>
          </p:cNvSpPr>
          <p:nvPr/>
        </p:nvSpPr>
        <p:spPr bwMode="auto">
          <a:xfrm>
            <a:off x="8104188" y="4814889"/>
            <a:ext cx="774700" cy="369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Ctr="1">
            <a:spAutoFit/>
          </a:bodyPr>
          <a:lstStyle/>
          <a:p>
            <a:pPr algn="ctr"/>
            <a:r>
              <a:rPr lang="en-US" altLang="zh-CN" b="1">
                <a:solidFill>
                  <a:schemeClr val="tx2"/>
                </a:solidFill>
                <a:cs typeface="Arial" charset="0"/>
              </a:rPr>
              <a:t>F0/15</a:t>
            </a:r>
          </a:p>
        </p:txBody>
      </p:sp>
      <p:sp>
        <p:nvSpPr>
          <p:cNvPr id="44055" name="Text Box 33"/>
          <p:cNvSpPr txBox="1">
            <a:spLocks noChangeArrowheads="1"/>
          </p:cNvSpPr>
          <p:nvPr/>
        </p:nvSpPr>
        <p:spPr bwMode="auto">
          <a:xfrm>
            <a:off x="3138489" y="2928939"/>
            <a:ext cx="2325687" cy="369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Ctr="1">
            <a:spAutoFit/>
          </a:bodyPr>
          <a:lstStyle/>
          <a:p>
            <a:pPr algn="ctr"/>
            <a:r>
              <a:rPr lang="en-US" altLang="zh-CN" b="1">
                <a:solidFill>
                  <a:schemeClr val="tx2"/>
                </a:solidFill>
                <a:cs typeface="Arial" charset="0"/>
              </a:rPr>
              <a:t>VLAN 1 ~ 2</a:t>
            </a:r>
            <a:r>
              <a:rPr lang="zh-CN" altLang="en-US" b="1">
                <a:solidFill>
                  <a:schemeClr val="tx2"/>
                </a:solidFill>
                <a:cs typeface="Arial" charset="0"/>
              </a:rPr>
              <a:t>的根网桥</a:t>
            </a:r>
            <a:endParaRPr lang="en-US" altLang="zh-CN" b="1">
              <a:solidFill>
                <a:schemeClr val="tx2"/>
              </a:solidFill>
              <a:cs typeface="Arial" charset="0"/>
            </a:endParaRPr>
          </a:p>
        </p:txBody>
      </p:sp>
      <p:sp>
        <p:nvSpPr>
          <p:cNvPr id="44056" name="Text Box 33"/>
          <p:cNvSpPr txBox="1">
            <a:spLocks noChangeArrowheads="1"/>
          </p:cNvSpPr>
          <p:nvPr/>
        </p:nvSpPr>
        <p:spPr bwMode="auto">
          <a:xfrm>
            <a:off x="6946900" y="2941639"/>
            <a:ext cx="2325688" cy="369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Ctr="1">
            <a:spAutoFit/>
          </a:bodyPr>
          <a:lstStyle/>
          <a:p>
            <a:pPr algn="ctr"/>
            <a:r>
              <a:rPr lang="en-US" altLang="zh-CN" b="1">
                <a:solidFill>
                  <a:schemeClr val="tx2"/>
                </a:solidFill>
                <a:cs typeface="Arial" charset="0"/>
              </a:rPr>
              <a:t>VLAN 3 ~ 4</a:t>
            </a:r>
            <a:r>
              <a:rPr lang="zh-CN" altLang="en-US" b="1">
                <a:solidFill>
                  <a:schemeClr val="tx2"/>
                </a:solidFill>
                <a:cs typeface="Arial" charset="0"/>
              </a:rPr>
              <a:t>的根网桥</a:t>
            </a:r>
            <a:endParaRPr lang="en-US" altLang="zh-CN" b="1">
              <a:solidFill>
                <a:schemeClr val="tx2"/>
              </a:solidFill>
              <a:cs typeface="Arial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内容占位符 1"/>
          <p:cNvSpPr>
            <a:spLocks noGrp="1"/>
          </p:cNvSpPr>
          <p:nvPr>
            <p:ph idx="1"/>
          </p:nvPr>
        </p:nvSpPr>
        <p:spPr>
          <a:xfrm>
            <a:off x="1738313" y="1143001"/>
            <a:ext cx="8501062" cy="1571625"/>
          </a:xfrm>
        </p:spPr>
        <p:txBody>
          <a:bodyPr>
            <a:normAutofit fontScale="62500" lnSpcReduction="20000"/>
          </a:bodyPr>
          <a:lstStyle/>
          <a:p>
            <a:pPr>
              <a:spcBef>
                <a:spcPts val="675"/>
              </a:spcBef>
            </a:pPr>
            <a:r>
              <a:rPr lang="zh-CN" altLang="en-US"/>
              <a:t>实现思路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更改</a:t>
            </a:r>
            <a:r>
              <a:rPr lang="en-US" altLang="zh-CN"/>
              <a:t>STP</a:t>
            </a:r>
            <a:r>
              <a:rPr lang="zh-CN" altLang="en-US"/>
              <a:t>优先级，使交换机成为相应</a:t>
            </a:r>
            <a:r>
              <a:rPr lang="en-US" altLang="zh-CN"/>
              <a:t>VLAN</a:t>
            </a:r>
            <a:r>
              <a:rPr lang="zh-CN" altLang="en-US"/>
              <a:t>的根网桥</a:t>
            </a:r>
            <a:endParaRPr lang="en-US" altLang="zh-CN"/>
          </a:p>
          <a:p>
            <a:pPr lvl="1">
              <a:spcBef>
                <a:spcPts val="475"/>
              </a:spcBef>
            </a:pPr>
            <a:r>
              <a:rPr lang="zh-CN" altLang="en-US"/>
              <a:t>通过</a:t>
            </a:r>
            <a:r>
              <a:rPr lang="en-US" altLang="zh-CN"/>
              <a:t>show</a:t>
            </a:r>
            <a:r>
              <a:rPr lang="zh-CN" altLang="en-US"/>
              <a:t>命令查看</a:t>
            </a:r>
            <a:r>
              <a:rPr lang="en-US" altLang="zh-CN"/>
              <a:t>STP</a:t>
            </a:r>
            <a:r>
              <a:rPr lang="zh-CN" altLang="en-US"/>
              <a:t>信息</a:t>
            </a: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r>
              <a:rPr lang="zh-CN" altLang="en-US"/>
              <a:t>学员练习</a:t>
            </a:r>
          </a:p>
          <a:p>
            <a:pPr lvl="1">
              <a:spcBef>
                <a:spcPts val="475"/>
              </a:spcBef>
            </a:pPr>
            <a:endParaRPr lang="en-US" altLang="zh-CN"/>
          </a:p>
          <a:p>
            <a:pPr>
              <a:spcBef>
                <a:spcPts val="675"/>
              </a:spcBef>
            </a:pPr>
            <a:endParaRPr lang="zh-CN" altLang="en-US"/>
          </a:p>
        </p:txBody>
      </p:sp>
      <p:sp>
        <p:nvSpPr>
          <p:cNvPr id="45059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实验二：</a:t>
            </a:r>
            <a:r>
              <a:rPr lang="zh-CN"/>
              <a:t>配置</a:t>
            </a:r>
            <a:r>
              <a:rPr lang="en-US" altLang="zh-CN"/>
              <a:t>VLAN</a:t>
            </a:r>
            <a:r>
              <a:rPr lang="zh-CN"/>
              <a:t>负载均衡</a:t>
            </a:r>
            <a:r>
              <a:rPr lang="en-US" altLang="zh-CN"/>
              <a:t>2-2</a:t>
            </a:r>
            <a:endParaRPr lang="zh-CN" altLang="en-US"/>
          </a:p>
        </p:txBody>
      </p:sp>
      <p:grpSp>
        <p:nvGrpSpPr>
          <p:cNvPr id="2" name="组合 7"/>
          <p:cNvGrpSpPr>
            <a:grpSpLocks/>
          </p:cNvGrpSpPr>
          <p:nvPr/>
        </p:nvGrpSpPr>
        <p:grpSpPr bwMode="auto">
          <a:xfrm>
            <a:off x="4497388" y="4657725"/>
            <a:ext cx="3598862" cy="914400"/>
            <a:chOff x="1079500" y="5657872"/>
            <a:chExt cx="3598863" cy="914400"/>
          </a:xfrm>
        </p:grpSpPr>
        <p:pic>
          <p:nvPicPr>
            <p:cNvPr id="45061" name="Picture 4" descr="练习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79500" y="5657872"/>
              <a:ext cx="1008063" cy="914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5062" name="Rectangle 5"/>
            <p:cNvSpPr>
              <a:spLocks noChangeArrowheads="1"/>
            </p:cNvSpPr>
            <p:nvPr/>
          </p:nvSpPr>
          <p:spPr bwMode="auto">
            <a:xfrm>
              <a:off x="1943100" y="5854720"/>
              <a:ext cx="2735263" cy="503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rgbClr val="006600"/>
                </a:buClr>
                <a:buSzPct val="80000"/>
              </a:pPr>
              <a:r>
                <a:rPr lang="en-US" altLang="zh-CN" sz="2400" b="1">
                  <a:solidFill>
                    <a:srgbClr val="FF9933"/>
                  </a:solidFill>
                  <a:latin typeface="黑体" pitchFamily="2" charset="-122"/>
                </a:rPr>
                <a:t>40</a:t>
              </a:r>
              <a:r>
                <a:rPr lang="zh-CN" altLang="en-US" sz="2400" b="1">
                  <a:solidFill>
                    <a:srgbClr val="FF9933"/>
                  </a:solidFill>
                  <a:latin typeface="黑体" pitchFamily="2" charset="-122"/>
                </a:rPr>
                <a:t>分钟完成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835318-A86B-4409-944A-1726D62CC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435D2E-46A2-4568-AD7C-3760BC95C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46" y="2551193"/>
            <a:ext cx="10972440" cy="7514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4800" dirty="0"/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3404734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6613</TotalTime>
  <Words>2287</Words>
  <Application>Microsoft Office PowerPoint</Application>
  <PresentationFormat>宽屏</PresentationFormat>
  <Paragraphs>507</Paragraphs>
  <Slides>36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9" baseType="lpstr">
      <vt:lpstr>DejaVu Sans</vt:lpstr>
      <vt:lpstr>Myriad Pro</vt:lpstr>
      <vt:lpstr>方正姚体</vt:lpstr>
      <vt:lpstr>仿宋_GB2312</vt:lpstr>
      <vt:lpstr>黑体</vt:lpstr>
      <vt:lpstr>楷体_GB2312</vt:lpstr>
      <vt:lpstr>微软雅黑</vt:lpstr>
      <vt:lpstr>Arial</vt:lpstr>
      <vt:lpstr>Symbol</vt:lpstr>
      <vt:lpstr>Times New Roman</vt:lpstr>
      <vt:lpstr>Wingdings</vt:lpstr>
      <vt:lpstr>Office Theme</vt:lpstr>
      <vt:lpstr>Visio</vt:lpstr>
      <vt:lpstr>目标</vt:lpstr>
      <vt:lpstr>本章结构</vt:lpstr>
      <vt:lpstr>STP概述2-1</vt:lpstr>
      <vt:lpstr>STP概述2-2</vt:lpstr>
      <vt:lpstr>STP工作原理</vt:lpstr>
      <vt:lpstr>生成树的算法10-1</vt:lpstr>
      <vt:lpstr>生成树的算法10-2</vt:lpstr>
      <vt:lpstr>生成树的算法10-3</vt:lpstr>
      <vt:lpstr>生成树的算法10-4</vt:lpstr>
      <vt:lpstr>生成树的算法10-5</vt:lpstr>
      <vt:lpstr>生成树的算法10-6</vt:lpstr>
      <vt:lpstr>生成树的算法10-7</vt:lpstr>
      <vt:lpstr>生成树的算法10-8</vt:lpstr>
      <vt:lpstr>生成树的算法10-9</vt:lpstr>
      <vt:lpstr>生成树的算法10-10</vt:lpstr>
      <vt:lpstr>生成树算法的验证4-1</vt:lpstr>
      <vt:lpstr>生成树算法的验证4-2</vt:lpstr>
      <vt:lpstr>生成树算法的验证4-3</vt:lpstr>
      <vt:lpstr>生成树算法的验证4-4</vt:lpstr>
      <vt:lpstr>BPDU（桥协议数据单元）</vt:lpstr>
      <vt:lpstr>STP利用BPDU选择根网桥</vt:lpstr>
      <vt:lpstr>STP的收敛</vt:lpstr>
      <vt:lpstr>生成树计时器</vt:lpstr>
      <vt:lpstr>小结</vt:lpstr>
      <vt:lpstr> VLAN与STP关系</vt:lpstr>
      <vt:lpstr>PVST+的配置命令</vt:lpstr>
      <vt:lpstr>PVST+的配置命令2-1</vt:lpstr>
      <vt:lpstr>PVST+的配置命令2-2</vt:lpstr>
      <vt:lpstr>PVST+的配置案例2-1</vt:lpstr>
      <vt:lpstr>PVST+的配置案例2-2</vt:lpstr>
      <vt:lpstr>本章总结</vt:lpstr>
      <vt:lpstr>实验一：配置STP 2-1</vt:lpstr>
      <vt:lpstr>实验一：配置STP 2-2</vt:lpstr>
      <vt:lpstr>实验二：配置VLAN负载均衡2-1</vt:lpstr>
      <vt:lpstr>实验二：配置VLAN负载均衡2-2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cuiyongxin</dc:creator>
  <dc:description/>
  <cp:lastModifiedBy>Jason Chen</cp:lastModifiedBy>
  <cp:revision>170</cp:revision>
  <dcterms:created xsi:type="dcterms:W3CDTF">2019-12-12T13:30:13Z</dcterms:created>
  <dcterms:modified xsi:type="dcterms:W3CDTF">2021-10-14T05:35:40Z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KSOProductBuildVer">
    <vt:lpwstr>2052-1.2.1.1575</vt:lpwstr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4</vt:i4>
  </property>
  <property fmtid="{D5CDD505-2E9C-101B-9397-08002B2CF9AE}" pid="9" name="PresentationFormat">
    <vt:lpwstr>宽屏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24</vt:i4>
  </property>
</Properties>
</file>