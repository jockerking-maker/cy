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Lst>
  <p:notesMasterIdLst>
    <p:notesMasterId r:id="rId31"/>
  </p:notesMasterIdLst>
  <p:sldIdLst>
    <p:sldId id="550" r:id="rId2"/>
    <p:sldId id="551" r:id="rId3"/>
    <p:sldId id="552" r:id="rId4"/>
    <p:sldId id="553" r:id="rId5"/>
    <p:sldId id="554" r:id="rId6"/>
    <p:sldId id="555" r:id="rId7"/>
    <p:sldId id="556" r:id="rId8"/>
    <p:sldId id="557" r:id="rId9"/>
    <p:sldId id="558" r:id="rId10"/>
    <p:sldId id="559" r:id="rId11"/>
    <p:sldId id="560" r:id="rId12"/>
    <p:sldId id="561" r:id="rId13"/>
    <p:sldId id="562" r:id="rId14"/>
    <p:sldId id="563" r:id="rId15"/>
    <p:sldId id="564" r:id="rId16"/>
    <p:sldId id="565" r:id="rId17"/>
    <p:sldId id="566" r:id="rId18"/>
    <p:sldId id="567" r:id="rId19"/>
    <p:sldId id="568" r:id="rId20"/>
    <p:sldId id="569" r:id="rId21"/>
    <p:sldId id="570" r:id="rId22"/>
    <p:sldId id="487" r:id="rId23"/>
    <p:sldId id="488" r:id="rId24"/>
    <p:sldId id="571" r:id="rId25"/>
    <p:sldId id="572" r:id="rId26"/>
    <p:sldId id="573" r:id="rId27"/>
    <p:sldId id="574" r:id="rId28"/>
    <p:sldId id="575" r:id="rId29"/>
    <p:sldId id="298"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776B"/>
    <a:srgbClr val="E44C3C"/>
    <a:srgbClr val="BC291A"/>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50" autoAdjust="0"/>
    <p:restoredTop sz="95232" autoAdjust="0"/>
  </p:normalViewPr>
  <p:slideViewPr>
    <p:cSldViewPr snapToGrid="0">
      <p:cViewPr varScale="1">
        <p:scale>
          <a:sx n="40" d="100"/>
          <a:sy n="40" d="100"/>
        </p:scale>
        <p:origin x="816" y="48"/>
      </p:cViewPr>
      <p:guideLst/>
    </p:cSldViewPr>
  </p:slideViewPr>
  <p:notesTextViewPr>
    <p:cViewPr>
      <p:scale>
        <a:sx n="1" d="1"/>
        <a:sy n="1" d="1"/>
      </p:scale>
      <p:origin x="0" y="0"/>
    </p:cViewPr>
  </p:notesTextViewPr>
  <p:notesViewPr>
    <p:cSldViewPr snapToGrid="0">
      <p:cViewPr varScale="1">
        <p:scale>
          <a:sx n="50" d="100"/>
          <a:sy n="50" d="100"/>
        </p:scale>
        <p:origin x="2708"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4" name="PlaceHolder 1"/>
          <p:cNvSpPr>
            <a:spLocks noGrp="1" noRot="1" noChangeAspect="1"/>
          </p:cNvSpPr>
          <p:nvPr>
            <p:ph type="sldImg"/>
          </p:nvPr>
        </p:nvSpPr>
        <p:spPr>
          <a:xfrm>
            <a:off x="76680" y="726440"/>
            <a:ext cx="6704640" cy="3771360"/>
          </a:xfrm>
          <a:prstGeom prst="rect">
            <a:avLst/>
          </a:prstGeom>
        </p:spPr>
        <p:txBody>
          <a:bodyPr lIns="0" tIns="0" rIns="0" bIns="0" anchor="ctr"/>
          <a:lstStyle/>
          <a:p>
            <a:r>
              <a:rPr lang="en-US" sz="1800" b="0" strike="noStrike" spc="-1">
                <a:solidFill>
                  <a:srgbClr val="000000"/>
                </a:solidFill>
                <a:latin typeface="Arial"/>
              </a:rPr>
              <a:t>Click to move the slide</a:t>
            </a:r>
          </a:p>
        </p:txBody>
      </p:sp>
      <p:sp>
        <p:nvSpPr>
          <p:cNvPr id="215" name="PlaceHolder 2"/>
          <p:cNvSpPr>
            <a:spLocks noGrp="1"/>
          </p:cNvSpPr>
          <p:nvPr>
            <p:ph type="body"/>
          </p:nvPr>
        </p:nvSpPr>
        <p:spPr>
          <a:xfrm>
            <a:off x="777240" y="4777560"/>
            <a:ext cx="6217560" cy="4525920"/>
          </a:xfrm>
          <a:prstGeom prst="rect">
            <a:avLst/>
          </a:prstGeom>
        </p:spPr>
        <p:txBody>
          <a:bodyPr lIns="0" tIns="0" rIns="0" bIns="0"/>
          <a:lstStyle/>
          <a:p>
            <a:r>
              <a:rPr lang="en-US" sz="2000" b="0" strike="noStrike" spc="-1">
                <a:latin typeface="Arial"/>
              </a:rPr>
              <a:t>Click to edit the notes format</a:t>
            </a:r>
          </a:p>
        </p:txBody>
      </p:sp>
      <p:sp>
        <p:nvSpPr>
          <p:cNvPr id="216" name="PlaceHolder 3"/>
          <p:cNvSpPr>
            <a:spLocks noGrp="1"/>
          </p:cNvSpPr>
          <p:nvPr>
            <p:ph type="hdr"/>
          </p:nvPr>
        </p:nvSpPr>
        <p:spPr>
          <a:xfrm>
            <a:off x="0" y="0"/>
            <a:ext cx="3372840" cy="502560"/>
          </a:xfrm>
          <a:prstGeom prst="rect">
            <a:avLst/>
          </a:prstGeom>
        </p:spPr>
        <p:txBody>
          <a:bodyPr lIns="0" tIns="0" rIns="0" bIns="0"/>
          <a:lstStyle/>
          <a:p>
            <a:r>
              <a:rPr lang="en-US" sz="1400" b="0" strike="noStrike" spc="-1">
                <a:latin typeface="Times New Roman"/>
              </a:rPr>
              <a:t>&lt;header&gt;</a:t>
            </a:r>
          </a:p>
        </p:txBody>
      </p:sp>
      <p:sp>
        <p:nvSpPr>
          <p:cNvPr id="217" name="PlaceHolder 4"/>
          <p:cNvSpPr>
            <a:spLocks noGrp="1"/>
          </p:cNvSpPr>
          <p:nvPr>
            <p:ph type="dt"/>
          </p:nvPr>
        </p:nvSpPr>
        <p:spPr>
          <a:xfrm>
            <a:off x="4399200" y="0"/>
            <a:ext cx="3372840" cy="502560"/>
          </a:xfrm>
          <a:prstGeom prst="rect">
            <a:avLst/>
          </a:prstGeom>
        </p:spPr>
        <p:txBody>
          <a:bodyPr lIns="0" tIns="0" rIns="0" bIns="0"/>
          <a:lstStyle/>
          <a:p>
            <a:pPr algn="r"/>
            <a:r>
              <a:rPr lang="en-US" sz="1400" b="0" strike="noStrike" spc="-1">
                <a:latin typeface="Times New Roman"/>
              </a:rPr>
              <a:t>&lt;date/time&gt;</a:t>
            </a:r>
          </a:p>
        </p:txBody>
      </p:sp>
      <p:sp>
        <p:nvSpPr>
          <p:cNvPr id="218" name="PlaceHolder 5"/>
          <p:cNvSpPr>
            <a:spLocks noGrp="1"/>
          </p:cNvSpPr>
          <p:nvPr>
            <p:ph type="ftr"/>
          </p:nvPr>
        </p:nvSpPr>
        <p:spPr>
          <a:xfrm>
            <a:off x="0" y="9555480"/>
            <a:ext cx="3372840" cy="502560"/>
          </a:xfrm>
          <a:prstGeom prst="rect">
            <a:avLst/>
          </a:prstGeom>
        </p:spPr>
        <p:txBody>
          <a:bodyPr lIns="0" tIns="0" rIns="0" bIns="0" anchor="b"/>
          <a:lstStyle/>
          <a:p>
            <a:r>
              <a:rPr lang="en-US" sz="1400" b="0" strike="noStrike" spc="-1">
                <a:latin typeface="Times New Roman"/>
              </a:rPr>
              <a:t>&lt;footer&gt;</a:t>
            </a:r>
          </a:p>
        </p:txBody>
      </p:sp>
      <p:sp>
        <p:nvSpPr>
          <p:cNvPr id="219" name="PlaceHolder 6"/>
          <p:cNvSpPr>
            <a:spLocks noGrp="1"/>
          </p:cNvSpPr>
          <p:nvPr>
            <p:ph type="sldNum"/>
          </p:nvPr>
        </p:nvSpPr>
        <p:spPr>
          <a:xfrm>
            <a:off x="4399200" y="9555480"/>
            <a:ext cx="3372840" cy="502560"/>
          </a:xfrm>
          <a:prstGeom prst="rect">
            <a:avLst/>
          </a:prstGeom>
        </p:spPr>
        <p:txBody>
          <a:bodyPr lIns="0" tIns="0" rIns="0" bIns="0" anchor="b"/>
          <a:lstStyle/>
          <a:p>
            <a:pPr algn="r"/>
            <a:fld id="{1435F71D-641E-4ECC-830F-6558CD869574}" type="slidenum">
              <a:rPr lang="en-US" sz="1400" b="0" strike="noStrike" spc="-1">
                <a:latin typeface="Times New Roman"/>
              </a:rPr>
              <a:t>‹#›</a:t>
            </a:fld>
            <a:endParaRPr lang="en-US" sz="1400" b="0" strike="noStrike" spc="-1">
              <a:latin typeface="Times New Roman"/>
            </a:endParaRPr>
          </a:p>
        </p:txBody>
      </p:sp>
    </p:spTree>
    <p:extLst>
      <p:ext uri="{BB962C8B-B14F-4D97-AF65-F5344CB8AC3E}">
        <p14:creationId xmlns:p14="http://schemas.microsoft.com/office/powerpoint/2010/main" val="512153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a:xfrm>
            <a:off x="77788" y="727075"/>
            <a:ext cx="6702425" cy="3770313"/>
          </a:xfrm>
          <a:ln/>
        </p:spPr>
      </p:sp>
      <p:sp>
        <p:nvSpPr>
          <p:cNvPr id="39939" name="备注占位符 2"/>
          <p:cNvSpPr>
            <a:spLocks noGrp="1"/>
          </p:cNvSpPr>
          <p:nvPr>
            <p:ph type="body" idx="1"/>
          </p:nvPr>
        </p:nvSpPr>
        <p:spPr>
          <a:noFill/>
          <a:ln/>
        </p:spPr>
        <p:txBody>
          <a:bodyPr/>
          <a:lstStyle/>
          <a:p>
            <a:endParaRPr lang="zh-CN" altLang="en-US">
              <a:ea typeface="宋体" charset="-122"/>
            </a:endParaRPr>
          </a:p>
        </p:txBody>
      </p:sp>
      <p:sp>
        <p:nvSpPr>
          <p:cNvPr id="41988" name="灯片编号占位符 3"/>
          <p:cNvSpPr>
            <a:spLocks noGrp="1"/>
          </p:cNvSpPr>
          <p:nvPr>
            <p:ph type="sldNum" sz="quarter" idx="5"/>
          </p:nvPr>
        </p:nvSpPr>
        <p:spPr/>
        <p:txBody>
          <a:bodyPr/>
          <a:lstStyle/>
          <a:p>
            <a:pPr>
              <a:defRPr/>
            </a:pPr>
            <a:fld id="{050142D8-FA48-4E76-A3F8-0F207E60EAD5}" type="slidenum">
              <a:rPr lang="en-US" altLang="zh-CN" smtClean="0"/>
              <a:pPr>
                <a:defRPr/>
              </a:pPr>
              <a:t>2</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p:cNvSpPr>
            <a:spLocks noGrp="1" noRot="1" noChangeAspect="1" noTextEdit="1"/>
          </p:cNvSpPr>
          <p:nvPr>
            <p:ph type="sldImg"/>
          </p:nvPr>
        </p:nvSpPr>
        <p:spPr>
          <a:xfrm>
            <a:off x="77788" y="727075"/>
            <a:ext cx="6702425" cy="3770313"/>
          </a:xfrm>
          <a:ln/>
        </p:spPr>
      </p:sp>
      <p:sp>
        <p:nvSpPr>
          <p:cNvPr id="40963" name="备注占位符 2"/>
          <p:cNvSpPr>
            <a:spLocks noGrp="1"/>
          </p:cNvSpPr>
          <p:nvPr>
            <p:ph type="body" idx="1"/>
          </p:nvPr>
        </p:nvSpPr>
        <p:spPr>
          <a:noFill/>
          <a:ln/>
        </p:spPr>
        <p:txBody>
          <a:bodyPr/>
          <a:lstStyle/>
          <a:p>
            <a:pPr eaLnBrk="1" hangingPunct="1"/>
            <a:r>
              <a:rPr lang="zh-CN" altLang="en-US">
                <a:ea typeface="宋体" charset="-122"/>
              </a:rPr>
              <a:t>说明</a:t>
            </a:r>
            <a:r>
              <a:rPr lang="en-US" altLang="zh-CN">
                <a:ea typeface="宋体" charset="-122"/>
              </a:rPr>
              <a:t>TCP</a:t>
            </a:r>
            <a:r>
              <a:rPr lang="zh-CN" altLang="en-US">
                <a:ea typeface="宋体" charset="-122"/>
              </a:rPr>
              <a:t>提供全双工服务，即数据可在同一时间双向传输。</a:t>
            </a:r>
          </a:p>
          <a:p>
            <a:pPr eaLnBrk="1" hangingPunct="1"/>
            <a:r>
              <a:rPr lang="en-US" altLang="zh-CN">
                <a:ea typeface="宋体" charset="-122"/>
              </a:rPr>
              <a:t>TCP</a:t>
            </a:r>
            <a:r>
              <a:rPr lang="zh-CN" altLang="en-US">
                <a:ea typeface="宋体" charset="-122"/>
              </a:rPr>
              <a:t>的编号要重点讲解。</a:t>
            </a:r>
          </a:p>
          <a:p>
            <a:endParaRPr lang="zh-CN" altLang="en-US">
              <a:ea typeface="宋体" charset="-122"/>
            </a:endParaRPr>
          </a:p>
        </p:txBody>
      </p:sp>
      <p:sp>
        <p:nvSpPr>
          <p:cNvPr id="4" name="灯片编号占位符 3"/>
          <p:cNvSpPr>
            <a:spLocks noGrp="1"/>
          </p:cNvSpPr>
          <p:nvPr>
            <p:ph type="sldNum" sz="quarter" idx="5"/>
          </p:nvPr>
        </p:nvSpPr>
        <p:spPr/>
        <p:txBody>
          <a:bodyPr/>
          <a:lstStyle/>
          <a:p>
            <a:pPr>
              <a:defRPr/>
            </a:pPr>
            <a:fld id="{815D284E-E43F-4DDA-B788-393815AEFFBE}" type="slidenum">
              <a:rPr lang="zh-CN" altLang="en-US" smtClean="0"/>
              <a:pPr>
                <a:defRPr/>
              </a:pPr>
              <a:t>5</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a:xfrm>
            <a:off x="77788" y="727075"/>
            <a:ext cx="6702425" cy="3770313"/>
          </a:xfrm>
          <a:ln/>
        </p:spPr>
      </p:sp>
      <p:sp>
        <p:nvSpPr>
          <p:cNvPr id="41987" name="备注占位符 2"/>
          <p:cNvSpPr>
            <a:spLocks noGrp="1"/>
          </p:cNvSpPr>
          <p:nvPr>
            <p:ph type="body" idx="1"/>
          </p:nvPr>
        </p:nvSpPr>
        <p:spPr>
          <a:noFill/>
          <a:ln/>
        </p:spPr>
        <p:txBody>
          <a:bodyPr/>
          <a:lstStyle/>
          <a:p>
            <a:r>
              <a:rPr lang="zh-CN" altLang="en-US">
                <a:ea typeface="宋体" charset="-122"/>
              </a:rPr>
              <a:t>首先，从网络管理员的需求说起，网络管理员经常面临进退两难的困境，他们必须设法拒绝那些不希望的访问连接，同时又要允许正常的访问连接，引出访问控制列表的概念。此处需要指出应用访问控制列表也是一项网络安全措施，着重培养学员的安全意识。</a:t>
            </a:r>
            <a:endParaRPr lang="en-US" altLang="zh-CN">
              <a:ea typeface="宋体" charset="-122"/>
            </a:endParaRPr>
          </a:p>
          <a:p>
            <a:endParaRPr lang="en-US" altLang="zh-CN">
              <a:ea typeface="宋体" charset="-122"/>
            </a:endParaRPr>
          </a:p>
          <a:p>
            <a:r>
              <a:rPr lang="zh-CN" altLang="en-US">
                <a:ea typeface="宋体" charset="-122"/>
              </a:rPr>
              <a:t>重点是强调</a:t>
            </a:r>
            <a:r>
              <a:rPr lang="en-GB" altLang="zh-CN">
                <a:ea typeface="宋体" charset="-122"/>
              </a:rPr>
              <a:t>ACL</a:t>
            </a:r>
            <a:r>
              <a:rPr lang="zh-CN" altLang="en-US">
                <a:ea typeface="宋体" charset="-122"/>
              </a:rPr>
              <a:t>是一系列规则。</a:t>
            </a:r>
          </a:p>
          <a:p>
            <a:r>
              <a:rPr lang="zh-CN" altLang="en-US">
                <a:ea typeface="宋体" charset="-122"/>
              </a:rPr>
              <a:t>讲述访问控制列表的作用，指出访问控制列表的作用就是使用一系列规则来控制用户对于网络资源的访问。</a:t>
            </a:r>
          </a:p>
          <a:p>
            <a:endParaRPr lang="en-US" altLang="zh-CN">
              <a:ea typeface="宋体" charset="-122"/>
            </a:endParaRPr>
          </a:p>
          <a:p>
            <a:r>
              <a:rPr lang="zh-CN" altLang="en-US">
                <a:ea typeface="宋体" charset="-122"/>
              </a:rPr>
              <a:t>结合幻灯片中</a:t>
            </a:r>
            <a:r>
              <a:rPr lang="en-GB" altLang="zh-CN">
                <a:ea typeface="宋体" charset="-122"/>
              </a:rPr>
              <a:t>IP</a:t>
            </a:r>
            <a:r>
              <a:rPr lang="zh-CN" altLang="en-US">
                <a:ea typeface="宋体" charset="-122"/>
              </a:rPr>
              <a:t>数据包的组成，介绍访问控制列表（</a:t>
            </a:r>
            <a:r>
              <a:rPr lang="en-GB" altLang="zh-CN">
                <a:ea typeface="宋体" charset="-122"/>
              </a:rPr>
              <a:t>ACL</a:t>
            </a:r>
            <a:r>
              <a:rPr lang="zh-CN" altLang="en-US">
                <a:ea typeface="宋体" charset="-122"/>
              </a:rPr>
              <a:t>）实现的核心技术是包过滤。</a:t>
            </a:r>
            <a:r>
              <a:rPr lang="en-GB" altLang="zh-CN">
                <a:ea typeface="宋体" charset="-122"/>
              </a:rPr>
              <a:t>ACL</a:t>
            </a:r>
            <a:r>
              <a:rPr lang="zh-CN" altLang="en-US">
                <a:ea typeface="宋体" charset="-122"/>
              </a:rPr>
              <a:t>对流量进行归类，使不同流量类别对应不同的处理方式。路由器根据</a:t>
            </a:r>
            <a:r>
              <a:rPr lang="en-GB" altLang="zh-CN">
                <a:ea typeface="宋体" charset="-122"/>
              </a:rPr>
              <a:t>ACL</a:t>
            </a:r>
            <a:r>
              <a:rPr lang="zh-CN" altLang="en-US">
                <a:ea typeface="宋体" charset="-122"/>
              </a:rPr>
              <a:t>中指定的条件来检测通过路由器的数据包，从而决定转发还是丢弃该数据包。</a:t>
            </a:r>
            <a:endParaRPr lang="en-US" altLang="zh-CN">
              <a:ea typeface="宋体" charset="-122"/>
            </a:endParaRPr>
          </a:p>
          <a:p>
            <a:endParaRPr lang="en-US" altLang="zh-CN">
              <a:ea typeface="宋体" charset="-122"/>
            </a:endParaRPr>
          </a:p>
          <a:p>
            <a:r>
              <a:rPr lang="en-US" altLang="zh-CN">
                <a:ea typeface="宋体" charset="-122"/>
              </a:rPr>
              <a:t>ACL</a:t>
            </a:r>
            <a:r>
              <a:rPr lang="zh-CN" altLang="en-US">
                <a:ea typeface="宋体" charset="-122"/>
              </a:rPr>
              <a:t>使用源地址、目的地址、源端口号、目的端口号定义规则</a:t>
            </a:r>
          </a:p>
          <a:p>
            <a:endParaRPr lang="zh-CN" altLang="en-US">
              <a:ea typeface="宋体" charset="-122"/>
            </a:endParaRPr>
          </a:p>
        </p:txBody>
      </p:sp>
      <p:sp>
        <p:nvSpPr>
          <p:cNvPr id="4" name="灯片编号占位符 3"/>
          <p:cNvSpPr>
            <a:spLocks noGrp="1"/>
          </p:cNvSpPr>
          <p:nvPr>
            <p:ph type="sldNum" sz="quarter" idx="5"/>
          </p:nvPr>
        </p:nvSpPr>
        <p:spPr/>
        <p:txBody>
          <a:bodyPr/>
          <a:lstStyle/>
          <a:p>
            <a:pPr>
              <a:defRPr/>
            </a:pPr>
            <a:fld id="{88F49024-C86B-4024-B9A2-9C31D453A73D}" type="slidenum">
              <a:rPr lang="zh-CN" altLang="en-US" smtClean="0"/>
              <a:pPr>
                <a:defRPr/>
              </a:pPr>
              <a:t>13</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TextEdit="1"/>
          </p:cNvSpPr>
          <p:nvPr>
            <p:ph type="sldImg"/>
          </p:nvPr>
        </p:nvSpPr>
        <p:spPr>
          <a:xfrm>
            <a:off x="77788" y="727075"/>
            <a:ext cx="6702425" cy="3770313"/>
          </a:xfrm>
          <a:ln/>
        </p:spPr>
      </p:sp>
      <p:sp>
        <p:nvSpPr>
          <p:cNvPr id="3" name="备注占位符 2"/>
          <p:cNvSpPr>
            <a:spLocks noGrp="1"/>
          </p:cNvSpPr>
          <p:nvPr>
            <p:ph type="body" idx="1"/>
          </p:nvPr>
        </p:nvSpPr>
        <p:spPr/>
        <p:txBody>
          <a:bodyPr>
            <a:normAutofit/>
          </a:bodyPr>
          <a:lstStyle/>
          <a:p>
            <a:pPr>
              <a:buFont typeface="Wingdings" pitchFamily="2" charset="2"/>
              <a:buChar char="l"/>
              <a:defRPr/>
            </a:pPr>
            <a:r>
              <a:rPr lang="zh-CN" altLang="en-US" dirty="0"/>
              <a:t>说明从路由器的角度来看，数据包可以分为进入的和出去的数据包。明确在不同方向应用</a:t>
            </a:r>
            <a:r>
              <a:rPr lang="en-US" altLang="zh-CN" dirty="0"/>
              <a:t>ACL</a:t>
            </a:r>
            <a:r>
              <a:rPr lang="zh-CN" altLang="en-US" dirty="0"/>
              <a:t>时，是对哪部分数据流量进行过滤。</a:t>
            </a:r>
          </a:p>
          <a:p>
            <a:pPr>
              <a:buFont typeface="Wingdings" pitchFamily="2" charset="2"/>
              <a:buChar char="l"/>
              <a:defRPr/>
            </a:pPr>
            <a:r>
              <a:rPr lang="zh-CN" altLang="en-US" dirty="0"/>
              <a:t>首先说明，是否应用了访问控制列表，设备对数据包处理过程是不一样的。</a:t>
            </a:r>
          </a:p>
          <a:p>
            <a:pPr>
              <a:defRPr/>
            </a:pPr>
            <a:r>
              <a:rPr lang="en-US" altLang="zh-CN" dirty="0"/>
              <a:t>ACL</a:t>
            </a:r>
            <a:r>
              <a:rPr lang="zh-CN" altLang="en-US" dirty="0"/>
              <a:t>是一组判断语句的集合，具体对下列数据包进行检测并控制：从入站接口进入设备的数据包；从出站接口离开设备的数据包。</a:t>
            </a:r>
          </a:p>
          <a:p>
            <a:pPr>
              <a:defRPr/>
            </a:pPr>
            <a:r>
              <a:rPr lang="zh-CN" altLang="en-US" dirty="0"/>
              <a:t>设备会检查接口上是否应用了访问控制列表，从而进入不同的处理流程。如果接口应用了访问控制列表，则与该接口相关的一系列访问控制列表语句组合将进行检测。基于</a:t>
            </a:r>
            <a:r>
              <a:rPr lang="en-US" altLang="zh-CN" dirty="0"/>
              <a:t>ACL</a:t>
            </a:r>
            <a:r>
              <a:rPr lang="zh-CN" altLang="en-US" dirty="0"/>
              <a:t>的测试条件，数据包被允许或者被拒绝。教员结合幻灯片讲述</a:t>
            </a:r>
            <a:r>
              <a:rPr lang="en-US" altLang="zh-CN" dirty="0"/>
              <a:t>ACL</a:t>
            </a:r>
            <a:r>
              <a:rPr lang="zh-CN" altLang="en-US" dirty="0"/>
              <a:t>的处理过程，引导学员思考</a:t>
            </a:r>
            <a:r>
              <a:rPr lang="en-US" altLang="zh-CN" dirty="0"/>
              <a:t>ACL</a:t>
            </a:r>
            <a:r>
              <a:rPr lang="zh-CN" altLang="en-US" dirty="0"/>
              <a:t>语句顺序的重要性，可与学员讨论某些语句顺序颠倒之后，语句执行的效果。然后顺便介绍编辑访问控制列表语句的方法</a:t>
            </a:r>
          </a:p>
          <a:p>
            <a:pPr>
              <a:defRPr/>
            </a:pPr>
            <a:r>
              <a:rPr lang="zh-CN" altLang="en-US" b="1" dirty="0"/>
              <a:t>注意事项</a:t>
            </a:r>
            <a:endParaRPr lang="zh-CN" altLang="en-US" dirty="0"/>
          </a:p>
          <a:p>
            <a:pPr>
              <a:defRPr/>
            </a:pPr>
            <a:r>
              <a:rPr lang="zh-CN" altLang="en-US" dirty="0"/>
              <a:t>教员应当提醒学员注意以下几点：</a:t>
            </a:r>
          </a:p>
          <a:p>
            <a:pPr>
              <a:defRPr/>
            </a:pPr>
            <a:r>
              <a:rPr lang="en-US" altLang="zh-CN" dirty="0"/>
              <a:t>1</a:t>
            </a:r>
            <a:r>
              <a:rPr lang="zh-CN" altLang="en-US" dirty="0"/>
              <a:t>、访问控制列表对路由器本身产生的数据包不起作用</a:t>
            </a:r>
          </a:p>
          <a:p>
            <a:pPr>
              <a:defRPr/>
            </a:pPr>
            <a:r>
              <a:rPr lang="en-US" altLang="zh-CN" dirty="0"/>
              <a:t>2</a:t>
            </a:r>
            <a:r>
              <a:rPr lang="zh-CN" altLang="en-US" dirty="0"/>
              <a:t>、只有在数据包与第一个判断条件不匹配时，它才交给</a:t>
            </a:r>
            <a:r>
              <a:rPr lang="en-US" altLang="zh-CN" dirty="0"/>
              <a:t>ACL</a:t>
            </a:r>
            <a:r>
              <a:rPr lang="zh-CN" altLang="en-US" dirty="0"/>
              <a:t>中的下一个条件判断语句进行比较</a:t>
            </a:r>
          </a:p>
          <a:p>
            <a:pPr>
              <a:defRPr/>
            </a:pPr>
            <a:r>
              <a:rPr lang="en-US" altLang="zh-CN" dirty="0"/>
              <a:t>3</a:t>
            </a:r>
            <a:r>
              <a:rPr lang="zh-CN" altLang="en-US" dirty="0"/>
              <a:t>、在与某条语句匹配后，就结束比较过程，不再检查以后的其他条件判断语句</a:t>
            </a:r>
          </a:p>
          <a:p>
            <a:pPr>
              <a:defRPr/>
            </a:pPr>
            <a:r>
              <a:rPr lang="en-US" altLang="zh-CN" dirty="0"/>
              <a:t>4</a:t>
            </a:r>
            <a:r>
              <a:rPr lang="zh-CN" altLang="en-US" dirty="0"/>
              <a:t>、如果不与任一语句匹配，则它必与最后隐含的拒绝匹配</a:t>
            </a:r>
          </a:p>
          <a:p>
            <a:pPr>
              <a:defRPr/>
            </a:pPr>
            <a:r>
              <a:rPr lang="en-US" altLang="zh-CN" dirty="0"/>
              <a:t>5</a:t>
            </a:r>
            <a:r>
              <a:rPr lang="zh-CN" altLang="en-US" dirty="0"/>
              <a:t>、按照从具体到普遍的次序来排列条目</a:t>
            </a:r>
          </a:p>
          <a:p>
            <a:pPr>
              <a:defRPr/>
            </a:pPr>
            <a:r>
              <a:rPr lang="en-US" altLang="zh-CN" dirty="0"/>
              <a:t>6</a:t>
            </a:r>
            <a:r>
              <a:rPr lang="zh-CN" altLang="en-US" dirty="0"/>
              <a:t>、将较经常发生的条件放在较不经常发生的条件之前</a:t>
            </a:r>
          </a:p>
          <a:p>
            <a:pPr>
              <a:defRPr/>
            </a:pPr>
            <a:endParaRPr lang="zh-CN" altLang="en-US" dirty="0"/>
          </a:p>
        </p:txBody>
      </p:sp>
      <p:sp>
        <p:nvSpPr>
          <p:cNvPr id="4" name="灯片编号占位符 3"/>
          <p:cNvSpPr>
            <a:spLocks noGrp="1"/>
          </p:cNvSpPr>
          <p:nvPr>
            <p:ph type="sldNum" sz="quarter" idx="5"/>
          </p:nvPr>
        </p:nvSpPr>
        <p:spPr/>
        <p:txBody>
          <a:bodyPr/>
          <a:lstStyle/>
          <a:p>
            <a:pPr>
              <a:defRPr/>
            </a:pPr>
            <a:fld id="{DB480F06-FB18-470E-B729-60863E68D63B}" type="slidenum">
              <a:rPr lang="zh-CN" altLang="en-US" smtClean="0"/>
              <a:pPr>
                <a:defRPr/>
              </a:pPr>
              <a:t>14</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a:xfrm>
            <a:off x="77788" y="727075"/>
            <a:ext cx="6702425" cy="3770313"/>
          </a:xfrm>
          <a:ln/>
        </p:spPr>
      </p:sp>
      <p:sp>
        <p:nvSpPr>
          <p:cNvPr id="44035" name="备注占位符 2"/>
          <p:cNvSpPr>
            <a:spLocks noGrp="1"/>
          </p:cNvSpPr>
          <p:nvPr>
            <p:ph type="body" idx="1"/>
          </p:nvPr>
        </p:nvSpPr>
        <p:spPr>
          <a:noFill/>
          <a:ln/>
        </p:spPr>
        <p:txBody>
          <a:bodyPr/>
          <a:lstStyle/>
          <a:p>
            <a:endParaRPr lang="zh-CN" altLang="en-US">
              <a:ea typeface="宋体" charset="-122"/>
            </a:endParaRPr>
          </a:p>
        </p:txBody>
      </p:sp>
      <p:sp>
        <p:nvSpPr>
          <p:cNvPr id="4" name="灯片编号占位符 3"/>
          <p:cNvSpPr>
            <a:spLocks noGrp="1"/>
          </p:cNvSpPr>
          <p:nvPr>
            <p:ph type="sldNum" sz="quarter" idx="5"/>
          </p:nvPr>
        </p:nvSpPr>
        <p:spPr/>
        <p:txBody>
          <a:bodyPr/>
          <a:lstStyle/>
          <a:p>
            <a:pPr>
              <a:defRPr/>
            </a:pPr>
            <a:fld id="{480D5403-E68D-453F-9428-A9F529A74E11}" type="slidenum">
              <a:rPr lang="zh-CN" altLang="en-US" smtClean="0"/>
              <a:pPr>
                <a:defRPr/>
              </a:pPr>
              <a:t>15</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xfrm>
            <a:off x="77788" y="727075"/>
            <a:ext cx="6702425" cy="3770313"/>
          </a:xfrm>
          <a:ln/>
        </p:spPr>
      </p:sp>
      <p:sp>
        <p:nvSpPr>
          <p:cNvPr id="45059" name="备注占位符 2"/>
          <p:cNvSpPr>
            <a:spLocks noGrp="1"/>
          </p:cNvSpPr>
          <p:nvPr>
            <p:ph type="body" idx="1"/>
          </p:nvPr>
        </p:nvSpPr>
        <p:spPr>
          <a:noFill/>
          <a:ln/>
        </p:spPr>
        <p:txBody>
          <a:bodyPr/>
          <a:lstStyle/>
          <a:p>
            <a:endParaRPr lang="zh-CN" altLang="en-US">
              <a:ea typeface="宋体" charset="-122"/>
            </a:endParaRPr>
          </a:p>
        </p:txBody>
      </p:sp>
      <p:sp>
        <p:nvSpPr>
          <p:cNvPr id="41988" name="灯片编号占位符 3"/>
          <p:cNvSpPr>
            <a:spLocks noGrp="1"/>
          </p:cNvSpPr>
          <p:nvPr>
            <p:ph type="sldNum" sz="quarter" idx="5"/>
          </p:nvPr>
        </p:nvSpPr>
        <p:spPr/>
        <p:txBody>
          <a:bodyPr/>
          <a:lstStyle/>
          <a:p>
            <a:pPr>
              <a:defRPr/>
            </a:pPr>
            <a:fld id="{8AC8B485-94F4-49BE-9235-D2A6E7EEBA1F}" type="slidenum">
              <a:rPr lang="en-US" altLang="zh-CN" smtClean="0"/>
              <a:pPr>
                <a:defRPr/>
              </a:pPr>
              <a:t>21</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a:xfrm>
            <a:off x="77788" y="727075"/>
            <a:ext cx="6702425" cy="3770313"/>
          </a:xfrm>
          <a:ln/>
        </p:spPr>
      </p:sp>
      <p:sp>
        <p:nvSpPr>
          <p:cNvPr id="83971" name="备注占位符 2"/>
          <p:cNvSpPr>
            <a:spLocks noGrp="1"/>
          </p:cNvSpPr>
          <p:nvPr>
            <p:ph type="body" idx="1"/>
          </p:nvPr>
        </p:nvSpPr>
        <p:spPr>
          <a:noFill/>
          <a:ln/>
        </p:spPr>
        <p:txBody>
          <a:bodyPr/>
          <a:lstStyle/>
          <a:p>
            <a:r>
              <a:rPr lang="zh-CN" altLang="en-US" dirty="0">
                <a:ea typeface="宋体" charset="-122"/>
              </a:rPr>
              <a:t>教学指导：</a:t>
            </a:r>
            <a:endParaRPr lang="en-US" altLang="zh-CN" dirty="0">
              <a:ea typeface="宋体" charset="-122"/>
            </a:endParaRPr>
          </a:p>
          <a:p>
            <a:r>
              <a:rPr lang="zh-CN" altLang="en-US" dirty="0">
                <a:ea typeface="宋体" charset="-122"/>
              </a:rPr>
              <a:t>下次上课前的“课程回顾”即为本页</a:t>
            </a:r>
            <a:r>
              <a:rPr lang="en-US" altLang="zh-CN" dirty="0">
                <a:ea typeface="宋体" charset="-122"/>
              </a:rPr>
              <a:t>PPT</a:t>
            </a:r>
            <a:r>
              <a:rPr lang="zh-CN" altLang="en-US" dirty="0">
                <a:ea typeface="宋体" charset="-122"/>
              </a:rPr>
              <a:t>的考题，需要学员课下准备。</a:t>
            </a:r>
          </a:p>
        </p:txBody>
      </p:sp>
      <p:sp>
        <p:nvSpPr>
          <p:cNvPr id="83972" name="灯片编号占位符 3"/>
          <p:cNvSpPr>
            <a:spLocks noGrp="1"/>
          </p:cNvSpPr>
          <p:nvPr>
            <p:ph type="sldNum" sz="quarter" idx="5"/>
          </p:nvPr>
        </p:nvSpPr>
        <p:spPr>
          <a:noFill/>
        </p:spPr>
        <p:txBody>
          <a:bodyPr/>
          <a:lstStyle/>
          <a:p>
            <a:fld id="{DBAB8C08-6574-4C24-A643-CD987DBDC9C3}" type="slidenum">
              <a:rPr lang="zh-CN" altLang="en-US" smtClean="0">
                <a:ea typeface="宋体" charset="-122"/>
              </a:rPr>
              <a:pPr/>
              <a:t>23</a:t>
            </a:fld>
            <a:endParaRPr lang="en-US" altLang="zh-CN">
              <a:ea typeface="宋体"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p:txBody>
          <a:bodyPr/>
          <a:lstStyle/>
          <a:p>
            <a:pPr>
              <a:defRPr/>
            </a:pPr>
            <a:fld id="{56CC1869-4809-403A-9925-EAC157F1A00A}" type="slidenum">
              <a:rPr lang="en-US" altLang="zh-CN" smtClean="0"/>
              <a:pPr>
                <a:defRPr/>
              </a:pPr>
              <a:t>24</a:t>
            </a:fld>
            <a:endParaRPr lang="en-US" altLang="zh-CN"/>
          </a:p>
        </p:txBody>
      </p:sp>
      <p:sp>
        <p:nvSpPr>
          <p:cNvPr id="46083"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1E477BA6-F6A4-48AC-911D-D91BFC29F5A2}" type="slidenum">
              <a:rPr lang="en-US" altLang="zh-CN" sz="1200">
                <a:ea typeface="宋体" charset="-122"/>
              </a:rPr>
              <a:pPr algn="r"/>
              <a:t>24</a:t>
            </a:fld>
            <a:endParaRPr lang="en-US" altLang="zh-CN" sz="1200">
              <a:ea typeface="宋体" charset="-122"/>
            </a:endParaRPr>
          </a:p>
        </p:txBody>
      </p:sp>
      <p:sp>
        <p:nvSpPr>
          <p:cNvPr id="46084" name="Rectangle 2"/>
          <p:cNvSpPr>
            <a:spLocks noGrp="1" noRot="1" noChangeAspect="1" noChangeArrowheads="1" noTextEdit="1"/>
          </p:cNvSpPr>
          <p:nvPr>
            <p:ph type="sldImg"/>
          </p:nvPr>
        </p:nvSpPr>
        <p:spPr>
          <a:xfrm>
            <a:off x="77788" y="727075"/>
            <a:ext cx="6702425" cy="3770313"/>
          </a:xfrm>
          <a:ln/>
        </p:spPr>
      </p:sp>
      <p:sp>
        <p:nvSpPr>
          <p:cNvPr id="46085" name="Rectangle 3"/>
          <p:cNvSpPr>
            <a:spLocks noGrp="1" noChangeArrowheads="1"/>
          </p:cNvSpPr>
          <p:nvPr>
            <p:ph type="body" idx="1"/>
          </p:nvPr>
        </p:nvSpPr>
        <p:spPr>
          <a:noFill/>
          <a:ln/>
        </p:spPr>
        <p:txBody>
          <a:bodyPr/>
          <a:lstStyle/>
          <a:p>
            <a:pPr eaLnBrk="1" hangingPunct="1"/>
            <a:endParaRPr lang="en-US" altLang="zh-CN">
              <a:ea typeface="宋体"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33400" y="763588"/>
            <a:ext cx="6704013" cy="37719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p:nvPr>
        </p:nvSpPr>
        <p:spPr/>
        <p:txBody>
          <a:bodyPr/>
          <a:lstStyle/>
          <a:p>
            <a:pPr algn="r"/>
            <a:fld id="{1435F71D-641E-4ECC-830F-6558CD869574}" type="slidenum">
              <a:rPr lang="en-US" sz="1400" b="0" strike="noStrike" spc="-1" smtClean="0">
                <a:latin typeface="Times New Roman"/>
              </a:rPr>
              <a:t>29</a:t>
            </a:fld>
            <a:endParaRPr lang="en-US" sz="1400" b="0" strike="noStrike" spc="-1">
              <a:latin typeface="Times New Roman"/>
            </a:endParaRPr>
          </a:p>
        </p:txBody>
      </p:sp>
    </p:spTree>
    <p:extLst>
      <p:ext uri="{BB962C8B-B14F-4D97-AF65-F5344CB8AC3E}">
        <p14:creationId xmlns:p14="http://schemas.microsoft.com/office/powerpoint/2010/main" val="4272068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48"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50"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5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5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5"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5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5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5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6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6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63"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67"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69"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70"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7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7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7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75"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77"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78"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79"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80"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81"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82"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04AA452-31F6-42F1-88E2-2BEAFFB3D008}" type="datetimeFigureOut">
              <a:rPr lang="zh-CN" altLang="en-US" smtClean="0"/>
              <a:t>2021/10/14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D9A76C8-063D-4826-91C2-CB3A25A9B564}" type="slidenum">
              <a:rPr lang="zh-CN" altLang="en-US" smtClean="0"/>
              <a:t>‹#›</a:t>
            </a:fld>
            <a:endParaRPr lang="zh-CN" altLang="en-US"/>
          </a:p>
        </p:txBody>
      </p:sp>
    </p:spTree>
    <p:extLst>
      <p:ext uri="{BB962C8B-B14F-4D97-AF65-F5344CB8AC3E}">
        <p14:creationId xmlns:p14="http://schemas.microsoft.com/office/powerpoint/2010/main" val="2247613748"/>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CustomShape 1"/>
          <p:cNvSpPr/>
          <p:nvPr/>
        </p:nvSpPr>
        <p:spPr>
          <a:xfrm>
            <a:off x="2520" y="6760080"/>
            <a:ext cx="12186720" cy="121320"/>
          </a:xfrm>
          <a:prstGeom prst="rect">
            <a:avLst/>
          </a:prstGeom>
          <a:gradFill rotWithShape="0">
            <a:gsLst>
              <a:gs pos="0">
                <a:srgbClr val="007BF7"/>
              </a:gs>
              <a:gs pos="100000">
                <a:srgbClr val="0BB3E8"/>
              </a:gs>
            </a:gsLst>
            <a:lin ang="3600000"/>
          </a:gradFill>
          <a:ln w="12600">
            <a:noFill/>
          </a:ln>
        </p:spPr>
        <p:style>
          <a:lnRef idx="0">
            <a:scrgbClr r="0" g="0" b="0"/>
          </a:lnRef>
          <a:fillRef idx="0">
            <a:scrgbClr r="0" g="0" b="0"/>
          </a:fillRef>
          <a:effectRef idx="0">
            <a:scrgbClr r="0" g="0" b="0"/>
          </a:effectRef>
          <a:fontRef idx="minor"/>
        </p:style>
      </p:sp>
      <p:sp>
        <p:nvSpPr>
          <p:cNvPr id="43" name="CustomShape 2"/>
          <p:cNvSpPr/>
          <p:nvPr/>
        </p:nvSpPr>
        <p:spPr>
          <a:xfrm>
            <a:off x="334440" y="6515640"/>
            <a:ext cx="672840" cy="2041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nSpc>
                <a:spcPct val="100000"/>
              </a:lnSpc>
              <a:spcBef>
                <a:spcPts val="666"/>
              </a:spcBef>
            </a:pPr>
            <a:fld id="{BE2697B1-93DF-4FA3-9179-2157CC991DBC}" type="slidenum">
              <a:rPr lang="en-US" sz="1340" b="0" strike="noStrike" spc="-1">
                <a:solidFill>
                  <a:srgbClr val="5A5A5A"/>
                </a:solidFill>
                <a:latin typeface="Myriad Pro"/>
                <a:ea typeface="微软雅黑"/>
              </a:rPr>
              <a:t>‹#›</a:t>
            </a:fld>
            <a:endParaRPr lang="en-US" sz="1340" b="0" strike="noStrike" spc="-1">
              <a:latin typeface="Arial"/>
            </a:endParaRPr>
          </a:p>
        </p:txBody>
      </p:sp>
      <p:sp>
        <p:nvSpPr>
          <p:cNvPr id="44" name="CustomShape 3"/>
          <p:cNvSpPr/>
          <p:nvPr/>
        </p:nvSpPr>
        <p:spPr>
          <a:xfrm>
            <a:off x="0" y="165240"/>
            <a:ext cx="670680" cy="286920"/>
          </a:xfrm>
          <a:prstGeom prst="rect">
            <a:avLst/>
          </a:prstGeom>
          <a:solidFill>
            <a:schemeClr val="accent1">
              <a:lumMod val="75000"/>
            </a:schemeClr>
          </a:solidFill>
          <a:ln w="9360">
            <a:noFill/>
          </a:ln>
        </p:spPr>
        <p:style>
          <a:lnRef idx="0">
            <a:scrgbClr r="0" g="0" b="0"/>
          </a:lnRef>
          <a:fillRef idx="0">
            <a:scrgbClr r="0" g="0" b="0"/>
          </a:fillRef>
          <a:effectRef idx="0">
            <a:scrgbClr r="0" g="0" b="0"/>
          </a:effectRef>
          <a:fontRef idx="minor"/>
        </p:style>
      </p:sp>
      <p:sp>
        <p:nvSpPr>
          <p:cNvPr id="45" name="PlaceHolder 4"/>
          <p:cNvSpPr>
            <a:spLocks noGrp="1"/>
          </p:cNvSpPr>
          <p:nvPr>
            <p:ph type="title"/>
          </p:nvPr>
        </p:nvSpPr>
        <p:spPr>
          <a:xfrm>
            <a:off x="609480" y="273600"/>
            <a:ext cx="10972440" cy="1144800"/>
          </a:xfrm>
          <a:prstGeom prst="rect">
            <a:avLst/>
          </a:prstGeom>
        </p:spPr>
        <p:txBody>
          <a:bodyPr lIns="0" tIns="0" rIns="0" bIns="0" anchor="ctr"/>
          <a:lstStyle/>
          <a:p>
            <a:r>
              <a:rPr lang="en-US" sz="1800" b="0" strike="noStrike" spc="-1">
                <a:solidFill>
                  <a:srgbClr val="000000"/>
                </a:solidFill>
                <a:latin typeface="Arial"/>
              </a:rPr>
              <a:t>Click to edit the title text format</a:t>
            </a:r>
          </a:p>
        </p:txBody>
      </p:sp>
      <p:sp>
        <p:nvSpPr>
          <p:cNvPr id="46"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32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32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32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8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wmf"/><Relationship Id="rId1" Type="http://schemas.openxmlformats.org/officeDocument/2006/relationships/slideLayout" Target="../slideLayouts/slideLayout13.xml"/><Relationship Id="rId4" Type="http://schemas.openxmlformats.org/officeDocument/2006/relationships/image" Target="../media/image10.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p:cNvSpPr>
            <a:spLocks noGrp="1" noChangeArrowheads="1"/>
          </p:cNvSpPr>
          <p:nvPr>
            <p:ph idx="1"/>
          </p:nvPr>
        </p:nvSpPr>
        <p:spPr>
          <a:xfrm>
            <a:off x="1728687" y="1418400"/>
            <a:ext cx="8501062" cy="3043989"/>
          </a:xfrm>
        </p:spPr>
        <p:txBody>
          <a:bodyPr/>
          <a:lstStyle/>
          <a:p>
            <a:pPr>
              <a:spcBef>
                <a:spcPts val="675"/>
              </a:spcBef>
            </a:pPr>
            <a:r>
              <a:rPr lang="zh-CN" altLang="en-US" dirty="0"/>
              <a:t>理解</a:t>
            </a:r>
            <a:r>
              <a:rPr lang="en-US" altLang="zh-CN" dirty="0"/>
              <a:t>TCP</a:t>
            </a:r>
            <a:r>
              <a:rPr lang="zh-CN" altLang="en-US" dirty="0"/>
              <a:t>和</a:t>
            </a:r>
            <a:r>
              <a:rPr lang="en-US" altLang="zh-CN" dirty="0"/>
              <a:t>UDP</a:t>
            </a:r>
            <a:r>
              <a:rPr lang="zh-CN" altLang="en-US" dirty="0"/>
              <a:t>报文首部的格式</a:t>
            </a:r>
            <a:endParaRPr lang="zh-CN" altLang="en-US" i="1" dirty="0"/>
          </a:p>
          <a:p>
            <a:pPr>
              <a:spcBef>
                <a:spcPts val="475"/>
              </a:spcBef>
            </a:pPr>
            <a:r>
              <a:rPr lang="zh-CN" altLang="en-US" dirty="0"/>
              <a:t>理解</a:t>
            </a:r>
            <a:r>
              <a:rPr lang="en-US" altLang="zh-CN" dirty="0"/>
              <a:t>TCP</a:t>
            </a:r>
            <a:r>
              <a:rPr lang="zh-CN" altLang="en-US" dirty="0"/>
              <a:t>连接建立和终止的过程</a:t>
            </a:r>
            <a:endParaRPr lang="zh-CN" altLang="en-US" i="1" dirty="0"/>
          </a:p>
          <a:p>
            <a:pPr>
              <a:spcBef>
                <a:spcPts val="475"/>
              </a:spcBef>
            </a:pPr>
            <a:r>
              <a:rPr lang="zh-CN" altLang="en-US" dirty="0"/>
              <a:t>理解</a:t>
            </a:r>
            <a:r>
              <a:rPr lang="en-US" altLang="zh-CN" dirty="0"/>
              <a:t>ACL</a:t>
            </a:r>
            <a:r>
              <a:rPr lang="zh-CN" altLang="en-US" dirty="0"/>
              <a:t>的基本原理</a:t>
            </a:r>
            <a:endParaRPr lang="zh-CN" altLang="en-US" i="1" dirty="0"/>
          </a:p>
          <a:p>
            <a:pPr>
              <a:spcBef>
                <a:spcPts val="475"/>
              </a:spcBef>
            </a:pPr>
            <a:r>
              <a:rPr lang="zh-CN" altLang="en-US" dirty="0"/>
              <a:t>会配置标准</a:t>
            </a:r>
            <a:r>
              <a:rPr lang="en-US" altLang="zh-CN" dirty="0"/>
              <a:t>ACL</a:t>
            </a:r>
            <a:endParaRPr lang="zh-CN" altLang="en-US" i="1" dirty="0"/>
          </a:p>
        </p:txBody>
      </p:sp>
      <p:sp>
        <p:nvSpPr>
          <p:cNvPr id="9219" name="Rectangle 2"/>
          <p:cNvSpPr>
            <a:spLocks noGrp="1" noChangeArrowheads="1"/>
          </p:cNvSpPr>
          <p:nvPr>
            <p:ph type="title"/>
          </p:nvPr>
        </p:nvSpPr>
        <p:spPr/>
        <p:txBody>
          <a:bodyPr/>
          <a:lstStyle/>
          <a:p>
            <a:pPr eaLnBrk="1" hangingPunct="1"/>
            <a:r>
              <a:rPr lang="zh-CN" altLang="en-US" dirty="0"/>
              <a:t>目标</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Line 25"/>
          <p:cNvSpPr>
            <a:spLocks noChangeShapeType="1"/>
          </p:cNvSpPr>
          <p:nvPr/>
        </p:nvSpPr>
        <p:spPr bwMode="auto">
          <a:xfrm flipV="1">
            <a:off x="6680201" y="3706814"/>
            <a:ext cx="360363" cy="1587"/>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12294" name="Line 16"/>
          <p:cNvSpPr>
            <a:spLocks noChangeShapeType="1"/>
          </p:cNvSpPr>
          <p:nvPr/>
        </p:nvSpPr>
        <p:spPr bwMode="auto">
          <a:xfrm>
            <a:off x="6656389" y="1500188"/>
            <a:ext cx="358775" cy="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12296" name="Line 26"/>
          <p:cNvSpPr>
            <a:spLocks noChangeShapeType="1"/>
          </p:cNvSpPr>
          <p:nvPr/>
        </p:nvSpPr>
        <p:spPr bwMode="auto">
          <a:xfrm flipV="1">
            <a:off x="6678613" y="3140076"/>
            <a:ext cx="349250" cy="3175"/>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12298" name="Line 8"/>
          <p:cNvSpPr>
            <a:spLocks noChangeShapeType="1"/>
          </p:cNvSpPr>
          <p:nvPr/>
        </p:nvSpPr>
        <p:spPr bwMode="auto">
          <a:xfrm>
            <a:off x="4238626" y="3357563"/>
            <a:ext cx="2428875" cy="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12299" name="Line 10"/>
          <p:cNvSpPr>
            <a:spLocks noChangeShapeType="1"/>
          </p:cNvSpPr>
          <p:nvPr/>
        </p:nvSpPr>
        <p:spPr bwMode="auto">
          <a:xfrm>
            <a:off x="4227513" y="5143500"/>
            <a:ext cx="4392612" cy="46038"/>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12300" name="Line 10"/>
          <p:cNvSpPr>
            <a:spLocks noChangeShapeType="1"/>
          </p:cNvSpPr>
          <p:nvPr/>
        </p:nvSpPr>
        <p:spPr bwMode="auto">
          <a:xfrm>
            <a:off x="3806825" y="3632200"/>
            <a:ext cx="431800" cy="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10248" name="Rectangle 2"/>
          <p:cNvSpPr>
            <a:spLocks noGrp="1" noChangeArrowheads="1"/>
          </p:cNvSpPr>
          <p:nvPr>
            <p:ph type="title"/>
          </p:nvPr>
        </p:nvSpPr>
        <p:spPr/>
        <p:txBody>
          <a:bodyPr/>
          <a:lstStyle/>
          <a:p>
            <a:pPr eaLnBrk="1" hangingPunct="1"/>
            <a:r>
              <a:rPr lang="zh-CN" altLang="en-US"/>
              <a:t>本章结构</a:t>
            </a:r>
          </a:p>
        </p:txBody>
      </p:sp>
      <p:sp>
        <p:nvSpPr>
          <p:cNvPr id="12303" name="AutoShape 5"/>
          <p:cNvSpPr>
            <a:spLocks noChangeArrowheads="1"/>
          </p:cNvSpPr>
          <p:nvPr/>
        </p:nvSpPr>
        <p:spPr bwMode="auto">
          <a:xfrm>
            <a:off x="4492626" y="3197306"/>
            <a:ext cx="1971675" cy="374571"/>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000000"/>
                </a:solidFill>
                <a:latin typeface="Arial" pitchFamily="34" charset="0"/>
                <a:ea typeface="楷体_GB2312" pitchFamily="49" charset="-122"/>
              </a:rPr>
              <a:t>访问控制列表概述</a:t>
            </a:r>
          </a:p>
        </p:txBody>
      </p:sp>
      <p:sp>
        <p:nvSpPr>
          <p:cNvPr id="12307" name="Line 14"/>
          <p:cNvSpPr>
            <a:spLocks noChangeShapeType="1"/>
          </p:cNvSpPr>
          <p:nvPr/>
        </p:nvSpPr>
        <p:spPr bwMode="auto">
          <a:xfrm>
            <a:off x="6667500" y="1492250"/>
            <a:ext cx="0" cy="579438"/>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12308" name="AutoShape 18"/>
          <p:cNvSpPr>
            <a:spLocks noChangeArrowheads="1"/>
          </p:cNvSpPr>
          <p:nvPr/>
        </p:nvSpPr>
        <p:spPr bwMode="auto">
          <a:xfrm>
            <a:off x="7024694" y="2928935"/>
            <a:ext cx="2700338" cy="374571"/>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000000"/>
                </a:solidFill>
                <a:latin typeface="Arial" pitchFamily="34" charset="0"/>
                <a:ea typeface="楷体_GB2312" pitchFamily="49" charset="-122"/>
              </a:rPr>
              <a:t>访问控制列表的工作原理</a:t>
            </a:r>
          </a:p>
        </p:txBody>
      </p:sp>
      <p:sp>
        <p:nvSpPr>
          <p:cNvPr id="12310" name="AutoShape 28"/>
          <p:cNvSpPr>
            <a:spLocks noChangeArrowheads="1"/>
          </p:cNvSpPr>
          <p:nvPr/>
        </p:nvSpPr>
        <p:spPr bwMode="auto">
          <a:xfrm>
            <a:off x="7024694" y="3500439"/>
            <a:ext cx="2700338" cy="374571"/>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000000"/>
                </a:solidFill>
                <a:latin typeface="Arial" pitchFamily="34" charset="0"/>
                <a:ea typeface="楷体_GB2312" pitchFamily="49" charset="-122"/>
              </a:rPr>
              <a:t>访问控制列表的类型</a:t>
            </a:r>
          </a:p>
        </p:txBody>
      </p:sp>
      <p:sp>
        <p:nvSpPr>
          <p:cNvPr id="12311" name="AutoShape 4"/>
          <p:cNvSpPr>
            <a:spLocks noChangeArrowheads="1"/>
          </p:cNvSpPr>
          <p:nvPr/>
        </p:nvSpPr>
        <p:spPr bwMode="auto">
          <a:xfrm>
            <a:off x="1820848" y="3436738"/>
            <a:ext cx="2132012" cy="374571"/>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000000"/>
                </a:solidFill>
                <a:latin typeface="Arial" pitchFamily="34" charset="0"/>
                <a:ea typeface="楷体_GB2312" pitchFamily="49" charset="-122"/>
              </a:rPr>
              <a:t>访问控制列表（一）</a:t>
            </a:r>
          </a:p>
        </p:txBody>
      </p:sp>
      <p:sp>
        <p:nvSpPr>
          <p:cNvPr id="12314" name="Line 36"/>
          <p:cNvSpPr>
            <a:spLocks noChangeShapeType="1"/>
          </p:cNvSpPr>
          <p:nvPr/>
        </p:nvSpPr>
        <p:spPr bwMode="auto">
          <a:xfrm flipH="1">
            <a:off x="4238625" y="1714500"/>
            <a:ext cx="0" cy="342900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12315" name="Line 37"/>
          <p:cNvSpPr>
            <a:spLocks noChangeShapeType="1"/>
          </p:cNvSpPr>
          <p:nvPr/>
        </p:nvSpPr>
        <p:spPr bwMode="auto">
          <a:xfrm flipH="1">
            <a:off x="6667500" y="3143250"/>
            <a:ext cx="0" cy="57150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12316" name="Line 8"/>
          <p:cNvSpPr>
            <a:spLocks noChangeShapeType="1"/>
          </p:cNvSpPr>
          <p:nvPr/>
        </p:nvSpPr>
        <p:spPr bwMode="auto">
          <a:xfrm>
            <a:off x="4238626" y="1714488"/>
            <a:ext cx="2428875" cy="46038"/>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12317" name="AutoShape 11"/>
          <p:cNvSpPr>
            <a:spLocks noChangeArrowheads="1"/>
          </p:cNvSpPr>
          <p:nvPr/>
        </p:nvSpPr>
        <p:spPr bwMode="auto">
          <a:xfrm>
            <a:off x="6988175" y="1339918"/>
            <a:ext cx="2700338" cy="374571"/>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en-US" altLang="zh-CN" sz="1600" b="1" dirty="0">
                <a:solidFill>
                  <a:srgbClr val="FF0000"/>
                </a:solidFill>
                <a:latin typeface="Arial" pitchFamily="34" charset="0"/>
                <a:ea typeface="楷体_GB2312" pitchFamily="49" charset="-122"/>
              </a:rPr>
              <a:t>TCP</a:t>
            </a:r>
            <a:r>
              <a:rPr lang="zh-CN" altLang="en-US" sz="1600" b="1" dirty="0">
                <a:solidFill>
                  <a:srgbClr val="FF0000"/>
                </a:solidFill>
                <a:latin typeface="Arial" pitchFamily="34" charset="0"/>
                <a:ea typeface="楷体_GB2312" pitchFamily="49" charset="-122"/>
              </a:rPr>
              <a:t>协议</a:t>
            </a:r>
          </a:p>
        </p:txBody>
      </p:sp>
      <p:sp>
        <p:nvSpPr>
          <p:cNvPr id="12319" name="AutoShape 5"/>
          <p:cNvSpPr>
            <a:spLocks noChangeArrowheads="1"/>
          </p:cNvSpPr>
          <p:nvPr/>
        </p:nvSpPr>
        <p:spPr bwMode="auto">
          <a:xfrm>
            <a:off x="4485201" y="4786322"/>
            <a:ext cx="2000263" cy="646986"/>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FF0000"/>
                </a:solidFill>
                <a:latin typeface="Arial" pitchFamily="34" charset="0"/>
                <a:ea typeface="楷体_GB2312" pitchFamily="49" charset="-122"/>
              </a:rPr>
              <a:t>标准访问控制列表的配置</a:t>
            </a:r>
          </a:p>
        </p:txBody>
      </p:sp>
      <p:sp>
        <p:nvSpPr>
          <p:cNvPr id="12320" name="AutoShape 5"/>
          <p:cNvSpPr>
            <a:spLocks noChangeArrowheads="1"/>
          </p:cNvSpPr>
          <p:nvPr/>
        </p:nvSpPr>
        <p:spPr bwMode="auto">
          <a:xfrm>
            <a:off x="4481514" y="1554152"/>
            <a:ext cx="1971675" cy="374650"/>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en-US" altLang="zh-CN" sz="1600" b="1" dirty="0">
                <a:solidFill>
                  <a:srgbClr val="000000"/>
                </a:solidFill>
                <a:latin typeface="Arial" pitchFamily="34" charset="0"/>
                <a:ea typeface="楷体_GB2312" pitchFamily="49" charset="-122"/>
              </a:rPr>
              <a:t>TCP</a:t>
            </a:r>
            <a:r>
              <a:rPr lang="zh-CN" altLang="en-US" sz="1600" b="1" dirty="0">
                <a:solidFill>
                  <a:srgbClr val="000000"/>
                </a:solidFill>
                <a:latin typeface="Arial" pitchFamily="34" charset="0"/>
                <a:ea typeface="楷体_GB2312" pitchFamily="49" charset="-122"/>
              </a:rPr>
              <a:t>和</a:t>
            </a:r>
            <a:r>
              <a:rPr lang="en-US" altLang="zh-CN" sz="1600" b="1" dirty="0">
                <a:solidFill>
                  <a:srgbClr val="000000"/>
                </a:solidFill>
                <a:latin typeface="Arial" pitchFamily="34" charset="0"/>
                <a:ea typeface="楷体_GB2312" pitchFamily="49" charset="-122"/>
              </a:rPr>
              <a:t>UDP</a:t>
            </a:r>
            <a:r>
              <a:rPr lang="zh-CN" altLang="en-US" sz="1600" b="1" dirty="0">
                <a:solidFill>
                  <a:srgbClr val="000000"/>
                </a:solidFill>
                <a:latin typeface="Arial" pitchFamily="34" charset="0"/>
                <a:ea typeface="楷体_GB2312" pitchFamily="49" charset="-122"/>
              </a:rPr>
              <a:t>协议</a:t>
            </a:r>
          </a:p>
        </p:txBody>
      </p:sp>
      <p:sp>
        <p:nvSpPr>
          <p:cNvPr id="39" name="Line 25"/>
          <p:cNvSpPr>
            <a:spLocks noChangeShapeType="1"/>
          </p:cNvSpPr>
          <p:nvPr/>
        </p:nvSpPr>
        <p:spPr bwMode="auto">
          <a:xfrm flipV="1">
            <a:off x="6683376" y="5704615"/>
            <a:ext cx="360363" cy="1587"/>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40" name="Line 16"/>
          <p:cNvSpPr>
            <a:spLocks noChangeShapeType="1"/>
          </p:cNvSpPr>
          <p:nvPr/>
        </p:nvSpPr>
        <p:spPr bwMode="auto">
          <a:xfrm>
            <a:off x="6667501" y="4737100"/>
            <a:ext cx="360363" cy="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43" name="AutoShape 18"/>
          <p:cNvSpPr>
            <a:spLocks noChangeArrowheads="1"/>
          </p:cNvSpPr>
          <p:nvPr/>
        </p:nvSpPr>
        <p:spPr bwMode="auto">
          <a:xfrm>
            <a:off x="6992042" y="4557038"/>
            <a:ext cx="2700338" cy="374571"/>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FF0000"/>
                </a:solidFill>
                <a:latin typeface="Arial" pitchFamily="34" charset="0"/>
                <a:ea typeface="楷体_GB2312" pitchFamily="49" charset="-122"/>
              </a:rPr>
              <a:t>创建</a:t>
            </a:r>
            <a:r>
              <a:rPr lang="en-US" altLang="zh-CN" sz="1600" b="1" dirty="0">
                <a:solidFill>
                  <a:srgbClr val="FF0000"/>
                </a:solidFill>
                <a:latin typeface="Arial" pitchFamily="34" charset="0"/>
                <a:ea typeface="楷体_GB2312" pitchFamily="49" charset="-122"/>
              </a:rPr>
              <a:t>ACL</a:t>
            </a:r>
            <a:endParaRPr lang="zh-CN" altLang="en-US" sz="1600" b="1" dirty="0">
              <a:solidFill>
                <a:srgbClr val="FF0000"/>
              </a:solidFill>
              <a:latin typeface="Arial" pitchFamily="34" charset="0"/>
              <a:ea typeface="楷体_GB2312" pitchFamily="49" charset="-122"/>
            </a:endParaRPr>
          </a:p>
        </p:txBody>
      </p:sp>
      <p:sp>
        <p:nvSpPr>
          <p:cNvPr id="44" name="AutoShape 27"/>
          <p:cNvSpPr>
            <a:spLocks noChangeArrowheads="1"/>
          </p:cNvSpPr>
          <p:nvPr/>
        </p:nvSpPr>
        <p:spPr bwMode="auto">
          <a:xfrm>
            <a:off x="6996289" y="5501432"/>
            <a:ext cx="2675479" cy="374571"/>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000000"/>
                </a:solidFill>
                <a:latin typeface="Arial" pitchFamily="34" charset="0"/>
                <a:ea typeface="楷体_GB2312" pitchFamily="49" charset="-122"/>
              </a:rPr>
              <a:t>标准</a:t>
            </a:r>
            <a:r>
              <a:rPr lang="en-US" altLang="zh-CN" sz="1600" b="1" dirty="0">
                <a:solidFill>
                  <a:srgbClr val="000000"/>
                </a:solidFill>
                <a:latin typeface="Arial" pitchFamily="34" charset="0"/>
                <a:ea typeface="楷体_GB2312" pitchFamily="49" charset="-122"/>
              </a:rPr>
              <a:t>ACL</a:t>
            </a:r>
            <a:r>
              <a:rPr lang="zh-CN" altLang="en-US" sz="1600" b="1" dirty="0">
                <a:solidFill>
                  <a:srgbClr val="000000"/>
                </a:solidFill>
                <a:latin typeface="Arial" pitchFamily="34" charset="0"/>
                <a:ea typeface="楷体_GB2312" pitchFamily="49" charset="-122"/>
              </a:rPr>
              <a:t>的配置实例</a:t>
            </a:r>
          </a:p>
        </p:txBody>
      </p:sp>
      <p:sp>
        <p:nvSpPr>
          <p:cNvPr id="45" name="AutoShape 28"/>
          <p:cNvSpPr>
            <a:spLocks noChangeArrowheads="1"/>
          </p:cNvSpPr>
          <p:nvPr/>
        </p:nvSpPr>
        <p:spPr bwMode="auto">
          <a:xfrm>
            <a:off x="6992042" y="5025350"/>
            <a:ext cx="2700338" cy="374571"/>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FF0000"/>
                </a:solidFill>
                <a:latin typeface="Arial" pitchFamily="34" charset="0"/>
                <a:ea typeface="楷体_GB2312" pitchFamily="49" charset="-122"/>
              </a:rPr>
              <a:t>将</a:t>
            </a:r>
            <a:r>
              <a:rPr lang="en-US" altLang="zh-CN" sz="1600" b="1" dirty="0">
                <a:solidFill>
                  <a:srgbClr val="FF0000"/>
                </a:solidFill>
                <a:latin typeface="Arial" pitchFamily="34" charset="0"/>
                <a:ea typeface="楷体_GB2312" pitchFamily="49" charset="-122"/>
              </a:rPr>
              <a:t>ACL</a:t>
            </a:r>
            <a:r>
              <a:rPr lang="zh-CN" altLang="en-US" sz="1600" b="1" dirty="0">
                <a:solidFill>
                  <a:srgbClr val="FF0000"/>
                </a:solidFill>
                <a:latin typeface="Arial" pitchFamily="34" charset="0"/>
                <a:ea typeface="楷体_GB2312" pitchFamily="49" charset="-122"/>
              </a:rPr>
              <a:t>应用于接口</a:t>
            </a:r>
          </a:p>
        </p:txBody>
      </p:sp>
      <p:sp>
        <p:nvSpPr>
          <p:cNvPr id="36" name="Line 16"/>
          <p:cNvSpPr>
            <a:spLocks noChangeShapeType="1"/>
          </p:cNvSpPr>
          <p:nvPr/>
        </p:nvSpPr>
        <p:spPr bwMode="auto">
          <a:xfrm>
            <a:off x="6667501" y="2071688"/>
            <a:ext cx="358775" cy="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cxnSp>
        <p:nvCxnSpPr>
          <p:cNvPr id="38" name="直接连接符 37"/>
          <p:cNvCxnSpPr>
            <a:stCxn id="40" idx="0"/>
          </p:cNvCxnSpPr>
          <p:nvPr/>
        </p:nvCxnSpPr>
        <p:spPr bwMode="auto">
          <a:xfrm rot="5400000">
            <a:off x="6178550" y="5226050"/>
            <a:ext cx="977900" cy="0"/>
          </a:xfrm>
          <a:prstGeom prst="lin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cxnSp>
      <p:sp>
        <p:nvSpPr>
          <p:cNvPr id="12318" name="AutoShape 11"/>
          <p:cNvSpPr>
            <a:spLocks noChangeArrowheads="1"/>
          </p:cNvSpPr>
          <p:nvPr/>
        </p:nvSpPr>
        <p:spPr bwMode="auto">
          <a:xfrm>
            <a:off x="6988175" y="1911422"/>
            <a:ext cx="2700338" cy="374571"/>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en-US" altLang="zh-CN" sz="1600" b="1" dirty="0">
                <a:solidFill>
                  <a:srgbClr val="000000"/>
                </a:solidFill>
                <a:latin typeface="Arial" pitchFamily="34" charset="0"/>
                <a:ea typeface="楷体_GB2312" pitchFamily="49" charset="-122"/>
              </a:rPr>
              <a:t>UDP</a:t>
            </a:r>
            <a:r>
              <a:rPr lang="zh-CN" altLang="en-US" sz="1600" b="1" dirty="0">
                <a:solidFill>
                  <a:srgbClr val="000000"/>
                </a:solidFill>
                <a:latin typeface="Arial" pitchFamily="34" charset="0"/>
                <a:ea typeface="楷体_GB2312" pitchFamily="49" charset="-122"/>
              </a:rPr>
              <a:t>协议</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12311"/>
                                        </p:tgtEl>
                                        <p:attrNameLst>
                                          <p:attrName>style.visibility</p:attrName>
                                        </p:attrNameLst>
                                      </p:cBhvr>
                                      <p:to>
                                        <p:strVal val="visible"/>
                                      </p:to>
                                    </p:set>
                                    <p:animEffect transition="in" filter="randombar(vertical)">
                                      <p:cBhvr>
                                        <p:cTn id="7" dur="500"/>
                                        <p:tgtEl>
                                          <p:spTgt spid="12311"/>
                                        </p:tgtEl>
                                      </p:cBhvr>
                                    </p:animEffect>
                                  </p:childTnLst>
                                </p:cTn>
                              </p:par>
                            </p:childTnLst>
                          </p:cTn>
                        </p:par>
                        <p:par>
                          <p:cTn id="8" fill="hold">
                            <p:stCondLst>
                              <p:cond delay="500"/>
                            </p:stCondLst>
                            <p:childTnLst>
                              <p:par>
                                <p:cTn id="9" presetID="16" presetClass="entr" presetSubtype="26" fill="hold" grpId="0" nodeType="afterEffect">
                                  <p:stCondLst>
                                    <p:cond delay="0"/>
                                  </p:stCondLst>
                                  <p:childTnLst>
                                    <p:set>
                                      <p:cBhvr>
                                        <p:cTn id="10" dur="1" fill="hold">
                                          <p:stCondLst>
                                            <p:cond delay="0"/>
                                          </p:stCondLst>
                                        </p:cTn>
                                        <p:tgtEl>
                                          <p:spTgt spid="12320"/>
                                        </p:tgtEl>
                                        <p:attrNameLst>
                                          <p:attrName>style.visibility</p:attrName>
                                        </p:attrNameLst>
                                      </p:cBhvr>
                                      <p:to>
                                        <p:strVal val="visible"/>
                                      </p:to>
                                    </p:set>
                                    <p:animEffect transition="in" filter="barn(inHorizontal)">
                                      <p:cBhvr>
                                        <p:cTn id="11" dur="500"/>
                                        <p:tgtEl>
                                          <p:spTgt spid="12320"/>
                                        </p:tgtEl>
                                      </p:cBhvr>
                                    </p:animEffect>
                                  </p:childTnLst>
                                </p:cTn>
                              </p:par>
                              <p:par>
                                <p:cTn id="12" presetID="16" presetClass="entr" presetSubtype="26" fill="hold" grpId="0" nodeType="withEffect">
                                  <p:stCondLst>
                                    <p:cond delay="0"/>
                                  </p:stCondLst>
                                  <p:childTnLst>
                                    <p:set>
                                      <p:cBhvr>
                                        <p:cTn id="13" dur="1" fill="hold">
                                          <p:stCondLst>
                                            <p:cond delay="0"/>
                                          </p:stCondLst>
                                        </p:cTn>
                                        <p:tgtEl>
                                          <p:spTgt spid="12303"/>
                                        </p:tgtEl>
                                        <p:attrNameLst>
                                          <p:attrName>style.visibility</p:attrName>
                                        </p:attrNameLst>
                                      </p:cBhvr>
                                      <p:to>
                                        <p:strVal val="visible"/>
                                      </p:to>
                                    </p:set>
                                    <p:animEffect transition="in" filter="barn(inHorizontal)">
                                      <p:cBhvr>
                                        <p:cTn id="14" dur="500"/>
                                        <p:tgtEl>
                                          <p:spTgt spid="12303"/>
                                        </p:tgtEl>
                                      </p:cBhvr>
                                    </p:animEffect>
                                  </p:childTnLst>
                                </p:cTn>
                              </p:par>
                              <p:par>
                                <p:cTn id="15" presetID="16" presetClass="entr" presetSubtype="26" fill="hold" grpId="0" nodeType="withEffect">
                                  <p:stCondLst>
                                    <p:cond delay="0"/>
                                  </p:stCondLst>
                                  <p:childTnLst>
                                    <p:set>
                                      <p:cBhvr>
                                        <p:cTn id="16" dur="1" fill="hold">
                                          <p:stCondLst>
                                            <p:cond delay="0"/>
                                          </p:stCondLst>
                                        </p:cTn>
                                        <p:tgtEl>
                                          <p:spTgt spid="12319"/>
                                        </p:tgtEl>
                                        <p:attrNameLst>
                                          <p:attrName>style.visibility</p:attrName>
                                        </p:attrNameLst>
                                      </p:cBhvr>
                                      <p:to>
                                        <p:strVal val="visible"/>
                                      </p:to>
                                    </p:set>
                                    <p:animEffect transition="in" filter="barn(inHorizontal)">
                                      <p:cBhvr>
                                        <p:cTn id="17" dur="500"/>
                                        <p:tgtEl>
                                          <p:spTgt spid="12319"/>
                                        </p:tgtEl>
                                      </p:cBhvr>
                                    </p:animEffect>
                                  </p:childTnLst>
                                </p:cTn>
                              </p:par>
                            </p:childTnLst>
                          </p:cTn>
                        </p:par>
                        <p:par>
                          <p:cTn id="18" fill="hold">
                            <p:stCondLst>
                              <p:cond delay="1000"/>
                            </p:stCondLst>
                            <p:childTnLst>
                              <p:par>
                                <p:cTn id="19" presetID="8" presetClass="entr" presetSubtype="32" fill="hold" grpId="0" nodeType="afterEffect">
                                  <p:stCondLst>
                                    <p:cond delay="0"/>
                                  </p:stCondLst>
                                  <p:childTnLst>
                                    <p:set>
                                      <p:cBhvr>
                                        <p:cTn id="20" dur="1" fill="hold">
                                          <p:stCondLst>
                                            <p:cond delay="0"/>
                                          </p:stCondLst>
                                        </p:cTn>
                                        <p:tgtEl>
                                          <p:spTgt spid="12317"/>
                                        </p:tgtEl>
                                        <p:attrNameLst>
                                          <p:attrName>style.visibility</p:attrName>
                                        </p:attrNameLst>
                                      </p:cBhvr>
                                      <p:to>
                                        <p:strVal val="visible"/>
                                      </p:to>
                                    </p:set>
                                    <p:animEffect transition="in" filter="diamond(out)">
                                      <p:cBhvr>
                                        <p:cTn id="21" dur="500"/>
                                        <p:tgtEl>
                                          <p:spTgt spid="12317"/>
                                        </p:tgtEl>
                                      </p:cBhvr>
                                    </p:animEffect>
                                  </p:childTnLst>
                                </p:cTn>
                              </p:par>
                              <p:par>
                                <p:cTn id="22" presetID="8" presetClass="entr" presetSubtype="32" fill="hold" grpId="0" nodeType="withEffect">
                                  <p:stCondLst>
                                    <p:cond delay="0"/>
                                  </p:stCondLst>
                                  <p:childTnLst>
                                    <p:set>
                                      <p:cBhvr>
                                        <p:cTn id="23" dur="1" fill="hold">
                                          <p:stCondLst>
                                            <p:cond delay="0"/>
                                          </p:stCondLst>
                                        </p:cTn>
                                        <p:tgtEl>
                                          <p:spTgt spid="12318"/>
                                        </p:tgtEl>
                                        <p:attrNameLst>
                                          <p:attrName>style.visibility</p:attrName>
                                        </p:attrNameLst>
                                      </p:cBhvr>
                                      <p:to>
                                        <p:strVal val="visible"/>
                                      </p:to>
                                    </p:set>
                                    <p:animEffect transition="in" filter="diamond(out)">
                                      <p:cBhvr>
                                        <p:cTn id="24" dur="500"/>
                                        <p:tgtEl>
                                          <p:spTgt spid="12318"/>
                                        </p:tgtEl>
                                      </p:cBhvr>
                                    </p:animEffect>
                                  </p:childTnLst>
                                </p:cTn>
                              </p:par>
                              <p:par>
                                <p:cTn id="25" presetID="8" presetClass="entr" presetSubtype="32" fill="hold" grpId="0" nodeType="withEffect">
                                  <p:stCondLst>
                                    <p:cond delay="0"/>
                                  </p:stCondLst>
                                  <p:childTnLst>
                                    <p:set>
                                      <p:cBhvr>
                                        <p:cTn id="26" dur="1" fill="hold">
                                          <p:stCondLst>
                                            <p:cond delay="0"/>
                                          </p:stCondLst>
                                        </p:cTn>
                                        <p:tgtEl>
                                          <p:spTgt spid="12308"/>
                                        </p:tgtEl>
                                        <p:attrNameLst>
                                          <p:attrName>style.visibility</p:attrName>
                                        </p:attrNameLst>
                                      </p:cBhvr>
                                      <p:to>
                                        <p:strVal val="visible"/>
                                      </p:to>
                                    </p:set>
                                    <p:animEffect transition="in" filter="diamond(out)">
                                      <p:cBhvr>
                                        <p:cTn id="27" dur="500"/>
                                        <p:tgtEl>
                                          <p:spTgt spid="12308"/>
                                        </p:tgtEl>
                                      </p:cBhvr>
                                    </p:animEffect>
                                  </p:childTnLst>
                                </p:cTn>
                              </p:par>
                              <p:par>
                                <p:cTn id="28" presetID="8" presetClass="entr" presetSubtype="32" fill="hold" grpId="0" nodeType="withEffect">
                                  <p:stCondLst>
                                    <p:cond delay="0"/>
                                  </p:stCondLst>
                                  <p:childTnLst>
                                    <p:set>
                                      <p:cBhvr>
                                        <p:cTn id="29" dur="1" fill="hold">
                                          <p:stCondLst>
                                            <p:cond delay="0"/>
                                          </p:stCondLst>
                                        </p:cTn>
                                        <p:tgtEl>
                                          <p:spTgt spid="12310"/>
                                        </p:tgtEl>
                                        <p:attrNameLst>
                                          <p:attrName>style.visibility</p:attrName>
                                        </p:attrNameLst>
                                      </p:cBhvr>
                                      <p:to>
                                        <p:strVal val="visible"/>
                                      </p:to>
                                    </p:set>
                                    <p:animEffect transition="in" filter="diamond(out)">
                                      <p:cBhvr>
                                        <p:cTn id="30" dur="500"/>
                                        <p:tgtEl>
                                          <p:spTgt spid="12310"/>
                                        </p:tgtEl>
                                      </p:cBhvr>
                                    </p:animEffect>
                                  </p:childTnLst>
                                </p:cTn>
                              </p:par>
                              <p:par>
                                <p:cTn id="31" presetID="8" presetClass="entr" presetSubtype="32" fill="hold" grpId="0" nodeType="withEffect">
                                  <p:stCondLst>
                                    <p:cond delay="0"/>
                                  </p:stCondLst>
                                  <p:childTnLst>
                                    <p:set>
                                      <p:cBhvr>
                                        <p:cTn id="32" dur="1" fill="hold">
                                          <p:stCondLst>
                                            <p:cond delay="0"/>
                                          </p:stCondLst>
                                        </p:cTn>
                                        <p:tgtEl>
                                          <p:spTgt spid="43"/>
                                        </p:tgtEl>
                                        <p:attrNameLst>
                                          <p:attrName>style.visibility</p:attrName>
                                        </p:attrNameLst>
                                      </p:cBhvr>
                                      <p:to>
                                        <p:strVal val="visible"/>
                                      </p:to>
                                    </p:set>
                                    <p:animEffect transition="in" filter="diamond(out)">
                                      <p:cBhvr>
                                        <p:cTn id="33" dur="500"/>
                                        <p:tgtEl>
                                          <p:spTgt spid="43"/>
                                        </p:tgtEl>
                                      </p:cBhvr>
                                    </p:animEffect>
                                  </p:childTnLst>
                                </p:cTn>
                              </p:par>
                              <p:par>
                                <p:cTn id="34" presetID="8" presetClass="entr" presetSubtype="32" fill="hold" grpId="0" nodeType="withEffect">
                                  <p:stCondLst>
                                    <p:cond delay="0"/>
                                  </p:stCondLst>
                                  <p:childTnLst>
                                    <p:set>
                                      <p:cBhvr>
                                        <p:cTn id="35" dur="1" fill="hold">
                                          <p:stCondLst>
                                            <p:cond delay="0"/>
                                          </p:stCondLst>
                                        </p:cTn>
                                        <p:tgtEl>
                                          <p:spTgt spid="45"/>
                                        </p:tgtEl>
                                        <p:attrNameLst>
                                          <p:attrName>style.visibility</p:attrName>
                                        </p:attrNameLst>
                                      </p:cBhvr>
                                      <p:to>
                                        <p:strVal val="visible"/>
                                      </p:to>
                                    </p:set>
                                    <p:animEffect transition="in" filter="diamond(out)">
                                      <p:cBhvr>
                                        <p:cTn id="36" dur="500"/>
                                        <p:tgtEl>
                                          <p:spTgt spid="45"/>
                                        </p:tgtEl>
                                      </p:cBhvr>
                                    </p:animEffect>
                                  </p:childTnLst>
                                </p:cTn>
                              </p:par>
                              <p:par>
                                <p:cTn id="37" presetID="8" presetClass="entr" presetSubtype="32" fill="hold" grpId="0" nodeType="withEffect">
                                  <p:stCondLst>
                                    <p:cond delay="0"/>
                                  </p:stCondLst>
                                  <p:childTnLst>
                                    <p:set>
                                      <p:cBhvr>
                                        <p:cTn id="38" dur="1" fill="hold">
                                          <p:stCondLst>
                                            <p:cond delay="0"/>
                                          </p:stCondLst>
                                        </p:cTn>
                                        <p:tgtEl>
                                          <p:spTgt spid="44"/>
                                        </p:tgtEl>
                                        <p:attrNameLst>
                                          <p:attrName>style.visibility</p:attrName>
                                        </p:attrNameLst>
                                      </p:cBhvr>
                                      <p:to>
                                        <p:strVal val="visible"/>
                                      </p:to>
                                    </p:set>
                                    <p:animEffect transition="in" filter="diamond(out)">
                                      <p:cBhvr>
                                        <p:cTn id="39"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3" grpId="0" animBg="1"/>
      <p:bldP spid="12308" grpId="0" animBg="1"/>
      <p:bldP spid="12310" grpId="0" animBg="1"/>
      <p:bldP spid="12311" grpId="0" animBg="1"/>
      <p:bldP spid="12317" grpId="0" animBg="1"/>
      <p:bldP spid="12319" grpId="0" animBg="1"/>
      <p:bldP spid="12320" grpId="0" animBg="1"/>
      <p:bldP spid="43" grpId="0" animBg="1"/>
      <p:bldP spid="44" grpId="0" animBg="1"/>
      <p:bldP spid="45" grpId="0" animBg="1"/>
      <p:bldP spid="1231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矩形 22"/>
          <p:cNvSpPr>
            <a:spLocks noChangeArrowheads="1"/>
          </p:cNvSpPr>
          <p:nvPr/>
        </p:nvSpPr>
        <p:spPr bwMode="auto">
          <a:xfrm>
            <a:off x="7524751" y="4494490"/>
            <a:ext cx="2428875" cy="369332"/>
          </a:xfrm>
          <a:prstGeom prst="rect">
            <a:avLst/>
          </a:prstGeom>
          <a:solidFill>
            <a:srgbClr val="4BACC6">
              <a:alpha val="0"/>
            </a:srgbClr>
          </a:solidFill>
          <a:ln w="28575" algn="ctr">
            <a:solidFill>
              <a:schemeClr val="tx2"/>
            </a:solidFill>
            <a:round/>
            <a:headEnd/>
            <a:tailEnd/>
          </a:ln>
        </p:spPr>
        <p:txBody>
          <a:bodyPr anchor="ctr">
            <a:spAutoFit/>
          </a:bodyPr>
          <a:lstStyle/>
          <a:p>
            <a:pPr marL="95250" algn="ctr"/>
            <a:endParaRPr lang="zh-CN" altLang="en-US" b="1">
              <a:solidFill>
                <a:schemeClr val="tx2"/>
              </a:solidFill>
            </a:endParaRPr>
          </a:p>
        </p:txBody>
      </p:sp>
      <p:sp>
        <p:nvSpPr>
          <p:cNvPr id="11267" name="内容占位符 11"/>
          <p:cNvSpPr>
            <a:spLocks noGrp="1"/>
          </p:cNvSpPr>
          <p:nvPr>
            <p:ph idx="1"/>
          </p:nvPr>
        </p:nvSpPr>
        <p:spPr>
          <a:xfrm>
            <a:off x="1309689" y="1338542"/>
            <a:ext cx="8643937" cy="2090458"/>
          </a:xfrm>
        </p:spPr>
        <p:txBody>
          <a:bodyPr>
            <a:normAutofit/>
          </a:bodyPr>
          <a:lstStyle/>
          <a:p>
            <a:pPr>
              <a:spcBef>
                <a:spcPts val="675"/>
              </a:spcBef>
            </a:pPr>
            <a:r>
              <a:rPr lang="en-US" altLang="zh-CN" dirty="0"/>
              <a:t>TCP/IP</a:t>
            </a:r>
            <a:r>
              <a:rPr lang="zh-CN" altLang="en-US" dirty="0"/>
              <a:t>协议族的传输层协议主要有两个：</a:t>
            </a:r>
            <a:endParaRPr lang="en-US" altLang="zh-CN" dirty="0"/>
          </a:p>
          <a:p>
            <a:pPr lvl="1">
              <a:spcBef>
                <a:spcPts val="675"/>
              </a:spcBef>
            </a:pPr>
            <a:r>
              <a:rPr lang="en-US" altLang="zh-CN" dirty="0"/>
              <a:t>TCP</a:t>
            </a:r>
            <a:r>
              <a:rPr lang="zh-CN" altLang="en-US" dirty="0"/>
              <a:t>（</a:t>
            </a:r>
            <a:r>
              <a:rPr lang="en-US" altLang="zh-CN" dirty="0"/>
              <a:t>Transmission Control Protocol </a:t>
            </a:r>
            <a:r>
              <a:rPr lang="zh-CN" altLang="en-US" dirty="0"/>
              <a:t>）</a:t>
            </a:r>
            <a:endParaRPr lang="en-US" altLang="zh-CN" dirty="0"/>
          </a:p>
          <a:p>
            <a:pPr lvl="2">
              <a:spcBef>
                <a:spcPts val="675"/>
              </a:spcBef>
            </a:pPr>
            <a:r>
              <a:rPr lang="zh-CN" altLang="en-US" dirty="0"/>
              <a:t>传输控制协议</a:t>
            </a:r>
            <a:endParaRPr lang="en-US" altLang="zh-CN" dirty="0"/>
          </a:p>
          <a:p>
            <a:pPr lvl="1">
              <a:spcBef>
                <a:spcPts val="675"/>
              </a:spcBef>
            </a:pPr>
            <a:r>
              <a:rPr lang="en-US" altLang="zh-CN" dirty="0"/>
              <a:t>UDP</a:t>
            </a:r>
            <a:r>
              <a:rPr lang="zh-CN" altLang="en-US" dirty="0"/>
              <a:t>（</a:t>
            </a:r>
            <a:r>
              <a:rPr lang="en-US" altLang="zh-CN" dirty="0"/>
              <a:t>User Datagram Protocol </a:t>
            </a:r>
            <a:r>
              <a:rPr lang="zh-CN" altLang="en-US" dirty="0"/>
              <a:t>）</a:t>
            </a:r>
            <a:endParaRPr lang="en-US" altLang="zh-CN" dirty="0"/>
          </a:p>
          <a:p>
            <a:pPr lvl="2">
              <a:spcBef>
                <a:spcPts val="675"/>
              </a:spcBef>
            </a:pPr>
            <a:r>
              <a:rPr lang="zh-CN" altLang="en-US" dirty="0"/>
              <a:t>用户数据报协议</a:t>
            </a:r>
            <a:endParaRPr lang="en-US" altLang="zh-CN" dirty="0"/>
          </a:p>
        </p:txBody>
      </p:sp>
      <p:sp>
        <p:nvSpPr>
          <p:cNvPr id="11268" name="标题 12"/>
          <p:cNvSpPr>
            <a:spLocks noGrp="1"/>
          </p:cNvSpPr>
          <p:nvPr>
            <p:ph type="title"/>
          </p:nvPr>
        </p:nvSpPr>
        <p:spPr/>
        <p:txBody>
          <a:bodyPr/>
          <a:lstStyle/>
          <a:p>
            <a:r>
              <a:rPr lang="zh-CN" altLang="zh-CN"/>
              <a:t>TCP</a:t>
            </a:r>
            <a:r>
              <a:rPr lang="zh-CN" altLang="en-US"/>
              <a:t>和</a:t>
            </a:r>
            <a:r>
              <a:rPr lang="zh-CN" altLang="zh-CN"/>
              <a:t>UDP</a:t>
            </a:r>
            <a:r>
              <a:rPr lang="zh-CN" altLang="en-US"/>
              <a:t>协议</a:t>
            </a:r>
          </a:p>
        </p:txBody>
      </p:sp>
      <p:sp>
        <p:nvSpPr>
          <p:cNvPr id="11269" name="矩形 3"/>
          <p:cNvSpPr>
            <a:spLocks noChangeArrowheads="1"/>
          </p:cNvSpPr>
          <p:nvPr/>
        </p:nvSpPr>
        <p:spPr bwMode="auto">
          <a:xfrm>
            <a:off x="7810501" y="5143500"/>
            <a:ext cx="1857375" cy="369888"/>
          </a:xfrm>
          <a:prstGeom prst="rect">
            <a:avLst/>
          </a:prstGeom>
          <a:gradFill rotWithShape="1">
            <a:gsLst>
              <a:gs pos="0">
                <a:srgbClr val="CCFFFF"/>
              </a:gs>
              <a:gs pos="100000">
                <a:srgbClr val="FFFFFF"/>
              </a:gs>
            </a:gsLst>
            <a:lin ang="5400000" scaled="1"/>
          </a:gradFill>
          <a:ln w="9525" algn="ctr">
            <a:solidFill>
              <a:srgbClr val="008080"/>
            </a:solidFill>
            <a:round/>
            <a:headEnd/>
            <a:tailEnd/>
          </a:ln>
        </p:spPr>
        <p:txBody>
          <a:bodyPr anchor="ctr">
            <a:spAutoFit/>
          </a:bodyPr>
          <a:lstStyle/>
          <a:p>
            <a:pPr marL="95250" algn="ctr"/>
            <a:endParaRPr lang="zh-CN" altLang="en-US" b="1">
              <a:solidFill>
                <a:schemeClr val="tx2"/>
              </a:solidFill>
            </a:endParaRPr>
          </a:p>
        </p:txBody>
      </p:sp>
      <p:sp>
        <p:nvSpPr>
          <p:cNvPr id="11270" name="矩形 4"/>
          <p:cNvSpPr>
            <a:spLocks noChangeArrowheads="1"/>
          </p:cNvSpPr>
          <p:nvPr/>
        </p:nvSpPr>
        <p:spPr bwMode="auto">
          <a:xfrm>
            <a:off x="7810501" y="4643439"/>
            <a:ext cx="1857375" cy="369887"/>
          </a:xfrm>
          <a:prstGeom prst="rect">
            <a:avLst/>
          </a:prstGeom>
          <a:gradFill rotWithShape="1">
            <a:gsLst>
              <a:gs pos="0">
                <a:srgbClr val="CCFFFF"/>
              </a:gs>
              <a:gs pos="100000">
                <a:srgbClr val="FFFFFF"/>
              </a:gs>
            </a:gsLst>
            <a:lin ang="5400000" scaled="1"/>
          </a:gradFill>
          <a:ln w="9525" algn="ctr">
            <a:solidFill>
              <a:srgbClr val="008080"/>
            </a:solidFill>
            <a:round/>
            <a:headEnd/>
            <a:tailEnd/>
          </a:ln>
        </p:spPr>
        <p:txBody>
          <a:bodyPr anchor="ctr">
            <a:spAutoFit/>
          </a:bodyPr>
          <a:lstStyle/>
          <a:p>
            <a:pPr marL="95250" algn="ctr"/>
            <a:endParaRPr lang="zh-CN" altLang="en-US" b="1">
              <a:solidFill>
                <a:schemeClr val="tx2"/>
              </a:solidFill>
            </a:endParaRPr>
          </a:p>
        </p:txBody>
      </p:sp>
      <p:sp>
        <p:nvSpPr>
          <p:cNvPr id="11271" name="矩形 5"/>
          <p:cNvSpPr>
            <a:spLocks noChangeArrowheads="1"/>
          </p:cNvSpPr>
          <p:nvPr/>
        </p:nvSpPr>
        <p:spPr bwMode="auto">
          <a:xfrm>
            <a:off x="7810501" y="4143375"/>
            <a:ext cx="1857375" cy="369888"/>
          </a:xfrm>
          <a:prstGeom prst="rect">
            <a:avLst/>
          </a:prstGeom>
          <a:gradFill rotWithShape="1">
            <a:gsLst>
              <a:gs pos="0">
                <a:srgbClr val="CCFFFF"/>
              </a:gs>
              <a:gs pos="100000">
                <a:srgbClr val="FFFFFF"/>
              </a:gs>
            </a:gsLst>
            <a:lin ang="5400000" scaled="1"/>
          </a:gradFill>
          <a:ln w="9525" algn="ctr">
            <a:solidFill>
              <a:srgbClr val="008080"/>
            </a:solidFill>
            <a:round/>
            <a:headEnd/>
            <a:tailEnd/>
          </a:ln>
        </p:spPr>
        <p:txBody>
          <a:bodyPr anchor="ctr">
            <a:spAutoFit/>
          </a:bodyPr>
          <a:lstStyle/>
          <a:p>
            <a:pPr marL="95250" algn="ctr"/>
            <a:endParaRPr lang="zh-CN" altLang="en-US" b="1">
              <a:solidFill>
                <a:schemeClr val="tx2"/>
              </a:solidFill>
            </a:endParaRPr>
          </a:p>
        </p:txBody>
      </p:sp>
      <p:sp>
        <p:nvSpPr>
          <p:cNvPr id="11272" name="矩形 6"/>
          <p:cNvSpPr>
            <a:spLocks noChangeArrowheads="1"/>
          </p:cNvSpPr>
          <p:nvPr/>
        </p:nvSpPr>
        <p:spPr bwMode="auto">
          <a:xfrm>
            <a:off x="7810501" y="3643314"/>
            <a:ext cx="1857375" cy="369887"/>
          </a:xfrm>
          <a:prstGeom prst="rect">
            <a:avLst/>
          </a:prstGeom>
          <a:gradFill rotWithShape="1">
            <a:gsLst>
              <a:gs pos="0">
                <a:srgbClr val="CCFFFF"/>
              </a:gs>
              <a:gs pos="100000">
                <a:srgbClr val="FFFFFF"/>
              </a:gs>
            </a:gsLst>
            <a:lin ang="5400000" scaled="1"/>
          </a:gradFill>
          <a:ln w="9525" algn="ctr">
            <a:solidFill>
              <a:srgbClr val="008080"/>
            </a:solidFill>
            <a:round/>
            <a:headEnd/>
            <a:tailEnd/>
          </a:ln>
        </p:spPr>
        <p:txBody>
          <a:bodyPr anchor="ctr">
            <a:spAutoFit/>
          </a:bodyPr>
          <a:lstStyle/>
          <a:p>
            <a:pPr marL="95250" algn="ctr"/>
            <a:endParaRPr lang="zh-CN" altLang="en-US" b="1">
              <a:solidFill>
                <a:schemeClr val="tx2"/>
              </a:solidFill>
            </a:endParaRPr>
          </a:p>
        </p:txBody>
      </p:sp>
      <p:sp>
        <p:nvSpPr>
          <p:cNvPr id="11273" name="TextBox 7"/>
          <p:cNvSpPr txBox="1">
            <a:spLocks noChangeArrowheads="1"/>
          </p:cNvSpPr>
          <p:nvPr/>
        </p:nvSpPr>
        <p:spPr bwMode="auto">
          <a:xfrm>
            <a:off x="8024813" y="5143500"/>
            <a:ext cx="1357312" cy="369888"/>
          </a:xfrm>
          <a:prstGeom prst="rect">
            <a:avLst/>
          </a:prstGeom>
          <a:noFill/>
          <a:ln w="9525">
            <a:noFill/>
            <a:miter lim="800000"/>
            <a:headEnd/>
            <a:tailEnd/>
          </a:ln>
        </p:spPr>
        <p:txBody>
          <a:bodyPr>
            <a:spAutoFit/>
          </a:bodyPr>
          <a:lstStyle/>
          <a:p>
            <a:r>
              <a:rPr lang="zh-CN" altLang="en-US" b="1">
                <a:solidFill>
                  <a:schemeClr val="tx2"/>
                </a:solidFill>
              </a:rPr>
              <a:t>数据链路层</a:t>
            </a:r>
          </a:p>
        </p:txBody>
      </p:sp>
      <p:sp>
        <p:nvSpPr>
          <p:cNvPr id="11274" name="TextBox 8"/>
          <p:cNvSpPr txBox="1">
            <a:spLocks noChangeArrowheads="1"/>
          </p:cNvSpPr>
          <p:nvPr/>
        </p:nvSpPr>
        <p:spPr bwMode="auto">
          <a:xfrm>
            <a:off x="8239126" y="4643439"/>
            <a:ext cx="1071563" cy="369887"/>
          </a:xfrm>
          <a:prstGeom prst="rect">
            <a:avLst/>
          </a:prstGeom>
          <a:noFill/>
          <a:ln w="9525">
            <a:noFill/>
            <a:miter lim="800000"/>
            <a:headEnd/>
            <a:tailEnd/>
          </a:ln>
        </p:spPr>
        <p:txBody>
          <a:bodyPr>
            <a:spAutoFit/>
          </a:bodyPr>
          <a:lstStyle/>
          <a:p>
            <a:r>
              <a:rPr lang="zh-CN" altLang="en-US" b="1">
                <a:solidFill>
                  <a:schemeClr val="tx2"/>
                </a:solidFill>
              </a:rPr>
              <a:t>网络层</a:t>
            </a:r>
          </a:p>
        </p:txBody>
      </p:sp>
      <p:sp>
        <p:nvSpPr>
          <p:cNvPr id="11275" name="TextBox 9"/>
          <p:cNvSpPr txBox="1">
            <a:spLocks noChangeArrowheads="1"/>
          </p:cNvSpPr>
          <p:nvPr/>
        </p:nvSpPr>
        <p:spPr bwMode="auto">
          <a:xfrm>
            <a:off x="8239126" y="4143375"/>
            <a:ext cx="1071563" cy="369888"/>
          </a:xfrm>
          <a:prstGeom prst="rect">
            <a:avLst/>
          </a:prstGeom>
          <a:noFill/>
          <a:ln w="9525">
            <a:noFill/>
            <a:miter lim="800000"/>
            <a:headEnd/>
            <a:tailEnd/>
          </a:ln>
        </p:spPr>
        <p:txBody>
          <a:bodyPr>
            <a:spAutoFit/>
          </a:bodyPr>
          <a:lstStyle/>
          <a:p>
            <a:r>
              <a:rPr lang="zh-CN" altLang="en-US" b="1">
                <a:solidFill>
                  <a:schemeClr val="tx2"/>
                </a:solidFill>
              </a:rPr>
              <a:t>传输层</a:t>
            </a:r>
          </a:p>
        </p:txBody>
      </p:sp>
      <p:sp>
        <p:nvSpPr>
          <p:cNvPr id="11276" name="TextBox 10"/>
          <p:cNvSpPr txBox="1">
            <a:spLocks noChangeArrowheads="1"/>
          </p:cNvSpPr>
          <p:nvPr/>
        </p:nvSpPr>
        <p:spPr bwMode="auto">
          <a:xfrm>
            <a:off x="8239126" y="3643314"/>
            <a:ext cx="1071563" cy="369887"/>
          </a:xfrm>
          <a:prstGeom prst="rect">
            <a:avLst/>
          </a:prstGeom>
          <a:noFill/>
          <a:ln w="9525">
            <a:noFill/>
            <a:miter lim="800000"/>
            <a:headEnd/>
            <a:tailEnd/>
          </a:ln>
        </p:spPr>
        <p:txBody>
          <a:bodyPr>
            <a:spAutoFit/>
          </a:bodyPr>
          <a:lstStyle/>
          <a:p>
            <a:r>
              <a:rPr lang="zh-CN" altLang="en-US" b="1">
                <a:solidFill>
                  <a:schemeClr val="tx2"/>
                </a:solidFill>
              </a:rPr>
              <a:t>应用层</a:t>
            </a:r>
          </a:p>
        </p:txBody>
      </p:sp>
      <p:sp>
        <p:nvSpPr>
          <p:cNvPr id="11277" name="矩形 11"/>
          <p:cNvSpPr>
            <a:spLocks noChangeArrowheads="1"/>
          </p:cNvSpPr>
          <p:nvPr/>
        </p:nvSpPr>
        <p:spPr bwMode="auto">
          <a:xfrm>
            <a:off x="7810501" y="5630864"/>
            <a:ext cx="1857375" cy="369887"/>
          </a:xfrm>
          <a:prstGeom prst="rect">
            <a:avLst/>
          </a:prstGeom>
          <a:gradFill rotWithShape="1">
            <a:gsLst>
              <a:gs pos="0">
                <a:srgbClr val="CCFFFF"/>
              </a:gs>
              <a:gs pos="100000">
                <a:srgbClr val="FFFFFF"/>
              </a:gs>
            </a:gsLst>
            <a:lin ang="5400000" scaled="1"/>
          </a:gradFill>
          <a:ln w="9525" algn="ctr">
            <a:solidFill>
              <a:srgbClr val="008080"/>
            </a:solidFill>
            <a:round/>
            <a:headEnd/>
            <a:tailEnd/>
          </a:ln>
        </p:spPr>
        <p:txBody>
          <a:bodyPr anchor="ctr">
            <a:spAutoFit/>
          </a:bodyPr>
          <a:lstStyle/>
          <a:p>
            <a:pPr marL="95250" algn="ctr"/>
            <a:endParaRPr lang="zh-CN" altLang="en-US" b="1">
              <a:solidFill>
                <a:schemeClr val="tx2"/>
              </a:solidFill>
            </a:endParaRPr>
          </a:p>
        </p:txBody>
      </p:sp>
      <p:sp>
        <p:nvSpPr>
          <p:cNvPr id="11278" name="TextBox 12"/>
          <p:cNvSpPr txBox="1">
            <a:spLocks noChangeArrowheads="1"/>
          </p:cNvSpPr>
          <p:nvPr/>
        </p:nvSpPr>
        <p:spPr bwMode="auto">
          <a:xfrm>
            <a:off x="8024813" y="5630864"/>
            <a:ext cx="1357312" cy="369887"/>
          </a:xfrm>
          <a:prstGeom prst="rect">
            <a:avLst/>
          </a:prstGeom>
          <a:noFill/>
          <a:ln w="9525">
            <a:noFill/>
            <a:miter lim="800000"/>
            <a:headEnd/>
            <a:tailEnd/>
          </a:ln>
        </p:spPr>
        <p:txBody>
          <a:bodyPr>
            <a:spAutoFit/>
          </a:bodyPr>
          <a:lstStyle/>
          <a:p>
            <a:pPr algn="ctr"/>
            <a:r>
              <a:rPr lang="zh-CN" altLang="en-US" b="1">
                <a:solidFill>
                  <a:schemeClr val="tx2"/>
                </a:solidFill>
              </a:rPr>
              <a:t>物理层</a:t>
            </a:r>
          </a:p>
        </p:txBody>
      </p:sp>
      <p:sp>
        <p:nvSpPr>
          <p:cNvPr id="11279" name="矩形 19"/>
          <p:cNvSpPr>
            <a:spLocks noChangeArrowheads="1"/>
          </p:cNvSpPr>
          <p:nvPr/>
        </p:nvSpPr>
        <p:spPr bwMode="auto">
          <a:xfrm>
            <a:off x="5934076" y="4000500"/>
            <a:ext cx="1071563" cy="369888"/>
          </a:xfrm>
          <a:prstGeom prst="rect">
            <a:avLst/>
          </a:prstGeom>
          <a:gradFill rotWithShape="1">
            <a:gsLst>
              <a:gs pos="0">
                <a:srgbClr val="92D050"/>
              </a:gs>
              <a:gs pos="100000">
                <a:srgbClr val="FFFFFF"/>
              </a:gs>
            </a:gsLst>
            <a:lin ang="5400000" scaled="1"/>
          </a:gradFill>
          <a:ln w="9525" algn="ctr">
            <a:solidFill>
              <a:srgbClr val="008080"/>
            </a:solidFill>
            <a:round/>
            <a:headEnd/>
            <a:tailEnd/>
          </a:ln>
        </p:spPr>
        <p:txBody>
          <a:bodyPr anchor="ctr">
            <a:spAutoFit/>
          </a:bodyPr>
          <a:lstStyle/>
          <a:p>
            <a:pPr marL="95250" algn="ctr"/>
            <a:r>
              <a:rPr lang="en-US" altLang="zh-CN" b="1">
                <a:solidFill>
                  <a:schemeClr val="tx2"/>
                </a:solidFill>
              </a:rPr>
              <a:t>TCP</a:t>
            </a:r>
          </a:p>
        </p:txBody>
      </p:sp>
      <p:sp>
        <p:nvSpPr>
          <p:cNvPr id="11280" name="矩形 20"/>
          <p:cNvSpPr>
            <a:spLocks noChangeArrowheads="1"/>
          </p:cNvSpPr>
          <p:nvPr/>
        </p:nvSpPr>
        <p:spPr bwMode="auto">
          <a:xfrm>
            <a:off x="5934076" y="4357689"/>
            <a:ext cx="1071563" cy="369887"/>
          </a:xfrm>
          <a:prstGeom prst="rect">
            <a:avLst/>
          </a:prstGeom>
          <a:gradFill rotWithShape="1">
            <a:gsLst>
              <a:gs pos="0">
                <a:srgbClr val="FF0000"/>
              </a:gs>
              <a:gs pos="100000">
                <a:srgbClr val="FFFFFF"/>
              </a:gs>
            </a:gsLst>
            <a:lin ang="5400000" scaled="1"/>
          </a:gradFill>
          <a:ln w="9525" algn="ctr">
            <a:solidFill>
              <a:srgbClr val="008080"/>
            </a:solidFill>
            <a:round/>
            <a:headEnd/>
            <a:tailEnd/>
          </a:ln>
        </p:spPr>
        <p:txBody>
          <a:bodyPr anchor="ctr">
            <a:spAutoFit/>
          </a:bodyPr>
          <a:lstStyle/>
          <a:p>
            <a:pPr marL="95250" algn="ctr"/>
            <a:r>
              <a:rPr lang="en-US" altLang="zh-CN" b="1">
                <a:solidFill>
                  <a:schemeClr val="tx2"/>
                </a:solidFill>
              </a:rPr>
              <a:t>UDP</a:t>
            </a:r>
          </a:p>
        </p:txBody>
      </p:sp>
      <p:sp>
        <p:nvSpPr>
          <p:cNvPr id="11281" name="等腰三角形 21"/>
          <p:cNvSpPr>
            <a:spLocks noChangeArrowheads="1"/>
          </p:cNvSpPr>
          <p:nvPr/>
        </p:nvSpPr>
        <p:spPr bwMode="auto">
          <a:xfrm rot="5400000">
            <a:off x="7015164" y="3990976"/>
            <a:ext cx="714375" cy="733425"/>
          </a:xfrm>
          <a:prstGeom prst="triangle">
            <a:avLst>
              <a:gd name="adj" fmla="val 50000"/>
            </a:avLst>
          </a:prstGeom>
          <a:gradFill rotWithShape="1">
            <a:gsLst>
              <a:gs pos="0">
                <a:srgbClr val="FFFF00"/>
              </a:gs>
              <a:gs pos="100000">
                <a:srgbClr val="FFFFFF"/>
              </a:gs>
            </a:gsLst>
            <a:lin ang="5400000" scaled="1"/>
          </a:gradFill>
          <a:ln w="9525" algn="ctr">
            <a:solidFill>
              <a:srgbClr val="008080"/>
            </a:solidFill>
            <a:round/>
            <a:headEnd/>
            <a:tailEnd/>
          </a:ln>
        </p:spPr>
        <p:txBody>
          <a:bodyPr anchor="ctr">
            <a:spAutoFit/>
          </a:bodyPr>
          <a:lstStyle/>
          <a:p>
            <a:pPr marL="95250" algn="ctr"/>
            <a:endParaRPr lang="zh-CN" altLang="en-US" b="1">
              <a:solidFill>
                <a:schemeClr val="tx2"/>
              </a:solidFill>
            </a:endParaRPr>
          </a:p>
        </p:txBody>
      </p:sp>
      <p:sp>
        <p:nvSpPr>
          <p:cNvPr id="11282" name="矩形 23"/>
          <p:cNvSpPr>
            <a:spLocks noChangeArrowheads="1"/>
          </p:cNvSpPr>
          <p:nvPr/>
        </p:nvSpPr>
        <p:spPr bwMode="auto">
          <a:xfrm>
            <a:off x="8096250" y="3071813"/>
            <a:ext cx="1174750" cy="461962"/>
          </a:xfrm>
          <a:prstGeom prst="rect">
            <a:avLst/>
          </a:prstGeom>
          <a:noFill/>
          <a:ln w="9525">
            <a:noFill/>
            <a:miter lim="800000"/>
            <a:headEnd/>
            <a:tailEnd/>
          </a:ln>
        </p:spPr>
        <p:txBody>
          <a:bodyPr wrap="none">
            <a:spAutoFit/>
          </a:bodyPr>
          <a:lstStyle/>
          <a:p>
            <a:r>
              <a:rPr lang="en-US" altLang="zh-CN" sz="2400" b="1">
                <a:solidFill>
                  <a:schemeClr val="tx2"/>
                </a:solidFill>
              </a:rPr>
              <a:t>TCP/IP</a:t>
            </a:r>
            <a:endParaRPr lang="zh-CN" altLang="en-US" sz="2400" b="1">
              <a:solidFill>
                <a:schemeClr val="tx2"/>
              </a:solidFill>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内容占位符 1"/>
          <p:cNvSpPr>
            <a:spLocks noGrp="1"/>
          </p:cNvSpPr>
          <p:nvPr>
            <p:ph idx="1"/>
          </p:nvPr>
        </p:nvSpPr>
        <p:spPr>
          <a:xfrm>
            <a:off x="1738314" y="1143000"/>
            <a:ext cx="8929687" cy="2286000"/>
          </a:xfrm>
        </p:spPr>
        <p:txBody>
          <a:bodyPr>
            <a:normAutofit fontScale="92500" lnSpcReduction="10000"/>
          </a:bodyPr>
          <a:lstStyle/>
          <a:p>
            <a:pPr>
              <a:spcBef>
                <a:spcPts val="675"/>
              </a:spcBef>
            </a:pPr>
            <a:r>
              <a:rPr lang="en-US" altLang="zh-CN" dirty="0"/>
              <a:t>TCP</a:t>
            </a:r>
            <a:r>
              <a:rPr lang="zh-CN" altLang="en-US" dirty="0"/>
              <a:t>是面向连接的、可靠的进程到进程通信的协议</a:t>
            </a:r>
            <a:endParaRPr lang="en-US" altLang="zh-CN" dirty="0"/>
          </a:p>
          <a:p>
            <a:pPr>
              <a:spcBef>
                <a:spcPts val="675"/>
              </a:spcBef>
            </a:pPr>
            <a:r>
              <a:rPr lang="en-US" altLang="zh-CN" dirty="0"/>
              <a:t>TCP</a:t>
            </a:r>
            <a:r>
              <a:rPr lang="zh-CN" altLang="en-US" dirty="0"/>
              <a:t>提供全双工服务，即数据可在同一时间双向传输</a:t>
            </a:r>
            <a:endParaRPr lang="en-US" altLang="zh-CN" dirty="0"/>
          </a:p>
          <a:p>
            <a:pPr>
              <a:spcBef>
                <a:spcPts val="675"/>
              </a:spcBef>
            </a:pPr>
            <a:endParaRPr lang="zh-CN" altLang="en-US" dirty="0"/>
          </a:p>
          <a:p>
            <a:pPr>
              <a:spcBef>
                <a:spcPts val="675"/>
              </a:spcBef>
            </a:pPr>
            <a:r>
              <a:rPr lang="en-US" altLang="zh-CN" dirty="0"/>
              <a:t>TCP</a:t>
            </a:r>
            <a:r>
              <a:rPr lang="zh-CN" altLang="en-US" dirty="0"/>
              <a:t>报文段</a:t>
            </a:r>
          </a:p>
          <a:p>
            <a:pPr lvl="1">
              <a:spcBef>
                <a:spcPts val="475"/>
              </a:spcBef>
            </a:pPr>
            <a:r>
              <a:rPr lang="en-US" altLang="zh-CN" dirty="0"/>
              <a:t>TCP</a:t>
            </a:r>
            <a:r>
              <a:rPr lang="zh-CN" altLang="en-US" dirty="0"/>
              <a:t>将若干个字节构成一个分组，叫报文段（</a:t>
            </a:r>
            <a:r>
              <a:rPr lang="en-US" altLang="zh-CN" dirty="0"/>
              <a:t>Segment</a:t>
            </a:r>
            <a:r>
              <a:rPr lang="zh-CN" altLang="en-US" dirty="0"/>
              <a:t>）</a:t>
            </a:r>
            <a:endParaRPr lang="en-US" altLang="zh-CN" dirty="0"/>
          </a:p>
          <a:p>
            <a:pPr lvl="1">
              <a:spcBef>
                <a:spcPts val="475"/>
              </a:spcBef>
            </a:pPr>
            <a:r>
              <a:rPr lang="en-US" altLang="zh-CN" dirty="0"/>
              <a:t>TCP</a:t>
            </a:r>
            <a:r>
              <a:rPr lang="zh-CN" altLang="en-US" dirty="0"/>
              <a:t>报文段封装在</a:t>
            </a:r>
            <a:r>
              <a:rPr lang="en-US" altLang="zh-CN" dirty="0"/>
              <a:t>IP</a:t>
            </a:r>
            <a:r>
              <a:rPr lang="zh-CN" altLang="en-US" dirty="0"/>
              <a:t>数据报中</a:t>
            </a:r>
          </a:p>
          <a:p>
            <a:pPr>
              <a:spcBef>
                <a:spcPts val="675"/>
              </a:spcBef>
            </a:pPr>
            <a:endParaRPr lang="zh-CN" altLang="en-US" dirty="0"/>
          </a:p>
        </p:txBody>
      </p:sp>
      <p:sp>
        <p:nvSpPr>
          <p:cNvPr id="12291" name="标题 2"/>
          <p:cNvSpPr>
            <a:spLocks noGrp="1"/>
          </p:cNvSpPr>
          <p:nvPr>
            <p:ph type="title"/>
          </p:nvPr>
        </p:nvSpPr>
        <p:spPr/>
        <p:txBody>
          <a:bodyPr/>
          <a:lstStyle/>
          <a:p>
            <a:r>
              <a:rPr lang="en-US" altLang="zh-CN"/>
              <a:t>TCP</a:t>
            </a:r>
            <a:r>
              <a:rPr lang="zh-CN" altLang="en-US"/>
              <a:t>协议</a:t>
            </a:r>
          </a:p>
        </p:txBody>
      </p:sp>
      <p:grpSp>
        <p:nvGrpSpPr>
          <p:cNvPr id="2" name="组合 13"/>
          <p:cNvGrpSpPr>
            <a:grpSpLocks/>
          </p:cNvGrpSpPr>
          <p:nvPr/>
        </p:nvGrpSpPr>
        <p:grpSpPr bwMode="auto">
          <a:xfrm>
            <a:off x="3881439" y="5143497"/>
            <a:ext cx="4357687" cy="400050"/>
            <a:chOff x="2571736" y="4357693"/>
            <a:chExt cx="4357718" cy="400053"/>
          </a:xfrm>
        </p:grpSpPr>
        <p:sp>
          <p:nvSpPr>
            <p:cNvPr id="12298" name="矩形 11"/>
            <p:cNvSpPr>
              <a:spLocks noChangeArrowheads="1"/>
            </p:cNvSpPr>
            <p:nvPr/>
          </p:nvSpPr>
          <p:spPr bwMode="auto">
            <a:xfrm>
              <a:off x="2571736" y="4387341"/>
              <a:ext cx="4357718" cy="369335"/>
            </a:xfrm>
            <a:prstGeom prst="rect">
              <a:avLst/>
            </a:prstGeom>
            <a:gradFill rotWithShape="1">
              <a:gsLst>
                <a:gs pos="0">
                  <a:srgbClr val="CCFFFF"/>
                </a:gs>
                <a:gs pos="100000">
                  <a:srgbClr val="FFFFFF"/>
                </a:gs>
              </a:gsLst>
              <a:lin ang="5400000" scaled="1"/>
            </a:gradFill>
            <a:ln w="25400" algn="ctr">
              <a:solidFill>
                <a:schemeClr val="tx2"/>
              </a:solidFill>
              <a:round/>
              <a:headEnd/>
              <a:tailEnd/>
            </a:ln>
          </p:spPr>
          <p:txBody>
            <a:bodyPr anchor="ctr">
              <a:spAutoFit/>
            </a:bodyPr>
            <a:lstStyle/>
            <a:p>
              <a:pPr marL="95250" algn="ctr"/>
              <a:endParaRPr lang="zh-CN" altLang="en-US" b="1">
                <a:solidFill>
                  <a:schemeClr val="tx2"/>
                </a:solidFill>
              </a:endParaRPr>
            </a:p>
          </p:txBody>
        </p:sp>
        <p:sp>
          <p:nvSpPr>
            <p:cNvPr id="13" name="矩形 12"/>
            <p:cNvSpPr/>
            <p:nvPr/>
          </p:nvSpPr>
          <p:spPr>
            <a:xfrm>
              <a:off x="4143372" y="4357693"/>
              <a:ext cx="1195396" cy="400053"/>
            </a:xfrm>
            <a:prstGeom prst="rect">
              <a:avLst/>
            </a:prstGeom>
          </p:spPr>
          <p:txBody>
            <a:bodyPr wrap="none">
              <a:spAutoFit/>
            </a:bodyPr>
            <a:lstStyle/>
            <a:p>
              <a:pPr>
                <a:defRPr/>
              </a:pPr>
              <a:r>
                <a:rPr lang="en-US" sz="2000" b="1" dirty="0" err="1">
                  <a:solidFill>
                    <a:schemeClr val="tx2"/>
                  </a:solidFill>
                </a:rPr>
                <a:t>IP数据报</a:t>
              </a:r>
              <a:endParaRPr lang="zh-CN" altLang="en-US" sz="2000" b="1" dirty="0">
                <a:solidFill>
                  <a:schemeClr val="tx2"/>
                </a:solidFill>
                <a:latin typeface="+mn-ea"/>
              </a:endParaRPr>
            </a:p>
          </p:txBody>
        </p:sp>
      </p:grpSp>
      <p:grpSp>
        <p:nvGrpSpPr>
          <p:cNvPr id="3" name="组合 10"/>
          <p:cNvGrpSpPr>
            <a:grpSpLocks/>
          </p:cNvGrpSpPr>
          <p:nvPr/>
        </p:nvGrpSpPr>
        <p:grpSpPr bwMode="auto">
          <a:xfrm>
            <a:off x="3881439" y="5143498"/>
            <a:ext cx="4357687" cy="400050"/>
            <a:chOff x="2643174" y="3428999"/>
            <a:chExt cx="4357718" cy="400053"/>
          </a:xfrm>
        </p:grpSpPr>
        <p:sp>
          <p:nvSpPr>
            <p:cNvPr id="12294" name="矩形 5"/>
            <p:cNvSpPr>
              <a:spLocks noChangeArrowheads="1"/>
            </p:cNvSpPr>
            <p:nvPr/>
          </p:nvSpPr>
          <p:spPr bwMode="auto">
            <a:xfrm>
              <a:off x="2643174" y="3458647"/>
              <a:ext cx="1428760" cy="369335"/>
            </a:xfrm>
            <a:prstGeom prst="rect">
              <a:avLst/>
            </a:prstGeom>
            <a:gradFill rotWithShape="1">
              <a:gsLst>
                <a:gs pos="0">
                  <a:srgbClr val="CCFFFF"/>
                </a:gs>
                <a:gs pos="100000">
                  <a:srgbClr val="FFFFFF"/>
                </a:gs>
              </a:gsLst>
              <a:lin ang="5400000" scaled="1"/>
            </a:gradFill>
            <a:ln w="25400" algn="ctr">
              <a:solidFill>
                <a:schemeClr val="tx2"/>
              </a:solidFill>
              <a:round/>
              <a:headEnd/>
              <a:tailEnd/>
            </a:ln>
          </p:spPr>
          <p:txBody>
            <a:bodyPr anchor="ctr">
              <a:spAutoFit/>
            </a:bodyPr>
            <a:lstStyle/>
            <a:p>
              <a:pPr marL="95250" algn="ctr"/>
              <a:endParaRPr lang="zh-CN" altLang="en-US" b="1">
                <a:solidFill>
                  <a:schemeClr val="tx2"/>
                </a:solidFill>
              </a:endParaRPr>
            </a:p>
          </p:txBody>
        </p:sp>
        <p:sp>
          <p:nvSpPr>
            <p:cNvPr id="8" name="矩形 7"/>
            <p:cNvSpPr/>
            <p:nvPr/>
          </p:nvSpPr>
          <p:spPr bwMode="auto">
            <a:xfrm>
              <a:off x="4071934" y="3458647"/>
              <a:ext cx="2928958" cy="369335"/>
            </a:xfrm>
            <a:prstGeom prst="rect">
              <a:avLst/>
            </a:prstGeom>
            <a:solidFill>
              <a:schemeClr val="accent3"/>
            </a:solidFill>
            <a:ln w="25400" algn="ctr">
              <a:solidFill>
                <a:schemeClr val="tx2"/>
              </a:solidFill>
              <a:round/>
              <a:headEnd/>
              <a:tailEnd/>
            </a:ln>
          </p:spPr>
          <p:txBody>
            <a:bodyPr anchor="ctr">
              <a:spAutoFit/>
            </a:bodyPr>
            <a:lstStyle/>
            <a:p>
              <a:pPr marL="95250" algn="ctr">
                <a:defRPr/>
              </a:pPr>
              <a:endParaRPr lang="zh-CN" altLang="en-US" b="1" dirty="0">
                <a:solidFill>
                  <a:schemeClr val="tx2"/>
                </a:solidFill>
              </a:endParaRPr>
            </a:p>
          </p:txBody>
        </p:sp>
        <p:sp>
          <p:nvSpPr>
            <p:cNvPr id="9" name="TextBox 8"/>
            <p:cNvSpPr txBox="1"/>
            <p:nvPr/>
          </p:nvSpPr>
          <p:spPr>
            <a:xfrm>
              <a:off x="2857488" y="3428999"/>
              <a:ext cx="1000132" cy="400053"/>
            </a:xfrm>
            <a:prstGeom prst="rect">
              <a:avLst/>
            </a:prstGeom>
            <a:noFill/>
          </p:spPr>
          <p:txBody>
            <a:bodyPr>
              <a:spAutoFit/>
            </a:bodyPr>
            <a:lstStyle/>
            <a:p>
              <a:pPr>
                <a:defRPr/>
              </a:pPr>
              <a:r>
                <a:rPr lang="en-US" altLang="zh-CN" sz="2000" b="1" dirty="0">
                  <a:solidFill>
                    <a:schemeClr val="tx2"/>
                  </a:solidFill>
                </a:rPr>
                <a:t>IP</a:t>
              </a:r>
              <a:r>
                <a:rPr lang="zh-CN" altLang="en-US" sz="2000" b="1" dirty="0">
                  <a:solidFill>
                    <a:schemeClr val="tx2"/>
                  </a:solidFill>
                  <a:latin typeface="+mn-ea"/>
                </a:rPr>
                <a:t>首部</a:t>
              </a:r>
            </a:p>
          </p:txBody>
        </p:sp>
        <p:sp>
          <p:nvSpPr>
            <p:cNvPr id="10" name="TextBox 9"/>
            <p:cNvSpPr txBox="1"/>
            <p:nvPr/>
          </p:nvSpPr>
          <p:spPr>
            <a:xfrm>
              <a:off x="4357686" y="3428999"/>
              <a:ext cx="1928826" cy="400053"/>
            </a:xfrm>
            <a:prstGeom prst="rect">
              <a:avLst/>
            </a:prstGeom>
            <a:noFill/>
          </p:spPr>
          <p:txBody>
            <a:bodyPr>
              <a:spAutoFit/>
            </a:bodyPr>
            <a:lstStyle/>
            <a:p>
              <a:pPr algn="ctr">
                <a:defRPr/>
              </a:pPr>
              <a:r>
                <a:rPr lang="en-US" altLang="zh-CN" sz="2000" b="1" dirty="0">
                  <a:solidFill>
                    <a:schemeClr val="tx2"/>
                  </a:solidFill>
                </a:rPr>
                <a:t>TCP</a:t>
              </a:r>
              <a:r>
                <a:rPr lang="zh-CN" altLang="en-US" sz="2000" b="1" dirty="0">
                  <a:solidFill>
                    <a:schemeClr val="tx2"/>
                  </a:solidFill>
                </a:rPr>
                <a:t>报文段</a:t>
              </a:r>
              <a:endParaRPr lang="zh-CN" altLang="en-US" sz="2000" b="1" dirty="0">
                <a:solidFill>
                  <a:schemeClr val="tx2"/>
                </a:solidFill>
                <a:latin typeface="+mn-ea"/>
              </a:endParaRPr>
            </a:p>
          </p:txBody>
        </p:sp>
      </p:gr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595438" y="4429126"/>
            <a:ext cx="8501062" cy="500063"/>
          </a:xfrm>
        </p:spPr>
        <p:txBody>
          <a:bodyPr>
            <a:normAutofit fontScale="47500" lnSpcReduction="20000"/>
          </a:bodyPr>
          <a:lstStyle/>
          <a:p>
            <a:pPr lvl="1">
              <a:spcBef>
                <a:spcPts val="475"/>
              </a:spcBef>
            </a:pPr>
            <a:r>
              <a:rPr lang="en-US" altLang="zh-CN"/>
              <a:t>SYN</a:t>
            </a:r>
            <a:r>
              <a:rPr lang="zh-CN" altLang="en-US"/>
              <a:t>：同步序号位，</a:t>
            </a:r>
            <a:r>
              <a:rPr lang="en-US" altLang="zh-CN"/>
              <a:t>TCP</a:t>
            </a:r>
            <a:r>
              <a:rPr lang="zh-CN" altLang="en-US"/>
              <a:t>需要建立连接时将该值设为</a:t>
            </a:r>
            <a:r>
              <a:rPr lang="en-US" altLang="zh-CN"/>
              <a:t>1</a:t>
            </a:r>
            <a:endParaRPr lang="zh-CN" altLang="en-US"/>
          </a:p>
          <a:p>
            <a:pPr lvl="1">
              <a:spcBef>
                <a:spcPts val="475"/>
              </a:spcBef>
            </a:pPr>
            <a:r>
              <a:rPr lang="en-US" altLang="zh-CN"/>
              <a:t>ACK</a:t>
            </a:r>
            <a:r>
              <a:rPr lang="zh-CN" altLang="en-US"/>
              <a:t>：确认序号位，当该位为</a:t>
            </a:r>
            <a:r>
              <a:rPr lang="en-US" altLang="zh-CN"/>
              <a:t>1</a:t>
            </a:r>
            <a:r>
              <a:rPr lang="zh-CN" altLang="en-US"/>
              <a:t>时，用于确认发送方的数据</a:t>
            </a:r>
          </a:p>
          <a:p>
            <a:pPr lvl="1">
              <a:spcBef>
                <a:spcPts val="475"/>
              </a:spcBef>
            </a:pPr>
            <a:r>
              <a:rPr lang="en-US" altLang="zh-CN"/>
              <a:t>FIN</a:t>
            </a:r>
            <a:r>
              <a:rPr lang="zh-CN" altLang="en-US"/>
              <a:t>：当</a:t>
            </a:r>
            <a:r>
              <a:rPr lang="en-US" altLang="zh-CN"/>
              <a:t>TCP</a:t>
            </a:r>
            <a:r>
              <a:rPr lang="zh-CN" altLang="en-US"/>
              <a:t>断开连接时将该位置为</a:t>
            </a:r>
            <a:r>
              <a:rPr lang="en-US" altLang="zh-CN"/>
              <a:t>1</a:t>
            </a:r>
          </a:p>
          <a:p>
            <a:pPr>
              <a:spcBef>
                <a:spcPts val="675"/>
              </a:spcBef>
              <a:buNone/>
            </a:pPr>
            <a:endParaRPr lang="zh-CN" altLang="en-US"/>
          </a:p>
        </p:txBody>
      </p:sp>
      <p:sp>
        <p:nvSpPr>
          <p:cNvPr id="13315" name="标题 2"/>
          <p:cNvSpPr>
            <a:spLocks noGrp="1"/>
          </p:cNvSpPr>
          <p:nvPr>
            <p:ph type="title"/>
          </p:nvPr>
        </p:nvSpPr>
        <p:spPr/>
        <p:txBody>
          <a:bodyPr/>
          <a:lstStyle/>
          <a:p>
            <a:r>
              <a:rPr lang="en-US" altLang="zh-CN"/>
              <a:t>TCP</a:t>
            </a:r>
            <a:r>
              <a:rPr lang="zh-CN" altLang="en-US"/>
              <a:t>报文段</a:t>
            </a:r>
          </a:p>
        </p:txBody>
      </p:sp>
      <p:graphicFrame>
        <p:nvGraphicFramePr>
          <p:cNvPr id="4" name="Group 50"/>
          <p:cNvGraphicFramePr>
            <a:graphicFrameLocks/>
          </p:cNvGraphicFramePr>
          <p:nvPr/>
        </p:nvGraphicFramePr>
        <p:xfrm>
          <a:off x="2095500" y="1143000"/>
          <a:ext cx="7885112" cy="3203576"/>
        </p:xfrm>
        <a:graphic>
          <a:graphicData uri="http://schemas.openxmlformats.org/drawingml/2006/table">
            <a:tbl>
              <a:tblPr/>
              <a:tblGrid>
                <a:gridCol w="928687">
                  <a:extLst>
                    <a:ext uri="{9D8B030D-6E8A-4147-A177-3AD203B41FA5}">
                      <a16:colId xmlns:a16="http://schemas.microsoft.com/office/drawing/2014/main" val="20000"/>
                    </a:ext>
                  </a:extLst>
                </a:gridCol>
                <a:gridCol w="733425">
                  <a:extLst>
                    <a:ext uri="{9D8B030D-6E8A-4147-A177-3AD203B41FA5}">
                      <a16:colId xmlns:a16="http://schemas.microsoft.com/office/drawing/2014/main" val="20001"/>
                    </a:ext>
                  </a:extLst>
                </a:gridCol>
                <a:gridCol w="400050">
                  <a:extLst>
                    <a:ext uri="{9D8B030D-6E8A-4147-A177-3AD203B41FA5}">
                      <a16:colId xmlns:a16="http://schemas.microsoft.com/office/drawing/2014/main" val="20002"/>
                    </a:ext>
                  </a:extLst>
                </a:gridCol>
                <a:gridCol w="401638">
                  <a:extLst>
                    <a:ext uri="{9D8B030D-6E8A-4147-A177-3AD203B41FA5}">
                      <a16:colId xmlns:a16="http://schemas.microsoft.com/office/drawing/2014/main" val="20003"/>
                    </a:ext>
                  </a:extLst>
                </a:gridCol>
                <a:gridCol w="400050">
                  <a:extLst>
                    <a:ext uri="{9D8B030D-6E8A-4147-A177-3AD203B41FA5}">
                      <a16:colId xmlns:a16="http://schemas.microsoft.com/office/drawing/2014/main" val="20004"/>
                    </a:ext>
                  </a:extLst>
                </a:gridCol>
                <a:gridCol w="400050">
                  <a:extLst>
                    <a:ext uri="{9D8B030D-6E8A-4147-A177-3AD203B41FA5}">
                      <a16:colId xmlns:a16="http://schemas.microsoft.com/office/drawing/2014/main" val="20005"/>
                    </a:ext>
                  </a:extLst>
                </a:gridCol>
                <a:gridCol w="400050">
                  <a:extLst>
                    <a:ext uri="{9D8B030D-6E8A-4147-A177-3AD203B41FA5}">
                      <a16:colId xmlns:a16="http://schemas.microsoft.com/office/drawing/2014/main" val="20006"/>
                    </a:ext>
                  </a:extLst>
                </a:gridCol>
                <a:gridCol w="409575">
                  <a:extLst>
                    <a:ext uri="{9D8B030D-6E8A-4147-A177-3AD203B41FA5}">
                      <a16:colId xmlns:a16="http://schemas.microsoft.com/office/drawing/2014/main" val="20007"/>
                    </a:ext>
                  </a:extLst>
                </a:gridCol>
                <a:gridCol w="3811587">
                  <a:extLst>
                    <a:ext uri="{9D8B030D-6E8A-4147-A177-3AD203B41FA5}">
                      <a16:colId xmlns:a16="http://schemas.microsoft.com/office/drawing/2014/main" val="20008"/>
                    </a:ext>
                  </a:extLst>
                </a:gridCol>
              </a:tblGrid>
              <a:tr h="377825">
                <a:tc gridSpan="8">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dirty="0">
                          <a:ln>
                            <a:noFill/>
                          </a:ln>
                          <a:solidFill>
                            <a:schemeClr val="bg1"/>
                          </a:solidFill>
                          <a:effectLst/>
                          <a:latin typeface="仿宋_GB2312" pitchFamily="49" charset="-122"/>
                          <a:ea typeface="仿宋_GB2312" pitchFamily="49" charset="-122"/>
                        </a:rPr>
                        <a:t>源端口号（</a:t>
                      </a: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16</a:t>
                      </a:r>
                      <a:r>
                        <a:rPr kumimoji="0" lang="zh-CN" altLang="en-US" sz="1800" b="1" i="0" u="none" strike="noStrike" cap="none" normalizeH="0" baseline="0" dirty="0">
                          <a:ln>
                            <a:noFill/>
                          </a:ln>
                          <a:solidFill>
                            <a:schemeClr val="bg1"/>
                          </a:solidFill>
                          <a:effectLst/>
                          <a:latin typeface="仿宋_GB2312" pitchFamily="49" charset="-122"/>
                          <a:ea typeface="仿宋_GB2312" pitchFamily="49" charset="-122"/>
                        </a:rPr>
                        <a:t>）</a:t>
                      </a:r>
                    </a:p>
                  </a:txBody>
                  <a:tcPr marL="0" marR="0" marT="0" marB="0" anchor="ctr" horzOverflow="overflow">
                    <a:lnL w="12700" cap="flat" cmpd="sng" algn="ctr">
                      <a:solidFill>
                        <a:schemeClr val="tx2"/>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a:noFill/>
                    </a:lnTlToBr>
                    <a:lnBlToTr>
                      <a:noFill/>
                    </a:lnBlToTr>
                    <a:solidFill>
                      <a:srgbClr val="4BACC6"/>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dirty="0">
                          <a:ln>
                            <a:noFill/>
                          </a:ln>
                          <a:solidFill>
                            <a:schemeClr val="bg1"/>
                          </a:solidFill>
                          <a:effectLst/>
                          <a:latin typeface="仿宋_GB2312" pitchFamily="49" charset="-122"/>
                          <a:ea typeface="仿宋_GB2312" pitchFamily="49" charset="-122"/>
                        </a:rPr>
                        <a:t>目标端口号（</a:t>
                      </a: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16</a:t>
                      </a:r>
                      <a:r>
                        <a:rPr kumimoji="0" lang="zh-CN" altLang="en-US" sz="1800" b="1" i="0" u="none" strike="noStrike" cap="none" normalizeH="0" baseline="0" dirty="0">
                          <a:ln>
                            <a:noFill/>
                          </a:ln>
                          <a:solidFill>
                            <a:schemeClr val="bg1"/>
                          </a:solidFill>
                          <a:effectLst/>
                          <a:latin typeface="仿宋_GB2312" pitchFamily="49" charset="-122"/>
                          <a:ea typeface="仿宋_GB2312" pitchFamily="49" charset="-122"/>
                        </a:rPr>
                        <a:t>）</a:t>
                      </a:r>
                    </a:p>
                  </a:txBody>
                  <a:tcPr marL="0" marR="0" marT="0" marB="0" anchor="ctr" horzOverflow="overflow">
                    <a:lnL w="12700" cap="flat" cmpd="sng" algn="ctr">
                      <a:solidFill>
                        <a:schemeClr val="bg1">
                          <a:lumMod val="9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a:noFill/>
                    </a:lnTlToBr>
                    <a:lnBlToTr>
                      <a:noFill/>
                    </a:lnBlToTr>
                    <a:solidFill>
                      <a:srgbClr val="4BACC6"/>
                    </a:solidFill>
                  </a:tcPr>
                </a:tc>
                <a:extLst>
                  <a:ext uri="{0D108BD9-81ED-4DB2-BD59-A6C34878D82A}">
                    <a16:rowId xmlns:a16="http://schemas.microsoft.com/office/drawing/2014/main" val="10000"/>
                  </a:ext>
                </a:extLst>
              </a:tr>
              <a:tr h="434975">
                <a:tc gridSpan="9">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dirty="0">
                          <a:ln>
                            <a:noFill/>
                          </a:ln>
                          <a:solidFill>
                            <a:schemeClr val="bg1"/>
                          </a:solidFill>
                          <a:effectLst/>
                          <a:latin typeface="仿宋_GB2312" pitchFamily="49" charset="-122"/>
                          <a:ea typeface="仿宋_GB2312" pitchFamily="49" charset="-122"/>
                        </a:rPr>
                        <a:t>序号（</a:t>
                      </a: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32</a:t>
                      </a:r>
                      <a:r>
                        <a:rPr kumimoji="0" lang="zh-CN" altLang="en-US" sz="1800" b="1" i="0" u="none" strike="noStrike" cap="none" normalizeH="0" baseline="0" dirty="0">
                          <a:ln>
                            <a:noFill/>
                          </a:ln>
                          <a:solidFill>
                            <a:schemeClr val="bg1"/>
                          </a:solidFill>
                          <a:effectLst/>
                          <a:latin typeface="仿宋_GB2312" pitchFamily="49" charset="-122"/>
                          <a:ea typeface="仿宋_GB2312" pitchFamily="49" charset="-122"/>
                        </a:rPr>
                        <a:t>）</a:t>
                      </a:r>
                    </a:p>
                  </a:txBody>
                  <a:tcPr marL="0" marR="0" marT="0" marB="0" anchor="ct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a:noFill/>
                    </a:lnTlToBr>
                    <a:lnBlToTr>
                      <a:noFill/>
                    </a:lnBlToTr>
                    <a:solidFill>
                      <a:srgbClr val="4BACC6"/>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1"/>
                  </a:ext>
                </a:extLst>
              </a:tr>
              <a:tr h="457200">
                <a:tc gridSpan="9">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dirty="0">
                          <a:ln>
                            <a:noFill/>
                          </a:ln>
                          <a:solidFill>
                            <a:schemeClr val="bg1"/>
                          </a:solidFill>
                          <a:effectLst/>
                          <a:latin typeface="仿宋_GB2312" pitchFamily="49" charset="-122"/>
                          <a:ea typeface="仿宋_GB2312" pitchFamily="49" charset="-122"/>
                        </a:rPr>
                        <a:t>确认号（</a:t>
                      </a: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32</a:t>
                      </a:r>
                      <a:r>
                        <a:rPr kumimoji="0" lang="zh-CN" altLang="en-US" sz="1800" b="1" i="0" u="none" strike="noStrike" cap="none" normalizeH="0" baseline="0" dirty="0">
                          <a:ln>
                            <a:noFill/>
                          </a:ln>
                          <a:solidFill>
                            <a:schemeClr val="bg1"/>
                          </a:solidFill>
                          <a:effectLst/>
                          <a:latin typeface="仿宋_GB2312" pitchFamily="49" charset="-122"/>
                          <a:ea typeface="仿宋_GB2312" pitchFamily="49" charset="-122"/>
                        </a:rPr>
                        <a:t>）</a:t>
                      </a:r>
                    </a:p>
                  </a:txBody>
                  <a:tcPr marL="0" marR="0" marT="0" marB="0" anchor="ct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a:noFill/>
                    </a:lnTlToBr>
                    <a:lnBlToTr>
                      <a:noFill/>
                    </a:lnBlToTr>
                    <a:solidFill>
                      <a:srgbClr val="4BACC6"/>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2"/>
                  </a:ext>
                </a:extLst>
              </a:tr>
              <a:tr h="1116013">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dirty="0">
                          <a:ln>
                            <a:noFill/>
                          </a:ln>
                          <a:solidFill>
                            <a:schemeClr val="bg1"/>
                          </a:solidFill>
                          <a:effectLst/>
                          <a:latin typeface="Times New Roman" pitchFamily="18" charset="0"/>
                          <a:ea typeface="楷体_GB2312" pitchFamily="49" charset="-122"/>
                        </a:rPr>
                        <a:t>首部长度（</a:t>
                      </a:r>
                      <a:r>
                        <a:rPr kumimoji="0" lang="en-US" altLang="zh-CN" sz="1800" b="1" i="0" u="none" strike="noStrike" cap="none" normalizeH="0" baseline="0" dirty="0">
                          <a:ln>
                            <a:noFill/>
                          </a:ln>
                          <a:solidFill>
                            <a:schemeClr val="bg1"/>
                          </a:solidFill>
                          <a:effectLst/>
                          <a:latin typeface="Times New Roman" pitchFamily="18" charset="0"/>
                          <a:ea typeface="楷体_GB2312" pitchFamily="49" charset="-122"/>
                        </a:rPr>
                        <a:t>4</a:t>
                      </a:r>
                      <a:r>
                        <a:rPr kumimoji="0" lang="zh-CN" altLang="en-US" sz="1800" b="1" i="0" u="none" strike="noStrike" cap="none" normalizeH="0" baseline="0" dirty="0">
                          <a:ln>
                            <a:noFill/>
                          </a:ln>
                          <a:solidFill>
                            <a:schemeClr val="bg1"/>
                          </a:solidFill>
                          <a:effectLst/>
                          <a:latin typeface="Times New Roman" pitchFamily="18" charset="0"/>
                          <a:ea typeface="楷体_GB2312" pitchFamily="49" charset="-122"/>
                        </a:rPr>
                        <a:t>）</a:t>
                      </a:r>
                    </a:p>
                  </a:txBody>
                  <a:tcPr marL="0" marR="0" marT="0" marB="0" anchor="ctr" horzOverflow="overflow">
                    <a:lnL w="12700" cap="flat" cmpd="sng" algn="ctr">
                      <a:solidFill>
                        <a:schemeClr val="tx2"/>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a:noFill/>
                    </a:lnTlToBr>
                    <a:lnBlToTr>
                      <a:noFill/>
                    </a:lnBlToTr>
                    <a:solidFill>
                      <a:srgbClr val="4BACC6"/>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dirty="0">
                          <a:ln>
                            <a:noFill/>
                          </a:ln>
                          <a:solidFill>
                            <a:schemeClr val="bg1"/>
                          </a:solidFill>
                          <a:effectLst/>
                          <a:latin typeface="仿宋_GB2312" pitchFamily="49" charset="-122"/>
                          <a:ea typeface="仿宋_GB2312" pitchFamily="49" charset="-122"/>
                        </a:rPr>
                        <a:t>保留（</a:t>
                      </a: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6</a:t>
                      </a:r>
                      <a:r>
                        <a:rPr kumimoji="0" lang="zh-CN" altLang="en-US" sz="1800" b="1" i="0" u="none" strike="noStrike" cap="none" normalizeH="0" baseline="0" dirty="0">
                          <a:ln>
                            <a:noFill/>
                          </a:ln>
                          <a:solidFill>
                            <a:schemeClr val="bg1"/>
                          </a:solidFill>
                          <a:effectLst/>
                          <a:latin typeface="仿宋_GB2312" pitchFamily="49" charset="-122"/>
                          <a:ea typeface="仿宋_GB2312" pitchFamily="49" charset="-122"/>
                        </a:rPr>
                        <a:t>）</a:t>
                      </a:r>
                    </a:p>
                  </a:txBody>
                  <a:tcPr marL="0" marR="0" marT="0" marB="0" anchor="ctr" horzOverflow="overflow">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a:noFill/>
                    </a:lnTlToBr>
                    <a:lnBlToTr>
                      <a:noFill/>
                    </a:lnBlToTr>
                    <a:solidFill>
                      <a:srgbClr val="4BACC6"/>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U</a:t>
                      </a:r>
                      <a:b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b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R</a:t>
                      </a:r>
                      <a:b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b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G</a:t>
                      </a:r>
                    </a:p>
                  </a:txBody>
                  <a:tcPr marL="0" marR="0" marT="0" marB="0" anchor="ctr" horzOverflow="overflow">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a:noFill/>
                    </a:lnTlToBr>
                    <a:lnBlToTr>
                      <a:noFill/>
                    </a:lnBlToTr>
                    <a:solidFill>
                      <a:srgbClr val="006666"/>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A</a:t>
                      </a:r>
                      <a:b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b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C</a:t>
                      </a:r>
                      <a:b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b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K</a:t>
                      </a:r>
                    </a:p>
                  </a:txBody>
                  <a:tcPr marL="0" marR="0" marT="0" marB="0" anchor="ctr" horzOverflow="overflow">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a:noFill/>
                    </a:lnTlToBr>
                    <a:lnBlToTr>
                      <a:noFill/>
                    </a:lnBlToTr>
                    <a:solidFill>
                      <a:srgbClr val="006666"/>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P</a:t>
                      </a:r>
                      <a:b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b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S</a:t>
                      </a:r>
                      <a:b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b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H</a:t>
                      </a:r>
                    </a:p>
                  </a:txBody>
                  <a:tcPr marL="0" marR="0" marT="0" marB="0" anchor="ctr" horzOverflow="overflow">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a:noFill/>
                    </a:lnTlToBr>
                    <a:lnBlToTr>
                      <a:noFill/>
                    </a:lnBlToTr>
                    <a:solidFill>
                      <a:srgbClr val="006666"/>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R</a:t>
                      </a:r>
                      <a:b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b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S</a:t>
                      </a:r>
                      <a:b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b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T</a:t>
                      </a:r>
                    </a:p>
                  </a:txBody>
                  <a:tcPr marL="0" marR="0" marT="0" marB="0" anchor="ctr" horzOverflow="overflow">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a:noFill/>
                    </a:lnTlToBr>
                    <a:lnBlToTr>
                      <a:noFill/>
                    </a:lnBlToTr>
                    <a:solidFill>
                      <a:srgbClr val="006666"/>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S</a:t>
                      </a:r>
                      <a:b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b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Y</a:t>
                      </a:r>
                      <a:b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b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N</a:t>
                      </a:r>
                    </a:p>
                  </a:txBody>
                  <a:tcPr marL="0" marR="0" marT="0" marB="0" anchor="ctr" horzOverflow="overflow">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a:noFill/>
                    </a:lnTlToBr>
                    <a:lnBlToTr>
                      <a:noFill/>
                    </a:lnBlToTr>
                    <a:solidFill>
                      <a:srgbClr val="006666"/>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F</a:t>
                      </a:r>
                      <a:b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b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I</a:t>
                      </a:r>
                      <a:b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b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N</a:t>
                      </a:r>
                    </a:p>
                  </a:txBody>
                  <a:tcPr marL="0" marR="0" marT="0" marB="0" anchor="ctr" horzOverflow="overflow">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a:noFill/>
                    </a:lnTlToBr>
                    <a:lnBlToTr>
                      <a:noFill/>
                    </a:lnBlToTr>
                    <a:solidFill>
                      <a:srgbClr val="006666"/>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dirty="0">
                          <a:ln>
                            <a:noFill/>
                          </a:ln>
                          <a:solidFill>
                            <a:schemeClr val="bg1"/>
                          </a:solidFill>
                          <a:effectLst/>
                          <a:latin typeface="仿宋_GB2312" pitchFamily="49" charset="-122"/>
                          <a:ea typeface="仿宋_GB2312" pitchFamily="49" charset="-122"/>
                        </a:rPr>
                        <a:t>窗口大小（</a:t>
                      </a: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16</a:t>
                      </a:r>
                      <a:r>
                        <a:rPr kumimoji="0" lang="zh-CN" altLang="en-US" sz="1800" b="1" i="0" u="none" strike="noStrike" cap="none" normalizeH="0" baseline="0" dirty="0">
                          <a:ln>
                            <a:noFill/>
                          </a:ln>
                          <a:solidFill>
                            <a:schemeClr val="bg1"/>
                          </a:solidFill>
                          <a:effectLst/>
                          <a:latin typeface="仿宋_GB2312" pitchFamily="49" charset="-122"/>
                          <a:ea typeface="仿宋_GB2312" pitchFamily="49" charset="-122"/>
                        </a:rPr>
                        <a:t>）</a:t>
                      </a:r>
                    </a:p>
                  </a:txBody>
                  <a:tcPr marL="0" marR="0" marT="0" marB="0" anchor="ctr" horzOverflow="overflow">
                    <a:lnL w="12700" cap="flat" cmpd="sng" algn="ctr">
                      <a:solidFill>
                        <a:schemeClr val="bg1">
                          <a:lumMod val="9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a:noFill/>
                    </a:lnTlToBr>
                    <a:lnBlToTr>
                      <a:noFill/>
                    </a:lnBlToTr>
                    <a:solidFill>
                      <a:srgbClr val="006666"/>
                    </a:solidFill>
                  </a:tcPr>
                </a:tc>
                <a:extLst>
                  <a:ext uri="{0D108BD9-81ED-4DB2-BD59-A6C34878D82A}">
                    <a16:rowId xmlns:a16="http://schemas.microsoft.com/office/drawing/2014/main" val="10003"/>
                  </a:ext>
                </a:extLst>
              </a:tr>
              <a:tr h="401638">
                <a:tc gridSpan="8">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dirty="0">
                          <a:ln>
                            <a:noFill/>
                          </a:ln>
                          <a:solidFill>
                            <a:schemeClr val="bg1"/>
                          </a:solidFill>
                          <a:effectLst/>
                          <a:latin typeface="仿宋_GB2312" pitchFamily="49" charset="-122"/>
                          <a:ea typeface="仿宋_GB2312" pitchFamily="49" charset="-122"/>
                        </a:rPr>
                        <a:t>校验和（</a:t>
                      </a: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16</a:t>
                      </a:r>
                      <a:r>
                        <a:rPr kumimoji="0" lang="zh-CN" altLang="en-US" sz="1800" b="1" i="0" u="none" strike="noStrike" cap="none" normalizeH="0" baseline="0" dirty="0">
                          <a:ln>
                            <a:noFill/>
                          </a:ln>
                          <a:solidFill>
                            <a:schemeClr val="bg1"/>
                          </a:solidFill>
                          <a:effectLst/>
                          <a:latin typeface="仿宋_GB2312" pitchFamily="49" charset="-122"/>
                          <a:ea typeface="仿宋_GB2312" pitchFamily="49" charset="-122"/>
                        </a:rPr>
                        <a:t>）</a:t>
                      </a:r>
                    </a:p>
                  </a:txBody>
                  <a:tcPr marL="0" marR="0" marT="0" marB="0" anchor="ctr" horzOverflow="overflow">
                    <a:lnL w="12700" cap="flat" cmpd="sng" algn="ctr">
                      <a:solidFill>
                        <a:schemeClr val="tx2"/>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a:noFill/>
                    </a:lnTlToBr>
                    <a:lnBlToTr>
                      <a:noFill/>
                    </a:lnBlToTr>
                    <a:solidFill>
                      <a:srgbClr val="4BACC6"/>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dirty="0">
                          <a:ln>
                            <a:noFill/>
                          </a:ln>
                          <a:solidFill>
                            <a:schemeClr val="bg1"/>
                          </a:solidFill>
                          <a:effectLst/>
                          <a:latin typeface="仿宋_GB2312" pitchFamily="49" charset="-122"/>
                          <a:ea typeface="仿宋_GB2312" pitchFamily="49" charset="-122"/>
                        </a:rPr>
                        <a:t>紧急指针（</a:t>
                      </a:r>
                      <a:r>
                        <a:rPr kumimoji="0" lang="en-US" altLang="zh-CN" sz="1800" b="1" i="0" u="none" strike="noStrike" cap="none" normalizeH="0" baseline="0" dirty="0">
                          <a:ln>
                            <a:noFill/>
                          </a:ln>
                          <a:solidFill>
                            <a:schemeClr val="bg1"/>
                          </a:solidFill>
                          <a:effectLst/>
                          <a:latin typeface="仿宋_GB2312" pitchFamily="49" charset="-122"/>
                          <a:ea typeface="仿宋_GB2312" pitchFamily="49" charset="-122"/>
                        </a:rPr>
                        <a:t>16</a:t>
                      </a:r>
                      <a:r>
                        <a:rPr kumimoji="0" lang="zh-CN" altLang="en-US" sz="1800" b="1" i="0" u="none" strike="noStrike" cap="none" normalizeH="0" baseline="0" dirty="0">
                          <a:ln>
                            <a:noFill/>
                          </a:ln>
                          <a:solidFill>
                            <a:schemeClr val="bg1"/>
                          </a:solidFill>
                          <a:effectLst/>
                          <a:latin typeface="仿宋_GB2312" pitchFamily="49" charset="-122"/>
                          <a:ea typeface="仿宋_GB2312" pitchFamily="49" charset="-122"/>
                        </a:rPr>
                        <a:t>）</a:t>
                      </a:r>
                    </a:p>
                  </a:txBody>
                  <a:tcPr marL="0" marR="0" marT="0" marB="0" anchor="ctr" horzOverflow="overflow">
                    <a:lnL w="12700" cap="flat" cmpd="sng" algn="ctr">
                      <a:solidFill>
                        <a:schemeClr val="bg1">
                          <a:lumMod val="9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a:noFill/>
                    </a:lnTlToBr>
                    <a:lnBlToTr>
                      <a:noFill/>
                    </a:lnBlToTr>
                    <a:solidFill>
                      <a:srgbClr val="4BACC6"/>
                    </a:solidFill>
                  </a:tcPr>
                </a:tc>
                <a:extLst>
                  <a:ext uri="{0D108BD9-81ED-4DB2-BD59-A6C34878D82A}">
                    <a16:rowId xmlns:a16="http://schemas.microsoft.com/office/drawing/2014/main" val="10004"/>
                  </a:ext>
                </a:extLst>
              </a:tr>
              <a:tr h="415925">
                <a:tc gridSpan="9">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zh-CN" altLang="en-US" sz="1800" b="1" i="0" u="none" strike="noStrike" cap="none" normalizeH="0" baseline="0" dirty="0">
                          <a:ln>
                            <a:noFill/>
                          </a:ln>
                          <a:solidFill>
                            <a:schemeClr val="bg1"/>
                          </a:solidFill>
                          <a:effectLst/>
                          <a:latin typeface="仿宋_GB2312" pitchFamily="49" charset="-122"/>
                          <a:ea typeface="仿宋_GB2312" pitchFamily="49" charset="-122"/>
                        </a:rPr>
                        <a:t>选项</a:t>
                      </a:r>
                    </a:p>
                  </a:txBody>
                  <a:tcPr marL="0" marR="0" marT="0" marB="0" anchor="ct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rgbClr val="4BACC6"/>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5"/>
                  </a:ext>
                </a:extLst>
              </a:tr>
            </a:tbl>
          </a:graphicData>
        </a:graphic>
      </p:graphicFrame>
      <p:sp>
        <p:nvSpPr>
          <p:cNvPr id="5" name="内容占位符 1"/>
          <p:cNvSpPr txBox="1">
            <a:spLocks/>
          </p:cNvSpPr>
          <p:nvPr/>
        </p:nvSpPr>
        <p:spPr bwMode="auto">
          <a:xfrm>
            <a:off x="1595438" y="4429126"/>
            <a:ext cx="8501062" cy="500063"/>
          </a:xfrm>
          <a:prstGeom prst="rect">
            <a:avLst/>
          </a:prstGeom>
          <a:noFill/>
          <a:ln w="9525">
            <a:noFill/>
            <a:miter lim="800000"/>
            <a:headEnd/>
            <a:tailEnd/>
          </a:ln>
        </p:spPr>
        <p:txBody>
          <a:bodyPr/>
          <a:lstStyle/>
          <a:p>
            <a:pPr marL="742950" lvl="1" indent="-285750" eaLnBrk="0" hangingPunct="0">
              <a:lnSpc>
                <a:spcPts val="3000"/>
              </a:lnSpc>
              <a:spcBef>
                <a:spcPts val="472"/>
              </a:spcBef>
              <a:buClr>
                <a:schemeClr val="accent1"/>
              </a:buClr>
              <a:buFont typeface="Wingdings" pitchFamily="2" charset="2"/>
              <a:buChar char="§"/>
              <a:defRPr/>
            </a:pPr>
            <a:r>
              <a:rPr lang="zh-CN" altLang="en-US" sz="2400" b="1" kern="0" dirty="0">
                <a:solidFill>
                  <a:schemeClr val="tx2"/>
                </a:solidFill>
              </a:rPr>
              <a:t>序号：发送端为每个字节进行编号，便于接收端正确重组</a:t>
            </a:r>
          </a:p>
          <a:p>
            <a:pPr marL="742950" lvl="1" indent="-285750" eaLnBrk="0" hangingPunct="0">
              <a:lnSpc>
                <a:spcPts val="3000"/>
              </a:lnSpc>
              <a:spcBef>
                <a:spcPts val="472"/>
              </a:spcBef>
              <a:buClr>
                <a:schemeClr val="accent1"/>
              </a:buClr>
              <a:buFont typeface="Wingdings" pitchFamily="2" charset="2"/>
              <a:buChar char="§"/>
              <a:defRPr/>
            </a:pPr>
            <a:r>
              <a:rPr lang="zh-CN" altLang="en-US" sz="2400" b="1" kern="0" dirty="0">
                <a:solidFill>
                  <a:schemeClr val="tx2"/>
                </a:solidFill>
              </a:rPr>
              <a:t>确认号：用于确认发送端的信息</a:t>
            </a:r>
          </a:p>
          <a:p>
            <a:pPr marL="742950" lvl="1" indent="-285750" eaLnBrk="0" hangingPunct="0">
              <a:lnSpc>
                <a:spcPts val="3000"/>
              </a:lnSpc>
              <a:spcBef>
                <a:spcPts val="472"/>
              </a:spcBef>
              <a:buClr>
                <a:schemeClr val="accent1"/>
              </a:buClr>
              <a:buFont typeface="Wingdings" pitchFamily="2" charset="2"/>
              <a:buChar char="§"/>
              <a:defRPr/>
            </a:pPr>
            <a:r>
              <a:rPr lang="zh-CN" altLang="en-US" sz="2400" b="1" kern="0" dirty="0">
                <a:solidFill>
                  <a:schemeClr val="tx2"/>
                </a:solidFill>
              </a:rPr>
              <a:t>窗口大小：用于说明本地可接收数据段的数目，窗口大小是可变的</a:t>
            </a:r>
          </a:p>
          <a:p>
            <a:pPr marL="342900" indent="-342900" eaLnBrk="0" hangingPunct="0">
              <a:spcBef>
                <a:spcPts val="672"/>
              </a:spcBef>
              <a:buClr>
                <a:schemeClr val="hlink"/>
              </a:buClr>
              <a:defRPr/>
            </a:pPr>
            <a:endParaRPr lang="zh-CN" altLang="en-US" sz="2800" b="1" kern="0" dirty="0">
              <a:solidFill>
                <a:schemeClr val="tx2"/>
              </a:solidFill>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xit"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内容占位符 1"/>
          <p:cNvSpPr>
            <a:spLocks noGrp="1"/>
          </p:cNvSpPr>
          <p:nvPr>
            <p:ph idx="1"/>
          </p:nvPr>
        </p:nvSpPr>
        <p:spPr>
          <a:xfrm>
            <a:off x="1738313" y="1143000"/>
            <a:ext cx="8501062" cy="571500"/>
          </a:xfrm>
        </p:spPr>
        <p:txBody>
          <a:bodyPr/>
          <a:lstStyle/>
          <a:p>
            <a:pPr>
              <a:spcBef>
                <a:spcPts val="675"/>
              </a:spcBef>
            </a:pPr>
            <a:r>
              <a:rPr lang="en-US" altLang="zh-CN"/>
              <a:t>TCP</a:t>
            </a:r>
            <a:r>
              <a:rPr lang="zh-CN" altLang="en-US"/>
              <a:t>建立连接的过程称为三次握手</a:t>
            </a:r>
          </a:p>
        </p:txBody>
      </p:sp>
      <p:sp>
        <p:nvSpPr>
          <p:cNvPr id="14339" name="标题 2"/>
          <p:cNvSpPr>
            <a:spLocks noGrp="1"/>
          </p:cNvSpPr>
          <p:nvPr>
            <p:ph type="title"/>
          </p:nvPr>
        </p:nvSpPr>
        <p:spPr/>
        <p:txBody>
          <a:bodyPr/>
          <a:lstStyle/>
          <a:p>
            <a:r>
              <a:rPr lang="zh-CN" altLang="zh-CN"/>
              <a:t>TCP</a:t>
            </a:r>
            <a:r>
              <a:rPr lang="zh-CN"/>
              <a:t>连接</a:t>
            </a:r>
            <a:r>
              <a:rPr lang="en-US" altLang="zh-CN"/>
              <a:t>4-1</a:t>
            </a:r>
            <a:endParaRPr lang="zh-CN" altLang="en-US"/>
          </a:p>
        </p:txBody>
      </p:sp>
      <p:sp>
        <p:nvSpPr>
          <p:cNvPr id="5" name="Line 5">
            <a:hlinkClick r:id="" action="ppaction://noaction" highlightClick="1"/>
          </p:cNvPr>
          <p:cNvSpPr>
            <a:spLocks noChangeShapeType="1"/>
          </p:cNvSpPr>
          <p:nvPr/>
        </p:nvSpPr>
        <p:spPr bwMode="auto">
          <a:xfrm>
            <a:off x="5138738" y="3602039"/>
            <a:ext cx="1693862" cy="282575"/>
          </a:xfrm>
          <a:prstGeom prst="line">
            <a:avLst/>
          </a:prstGeom>
          <a:noFill/>
          <a:ln w="50800">
            <a:solidFill>
              <a:srgbClr val="FF0000"/>
            </a:solidFill>
            <a:round/>
            <a:headEnd type="none" w="sm" len="sm"/>
            <a:tailEnd type="triangle" w="med" len="med"/>
          </a:ln>
        </p:spPr>
        <p:txBody>
          <a:bodyPr wrap="none" anchor="ctr"/>
          <a:lstStyle/>
          <a:p>
            <a:pPr>
              <a:defRPr/>
            </a:pPr>
            <a:endParaRPr lang="zh-CN" altLang="en-US" b="1">
              <a:solidFill>
                <a:schemeClr val="tx2"/>
              </a:solidFill>
              <a:latin typeface="+mn-ea"/>
            </a:endParaRPr>
          </a:p>
        </p:txBody>
      </p:sp>
      <p:sp>
        <p:nvSpPr>
          <p:cNvPr id="6" name="Line 6"/>
          <p:cNvSpPr>
            <a:spLocks noChangeShapeType="1"/>
          </p:cNvSpPr>
          <p:nvPr/>
        </p:nvSpPr>
        <p:spPr bwMode="auto">
          <a:xfrm>
            <a:off x="5032375" y="2930526"/>
            <a:ext cx="0" cy="3343275"/>
          </a:xfrm>
          <a:prstGeom prst="line">
            <a:avLst/>
          </a:prstGeom>
          <a:noFill/>
          <a:ln w="50800">
            <a:solidFill>
              <a:srgbClr val="FF0000"/>
            </a:solidFill>
            <a:round/>
            <a:headEnd type="none" w="sm" len="sm"/>
            <a:tailEnd type="none" w="sm" len="sm"/>
          </a:ln>
        </p:spPr>
        <p:txBody>
          <a:bodyPr wrap="none" anchor="ctr"/>
          <a:lstStyle/>
          <a:p>
            <a:pPr>
              <a:defRPr/>
            </a:pPr>
            <a:endParaRPr lang="zh-CN" altLang="en-US" b="1">
              <a:solidFill>
                <a:schemeClr val="tx2"/>
              </a:solidFill>
              <a:latin typeface="+mn-ea"/>
            </a:endParaRPr>
          </a:p>
        </p:txBody>
      </p:sp>
      <p:sp>
        <p:nvSpPr>
          <p:cNvPr id="7" name="Line 7"/>
          <p:cNvSpPr>
            <a:spLocks noChangeShapeType="1"/>
          </p:cNvSpPr>
          <p:nvPr/>
        </p:nvSpPr>
        <p:spPr bwMode="auto">
          <a:xfrm>
            <a:off x="6977063" y="2930526"/>
            <a:ext cx="0" cy="3343275"/>
          </a:xfrm>
          <a:prstGeom prst="line">
            <a:avLst/>
          </a:prstGeom>
          <a:noFill/>
          <a:ln w="50800">
            <a:solidFill>
              <a:srgbClr val="99CCFF"/>
            </a:solidFill>
            <a:round/>
            <a:headEnd type="none" w="sm" len="sm"/>
            <a:tailEnd type="none" w="sm" len="sm"/>
          </a:ln>
        </p:spPr>
        <p:txBody>
          <a:bodyPr wrap="none" anchor="ctr"/>
          <a:lstStyle/>
          <a:p>
            <a:pPr>
              <a:defRPr/>
            </a:pPr>
            <a:endParaRPr lang="zh-CN" altLang="en-US" b="1">
              <a:solidFill>
                <a:schemeClr val="tx2"/>
              </a:solidFill>
              <a:latin typeface="+mn-ea"/>
            </a:endParaRPr>
          </a:p>
        </p:txBody>
      </p:sp>
      <p:sp>
        <p:nvSpPr>
          <p:cNvPr id="8" name="Line 71"/>
          <p:cNvSpPr>
            <a:spLocks noChangeShapeType="1"/>
          </p:cNvSpPr>
          <p:nvPr/>
        </p:nvSpPr>
        <p:spPr bwMode="auto">
          <a:xfrm flipH="1">
            <a:off x="5176838" y="4445001"/>
            <a:ext cx="1655762" cy="581025"/>
          </a:xfrm>
          <a:prstGeom prst="line">
            <a:avLst/>
          </a:prstGeom>
          <a:noFill/>
          <a:ln w="50800">
            <a:solidFill>
              <a:srgbClr val="99CCFF"/>
            </a:solidFill>
            <a:round/>
            <a:headEnd type="none" w="sm" len="sm"/>
            <a:tailEnd type="triangle" w="med" len="med"/>
          </a:ln>
        </p:spPr>
        <p:txBody>
          <a:bodyPr wrap="none" anchor="ctr"/>
          <a:lstStyle/>
          <a:p>
            <a:pPr>
              <a:defRPr/>
            </a:pPr>
            <a:endParaRPr lang="zh-CN" altLang="en-US" b="1">
              <a:solidFill>
                <a:schemeClr val="tx2"/>
              </a:solidFill>
              <a:latin typeface="+mn-ea"/>
            </a:endParaRPr>
          </a:p>
        </p:txBody>
      </p:sp>
      <p:sp>
        <p:nvSpPr>
          <p:cNvPr id="9" name="Line 81">
            <a:hlinkClick r:id="" action="ppaction://noaction" highlightClick="1"/>
          </p:cNvPr>
          <p:cNvSpPr>
            <a:spLocks noChangeShapeType="1"/>
          </p:cNvSpPr>
          <p:nvPr/>
        </p:nvSpPr>
        <p:spPr bwMode="auto">
          <a:xfrm>
            <a:off x="5176838" y="5600701"/>
            <a:ext cx="1655762" cy="276225"/>
          </a:xfrm>
          <a:prstGeom prst="line">
            <a:avLst/>
          </a:prstGeom>
          <a:noFill/>
          <a:ln w="50800">
            <a:solidFill>
              <a:srgbClr val="FF0000"/>
            </a:solidFill>
            <a:round/>
            <a:headEnd type="none" w="sm" len="sm"/>
            <a:tailEnd type="triangle" w="med" len="med"/>
          </a:ln>
        </p:spPr>
        <p:txBody>
          <a:bodyPr wrap="none" anchor="ctr"/>
          <a:lstStyle/>
          <a:p>
            <a:pPr>
              <a:defRPr/>
            </a:pPr>
            <a:endParaRPr lang="zh-CN" altLang="en-US" b="1">
              <a:solidFill>
                <a:schemeClr val="tx2"/>
              </a:solidFill>
              <a:latin typeface="+mn-ea"/>
            </a:endParaRPr>
          </a:p>
        </p:txBody>
      </p:sp>
      <p:pic>
        <p:nvPicPr>
          <p:cNvPr id="14345" name="Picture 24"/>
          <p:cNvPicPr>
            <a:picLocks noChangeAspect="1" noChangeArrowheads="1"/>
          </p:cNvPicPr>
          <p:nvPr/>
        </p:nvPicPr>
        <p:blipFill>
          <a:blip r:embed="rId2"/>
          <a:srcRect/>
          <a:stretch>
            <a:fillRect/>
          </a:stretch>
        </p:blipFill>
        <p:spPr bwMode="auto">
          <a:xfrm>
            <a:off x="4579939" y="1965326"/>
            <a:ext cx="949325" cy="900113"/>
          </a:xfrm>
          <a:prstGeom prst="rect">
            <a:avLst/>
          </a:prstGeom>
          <a:noFill/>
          <a:ln w="9525">
            <a:noFill/>
            <a:miter lim="800000"/>
            <a:headEnd/>
            <a:tailEnd/>
          </a:ln>
        </p:spPr>
      </p:pic>
      <p:pic>
        <p:nvPicPr>
          <p:cNvPr id="14346" name="Picture 11" descr="black_server"/>
          <p:cNvPicPr>
            <a:picLocks noChangeAspect="1" noChangeArrowheads="1"/>
          </p:cNvPicPr>
          <p:nvPr/>
        </p:nvPicPr>
        <p:blipFill>
          <a:blip r:embed="rId3"/>
          <a:srcRect/>
          <a:stretch>
            <a:fillRect/>
          </a:stretch>
        </p:blipFill>
        <p:spPr bwMode="auto">
          <a:xfrm>
            <a:off x="6515101" y="1928814"/>
            <a:ext cx="949325" cy="949325"/>
          </a:xfrm>
          <a:prstGeom prst="rect">
            <a:avLst/>
          </a:prstGeom>
          <a:noFill/>
          <a:ln w="9525">
            <a:noFill/>
            <a:miter lim="800000"/>
            <a:headEnd/>
            <a:tailEnd/>
          </a:ln>
        </p:spPr>
      </p:pic>
      <p:sp>
        <p:nvSpPr>
          <p:cNvPr id="12" name="Text Box 13"/>
          <p:cNvSpPr txBox="1">
            <a:spLocks noChangeArrowheads="1"/>
          </p:cNvSpPr>
          <p:nvPr/>
        </p:nvSpPr>
        <p:spPr bwMode="auto">
          <a:xfrm>
            <a:off x="4019551" y="2184400"/>
            <a:ext cx="684803" cy="369332"/>
          </a:xfrm>
          <a:prstGeom prst="rect">
            <a:avLst/>
          </a:prstGeom>
          <a:noFill/>
          <a:ln w="9525" algn="ctr">
            <a:noFill/>
            <a:miter lim="800000"/>
            <a:headEnd/>
            <a:tailEnd/>
          </a:ln>
        </p:spPr>
        <p:txBody>
          <a:bodyPr wrap="none" anchorCtr="1">
            <a:spAutoFit/>
          </a:bodyPr>
          <a:lstStyle/>
          <a:p>
            <a:pPr>
              <a:defRPr/>
            </a:pPr>
            <a:r>
              <a:rPr lang="en-US" altLang="zh-CN" b="1">
                <a:solidFill>
                  <a:schemeClr val="tx2"/>
                </a:solidFill>
                <a:latin typeface="+mn-ea"/>
                <a:cs typeface="Arial" charset="0"/>
              </a:rPr>
              <a:t>PC1</a:t>
            </a:r>
          </a:p>
        </p:txBody>
      </p:sp>
      <p:sp>
        <p:nvSpPr>
          <p:cNvPr id="13" name="Text Box 13"/>
          <p:cNvSpPr txBox="1">
            <a:spLocks noChangeArrowheads="1"/>
          </p:cNvSpPr>
          <p:nvPr/>
        </p:nvSpPr>
        <p:spPr bwMode="auto">
          <a:xfrm>
            <a:off x="7427914" y="2293938"/>
            <a:ext cx="684803" cy="369332"/>
          </a:xfrm>
          <a:prstGeom prst="rect">
            <a:avLst/>
          </a:prstGeom>
          <a:noFill/>
          <a:ln w="9525" algn="ctr">
            <a:noFill/>
            <a:miter lim="800000"/>
            <a:headEnd/>
            <a:tailEnd/>
          </a:ln>
        </p:spPr>
        <p:txBody>
          <a:bodyPr wrap="none" anchorCtr="1">
            <a:spAutoFit/>
          </a:bodyPr>
          <a:lstStyle/>
          <a:p>
            <a:pPr>
              <a:defRPr/>
            </a:pPr>
            <a:r>
              <a:rPr lang="en-US" altLang="zh-CN" b="1">
                <a:solidFill>
                  <a:schemeClr val="tx2"/>
                </a:solidFill>
                <a:latin typeface="+mn-ea"/>
                <a:cs typeface="Arial" charset="0"/>
              </a:rPr>
              <a:t>PC2</a:t>
            </a:r>
          </a:p>
        </p:txBody>
      </p:sp>
      <p:sp>
        <p:nvSpPr>
          <p:cNvPr id="14" name="Text Box 13"/>
          <p:cNvSpPr txBox="1">
            <a:spLocks noChangeArrowheads="1"/>
          </p:cNvSpPr>
          <p:nvPr/>
        </p:nvSpPr>
        <p:spPr bwMode="auto">
          <a:xfrm>
            <a:off x="2835275" y="3217864"/>
            <a:ext cx="2603598" cy="646331"/>
          </a:xfrm>
          <a:prstGeom prst="rect">
            <a:avLst/>
          </a:prstGeom>
          <a:noFill/>
          <a:ln w="9525" algn="ctr">
            <a:noFill/>
            <a:miter lim="800000"/>
            <a:headEnd/>
            <a:tailEnd/>
          </a:ln>
        </p:spPr>
        <p:txBody>
          <a:bodyPr wrap="none" anchorCtr="1">
            <a:spAutoFit/>
          </a:bodyPr>
          <a:lstStyle/>
          <a:p>
            <a:pPr>
              <a:defRPr/>
            </a:pPr>
            <a:r>
              <a:rPr lang="en-US" altLang="zh-CN" b="1">
                <a:solidFill>
                  <a:schemeClr val="tx2"/>
                </a:solidFill>
                <a:latin typeface="+mn-ea"/>
                <a:cs typeface="Arial" charset="0"/>
              </a:rPr>
              <a:t>1.</a:t>
            </a:r>
            <a:r>
              <a:rPr lang="zh-CN" altLang="en-US" b="1">
                <a:solidFill>
                  <a:schemeClr val="tx2"/>
                </a:solidFill>
                <a:latin typeface="+mn-ea"/>
                <a:cs typeface="Arial" charset="0"/>
              </a:rPr>
              <a:t>发送</a:t>
            </a:r>
            <a:r>
              <a:rPr lang="en-US" altLang="zh-CN" b="1">
                <a:solidFill>
                  <a:schemeClr val="tx2"/>
                </a:solidFill>
                <a:latin typeface="+mn-ea"/>
                <a:cs typeface="Arial" charset="0"/>
              </a:rPr>
              <a:t>SYN</a:t>
            </a:r>
            <a:r>
              <a:rPr lang="zh-CN" altLang="en-US" b="1">
                <a:solidFill>
                  <a:schemeClr val="tx2"/>
                </a:solidFill>
                <a:latin typeface="+mn-ea"/>
                <a:cs typeface="Arial" charset="0"/>
              </a:rPr>
              <a:t>报文</a:t>
            </a:r>
          </a:p>
          <a:p>
            <a:pPr>
              <a:defRPr/>
            </a:pPr>
            <a:r>
              <a:rPr lang="zh-CN" altLang="en-US" b="1">
                <a:solidFill>
                  <a:schemeClr val="tx2"/>
                </a:solidFill>
                <a:latin typeface="+mn-ea"/>
                <a:cs typeface="Arial" charset="0"/>
              </a:rPr>
              <a:t>（</a:t>
            </a:r>
            <a:r>
              <a:rPr lang="en-US" altLang="zh-CN" b="1">
                <a:solidFill>
                  <a:schemeClr val="tx2"/>
                </a:solidFill>
                <a:latin typeface="+mn-ea"/>
                <a:cs typeface="Arial" charset="0"/>
              </a:rPr>
              <a:t>Seq=x</a:t>
            </a:r>
            <a:r>
              <a:rPr lang="zh-CN" altLang="en-US" b="1">
                <a:solidFill>
                  <a:schemeClr val="tx2"/>
                </a:solidFill>
                <a:latin typeface="+mn-ea"/>
                <a:cs typeface="Arial" charset="0"/>
              </a:rPr>
              <a:t>，</a:t>
            </a:r>
            <a:r>
              <a:rPr lang="en-US" altLang="zh-CN" b="1">
                <a:solidFill>
                  <a:schemeClr val="tx2"/>
                </a:solidFill>
                <a:latin typeface="+mn-ea"/>
                <a:cs typeface="Arial" charset="0"/>
              </a:rPr>
              <a:t>SYN=1</a:t>
            </a:r>
            <a:r>
              <a:rPr lang="zh-CN" altLang="en-US" b="1">
                <a:solidFill>
                  <a:schemeClr val="tx2"/>
                </a:solidFill>
                <a:latin typeface="+mn-ea"/>
                <a:cs typeface="Arial" charset="0"/>
              </a:rPr>
              <a:t>）</a:t>
            </a:r>
          </a:p>
        </p:txBody>
      </p:sp>
      <p:sp>
        <p:nvSpPr>
          <p:cNvPr id="15" name="Text Box 13"/>
          <p:cNvSpPr txBox="1">
            <a:spLocks noChangeArrowheads="1"/>
          </p:cNvSpPr>
          <p:nvPr/>
        </p:nvSpPr>
        <p:spPr bwMode="auto">
          <a:xfrm>
            <a:off x="7107239" y="3937000"/>
            <a:ext cx="2896947" cy="923330"/>
          </a:xfrm>
          <a:prstGeom prst="rect">
            <a:avLst/>
          </a:prstGeom>
          <a:noFill/>
          <a:ln w="9525" algn="ctr">
            <a:noFill/>
            <a:miter lim="800000"/>
            <a:headEnd/>
            <a:tailEnd/>
          </a:ln>
        </p:spPr>
        <p:txBody>
          <a:bodyPr wrap="none" anchorCtr="1">
            <a:spAutoFit/>
          </a:bodyPr>
          <a:lstStyle/>
          <a:p>
            <a:pPr>
              <a:defRPr/>
            </a:pPr>
            <a:r>
              <a:rPr lang="en-US" altLang="zh-CN" b="1">
                <a:solidFill>
                  <a:schemeClr val="tx2"/>
                </a:solidFill>
                <a:latin typeface="+mn-ea"/>
                <a:cs typeface="Arial" charset="0"/>
              </a:rPr>
              <a:t>2.</a:t>
            </a:r>
            <a:r>
              <a:rPr lang="zh-CN" altLang="en-US" b="1">
                <a:solidFill>
                  <a:schemeClr val="tx2"/>
                </a:solidFill>
                <a:latin typeface="+mn-ea"/>
                <a:cs typeface="Arial" charset="0"/>
              </a:rPr>
              <a:t>发送</a:t>
            </a:r>
            <a:r>
              <a:rPr lang="en-US" altLang="zh-CN" b="1">
                <a:solidFill>
                  <a:schemeClr val="tx2"/>
                </a:solidFill>
                <a:latin typeface="+mn-ea"/>
                <a:cs typeface="Arial" charset="0"/>
              </a:rPr>
              <a:t>SYN</a:t>
            </a:r>
            <a:r>
              <a:rPr lang="zh-CN" altLang="en-US" b="1">
                <a:solidFill>
                  <a:schemeClr val="tx2"/>
                </a:solidFill>
                <a:latin typeface="+mn-ea"/>
                <a:cs typeface="Arial" charset="0"/>
              </a:rPr>
              <a:t>＋</a:t>
            </a:r>
            <a:r>
              <a:rPr lang="en-US" altLang="zh-CN" b="1">
                <a:solidFill>
                  <a:schemeClr val="tx2"/>
                </a:solidFill>
                <a:latin typeface="+mn-ea"/>
                <a:cs typeface="Arial" charset="0"/>
              </a:rPr>
              <a:t>ACK</a:t>
            </a:r>
            <a:r>
              <a:rPr lang="zh-CN" altLang="en-US" b="1">
                <a:solidFill>
                  <a:schemeClr val="tx2"/>
                </a:solidFill>
                <a:latin typeface="+mn-ea"/>
                <a:cs typeface="Arial" charset="0"/>
              </a:rPr>
              <a:t>报文</a:t>
            </a:r>
          </a:p>
          <a:p>
            <a:pPr>
              <a:defRPr/>
            </a:pPr>
            <a:r>
              <a:rPr lang="zh-CN" altLang="en-US" b="1">
                <a:solidFill>
                  <a:schemeClr val="tx2"/>
                </a:solidFill>
                <a:latin typeface="+mn-ea"/>
                <a:cs typeface="Arial" charset="0"/>
              </a:rPr>
              <a:t>（</a:t>
            </a:r>
            <a:r>
              <a:rPr lang="en-US" altLang="zh-CN" b="1">
                <a:solidFill>
                  <a:schemeClr val="tx2"/>
                </a:solidFill>
                <a:latin typeface="+mn-ea"/>
                <a:cs typeface="Arial" charset="0"/>
              </a:rPr>
              <a:t>Seq=y</a:t>
            </a:r>
            <a:r>
              <a:rPr lang="zh-CN" altLang="en-US" b="1">
                <a:solidFill>
                  <a:schemeClr val="tx2"/>
                </a:solidFill>
                <a:latin typeface="+mn-ea"/>
                <a:cs typeface="Arial" charset="0"/>
              </a:rPr>
              <a:t>，</a:t>
            </a:r>
            <a:r>
              <a:rPr lang="en-US" altLang="zh-CN" b="1">
                <a:solidFill>
                  <a:schemeClr val="tx2"/>
                </a:solidFill>
                <a:latin typeface="+mn-ea"/>
                <a:cs typeface="Arial" charset="0"/>
              </a:rPr>
              <a:t>Ack=x+1</a:t>
            </a:r>
            <a:r>
              <a:rPr lang="zh-CN" altLang="en-US" b="1">
                <a:solidFill>
                  <a:schemeClr val="tx2"/>
                </a:solidFill>
                <a:latin typeface="+mn-ea"/>
                <a:cs typeface="Arial" charset="0"/>
              </a:rPr>
              <a:t>，</a:t>
            </a:r>
          </a:p>
          <a:p>
            <a:pPr>
              <a:defRPr/>
            </a:pPr>
            <a:r>
              <a:rPr lang="en-US" altLang="zh-CN" b="1">
                <a:solidFill>
                  <a:schemeClr val="tx2"/>
                </a:solidFill>
                <a:latin typeface="+mn-ea"/>
                <a:cs typeface="Arial" charset="0"/>
              </a:rPr>
              <a:t>SYN=1</a:t>
            </a:r>
            <a:r>
              <a:rPr lang="zh-CN" altLang="en-US" b="1">
                <a:solidFill>
                  <a:schemeClr val="tx2"/>
                </a:solidFill>
                <a:latin typeface="+mn-ea"/>
                <a:cs typeface="Arial" charset="0"/>
              </a:rPr>
              <a:t>，</a:t>
            </a:r>
            <a:r>
              <a:rPr lang="en-US" altLang="zh-CN" b="1">
                <a:solidFill>
                  <a:schemeClr val="tx2"/>
                </a:solidFill>
                <a:latin typeface="+mn-ea"/>
                <a:cs typeface="Arial" charset="0"/>
              </a:rPr>
              <a:t>ACK</a:t>
            </a:r>
            <a:r>
              <a:rPr lang="zh-CN" altLang="en-US" b="1">
                <a:solidFill>
                  <a:schemeClr val="tx2"/>
                </a:solidFill>
                <a:latin typeface="+mn-ea"/>
                <a:cs typeface="Arial" charset="0"/>
              </a:rPr>
              <a:t>＝</a:t>
            </a:r>
            <a:r>
              <a:rPr lang="en-US" altLang="zh-CN" b="1">
                <a:solidFill>
                  <a:schemeClr val="tx2"/>
                </a:solidFill>
                <a:latin typeface="+mn-ea"/>
                <a:cs typeface="Arial" charset="0"/>
              </a:rPr>
              <a:t>1</a:t>
            </a:r>
            <a:r>
              <a:rPr lang="zh-CN" altLang="en-US" b="1">
                <a:solidFill>
                  <a:schemeClr val="tx2"/>
                </a:solidFill>
                <a:latin typeface="+mn-ea"/>
                <a:cs typeface="Arial" charset="0"/>
              </a:rPr>
              <a:t>）</a:t>
            </a:r>
          </a:p>
        </p:txBody>
      </p:sp>
      <p:sp>
        <p:nvSpPr>
          <p:cNvPr id="16" name="Text Box 13"/>
          <p:cNvSpPr txBox="1">
            <a:spLocks noChangeArrowheads="1"/>
          </p:cNvSpPr>
          <p:nvPr/>
        </p:nvSpPr>
        <p:spPr bwMode="auto">
          <a:xfrm>
            <a:off x="2362201" y="5167313"/>
            <a:ext cx="3260829" cy="923330"/>
          </a:xfrm>
          <a:prstGeom prst="rect">
            <a:avLst/>
          </a:prstGeom>
          <a:noFill/>
          <a:ln w="9525" algn="ctr">
            <a:noFill/>
            <a:miter lim="800000"/>
            <a:headEnd/>
            <a:tailEnd/>
          </a:ln>
        </p:spPr>
        <p:txBody>
          <a:bodyPr wrap="none" anchorCtr="1">
            <a:spAutoFit/>
          </a:bodyPr>
          <a:lstStyle/>
          <a:p>
            <a:pPr>
              <a:defRPr/>
            </a:pPr>
            <a:r>
              <a:rPr lang="en-US" altLang="zh-CN" b="1">
                <a:solidFill>
                  <a:schemeClr val="tx2"/>
                </a:solidFill>
                <a:latin typeface="+mn-ea"/>
                <a:cs typeface="Arial" charset="0"/>
              </a:rPr>
              <a:t>3. </a:t>
            </a:r>
            <a:r>
              <a:rPr lang="zh-CN" altLang="en-US" b="1">
                <a:solidFill>
                  <a:schemeClr val="tx2"/>
                </a:solidFill>
                <a:latin typeface="+mn-ea"/>
                <a:cs typeface="Arial" charset="0"/>
              </a:rPr>
              <a:t>发送</a:t>
            </a:r>
            <a:r>
              <a:rPr lang="en-US" altLang="zh-CN" b="1">
                <a:solidFill>
                  <a:schemeClr val="tx2"/>
                </a:solidFill>
                <a:latin typeface="+mn-ea"/>
                <a:cs typeface="Arial" charset="0"/>
              </a:rPr>
              <a:t>ACK</a:t>
            </a:r>
            <a:r>
              <a:rPr lang="zh-CN" altLang="en-US" b="1">
                <a:solidFill>
                  <a:schemeClr val="tx2"/>
                </a:solidFill>
                <a:latin typeface="+mn-ea"/>
                <a:cs typeface="Arial" charset="0"/>
              </a:rPr>
              <a:t>报文</a:t>
            </a:r>
          </a:p>
          <a:p>
            <a:pPr>
              <a:defRPr/>
            </a:pPr>
            <a:r>
              <a:rPr lang="zh-CN" altLang="en-US" b="1">
                <a:solidFill>
                  <a:schemeClr val="tx2"/>
                </a:solidFill>
                <a:latin typeface="+mn-ea"/>
                <a:cs typeface="Arial" charset="0"/>
              </a:rPr>
              <a:t>（</a:t>
            </a:r>
            <a:r>
              <a:rPr lang="en-US" altLang="zh-CN" b="1">
                <a:solidFill>
                  <a:schemeClr val="tx2"/>
                </a:solidFill>
                <a:latin typeface="+mn-ea"/>
                <a:cs typeface="Arial" charset="0"/>
              </a:rPr>
              <a:t>Seq=x+1</a:t>
            </a:r>
            <a:r>
              <a:rPr lang="zh-CN" altLang="en-US" b="1">
                <a:solidFill>
                  <a:schemeClr val="tx2"/>
                </a:solidFill>
                <a:latin typeface="+mn-ea"/>
                <a:cs typeface="Arial" charset="0"/>
              </a:rPr>
              <a:t>，</a:t>
            </a:r>
            <a:r>
              <a:rPr lang="en-US" altLang="zh-CN" b="1">
                <a:solidFill>
                  <a:schemeClr val="tx2"/>
                </a:solidFill>
                <a:latin typeface="+mn-ea"/>
                <a:cs typeface="Arial" charset="0"/>
              </a:rPr>
              <a:t>Ack=y+1</a:t>
            </a:r>
            <a:r>
              <a:rPr lang="zh-CN" altLang="en-US" b="1">
                <a:solidFill>
                  <a:schemeClr val="tx2"/>
                </a:solidFill>
                <a:latin typeface="+mn-ea"/>
                <a:cs typeface="Arial" charset="0"/>
              </a:rPr>
              <a:t>，</a:t>
            </a:r>
          </a:p>
          <a:p>
            <a:pPr>
              <a:defRPr/>
            </a:pPr>
            <a:r>
              <a:rPr lang="en-US" altLang="zh-CN" b="1">
                <a:solidFill>
                  <a:schemeClr val="tx2"/>
                </a:solidFill>
                <a:latin typeface="+mn-ea"/>
                <a:cs typeface="Arial" charset="0"/>
              </a:rPr>
              <a:t>ACK=1</a:t>
            </a:r>
            <a:r>
              <a:rPr lang="zh-CN" altLang="en-US" b="1">
                <a:solidFill>
                  <a:schemeClr val="tx2"/>
                </a:solidFill>
                <a:latin typeface="+mn-ea"/>
                <a:cs typeface="Arial" charset="0"/>
              </a:rPr>
              <a:t>）</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1000"/>
                                        <p:tgtEl>
                                          <p:spTgt spid="5"/>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blinds(horizontal)">
                                      <p:cBhvr>
                                        <p:cTn id="14" dur="500"/>
                                        <p:tgtEl>
                                          <p:spTgt spid="15"/>
                                        </p:tgtEl>
                                      </p:cBhvr>
                                    </p:animEffect>
                                  </p:childTnLst>
                                </p:cTn>
                              </p:par>
                            </p:childTnLst>
                          </p:cTn>
                        </p:par>
                        <p:par>
                          <p:cTn id="15" fill="hold">
                            <p:stCondLst>
                              <p:cond delay="1500"/>
                            </p:stCondLst>
                            <p:childTnLst>
                              <p:par>
                                <p:cTn id="16" presetID="22" presetClass="entr" presetSubtype="2" fill="hold"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right)">
                                      <p:cBhvr>
                                        <p:cTn id="18" dur="1000"/>
                                        <p:tgtEl>
                                          <p:spTgt spid="8"/>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blinds(horizontal)">
                                      <p:cBhvr>
                                        <p:cTn id="21" dur="500"/>
                                        <p:tgtEl>
                                          <p:spTgt spid="16"/>
                                        </p:tgtEl>
                                      </p:cBhvr>
                                    </p:animEffect>
                                  </p:childTnLst>
                                </p:cTn>
                              </p:par>
                            </p:childTnLst>
                          </p:cTn>
                        </p:par>
                        <p:par>
                          <p:cTn id="22" fill="hold">
                            <p:stCondLst>
                              <p:cond delay="2500"/>
                            </p:stCondLst>
                            <p:childTnLst>
                              <p:par>
                                <p:cTn id="23" presetID="22" presetClass="entr" presetSubtype="8"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738313" y="1143000"/>
            <a:ext cx="8501062" cy="642938"/>
          </a:xfrm>
        </p:spPr>
        <p:txBody>
          <a:bodyPr>
            <a:normAutofit fontScale="40000" lnSpcReduction="20000"/>
          </a:bodyPr>
          <a:lstStyle/>
          <a:p>
            <a:pPr>
              <a:spcBef>
                <a:spcPts val="675"/>
              </a:spcBef>
            </a:pPr>
            <a:r>
              <a:rPr lang="zh-CN" altLang="en-US"/>
              <a:t>通过</a:t>
            </a:r>
            <a:r>
              <a:rPr lang="en-US" altLang="zh-CN"/>
              <a:t>Sniffer</a:t>
            </a:r>
            <a:r>
              <a:rPr lang="zh-CN" altLang="en-US"/>
              <a:t>抓包来分析三次握手的过程</a:t>
            </a:r>
            <a:endParaRPr lang="en-US" altLang="zh-CN"/>
          </a:p>
          <a:p>
            <a:pPr lvl="1">
              <a:spcBef>
                <a:spcPts val="475"/>
              </a:spcBef>
            </a:pPr>
            <a:r>
              <a:rPr lang="zh-CN" altLang="en-US"/>
              <a:t>第一次握手</a:t>
            </a:r>
            <a:endParaRPr lang="en-US" altLang="zh-CN"/>
          </a:p>
          <a:p>
            <a:pPr lvl="1">
              <a:spcBef>
                <a:spcPts val="475"/>
              </a:spcBef>
            </a:pPr>
            <a:r>
              <a:rPr lang="zh-CN" altLang="en-US"/>
              <a:t>第二次握手</a:t>
            </a:r>
            <a:endParaRPr lang="en-US" altLang="zh-CN"/>
          </a:p>
          <a:p>
            <a:pPr lvl="1">
              <a:spcBef>
                <a:spcPts val="475"/>
              </a:spcBef>
            </a:pPr>
            <a:r>
              <a:rPr lang="zh-CN" altLang="en-US"/>
              <a:t>第三次握手</a:t>
            </a:r>
          </a:p>
        </p:txBody>
      </p:sp>
      <p:sp>
        <p:nvSpPr>
          <p:cNvPr id="15363" name="标题 2"/>
          <p:cNvSpPr>
            <a:spLocks noGrp="1"/>
          </p:cNvSpPr>
          <p:nvPr>
            <p:ph type="title"/>
          </p:nvPr>
        </p:nvSpPr>
        <p:spPr/>
        <p:txBody>
          <a:bodyPr/>
          <a:lstStyle/>
          <a:p>
            <a:r>
              <a:rPr lang="zh-CN" altLang="zh-CN"/>
              <a:t>TCP</a:t>
            </a:r>
            <a:r>
              <a:rPr lang="zh-CN"/>
              <a:t>连接</a:t>
            </a:r>
            <a:r>
              <a:rPr lang="en-US" altLang="zh-CN"/>
              <a:t>4-2</a:t>
            </a:r>
            <a:endParaRPr lang="zh-CN" altLang="en-US"/>
          </a:p>
        </p:txBody>
      </p:sp>
      <p:pic>
        <p:nvPicPr>
          <p:cNvPr id="15364" name="Picture 2" descr="snap117"/>
          <p:cNvPicPr>
            <a:picLocks noChangeAspect="1" noChangeArrowheads="1"/>
          </p:cNvPicPr>
          <p:nvPr/>
        </p:nvPicPr>
        <p:blipFill>
          <a:blip r:embed="rId2"/>
          <a:srcRect/>
          <a:stretch>
            <a:fillRect/>
          </a:stretch>
        </p:blipFill>
        <p:spPr bwMode="auto">
          <a:xfrm>
            <a:off x="4667250" y="2071689"/>
            <a:ext cx="5246688" cy="3786187"/>
          </a:xfrm>
          <a:prstGeom prst="rect">
            <a:avLst/>
          </a:prstGeom>
          <a:noFill/>
          <a:ln w="9525">
            <a:noFill/>
            <a:miter lim="800000"/>
            <a:headEnd/>
            <a:tailEnd/>
          </a:ln>
        </p:spPr>
      </p:pic>
      <p:sp>
        <p:nvSpPr>
          <p:cNvPr id="5" name="AutoShape 4"/>
          <p:cNvSpPr>
            <a:spLocks noChangeArrowheads="1"/>
          </p:cNvSpPr>
          <p:nvPr/>
        </p:nvSpPr>
        <p:spPr bwMode="auto">
          <a:xfrm>
            <a:off x="8239126" y="4214814"/>
            <a:ext cx="1643063" cy="369887"/>
          </a:xfrm>
          <a:prstGeom prst="wedgeRoundRectCallout">
            <a:avLst>
              <a:gd name="adj1" fmla="val -42741"/>
              <a:gd name="adj2" fmla="val 141435"/>
              <a:gd name="adj3" fmla="val 16667"/>
            </a:avLst>
          </a:prstGeom>
          <a:gradFill rotWithShape="1">
            <a:gsLst>
              <a:gs pos="0">
                <a:srgbClr val="FFFF99"/>
              </a:gs>
              <a:gs pos="100000">
                <a:srgbClr val="FFFFFF"/>
              </a:gs>
            </a:gsLst>
            <a:lin ang="5400000" scaled="1"/>
          </a:gradFill>
          <a:ln w="9525" algn="ctr">
            <a:solidFill>
              <a:srgbClr val="FF9900"/>
            </a:solidFill>
            <a:miter lim="800000"/>
            <a:headEnd/>
            <a:tailEnd/>
          </a:ln>
        </p:spPr>
        <p:txBody>
          <a:bodyPr anchor="ctr" anchorCtr="1"/>
          <a:lstStyle/>
          <a:p>
            <a:pPr algn="ctr"/>
            <a:r>
              <a:rPr lang="en-US" altLang="zh-CN" sz="2000" b="1">
                <a:solidFill>
                  <a:srgbClr val="000000"/>
                </a:solidFill>
                <a:latin typeface="楷体_GB2312" pitchFamily="49" charset="-122"/>
                <a:ea typeface="楷体_GB2312" pitchFamily="49" charset="-122"/>
              </a:rPr>
              <a:t>SYN=1</a:t>
            </a:r>
          </a:p>
        </p:txBody>
      </p:sp>
      <p:sp>
        <p:nvSpPr>
          <p:cNvPr id="6" name="矩形 5"/>
          <p:cNvSpPr>
            <a:spLocks noChangeArrowheads="1"/>
          </p:cNvSpPr>
          <p:nvPr/>
        </p:nvSpPr>
        <p:spPr bwMode="auto">
          <a:xfrm>
            <a:off x="5024438" y="4780241"/>
            <a:ext cx="3429000" cy="369332"/>
          </a:xfrm>
          <a:prstGeom prst="rect">
            <a:avLst/>
          </a:prstGeom>
          <a:solidFill>
            <a:srgbClr val="006666">
              <a:alpha val="0"/>
            </a:srgbClr>
          </a:solidFill>
          <a:ln w="28575" algn="ctr">
            <a:solidFill>
              <a:srgbClr val="FF0000"/>
            </a:solidFill>
            <a:round/>
            <a:headEnd/>
            <a:tailEnd/>
          </a:ln>
        </p:spPr>
        <p:txBody>
          <a:bodyPr anchor="ctr">
            <a:spAutoFit/>
          </a:bodyPr>
          <a:lstStyle/>
          <a:p>
            <a:pPr marL="95250" algn="ctr"/>
            <a:endParaRPr lang="zh-CN" altLang="en-US" b="1">
              <a:solidFill>
                <a:schemeClr val="tx2"/>
              </a:solidFill>
            </a:endParaRPr>
          </a:p>
        </p:txBody>
      </p:sp>
      <p:pic>
        <p:nvPicPr>
          <p:cNvPr id="70659" name="Picture 3" descr="snap118"/>
          <p:cNvPicPr>
            <a:picLocks noChangeAspect="1" noChangeArrowheads="1"/>
          </p:cNvPicPr>
          <p:nvPr/>
        </p:nvPicPr>
        <p:blipFill>
          <a:blip r:embed="rId3"/>
          <a:srcRect/>
          <a:stretch>
            <a:fillRect/>
          </a:stretch>
        </p:blipFill>
        <p:spPr bwMode="auto">
          <a:xfrm>
            <a:off x="4667250" y="2071689"/>
            <a:ext cx="5214938" cy="3779837"/>
          </a:xfrm>
          <a:prstGeom prst="rect">
            <a:avLst/>
          </a:prstGeom>
          <a:noFill/>
          <a:ln w="9525">
            <a:noFill/>
            <a:miter lim="800000"/>
            <a:headEnd/>
            <a:tailEnd/>
          </a:ln>
        </p:spPr>
      </p:pic>
      <p:sp>
        <p:nvSpPr>
          <p:cNvPr id="8" name="矩形 7"/>
          <p:cNvSpPr>
            <a:spLocks noChangeArrowheads="1"/>
          </p:cNvSpPr>
          <p:nvPr/>
        </p:nvSpPr>
        <p:spPr bwMode="auto">
          <a:xfrm>
            <a:off x="5024439" y="4423053"/>
            <a:ext cx="3786187" cy="369332"/>
          </a:xfrm>
          <a:prstGeom prst="rect">
            <a:avLst/>
          </a:prstGeom>
          <a:solidFill>
            <a:srgbClr val="006666">
              <a:alpha val="0"/>
            </a:srgbClr>
          </a:solidFill>
          <a:ln w="28575" algn="ctr">
            <a:solidFill>
              <a:srgbClr val="FF0000"/>
            </a:solidFill>
            <a:round/>
            <a:headEnd/>
            <a:tailEnd/>
          </a:ln>
        </p:spPr>
        <p:txBody>
          <a:bodyPr anchor="ctr">
            <a:spAutoFit/>
          </a:bodyPr>
          <a:lstStyle/>
          <a:p>
            <a:pPr marL="95250" algn="ctr"/>
            <a:endParaRPr lang="zh-CN" altLang="en-US" b="1">
              <a:solidFill>
                <a:schemeClr val="tx2"/>
              </a:solidFill>
            </a:endParaRPr>
          </a:p>
        </p:txBody>
      </p:sp>
      <p:sp>
        <p:nvSpPr>
          <p:cNvPr id="10" name="矩形 9"/>
          <p:cNvSpPr>
            <a:spLocks noChangeArrowheads="1"/>
          </p:cNvSpPr>
          <p:nvPr/>
        </p:nvSpPr>
        <p:spPr bwMode="auto">
          <a:xfrm>
            <a:off x="5024439" y="4923116"/>
            <a:ext cx="3214687" cy="369332"/>
          </a:xfrm>
          <a:prstGeom prst="rect">
            <a:avLst/>
          </a:prstGeom>
          <a:solidFill>
            <a:srgbClr val="006666">
              <a:alpha val="0"/>
            </a:srgbClr>
          </a:solidFill>
          <a:ln w="28575" algn="ctr">
            <a:solidFill>
              <a:srgbClr val="FF0000"/>
            </a:solidFill>
            <a:round/>
            <a:headEnd/>
            <a:tailEnd/>
          </a:ln>
        </p:spPr>
        <p:txBody>
          <a:bodyPr anchor="ctr">
            <a:spAutoFit/>
          </a:bodyPr>
          <a:lstStyle/>
          <a:p>
            <a:pPr marL="95250" algn="ctr"/>
            <a:endParaRPr lang="zh-CN" altLang="en-US" b="1">
              <a:solidFill>
                <a:schemeClr val="tx2"/>
              </a:solidFill>
            </a:endParaRPr>
          </a:p>
        </p:txBody>
      </p:sp>
      <p:sp>
        <p:nvSpPr>
          <p:cNvPr id="11" name="AutoShape 4"/>
          <p:cNvSpPr>
            <a:spLocks noChangeArrowheads="1"/>
          </p:cNvSpPr>
          <p:nvPr/>
        </p:nvSpPr>
        <p:spPr bwMode="auto">
          <a:xfrm>
            <a:off x="6167438" y="3643314"/>
            <a:ext cx="1643062" cy="441325"/>
          </a:xfrm>
          <a:prstGeom prst="wedgeRoundRectCallout">
            <a:avLst>
              <a:gd name="adj1" fmla="val 61935"/>
              <a:gd name="adj2" fmla="val 112764"/>
              <a:gd name="adj3" fmla="val 16667"/>
            </a:avLst>
          </a:prstGeom>
          <a:gradFill rotWithShape="1">
            <a:gsLst>
              <a:gs pos="0">
                <a:srgbClr val="FFFF99"/>
              </a:gs>
              <a:gs pos="100000">
                <a:srgbClr val="FFFFFF"/>
              </a:gs>
            </a:gsLst>
            <a:lin ang="5400000" scaled="1"/>
          </a:gradFill>
          <a:ln w="9525" algn="ctr">
            <a:solidFill>
              <a:srgbClr val="FF9900"/>
            </a:solidFill>
            <a:miter lim="800000"/>
            <a:headEnd/>
            <a:tailEnd/>
          </a:ln>
        </p:spPr>
        <p:txBody>
          <a:bodyPr anchor="ctr" anchorCtr="1"/>
          <a:lstStyle/>
          <a:p>
            <a:pPr algn="ctr"/>
            <a:r>
              <a:rPr lang="en-US" altLang="zh-CN" sz="2000" b="1">
                <a:solidFill>
                  <a:srgbClr val="000000"/>
                </a:solidFill>
                <a:latin typeface="楷体_GB2312" pitchFamily="49" charset="-122"/>
                <a:ea typeface="楷体_GB2312" pitchFamily="49" charset="-122"/>
              </a:rPr>
              <a:t>ACK=1</a:t>
            </a:r>
          </a:p>
        </p:txBody>
      </p:sp>
      <p:sp>
        <p:nvSpPr>
          <p:cNvPr id="12" name="AutoShape 4"/>
          <p:cNvSpPr>
            <a:spLocks noChangeArrowheads="1"/>
          </p:cNvSpPr>
          <p:nvPr/>
        </p:nvSpPr>
        <p:spPr bwMode="auto">
          <a:xfrm>
            <a:off x="8167688" y="5286376"/>
            <a:ext cx="1643062" cy="441325"/>
          </a:xfrm>
          <a:prstGeom prst="wedgeRoundRectCallout">
            <a:avLst>
              <a:gd name="adj1" fmla="val -60231"/>
              <a:gd name="adj2" fmla="val -81796"/>
              <a:gd name="adj3" fmla="val 16667"/>
            </a:avLst>
          </a:prstGeom>
          <a:gradFill rotWithShape="1">
            <a:gsLst>
              <a:gs pos="0">
                <a:srgbClr val="FFFF99"/>
              </a:gs>
              <a:gs pos="100000">
                <a:srgbClr val="FFFFFF"/>
              </a:gs>
            </a:gsLst>
            <a:lin ang="5400000" scaled="1"/>
          </a:gradFill>
          <a:ln w="9525" algn="ctr">
            <a:solidFill>
              <a:srgbClr val="FF9900"/>
            </a:solidFill>
            <a:miter lim="800000"/>
            <a:headEnd/>
            <a:tailEnd/>
          </a:ln>
        </p:spPr>
        <p:txBody>
          <a:bodyPr anchor="ctr" anchorCtr="1"/>
          <a:lstStyle/>
          <a:p>
            <a:pPr algn="ctr"/>
            <a:r>
              <a:rPr lang="en-US" altLang="zh-CN" sz="2000" b="1">
                <a:solidFill>
                  <a:srgbClr val="000000"/>
                </a:solidFill>
                <a:latin typeface="楷体_GB2312" pitchFamily="49" charset="-122"/>
                <a:ea typeface="楷体_GB2312" pitchFamily="49" charset="-122"/>
              </a:rPr>
              <a:t>SYN=1</a:t>
            </a:r>
          </a:p>
        </p:txBody>
      </p:sp>
      <p:pic>
        <p:nvPicPr>
          <p:cNvPr id="70660" name="Picture 4" descr="snap119"/>
          <p:cNvPicPr>
            <a:picLocks noChangeAspect="1" noChangeArrowheads="1"/>
          </p:cNvPicPr>
          <p:nvPr/>
        </p:nvPicPr>
        <p:blipFill>
          <a:blip r:embed="rId4"/>
          <a:srcRect/>
          <a:stretch>
            <a:fillRect/>
          </a:stretch>
        </p:blipFill>
        <p:spPr bwMode="auto">
          <a:xfrm>
            <a:off x="4667251" y="2071689"/>
            <a:ext cx="5224463" cy="3786187"/>
          </a:xfrm>
          <a:prstGeom prst="rect">
            <a:avLst/>
          </a:prstGeom>
          <a:noFill/>
          <a:ln w="9525">
            <a:noFill/>
            <a:miter lim="800000"/>
            <a:headEnd/>
            <a:tailEnd/>
          </a:ln>
        </p:spPr>
      </p:pic>
      <p:sp>
        <p:nvSpPr>
          <p:cNvPr id="14" name="矩形 13"/>
          <p:cNvSpPr>
            <a:spLocks noChangeArrowheads="1"/>
          </p:cNvSpPr>
          <p:nvPr/>
        </p:nvSpPr>
        <p:spPr bwMode="auto">
          <a:xfrm>
            <a:off x="5024439" y="4423053"/>
            <a:ext cx="3857625" cy="369332"/>
          </a:xfrm>
          <a:prstGeom prst="rect">
            <a:avLst/>
          </a:prstGeom>
          <a:solidFill>
            <a:srgbClr val="006666">
              <a:alpha val="0"/>
            </a:srgbClr>
          </a:solidFill>
          <a:ln w="28575" algn="ctr">
            <a:solidFill>
              <a:srgbClr val="FF0000"/>
            </a:solidFill>
            <a:round/>
            <a:headEnd/>
            <a:tailEnd/>
          </a:ln>
        </p:spPr>
        <p:txBody>
          <a:bodyPr anchor="ctr">
            <a:spAutoFit/>
          </a:bodyPr>
          <a:lstStyle/>
          <a:p>
            <a:pPr marL="95250" algn="ctr"/>
            <a:endParaRPr lang="zh-CN" altLang="en-US" b="1">
              <a:solidFill>
                <a:schemeClr val="tx2"/>
              </a:solidFill>
            </a:endParaRPr>
          </a:p>
        </p:txBody>
      </p:sp>
      <p:sp>
        <p:nvSpPr>
          <p:cNvPr id="15" name="AutoShape 4"/>
          <p:cNvSpPr>
            <a:spLocks noChangeArrowheads="1"/>
          </p:cNvSpPr>
          <p:nvPr/>
        </p:nvSpPr>
        <p:spPr bwMode="auto">
          <a:xfrm>
            <a:off x="8382001" y="4929189"/>
            <a:ext cx="1285875" cy="428625"/>
          </a:xfrm>
          <a:prstGeom prst="wedgeRoundRectCallout">
            <a:avLst>
              <a:gd name="adj1" fmla="val -45759"/>
              <a:gd name="adj2" fmla="val -125366"/>
              <a:gd name="adj3" fmla="val 16667"/>
            </a:avLst>
          </a:prstGeom>
          <a:gradFill rotWithShape="1">
            <a:gsLst>
              <a:gs pos="0">
                <a:srgbClr val="FFFF99"/>
              </a:gs>
              <a:gs pos="100000">
                <a:srgbClr val="FFFFFF"/>
              </a:gs>
            </a:gsLst>
            <a:lin ang="5400000" scaled="1"/>
          </a:gradFill>
          <a:ln w="9525" algn="ctr">
            <a:solidFill>
              <a:srgbClr val="FF9900"/>
            </a:solidFill>
            <a:miter lim="800000"/>
            <a:headEnd/>
            <a:tailEnd/>
          </a:ln>
        </p:spPr>
        <p:txBody>
          <a:bodyPr anchor="ctr" anchorCtr="1"/>
          <a:lstStyle/>
          <a:p>
            <a:pPr algn="ctr"/>
            <a:r>
              <a:rPr lang="en-US" altLang="zh-CN" sz="2000" b="1">
                <a:solidFill>
                  <a:srgbClr val="000000"/>
                </a:solidFill>
                <a:latin typeface="楷体_GB2312" pitchFamily="49" charset="-122"/>
                <a:ea typeface="楷体_GB2312" pitchFamily="49" charset="-122"/>
              </a:rPr>
              <a:t>ACK=1</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26" presetClass="emph" presetSubtype="0" fill="hold" grpId="1" nodeType="withEffect">
                                  <p:stCondLst>
                                    <p:cond delay="0"/>
                                  </p:stCondLst>
                                  <p:childTnLst>
                                    <p:animEffect transition="out" filter="fade">
                                      <p:cBhvr>
                                        <p:cTn id="8" dur="500" tmFilter="0, 0; .2, .5; .8, .5; 1, 0"/>
                                        <p:tgtEl>
                                          <p:spTgt spid="6"/>
                                        </p:tgtEl>
                                      </p:cBhvr>
                                    </p:animEffect>
                                    <p:animScale>
                                      <p:cBhvr>
                                        <p:cTn id="9" dur="250" autoRev="1" fill="hold"/>
                                        <p:tgtEl>
                                          <p:spTgt spid="6"/>
                                        </p:tgtEl>
                                      </p:cBhvr>
                                      <p:by x="105000" y="105000"/>
                                    </p:animScale>
                                  </p:childTnLst>
                                </p:cTn>
                              </p:par>
                            </p:childTnLst>
                          </p:cTn>
                        </p:par>
                        <p:par>
                          <p:cTn id="10" fill="hold">
                            <p:stCondLst>
                              <p:cond delay="500"/>
                            </p:stCondLst>
                            <p:childTnLst>
                              <p:par>
                                <p:cTn id="11" presetID="1"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 calcmode="lin" valueType="num">
                                      <p:cBhvr additive="base">
                                        <p:cTn id="17"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
                                            <p:txEl>
                                              <p:pRg st="2" end="2"/>
                                            </p:txEl>
                                          </p:spTgt>
                                        </p:tgtEl>
                                        <p:attrNameLst>
                                          <p:attrName>ppt_y</p:attrName>
                                        </p:attrNameLst>
                                      </p:cBhvr>
                                      <p:tavLst>
                                        <p:tav tm="0">
                                          <p:val>
                                            <p:strVal val="#ppt_y"/>
                                          </p:val>
                                        </p:tav>
                                        <p:tav tm="100000">
                                          <p:val>
                                            <p:strVal val="#ppt_y"/>
                                          </p:val>
                                        </p:tav>
                                      </p:tavLst>
                                    </p:anim>
                                  </p:childTnLst>
                                </p:cTn>
                              </p:par>
                              <p:par>
                                <p:cTn id="19" presetID="3" presetClass="entr" presetSubtype="10" fill="hold" nodeType="withEffect">
                                  <p:stCondLst>
                                    <p:cond delay="0"/>
                                  </p:stCondLst>
                                  <p:childTnLst>
                                    <p:set>
                                      <p:cBhvr>
                                        <p:cTn id="20" dur="1" fill="hold">
                                          <p:stCondLst>
                                            <p:cond delay="0"/>
                                          </p:stCondLst>
                                        </p:cTn>
                                        <p:tgtEl>
                                          <p:spTgt spid="70659"/>
                                        </p:tgtEl>
                                        <p:attrNameLst>
                                          <p:attrName>style.visibility</p:attrName>
                                        </p:attrNameLst>
                                      </p:cBhvr>
                                      <p:to>
                                        <p:strVal val="visible"/>
                                      </p:to>
                                    </p:set>
                                    <p:animEffect transition="in" filter="blinds(horizontal)">
                                      <p:cBhvr>
                                        <p:cTn id="21" dur="500"/>
                                        <p:tgtEl>
                                          <p:spTgt spid="70659"/>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childTnLst>
                                </p:cTn>
                              </p:par>
                              <p:par>
                                <p:cTn id="26" presetID="26" presetClass="emph" presetSubtype="0" fill="hold" grpId="1" nodeType="withEffect">
                                  <p:stCondLst>
                                    <p:cond delay="0"/>
                                  </p:stCondLst>
                                  <p:childTnLst>
                                    <p:animEffect transition="out" filter="fade">
                                      <p:cBhvr>
                                        <p:cTn id="27" dur="500" tmFilter="0, 0; .2, .5; .8, .5; 1, 0"/>
                                        <p:tgtEl>
                                          <p:spTgt spid="8"/>
                                        </p:tgtEl>
                                      </p:cBhvr>
                                    </p:animEffect>
                                    <p:animScale>
                                      <p:cBhvr>
                                        <p:cTn id="28" dur="250" autoRev="1" fill="hold"/>
                                        <p:tgtEl>
                                          <p:spTgt spid="8"/>
                                        </p:tgtEl>
                                      </p:cBhvr>
                                      <p:by x="105000" y="105000"/>
                                    </p:animScale>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par>
                          <p:cTn id="31" fill="hold">
                            <p:stCondLst>
                              <p:cond delay="500"/>
                            </p:stCondLst>
                            <p:childTnLst>
                              <p:par>
                                <p:cTn id="32" presetID="1"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par>
                                <p:cTn id="34" presetID="26" presetClass="emph" presetSubtype="0" fill="hold" grpId="1" nodeType="withEffect">
                                  <p:stCondLst>
                                    <p:cond delay="0"/>
                                  </p:stCondLst>
                                  <p:childTnLst>
                                    <p:animEffect transition="out" filter="fade">
                                      <p:cBhvr>
                                        <p:cTn id="35" dur="500" tmFilter="0, 0; .2, .5; .8, .5; 1, 0"/>
                                        <p:tgtEl>
                                          <p:spTgt spid="10"/>
                                        </p:tgtEl>
                                      </p:cBhvr>
                                    </p:animEffect>
                                    <p:animScale>
                                      <p:cBhvr>
                                        <p:cTn id="36" dur="250" autoRev="1" fill="hold"/>
                                        <p:tgtEl>
                                          <p:spTgt spid="10"/>
                                        </p:tgtEl>
                                      </p:cBhvr>
                                      <p:by x="105000" y="105000"/>
                                    </p:animScale>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2">
                                            <p:txEl>
                                              <p:pRg st="3" end="3"/>
                                            </p:txEl>
                                          </p:spTgt>
                                        </p:tgtEl>
                                        <p:attrNameLst>
                                          <p:attrName>style.visibility</p:attrName>
                                        </p:attrNameLst>
                                      </p:cBhvr>
                                      <p:to>
                                        <p:strVal val="visible"/>
                                      </p:to>
                                    </p:set>
                                    <p:anim calcmode="lin" valueType="num">
                                      <p:cBhvr additive="base">
                                        <p:cTn id="43" dur="500" fill="hold"/>
                                        <p:tgtEl>
                                          <p:spTgt spid="2">
                                            <p:txEl>
                                              <p:pRg st="3" end="3"/>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
                                            <p:txEl>
                                              <p:pRg st="3" end="3"/>
                                            </p:txEl>
                                          </p:spTgt>
                                        </p:tgtEl>
                                        <p:attrNameLst>
                                          <p:attrName>ppt_y</p:attrName>
                                        </p:attrNameLst>
                                      </p:cBhvr>
                                      <p:tavLst>
                                        <p:tav tm="0">
                                          <p:val>
                                            <p:strVal val="#ppt_y"/>
                                          </p:val>
                                        </p:tav>
                                        <p:tav tm="100000">
                                          <p:val>
                                            <p:strVal val="#ppt_y"/>
                                          </p:val>
                                        </p:tav>
                                      </p:tavLst>
                                    </p:anim>
                                  </p:childTnLst>
                                </p:cTn>
                              </p:par>
                              <p:par>
                                <p:cTn id="45" presetID="3" presetClass="entr" presetSubtype="10" fill="hold" nodeType="withEffect">
                                  <p:stCondLst>
                                    <p:cond delay="0"/>
                                  </p:stCondLst>
                                  <p:childTnLst>
                                    <p:set>
                                      <p:cBhvr>
                                        <p:cTn id="46" dur="1" fill="hold">
                                          <p:stCondLst>
                                            <p:cond delay="0"/>
                                          </p:stCondLst>
                                        </p:cTn>
                                        <p:tgtEl>
                                          <p:spTgt spid="70660"/>
                                        </p:tgtEl>
                                        <p:attrNameLst>
                                          <p:attrName>style.visibility</p:attrName>
                                        </p:attrNameLst>
                                      </p:cBhvr>
                                      <p:to>
                                        <p:strVal val="visible"/>
                                      </p:to>
                                    </p:set>
                                    <p:animEffect transition="in" filter="blinds(horizontal)">
                                      <p:cBhvr>
                                        <p:cTn id="47" dur="500"/>
                                        <p:tgtEl>
                                          <p:spTgt spid="70660"/>
                                        </p:tgtEl>
                                      </p:cBhvr>
                                    </p:animEffect>
                                  </p:childTnLst>
                                </p:cTn>
                              </p:par>
                              <p:par>
                                <p:cTn id="48" presetID="1" presetClass="entr" presetSubtype="0"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childTnLst>
                                </p:cTn>
                              </p:par>
                              <p:par>
                                <p:cTn id="50" presetID="26" presetClass="emph" presetSubtype="0" fill="hold" grpId="1" nodeType="withEffect">
                                  <p:stCondLst>
                                    <p:cond delay="0"/>
                                  </p:stCondLst>
                                  <p:childTnLst>
                                    <p:animEffect transition="out" filter="fade">
                                      <p:cBhvr>
                                        <p:cTn id="51" dur="500" tmFilter="0, 0; .2, .5; .8, .5; 1, 0"/>
                                        <p:tgtEl>
                                          <p:spTgt spid="14"/>
                                        </p:tgtEl>
                                      </p:cBhvr>
                                    </p:animEffect>
                                    <p:animScale>
                                      <p:cBhvr>
                                        <p:cTn id="52" dur="250" autoRev="1" fill="hold"/>
                                        <p:tgtEl>
                                          <p:spTgt spid="14"/>
                                        </p:tgtEl>
                                      </p:cBhvr>
                                      <p:by x="105000" y="105000"/>
                                    </p:animScale>
                                  </p:childTnLst>
                                </p:cTn>
                              </p:par>
                              <p:par>
                                <p:cTn id="53" presetID="1" presetClass="entr" presetSubtype="0"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6" grpId="1" animBg="1"/>
      <p:bldP spid="8" grpId="0" animBg="1"/>
      <p:bldP spid="8" grpId="1" animBg="1"/>
      <p:bldP spid="10" grpId="0" animBg="1"/>
      <p:bldP spid="10" grpId="1" animBg="1"/>
      <p:bldP spid="11" grpId="0" animBg="1"/>
      <p:bldP spid="12" grpId="0" animBg="1"/>
      <p:bldP spid="14" grpId="0" animBg="1"/>
      <p:bldP spid="14" grpId="1" animBg="1"/>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内容占位符 1"/>
          <p:cNvSpPr>
            <a:spLocks noGrp="1"/>
          </p:cNvSpPr>
          <p:nvPr>
            <p:ph idx="1"/>
          </p:nvPr>
        </p:nvSpPr>
        <p:spPr>
          <a:xfrm>
            <a:off x="1738313" y="1143000"/>
            <a:ext cx="8501062" cy="500050"/>
          </a:xfrm>
        </p:spPr>
        <p:txBody>
          <a:bodyPr/>
          <a:lstStyle/>
          <a:p>
            <a:pPr>
              <a:spcBef>
                <a:spcPts val="675"/>
              </a:spcBef>
            </a:pPr>
            <a:r>
              <a:rPr lang="en-US" altLang="zh-CN"/>
              <a:t>TCP</a:t>
            </a:r>
            <a:r>
              <a:rPr lang="zh-CN" altLang="en-US"/>
              <a:t>断开连接的四次握手</a:t>
            </a:r>
          </a:p>
          <a:p>
            <a:pPr>
              <a:spcBef>
                <a:spcPts val="675"/>
              </a:spcBef>
            </a:pPr>
            <a:endParaRPr lang="zh-CN" altLang="en-US"/>
          </a:p>
        </p:txBody>
      </p:sp>
      <p:sp>
        <p:nvSpPr>
          <p:cNvPr id="16387" name="标题 2"/>
          <p:cNvSpPr>
            <a:spLocks noGrp="1"/>
          </p:cNvSpPr>
          <p:nvPr>
            <p:ph type="title"/>
          </p:nvPr>
        </p:nvSpPr>
        <p:spPr/>
        <p:txBody>
          <a:bodyPr/>
          <a:lstStyle/>
          <a:p>
            <a:r>
              <a:rPr lang="zh-CN" altLang="zh-CN"/>
              <a:t>TCP</a:t>
            </a:r>
            <a:r>
              <a:rPr lang="zh-CN"/>
              <a:t>连接</a:t>
            </a:r>
            <a:r>
              <a:rPr lang="en-US" altLang="zh-CN"/>
              <a:t>4-3</a:t>
            </a:r>
            <a:endParaRPr lang="zh-CN" altLang="en-US"/>
          </a:p>
        </p:txBody>
      </p:sp>
      <p:sp>
        <p:nvSpPr>
          <p:cNvPr id="21" name="Rectangle 3"/>
          <p:cNvSpPr txBox="1">
            <a:spLocks noChangeArrowheads="1"/>
          </p:cNvSpPr>
          <p:nvPr/>
        </p:nvSpPr>
        <p:spPr bwMode="auto">
          <a:xfrm>
            <a:off x="3952860" y="5786455"/>
            <a:ext cx="5651500" cy="576263"/>
          </a:xfrm>
          <a:prstGeom prst="rect">
            <a:avLst/>
          </a:prstGeom>
          <a:noFill/>
          <a:ln w="9525">
            <a:noFill/>
            <a:miter lim="800000"/>
            <a:headEnd/>
            <a:tailEnd/>
          </a:ln>
        </p:spPr>
        <p:txBody>
          <a:bodyPr/>
          <a:lstStyle/>
          <a:p>
            <a:pPr marL="342900" indent="-342900">
              <a:spcBef>
                <a:spcPts val="672"/>
              </a:spcBef>
              <a:buClr>
                <a:schemeClr val="hlink"/>
              </a:buClr>
              <a:defRPr/>
            </a:pPr>
            <a:r>
              <a:rPr lang="en-US" altLang="zh-CN" sz="2800" b="1" kern="0">
                <a:solidFill>
                  <a:srgbClr val="FF0000"/>
                </a:solidFill>
              </a:rPr>
              <a:t>   TCP</a:t>
            </a:r>
            <a:r>
              <a:rPr lang="zh-CN" altLang="en-US" sz="2800" b="1" kern="0">
                <a:solidFill>
                  <a:srgbClr val="FF0000"/>
                </a:solidFill>
              </a:rPr>
              <a:t>半关闭</a:t>
            </a:r>
            <a:r>
              <a:rPr lang="zh-CN" altLang="en-US" sz="2800" b="1" kern="0" dirty="0">
                <a:solidFill>
                  <a:srgbClr val="FF0000"/>
                </a:solidFill>
              </a:rPr>
              <a:t>的概念</a:t>
            </a:r>
          </a:p>
        </p:txBody>
      </p:sp>
      <p:sp>
        <p:nvSpPr>
          <p:cNvPr id="16389" name="Line 11"/>
          <p:cNvSpPr>
            <a:spLocks noChangeShapeType="1"/>
          </p:cNvSpPr>
          <p:nvPr/>
        </p:nvSpPr>
        <p:spPr bwMode="auto">
          <a:xfrm rot="5400000">
            <a:off x="3421063" y="4211638"/>
            <a:ext cx="2863850" cy="0"/>
          </a:xfrm>
          <a:prstGeom prst="line">
            <a:avLst/>
          </a:prstGeom>
          <a:noFill/>
          <a:ln w="50800">
            <a:solidFill>
              <a:srgbClr val="FF0000"/>
            </a:solidFill>
            <a:round/>
            <a:headEnd type="none" w="sm" len="sm"/>
            <a:tailEnd type="none" w="sm" len="sm"/>
          </a:ln>
        </p:spPr>
        <p:txBody>
          <a:bodyPr wrap="none" anchor="ctr"/>
          <a:lstStyle/>
          <a:p>
            <a:endParaRPr lang="zh-CN" altLang="en-US"/>
          </a:p>
        </p:txBody>
      </p:sp>
      <p:sp>
        <p:nvSpPr>
          <p:cNvPr id="23" name="Line 12"/>
          <p:cNvSpPr>
            <a:spLocks noChangeShapeType="1"/>
          </p:cNvSpPr>
          <p:nvPr/>
        </p:nvSpPr>
        <p:spPr bwMode="auto">
          <a:xfrm rot="16200000" flipH="1">
            <a:off x="5549107" y="2555082"/>
            <a:ext cx="285750" cy="1350963"/>
          </a:xfrm>
          <a:prstGeom prst="line">
            <a:avLst/>
          </a:prstGeom>
          <a:noFill/>
          <a:ln w="50800">
            <a:solidFill>
              <a:srgbClr val="FF0000"/>
            </a:solidFill>
            <a:round/>
            <a:headEnd type="none" w="sm" len="sm"/>
            <a:tailEnd type="triangle" w="med" len="med"/>
          </a:ln>
        </p:spPr>
        <p:txBody>
          <a:bodyPr wrap="none" anchor="ctr"/>
          <a:lstStyle/>
          <a:p>
            <a:endParaRPr lang="zh-CN" altLang="en-US"/>
          </a:p>
        </p:txBody>
      </p:sp>
      <p:sp>
        <p:nvSpPr>
          <p:cNvPr id="16391" name="Line 13"/>
          <p:cNvSpPr>
            <a:spLocks noChangeShapeType="1"/>
          </p:cNvSpPr>
          <p:nvPr/>
        </p:nvSpPr>
        <p:spPr bwMode="auto">
          <a:xfrm rot="5400000">
            <a:off x="5187950" y="4211638"/>
            <a:ext cx="2863850" cy="0"/>
          </a:xfrm>
          <a:prstGeom prst="line">
            <a:avLst/>
          </a:prstGeom>
          <a:noFill/>
          <a:ln w="50800">
            <a:solidFill>
              <a:srgbClr val="99CCFF"/>
            </a:solidFill>
            <a:round/>
            <a:headEnd type="none" w="sm" len="sm"/>
            <a:tailEnd/>
          </a:ln>
        </p:spPr>
        <p:txBody>
          <a:bodyPr wrap="none" anchor="ctr"/>
          <a:lstStyle/>
          <a:p>
            <a:endParaRPr lang="zh-CN" altLang="en-US"/>
          </a:p>
        </p:txBody>
      </p:sp>
      <p:sp>
        <p:nvSpPr>
          <p:cNvPr id="25" name="Line 14"/>
          <p:cNvSpPr>
            <a:spLocks noChangeShapeType="1"/>
          </p:cNvSpPr>
          <p:nvPr/>
        </p:nvSpPr>
        <p:spPr bwMode="auto">
          <a:xfrm rot="16200000" flipH="1">
            <a:off x="5549900" y="4386263"/>
            <a:ext cx="287338" cy="1350962"/>
          </a:xfrm>
          <a:prstGeom prst="line">
            <a:avLst/>
          </a:prstGeom>
          <a:noFill/>
          <a:ln w="50800">
            <a:solidFill>
              <a:srgbClr val="FF0000"/>
            </a:solidFill>
            <a:round/>
            <a:headEnd type="none" w="sm" len="sm"/>
            <a:tailEnd type="triangle" w="med" len="med"/>
          </a:ln>
        </p:spPr>
        <p:txBody>
          <a:bodyPr wrap="none" anchor="ctr"/>
          <a:lstStyle/>
          <a:p>
            <a:endParaRPr lang="zh-CN" altLang="en-US"/>
          </a:p>
        </p:txBody>
      </p:sp>
      <p:sp>
        <p:nvSpPr>
          <p:cNvPr id="26" name="Line 15"/>
          <p:cNvSpPr>
            <a:spLocks noChangeShapeType="1"/>
          </p:cNvSpPr>
          <p:nvPr/>
        </p:nvSpPr>
        <p:spPr bwMode="auto">
          <a:xfrm rot="5400000" flipH="1" flipV="1">
            <a:off x="5549900" y="3144838"/>
            <a:ext cx="287338" cy="1350962"/>
          </a:xfrm>
          <a:prstGeom prst="line">
            <a:avLst/>
          </a:prstGeom>
          <a:noFill/>
          <a:ln w="50800">
            <a:solidFill>
              <a:srgbClr val="99CCFF"/>
            </a:solidFill>
            <a:round/>
            <a:headEnd type="triangle" w="med" len="med"/>
            <a:tailEnd/>
          </a:ln>
        </p:spPr>
        <p:txBody>
          <a:bodyPr wrap="none" anchor="ctr"/>
          <a:lstStyle/>
          <a:p>
            <a:endParaRPr lang="zh-CN" altLang="en-US"/>
          </a:p>
        </p:txBody>
      </p:sp>
      <p:pic>
        <p:nvPicPr>
          <p:cNvPr id="16394" name="Picture 24"/>
          <p:cNvPicPr>
            <a:picLocks noChangeAspect="1" noChangeArrowheads="1"/>
          </p:cNvPicPr>
          <p:nvPr/>
        </p:nvPicPr>
        <p:blipFill>
          <a:blip r:embed="rId2"/>
          <a:srcRect/>
          <a:stretch>
            <a:fillRect/>
          </a:stretch>
        </p:blipFill>
        <p:spPr bwMode="auto">
          <a:xfrm>
            <a:off x="3648076" y="1719263"/>
            <a:ext cx="588963" cy="512762"/>
          </a:xfrm>
          <a:prstGeom prst="rect">
            <a:avLst/>
          </a:prstGeom>
          <a:noFill/>
          <a:ln w="9525">
            <a:noFill/>
            <a:miter lim="800000"/>
            <a:headEnd/>
            <a:tailEnd/>
          </a:ln>
        </p:spPr>
      </p:pic>
      <p:pic>
        <p:nvPicPr>
          <p:cNvPr id="16395" name="Picture 11" descr="black_server"/>
          <p:cNvPicPr>
            <a:picLocks noChangeAspect="1" noChangeArrowheads="1"/>
          </p:cNvPicPr>
          <p:nvPr/>
        </p:nvPicPr>
        <p:blipFill>
          <a:blip r:embed="rId3"/>
          <a:srcRect/>
          <a:stretch>
            <a:fillRect/>
          </a:stretch>
        </p:blipFill>
        <p:spPr bwMode="auto">
          <a:xfrm>
            <a:off x="7067551" y="1684339"/>
            <a:ext cx="588963" cy="541337"/>
          </a:xfrm>
          <a:prstGeom prst="rect">
            <a:avLst/>
          </a:prstGeom>
          <a:noFill/>
          <a:ln w="9525">
            <a:noFill/>
            <a:miter lim="800000"/>
            <a:headEnd/>
            <a:tailEnd/>
          </a:ln>
        </p:spPr>
      </p:pic>
      <p:sp>
        <p:nvSpPr>
          <p:cNvPr id="16396" name="Text Box 13"/>
          <p:cNvSpPr txBox="1">
            <a:spLocks noChangeArrowheads="1"/>
          </p:cNvSpPr>
          <p:nvPr/>
        </p:nvSpPr>
        <p:spPr bwMode="auto">
          <a:xfrm>
            <a:off x="3641725" y="2208213"/>
            <a:ext cx="630238" cy="366712"/>
          </a:xfrm>
          <a:prstGeom prst="rect">
            <a:avLst/>
          </a:prstGeom>
          <a:noFill/>
          <a:ln w="9525" algn="ctr">
            <a:noFill/>
            <a:miter lim="800000"/>
            <a:headEnd/>
            <a:tailEnd/>
          </a:ln>
        </p:spPr>
        <p:txBody>
          <a:bodyPr wrap="none" anchorCtr="1">
            <a:spAutoFit/>
          </a:bodyPr>
          <a:lstStyle/>
          <a:p>
            <a:r>
              <a:rPr lang="en-US" altLang="zh-CN" b="1">
                <a:solidFill>
                  <a:schemeClr val="tx2"/>
                </a:solidFill>
              </a:rPr>
              <a:t>PC1</a:t>
            </a:r>
          </a:p>
        </p:txBody>
      </p:sp>
      <p:sp>
        <p:nvSpPr>
          <p:cNvPr id="16397" name="Text Box 13"/>
          <p:cNvSpPr txBox="1">
            <a:spLocks noChangeArrowheads="1"/>
          </p:cNvSpPr>
          <p:nvPr/>
        </p:nvSpPr>
        <p:spPr bwMode="auto">
          <a:xfrm>
            <a:off x="7069138" y="2208213"/>
            <a:ext cx="628650" cy="366712"/>
          </a:xfrm>
          <a:prstGeom prst="rect">
            <a:avLst/>
          </a:prstGeom>
          <a:noFill/>
          <a:ln w="9525" algn="ctr">
            <a:noFill/>
            <a:miter lim="800000"/>
            <a:headEnd/>
            <a:tailEnd/>
          </a:ln>
        </p:spPr>
        <p:txBody>
          <a:bodyPr wrap="none" anchorCtr="1">
            <a:spAutoFit/>
          </a:bodyPr>
          <a:lstStyle/>
          <a:p>
            <a:r>
              <a:rPr lang="en-US" altLang="zh-CN" b="1">
                <a:solidFill>
                  <a:schemeClr val="tx2"/>
                </a:solidFill>
              </a:rPr>
              <a:t>PC2</a:t>
            </a:r>
          </a:p>
        </p:txBody>
      </p:sp>
      <p:sp>
        <p:nvSpPr>
          <p:cNvPr id="31" name="Text Box 13"/>
          <p:cNvSpPr txBox="1">
            <a:spLocks noChangeArrowheads="1"/>
          </p:cNvSpPr>
          <p:nvPr/>
        </p:nvSpPr>
        <p:spPr bwMode="auto">
          <a:xfrm>
            <a:off x="6765925" y="3232150"/>
            <a:ext cx="1854200" cy="641350"/>
          </a:xfrm>
          <a:prstGeom prst="rect">
            <a:avLst/>
          </a:prstGeom>
          <a:noFill/>
          <a:ln w="9525" algn="ctr">
            <a:noFill/>
            <a:miter lim="800000"/>
            <a:headEnd/>
            <a:tailEnd/>
          </a:ln>
        </p:spPr>
        <p:txBody>
          <a:bodyPr wrap="none" anchorCtr="1">
            <a:spAutoFit/>
          </a:bodyPr>
          <a:lstStyle/>
          <a:p>
            <a:r>
              <a:rPr lang="en-US" altLang="zh-CN" b="1">
                <a:solidFill>
                  <a:schemeClr val="tx2"/>
                </a:solidFill>
              </a:rPr>
              <a:t>2. </a:t>
            </a:r>
            <a:r>
              <a:rPr lang="zh-CN" altLang="en-US" b="1">
                <a:solidFill>
                  <a:schemeClr val="tx2"/>
                </a:solidFill>
              </a:rPr>
              <a:t>发送</a:t>
            </a:r>
            <a:r>
              <a:rPr lang="en-US" altLang="zh-CN" b="1">
                <a:solidFill>
                  <a:schemeClr val="tx2"/>
                </a:solidFill>
              </a:rPr>
              <a:t>ACK</a:t>
            </a:r>
            <a:r>
              <a:rPr lang="zh-CN" altLang="en-US" b="1">
                <a:solidFill>
                  <a:schemeClr val="tx2"/>
                </a:solidFill>
              </a:rPr>
              <a:t>报文</a:t>
            </a:r>
          </a:p>
          <a:p>
            <a:r>
              <a:rPr lang="zh-CN" altLang="en-US" b="1">
                <a:solidFill>
                  <a:schemeClr val="tx2"/>
                </a:solidFill>
              </a:rPr>
              <a:t>（</a:t>
            </a:r>
            <a:r>
              <a:rPr lang="en-US" altLang="zh-CN" b="1">
                <a:solidFill>
                  <a:schemeClr val="tx2"/>
                </a:solidFill>
              </a:rPr>
              <a:t>ACK</a:t>
            </a:r>
            <a:r>
              <a:rPr lang="zh-CN" altLang="en-US" b="1">
                <a:solidFill>
                  <a:schemeClr val="tx2"/>
                </a:solidFill>
              </a:rPr>
              <a:t>＝</a:t>
            </a:r>
            <a:r>
              <a:rPr lang="en-US" altLang="zh-CN" b="1">
                <a:solidFill>
                  <a:schemeClr val="tx2"/>
                </a:solidFill>
              </a:rPr>
              <a:t>1</a:t>
            </a:r>
            <a:r>
              <a:rPr lang="zh-CN" altLang="en-US" b="1">
                <a:solidFill>
                  <a:schemeClr val="tx2"/>
                </a:solidFill>
              </a:rPr>
              <a:t>）</a:t>
            </a:r>
          </a:p>
        </p:txBody>
      </p:sp>
      <p:sp>
        <p:nvSpPr>
          <p:cNvPr id="32" name="Line 22"/>
          <p:cNvSpPr>
            <a:spLocks noChangeShapeType="1"/>
          </p:cNvSpPr>
          <p:nvPr/>
        </p:nvSpPr>
        <p:spPr bwMode="auto">
          <a:xfrm rot="5400000" flipH="1" flipV="1">
            <a:off x="5549901" y="3717926"/>
            <a:ext cx="287337" cy="1350962"/>
          </a:xfrm>
          <a:prstGeom prst="line">
            <a:avLst/>
          </a:prstGeom>
          <a:noFill/>
          <a:ln w="50800">
            <a:solidFill>
              <a:srgbClr val="99CCFF"/>
            </a:solidFill>
            <a:round/>
            <a:headEnd type="triangle" w="med" len="med"/>
            <a:tailEnd/>
          </a:ln>
        </p:spPr>
        <p:txBody>
          <a:bodyPr wrap="none" anchor="ctr"/>
          <a:lstStyle/>
          <a:p>
            <a:endParaRPr lang="zh-CN" altLang="en-US"/>
          </a:p>
        </p:txBody>
      </p:sp>
      <p:sp>
        <p:nvSpPr>
          <p:cNvPr id="33" name="Text Box 13"/>
          <p:cNvSpPr txBox="1">
            <a:spLocks noChangeArrowheads="1"/>
          </p:cNvSpPr>
          <p:nvPr/>
        </p:nvSpPr>
        <p:spPr bwMode="auto">
          <a:xfrm>
            <a:off x="6769100" y="4138613"/>
            <a:ext cx="2306638" cy="646112"/>
          </a:xfrm>
          <a:prstGeom prst="rect">
            <a:avLst/>
          </a:prstGeom>
          <a:noFill/>
          <a:ln w="9525" algn="ctr">
            <a:noFill/>
            <a:miter lim="800000"/>
            <a:headEnd/>
            <a:tailEnd/>
          </a:ln>
        </p:spPr>
        <p:txBody>
          <a:bodyPr wrap="none" anchorCtr="1">
            <a:spAutoFit/>
          </a:bodyPr>
          <a:lstStyle/>
          <a:p>
            <a:r>
              <a:rPr lang="en-US" altLang="zh-CN" b="1">
                <a:solidFill>
                  <a:schemeClr val="tx2"/>
                </a:solidFill>
              </a:rPr>
              <a:t>3. </a:t>
            </a:r>
            <a:r>
              <a:rPr lang="zh-CN" altLang="en-US" b="1">
                <a:solidFill>
                  <a:schemeClr val="tx2"/>
                </a:solidFill>
              </a:rPr>
              <a:t>发送</a:t>
            </a:r>
            <a:r>
              <a:rPr lang="en-US" altLang="zh-CN" b="1">
                <a:solidFill>
                  <a:schemeClr val="tx2"/>
                </a:solidFill>
              </a:rPr>
              <a:t>FIN/ACK</a:t>
            </a:r>
            <a:r>
              <a:rPr lang="zh-CN" altLang="en-US" b="1">
                <a:solidFill>
                  <a:schemeClr val="tx2"/>
                </a:solidFill>
              </a:rPr>
              <a:t>报文</a:t>
            </a:r>
          </a:p>
          <a:p>
            <a:r>
              <a:rPr lang="zh-CN" altLang="en-US" b="1">
                <a:solidFill>
                  <a:schemeClr val="tx2"/>
                </a:solidFill>
              </a:rPr>
              <a:t>（</a:t>
            </a:r>
            <a:r>
              <a:rPr lang="en-US" altLang="zh-CN" b="1">
                <a:solidFill>
                  <a:schemeClr val="tx2"/>
                </a:solidFill>
              </a:rPr>
              <a:t>FIN=1</a:t>
            </a:r>
            <a:r>
              <a:rPr lang="zh-CN" altLang="en-US" b="1">
                <a:solidFill>
                  <a:schemeClr val="tx2"/>
                </a:solidFill>
              </a:rPr>
              <a:t>，</a:t>
            </a:r>
            <a:r>
              <a:rPr lang="en-US" altLang="zh-CN" b="1">
                <a:solidFill>
                  <a:schemeClr val="tx2"/>
                </a:solidFill>
              </a:rPr>
              <a:t>ACK=1</a:t>
            </a:r>
            <a:r>
              <a:rPr lang="zh-CN" altLang="en-US" b="1">
                <a:solidFill>
                  <a:schemeClr val="tx2"/>
                </a:solidFill>
              </a:rPr>
              <a:t>）</a:t>
            </a:r>
          </a:p>
        </p:txBody>
      </p:sp>
      <p:sp>
        <p:nvSpPr>
          <p:cNvPr id="34" name="Text Box 13"/>
          <p:cNvSpPr txBox="1">
            <a:spLocks noChangeArrowheads="1"/>
          </p:cNvSpPr>
          <p:nvPr/>
        </p:nvSpPr>
        <p:spPr bwMode="auto">
          <a:xfrm>
            <a:off x="2825751" y="4727576"/>
            <a:ext cx="1871663" cy="646113"/>
          </a:xfrm>
          <a:prstGeom prst="rect">
            <a:avLst/>
          </a:prstGeom>
          <a:noFill/>
          <a:ln w="9525" algn="ctr">
            <a:noFill/>
            <a:miter lim="800000"/>
            <a:headEnd/>
            <a:tailEnd/>
          </a:ln>
        </p:spPr>
        <p:txBody>
          <a:bodyPr wrap="none" anchorCtr="1">
            <a:spAutoFit/>
          </a:bodyPr>
          <a:lstStyle/>
          <a:p>
            <a:r>
              <a:rPr lang="en-US" altLang="zh-CN" b="1">
                <a:solidFill>
                  <a:schemeClr val="tx2"/>
                </a:solidFill>
              </a:rPr>
              <a:t>4. </a:t>
            </a:r>
            <a:r>
              <a:rPr lang="zh-CN" altLang="en-US" b="1">
                <a:solidFill>
                  <a:schemeClr val="tx2"/>
                </a:solidFill>
              </a:rPr>
              <a:t>发送</a:t>
            </a:r>
            <a:r>
              <a:rPr lang="en-US" altLang="zh-CN" b="1">
                <a:solidFill>
                  <a:schemeClr val="tx2"/>
                </a:solidFill>
              </a:rPr>
              <a:t>ACK</a:t>
            </a:r>
            <a:r>
              <a:rPr lang="zh-CN" altLang="en-US" b="1">
                <a:solidFill>
                  <a:schemeClr val="tx2"/>
                </a:solidFill>
              </a:rPr>
              <a:t>报文</a:t>
            </a:r>
          </a:p>
          <a:p>
            <a:r>
              <a:rPr lang="zh-CN" altLang="en-US" b="1">
                <a:solidFill>
                  <a:schemeClr val="tx2"/>
                </a:solidFill>
              </a:rPr>
              <a:t>（</a:t>
            </a:r>
            <a:r>
              <a:rPr lang="en-US" altLang="zh-CN" b="1">
                <a:solidFill>
                  <a:schemeClr val="tx2"/>
                </a:solidFill>
              </a:rPr>
              <a:t>ACK</a:t>
            </a:r>
            <a:r>
              <a:rPr lang="zh-CN" altLang="en-US" b="1">
                <a:solidFill>
                  <a:schemeClr val="tx2"/>
                </a:solidFill>
              </a:rPr>
              <a:t>＝</a:t>
            </a:r>
            <a:r>
              <a:rPr lang="en-US" altLang="zh-CN" b="1">
                <a:solidFill>
                  <a:schemeClr val="tx2"/>
                </a:solidFill>
              </a:rPr>
              <a:t>1</a:t>
            </a:r>
            <a:r>
              <a:rPr lang="zh-CN" altLang="en-US" b="1">
                <a:solidFill>
                  <a:schemeClr val="tx2"/>
                </a:solidFill>
              </a:rPr>
              <a:t>）</a:t>
            </a:r>
          </a:p>
        </p:txBody>
      </p:sp>
      <p:sp>
        <p:nvSpPr>
          <p:cNvPr id="36" name="Text Box 13"/>
          <p:cNvSpPr txBox="1">
            <a:spLocks noChangeArrowheads="1"/>
          </p:cNvSpPr>
          <p:nvPr/>
        </p:nvSpPr>
        <p:spPr bwMode="auto">
          <a:xfrm>
            <a:off x="2532063" y="2800351"/>
            <a:ext cx="2279650" cy="646113"/>
          </a:xfrm>
          <a:prstGeom prst="rect">
            <a:avLst/>
          </a:prstGeom>
          <a:noFill/>
          <a:ln w="9525" algn="ctr">
            <a:noFill/>
            <a:miter lim="800000"/>
            <a:headEnd/>
            <a:tailEnd/>
          </a:ln>
        </p:spPr>
        <p:txBody>
          <a:bodyPr wrap="none" anchorCtr="1">
            <a:spAutoFit/>
          </a:bodyPr>
          <a:lstStyle/>
          <a:p>
            <a:r>
              <a:rPr lang="en-US" altLang="zh-CN" b="1">
                <a:solidFill>
                  <a:schemeClr val="tx2"/>
                </a:solidFill>
              </a:rPr>
              <a:t> 1.</a:t>
            </a:r>
            <a:r>
              <a:rPr lang="zh-CN" altLang="en-US" b="1">
                <a:solidFill>
                  <a:schemeClr val="tx2"/>
                </a:solidFill>
              </a:rPr>
              <a:t>发送</a:t>
            </a:r>
            <a:r>
              <a:rPr lang="en-US" altLang="zh-CN" b="1">
                <a:solidFill>
                  <a:schemeClr val="tx2"/>
                </a:solidFill>
              </a:rPr>
              <a:t>FIN/ACK</a:t>
            </a:r>
          </a:p>
          <a:p>
            <a:r>
              <a:rPr lang="zh-CN" altLang="en-US" b="1">
                <a:solidFill>
                  <a:schemeClr val="tx2"/>
                </a:solidFill>
              </a:rPr>
              <a:t>（</a:t>
            </a:r>
            <a:r>
              <a:rPr lang="en-US" altLang="zh-CN" b="1">
                <a:solidFill>
                  <a:schemeClr val="tx2"/>
                </a:solidFill>
              </a:rPr>
              <a:t>FIN=1</a:t>
            </a:r>
            <a:r>
              <a:rPr lang="zh-CN" altLang="en-US" b="1">
                <a:solidFill>
                  <a:schemeClr val="tx2"/>
                </a:solidFill>
              </a:rPr>
              <a:t>，</a:t>
            </a:r>
            <a:r>
              <a:rPr lang="en-US" altLang="zh-CN" b="1">
                <a:solidFill>
                  <a:schemeClr val="tx2"/>
                </a:solidFill>
              </a:rPr>
              <a:t>ACK=1</a:t>
            </a:r>
            <a:r>
              <a:rPr lang="zh-CN" altLang="en-US" b="1">
                <a:solidFill>
                  <a:schemeClr val="tx2"/>
                </a:solidFill>
              </a:rPr>
              <a:t>）</a:t>
            </a:r>
          </a:p>
        </p:txBody>
      </p:sp>
      <p:sp>
        <p:nvSpPr>
          <p:cNvPr id="38" name="AutoShape 26"/>
          <p:cNvSpPr>
            <a:spLocks noChangeArrowheads="1"/>
          </p:cNvSpPr>
          <p:nvPr/>
        </p:nvSpPr>
        <p:spPr bwMode="auto">
          <a:xfrm>
            <a:off x="3683000" y="4419600"/>
            <a:ext cx="4178300" cy="407988"/>
          </a:xfrm>
          <a:prstGeom prst="roundRect">
            <a:avLst>
              <a:gd name="adj" fmla="val 16667"/>
            </a:avLst>
          </a:prstGeom>
          <a:gradFill rotWithShape="1">
            <a:gsLst>
              <a:gs pos="0">
                <a:srgbClr val="CCFFFF"/>
              </a:gs>
              <a:gs pos="100000">
                <a:schemeClr val="bg1"/>
              </a:gs>
            </a:gsLst>
            <a:lin ang="5400000" scaled="1"/>
          </a:gradFill>
          <a:ln w="9525" algn="ctr">
            <a:solidFill>
              <a:srgbClr val="006666"/>
            </a:solidFill>
            <a:round/>
            <a:headEnd/>
            <a:tailEnd/>
          </a:ln>
          <a:effectLst>
            <a:prstShdw prst="shdw17" dist="17961" dir="2700000">
              <a:srgbClr val="2B6299">
                <a:alpha val="50000"/>
              </a:srgbClr>
            </a:prstShdw>
          </a:effectLst>
        </p:spPr>
        <p:txBody>
          <a:bodyPr anchor="ctr">
            <a:spAutoFit/>
          </a:bodyPr>
          <a:lstStyle/>
          <a:p>
            <a:r>
              <a:rPr lang="zh-CN" altLang="en-US" b="1">
                <a:solidFill>
                  <a:schemeClr val="tx2"/>
                </a:solidFill>
              </a:rPr>
              <a:t>此时，</a:t>
            </a:r>
            <a:r>
              <a:rPr lang="en-US" altLang="zh-CN" b="1">
                <a:solidFill>
                  <a:schemeClr val="tx2"/>
                </a:solidFill>
              </a:rPr>
              <a:t>PC2</a:t>
            </a:r>
            <a:r>
              <a:rPr lang="zh-CN" altLang="en-US" b="1">
                <a:solidFill>
                  <a:schemeClr val="tx2"/>
                </a:solidFill>
              </a:rPr>
              <a:t>能给</a:t>
            </a:r>
            <a:r>
              <a:rPr lang="en-US" altLang="zh-CN" b="1">
                <a:solidFill>
                  <a:schemeClr val="tx2"/>
                </a:solidFill>
              </a:rPr>
              <a:t>PC1</a:t>
            </a:r>
            <a:r>
              <a:rPr lang="zh-CN" altLang="en-US" b="1">
                <a:solidFill>
                  <a:schemeClr val="tx2"/>
                </a:solidFill>
              </a:rPr>
              <a:t>发送数据吗？</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checkerboard(across)">
                                      <p:cBhvr>
                                        <p:cTn id="7" dur="500"/>
                                        <p:tgtEl>
                                          <p:spTgt spid="3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1000"/>
                                        <p:tgtEl>
                                          <p:spTgt spid="23"/>
                                        </p:tgtEl>
                                      </p:cBhvr>
                                    </p:animEffect>
                                  </p:childTnLst>
                                </p:cTn>
                              </p:par>
                              <p:par>
                                <p:cTn id="12" presetID="5" presetClass="entr" presetSubtype="1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checkerboard(across)">
                                      <p:cBhvr>
                                        <p:cTn id="14" dur="1000"/>
                                        <p:tgtEl>
                                          <p:spTgt spid="31"/>
                                        </p:tgtEl>
                                      </p:cBhvr>
                                    </p:animEffect>
                                  </p:childTnLst>
                                </p:cTn>
                              </p:par>
                            </p:childTnLst>
                          </p:cTn>
                        </p:par>
                        <p:par>
                          <p:cTn id="15" fill="hold">
                            <p:stCondLst>
                              <p:cond delay="1500"/>
                            </p:stCondLst>
                            <p:childTnLst>
                              <p:par>
                                <p:cTn id="16" presetID="22" presetClass="entr" presetSubtype="2" fill="hold" grpId="0" nodeType="after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wipe(right)">
                                      <p:cBhvr>
                                        <p:cTn id="18" dur="1000"/>
                                        <p:tgtEl>
                                          <p:spTgt spid="26"/>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checkerboard(across)">
                                      <p:cBhvr>
                                        <p:cTn id="21" dur="1000"/>
                                        <p:tgtEl>
                                          <p:spTgt spid="33"/>
                                        </p:tgtEl>
                                      </p:cBhvr>
                                    </p:animEffect>
                                  </p:childTnLst>
                                </p:cTn>
                              </p:par>
                            </p:childTnLst>
                          </p:cTn>
                        </p:par>
                        <p:par>
                          <p:cTn id="22" fill="hold">
                            <p:stCondLst>
                              <p:cond delay="2500"/>
                            </p:stCondLst>
                            <p:childTnLst>
                              <p:par>
                                <p:cTn id="23" presetID="22" presetClass="entr" presetSubtype="2" fill="hold" grpId="0" nodeType="after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wipe(right)">
                                      <p:cBhvr>
                                        <p:cTn id="25" dur="1000"/>
                                        <p:tgtEl>
                                          <p:spTgt spid="32"/>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checkerboard(across)">
                                      <p:cBhvr>
                                        <p:cTn id="28" dur="1000"/>
                                        <p:tgtEl>
                                          <p:spTgt spid="34"/>
                                        </p:tgtEl>
                                      </p:cBhvr>
                                    </p:animEffect>
                                  </p:childTnLst>
                                </p:cTn>
                              </p:par>
                            </p:childTnLst>
                          </p:cTn>
                        </p:par>
                        <p:par>
                          <p:cTn id="29" fill="hold">
                            <p:stCondLst>
                              <p:cond delay="3500"/>
                            </p:stCondLst>
                            <p:childTnLst>
                              <p:par>
                                <p:cTn id="30" presetID="22" presetClass="entr" presetSubtype="8" fill="hold" grpId="0" nodeType="after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left)">
                                      <p:cBhvr>
                                        <p:cTn id="32" dur="10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1">
                                            <p:txEl>
                                              <p:pRg st="0" end="0"/>
                                            </p:txEl>
                                          </p:spTgt>
                                        </p:tgtEl>
                                        <p:attrNameLst>
                                          <p:attrName>style.visibility</p:attrName>
                                        </p:attrNameLst>
                                      </p:cBhvr>
                                      <p:to>
                                        <p:strVal val="visible"/>
                                      </p:to>
                                    </p:set>
                                  </p:childTnLst>
                                </p:cTn>
                              </p:par>
                            </p:childTnLst>
                          </p:cTn>
                        </p:par>
                        <p:par>
                          <p:cTn id="37" fill="hold">
                            <p:stCondLst>
                              <p:cond delay="0"/>
                            </p:stCondLst>
                            <p:childTnLst>
                              <p:par>
                                <p:cTn id="38" presetID="1" presetClass="exit" presetSubtype="0" fill="hold" grpId="1" nodeType="afterEffect">
                                  <p:stCondLst>
                                    <p:cond delay="0"/>
                                  </p:stCondLst>
                                  <p:childTnLst>
                                    <p:set>
                                      <p:cBhvr>
                                        <p:cTn id="39" dur="1" fill="hold">
                                          <p:stCondLst>
                                            <p:cond delay="0"/>
                                          </p:stCondLst>
                                        </p:cTn>
                                        <p:tgtEl>
                                          <p:spTgt spid="36"/>
                                        </p:tgtEl>
                                        <p:attrNameLst>
                                          <p:attrName>style.visibility</p:attrName>
                                        </p:attrNameLst>
                                      </p:cBhvr>
                                      <p:to>
                                        <p:strVal val="hidden"/>
                                      </p:to>
                                    </p:set>
                                  </p:childTnLst>
                                </p:cTn>
                              </p:par>
                              <p:par>
                                <p:cTn id="40" presetID="1" presetClass="exit" presetSubtype="0" fill="hold" grpId="1" nodeType="withEffect">
                                  <p:stCondLst>
                                    <p:cond delay="0"/>
                                  </p:stCondLst>
                                  <p:childTnLst>
                                    <p:set>
                                      <p:cBhvr>
                                        <p:cTn id="41" dur="1" fill="hold">
                                          <p:stCondLst>
                                            <p:cond delay="0"/>
                                          </p:stCondLst>
                                        </p:cTn>
                                        <p:tgtEl>
                                          <p:spTgt spid="23"/>
                                        </p:tgtEl>
                                        <p:attrNameLst>
                                          <p:attrName>style.visibility</p:attrName>
                                        </p:attrNameLst>
                                      </p:cBhvr>
                                      <p:to>
                                        <p:strVal val="hidden"/>
                                      </p:to>
                                    </p:set>
                                  </p:childTnLst>
                                </p:cTn>
                              </p:par>
                              <p:par>
                                <p:cTn id="42" presetID="1" presetClass="exit" presetSubtype="0" fill="hold" grpId="1" nodeType="withEffect">
                                  <p:stCondLst>
                                    <p:cond delay="0"/>
                                  </p:stCondLst>
                                  <p:childTnLst>
                                    <p:set>
                                      <p:cBhvr>
                                        <p:cTn id="43" dur="1" fill="hold">
                                          <p:stCondLst>
                                            <p:cond delay="0"/>
                                          </p:stCondLst>
                                        </p:cTn>
                                        <p:tgtEl>
                                          <p:spTgt spid="26"/>
                                        </p:tgtEl>
                                        <p:attrNameLst>
                                          <p:attrName>style.visibility</p:attrName>
                                        </p:attrNameLst>
                                      </p:cBhvr>
                                      <p:to>
                                        <p:strVal val="hidden"/>
                                      </p:to>
                                    </p:set>
                                  </p:childTnLst>
                                </p:cTn>
                              </p:par>
                              <p:par>
                                <p:cTn id="44" presetID="1" presetClass="exit" presetSubtype="0" fill="hold" grpId="1" nodeType="withEffect">
                                  <p:stCondLst>
                                    <p:cond delay="0"/>
                                  </p:stCondLst>
                                  <p:childTnLst>
                                    <p:set>
                                      <p:cBhvr>
                                        <p:cTn id="45" dur="1" fill="hold">
                                          <p:stCondLst>
                                            <p:cond delay="0"/>
                                          </p:stCondLst>
                                        </p:cTn>
                                        <p:tgtEl>
                                          <p:spTgt spid="31"/>
                                        </p:tgtEl>
                                        <p:attrNameLst>
                                          <p:attrName>style.visibility</p:attrName>
                                        </p:attrNameLst>
                                      </p:cBhvr>
                                      <p:to>
                                        <p:strVal val="hidden"/>
                                      </p:to>
                                    </p:set>
                                  </p:childTnLst>
                                </p:cTn>
                              </p:par>
                              <p:par>
                                <p:cTn id="46" presetID="1" presetClass="exit" presetSubtype="0" fill="hold" grpId="1" nodeType="withEffect">
                                  <p:stCondLst>
                                    <p:cond delay="0"/>
                                  </p:stCondLst>
                                  <p:childTnLst>
                                    <p:set>
                                      <p:cBhvr>
                                        <p:cTn id="47" dur="1" fill="hold">
                                          <p:stCondLst>
                                            <p:cond delay="0"/>
                                          </p:stCondLst>
                                        </p:cTn>
                                        <p:tgtEl>
                                          <p:spTgt spid="33"/>
                                        </p:tgtEl>
                                        <p:attrNameLst>
                                          <p:attrName>style.visibility</p:attrName>
                                        </p:attrNameLst>
                                      </p:cBhvr>
                                      <p:to>
                                        <p:strVal val="hidden"/>
                                      </p:to>
                                    </p:set>
                                  </p:childTnLst>
                                </p:cTn>
                              </p:par>
                              <p:par>
                                <p:cTn id="48" presetID="1" presetClass="exit" presetSubtype="0" fill="hold" grpId="1" nodeType="withEffect">
                                  <p:stCondLst>
                                    <p:cond delay="0"/>
                                  </p:stCondLst>
                                  <p:childTnLst>
                                    <p:set>
                                      <p:cBhvr>
                                        <p:cTn id="49" dur="1" fill="hold">
                                          <p:stCondLst>
                                            <p:cond delay="0"/>
                                          </p:stCondLst>
                                        </p:cTn>
                                        <p:tgtEl>
                                          <p:spTgt spid="32"/>
                                        </p:tgtEl>
                                        <p:attrNameLst>
                                          <p:attrName>style.visibility</p:attrName>
                                        </p:attrNameLst>
                                      </p:cBhvr>
                                      <p:to>
                                        <p:strVal val="hidden"/>
                                      </p:to>
                                    </p:set>
                                  </p:childTnLst>
                                </p:cTn>
                              </p:par>
                              <p:par>
                                <p:cTn id="50" presetID="1" presetClass="exit" presetSubtype="0" fill="hold" grpId="1" nodeType="withEffect">
                                  <p:stCondLst>
                                    <p:cond delay="0"/>
                                  </p:stCondLst>
                                  <p:childTnLst>
                                    <p:set>
                                      <p:cBhvr>
                                        <p:cTn id="51" dur="1" fill="hold">
                                          <p:stCondLst>
                                            <p:cond delay="0"/>
                                          </p:stCondLst>
                                        </p:cTn>
                                        <p:tgtEl>
                                          <p:spTgt spid="25"/>
                                        </p:tgtEl>
                                        <p:attrNameLst>
                                          <p:attrName>style.visibility</p:attrName>
                                        </p:attrNameLst>
                                      </p:cBhvr>
                                      <p:to>
                                        <p:strVal val="hidden"/>
                                      </p:to>
                                    </p:set>
                                  </p:childTnLst>
                                </p:cTn>
                              </p:par>
                              <p:par>
                                <p:cTn id="52" presetID="1" presetClass="exit" presetSubtype="0" fill="hold" grpId="1" nodeType="withEffect">
                                  <p:stCondLst>
                                    <p:cond delay="0"/>
                                  </p:stCondLst>
                                  <p:childTnLst>
                                    <p:set>
                                      <p:cBhvr>
                                        <p:cTn id="53" dur="1" fill="hold">
                                          <p:stCondLst>
                                            <p:cond delay="0"/>
                                          </p:stCondLst>
                                        </p:cTn>
                                        <p:tgtEl>
                                          <p:spTgt spid="34"/>
                                        </p:tgtEl>
                                        <p:attrNameLst>
                                          <p:attrName>style.visibility</p:attrName>
                                        </p:attrNameLst>
                                      </p:cBhvr>
                                      <p:to>
                                        <p:strVal val="hidden"/>
                                      </p:to>
                                    </p:set>
                                  </p:childTnLst>
                                </p:cTn>
                              </p:par>
                            </p:childTnLst>
                          </p:cTn>
                        </p:par>
                        <p:par>
                          <p:cTn id="54" fill="hold">
                            <p:stCondLst>
                              <p:cond delay="0"/>
                            </p:stCondLst>
                            <p:childTnLst>
                              <p:par>
                                <p:cTn id="55" presetID="5" presetClass="entr" presetSubtype="10" fill="hold" grpId="2" nodeType="after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checkerboard(across)">
                                      <p:cBhvr>
                                        <p:cTn id="57" dur="500"/>
                                        <p:tgtEl>
                                          <p:spTgt spid="36"/>
                                        </p:tgtEl>
                                      </p:cBhvr>
                                    </p:animEffect>
                                  </p:childTnLst>
                                </p:cTn>
                              </p:par>
                            </p:childTnLst>
                          </p:cTn>
                        </p:par>
                        <p:par>
                          <p:cTn id="58" fill="hold">
                            <p:stCondLst>
                              <p:cond delay="500"/>
                            </p:stCondLst>
                            <p:childTnLst>
                              <p:par>
                                <p:cTn id="59" presetID="22" presetClass="entr" presetSubtype="8" fill="hold" grpId="2" nodeType="after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wipe(left)">
                                      <p:cBhvr>
                                        <p:cTn id="61" dur="500"/>
                                        <p:tgtEl>
                                          <p:spTgt spid="23"/>
                                        </p:tgtEl>
                                      </p:cBhvr>
                                    </p:animEffect>
                                  </p:childTnLst>
                                </p:cTn>
                              </p:par>
                            </p:childTnLst>
                          </p:cTn>
                        </p:par>
                        <p:par>
                          <p:cTn id="62" fill="hold">
                            <p:stCondLst>
                              <p:cond delay="1000"/>
                            </p:stCondLst>
                            <p:childTnLst>
                              <p:par>
                                <p:cTn id="63" presetID="5" presetClass="entr" presetSubtype="10" fill="hold" grpId="2" nodeType="after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checkerboard(across)">
                                      <p:cBhvr>
                                        <p:cTn id="65" dur="500"/>
                                        <p:tgtEl>
                                          <p:spTgt spid="31"/>
                                        </p:tgtEl>
                                      </p:cBhvr>
                                    </p:animEffect>
                                  </p:childTnLst>
                                </p:cTn>
                              </p:par>
                            </p:childTnLst>
                          </p:cTn>
                        </p:par>
                        <p:par>
                          <p:cTn id="66" fill="hold">
                            <p:stCondLst>
                              <p:cond delay="1500"/>
                            </p:stCondLst>
                            <p:childTnLst>
                              <p:par>
                                <p:cTn id="67" presetID="22" presetClass="entr" presetSubtype="2" fill="hold" grpId="2" nodeType="after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wipe(right)">
                                      <p:cBhvr>
                                        <p:cTn id="69" dur="500"/>
                                        <p:tgtEl>
                                          <p:spTgt spid="26"/>
                                        </p:tgtEl>
                                      </p:cBhvr>
                                    </p:animEffect>
                                  </p:childTnLst>
                                </p:cTn>
                              </p:par>
                            </p:childTnLst>
                          </p:cTn>
                        </p:par>
                        <p:par>
                          <p:cTn id="70" fill="hold">
                            <p:stCondLst>
                              <p:cond delay="2000"/>
                            </p:stCondLst>
                            <p:childTnLst>
                              <p:par>
                                <p:cTn id="71" presetID="22" presetClass="entr" presetSubtype="8" fill="hold" grpId="0" nodeType="afterEffect">
                                  <p:stCondLst>
                                    <p:cond delay="0"/>
                                  </p:stCondLst>
                                  <p:childTnLst>
                                    <p:set>
                                      <p:cBhvr>
                                        <p:cTn id="72" dur="1" fill="hold">
                                          <p:stCondLst>
                                            <p:cond delay="0"/>
                                          </p:stCondLst>
                                        </p:cTn>
                                        <p:tgtEl>
                                          <p:spTgt spid="38"/>
                                        </p:tgtEl>
                                        <p:attrNameLst>
                                          <p:attrName>style.visibility</p:attrName>
                                        </p:attrNameLst>
                                      </p:cBhvr>
                                      <p:to>
                                        <p:strVal val="visible"/>
                                      </p:to>
                                    </p:set>
                                    <p:animEffect transition="in" filter="wipe(left)">
                                      <p:cBhvr>
                                        <p:cTn id="7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23" grpId="2" animBg="1"/>
      <p:bldP spid="25" grpId="0" animBg="1"/>
      <p:bldP spid="25" grpId="1" animBg="1"/>
      <p:bldP spid="26" grpId="0" animBg="1"/>
      <p:bldP spid="26" grpId="1" animBg="1"/>
      <p:bldP spid="26" grpId="2" animBg="1"/>
      <p:bldP spid="31" grpId="0"/>
      <p:bldP spid="31" grpId="1"/>
      <p:bldP spid="31" grpId="2"/>
      <p:bldP spid="32" grpId="0" animBg="1"/>
      <p:bldP spid="32" grpId="1" animBg="1"/>
      <p:bldP spid="33" grpId="0"/>
      <p:bldP spid="33" grpId="1"/>
      <p:bldP spid="34" grpId="0"/>
      <p:bldP spid="34" grpId="1"/>
      <p:bldP spid="36" grpId="0"/>
      <p:bldP spid="36" grpId="1"/>
      <p:bldP spid="36" grpId="2"/>
      <p:bldP spid="3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内容占位符 1"/>
          <p:cNvSpPr>
            <a:spLocks noGrp="1"/>
          </p:cNvSpPr>
          <p:nvPr>
            <p:ph idx="1"/>
          </p:nvPr>
        </p:nvSpPr>
        <p:spPr>
          <a:xfrm>
            <a:off x="1738313" y="1143001"/>
            <a:ext cx="8501062" cy="500063"/>
          </a:xfrm>
        </p:spPr>
        <p:txBody>
          <a:bodyPr/>
          <a:lstStyle/>
          <a:p>
            <a:pPr>
              <a:spcBef>
                <a:spcPts val="675"/>
              </a:spcBef>
            </a:pPr>
            <a:r>
              <a:rPr lang="zh-CN" altLang="en-US"/>
              <a:t>常用的</a:t>
            </a:r>
            <a:r>
              <a:rPr lang="en-US" altLang="zh-CN"/>
              <a:t>TCP</a:t>
            </a:r>
            <a:r>
              <a:rPr lang="zh-CN" altLang="en-US"/>
              <a:t>端口号及其功能</a:t>
            </a:r>
          </a:p>
        </p:txBody>
      </p:sp>
      <p:sp>
        <p:nvSpPr>
          <p:cNvPr id="17411" name="标题 2"/>
          <p:cNvSpPr>
            <a:spLocks noGrp="1"/>
          </p:cNvSpPr>
          <p:nvPr>
            <p:ph type="title"/>
          </p:nvPr>
        </p:nvSpPr>
        <p:spPr/>
        <p:txBody>
          <a:bodyPr/>
          <a:lstStyle/>
          <a:p>
            <a:r>
              <a:rPr lang="zh-CN" altLang="zh-CN"/>
              <a:t>TCP</a:t>
            </a:r>
            <a:r>
              <a:rPr lang="zh-CN"/>
              <a:t>连接</a:t>
            </a:r>
            <a:r>
              <a:rPr lang="en-US" altLang="zh-CN"/>
              <a:t>4-4</a:t>
            </a:r>
            <a:endParaRPr lang="zh-CN" altLang="en-US"/>
          </a:p>
        </p:txBody>
      </p:sp>
      <p:graphicFrame>
        <p:nvGraphicFramePr>
          <p:cNvPr id="4" name="表格 3"/>
          <p:cNvGraphicFramePr>
            <a:graphicFrameLocks noGrp="1"/>
          </p:cNvGraphicFramePr>
          <p:nvPr/>
        </p:nvGraphicFramePr>
        <p:xfrm>
          <a:off x="2524125" y="2143125"/>
          <a:ext cx="6858048" cy="2982960"/>
        </p:xfrm>
        <a:graphic>
          <a:graphicData uri="http://schemas.openxmlformats.org/drawingml/2006/table">
            <a:tbl>
              <a:tblPr/>
              <a:tblGrid>
                <a:gridCol w="928694">
                  <a:extLst>
                    <a:ext uri="{9D8B030D-6E8A-4147-A177-3AD203B41FA5}">
                      <a16:colId xmlns:a16="http://schemas.microsoft.com/office/drawing/2014/main" val="20000"/>
                    </a:ext>
                  </a:extLst>
                </a:gridCol>
                <a:gridCol w="928694">
                  <a:extLst>
                    <a:ext uri="{9D8B030D-6E8A-4147-A177-3AD203B41FA5}">
                      <a16:colId xmlns:a16="http://schemas.microsoft.com/office/drawing/2014/main" val="20001"/>
                    </a:ext>
                  </a:extLst>
                </a:gridCol>
                <a:gridCol w="5000660">
                  <a:extLst>
                    <a:ext uri="{9D8B030D-6E8A-4147-A177-3AD203B41FA5}">
                      <a16:colId xmlns:a16="http://schemas.microsoft.com/office/drawing/2014/main" val="20002"/>
                    </a:ext>
                  </a:extLst>
                </a:gridCol>
              </a:tblGrid>
              <a:tr h="497160">
                <a:tc>
                  <a:txBody>
                    <a:bodyPr/>
                    <a:lstStyle/>
                    <a:p>
                      <a:pPr algn="ctr">
                        <a:lnSpc>
                          <a:spcPts val="1560"/>
                        </a:lnSpc>
                        <a:spcAft>
                          <a:spcPts val="0"/>
                        </a:spcAft>
                      </a:pPr>
                      <a:r>
                        <a:rPr lang="zh-CN" sz="1800" b="1" dirty="0">
                          <a:solidFill>
                            <a:schemeClr val="accent3"/>
                          </a:solidFill>
                          <a:latin typeface="仿宋_GB2312" pitchFamily="49" charset="-122"/>
                          <a:ea typeface="仿宋_GB2312" pitchFamily="49" charset="-122"/>
                        </a:rPr>
                        <a:t>端口</a:t>
                      </a:r>
                    </a:p>
                  </a:txBody>
                  <a:tcPr marL="68580" marR="68580" marT="0" marB="17780" anchor="ctr">
                    <a:lnL w="12700" cap="flat" cmpd="sng" algn="ctr">
                      <a:solidFill>
                        <a:srgbClr val="4BACC6"/>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rgbClr val="4BACC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4BACC6"/>
                    </a:solidFill>
                  </a:tcPr>
                </a:tc>
                <a:tc>
                  <a:txBody>
                    <a:bodyPr/>
                    <a:lstStyle/>
                    <a:p>
                      <a:pPr algn="ctr">
                        <a:lnSpc>
                          <a:spcPts val="1560"/>
                        </a:lnSpc>
                        <a:spcAft>
                          <a:spcPts val="0"/>
                        </a:spcAft>
                      </a:pPr>
                      <a:r>
                        <a:rPr lang="zh-CN" sz="1800" b="1" dirty="0">
                          <a:solidFill>
                            <a:schemeClr val="accent3"/>
                          </a:solidFill>
                          <a:latin typeface="仿宋_GB2312" pitchFamily="49" charset="-122"/>
                          <a:ea typeface="仿宋_GB2312" pitchFamily="49" charset="-122"/>
                        </a:rPr>
                        <a:t>协议</a:t>
                      </a:r>
                    </a:p>
                  </a:txBody>
                  <a:tcPr marL="68580" marR="68580" marT="0" marB="1778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rgbClr val="4BACC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4BACC6"/>
                    </a:solidFill>
                  </a:tcPr>
                </a:tc>
                <a:tc>
                  <a:txBody>
                    <a:bodyPr/>
                    <a:lstStyle/>
                    <a:p>
                      <a:pPr algn="ctr">
                        <a:lnSpc>
                          <a:spcPts val="1560"/>
                        </a:lnSpc>
                        <a:spcAft>
                          <a:spcPts val="0"/>
                        </a:spcAft>
                      </a:pPr>
                      <a:r>
                        <a:rPr lang="zh-CN" sz="1800" b="1" dirty="0">
                          <a:solidFill>
                            <a:schemeClr val="accent3"/>
                          </a:solidFill>
                          <a:latin typeface="仿宋_GB2312" pitchFamily="49" charset="-122"/>
                          <a:ea typeface="仿宋_GB2312" pitchFamily="49" charset="-122"/>
                        </a:rPr>
                        <a:t>说　　明</a:t>
                      </a:r>
                    </a:p>
                  </a:txBody>
                  <a:tcPr marL="68580" marR="68580" marT="0" marB="17780" anchor="ctr">
                    <a:lnL w="12700" cap="flat" cmpd="sng" algn="ctr">
                      <a:solidFill>
                        <a:schemeClr val="bg2"/>
                      </a:solidFill>
                      <a:prstDash val="solid"/>
                      <a:round/>
                      <a:headEnd type="none" w="med" len="med"/>
                      <a:tailEnd type="none" w="med" len="med"/>
                    </a:lnL>
                    <a:lnR w="12700" cap="flat" cmpd="sng" algn="ctr">
                      <a:solidFill>
                        <a:srgbClr val="4BACC6"/>
                      </a:solidFill>
                      <a:prstDash val="solid"/>
                      <a:round/>
                      <a:headEnd type="none" w="med" len="med"/>
                      <a:tailEnd type="none" w="med" len="med"/>
                    </a:lnR>
                    <a:lnT w="12700" cap="flat" cmpd="sng" algn="ctr">
                      <a:solidFill>
                        <a:srgbClr val="4BACC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4BACC6"/>
                    </a:solidFill>
                  </a:tcPr>
                </a:tc>
                <a:extLst>
                  <a:ext uri="{0D108BD9-81ED-4DB2-BD59-A6C34878D82A}">
                    <a16:rowId xmlns:a16="http://schemas.microsoft.com/office/drawing/2014/main" val="10000"/>
                  </a:ext>
                </a:extLst>
              </a:tr>
              <a:tr h="497160">
                <a:tc>
                  <a:txBody>
                    <a:bodyPr/>
                    <a:lstStyle/>
                    <a:p>
                      <a:pPr algn="ctr">
                        <a:lnSpc>
                          <a:spcPts val="1560"/>
                        </a:lnSpc>
                        <a:spcAft>
                          <a:spcPts val="0"/>
                        </a:spcAft>
                      </a:pPr>
                      <a:r>
                        <a:rPr lang="en-US" sz="1800" b="1">
                          <a:solidFill>
                            <a:schemeClr val="tx2"/>
                          </a:solidFill>
                          <a:latin typeface="仿宋_GB2312" pitchFamily="49" charset="-122"/>
                          <a:ea typeface="仿宋_GB2312" pitchFamily="49" charset="-122"/>
                        </a:rPr>
                        <a:t>21</a:t>
                      </a:r>
                      <a:endParaRPr lang="zh-CN" sz="1800" b="1">
                        <a:solidFill>
                          <a:schemeClr val="tx2"/>
                        </a:solidFill>
                        <a:latin typeface="仿宋_GB2312" pitchFamily="49" charset="-122"/>
                        <a:ea typeface="仿宋_GB2312" pitchFamily="49" charset="-122"/>
                      </a:endParaRPr>
                    </a:p>
                  </a:txBody>
                  <a:tcPr marL="68580" marR="68580" marT="0" marB="17780" anchor="ctr">
                    <a:lnL w="12700" cap="flat" cmpd="sng" algn="ctr">
                      <a:solidFill>
                        <a:srgbClr val="4BACC6"/>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just">
                        <a:lnSpc>
                          <a:spcPts val="1560"/>
                        </a:lnSpc>
                        <a:spcAft>
                          <a:spcPts val="0"/>
                        </a:spcAft>
                      </a:pPr>
                      <a:r>
                        <a:rPr lang="en-US" sz="1800" b="1" dirty="0">
                          <a:solidFill>
                            <a:schemeClr val="tx2"/>
                          </a:solidFill>
                          <a:latin typeface="仿宋_GB2312" pitchFamily="49" charset="-122"/>
                          <a:ea typeface="仿宋_GB2312" pitchFamily="49" charset="-122"/>
                        </a:rPr>
                        <a:t>FTP</a:t>
                      </a:r>
                      <a:endParaRPr lang="zh-CN" sz="1800" b="1" dirty="0">
                        <a:solidFill>
                          <a:schemeClr val="tx2"/>
                        </a:solidFill>
                        <a:latin typeface="仿宋_GB2312" pitchFamily="49" charset="-122"/>
                        <a:ea typeface="仿宋_GB2312" pitchFamily="49" charset="-122"/>
                      </a:endParaRPr>
                    </a:p>
                  </a:txBody>
                  <a:tcPr marL="68580" marR="68580" marT="0" marB="1778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just">
                        <a:lnSpc>
                          <a:spcPts val="1560"/>
                        </a:lnSpc>
                        <a:spcAft>
                          <a:spcPts val="0"/>
                        </a:spcAft>
                      </a:pPr>
                      <a:r>
                        <a:rPr lang="en-US" sz="1800" b="1" dirty="0">
                          <a:solidFill>
                            <a:schemeClr val="tx2"/>
                          </a:solidFill>
                          <a:latin typeface="仿宋_GB2312" pitchFamily="49" charset="-122"/>
                          <a:ea typeface="仿宋_GB2312" pitchFamily="49" charset="-122"/>
                        </a:rPr>
                        <a:t>FTP</a:t>
                      </a:r>
                      <a:r>
                        <a:rPr lang="zh-CN" sz="1800" b="1" dirty="0">
                          <a:solidFill>
                            <a:schemeClr val="tx2"/>
                          </a:solidFill>
                          <a:latin typeface="仿宋_GB2312" pitchFamily="49" charset="-122"/>
                          <a:ea typeface="仿宋_GB2312" pitchFamily="49" charset="-122"/>
                        </a:rPr>
                        <a:t>服务器所开放的控制端口</a:t>
                      </a:r>
                    </a:p>
                  </a:txBody>
                  <a:tcPr marL="68580" marR="68580" marT="0" marB="17780" anchor="ctr">
                    <a:lnL w="12700" cap="flat" cmpd="sng" algn="ctr">
                      <a:solidFill>
                        <a:schemeClr val="bg2"/>
                      </a:solidFill>
                      <a:prstDash val="solid"/>
                      <a:round/>
                      <a:headEnd type="none" w="med" len="med"/>
                      <a:tailEnd type="none" w="med" len="med"/>
                    </a:lnL>
                    <a:lnR w="12700" cap="flat" cmpd="sng" algn="ctr">
                      <a:solidFill>
                        <a:srgbClr val="4BACC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1"/>
                  </a:ext>
                </a:extLst>
              </a:tr>
              <a:tr h="497160">
                <a:tc>
                  <a:txBody>
                    <a:bodyPr/>
                    <a:lstStyle/>
                    <a:p>
                      <a:pPr algn="ctr">
                        <a:lnSpc>
                          <a:spcPts val="1560"/>
                        </a:lnSpc>
                        <a:spcAft>
                          <a:spcPts val="0"/>
                        </a:spcAft>
                      </a:pPr>
                      <a:r>
                        <a:rPr lang="en-US" sz="1800" b="1">
                          <a:solidFill>
                            <a:schemeClr val="tx2"/>
                          </a:solidFill>
                          <a:latin typeface="仿宋_GB2312" pitchFamily="49" charset="-122"/>
                          <a:ea typeface="仿宋_GB2312" pitchFamily="49" charset="-122"/>
                        </a:rPr>
                        <a:t>23</a:t>
                      </a:r>
                      <a:endParaRPr lang="zh-CN" sz="1800" b="1">
                        <a:solidFill>
                          <a:schemeClr val="tx2"/>
                        </a:solidFill>
                        <a:latin typeface="仿宋_GB2312" pitchFamily="49" charset="-122"/>
                        <a:ea typeface="仿宋_GB2312" pitchFamily="49" charset="-122"/>
                      </a:endParaRPr>
                    </a:p>
                  </a:txBody>
                  <a:tcPr marL="68580" marR="68580" marT="0" marB="17780" anchor="ctr">
                    <a:lnL w="12700" cap="flat" cmpd="sng" algn="ctr">
                      <a:solidFill>
                        <a:srgbClr val="4BACC6"/>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just">
                        <a:lnSpc>
                          <a:spcPts val="1560"/>
                        </a:lnSpc>
                        <a:spcAft>
                          <a:spcPts val="0"/>
                        </a:spcAft>
                      </a:pPr>
                      <a:r>
                        <a:rPr lang="en-US" sz="1800" b="1">
                          <a:solidFill>
                            <a:schemeClr val="tx2"/>
                          </a:solidFill>
                          <a:latin typeface="仿宋_GB2312" pitchFamily="49" charset="-122"/>
                          <a:ea typeface="仿宋_GB2312" pitchFamily="49" charset="-122"/>
                        </a:rPr>
                        <a:t>TELNET</a:t>
                      </a:r>
                      <a:endParaRPr lang="zh-CN" sz="1800" b="1">
                        <a:solidFill>
                          <a:schemeClr val="tx2"/>
                        </a:solidFill>
                        <a:latin typeface="仿宋_GB2312" pitchFamily="49" charset="-122"/>
                        <a:ea typeface="仿宋_GB2312" pitchFamily="49" charset="-122"/>
                      </a:endParaRPr>
                    </a:p>
                  </a:txBody>
                  <a:tcPr marL="68580" marR="68580" marT="0" marB="1778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just">
                        <a:lnSpc>
                          <a:spcPts val="1560"/>
                        </a:lnSpc>
                        <a:spcAft>
                          <a:spcPts val="0"/>
                        </a:spcAft>
                      </a:pPr>
                      <a:r>
                        <a:rPr lang="zh-CN" sz="1800" b="1" dirty="0">
                          <a:solidFill>
                            <a:schemeClr val="tx2"/>
                          </a:solidFill>
                          <a:latin typeface="仿宋_GB2312" pitchFamily="49" charset="-122"/>
                          <a:ea typeface="仿宋_GB2312" pitchFamily="49" charset="-122"/>
                        </a:rPr>
                        <a:t>用于远程登录，可以远程控制管理目标计算机</a:t>
                      </a:r>
                    </a:p>
                  </a:txBody>
                  <a:tcPr marL="68580" marR="68580" marT="0" marB="17780" anchor="ctr">
                    <a:lnL w="12700" cap="flat" cmpd="sng" algn="ctr">
                      <a:solidFill>
                        <a:schemeClr val="bg2"/>
                      </a:solidFill>
                      <a:prstDash val="solid"/>
                      <a:round/>
                      <a:headEnd type="none" w="med" len="med"/>
                      <a:tailEnd type="none" w="med" len="med"/>
                    </a:lnL>
                    <a:lnR w="12700" cap="flat" cmpd="sng" algn="ctr">
                      <a:solidFill>
                        <a:srgbClr val="4BACC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2"/>
                  </a:ext>
                </a:extLst>
              </a:tr>
              <a:tr h="497160">
                <a:tc>
                  <a:txBody>
                    <a:bodyPr/>
                    <a:lstStyle/>
                    <a:p>
                      <a:pPr algn="ctr">
                        <a:lnSpc>
                          <a:spcPts val="1560"/>
                        </a:lnSpc>
                        <a:spcAft>
                          <a:spcPts val="0"/>
                        </a:spcAft>
                      </a:pPr>
                      <a:r>
                        <a:rPr lang="en-US" sz="1800" b="1">
                          <a:solidFill>
                            <a:schemeClr val="tx2"/>
                          </a:solidFill>
                          <a:latin typeface="仿宋_GB2312" pitchFamily="49" charset="-122"/>
                          <a:ea typeface="仿宋_GB2312" pitchFamily="49" charset="-122"/>
                        </a:rPr>
                        <a:t>25</a:t>
                      </a:r>
                      <a:endParaRPr lang="zh-CN" sz="1800" b="1">
                        <a:solidFill>
                          <a:schemeClr val="tx2"/>
                        </a:solidFill>
                        <a:latin typeface="仿宋_GB2312" pitchFamily="49" charset="-122"/>
                        <a:ea typeface="仿宋_GB2312" pitchFamily="49" charset="-122"/>
                      </a:endParaRPr>
                    </a:p>
                  </a:txBody>
                  <a:tcPr marL="68580" marR="68580" marT="0" marB="17780" anchor="ctr">
                    <a:lnL w="12700" cap="flat" cmpd="sng" algn="ctr">
                      <a:solidFill>
                        <a:srgbClr val="4BACC6"/>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just">
                        <a:lnSpc>
                          <a:spcPts val="1560"/>
                        </a:lnSpc>
                        <a:spcAft>
                          <a:spcPts val="0"/>
                        </a:spcAft>
                      </a:pPr>
                      <a:r>
                        <a:rPr lang="en-US" sz="1800" b="1">
                          <a:solidFill>
                            <a:schemeClr val="tx2"/>
                          </a:solidFill>
                          <a:latin typeface="仿宋_GB2312" pitchFamily="49" charset="-122"/>
                          <a:ea typeface="仿宋_GB2312" pitchFamily="49" charset="-122"/>
                        </a:rPr>
                        <a:t>SMTP</a:t>
                      </a:r>
                      <a:endParaRPr lang="zh-CN" sz="1800" b="1">
                        <a:solidFill>
                          <a:schemeClr val="tx2"/>
                        </a:solidFill>
                        <a:latin typeface="仿宋_GB2312" pitchFamily="49" charset="-122"/>
                        <a:ea typeface="仿宋_GB2312" pitchFamily="49" charset="-122"/>
                      </a:endParaRPr>
                    </a:p>
                  </a:txBody>
                  <a:tcPr marL="68580" marR="68580" marT="0" marB="1778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just">
                        <a:lnSpc>
                          <a:spcPts val="1560"/>
                        </a:lnSpc>
                        <a:spcAft>
                          <a:spcPts val="0"/>
                        </a:spcAft>
                      </a:pPr>
                      <a:r>
                        <a:rPr lang="en-US" sz="1800" b="1" dirty="0">
                          <a:solidFill>
                            <a:schemeClr val="tx2"/>
                          </a:solidFill>
                          <a:latin typeface="仿宋_GB2312" pitchFamily="49" charset="-122"/>
                          <a:ea typeface="仿宋_GB2312" pitchFamily="49" charset="-122"/>
                        </a:rPr>
                        <a:t>SMTP</a:t>
                      </a:r>
                      <a:r>
                        <a:rPr lang="zh-CN" sz="1800" b="1" dirty="0">
                          <a:solidFill>
                            <a:schemeClr val="tx2"/>
                          </a:solidFill>
                          <a:latin typeface="仿宋_GB2312" pitchFamily="49" charset="-122"/>
                          <a:ea typeface="仿宋_GB2312" pitchFamily="49" charset="-122"/>
                        </a:rPr>
                        <a:t>服务器开放的端口，用于发送邮件</a:t>
                      </a:r>
                    </a:p>
                  </a:txBody>
                  <a:tcPr marL="68580" marR="68580" marT="0" marB="17780" anchor="ctr">
                    <a:lnL w="12700" cap="flat" cmpd="sng" algn="ctr">
                      <a:solidFill>
                        <a:schemeClr val="bg2"/>
                      </a:solidFill>
                      <a:prstDash val="solid"/>
                      <a:round/>
                      <a:headEnd type="none" w="med" len="med"/>
                      <a:tailEnd type="none" w="med" len="med"/>
                    </a:lnL>
                    <a:lnR w="12700" cap="flat" cmpd="sng" algn="ctr">
                      <a:solidFill>
                        <a:srgbClr val="4BACC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3"/>
                  </a:ext>
                </a:extLst>
              </a:tr>
              <a:tr h="497160">
                <a:tc>
                  <a:txBody>
                    <a:bodyPr/>
                    <a:lstStyle/>
                    <a:p>
                      <a:pPr algn="ctr">
                        <a:lnSpc>
                          <a:spcPts val="1560"/>
                        </a:lnSpc>
                        <a:spcAft>
                          <a:spcPts val="0"/>
                        </a:spcAft>
                      </a:pPr>
                      <a:r>
                        <a:rPr lang="en-US" sz="1800" b="1" dirty="0">
                          <a:solidFill>
                            <a:schemeClr val="tx2"/>
                          </a:solidFill>
                          <a:latin typeface="仿宋_GB2312" pitchFamily="49" charset="-122"/>
                          <a:ea typeface="仿宋_GB2312" pitchFamily="49" charset="-122"/>
                        </a:rPr>
                        <a:t>80</a:t>
                      </a:r>
                      <a:endParaRPr lang="zh-CN" sz="1800" b="1" dirty="0">
                        <a:solidFill>
                          <a:schemeClr val="tx2"/>
                        </a:solidFill>
                        <a:latin typeface="仿宋_GB2312" pitchFamily="49" charset="-122"/>
                        <a:ea typeface="仿宋_GB2312" pitchFamily="49" charset="-122"/>
                      </a:endParaRPr>
                    </a:p>
                  </a:txBody>
                  <a:tcPr marL="68580" marR="68580" marT="0" marB="17780" anchor="ctr">
                    <a:lnL w="12700" cap="flat" cmpd="sng" algn="ctr">
                      <a:solidFill>
                        <a:srgbClr val="4BACC6"/>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just">
                        <a:lnSpc>
                          <a:spcPts val="1560"/>
                        </a:lnSpc>
                        <a:spcAft>
                          <a:spcPts val="0"/>
                        </a:spcAft>
                      </a:pPr>
                      <a:r>
                        <a:rPr lang="en-US" sz="1800" b="1" dirty="0">
                          <a:solidFill>
                            <a:schemeClr val="tx2"/>
                          </a:solidFill>
                          <a:latin typeface="仿宋_GB2312" pitchFamily="49" charset="-122"/>
                          <a:ea typeface="仿宋_GB2312" pitchFamily="49" charset="-122"/>
                        </a:rPr>
                        <a:t>HTTP</a:t>
                      </a:r>
                      <a:endParaRPr lang="zh-CN" sz="1800" b="1" dirty="0">
                        <a:solidFill>
                          <a:schemeClr val="tx2"/>
                        </a:solidFill>
                        <a:latin typeface="仿宋_GB2312" pitchFamily="49" charset="-122"/>
                        <a:ea typeface="仿宋_GB2312" pitchFamily="49" charset="-122"/>
                      </a:endParaRPr>
                    </a:p>
                  </a:txBody>
                  <a:tcPr marL="68580" marR="68580" marT="0" marB="1778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just">
                        <a:lnSpc>
                          <a:spcPts val="1560"/>
                        </a:lnSpc>
                        <a:spcAft>
                          <a:spcPts val="0"/>
                        </a:spcAft>
                      </a:pPr>
                      <a:r>
                        <a:rPr lang="zh-CN" sz="1800" b="1" dirty="0">
                          <a:solidFill>
                            <a:schemeClr val="tx2"/>
                          </a:solidFill>
                          <a:latin typeface="仿宋_GB2312" pitchFamily="49" charset="-122"/>
                          <a:ea typeface="仿宋_GB2312" pitchFamily="49" charset="-122"/>
                        </a:rPr>
                        <a:t>超文本传输协议</a:t>
                      </a:r>
                    </a:p>
                  </a:txBody>
                  <a:tcPr marL="68580" marR="68580" marT="0" marB="17780" anchor="ctr">
                    <a:lnL w="12700" cap="flat" cmpd="sng" algn="ctr">
                      <a:solidFill>
                        <a:schemeClr val="bg2"/>
                      </a:solidFill>
                      <a:prstDash val="solid"/>
                      <a:round/>
                      <a:headEnd type="none" w="med" len="med"/>
                      <a:tailEnd type="none" w="med" len="med"/>
                    </a:lnL>
                    <a:lnR w="12700" cap="flat" cmpd="sng" algn="ctr">
                      <a:solidFill>
                        <a:srgbClr val="4BACC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4"/>
                  </a:ext>
                </a:extLst>
              </a:tr>
              <a:tr h="497160">
                <a:tc>
                  <a:txBody>
                    <a:bodyPr/>
                    <a:lstStyle/>
                    <a:p>
                      <a:pPr algn="ctr">
                        <a:lnSpc>
                          <a:spcPts val="1560"/>
                        </a:lnSpc>
                        <a:spcAft>
                          <a:spcPts val="0"/>
                        </a:spcAft>
                      </a:pPr>
                      <a:r>
                        <a:rPr lang="en-US" altLang="zh-CN" sz="1800" b="1" dirty="0">
                          <a:solidFill>
                            <a:schemeClr val="tx2"/>
                          </a:solidFill>
                          <a:latin typeface="仿宋_GB2312" pitchFamily="49" charset="-122"/>
                          <a:ea typeface="仿宋_GB2312" pitchFamily="49" charset="-122"/>
                        </a:rPr>
                        <a:t>110</a:t>
                      </a:r>
                      <a:endParaRPr lang="zh-CN" sz="1800" b="1" dirty="0">
                        <a:solidFill>
                          <a:schemeClr val="tx2"/>
                        </a:solidFill>
                        <a:latin typeface="仿宋_GB2312" pitchFamily="49" charset="-122"/>
                        <a:ea typeface="仿宋_GB2312" pitchFamily="49" charset="-122"/>
                      </a:endParaRPr>
                    </a:p>
                  </a:txBody>
                  <a:tcPr marL="68580" marR="68580" marT="0" marB="17780" anchor="ctr">
                    <a:lnL w="12700" cap="flat" cmpd="sng" algn="ctr">
                      <a:solidFill>
                        <a:srgbClr val="4BACC6"/>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rgbClr val="4BACC6"/>
                      </a:solidFill>
                      <a:prstDash val="solid"/>
                      <a:round/>
                      <a:headEnd type="none" w="med" len="med"/>
                      <a:tailEnd type="none" w="med" len="med"/>
                    </a:lnB>
                  </a:tcPr>
                </a:tc>
                <a:tc>
                  <a:txBody>
                    <a:bodyPr/>
                    <a:lstStyle/>
                    <a:p>
                      <a:pPr algn="just">
                        <a:lnSpc>
                          <a:spcPts val="1560"/>
                        </a:lnSpc>
                        <a:spcAft>
                          <a:spcPts val="0"/>
                        </a:spcAft>
                      </a:pPr>
                      <a:r>
                        <a:rPr lang="en-US" altLang="zh-CN" sz="1800" b="1" dirty="0">
                          <a:solidFill>
                            <a:schemeClr val="tx2"/>
                          </a:solidFill>
                          <a:latin typeface="仿宋_GB2312" pitchFamily="49" charset="-122"/>
                          <a:ea typeface="仿宋_GB2312" pitchFamily="49" charset="-122"/>
                        </a:rPr>
                        <a:t>POP3</a:t>
                      </a:r>
                      <a:endParaRPr lang="zh-CN" sz="1800" b="1" dirty="0">
                        <a:solidFill>
                          <a:schemeClr val="tx2"/>
                        </a:solidFill>
                        <a:latin typeface="仿宋_GB2312" pitchFamily="49" charset="-122"/>
                        <a:ea typeface="仿宋_GB2312" pitchFamily="49" charset="-122"/>
                      </a:endParaRPr>
                    </a:p>
                  </a:txBody>
                  <a:tcPr marL="68580" marR="68580" marT="0" marB="1778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rgbClr val="4BACC6"/>
                      </a:solidFill>
                      <a:prstDash val="solid"/>
                      <a:round/>
                      <a:headEnd type="none" w="med" len="med"/>
                      <a:tailEnd type="none" w="med" len="med"/>
                    </a:lnB>
                  </a:tcPr>
                </a:tc>
                <a:tc>
                  <a:txBody>
                    <a:bodyPr/>
                    <a:lstStyle/>
                    <a:p>
                      <a:pPr algn="just">
                        <a:lnSpc>
                          <a:spcPts val="1560"/>
                        </a:lnSpc>
                        <a:spcAft>
                          <a:spcPts val="0"/>
                        </a:spcAft>
                      </a:pPr>
                      <a:r>
                        <a:rPr lang="zh-CN" altLang="en-US" sz="1800" b="1" dirty="0">
                          <a:solidFill>
                            <a:schemeClr val="tx2"/>
                          </a:solidFill>
                          <a:latin typeface="仿宋_GB2312" pitchFamily="49" charset="-122"/>
                          <a:ea typeface="仿宋_GB2312" pitchFamily="49" charset="-122"/>
                        </a:rPr>
                        <a:t>用于邮件的接收</a:t>
                      </a:r>
                      <a:endParaRPr lang="zh-CN" sz="1800" b="1" dirty="0">
                        <a:solidFill>
                          <a:schemeClr val="tx2"/>
                        </a:solidFill>
                        <a:latin typeface="仿宋_GB2312" pitchFamily="49" charset="-122"/>
                        <a:ea typeface="仿宋_GB2312" pitchFamily="49" charset="-122"/>
                      </a:endParaRPr>
                    </a:p>
                  </a:txBody>
                  <a:tcPr marL="68580" marR="68580" marT="0" marB="17780" anchor="ctr">
                    <a:lnL w="12700" cap="flat" cmpd="sng" algn="ctr">
                      <a:solidFill>
                        <a:schemeClr val="bg2"/>
                      </a:solidFill>
                      <a:prstDash val="solid"/>
                      <a:round/>
                      <a:headEnd type="none" w="med" len="med"/>
                      <a:tailEnd type="none" w="med" len="med"/>
                    </a:lnL>
                    <a:lnR w="12700" cap="flat" cmpd="sng" algn="ctr">
                      <a:solidFill>
                        <a:srgbClr val="4BACC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rgbClr val="4BACC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699812" y="1418400"/>
            <a:ext cx="8501062" cy="2832233"/>
          </a:xfrm>
        </p:spPr>
        <p:txBody>
          <a:bodyPr>
            <a:normAutofit fontScale="47500" lnSpcReduction="20000"/>
          </a:bodyPr>
          <a:lstStyle/>
          <a:p>
            <a:pPr>
              <a:spcBef>
                <a:spcPts val="675"/>
              </a:spcBef>
            </a:pPr>
            <a:r>
              <a:rPr lang="en-US" altLang="zh-CN" sz="4000" dirty="0"/>
              <a:t>UDP</a:t>
            </a:r>
            <a:r>
              <a:rPr lang="zh-CN" altLang="en-US" sz="4000" dirty="0"/>
              <a:t>协议</a:t>
            </a:r>
          </a:p>
          <a:p>
            <a:pPr lvl="1">
              <a:spcBef>
                <a:spcPts val="475"/>
              </a:spcBef>
            </a:pPr>
            <a:r>
              <a:rPr lang="zh-CN" altLang="en-US" sz="3500" dirty="0"/>
              <a:t>无连接、不可靠的传输协议</a:t>
            </a:r>
          </a:p>
          <a:p>
            <a:pPr lvl="1">
              <a:spcBef>
                <a:spcPts val="475"/>
              </a:spcBef>
            </a:pPr>
            <a:r>
              <a:rPr lang="zh-CN" altLang="en-US" sz="3500" dirty="0"/>
              <a:t>花费的开销小</a:t>
            </a:r>
          </a:p>
          <a:p>
            <a:pPr>
              <a:spcBef>
                <a:spcPts val="675"/>
              </a:spcBef>
            </a:pPr>
            <a:r>
              <a:rPr lang="en-US" altLang="zh-CN" sz="4000" dirty="0"/>
              <a:t>UDP</a:t>
            </a:r>
            <a:r>
              <a:rPr lang="zh-CN" altLang="en-US" sz="4000" dirty="0"/>
              <a:t>报文的首部格式</a:t>
            </a:r>
            <a:endParaRPr lang="en-US" altLang="zh-CN" sz="4000" dirty="0"/>
          </a:p>
          <a:p>
            <a:pPr>
              <a:spcBef>
                <a:spcPts val="675"/>
              </a:spcBef>
            </a:pPr>
            <a:endParaRPr lang="en-US" altLang="zh-CN" sz="4000" dirty="0"/>
          </a:p>
          <a:p>
            <a:pPr lvl="1">
              <a:spcBef>
                <a:spcPts val="475"/>
              </a:spcBef>
            </a:pPr>
            <a:endParaRPr lang="en-US" altLang="zh-CN" sz="3500" dirty="0"/>
          </a:p>
          <a:p>
            <a:pPr lvl="1">
              <a:spcBef>
                <a:spcPts val="475"/>
              </a:spcBef>
            </a:pPr>
            <a:endParaRPr lang="en-US" altLang="zh-CN" sz="3500" dirty="0"/>
          </a:p>
          <a:p>
            <a:pPr lvl="1">
              <a:spcBef>
                <a:spcPts val="475"/>
              </a:spcBef>
            </a:pPr>
            <a:endParaRPr lang="en-US" altLang="zh-CN" sz="3500" dirty="0"/>
          </a:p>
          <a:p>
            <a:pPr lvl="1">
              <a:spcBef>
                <a:spcPts val="475"/>
              </a:spcBef>
            </a:pPr>
            <a:r>
              <a:rPr lang="en-US" altLang="zh-CN" sz="3500" dirty="0"/>
              <a:t>UDP</a:t>
            </a:r>
            <a:r>
              <a:rPr lang="zh-CN" altLang="en-US" sz="3500" dirty="0"/>
              <a:t>长度：用来指出</a:t>
            </a:r>
            <a:r>
              <a:rPr lang="en-US" altLang="zh-CN" sz="3500" dirty="0"/>
              <a:t>UDP</a:t>
            </a:r>
            <a:r>
              <a:rPr lang="zh-CN" altLang="en-US" sz="3500" dirty="0"/>
              <a:t>的总长度，为首部加上数据</a:t>
            </a:r>
          </a:p>
          <a:p>
            <a:pPr lvl="1">
              <a:spcBef>
                <a:spcPts val="475"/>
              </a:spcBef>
            </a:pPr>
            <a:r>
              <a:rPr lang="zh-CN" altLang="en-US" sz="3500" dirty="0"/>
              <a:t>校验和：用来完成对</a:t>
            </a:r>
            <a:r>
              <a:rPr lang="en-US" altLang="zh-CN" sz="3500" dirty="0"/>
              <a:t>UDP</a:t>
            </a:r>
            <a:r>
              <a:rPr lang="zh-CN" altLang="en-US" sz="3500" dirty="0"/>
              <a:t>数据的差错检验，它是</a:t>
            </a:r>
            <a:r>
              <a:rPr lang="en-US" altLang="zh-CN" sz="3500" dirty="0"/>
              <a:t>UDP</a:t>
            </a:r>
            <a:r>
              <a:rPr lang="zh-CN" altLang="en-US" sz="3500" dirty="0"/>
              <a:t>协议提供的唯一的可靠机制</a:t>
            </a:r>
          </a:p>
          <a:p>
            <a:pPr>
              <a:spcBef>
                <a:spcPts val="675"/>
              </a:spcBef>
            </a:pPr>
            <a:endParaRPr lang="zh-CN" altLang="en-US" dirty="0"/>
          </a:p>
        </p:txBody>
      </p:sp>
      <p:sp>
        <p:nvSpPr>
          <p:cNvPr id="18435" name="标题 2"/>
          <p:cNvSpPr>
            <a:spLocks noGrp="1"/>
          </p:cNvSpPr>
          <p:nvPr>
            <p:ph type="title"/>
          </p:nvPr>
        </p:nvSpPr>
        <p:spPr/>
        <p:txBody>
          <a:bodyPr/>
          <a:lstStyle/>
          <a:p>
            <a:r>
              <a:rPr lang="en-US" altLang="zh-CN"/>
              <a:t>UDP</a:t>
            </a:r>
            <a:r>
              <a:rPr lang="zh-CN" altLang="en-US"/>
              <a:t>协议</a:t>
            </a:r>
            <a:r>
              <a:rPr lang="en-US" altLang="zh-CN"/>
              <a:t>2-1</a:t>
            </a:r>
            <a:endParaRPr lang="zh-CN" altLang="en-US"/>
          </a:p>
        </p:txBody>
      </p:sp>
      <p:graphicFrame>
        <p:nvGraphicFramePr>
          <p:cNvPr id="4" name="Group 17"/>
          <p:cNvGraphicFramePr>
            <a:graphicFrameLocks/>
          </p:cNvGraphicFramePr>
          <p:nvPr>
            <p:extLst>
              <p:ext uri="{D42A27DB-BD31-4B8C-83A1-F6EECF244321}">
                <p14:modId xmlns:p14="http://schemas.microsoft.com/office/powerpoint/2010/main" val="3598680669"/>
              </p:ext>
            </p:extLst>
          </p:nvPr>
        </p:nvGraphicFramePr>
        <p:xfrm>
          <a:off x="2394937" y="4714867"/>
          <a:ext cx="6804025" cy="1000132"/>
        </p:xfrm>
        <a:graphic>
          <a:graphicData uri="http://schemas.openxmlformats.org/drawingml/2006/table">
            <a:tbl>
              <a:tblPr/>
              <a:tblGrid>
                <a:gridCol w="3357586">
                  <a:extLst>
                    <a:ext uri="{9D8B030D-6E8A-4147-A177-3AD203B41FA5}">
                      <a16:colId xmlns:a16="http://schemas.microsoft.com/office/drawing/2014/main" val="20000"/>
                    </a:ext>
                  </a:extLst>
                </a:gridCol>
                <a:gridCol w="3446439">
                  <a:extLst>
                    <a:ext uri="{9D8B030D-6E8A-4147-A177-3AD203B41FA5}">
                      <a16:colId xmlns:a16="http://schemas.microsoft.com/office/drawing/2014/main" val="20001"/>
                    </a:ext>
                  </a:extLst>
                </a:gridCol>
              </a:tblGrid>
              <a:tr h="500750">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dirty="0">
                          <a:ln>
                            <a:noFill/>
                          </a:ln>
                          <a:solidFill>
                            <a:schemeClr val="accent3"/>
                          </a:solidFill>
                          <a:effectLst/>
                          <a:latin typeface="楷体_GB2312" pitchFamily="49" charset="-122"/>
                          <a:ea typeface="楷体_GB2312" pitchFamily="49" charset="-122"/>
                        </a:rPr>
                        <a:t>源端口号（</a:t>
                      </a:r>
                      <a:r>
                        <a:rPr kumimoji="0" lang="en-US" altLang="zh-CN" sz="2000" b="1" i="0" u="none" strike="noStrike" cap="none" normalizeH="0" baseline="0" dirty="0">
                          <a:ln>
                            <a:noFill/>
                          </a:ln>
                          <a:solidFill>
                            <a:schemeClr val="accent3"/>
                          </a:solidFill>
                          <a:effectLst/>
                          <a:latin typeface="楷体_GB2312" pitchFamily="49" charset="-122"/>
                          <a:ea typeface="楷体_GB2312" pitchFamily="49" charset="-122"/>
                        </a:rPr>
                        <a:t>16</a:t>
                      </a:r>
                      <a:r>
                        <a:rPr kumimoji="0" lang="zh-CN" altLang="en-US" sz="2000" b="1" i="0" u="none" strike="noStrike" cap="none" normalizeH="0" baseline="0" dirty="0">
                          <a:ln>
                            <a:noFill/>
                          </a:ln>
                          <a:solidFill>
                            <a:schemeClr val="accent3"/>
                          </a:solidFill>
                          <a:effectLst/>
                          <a:latin typeface="楷体_GB2312" pitchFamily="49" charset="-122"/>
                          <a:ea typeface="楷体_GB2312" pitchFamily="49" charset="-122"/>
                        </a:rPr>
                        <a:t>）</a:t>
                      </a:r>
                    </a:p>
                  </a:txBody>
                  <a:tcPr horzOverflow="overflow">
                    <a:lnL w="12700" cap="flat" cmpd="sng" algn="ctr">
                      <a:solidFill>
                        <a:schemeClr val="tx2"/>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a:noFill/>
                    </a:lnTlToBr>
                    <a:lnBlToTr>
                      <a:noFill/>
                    </a:lnBlToTr>
                    <a:solidFill>
                      <a:srgbClr val="4BACC6"/>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zh-CN" altLang="en-US" sz="2000" b="1" i="0" u="none" strike="noStrike" cap="none" normalizeH="0" baseline="0" dirty="0">
                          <a:ln>
                            <a:noFill/>
                          </a:ln>
                          <a:solidFill>
                            <a:schemeClr val="accent3"/>
                          </a:solidFill>
                          <a:effectLst/>
                          <a:latin typeface="楷体_GB2312" pitchFamily="49" charset="-122"/>
                          <a:ea typeface="楷体_GB2312" pitchFamily="49" charset="-122"/>
                        </a:rPr>
                        <a:t>目标端口号（</a:t>
                      </a:r>
                      <a:r>
                        <a:rPr kumimoji="0" lang="en-US" altLang="zh-CN" sz="2000" b="1" i="0" u="none" strike="noStrike" cap="none" normalizeH="0" baseline="0" dirty="0">
                          <a:ln>
                            <a:noFill/>
                          </a:ln>
                          <a:solidFill>
                            <a:schemeClr val="accent3"/>
                          </a:solidFill>
                          <a:effectLst/>
                          <a:latin typeface="楷体_GB2312" pitchFamily="49" charset="-122"/>
                          <a:ea typeface="楷体_GB2312" pitchFamily="49" charset="-122"/>
                        </a:rPr>
                        <a:t>16</a:t>
                      </a:r>
                      <a:r>
                        <a:rPr kumimoji="0" lang="zh-CN" altLang="en-US" sz="2000" b="1" i="0" u="none" strike="noStrike" cap="none" normalizeH="0" baseline="0" dirty="0">
                          <a:ln>
                            <a:noFill/>
                          </a:ln>
                          <a:solidFill>
                            <a:schemeClr val="accent3"/>
                          </a:solidFill>
                          <a:effectLst/>
                          <a:latin typeface="楷体_GB2312" pitchFamily="49" charset="-122"/>
                          <a:ea typeface="楷体_GB2312" pitchFamily="49" charset="-122"/>
                        </a:rPr>
                        <a:t>）</a:t>
                      </a:r>
                    </a:p>
                  </a:txBody>
                  <a:tcPr horzOverflow="overflow">
                    <a:lnL w="12700" cap="flat" cmpd="sng" algn="ctr">
                      <a:solidFill>
                        <a:schemeClr val="bg1">
                          <a:lumMod val="9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a:noFill/>
                    </a:lnTlToBr>
                    <a:lnBlToTr>
                      <a:noFill/>
                    </a:lnBlToTr>
                    <a:solidFill>
                      <a:srgbClr val="4BACC6"/>
                    </a:solidFill>
                  </a:tcPr>
                </a:tc>
                <a:extLst>
                  <a:ext uri="{0D108BD9-81ED-4DB2-BD59-A6C34878D82A}">
                    <a16:rowId xmlns:a16="http://schemas.microsoft.com/office/drawing/2014/main" val="10000"/>
                  </a:ext>
                </a:extLst>
              </a:tr>
              <a:tr h="499382">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2000" b="1" i="0" u="none" strike="noStrike" cap="none" normalizeH="0" baseline="0" dirty="0">
                          <a:ln>
                            <a:noFill/>
                          </a:ln>
                          <a:solidFill>
                            <a:schemeClr val="accent3"/>
                          </a:solidFill>
                          <a:effectLst/>
                          <a:latin typeface="楷体_GB2312" pitchFamily="49" charset="-122"/>
                          <a:ea typeface="楷体_GB2312" pitchFamily="49" charset="-122"/>
                        </a:rPr>
                        <a:t>UDP</a:t>
                      </a:r>
                      <a:r>
                        <a:rPr kumimoji="0" lang="zh-CN" altLang="en-US" sz="2000" b="1" i="0" u="none" strike="noStrike" cap="none" normalizeH="0" baseline="0" dirty="0">
                          <a:ln>
                            <a:noFill/>
                          </a:ln>
                          <a:solidFill>
                            <a:schemeClr val="accent3"/>
                          </a:solidFill>
                          <a:effectLst/>
                          <a:latin typeface="楷体_GB2312" pitchFamily="49" charset="-122"/>
                          <a:ea typeface="楷体_GB2312" pitchFamily="49" charset="-122"/>
                        </a:rPr>
                        <a:t>长度（</a:t>
                      </a:r>
                      <a:r>
                        <a:rPr kumimoji="0" lang="en-US" altLang="zh-CN" sz="2000" b="1" i="0" u="none" strike="noStrike" cap="none" normalizeH="0" baseline="0" dirty="0">
                          <a:ln>
                            <a:noFill/>
                          </a:ln>
                          <a:solidFill>
                            <a:schemeClr val="accent3"/>
                          </a:solidFill>
                          <a:effectLst/>
                          <a:latin typeface="楷体_GB2312" pitchFamily="49" charset="-122"/>
                          <a:ea typeface="楷体_GB2312" pitchFamily="49" charset="-122"/>
                        </a:rPr>
                        <a:t>16</a:t>
                      </a:r>
                      <a:r>
                        <a:rPr kumimoji="0" lang="zh-CN" altLang="en-US" sz="2000" b="1" i="0" u="none" strike="noStrike" cap="none" normalizeH="0" baseline="0" dirty="0">
                          <a:ln>
                            <a:noFill/>
                          </a:ln>
                          <a:solidFill>
                            <a:schemeClr val="accent3"/>
                          </a:solidFill>
                          <a:effectLst/>
                          <a:latin typeface="楷体_GB2312" pitchFamily="49" charset="-122"/>
                          <a:ea typeface="楷体_GB2312" pitchFamily="49" charset="-122"/>
                        </a:rPr>
                        <a:t>）</a:t>
                      </a:r>
                    </a:p>
                  </a:txBody>
                  <a:tcPr horzOverflow="overflow">
                    <a:lnL w="12700" cap="flat" cmpd="sng" algn="ctr">
                      <a:solidFill>
                        <a:schemeClr val="tx2"/>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rgbClr val="4BACC6"/>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altLang="zh-CN" sz="2000" b="1" i="0" u="none" strike="noStrike" cap="none" normalizeH="0" baseline="0" dirty="0">
                          <a:ln>
                            <a:noFill/>
                          </a:ln>
                          <a:solidFill>
                            <a:schemeClr val="accent3"/>
                          </a:solidFill>
                          <a:effectLst/>
                          <a:latin typeface="楷体_GB2312" pitchFamily="49" charset="-122"/>
                          <a:ea typeface="楷体_GB2312" pitchFamily="49" charset="-122"/>
                        </a:rPr>
                        <a:t>UDP</a:t>
                      </a:r>
                      <a:r>
                        <a:rPr kumimoji="0" lang="zh-CN" altLang="en-US" sz="2000" b="1" i="0" u="none" strike="noStrike" cap="none" normalizeH="0" baseline="0" dirty="0">
                          <a:ln>
                            <a:noFill/>
                          </a:ln>
                          <a:solidFill>
                            <a:schemeClr val="accent3"/>
                          </a:solidFill>
                          <a:effectLst/>
                          <a:latin typeface="楷体_GB2312" pitchFamily="49" charset="-122"/>
                          <a:ea typeface="楷体_GB2312" pitchFamily="49" charset="-122"/>
                        </a:rPr>
                        <a:t>校验和（</a:t>
                      </a:r>
                      <a:r>
                        <a:rPr kumimoji="0" lang="en-US" altLang="zh-CN" sz="2000" b="1" i="0" u="none" strike="noStrike" cap="none" normalizeH="0" baseline="0" dirty="0">
                          <a:ln>
                            <a:noFill/>
                          </a:ln>
                          <a:solidFill>
                            <a:schemeClr val="accent3"/>
                          </a:solidFill>
                          <a:effectLst/>
                          <a:latin typeface="楷体_GB2312" pitchFamily="49" charset="-122"/>
                          <a:ea typeface="楷体_GB2312" pitchFamily="49" charset="-122"/>
                        </a:rPr>
                        <a:t>16</a:t>
                      </a:r>
                      <a:r>
                        <a:rPr kumimoji="0" lang="zh-CN" altLang="en-US" sz="2000" b="1" i="0" u="none" strike="noStrike" cap="none" normalizeH="0" baseline="0" dirty="0">
                          <a:ln>
                            <a:noFill/>
                          </a:ln>
                          <a:solidFill>
                            <a:schemeClr val="accent3"/>
                          </a:solidFill>
                          <a:effectLst/>
                          <a:latin typeface="楷体_GB2312" pitchFamily="49" charset="-122"/>
                          <a:ea typeface="楷体_GB2312" pitchFamily="49" charset="-122"/>
                        </a:rPr>
                        <a:t>）</a:t>
                      </a:r>
                    </a:p>
                  </a:txBody>
                  <a:tcPr horzOverflow="overflow">
                    <a:lnL w="12700" cap="flat" cmpd="sng" algn="ctr">
                      <a:solidFill>
                        <a:schemeClr val="bg1">
                          <a:lumMod val="95000"/>
                        </a:schemeClr>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rgbClr val="4BACC6"/>
                    </a:solidFill>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8" end="8"/>
                                            </p:txEl>
                                          </p:spTgt>
                                        </p:tgtEl>
                                        <p:attrNameLst>
                                          <p:attrName>style.visibility</p:attrName>
                                        </p:attrNameLst>
                                      </p:cBhvr>
                                      <p:to>
                                        <p:strVal val="visible"/>
                                      </p:to>
                                    </p:set>
                                    <p:anim calcmode="lin" valueType="num">
                                      <p:cBhvr additive="base">
                                        <p:cTn id="7"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9" end="9"/>
                                            </p:txEl>
                                          </p:spTgt>
                                        </p:tgtEl>
                                        <p:attrNameLst>
                                          <p:attrName>style.visibility</p:attrName>
                                        </p:attrNameLst>
                                      </p:cBhvr>
                                      <p:to>
                                        <p:strVal val="visible"/>
                                      </p:to>
                                    </p:set>
                                    <p:anim calcmode="lin" valueType="num">
                                      <p:cBhvr additive="base">
                                        <p:cTn id="11"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内容占位符 1"/>
          <p:cNvSpPr>
            <a:spLocks noGrp="1"/>
          </p:cNvSpPr>
          <p:nvPr>
            <p:ph idx="1"/>
          </p:nvPr>
        </p:nvSpPr>
        <p:spPr>
          <a:xfrm>
            <a:off x="1738313" y="1143000"/>
            <a:ext cx="8501062" cy="857250"/>
          </a:xfrm>
        </p:spPr>
        <p:txBody>
          <a:bodyPr/>
          <a:lstStyle/>
          <a:p>
            <a:pPr>
              <a:spcBef>
                <a:spcPts val="675"/>
              </a:spcBef>
            </a:pPr>
            <a:r>
              <a:rPr lang="zh-CN" altLang="en-US"/>
              <a:t>常用的</a:t>
            </a:r>
            <a:r>
              <a:rPr lang="en-US" altLang="zh-CN"/>
              <a:t>UDP</a:t>
            </a:r>
            <a:r>
              <a:rPr lang="zh-CN" altLang="en-US"/>
              <a:t>端口号及其功能</a:t>
            </a:r>
          </a:p>
        </p:txBody>
      </p:sp>
      <p:sp>
        <p:nvSpPr>
          <p:cNvPr id="19459" name="标题 2"/>
          <p:cNvSpPr>
            <a:spLocks noGrp="1"/>
          </p:cNvSpPr>
          <p:nvPr>
            <p:ph type="title"/>
          </p:nvPr>
        </p:nvSpPr>
        <p:spPr/>
        <p:txBody>
          <a:bodyPr/>
          <a:lstStyle/>
          <a:p>
            <a:r>
              <a:rPr lang="en-US" altLang="zh-CN"/>
              <a:t>UDP</a:t>
            </a:r>
            <a:r>
              <a:rPr lang="zh-CN" altLang="en-US"/>
              <a:t>协议</a:t>
            </a:r>
            <a:r>
              <a:rPr lang="en-US" altLang="zh-CN"/>
              <a:t>2-2</a:t>
            </a:r>
            <a:endParaRPr lang="zh-CN" altLang="en-US"/>
          </a:p>
        </p:txBody>
      </p:sp>
      <p:graphicFrame>
        <p:nvGraphicFramePr>
          <p:cNvPr id="4" name="表格 3"/>
          <p:cNvGraphicFramePr>
            <a:graphicFrameLocks noGrp="1"/>
          </p:cNvGraphicFramePr>
          <p:nvPr/>
        </p:nvGraphicFramePr>
        <p:xfrm>
          <a:off x="3024188" y="2428875"/>
          <a:ext cx="5929354" cy="1643076"/>
        </p:xfrm>
        <a:graphic>
          <a:graphicData uri="http://schemas.openxmlformats.org/drawingml/2006/table">
            <a:tbl>
              <a:tblPr/>
              <a:tblGrid>
                <a:gridCol w="707823">
                  <a:extLst>
                    <a:ext uri="{9D8B030D-6E8A-4147-A177-3AD203B41FA5}">
                      <a16:colId xmlns:a16="http://schemas.microsoft.com/office/drawing/2014/main" val="20000"/>
                    </a:ext>
                  </a:extLst>
                </a:gridCol>
                <a:gridCol w="817376">
                  <a:extLst>
                    <a:ext uri="{9D8B030D-6E8A-4147-A177-3AD203B41FA5}">
                      <a16:colId xmlns:a16="http://schemas.microsoft.com/office/drawing/2014/main" val="20001"/>
                    </a:ext>
                  </a:extLst>
                </a:gridCol>
                <a:gridCol w="4404155">
                  <a:extLst>
                    <a:ext uri="{9D8B030D-6E8A-4147-A177-3AD203B41FA5}">
                      <a16:colId xmlns:a16="http://schemas.microsoft.com/office/drawing/2014/main" val="20002"/>
                    </a:ext>
                  </a:extLst>
                </a:gridCol>
              </a:tblGrid>
              <a:tr h="410769">
                <a:tc>
                  <a:txBody>
                    <a:bodyPr/>
                    <a:lstStyle/>
                    <a:p>
                      <a:pPr algn="ctr">
                        <a:lnSpc>
                          <a:spcPts val="1300"/>
                        </a:lnSpc>
                        <a:spcAft>
                          <a:spcPts val="0"/>
                        </a:spcAft>
                      </a:pPr>
                      <a:r>
                        <a:rPr lang="zh-CN" sz="2000" b="1" dirty="0">
                          <a:solidFill>
                            <a:schemeClr val="accent3"/>
                          </a:solidFill>
                          <a:latin typeface="仿宋_GB2312" pitchFamily="49" charset="-122"/>
                          <a:ea typeface="仿宋_GB2312" pitchFamily="49" charset="-122"/>
                        </a:rPr>
                        <a:t>端口</a:t>
                      </a:r>
                    </a:p>
                  </a:txBody>
                  <a:tcPr marL="68580" marR="68580" marT="0" marB="17780" anchor="b">
                    <a:lnL w="12700" cap="flat" cmpd="sng" algn="ctr">
                      <a:solidFill>
                        <a:srgbClr val="4BACC6"/>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rgbClr val="4BACC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4BACC6"/>
                    </a:solidFill>
                  </a:tcPr>
                </a:tc>
                <a:tc>
                  <a:txBody>
                    <a:bodyPr/>
                    <a:lstStyle/>
                    <a:p>
                      <a:pPr algn="ctr">
                        <a:lnSpc>
                          <a:spcPts val="1300"/>
                        </a:lnSpc>
                        <a:spcAft>
                          <a:spcPts val="0"/>
                        </a:spcAft>
                      </a:pPr>
                      <a:r>
                        <a:rPr lang="zh-CN" sz="2000" b="1" dirty="0">
                          <a:solidFill>
                            <a:schemeClr val="accent3"/>
                          </a:solidFill>
                          <a:latin typeface="仿宋_GB2312" pitchFamily="49" charset="-122"/>
                          <a:ea typeface="仿宋_GB2312" pitchFamily="49" charset="-122"/>
                        </a:rPr>
                        <a:t>协议</a:t>
                      </a:r>
                    </a:p>
                  </a:txBody>
                  <a:tcPr marL="68580" marR="68580" marT="0" marB="17780" anchor="b">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rgbClr val="4BACC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4BACC6"/>
                    </a:solidFill>
                  </a:tcPr>
                </a:tc>
                <a:tc>
                  <a:txBody>
                    <a:bodyPr/>
                    <a:lstStyle/>
                    <a:p>
                      <a:pPr algn="ctr">
                        <a:lnSpc>
                          <a:spcPts val="1300"/>
                        </a:lnSpc>
                        <a:spcAft>
                          <a:spcPts val="0"/>
                        </a:spcAft>
                      </a:pPr>
                      <a:r>
                        <a:rPr lang="zh-CN" sz="2000" b="1" dirty="0">
                          <a:solidFill>
                            <a:schemeClr val="accent3"/>
                          </a:solidFill>
                          <a:latin typeface="仿宋_GB2312" pitchFamily="49" charset="-122"/>
                          <a:ea typeface="仿宋_GB2312" pitchFamily="49" charset="-122"/>
                        </a:rPr>
                        <a:t>说　　明</a:t>
                      </a:r>
                    </a:p>
                  </a:txBody>
                  <a:tcPr marL="68580" marR="68580" marT="0" marB="17780" anchor="b">
                    <a:lnL w="12700" cap="flat" cmpd="sng" algn="ctr">
                      <a:solidFill>
                        <a:schemeClr val="bg2"/>
                      </a:solidFill>
                      <a:prstDash val="solid"/>
                      <a:round/>
                      <a:headEnd type="none" w="med" len="med"/>
                      <a:tailEnd type="none" w="med" len="med"/>
                    </a:lnL>
                    <a:lnR w="12700" cap="flat" cmpd="sng" algn="ctr">
                      <a:solidFill>
                        <a:srgbClr val="4BACC6"/>
                      </a:solidFill>
                      <a:prstDash val="solid"/>
                      <a:round/>
                      <a:headEnd type="none" w="med" len="med"/>
                      <a:tailEnd type="none" w="med" len="med"/>
                    </a:lnR>
                    <a:lnT w="12700" cap="flat" cmpd="sng" algn="ctr">
                      <a:solidFill>
                        <a:srgbClr val="4BACC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4BACC6"/>
                    </a:solidFill>
                  </a:tcPr>
                </a:tc>
                <a:extLst>
                  <a:ext uri="{0D108BD9-81ED-4DB2-BD59-A6C34878D82A}">
                    <a16:rowId xmlns:a16="http://schemas.microsoft.com/office/drawing/2014/main" val="10000"/>
                  </a:ext>
                </a:extLst>
              </a:tr>
              <a:tr h="410769">
                <a:tc>
                  <a:txBody>
                    <a:bodyPr/>
                    <a:lstStyle/>
                    <a:p>
                      <a:pPr algn="ctr">
                        <a:lnSpc>
                          <a:spcPts val="1300"/>
                        </a:lnSpc>
                        <a:spcAft>
                          <a:spcPts val="0"/>
                        </a:spcAft>
                      </a:pPr>
                      <a:r>
                        <a:rPr lang="en-US" sz="2000" b="1">
                          <a:solidFill>
                            <a:schemeClr val="tx2"/>
                          </a:solidFill>
                          <a:latin typeface="仿宋_GB2312" pitchFamily="49" charset="-122"/>
                          <a:ea typeface="仿宋_GB2312" pitchFamily="49" charset="-122"/>
                        </a:rPr>
                        <a:t>69</a:t>
                      </a:r>
                      <a:endParaRPr lang="zh-CN" sz="2000" b="1">
                        <a:solidFill>
                          <a:schemeClr val="tx2"/>
                        </a:solidFill>
                        <a:latin typeface="仿宋_GB2312" pitchFamily="49" charset="-122"/>
                        <a:ea typeface="仿宋_GB2312" pitchFamily="49" charset="-122"/>
                      </a:endParaRPr>
                    </a:p>
                  </a:txBody>
                  <a:tcPr marL="68580" marR="68580" marT="0" marB="17780" anchor="b">
                    <a:lnL w="12700" cap="flat" cmpd="sng" algn="ctr">
                      <a:solidFill>
                        <a:srgbClr val="4BACC6"/>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just">
                        <a:lnSpc>
                          <a:spcPts val="1300"/>
                        </a:lnSpc>
                        <a:spcAft>
                          <a:spcPts val="0"/>
                        </a:spcAft>
                      </a:pPr>
                      <a:r>
                        <a:rPr lang="en-US" sz="2000" b="1" dirty="0">
                          <a:solidFill>
                            <a:schemeClr val="tx2"/>
                          </a:solidFill>
                          <a:latin typeface="仿宋_GB2312" pitchFamily="49" charset="-122"/>
                          <a:ea typeface="仿宋_GB2312" pitchFamily="49" charset="-122"/>
                        </a:rPr>
                        <a:t>TFTP</a:t>
                      </a:r>
                      <a:endParaRPr lang="zh-CN" sz="2000" b="1" dirty="0">
                        <a:solidFill>
                          <a:schemeClr val="tx2"/>
                        </a:solidFill>
                        <a:latin typeface="仿宋_GB2312" pitchFamily="49" charset="-122"/>
                        <a:ea typeface="仿宋_GB2312" pitchFamily="49" charset="-122"/>
                      </a:endParaRPr>
                    </a:p>
                  </a:txBody>
                  <a:tcPr marL="68580" marR="68580" marT="0" marB="17780" anchor="b">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just">
                        <a:lnSpc>
                          <a:spcPts val="1300"/>
                        </a:lnSpc>
                        <a:spcAft>
                          <a:spcPts val="0"/>
                        </a:spcAft>
                      </a:pPr>
                      <a:r>
                        <a:rPr lang="zh-CN" sz="2000" b="1" dirty="0">
                          <a:solidFill>
                            <a:schemeClr val="tx2"/>
                          </a:solidFill>
                          <a:latin typeface="仿宋_GB2312" pitchFamily="49" charset="-122"/>
                          <a:ea typeface="仿宋_GB2312" pitchFamily="49" charset="-122"/>
                        </a:rPr>
                        <a:t>简单文件传输协议</a:t>
                      </a:r>
                    </a:p>
                  </a:txBody>
                  <a:tcPr marL="68580" marR="68580" marT="0" marB="17780" anchor="b">
                    <a:lnL w="12700" cap="flat" cmpd="sng" algn="ctr">
                      <a:solidFill>
                        <a:schemeClr val="bg2"/>
                      </a:solidFill>
                      <a:prstDash val="solid"/>
                      <a:round/>
                      <a:headEnd type="none" w="med" len="med"/>
                      <a:tailEnd type="none" w="med" len="med"/>
                    </a:lnL>
                    <a:lnR w="12700" cap="flat" cmpd="sng" algn="ctr">
                      <a:solidFill>
                        <a:srgbClr val="4BACC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1"/>
                  </a:ext>
                </a:extLst>
              </a:tr>
              <a:tr h="410769">
                <a:tc>
                  <a:txBody>
                    <a:bodyPr/>
                    <a:lstStyle/>
                    <a:p>
                      <a:pPr algn="ctr">
                        <a:lnSpc>
                          <a:spcPts val="1300"/>
                        </a:lnSpc>
                        <a:spcAft>
                          <a:spcPts val="0"/>
                        </a:spcAft>
                      </a:pPr>
                      <a:r>
                        <a:rPr lang="en-US" sz="2000" b="1">
                          <a:solidFill>
                            <a:schemeClr val="tx2"/>
                          </a:solidFill>
                          <a:latin typeface="仿宋_GB2312" pitchFamily="49" charset="-122"/>
                          <a:ea typeface="仿宋_GB2312" pitchFamily="49" charset="-122"/>
                        </a:rPr>
                        <a:t>111</a:t>
                      </a:r>
                      <a:endParaRPr lang="zh-CN" sz="2000" b="1">
                        <a:solidFill>
                          <a:schemeClr val="tx2"/>
                        </a:solidFill>
                        <a:latin typeface="仿宋_GB2312" pitchFamily="49" charset="-122"/>
                        <a:ea typeface="仿宋_GB2312" pitchFamily="49" charset="-122"/>
                      </a:endParaRPr>
                    </a:p>
                  </a:txBody>
                  <a:tcPr marL="68580" marR="68580" marT="0" marB="17780" anchor="b">
                    <a:lnL w="12700" cap="flat" cmpd="sng" algn="ctr">
                      <a:solidFill>
                        <a:srgbClr val="4BACC6"/>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just">
                        <a:lnSpc>
                          <a:spcPts val="1300"/>
                        </a:lnSpc>
                        <a:spcAft>
                          <a:spcPts val="0"/>
                        </a:spcAft>
                      </a:pPr>
                      <a:r>
                        <a:rPr lang="en-US" sz="2000" b="1" dirty="0">
                          <a:solidFill>
                            <a:schemeClr val="tx2"/>
                          </a:solidFill>
                          <a:latin typeface="仿宋_GB2312" pitchFamily="49" charset="-122"/>
                          <a:ea typeface="仿宋_GB2312" pitchFamily="49" charset="-122"/>
                        </a:rPr>
                        <a:t>RPC</a:t>
                      </a:r>
                      <a:endParaRPr lang="zh-CN" sz="2000" b="1" dirty="0">
                        <a:solidFill>
                          <a:schemeClr val="tx2"/>
                        </a:solidFill>
                        <a:latin typeface="仿宋_GB2312" pitchFamily="49" charset="-122"/>
                        <a:ea typeface="仿宋_GB2312" pitchFamily="49" charset="-122"/>
                      </a:endParaRPr>
                    </a:p>
                  </a:txBody>
                  <a:tcPr marL="68580" marR="68580" marT="0" marB="17780" anchor="b">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just">
                        <a:lnSpc>
                          <a:spcPts val="1300"/>
                        </a:lnSpc>
                        <a:spcAft>
                          <a:spcPts val="0"/>
                        </a:spcAft>
                      </a:pPr>
                      <a:r>
                        <a:rPr lang="zh-CN" sz="2000" b="1" dirty="0">
                          <a:solidFill>
                            <a:schemeClr val="tx2"/>
                          </a:solidFill>
                          <a:latin typeface="仿宋_GB2312" pitchFamily="49" charset="-122"/>
                          <a:ea typeface="仿宋_GB2312" pitchFamily="49" charset="-122"/>
                        </a:rPr>
                        <a:t>远程过程调用</a:t>
                      </a:r>
                    </a:p>
                  </a:txBody>
                  <a:tcPr marL="68580" marR="68580" marT="0" marB="17780" anchor="b">
                    <a:lnL w="12700" cap="flat" cmpd="sng" algn="ctr">
                      <a:solidFill>
                        <a:schemeClr val="bg2"/>
                      </a:solidFill>
                      <a:prstDash val="solid"/>
                      <a:round/>
                      <a:headEnd type="none" w="med" len="med"/>
                      <a:tailEnd type="none" w="med" len="med"/>
                    </a:lnL>
                    <a:lnR w="12700" cap="flat" cmpd="sng" algn="ctr">
                      <a:solidFill>
                        <a:srgbClr val="4BACC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2"/>
                  </a:ext>
                </a:extLst>
              </a:tr>
              <a:tr h="410769">
                <a:tc>
                  <a:txBody>
                    <a:bodyPr/>
                    <a:lstStyle/>
                    <a:p>
                      <a:pPr algn="ctr">
                        <a:lnSpc>
                          <a:spcPts val="1300"/>
                        </a:lnSpc>
                        <a:spcAft>
                          <a:spcPts val="0"/>
                        </a:spcAft>
                      </a:pPr>
                      <a:r>
                        <a:rPr lang="en-US" sz="2000" b="1">
                          <a:solidFill>
                            <a:schemeClr val="tx2"/>
                          </a:solidFill>
                          <a:latin typeface="仿宋_GB2312" pitchFamily="49" charset="-122"/>
                          <a:ea typeface="仿宋_GB2312" pitchFamily="49" charset="-122"/>
                        </a:rPr>
                        <a:t>123</a:t>
                      </a:r>
                      <a:endParaRPr lang="zh-CN" sz="2000" b="1">
                        <a:solidFill>
                          <a:schemeClr val="tx2"/>
                        </a:solidFill>
                        <a:latin typeface="仿宋_GB2312" pitchFamily="49" charset="-122"/>
                        <a:ea typeface="仿宋_GB2312" pitchFamily="49" charset="-122"/>
                      </a:endParaRPr>
                    </a:p>
                  </a:txBody>
                  <a:tcPr marL="68580" marR="68580" marT="0" marB="17780" anchor="b">
                    <a:lnL w="12700" cap="flat" cmpd="sng" algn="ctr">
                      <a:solidFill>
                        <a:srgbClr val="4BACC6"/>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rgbClr val="4BACC6"/>
                      </a:solidFill>
                      <a:prstDash val="solid"/>
                      <a:round/>
                      <a:headEnd type="none" w="med" len="med"/>
                      <a:tailEnd type="none" w="med" len="med"/>
                    </a:lnB>
                  </a:tcPr>
                </a:tc>
                <a:tc>
                  <a:txBody>
                    <a:bodyPr/>
                    <a:lstStyle/>
                    <a:p>
                      <a:pPr algn="just">
                        <a:lnSpc>
                          <a:spcPts val="1300"/>
                        </a:lnSpc>
                        <a:spcAft>
                          <a:spcPts val="0"/>
                        </a:spcAft>
                      </a:pPr>
                      <a:r>
                        <a:rPr lang="en-US" sz="2000" b="1" dirty="0">
                          <a:solidFill>
                            <a:schemeClr val="tx2"/>
                          </a:solidFill>
                          <a:latin typeface="仿宋_GB2312" pitchFamily="49" charset="-122"/>
                          <a:ea typeface="仿宋_GB2312" pitchFamily="49" charset="-122"/>
                        </a:rPr>
                        <a:t>NTP</a:t>
                      </a:r>
                      <a:endParaRPr lang="zh-CN" sz="2000" b="1" dirty="0">
                        <a:solidFill>
                          <a:schemeClr val="tx2"/>
                        </a:solidFill>
                        <a:latin typeface="仿宋_GB2312" pitchFamily="49" charset="-122"/>
                        <a:ea typeface="仿宋_GB2312" pitchFamily="49" charset="-122"/>
                      </a:endParaRPr>
                    </a:p>
                  </a:txBody>
                  <a:tcPr marL="68580" marR="68580" marT="0" marB="17780" anchor="b">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rgbClr val="4BACC6"/>
                      </a:solidFill>
                      <a:prstDash val="solid"/>
                      <a:round/>
                      <a:headEnd type="none" w="med" len="med"/>
                      <a:tailEnd type="none" w="med" len="med"/>
                    </a:lnB>
                  </a:tcPr>
                </a:tc>
                <a:tc>
                  <a:txBody>
                    <a:bodyPr/>
                    <a:lstStyle/>
                    <a:p>
                      <a:pPr algn="just">
                        <a:lnSpc>
                          <a:spcPts val="1300"/>
                        </a:lnSpc>
                        <a:spcAft>
                          <a:spcPts val="0"/>
                        </a:spcAft>
                      </a:pPr>
                      <a:r>
                        <a:rPr lang="zh-CN" sz="2000" b="1" dirty="0">
                          <a:solidFill>
                            <a:schemeClr val="tx2"/>
                          </a:solidFill>
                          <a:latin typeface="仿宋_GB2312" pitchFamily="49" charset="-122"/>
                          <a:ea typeface="仿宋_GB2312" pitchFamily="49" charset="-122"/>
                        </a:rPr>
                        <a:t>网络时间协议</a:t>
                      </a:r>
                    </a:p>
                  </a:txBody>
                  <a:tcPr marL="68580" marR="68580" marT="0" marB="17780" anchor="b">
                    <a:lnL w="12700" cap="flat" cmpd="sng" algn="ctr">
                      <a:solidFill>
                        <a:schemeClr val="bg2"/>
                      </a:solidFill>
                      <a:prstDash val="solid"/>
                      <a:round/>
                      <a:headEnd type="none" w="med" len="med"/>
                      <a:tailEnd type="none" w="med" len="med"/>
                    </a:lnL>
                    <a:lnR w="12700" cap="flat" cmpd="sng" algn="ctr">
                      <a:solidFill>
                        <a:srgbClr val="4BACC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rgbClr val="4BACC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idx="1"/>
          </p:nvPr>
        </p:nvSpPr>
        <p:spPr>
          <a:xfrm>
            <a:off x="1738313" y="1143000"/>
            <a:ext cx="8501062" cy="5143500"/>
          </a:xfrm>
        </p:spPr>
        <p:txBody>
          <a:bodyPr/>
          <a:lstStyle/>
          <a:p>
            <a:pPr>
              <a:spcBef>
                <a:spcPts val="675"/>
              </a:spcBef>
              <a:spcAft>
                <a:spcPct val="25000"/>
              </a:spcAft>
            </a:pPr>
            <a:r>
              <a:rPr lang="zh-CN" altLang="en-US"/>
              <a:t>请思考：</a:t>
            </a:r>
          </a:p>
          <a:p>
            <a:pPr lvl="1">
              <a:spcBef>
                <a:spcPts val="475"/>
              </a:spcBef>
              <a:spcAft>
                <a:spcPct val="25000"/>
              </a:spcAft>
            </a:pPr>
            <a:r>
              <a:rPr lang="zh-CN" altLang="en-US"/>
              <a:t>简述</a:t>
            </a:r>
            <a:r>
              <a:rPr lang="en-US" altLang="zh-CN"/>
              <a:t>TCP</a:t>
            </a:r>
            <a:r>
              <a:rPr lang="zh-CN" altLang="en-US"/>
              <a:t>与</a:t>
            </a:r>
            <a:r>
              <a:rPr lang="en-US" altLang="zh-CN"/>
              <a:t>UDP</a:t>
            </a:r>
            <a:r>
              <a:rPr lang="zh-CN" altLang="en-US"/>
              <a:t>区别？</a:t>
            </a:r>
          </a:p>
          <a:p>
            <a:pPr lvl="1">
              <a:spcBef>
                <a:spcPts val="475"/>
              </a:spcBef>
              <a:spcAft>
                <a:spcPct val="25000"/>
              </a:spcAft>
            </a:pPr>
            <a:r>
              <a:rPr lang="en-US" altLang="zh-CN"/>
              <a:t>TCP</a:t>
            </a:r>
            <a:r>
              <a:rPr lang="zh-CN" altLang="en-US"/>
              <a:t>建立连接需要三次握手，为什么终止连接需要四次握手？</a:t>
            </a:r>
            <a:endParaRPr lang="en-US" altLang="zh-CN"/>
          </a:p>
          <a:p>
            <a:pPr lvl="1">
              <a:spcBef>
                <a:spcPts val="475"/>
              </a:spcBef>
              <a:spcAft>
                <a:spcPct val="25000"/>
              </a:spcAft>
            </a:pPr>
            <a:r>
              <a:rPr lang="zh-CN" altLang="en-US"/>
              <a:t>列举常见的</a:t>
            </a:r>
            <a:r>
              <a:rPr lang="en-US" altLang="zh-CN"/>
              <a:t>TCP</a:t>
            </a:r>
            <a:r>
              <a:rPr lang="zh-CN" altLang="en-US"/>
              <a:t>、</a:t>
            </a:r>
            <a:r>
              <a:rPr lang="en-US" altLang="zh-CN"/>
              <a:t>UDP</a:t>
            </a:r>
            <a:r>
              <a:rPr lang="zh-CN" altLang="en-US"/>
              <a:t>端口有哪些？</a:t>
            </a:r>
          </a:p>
          <a:p>
            <a:pPr>
              <a:spcBef>
                <a:spcPts val="675"/>
              </a:spcBef>
              <a:spcAft>
                <a:spcPct val="25000"/>
              </a:spcAft>
              <a:buNone/>
            </a:pPr>
            <a:endParaRPr lang="zh-CN" altLang="en-US" sz="3200">
              <a:solidFill>
                <a:srgbClr val="003399"/>
              </a:solidFill>
            </a:endParaRPr>
          </a:p>
        </p:txBody>
      </p:sp>
      <p:sp>
        <p:nvSpPr>
          <p:cNvPr id="20483" name="Rectangle 2"/>
          <p:cNvSpPr>
            <a:spLocks noGrp="1" noChangeArrowheads="1"/>
          </p:cNvSpPr>
          <p:nvPr>
            <p:ph type="title"/>
          </p:nvPr>
        </p:nvSpPr>
        <p:spPr/>
        <p:txBody>
          <a:bodyPr/>
          <a:lstStyle/>
          <a:p>
            <a:pPr eaLnBrk="1" hangingPunct="1"/>
            <a:r>
              <a:rPr lang="zh-CN" altLang="en-US"/>
              <a:t>小结</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内容占位符 1"/>
          <p:cNvSpPr>
            <a:spLocks noGrp="1"/>
          </p:cNvSpPr>
          <p:nvPr>
            <p:ph idx="1"/>
          </p:nvPr>
        </p:nvSpPr>
        <p:spPr>
          <a:xfrm>
            <a:off x="1738313" y="1143000"/>
            <a:ext cx="8501062" cy="1500188"/>
          </a:xfrm>
        </p:spPr>
        <p:txBody>
          <a:bodyPr/>
          <a:lstStyle/>
          <a:p>
            <a:pPr>
              <a:spcBef>
                <a:spcPts val="675"/>
              </a:spcBef>
            </a:pPr>
            <a:r>
              <a:rPr lang="zh-CN" altLang="en-US"/>
              <a:t>访问控制列表（</a:t>
            </a:r>
            <a:r>
              <a:rPr lang="en-US" altLang="zh-CN"/>
              <a:t>ACL</a:t>
            </a:r>
            <a:r>
              <a:rPr lang="zh-CN" altLang="en-US"/>
              <a:t>）</a:t>
            </a:r>
          </a:p>
          <a:p>
            <a:pPr lvl="1">
              <a:spcBef>
                <a:spcPts val="475"/>
              </a:spcBef>
            </a:pPr>
            <a:r>
              <a:rPr lang="zh-CN" altLang="en-US"/>
              <a:t>读取第三层、第四层包头信息</a:t>
            </a:r>
          </a:p>
          <a:p>
            <a:pPr lvl="1">
              <a:spcBef>
                <a:spcPts val="475"/>
              </a:spcBef>
            </a:pPr>
            <a:r>
              <a:rPr lang="zh-CN" altLang="en-US"/>
              <a:t>根据预先定义好的规则对包进行过滤</a:t>
            </a:r>
          </a:p>
          <a:p>
            <a:pPr>
              <a:spcBef>
                <a:spcPts val="675"/>
              </a:spcBef>
            </a:pPr>
            <a:endParaRPr lang="zh-CN" altLang="en-US"/>
          </a:p>
        </p:txBody>
      </p:sp>
      <p:sp>
        <p:nvSpPr>
          <p:cNvPr id="21507" name="标题 2"/>
          <p:cNvSpPr>
            <a:spLocks noGrp="1"/>
          </p:cNvSpPr>
          <p:nvPr>
            <p:ph type="title"/>
          </p:nvPr>
        </p:nvSpPr>
        <p:spPr/>
        <p:txBody>
          <a:bodyPr/>
          <a:lstStyle/>
          <a:p>
            <a:r>
              <a:rPr lang="zh-CN"/>
              <a:t>访问控制列表概述</a:t>
            </a:r>
            <a:endParaRPr lang="zh-CN" altLang="en-US"/>
          </a:p>
        </p:txBody>
      </p:sp>
      <p:sp>
        <p:nvSpPr>
          <p:cNvPr id="21508" name="Freeform 4"/>
          <p:cNvSpPr>
            <a:spLocks/>
          </p:cNvSpPr>
          <p:nvPr/>
        </p:nvSpPr>
        <p:spPr bwMode="auto">
          <a:xfrm>
            <a:off x="2371726" y="2889250"/>
            <a:ext cx="1789113" cy="604838"/>
          </a:xfrm>
          <a:custGeom>
            <a:avLst/>
            <a:gdLst>
              <a:gd name="T0" fmla="*/ 0 w 1239"/>
              <a:gd name="T1" fmla="*/ 2147483647 h 432"/>
              <a:gd name="T2" fmla="*/ 2147483647 w 1239"/>
              <a:gd name="T3" fmla="*/ 2147483647 h 432"/>
              <a:gd name="T4" fmla="*/ 2147483647 w 1239"/>
              <a:gd name="T5" fmla="*/ 0 h 432"/>
              <a:gd name="T6" fmla="*/ 0 w 1239"/>
              <a:gd name="T7" fmla="*/ 0 h 432"/>
              <a:gd name="T8" fmla="*/ 0 w 1239"/>
              <a:gd name="T9" fmla="*/ 2147483647 h 432"/>
              <a:gd name="T10" fmla="*/ 0 w 1239"/>
              <a:gd name="T11" fmla="*/ 2147483647 h 432"/>
              <a:gd name="T12" fmla="*/ 0 60000 65536"/>
              <a:gd name="T13" fmla="*/ 0 60000 65536"/>
              <a:gd name="T14" fmla="*/ 0 60000 65536"/>
              <a:gd name="T15" fmla="*/ 0 60000 65536"/>
              <a:gd name="T16" fmla="*/ 0 60000 65536"/>
              <a:gd name="T17" fmla="*/ 0 60000 65536"/>
              <a:gd name="T18" fmla="*/ 0 w 1239"/>
              <a:gd name="T19" fmla="*/ 0 h 432"/>
              <a:gd name="T20" fmla="*/ 1239 w 1239"/>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1239" h="432">
                <a:moveTo>
                  <a:pt x="0" y="431"/>
                </a:moveTo>
                <a:lnTo>
                  <a:pt x="1238" y="431"/>
                </a:lnTo>
                <a:lnTo>
                  <a:pt x="1238" y="0"/>
                </a:lnTo>
                <a:lnTo>
                  <a:pt x="0" y="0"/>
                </a:lnTo>
                <a:lnTo>
                  <a:pt x="0" y="431"/>
                </a:lnTo>
              </a:path>
            </a:pathLst>
          </a:custGeom>
          <a:gradFill rotWithShape="1">
            <a:gsLst>
              <a:gs pos="0">
                <a:schemeClr val="bg1"/>
              </a:gs>
              <a:gs pos="100000">
                <a:schemeClr val="bg2"/>
              </a:gs>
            </a:gsLst>
            <a:lin ang="2700000" scaled="1"/>
          </a:gradFill>
          <a:ln w="38100">
            <a:solidFill>
              <a:srgbClr val="FF99CC"/>
            </a:solidFill>
            <a:round/>
            <a:headEnd/>
            <a:tailEnd/>
          </a:ln>
        </p:spPr>
        <p:txBody>
          <a:bodyPr/>
          <a:lstStyle/>
          <a:p>
            <a:endParaRPr lang="zh-CN" altLang="en-US"/>
          </a:p>
        </p:txBody>
      </p:sp>
      <p:sp>
        <p:nvSpPr>
          <p:cNvPr id="21509" name="Text Box 5"/>
          <p:cNvSpPr txBox="1">
            <a:spLocks noChangeArrowheads="1"/>
          </p:cNvSpPr>
          <p:nvPr/>
        </p:nvSpPr>
        <p:spPr bwMode="auto">
          <a:xfrm>
            <a:off x="2903539" y="2978150"/>
            <a:ext cx="1074737" cy="446088"/>
          </a:xfrm>
          <a:prstGeom prst="rect">
            <a:avLst/>
          </a:prstGeom>
          <a:gradFill rotWithShape="1">
            <a:gsLst>
              <a:gs pos="0">
                <a:schemeClr val="bg1"/>
              </a:gs>
              <a:gs pos="100000">
                <a:schemeClr val="bg2"/>
              </a:gs>
            </a:gsLst>
            <a:lin ang="2700000" scaled="1"/>
          </a:gradFill>
          <a:ln w="38100">
            <a:noFill/>
            <a:miter lim="800000"/>
            <a:headEnd/>
            <a:tailEnd/>
          </a:ln>
        </p:spPr>
        <p:txBody>
          <a:bodyPr lIns="0" tIns="0" rIns="0" bIns="0" anchor="ctr"/>
          <a:lstStyle/>
          <a:p>
            <a:pPr defTabSz="396875">
              <a:buClr>
                <a:srgbClr val="808080"/>
              </a:buClr>
              <a:buSzPct val="90000"/>
            </a:pPr>
            <a:r>
              <a:rPr lang="en-US" altLang="zh-CN" sz="2000" b="1">
                <a:solidFill>
                  <a:schemeClr val="tx2"/>
                </a:solidFill>
                <a:ea typeface="楷体_GB2312" pitchFamily="49" charset="-122"/>
              </a:rPr>
              <a:t>IP</a:t>
            </a:r>
            <a:r>
              <a:rPr lang="zh-CN" altLang="en-US" sz="2000" b="1">
                <a:solidFill>
                  <a:schemeClr val="tx2"/>
                </a:solidFill>
                <a:ea typeface="楷体_GB2312" pitchFamily="49" charset="-122"/>
              </a:rPr>
              <a:t>报头</a:t>
            </a:r>
          </a:p>
        </p:txBody>
      </p:sp>
      <p:sp>
        <p:nvSpPr>
          <p:cNvPr id="21510" name="Freeform 7"/>
          <p:cNvSpPr>
            <a:spLocks/>
          </p:cNvSpPr>
          <p:nvPr/>
        </p:nvSpPr>
        <p:spPr bwMode="auto">
          <a:xfrm>
            <a:off x="4318001" y="2881314"/>
            <a:ext cx="2055813" cy="612775"/>
          </a:xfrm>
          <a:custGeom>
            <a:avLst/>
            <a:gdLst>
              <a:gd name="T0" fmla="*/ 0 w 1425"/>
              <a:gd name="T1" fmla="*/ 2147483647 h 438"/>
              <a:gd name="T2" fmla="*/ 2147483647 w 1425"/>
              <a:gd name="T3" fmla="*/ 2147483647 h 438"/>
              <a:gd name="T4" fmla="*/ 2147483647 w 1425"/>
              <a:gd name="T5" fmla="*/ 0 h 438"/>
              <a:gd name="T6" fmla="*/ 0 w 1425"/>
              <a:gd name="T7" fmla="*/ 0 h 438"/>
              <a:gd name="T8" fmla="*/ 0 w 1425"/>
              <a:gd name="T9" fmla="*/ 2147483647 h 438"/>
              <a:gd name="T10" fmla="*/ 0 w 1425"/>
              <a:gd name="T11" fmla="*/ 2147483647 h 438"/>
              <a:gd name="T12" fmla="*/ 0 60000 65536"/>
              <a:gd name="T13" fmla="*/ 0 60000 65536"/>
              <a:gd name="T14" fmla="*/ 0 60000 65536"/>
              <a:gd name="T15" fmla="*/ 0 60000 65536"/>
              <a:gd name="T16" fmla="*/ 0 60000 65536"/>
              <a:gd name="T17" fmla="*/ 0 60000 65536"/>
              <a:gd name="T18" fmla="*/ 0 w 1425"/>
              <a:gd name="T19" fmla="*/ 0 h 438"/>
              <a:gd name="T20" fmla="*/ 1425 w 1425"/>
              <a:gd name="T21" fmla="*/ 438 h 438"/>
            </a:gdLst>
            <a:ahLst/>
            <a:cxnLst>
              <a:cxn ang="T12">
                <a:pos x="T0" y="T1"/>
              </a:cxn>
              <a:cxn ang="T13">
                <a:pos x="T2" y="T3"/>
              </a:cxn>
              <a:cxn ang="T14">
                <a:pos x="T4" y="T5"/>
              </a:cxn>
              <a:cxn ang="T15">
                <a:pos x="T6" y="T7"/>
              </a:cxn>
              <a:cxn ang="T16">
                <a:pos x="T8" y="T9"/>
              </a:cxn>
              <a:cxn ang="T17">
                <a:pos x="T10" y="T11"/>
              </a:cxn>
            </a:cxnLst>
            <a:rect l="T18" t="T19" r="T20" b="T21"/>
            <a:pathLst>
              <a:path w="1425" h="438">
                <a:moveTo>
                  <a:pt x="0" y="437"/>
                </a:moveTo>
                <a:lnTo>
                  <a:pt x="1424" y="437"/>
                </a:lnTo>
                <a:lnTo>
                  <a:pt x="1424" y="0"/>
                </a:lnTo>
                <a:lnTo>
                  <a:pt x="0" y="0"/>
                </a:lnTo>
                <a:lnTo>
                  <a:pt x="0" y="437"/>
                </a:lnTo>
              </a:path>
            </a:pathLst>
          </a:custGeom>
          <a:gradFill rotWithShape="1">
            <a:gsLst>
              <a:gs pos="0">
                <a:schemeClr val="bg1"/>
              </a:gs>
              <a:gs pos="100000">
                <a:srgbClr val="CCCCFF"/>
              </a:gs>
            </a:gsLst>
            <a:lin ang="2700000" scaled="1"/>
          </a:gradFill>
          <a:ln w="38100">
            <a:solidFill>
              <a:schemeClr val="bg2"/>
            </a:solidFill>
            <a:round/>
            <a:headEnd/>
            <a:tailEnd/>
          </a:ln>
        </p:spPr>
        <p:txBody>
          <a:bodyPr/>
          <a:lstStyle/>
          <a:p>
            <a:endParaRPr lang="zh-CN" altLang="en-US"/>
          </a:p>
        </p:txBody>
      </p:sp>
      <p:sp>
        <p:nvSpPr>
          <p:cNvPr id="21511" name="Text Box 8"/>
          <p:cNvSpPr txBox="1">
            <a:spLocks noChangeArrowheads="1"/>
          </p:cNvSpPr>
          <p:nvPr/>
        </p:nvSpPr>
        <p:spPr bwMode="auto">
          <a:xfrm>
            <a:off x="4745039" y="2971800"/>
            <a:ext cx="1366837" cy="450850"/>
          </a:xfrm>
          <a:prstGeom prst="rect">
            <a:avLst/>
          </a:prstGeom>
          <a:gradFill rotWithShape="1">
            <a:gsLst>
              <a:gs pos="0">
                <a:schemeClr val="bg1"/>
              </a:gs>
              <a:gs pos="100000">
                <a:srgbClr val="CCCCFF"/>
              </a:gs>
            </a:gsLst>
            <a:lin ang="2700000" scaled="1"/>
          </a:gradFill>
          <a:ln w="38100">
            <a:noFill/>
            <a:miter lim="800000"/>
            <a:headEnd/>
            <a:tailEnd/>
          </a:ln>
        </p:spPr>
        <p:txBody>
          <a:bodyPr lIns="0" tIns="0" rIns="0" bIns="0" anchor="ctr"/>
          <a:lstStyle/>
          <a:p>
            <a:pPr defTabSz="396875">
              <a:buClr>
                <a:srgbClr val="808080"/>
              </a:buClr>
              <a:buSzPct val="90000"/>
            </a:pPr>
            <a:r>
              <a:rPr lang="en-US" altLang="zh-CN" sz="2000" b="1">
                <a:solidFill>
                  <a:schemeClr val="tx2"/>
                </a:solidFill>
                <a:ea typeface="楷体_GB2312" pitchFamily="49" charset="-122"/>
              </a:rPr>
              <a:t>TCP</a:t>
            </a:r>
            <a:r>
              <a:rPr lang="zh-CN" altLang="en-US" sz="2000" b="1">
                <a:solidFill>
                  <a:schemeClr val="tx2"/>
                </a:solidFill>
                <a:ea typeface="楷体_GB2312" pitchFamily="49" charset="-122"/>
              </a:rPr>
              <a:t>报头</a:t>
            </a:r>
          </a:p>
        </p:txBody>
      </p:sp>
      <p:sp>
        <p:nvSpPr>
          <p:cNvPr id="21512" name="Freeform 10"/>
          <p:cNvSpPr>
            <a:spLocks/>
          </p:cNvSpPr>
          <p:nvPr/>
        </p:nvSpPr>
        <p:spPr bwMode="auto">
          <a:xfrm>
            <a:off x="6488113" y="2857500"/>
            <a:ext cx="3416300" cy="660400"/>
          </a:xfrm>
          <a:custGeom>
            <a:avLst/>
            <a:gdLst>
              <a:gd name="T0" fmla="*/ 0 w 2367"/>
              <a:gd name="T1" fmla="*/ 2147483647 h 471"/>
              <a:gd name="T2" fmla="*/ 2147483647 w 2367"/>
              <a:gd name="T3" fmla="*/ 2147483647 h 471"/>
              <a:gd name="T4" fmla="*/ 2147483647 w 2367"/>
              <a:gd name="T5" fmla="*/ 0 h 471"/>
              <a:gd name="T6" fmla="*/ 0 w 2367"/>
              <a:gd name="T7" fmla="*/ 0 h 471"/>
              <a:gd name="T8" fmla="*/ 0 w 2367"/>
              <a:gd name="T9" fmla="*/ 2147483647 h 471"/>
              <a:gd name="T10" fmla="*/ 0 w 2367"/>
              <a:gd name="T11" fmla="*/ 2147483647 h 471"/>
              <a:gd name="T12" fmla="*/ 0 60000 65536"/>
              <a:gd name="T13" fmla="*/ 0 60000 65536"/>
              <a:gd name="T14" fmla="*/ 0 60000 65536"/>
              <a:gd name="T15" fmla="*/ 0 60000 65536"/>
              <a:gd name="T16" fmla="*/ 0 60000 65536"/>
              <a:gd name="T17" fmla="*/ 0 60000 65536"/>
              <a:gd name="T18" fmla="*/ 0 w 2367"/>
              <a:gd name="T19" fmla="*/ 0 h 471"/>
              <a:gd name="T20" fmla="*/ 2367 w 2367"/>
              <a:gd name="T21" fmla="*/ 471 h 471"/>
            </a:gdLst>
            <a:ahLst/>
            <a:cxnLst>
              <a:cxn ang="T12">
                <a:pos x="T0" y="T1"/>
              </a:cxn>
              <a:cxn ang="T13">
                <a:pos x="T2" y="T3"/>
              </a:cxn>
              <a:cxn ang="T14">
                <a:pos x="T4" y="T5"/>
              </a:cxn>
              <a:cxn ang="T15">
                <a:pos x="T6" y="T7"/>
              </a:cxn>
              <a:cxn ang="T16">
                <a:pos x="T8" y="T9"/>
              </a:cxn>
              <a:cxn ang="T17">
                <a:pos x="T10" y="T11"/>
              </a:cxn>
            </a:cxnLst>
            <a:rect l="T18" t="T19" r="T20" b="T21"/>
            <a:pathLst>
              <a:path w="2367" h="471">
                <a:moveTo>
                  <a:pt x="0" y="470"/>
                </a:moveTo>
                <a:lnTo>
                  <a:pt x="2366" y="470"/>
                </a:lnTo>
                <a:lnTo>
                  <a:pt x="2366" y="0"/>
                </a:lnTo>
                <a:lnTo>
                  <a:pt x="0" y="0"/>
                </a:lnTo>
                <a:lnTo>
                  <a:pt x="0" y="470"/>
                </a:lnTo>
              </a:path>
            </a:pathLst>
          </a:custGeom>
          <a:gradFill rotWithShape="1">
            <a:gsLst>
              <a:gs pos="0">
                <a:srgbClr val="FFCC00"/>
              </a:gs>
              <a:gs pos="50000">
                <a:srgbClr val="FFFFFF"/>
              </a:gs>
              <a:gs pos="100000">
                <a:srgbClr val="FFCC00"/>
              </a:gs>
            </a:gsLst>
            <a:lin ang="2700000" scaled="1"/>
          </a:gradFill>
          <a:ln w="38100">
            <a:solidFill>
              <a:srgbClr val="FFCC00"/>
            </a:solidFill>
            <a:round/>
            <a:headEnd/>
            <a:tailEnd/>
          </a:ln>
        </p:spPr>
        <p:txBody>
          <a:bodyPr/>
          <a:lstStyle/>
          <a:p>
            <a:endParaRPr lang="zh-CN" altLang="en-US"/>
          </a:p>
        </p:txBody>
      </p:sp>
      <p:sp>
        <p:nvSpPr>
          <p:cNvPr id="21513" name="Text Box 11"/>
          <p:cNvSpPr txBox="1">
            <a:spLocks noChangeArrowheads="1"/>
          </p:cNvSpPr>
          <p:nvPr/>
        </p:nvSpPr>
        <p:spPr bwMode="auto">
          <a:xfrm>
            <a:off x="8010525" y="2959101"/>
            <a:ext cx="1079500" cy="485775"/>
          </a:xfrm>
          <a:prstGeom prst="rect">
            <a:avLst/>
          </a:prstGeom>
          <a:noFill/>
          <a:ln w="9525">
            <a:noFill/>
            <a:miter lim="800000"/>
            <a:headEnd/>
            <a:tailEnd/>
          </a:ln>
        </p:spPr>
        <p:txBody>
          <a:bodyPr lIns="0" tIns="0" rIns="0" bIns="0" anchor="ctr"/>
          <a:lstStyle/>
          <a:p>
            <a:pPr defTabSz="396875">
              <a:buClr>
                <a:srgbClr val="808080"/>
              </a:buClr>
              <a:buSzPct val="90000"/>
            </a:pPr>
            <a:r>
              <a:rPr lang="zh-CN" altLang="en-US" sz="2000" b="1">
                <a:solidFill>
                  <a:schemeClr val="tx2"/>
                </a:solidFill>
                <a:latin typeface="Times New Roman" pitchFamily="18" charset="0"/>
                <a:ea typeface="楷体_GB2312" pitchFamily="49" charset="-122"/>
              </a:rPr>
              <a:t>数据</a:t>
            </a:r>
          </a:p>
        </p:txBody>
      </p:sp>
      <p:sp>
        <p:nvSpPr>
          <p:cNvPr id="21514" name="Freeform 13"/>
          <p:cNvSpPr>
            <a:spLocks/>
          </p:cNvSpPr>
          <p:nvPr/>
        </p:nvSpPr>
        <p:spPr bwMode="auto">
          <a:xfrm>
            <a:off x="2206626" y="3589338"/>
            <a:ext cx="1954213" cy="2309812"/>
          </a:xfrm>
          <a:custGeom>
            <a:avLst/>
            <a:gdLst>
              <a:gd name="T0" fmla="*/ 0 w 1452"/>
              <a:gd name="T1" fmla="*/ 2147483647 h 1649"/>
              <a:gd name="T2" fmla="*/ 2147483647 w 1452"/>
              <a:gd name="T3" fmla="*/ 2147483647 h 1649"/>
              <a:gd name="T4" fmla="*/ 2147483647 w 1452"/>
              <a:gd name="T5" fmla="*/ 2147483647 h 1649"/>
              <a:gd name="T6" fmla="*/ 2147483647 w 1452"/>
              <a:gd name="T7" fmla="*/ 2147483647 h 1649"/>
              <a:gd name="T8" fmla="*/ 2147483647 w 1452"/>
              <a:gd name="T9" fmla="*/ 2147483647 h 1649"/>
              <a:gd name="T10" fmla="*/ 2147483647 w 1452"/>
              <a:gd name="T11" fmla="*/ 2147483647 h 1649"/>
              <a:gd name="T12" fmla="*/ 2147483647 w 1452"/>
              <a:gd name="T13" fmla="*/ 0 h 1649"/>
              <a:gd name="T14" fmla="*/ 2147483647 w 1452"/>
              <a:gd name="T15" fmla="*/ 2147483647 h 1649"/>
              <a:gd name="T16" fmla="*/ 2147483647 w 1452"/>
              <a:gd name="T17" fmla="*/ 2147483647 h 1649"/>
              <a:gd name="T18" fmla="*/ 2147483647 w 1452"/>
              <a:gd name="T19" fmla="*/ 2147483647 h 1649"/>
              <a:gd name="T20" fmla="*/ 0 w 1452"/>
              <a:gd name="T21" fmla="*/ 2147483647 h 1649"/>
              <a:gd name="T22" fmla="*/ 0 w 1452"/>
              <a:gd name="T23" fmla="*/ 2147483647 h 1649"/>
              <a:gd name="T24" fmla="*/ 0 w 1452"/>
              <a:gd name="T25" fmla="*/ 2147483647 h 16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52"/>
              <a:gd name="T40" fmla="*/ 0 h 1649"/>
              <a:gd name="T41" fmla="*/ 1452 w 1452"/>
              <a:gd name="T42" fmla="*/ 1649 h 164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52" h="1649">
                <a:moveTo>
                  <a:pt x="0" y="1648"/>
                </a:moveTo>
                <a:lnTo>
                  <a:pt x="1451" y="1648"/>
                </a:lnTo>
                <a:lnTo>
                  <a:pt x="1451" y="441"/>
                </a:lnTo>
                <a:lnTo>
                  <a:pt x="800" y="441"/>
                </a:lnTo>
                <a:lnTo>
                  <a:pt x="800" y="201"/>
                </a:lnTo>
                <a:lnTo>
                  <a:pt x="871" y="201"/>
                </a:lnTo>
                <a:lnTo>
                  <a:pt x="722" y="0"/>
                </a:lnTo>
                <a:lnTo>
                  <a:pt x="576" y="201"/>
                </a:lnTo>
                <a:lnTo>
                  <a:pt x="645" y="201"/>
                </a:lnTo>
                <a:lnTo>
                  <a:pt x="645" y="441"/>
                </a:lnTo>
                <a:lnTo>
                  <a:pt x="0" y="441"/>
                </a:lnTo>
                <a:lnTo>
                  <a:pt x="0" y="1648"/>
                </a:lnTo>
              </a:path>
            </a:pathLst>
          </a:custGeom>
          <a:gradFill rotWithShape="1">
            <a:gsLst>
              <a:gs pos="0">
                <a:schemeClr val="bg1"/>
              </a:gs>
              <a:gs pos="100000">
                <a:schemeClr val="bg2"/>
              </a:gs>
            </a:gsLst>
            <a:lin ang="2700000" scaled="1"/>
          </a:gradFill>
          <a:ln w="38100">
            <a:solidFill>
              <a:srgbClr val="FF99CC"/>
            </a:solidFill>
            <a:round/>
            <a:headEnd/>
            <a:tailEnd/>
          </a:ln>
        </p:spPr>
        <p:txBody>
          <a:bodyPr/>
          <a:lstStyle/>
          <a:p>
            <a:endParaRPr lang="zh-CN" altLang="en-US"/>
          </a:p>
        </p:txBody>
      </p:sp>
      <p:sp>
        <p:nvSpPr>
          <p:cNvPr id="21515" name="Text Box 14"/>
          <p:cNvSpPr txBox="1">
            <a:spLocks noChangeArrowheads="1"/>
          </p:cNvSpPr>
          <p:nvPr/>
        </p:nvSpPr>
        <p:spPr bwMode="auto">
          <a:xfrm>
            <a:off x="2262188" y="4318000"/>
            <a:ext cx="1828800" cy="1392238"/>
          </a:xfrm>
          <a:prstGeom prst="rect">
            <a:avLst/>
          </a:prstGeom>
          <a:noFill/>
          <a:ln w="38100">
            <a:noFill/>
            <a:miter lim="800000"/>
            <a:headEnd/>
            <a:tailEnd/>
          </a:ln>
        </p:spPr>
        <p:txBody>
          <a:bodyPr lIns="0" tIns="0" rIns="0" bIns="0" anchor="ctr"/>
          <a:lstStyle/>
          <a:p>
            <a:pPr algn="ctr" defTabSz="396875"/>
            <a:r>
              <a:rPr lang="zh-CN" altLang="en-US" sz="2000" b="1">
                <a:solidFill>
                  <a:schemeClr val="tx2"/>
                </a:solidFill>
                <a:latin typeface="Times New Roman" pitchFamily="18" charset="0"/>
                <a:ea typeface="楷体_GB2312" pitchFamily="49" charset="-122"/>
              </a:rPr>
              <a:t>源地址</a:t>
            </a:r>
          </a:p>
          <a:p>
            <a:pPr algn="ctr" defTabSz="396875"/>
            <a:endParaRPr lang="zh-CN" altLang="en-US" sz="2000" b="1">
              <a:solidFill>
                <a:schemeClr val="tx2"/>
              </a:solidFill>
              <a:latin typeface="Times New Roman" pitchFamily="18" charset="0"/>
              <a:ea typeface="楷体_GB2312" pitchFamily="49" charset="-122"/>
            </a:endParaRPr>
          </a:p>
          <a:p>
            <a:pPr algn="ctr" defTabSz="396875"/>
            <a:r>
              <a:rPr lang="zh-CN" altLang="en-US" sz="2000" b="1">
                <a:solidFill>
                  <a:schemeClr val="tx2"/>
                </a:solidFill>
                <a:latin typeface="Times New Roman" pitchFamily="18" charset="0"/>
                <a:ea typeface="楷体_GB2312" pitchFamily="49" charset="-122"/>
              </a:rPr>
              <a:t>目的地址</a:t>
            </a:r>
          </a:p>
        </p:txBody>
      </p:sp>
      <p:sp>
        <p:nvSpPr>
          <p:cNvPr id="21516" name="Freeform 16"/>
          <p:cNvSpPr>
            <a:spLocks/>
          </p:cNvSpPr>
          <p:nvPr/>
        </p:nvSpPr>
        <p:spPr bwMode="auto">
          <a:xfrm>
            <a:off x="4211639" y="3602039"/>
            <a:ext cx="1976437" cy="2306637"/>
          </a:xfrm>
          <a:custGeom>
            <a:avLst/>
            <a:gdLst>
              <a:gd name="T0" fmla="*/ 0 w 960"/>
              <a:gd name="T1" fmla="*/ 2147483647 h 1538"/>
              <a:gd name="T2" fmla="*/ 2147483647 w 960"/>
              <a:gd name="T3" fmla="*/ 2147483647 h 1538"/>
              <a:gd name="T4" fmla="*/ 2147483647 w 960"/>
              <a:gd name="T5" fmla="*/ 2147483647 h 1538"/>
              <a:gd name="T6" fmla="*/ 2147483647 w 960"/>
              <a:gd name="T7" fmla="*/ 2147483647 h 1538"/>
              <a:gd name="T8" fmla="*/ 2147483647 w 960"/>
              <a:gd name="T9" fmla="*/ 2147483647 h 1538"/>
              <a:gd name="T10" fmla="*/ 2147483647 w 960"/>
              <a:gd name="T11" fmla="*/ 2147483647 h 1538"/>
              <a:gd name="T12" fmla="*/ 2147483647 w 960"/>
              <a:gd name="T13" fmla="*/ 0 h 1538"/>
              <a:gd name="T14" fmla="*/ 2147483647 w 960"/>
              <a:gd name="T15" fmla="*/ 2147483647 h 1538"/>
              <a:gd name="T16" fmla="*/ 2147483647 w 960"/>
              <a:gd name="T17" fmla="*/ 2147483647 h 1538"/>
              <a:gd name="T18" fmla="*/ 2147483647 w 960"/>
              <a:gd name="T19" fmla="*/ 2147483647 h 1538"/>
              <a:gd name="T20" fmla="*/ 0 w 960"/>
              <a:gd name="T21" fmla="*/ 2147483647 h 1538"/>
              <a:gd name="T22" fmla="*/ 0 w 960"/>
              <a:gd name="T23" fmla="*/ 2147483647 h 1538"/>
              <a:gd name="T24" fmla="*/ 0 w 960"/>
              <a:gd name="T25" fmla="*/ 2147483647 h 15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60"/>
              <a:gd name="T40" fmla="*/ 0 h 1538"/>
              <a:gd name="T41" fmla="*/ 960 w 960"/>
              <a:gd name="T42" fmla="*/ 1538 h 15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60" h="1538">
                <a:moveTo>
                  <a:pt x="0" y="1537"/>
                </a:moveTo>
                <a:lnTo>
                  <a:pt x="959" y="1537"/>
                </a:lnTo>
                <a:lnTo>
                  <a:pt x="959" y="412"/>
                </a:lnTo>
                <a:lnTo>
                  <a:pt x="528" y="412"/>
                </a:lnTo>
                <a:lnTo>
                  <a:pt x="528" y="187"/>
                </a:lnTo>
                <a:lnTo>
                  <a:pt x="576" y="187"/>
                </a:lnTo>
                <a:lnTo>
                  <a:pt x="477" y="0"/>
                </a:lnTo>
                <a:lnTo>
                  <a:pt x="381" y="187"/>
                </a:lnTo>
                <a:lnTo>
                  <a:pt x="426" y="187"/>
                </a:lnTo>
                <a:lnTo>
                  <a:pt x="426" y="412"/>
                </a:lnTo>
                <a:lnTo>
                  <a:pt x="0" y="412"/>
                </a:lnTo>
                <a:lnTo>
                  <a:pt x="0" y="1537"/>
                </a:lnTo>
              </a:path>
            </a:pathLst>
          </a:custGeom>
          <a:gradFill rotWithShape="1">
            <a:gsLst>
              <a:gs pos="0">
                <a:schemeClr val="bg1"/>
              </a:gs>
              <a:gs pos="100000">
                <a:srgbClr val="CCCCFF"/>
              </a:gs>
            </a:gsLst>
            <a:lin ang="2700000" scaled="1"/>
          </a:gradFill>
          <a:ln w="25400">
            <a:solidFill>
              <a:schemeClr val="bg2"/>
            </a:solidFill>
            <a:round/>
            <a:headEnd/>
            <a:tailEnd/>
          </a:ln>
        </p:spPr>
        <p:txBody>
          <a:bodyPr/>
          <a:lstStyle/>
          <a:p>
            <a:endParaRPr lang="zh-CN" altLang="en-US"/>
          </a:p>
        </p:txBody>
      </p:sp>
      <p:sp>
        <p:nvSpPr>
          <p:cNvPr id="21517" name="Text Box 17"/>
          <p:cNvSpPr txBox="1">
            <a:spLocks noChangeArrowheads="1"/>
          </p:cNvSpPr>
          <p:nvPr/>
        </p:nvSpPr>
        <p:spPr bwMode="auto">
          <a:xfrm>
            <a:off x="4270376" y="4329113"/>
            <a:ext cx="1846263" cy="1390650"/>
          </a:xfrm>
          <a:prstGeom prst="rect">
            <a:avLst/>
          </a:prstGeom>
          <a:noFill/>
          <a:ln w="25400">
            <a:noFill/>
            <a:miter lim="800000"/>
            <a:headEnd/>
            <a:tailEnd/>
          </a:ln>
        </p:spPr>
        <p:txBody>
          <a:bodyPr lIns="0" tIns="0" rIns="0" bIns="0" anchor="ctr"/>
          <a:lstStyle/>
          <a:p>
            <a:pPr algn="ctr" defTabSz="396875"/>
            <a:r>
              <a:rPr lang="zh-CN" altLang="en-US" sz="2000" b="1">
                <a:solidFill>
                  <a:schemeClr val="tx2"/>
                </a:solidFill>
                <a:latin typeface="Times New Roman" pitchFamily="18" charset="0"/>
                <a:ea typeface="楷体_GB2312" pitchFamily="49" charset="-122"/>
              </a:rPr>
              <a:t>源</a:t>
            </a:r>
            <a:r>
              <a:rPr lang="zh-CN" altLang="en-US" sz="2000" b="1">
                <a:solidFill>
                  <a:schemeClr val="tx2"/>
                </a:solidFill>
                <a:ea typeface="楷体_GB2312" pitchFamily="49" charset="-122"/>
              </a:rPr>
              <a:t>端口</a:t>
            </a:r>
          </a:p>
          <a:p>
            <a:pPr algn="ctr" defTabSz="396875"/>
            <a:endParaRPr lang="zh-CN" altLang="en-US" sz="2000" b="1">
              <a:solidFill>
                <a:schemeClr val="tx2"/>
              </a:solidFill>
              <a:latin typeface="Times New Roman" pitchFamily="18" charset="0"/>
              <a:ea typeface="楷体_GB2312" pitchFamily="49" charset="-122"/>
            </a:endParaRPr>
          </a:p>
          <a:p>
            <a:pPr algn="ctr" defTabSz="396875"/>
            <a:r>
              <a:rPr lang="zh-CN" altLang="en-US" sz="2000" b="1">
                <a:solidFill>
                  <a:schemeClr val="tx2"/>
                </a:solidFill>
                <a:latin typeface="Times New Roman" pitchFamily="18" charset="0"/>
                <a:ea typeface="楷体_GB2312" pitchFamily="49" charset="-122"/>
              </a:rPr>
              <a:t>目的端口</a:t>
            </a:r>
          </a:p>
        </p:txBody>
      </p:sp>
      <p:sp>
        <p:nvSpPr>
          <p:cNvPr id="21518" name="Text Box 20"/>
          <p:cNvSpPr txBox="1">
            <a:spLocks noChangeArrowheads="1"/>
          </p:cNvSpPr>
          <p:nvPr/>
        </p:nvSpPr>
        <p:spPr bwMode="auto">
          <a:xfrm>
            <a:off x="6461126" y="4602163"/>
            <a:ext cx="3217863" cy="920750"/>
          </a:xfrm>
          <a:prstGeom prst="rect">
            <a:avLst/>
          </a:prstGeom>
          <a:solidFill>
            <a:schemeClr val="bg1"/>
          </a:solidFill>
          <a:ln w="9525">
            <a:noFill/>
            <a:miter lim="800000"/>
            <a:headEnd/>
            <a:tailEnd/>
          </a:ln>
        </p:spPr>
        <p:txBody>
          <a:bodyPr lIns="0" tIns="0" rIns="0" bIns="0" anchor="ctr"/>
          <a:lstStyle/>
          <a:p>
            <a:pPr algn="ctr" defTabSz="396875"/>
            <a:r>
              <a:rPr lang="zh-CN" altLang="en-US" sz="2000" b="1">
                <a:solidFill>
                  <a:schemeClr val="tx2"/>
                </a:solidFill>
                <a:ea typeface="楷体_GB2312" pitchFamily="49" charset="-122"/>
              </a:rPr>
              <a:t>访问控制列表利用这</a:t>
            </a:r>
            <a:r>
              <a:rPr lang="en-US" altLang="zh-CN" sz="2000" b="1">
                <a:solidFill>
                  <a:schemeClr val="tx2"/>
                </a:solidFill>
                <a:ea typeface="楷体_GB2312" pitchFamily="49" charset="-122"/>
              </a:rPr>
              <a:t>4</a:t>
            </a:r>
            <a:r>
              <a:rPr lang="zh-CN" altLang="en-US" sz="2000" b="1">
                <a:solidFill>
                  <a:schemeClr val="tx2"/>
                </a:solidFill>
                <a:ea typeface="楷体_GB2312" pitchFamily="49" charset="-122"/>
              </a:rPr>
              <a:t>个元素定义的规则</a:t>
            </a:r>
          </a:p>
        </p:txBody>
      </p:sp>
      <p:sp>
        <p:nvSpPr>
          <p:cNvPr id="21519" name="Oval 22"/>
          <p:cNvSpPr>
            <a:spLocks noChangeArrowheads="1"/>
          </p:cNvSpPr>
          <p:nvPr/>
        </p:nvSpPr>
        <p:spPr bwMode="auto">
          <a:xfrm>
            <a:off x="2481263" y="4456113"/>
            <a:ext cx="1439862" cy="1295400"/>
          </a:xfrm>
          <a:prstGeom prst="ellipse">
            <a:avLst/>
          </a:prstGeom>
          <a:noFill/>
          <a:ln w="38100" algn="ctr">
            <a:solidFill>
              <a:srgbClr val="FF0000"/>
            </a:solidFill>
            <a:round/>
            <a:headEnd/>
            <a:tailEnd/>
          </a:ln>
        </p:spPr>
        <p:txBody>
          <a:bodyPr wrap="none" anchor="ctr"/>
          <a:lstStyle/>
          <a:p>
            <a:endParaRPr lang="zh-CN" altLang="en-US">
              <a:solidFill>
                <a:schemeClr val="tx2"/>
              </a:solidFill>
            </a:endParaRPr>
          </a:p>
        </p:txBody>
      </p:sp>
      <p:sp>
        <p:nvSpPr>
          <p:cNvPr id="21520" name="Oval 23"/>
          <p:cNvSpPr>
            <a:spLocks noChangeArrowheads="1"/>
          </p:cNvSpPr>
          <p:nvPr/>
        </p:nvSpPr>
        <p:spPr bwMode="auto">
          <a:xfrm>
            <a:off x="4473576" y="4438650"/>
            <a:ext cx="1439863" cy="1295400"/>
          </a:xfrm>
          <a:prstGeom prst="ellipse">
            <a:avLst/>
          </a:prstGeom>
          <a:noFill/>
          <a:ln w="38100" algn="ctr">
            <a:solidFill>
              <a:srgbClr val="FF0000"/>
            </a:solidFill>
            <a:round/>
            <a:headEnd/>
            <a:tailEnd/>
          </a:ln>
        </p:spPr>
        <p:txBody>
          <a:bodyPr wrap="none" anchor="ctr"/>
          <a:lstStyle/>
          <a:p>
            <a:endParaRPr lang="zh-CN" altLang="en-US">
              <a:solidFill>
                <a:schemeClr val="tx2"/>
              </a:solidFill>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箭头连接符 8"/>
          <p:cNvCxnSpPr>
            <a:cxnSpLocks noChangeShapeType="1"/>
          </p:cNvCxnSpPr>
          <p:nvPr/>
        </p:nvCxnSpPr>
        <p:spPr bwMode="auto">
          <a:xfrm>
            <a:off x="3810001" y="3713164"/>
            <a:ext cx="4429125" cy="1587"/>
          </a:xfrm>
          <a:prstGeom prst="straightConnector1">
            <a:avLst/>
          </a:prstGeom>
          <a:noFill/>
          <a:ln w="50800" algn="ctr">
            <a:solidFill>
              <a:srgbClr val="FF0000"/>
            </a:solidFill>
            <a:round/>
            <a:headEnd/>
            <a:tailEnd type="arrow" w="med" len="med"/>
          </a:ln>
        </p:spPr>
      </p:cxnSp>
      <p:sp>
        <p:nvSpPr>
          <p:cNvPr id="2" name="内容占位符 1"/>
          <p:cNvSpPr>
            <a:spLocks noGrp="1"/>
          </p:cNvSpPr>
          <p:nvPr>
            <p:ph idx="1"/>
          </p:nvPr>
        </p:nvSpPr>
        <p:spPr>
          <a:xfrm>
            <a:off x="1738313" y="1143001"/>
            <a:ext cx="8501062" cy="428625"/>
          </a:xfrm>
        </p:spPr>
        <p:txBody>
          <a:bodyPr>
            <a:normAutofit fontScale="25000" lnSpcReduction="20000"/>
          </a:bodyPr>
          <a:lstStyle/>
          <a:p>
            <a:pPr>
              <a:spcBef>
                <a:spcPts val="675"/>
              </a:spcBef>
            </a:pPr>
            <a:r>
              <a:rPr lang="zh-CN" altLang="en-US"/>
              <a:t>访问控制列表在接口应用的方向</a:t>
            </a:r>
          </a:p>
          <a:p>
            <a:pPr lvl="1">
              <a:spcBef>
                <a:spcPts val="475"/>
              </a:spcBef>
            </a:pPr>
            <a:r>
              <a:rPr lang="zh-CN" altLang="en-US"/>
              <a:t>出：已经过路由器的处理，正离开路由器接口的数据包</a:t>
            </a:r>
          </a:p>
          <a:p>
            <a:pPr lvl="1">
              <a:spcBef>
                <a:spcPts val="475"/>
              </a:spcBef>
            </a:pPr>
            <a:r>
              <a:rPr lang="zh-CN" altLang="en-US"/>
              <a:t>入：已到达路由器接口的数据包，将被路由器处理</a:t>
            </a:r>
            <a:endParaRPr lang="en-US" altLang="zh-CN"/>
          </a:p>
          <a:p>
            <a:pPr lvl="1">
              <a:spcBef>
                <a:spcPts val="475"/>
              </a:spcBef>
            </a:pPr>
            <a:endParaRPr lang="en-US" altLang="zh-CN"/>
          </a:p>
          <a:p>
            <a:pPr lvl="1">
              <a:spcBef>
                <a:spcPts val="475"/>
              </a:spcBef>
            </a:pPr>
            <a:endParaRPr lang="en-US" altLang="zh-CN"/>
          </a:p>
          <a:p>
            <a:pPr lvl="1">
              <a:spcBef>
                <a:spcPts val="475"/>
              </a:spcBef>
            </a:pPr>
            <a:endParaRPr lang="en-US" altLang="zh-CN"/>
          </a:p>
          <a:p>
            <a:pPr lvl="1">
              <a:spcBef>
                <a:spcPts val="475"/>
              </a:spcBef>
            </a:pPr>
            <a:endParaRPr lang="en-US" altLang="zh-CN"/>
          </a:p>
          <a:p>
            <a:pPr lvl="1">
              <a:spcBef>
                <a:spcPts val="475"/>
              </a:spcBef>
            </a:pPr>
            <a:endParaRPr lang="en-US" altLang="zh-CN"/>
          </a:p>
          <a:p>
            <a:pPr lvl="1">
              <a:spcBef>
                <a:spcPts val="475"/>
              </a:spcBef>
            </a:pPr>
            <a:endParaRPr lang="en-US" altLang="zh-CN"/>
          </a:p>
          <a:p>
            <a:pPr lvl="1">
              <a:spcBef>
                <a:spcPts val="475"/>
              </a:spcBef>
            </a:pPr>
            <a:r>
              <a:rPr lang="zh-CN" altLang="en-US">
                <a:solidFill>
                  <a:srgbClr val="FF0000"/>
                </a:solidFill>
              </a:rPr>
              <a:t>列表应用到接口的方向与数据方向有关</a:t>
            </a:r>
          </a:p>
          <a:p>
            <a:pPr>
              <a:spcBef>
                <a:spcPts val="675"/>
              </a:spcBef>
            </a:pPr>
            <a:endParaRPr lang="zh-CN" altLang="en-US"/>
          </a:p>
        </p:txBody>
      </p:sp>
      <p:sp>
        <p:nvSpPr>
          <p:cNvPr id="22532" name="标题 2"/>
          <p:cNvSpPr>
            <a:spLocks noGrp="1"/>
          </p:cNvSpPr>
          <p:nvPr>
            <p:ph type="title"/>
          </p:nvPr>
        </p:nvSpPr>
        <p:spPr/>
        <p:txBody>
          <a:bodyPr/>
          <a:lstStyle/>
          <a:p>
            <a:r>
              <a:rPr lang="zh-CN" altLang="en-US"/>
              <a:t>访问控制列表的工作原理</a:t>
            </a:r>
            <a:r>
              <a:rPr lang="en-US" altLang="zh-CN"/>
              <a:t>2-1</a:t>
            </a:r>
            <a:endParaRPr lang="zh-CN" altLang="en-US"/>
          </a:p>
        </p:txBody>
      </p:sp>
      <p:pic>
        <p:nvPicPr>
          <p:cNvPr id="22533" name="Picture 7"/>
          <p:cNvPicPr>
            <a:picLocks noChangeArrowheads="1"/>
          </p:cNvPicPr>
          <p:nvPr/>
        </p:nvPicPr>
        <p:blipFill>
          <a:blip r:embed="rId3"/>
          <a:srcRect/>
          <a:stretch>
            <a:fillRect/>
          </a:stretch>
        </p:blipFill>
        <p:spPr bwMode="auto">
          <a:xfrm>
            <a:off x="5524500" y="3357564"/>
            <a:ext cx="928688" cy="642937"/>
          </a:xfrm>
          <a:prstGeom prst="rect">
            <a:avLst/>
          </a:prstGeom>
          <a:noFill/>
          <a:ln w="9525">
            <a:noFill/>
            <a:miter lim="800000"/>
            <a:headEnd/>
            <a:tailEnd/>
          </a:ln>
        </p:spPr>
      </p:pic>
      <p:sp>
        <p:nvSpPr>
          <p:cNvPr id="22534" name="TextBox 9"/>
          <p:cNvSpPr txBox="1">
            <a:spLocks noChangeArrowheads="1"/>
          </p:cNvSpPr>
          <p:nvPr/>
        </p:nvSpPr>
        <p:spPr bwMode="auto">
          <a:xfrm>
            <a:off x="4881564" y="3773489"/>
            <a:ext cx="642937" cy="369887"/>
          </a:xfrm>
          <a:prstGeom prst="rect">
            <a:avLst/>
          </a:prstGeom>
          <a:noFill/>
          <a:ln w="9525">
            <a:noFill/>
            <a:miter lim="800000"/>
            <a:headEnd/>
            <a:tailEnd/>
          </a:ln>
        </p:spPr>
        <p:txBody>
          <a:bodyPr>
            <a:spAutoFit/>
          </a:bodyPr>
          <a:lstStyle/>
          <a:p>
            <a:r>
              <a:rPr lang="en-US" altLang="zh-CN" b="1">
                <a:solidFill>
                  <a:schemeClr val="tx2"/>
                </a:solidFill>
              </a:rPr>
              <a:t>F0/0</a:t>
            </a:r>
            <a:endParaRPr lang="zh-CN" altLang="en-US" b="1">
              <a:solidFill>
                <a:schemeClr val="tx2"/>
              </a:solidFill>
            </a:endParaRPr>
          </a:p>
        </p:txBody>
      </p:sp>
      <p:sp>
        <p:nvSpPr>
          <p:cNvPr id="22535" name="TextBox 10"/>
          <p:cNvSpPr txBox="1">
            <a:spLocks noChangeArrowheads="1"/>
          </p:cNvSpPr>
          <p:nvPr/>
        </p:nvSpPr>
        <p:spPr bwMode="auto">
          <a:xfrm>
            <a:off x="6453189" y="3714750"/>
            <a:ext cx="642937" cy="369888"/>
          </a:xfrm>
          <a:prstGeom prst="rect">
            <a:avLst/>
          </a:prstGeom>
          <a:noFill/>
          <a:ln w="9525">
            <a:noFill/>
            <a:miter lim="800000"/>
            <a:headEnd/>
            <a:tailEnd/>
          </a:ln>
        </p:spPr>
        <p:txBody>
          <a:bodyPr>
            <a:spAutoFit/>
          </a:bodyPr>
          <a:lstStyle/>
          <a:p>
            <a:r>
              <a:rPr lang="en-US" altLang="zh-CN" b="1">
                <a:solidFill>
                  <a:schemeClr val="tx2"/>
                </a:solidFill>
              </a:rPr>
              <a:t>F1/0</a:t>
            </a:r>
            <a:endParaRPr lang="zh-CN" altLang="en-US" b="1">
              <a:solidFill>
                <a:schemeClr val="tx2"/>
              </a:solidFill>
            </a:endParaRPr>
          </a:p>
        </p:txBody>
      </p:sp>
      <p:sp>
        <p:nvSpPr>
          <p:cNvPr id="12" name="右箭头 11"/>
          <p:cNvSpPr>
            <a:spLocks noChangeArrowheads="1"/>
          </p:cNvSpPr>
          <p:nvPr/>
        </p:nvSpPr>
        <p:spPr bwMode="auto">
          <a:xfrm>
            <a:off x="4738689" y="3097889"/>
            <a:ext cx="714375" cy="733663"/>
          </a:xfrm>
          <a:prstGeom prst="rightArrow">
            <a:avLst>
              <a:gd name="adj1" fmla="val 50000"/>
              <a:gd name="adj2" fmla="val 50000"/>
            </a:avLst>
          </a:prstGeom>
          <a:gradFill rotWithShape="1">
            <a:gsLst>
              <a:gs pos="0">
                <a:srgbClr val="CCFFFF"/>
              </a:gs>
              <a:gs pos="100000">
                <a:srgbClr val="FFFFFF"/>
              </a:gs>
            </a:gsLst>
            <a:lin ang="5400000" scaled="1"/>
          </a:gradFill>
          <a:ln w="9525" algn="ctr">
            <a:solidFill>
              <a:srgbClr val="008080"/>
            </a:solidFill>
            <a:round/>
            <a:headEnd/>
            <a:tailEnd/>
          </a:ln>
        </p:spPr>
        <p:txBody>
          <a:bodyPr anchor="ctr">
            <a:spAutoFit/>
          </a:bodyPr>
          <a:lstStyle/>
          <a:p>
            <a:pPr marL="95250" algn="ctr"/>
            <a:endParaRPr lang="zh-CN" altLang="en-US" b="1">
              <a:solidFill>
                <a:schemeClr val="tx2"/>
              </a:solidFill>
            </a:endParaRPr>
          </a:p>
        </p:txBody>
      </p:sp>
      <p:sp>
        <p:nvSpPr>
          <p:cNvPr id="14" name="AutoShape 4"/>
          <p:cNvSpPr>
            <a:spLocks noChangeArrowheads="1"/>
          </p:cNvSpPr>
          <p:nvPr/>
        </p:nvSpPr>
        <p:spPr bwMode="auto">
          <a:xfrm>
            <a:off x="4024313" y="4357689"/>
            <a:ext cx="1071562" cy="369887"/>
          </a:xfrm>
          <a:prstGeom prst="wedgeRoundRectCallout">
            <a:avLst>
              <a:gd name="adj1" fmla="val 66319"/>
              <a:gd name="adj2" fmla="val -127199"/>
              <a:gd name="adj3" fmla="val 16667"/>
            </a:avLst>
          </a:prstGeom>
          <a:gradFill rotWithShape="1">
            <a:gsLst>
              <a:gs pos="0">
                <a:srgbClr val="FFFF99"/>
              </a:gs>
              <a:gs pos="100000">
                <a:srgbClr val="FFFFFF"/>
              </a:gs>
            </a:gsLst>
            <a:lin ang="5400000" scaled="1"/>
          </a:gradFill>
          <a:ln w="9525" algn="ctr">
            <a:solidFill>
              <a:srgbClr val="FF9900"/>
            </a:solidFill>
            <a:miter lim="800000"/>
            <a:headEnd/>
            <a:tailEnd/>
          </a:ln>
        </p:spPr>
        <p:txBody>
          <a:bodyPr anchor="ctr" anchorCtr="1"/>
          <a:lstStyle/>
          <a:p>
            <a:pPr algn="ctr"/>
            <a:r>
              <a:rPr lang="zh-CN" altLang="en-US" sz="2000" b="1">
                <a:solidFill>
                  <a:srgbClr val="000000"/>
                </a:solidFill>
                <a:latin typeface="楷体_GB2312" pitchFamily="49" charset="-122"/>
                <a:ea typeface="楷体_GB2312" pitchFamily="49" charset="-122"/>
              </a:rPr>
              <a:t>入方向</a:t>
            </a:r>
            <a:endParaRPr lang="en-US" altLang="zh-CN" sz="2000" b="1">
              <a:solidFill>
                <a:srgbClr val="000000"/>
              </a:solidFill>
              <a:latin typeface="楷体_GB2312" pitchFamily="49" charset="-122"/>
              <a:ea typeface="楷体_GB2312" pitchFamily="49" charset="-122"/>
            </a:endParaRPr>
          </a:p>
        </p:txBody>
      </p:sp>
      <p:sp>
        <p:nvSpPr>
          <p:cNvPr id="15" name="AutoShape 4"/>
          <p:cNvSpPr>
            <a:spLocks noChangeArrowheads="1"/>
          </p:cNvSpPr>
          <p:nvPr/>
        </p:nvSpPr>
        <p:spPr bwMode="auto">
          <a:xfrm>
            <a:off x="7239001" y="4429125"/>
            <a:ext cx="1071563" cy="369888"/>
          </a:xfrm>
          <a:prstGeom prst="wedgeRoundRectCallout">
            <a:avLst>
              <a:gd name="adj1" fmla="val -78861"/>
              <a:gd name="adj2" fmla="val -165727"/>
              <a:gd name="adj3" fmla="val 16667"/>
            </a:avLst>
          </a:prstGeom>
          <a:gradFill rotWithShape="1">
            <a:gsLst>
              <a:gs pos="0">
                <a:srgbClr val="FFFF99"/>
              </a:gs>
              <a:gs pos="100000">
                <a:srgbClr val="FFFFFF"/>
              </a:gs>
            </a:gsLst>
            <a:lin ang="5400000" scaled="1"/>
          </a:gradFill>
          <a:ln w="9525" algn="ctr">
            <a:solidFill>
              <a:srgbClr val="FF9900"/>
            </a:solidFill>
            <a:miter lim="800000"/>
            <a:headEnd/>
            <a:tailEnd/>
          </a:ln>
        </p:spPr>
        <p:txBody>
          <a:bodyPr anchor="ctr" anchorCtr="1"/>
          <a:lstStyle/>
          <a:p>
            <a:pPr algn="ctr"/>
            <a:r>
              <a:rPr lang="zh-CN" altLang="en-US" sz="2000" b="1">
                <a:solidFill>
                  <a:srgbClr val="000000"/>
                </a:solidFill>
                <a:latin typeface="楷体_GB2312" pitchFamily="49" charset="-122"/>
                <a:ea typeface="楷体_GB2312" pitchFamily="49" charset="-122"/>
              </a:rPr>
              <a:t>出方向</a:t>
            </a:r>
            <a:endParaRPr lang="en-US" altLang="zh-CN" sz="2000" b="1">
              <a:solidFill>
                <a:srgbClr val="000000"/>
              </a:solidFill>
              <a:latin typeface="楷体_GB2312" pitchFamily="49" charset="-122"/>
              <a:ea typeface="楷体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par>
                          <p:cTn id="7" fill="hold">
                            <p:stCondLst>
                              <p:cond delay="0"/>
                            </p:stCondLst>
                            <p:childTnLst>
                              <p:par>
                                <p:cTn id="8" presetID="63" presetClass="path" presetSubtype="0" accel="50000" decel="50000" fill="hold" grpId="0" nodeType="afterEffect">
                                  <p:stCondLst>
                                    <p:cond delay="0"/>
                                  </p:stCondLst>
                                  <p:childTnLst>
                                    <p:animMotion origin="layout" path="M -3.33333E-6 -2.18316E-6 L 0.22049 -2.18316E-6 " pathEditMode="relative" rAng="0" ptsTypes="AA">
                                      <p:cBhvr>
                                        <p:cTn id="9" dur="2000" fill="hold"/>
                                        <p:tgtEl>
                                          <p:spTgt spid="12"/>
                                        </p:tgtEl>
                                        <p:attrNameLst>
                                          <p:attrName>ppt_x</p:attrName>
                                          <p:attrName>ppt_y</p:attrName>
                                        </p:attrNameLst>
                                      </p:cBhvr>
                                      <p:rCtr x="110" y="0"/>
                                    </p:animMotion>
                                  </p:childTnLst>
                                </p:cTn>
                              </p:par>
                              <p:par>
                                <p:cTn id="10" presetID="1"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childTnLst>
                                </p:cTn>
                              </p:par>
                            </p:childTnLst>
                          </p:cTn>
                        </p:par>
                        <p:par>
                          <p:cTn id="12" fill="hold">
                            <p:stCondLst>
                              <p:cond delay="2000"/>
                            </p:stCondLst>
                            <p:childTnLst>
                              <p:par>
                                <p:cTn id="13" presetID="1" presetClass="entr" presetSubtype="0" fill="hold" grpId="0" nodeType="afterEffect">
                                  <p:stCondLst>
                                    <p:cond delay="100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9" end="9"/>
                                            </p:txEl>
                                          </p:spTgt>
                                        </p:tgtEl>
                                        <p:attrNameLst>
                                          <p:attrName>style.visibility</p:attrName>
                                        </p:attrNameLst>
                                      </p:cBhvr>
                                      <p:to>
                                        <p:strVal val="visible"/>
                                      </p:to>
                                    </p:set>
                                  </p:childTnLst>
                                </p:cTn>
                              </p:par>
                              <p:par>
                                <p:cTn id="19" presetID="26" presetClass="emph" presetSubtype="0" fill="hold" nodeType="withEffect">
                                  <p:stCondLst>
                                    <p:cond delay="0"/>
                                  </p:stCondLst>
                                  <p:childTnLst>
                                    <p:animEffect transition="out" filter="fade">
                                      <p:cBhvr>
                                        <p:cTn id="20" dur="500" tmFilter="0, 0; .2, .5; .8, .5; 1, 0"/>
                                        <p:tgtEl>
                                          <p:spTgt spid="9"/>
                                        </p:tgtEl>
                                      </p:cBhvr>
                                    </p:animEffect>
                                    <p:animScale>
                                      <p:cBhvr>
                                        <p:cTn id="21" dur="250" autoRev="1"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4" grpId="0" animBg="1"/>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内容占位符 1"/>
          <p:cNvSpPr>
            <a:spLocks noGrp="1"/>
          </p:cNvSpPr>
          <p:nvPr>
            <p:ph idx="1"/>
          </p:nvPr>
        </p:nvSpPr>
        <p:spPr>
          <a:xfrm>
            <a:off x="1738313" y="1143001"/>
            <a:ext cx="8501062" cy="714375"/>
          </a:xfrm>
        </p:spPr>
        <p:txBody>
          <a:bodyPr/>
          <a:lstStyle/>
          <a:p>
            <a:pPr>
              <a:spcBef>
                <a:spcPts val="675"/>
              </a:spcBef>
            </a:pPr>
            <a:r>
              <a:rPr lang="zh-CN" altLang="en-US"/>
              <a:t>访问控制列表的处理过程</a:t>
            </a:r>
          </a:p>
        </p:txBody>
      </p:sp>
      <p:sp>
        <p:nvSpPr>
          <p:cNvPr id="23555" name="标题 2"/>
          <p:cNvSpPr>
            <a:spLocks noGrp="1"/>
          </p:cNvSpPr>
          <p:nvPr>
            <p:ph type="title"/>
          </p:nvPr>
        </p:nvSpPr>
        <p:spPr/>
        <p:txBody>
          <a:bodyPr/>
          <a:lstStyle/>
          <a:p>
            <a:r>
              <a:rPr lang="zh-CN" altLang="en-US"/>
              <a:t>访问控制列表的工作原理</a:t>
            </a:r>
            <a:r>
              <a:rPr lang="en-US" altLang="zh-CN"/>
              <a:t>2-2</a:t>
            </a:r>
            <a:endParaRPr lang="zh-CN" altLang="en-US"/>
          </a:p>
        </p:txBody>
      </p:sp>
      <p:grpSp>
        <p:nvGrpSpPr>
          <p:cNvPr id="2" name="组合 57"/>
          <p:cNvGrpSpPr>
            <a:grpSpLocks/>
          </p:cNvGrpSpPr>
          <p:nvPr/>
        </p:nvGrpSpPr>
        <p:grpSpPr bwMode="auto">
          <a:xfrm>
            <a:off x="2517776" y="1993900"/>
            <a:ext cx="7661275" cy="4465638"/>
            <a:chOff x="381715" y="1628775"/>
            <a:chExt cx="8524452" cy="4968875"/>
          </a:xfrm>
        </p:grpSpPr>
        <p:sp>
          <p:nvSpPr>
            <p:cNvPr id="23557" name="AutoShape 2"/>
            <p:cNvSpPr>
              <a:spLocks noChangeArrowheads="1"/>
            </p:cNvSpPr>
            <p:nvPr/>
          </p:nvSpPr>
          <p:spPr bwMode="auto">
            <a:xfrm>
              <a:off x="827088" y="1628775"/>
              <a:ext cx="7194550" cy="4968875"/>
            </a:xfrm>
            <a:prstGeom prst="flowChartDecision">
              <a:avLst/>
            </a:prstGeom>
            <a:solidFill>
              <a:srgbClr val="CCFFFF">
                <a:alpha val="49019"/>
              </a:srgbClr>
            </a:solidFill>
            <a:ln w="25400" algn="ctr">
              <a:solidFill>
                <a:srgbClr val="33CCCC"/>
              </a:solidFill>
              <a:miter lim="800000"/>
              <a:headEnd/>
              <a:tailEnd/>
            </a:ln>
          </p:spPr>
          <p:txBody>
            <a:bodyPr wrap="none" anchor="ctr"/>
            <a:lstStyle/>
            <a:p>
              <a:endParaRPr lang="zh-CN" altLang="en-US" sz="1600" b="1">
                <a:latin typeface="楷体_GB2312" pitchFamily="49" charset="-122"/>
                <a:ea typeface="楷体_GB2312" pitchFamily="49" charset="-122"/>
              </a:endParaRPr>
            </a:p>
          </p:txBody>
        </p:sp>
        <p:sp>
          <p:nvSpPr>
            <p:cNvPr id="23558" name="AutoShape 4"/>
            <p:cNvSpPr>
              <a:spLocks noChangeArrowheads="1"/>
            </p:cNvSpPr>
            <p:nvPr/>
          </p:nvSpPr>
          <p:spPr bwMode="auto">
            <a:xfrm>
              <a:off x="3779838" y="1943100"/>
              <a:ext cx="1203325" cy="855663"/>
            </a:xfrm>
            <a:prstGeom prst="flowChartDecision">
              <a:avLst/>
            </a:prstGeom>
            <a:gradFill rotWithShape="1">
              <a:gsLst>
                <a:gs pos="0">
                  <a:srgbClr val="0066FF">
                    <a:alpha val="50000"/>
                  </a:srgbClr>
                </a:gs>
                <a:gs pos="100000">
                  <a:schemeClr val="bg1"/>
                </a:gs>
              </a:gsLst>
              <a:lin ang="5400000" scaled="1"/>
            </a:gradFill>
            <a:ln w="25400" algn="ctr">
              <a:solidFill>
                <a:srgbClr val="0066FF">
                  <a:alpha val="50195"/>
                </a:srgbClr>
              </a:solidFill>
              <a:miter lim="800000"/>
              <a:headEnd/>
              <a:tailEnd/>
            </a:ln>
          </p:spPr>
          <p:txBody>
            <a:bodyPr wrap="none" anchor="ctr"/>
            <a:lstStyle/>
            <a:p>
              <a:endParaRPr lang="zh-CN" altLang="en-US" sz="1600" b="1">
                <a:latin typeface="楷体_GB2312" pitchFamily="49" charset="-122"/>
                <a:ea typeface="楷体_GB2312" pitchFamily="49" charset="-122"/>
              </a:endParaRPr>
            </a:p>
          </p:txBody>
        </p:sp>
        <p:sp>
          <p:nvSpPr>
            <p:cNvPr id="7" name="AutoShape 5"/>
            <p:cNvSpPr>
              <a:spLocks noChangeArrowheads="1"/>
            </p:cNvSpPr>
            <p:nvPr/>
          </p:nvSpPr>
          <p:spPr bwMode="auto">
            <a:xfrm>
              <a:off x="4066341" y="5906988"/>
              <a:ext cx="648255" cy="296755"/>
            </a:xfrm>
            <a:prstGeom prst="flowChartProcess">
              <a:avLst/>
            </a:prstGeom>
            <a:gradFill rotWithShape="1">
              <a:gsLst>
                <a:gs pos="0">
                  <a:srgbClr val="0066FF">
                    <a:alpha val="50000"/>
                  </a:srgbClr>
                </a:gs>
                <a:gs pos="100000">
                  <a:schemeClr val="bg1"/>
                </a:gs>
              </a:gsLst>
              <a:lin ang="5400000" scaled="1"/>
            </a:gradFill>
            <a:ln w="25400" algn="ctr">
              <a:solidFill>
                <a:srgbClr val="0066FF">
                  <a:alpha val="50000"/>
                </a:srgbClr>
              </a:solidFill>
              <a:miter lim="800000"/>
              <a:headEnd/>
              <a:tailEnd/>
            </a:ln>
            <a:effectLst>
              <a:outerShdw dist="35921" dir="2700000" algn="ctr" rotWithShape="0">
                <a:schemeClr val="bg2"/>
              </a:outerShdw>
            </a:effectLst>
          </p:spPr>
          <p:txBody>
            <a:bodyPr wrap="none" anchor="ctr"/>
            <a:lstStyle/>
            <a:p>
              <a:pPr>
                <a:defRPr/>
              </a:pPr>
              <a:r>
                <a:rPr lang="zh-CN" altLang="en-US" sz="1600" b="1">
                  <a:solidFill>
                    <a:schemeClr val="tx2"/>
                  </a:solidFill>
                  <a:latin typeface="楷体_GB2312" pitchFamily="49" charset="-122"/>
                  <a:ea typeface="楷体_GB2312" pitchFamily="49" charset="-122"/>
                </a:rPr>
                <a:t>拒绝</a:t>
              </a:r>
            </a:p>
          </p:txBody>
        </p:sp>
        <p:sp>
          <p:nvSpPr>
            <p:cNvPr id="8" name="AutoShape 6"/>
            <p:cNvSpPr>
              <a:spLocks noChangeArrowheads="1"/>
            </p:cNvSpPr>
            <p:nvPr/>
          </p:nvSpPr>
          <p:spPr bwMode="auto">
            <a:xfrm>
              <a:off x="5435271" y="3066622"/>
              <a:ext cx="648253" cy="294989"/>
            </a:xfrm>
            <a:prstGeom prst="flowChartProcess">
              <a:avLst/>
            </a:prstGeom>
            <a:gradFill rotWithShape="1">
              <a:gsLst>
                <a:gs pos="0">
                  <a:srgbClr val="0066FF">
                    <a:alpha val="50000"/>
                  </a:srgbClr>
                </a:gs>
                <a:gs pos="100000">
                  <a:schemeClr val="bg1"/>
                </a:gs>
              </a:gsLst>
              <a:lin ang="5400000" scaled="1"/>
            </a:gradFill>
            <a:ln w="25400" algn="ctr">
              <a:solidFill>
                <a:srgbClr val="0066FF">
                  <a:alpha val="50000"/>
                </a:srgbClr>
              </a:solidFill>
              <a:miter lim="800000"/>
              <a:headEnd/>
              <a:tailEnd/>
            </a:ln>
            <a:effectLst>
              <a:outerShdw dist="35921" dir="2700000" algn="ctr" rotWithShape="0">
                <a:schemeClr val="bg2"/>
              </a:outerShdw>
            </a:effectLst>
          </p:spPr>
          <p:txBody>
            <a:bodyPr wrap="none" anchor="ctr"/>
            <a:lstStyle/>
            <a:p>
              <a:pPr>
                <a:defRPr/>
              </a:pPr>
              <a:r>
                <a:rPr lang="zh-CN" altLang="en-US" sz="1600" b="1">
                  <a:solidFill>
                    <a:schemeClr val="tx2"/>
                  </a:solidFill>
                  <a:latin typeface="楷体_GB2312" pitchFamily="49" charset="-122"/>
                  <a:ea typeface="楷体_GB2312" pitchFamily="49" charset="-122"/>
                </a:rPr>
                <a:t>允许</a:t>
              </a:r>
            </a:p>
          </p:txBody>
        </p:sp>
        <p:sp>
          <p:nvSpPr>
            <p:cNvPr id="9" name="AutoShape 7"/>
            <p:cNvSpPr>
              <a:spLocks noChangeArrowheads="1"/>
            </p:cNvSpPr>
            <p:nvPr/>
          </p:nvSpPr>
          <p:spPr bwMode="auto">
            <a:xfrm>
              <a:off x="5435271" y="4486805"/>
              <a:ext cx="648253" cy="296755"/>
            </a:xfrm>
            <a:prstGeom prst="flowChartProcess">
              <a:avLst/>
            </a:prstGeom>
            <a:gradFill rotWithShape="1">
              <a:gsLst>
                <a:gs pos="0">
                  <a:srgbClr val="0066FF">
                    <a:alpha val="50000"/>
                  </a:srgbClr>
                </a:gs>
                <a:gs pos="100000">
                  <a:schemeClr val="bg1"/>
                </a:gs>
              </a:gsLst>
              <a:lin ang="5400000" scaled="1"/>
            </a:gradFill>
            <a:ln w="25400" algn="ctr">
              <a:solidFill>
                <a:srgbClr val="0066FF">
                  <a:alpha val="50000"/>
                </a:srgbClr>
              </a:solidFill>
              <a:miter lim="800000"/>
              <a:headEnd/>
              <a:tailEnd/>
            </a:ln>
            <a:effectLst>
              <a:outerShdw dist="35921" dir="2700000" algn="ctr" rotWithShape="0">
                <a:schemeClr val="bg2"/>
              </a:outerShdw>
            </a:effectLst>
          </p:spPr>
          <p:txBody>
            <a:bodyPr wrap="none" anchor="ctr"/>
            <a:lstStyle/>
            <a:p>
              <a:pPr>
                <a:defRPr/>
              </a:pPr>
              <a:r>
                <a:rPr lang="zh-CN" altLang="en-US" sz="1600" b="1">
                  <a:solidFill>
                    <a:schemeClr val="tx2"/>
                  </a:solidFill>
                  <a:latin typeface="楷体_GB2312" pitchFamily="49" charset="-122"/>
                  <a:ea typeface="楷体_GB2312" pitchFamily="49" charset="-122"/>
                </a:rPr>
                <a:t>允许</a:t>
              </a:r>
            </a:p>
          </p:txBody>
        </p:sp>
        <p:sp>
          <p:nvSpPr>
            <p:cNvPr id="10" name="AutoShape 8"/>
            <p:cNvSpPr>
              <a:spLocks noChangeArrowheads="1"/>
            </p:cNvSpPr>
            <p:nvPr/>
          </p:nvSpPr>
          <p:spPr bwMode="auto">
            <a:xfrm>
              <a:off x="5435271" y="3718423"/>
              <a:ext cx="648253" cy="294988"/>
            </a:xfrm>
            <a:prstGeom prst="flowChartProcess">
              <a:avLst/>
            </a:prstGeom>
            <a:gradFill rotWithShape="1">
              <a:gsLst>
                <a:gs pos="0">
                  <a:srgbClr val="0066FF">
                    <a:alpha val="50000"/>
                  </a:srgbClr>
                </a:gs>
                <a:gs pos="100000">
                  <a:schemeClr val="bg1"/>
                </a:gs>
              </a:gsLst>
              <a:lin ang="5400000" scaled="1"/>
            </a:gradFill>
            <a:ln w="25400" algn="ctr">
              <a:solidFill>
                <a:srgbClr val="0066FF">
                  <a:alpha val="50000"/>
                </a:srgbClr>
              </a:solidFill>
              <a:miter lim="800000"/>
              <a:headEnd/>
              <a:tailEnd/>
            </a:ln>
            <a:effectLst>
              <a:outerShdw dist="35921" dir="2700000" algn="ctr" rotWithShape="0">
                <a:schemeClr val="bg2"/>
              </a:outerShdw>
            </a:effectLst>
          </p:spPr>
          <p:txBody>
            <a:bodyPr wrap="none" anchor="ctr"/>
            <a:lstStyle/>
            <a:p>
              <a:pPr>
                <a:defRPr/>
              </a:pPr>
              <a:r>
                <a:rPr lang="zh-CN" altLang="en-US" sz="1600" b="1">
                  <a:solidFill>
                    <a:schemeClr val="tx2"/>
                  </a:solidFill>
                  <a:latin typeface="楷体_GB2312" pitchFamily="49" charset="-122"/>
                  <a:ea typeface="楷体_GB2312" pitchFamily="49" charset="-122"/>
                </a:rPr>
                <a:t>允许</a:t>
              </a:r>
            </a:p>
          </p:txBody>
        </p:sp>
        <p:sp>
          <p:nvSpPr>
            <p:cNvPr id="23563" name="Line 9"/>
            <p:cNvSpPr>
              <a:spLocks noChangeShapeType="1"/>
            </p:cNvSpPr>
            <p:nvPr/>
          </p:nvSpPr>
          <p:spPr bwMode="auto">
            <a:xfrm flipH="1">
              <a:off x="2268538" y="3303588"/>
              <a:ext cx="215900" cy="0"/>
            </a:xfrm>
            <a:prstGeom prst="line">
              <a:avLst/>
            </a:prstGeom>
            <a:noFill/>
            <a:ln w="25400">
              <a:solidFill>
                <a:schemeClr val="tx2"/>
              </a:solidFill>
              <a:round/>
              <a:headEnd/>
              <a:tailEnd/>
            </a:ln>
          </p:spPr>
          <p:txBody>
            <a:bodyPr/>
            <a:lstStyle/>
            <a:p>
              <a:endParaRPr lang="zh-CN" altLang="en-US"/>
            </a:p>
          </p:txBody>
        </p:sp>
        <p:sp>
          <p:nvSpPr>
            <p:cNvPr id="23564" name="Line 10"/>
            <p:cNvSpPr>
              <a:spLocks noChangeShapeType="1"/>
            </p:cNvSpPr>
            <p:nvPr/>
          </p:nvSpPr>
          <p:spPr bwMode="auto">
            <a:xfrm>
              <a:off x="2268538" y="3303588"/>
              <a:ext cx="0" cy="1538287"/>
            </a:xfrm>
            <a:prstGeom prst="line">
              <a:avLst/>
            </a:prstGeom>
            <a:noFill/>
            <a:ln w="25400">
              <a:solidFill>
                <a:schemeClr val="tx2"/>
              </a:solidFill>
              <a:round/>
              <a:headEnd/>
              <a:tailEnd/>
            </a:ln>
          </p:spPr>
          <p:txBody>
            <a:bodyPr/>
            <a:lstStyle/>
            <a:p>
              <a:endParaRPr lang="zh-CN" altLang="en-US"/>
            </a:p>
          </p:txBody>
        </p:sp>
        <p:sp>
          <p:nvSpPr>
            <p:cNvPr id="23565" name="Line 11"/>
            <p:cNvSpPr>
              <a:spLocks noChangeShapeType="1"/>
            </p:cNvSpPr>
            <p:nvPr/>
          </p:nvSpPr>
          <p:spPr bwMode="auto">
            <a:xfrm>
              <a:off x="2268538" y="3954463"/>
              <a:ext cx="215900" cy="0"/>
            </a:xfrm>
            <a:prstGeom prst="line">
              <a:avLst/>
            </a:prstGeom>
            <a:noFill/>
            <a:ln w="25400">
              <a:solidFill>
                <a:schemeClr val="tx2"/>
              </a:solidFill>
              <a:round/>
              <a:headEnd/>
              <a:tailEnd/>
            </a:ln>
          </p:spPr>
          <p:txBody>
            <a:bodyPr/>
            <a:lstStyle/>
            <a:p>
              <a:endParaRPr lang="zh-CN" altLang="en-US"/>
            </a:p>
          </p:txBody>
        </p:sp>
        <p:sp>
          <p:nvSpPr>
            <p:cNvPr id="23566" name="Line 12"/>
            <p:cNvSpPr>
              <a:spLocks noChangeShapeType="1"/>
            </p:cNvSpPr>
            <p:nvPr/>
          </p:nvSpPr>
          <p:spPr bwMode="auto">
            <a:xfrm>
              <a:off x="2268538" y="4605338"/>
              <a:ext cx="215900" cy="0"/>
            </a:xfrm>
            <a:prstGeom prst="line">
              <a:avLst/>
            </a:prstGeom>
            <a:noFill/>
            <a:ln w="25400">
              <a:solidFill>
                <a:schemeClr val="tx2"/>
              </a:solidFill>
              <a:round/>
              <a:headEnd/>
              <a:tailEnd/>
            </a:ln>
          </p:spPr>
          <p:txBody>
            <a:bodyPr/>
            <a:lstStyle/>
            <a:p>
              <a:endParaRPr lang="zh-CN" altLang="en-US"/>
            </a:p>
          </p:txBody>
        </p:sp>
        <p:sp>
          <p:nvSpPr>
            <p:cNvPr id="15" name="Line 13"/>
            <p:cNvSpPr>
              <a:spLocks noChangeShapeType="1"/>
            </p:cNvSpPr>
            <p:nvPr/>
          </p:nvSpPr>
          <p:spPr bwMode="auto">
            <a:xfrm>
              <a:off x="2268187" y="4841851"/>
              <a:ext cx="1798154" cy="1243543"/>
            </a:xfrm>
            <a:prstGeom prst="line">
              <a:avLst/>
            </a:prstGeom>
            <a:noFill/>
            <a:ln w="25400">
              <a:solidFill>
                <a:schemeClr val="tx2"/>
              </a:solidFill>
              <a:round/>
              <a:headEnd/>
              <a:tailEnd type="triangle" w="med" len="med"/>
            </a:ln>
            <a:effectLst>
              <a:outerShdw dist="35921" dir="2700000" algn="ctr" rotWithShape="0">
                <a:schemeClr val="bg2"/>
              </a:outerShdw>
            </a:effectLst>
          </p:spPr>
          <p:txBody>
            <a:bodyPr/>
            <a:lstStyle/>
            <a:p>
              <a:pPr>
                <a:defRPr/>
              </a:pPr>
              <a:endParaRPr lang="zh-CN" altLang="en-US" sz="1600" b="1">
                <a:latin typeface="楷体_GB2312" pitchFamily="49" charset="-122"/>
                <a:ea typeface="楷体_GB2312" pitchFamily="49" charset="-122"/>
              </a:endParaRPr>
            </a:p>
          </p:txBody>
        </p:sp>
        <p:sp>
          <p:nvSpPr>
            <p:cNvPr id="23568" name="Line 14"/>
            <p:cNvSpPr>
              <a:spLocks noChangeShapeType="1"/>
            </p:cNvSpPr>
            <p:nvPr/>
          </p:nvSpPr>
          <p:spPr bwMode="auto">
            <a:xfrm flipH="1">
              <a:off x="3203575" y="2593975"/>
              <a:ext cx="792163" cy="533400"/>
            </a:xfrm>
            <a:prstGeom prst="line">
              <a:avLst/>
            </a:prstGeom>
            <a:noFill/>
            <a:ln w="25400">
              <a:solidFill>
                <a:schemeClr val="tx2"/>
              </a:solidFill>
              <a:round/>
              <a:headEnd/>
              <a:tailEnd type="triangle" w="med" len="med"/>
            </a:ln>
          </p:spPr>
          <p:txBody>
            <a:bodyPr/>
            <a:lstStyle/>
            <a:p>
              <a:endParaRPr lang="zh-CN" altLang="en-US"/>
            </a:p>
          </p:txBody>
        </p:sp>
        <p:sp>
          <p:nvSpPr>
            <p:cNvPr id="23569" name="Line 15"/>
            <p:cNvSpPr>
              <a:spLocks noChangeShapeType="1"/>
            </p:cNvSpPr>
            <p:nvPr/>
          </p:nvSpPr>
          <p:spPr bwMode="auto">
            <a:xfrm>
              <a:off x="4356100" y="2830513"/>
              <a:ext cx="0" cy="414337"/>
            </a:xfrm>
            <a:prstGeom prst="line">
              <a:avLst/>
            </a:prstGeom>
            <a:noFill/>
            <a:ln w="25400">
              <a:solidFill>
                <a:schemeClr val="tx2"/>
              </a:solidFill>
              <a:round/>
              <a:headEnd/>
              <a:tailEnd type="triangle" w="med" len="med"/>
            </a:ln>
          </p:spPr>
          <p:txBody>
            <a:bodyPr/>
            <a:lstStyle/>
            <a:p>
              <a:endParaRPr lang="zh-CN" altLang="en-US"/>
            </a:p>
          </p:txBody>
        </p:sp>
        <p:sp>
          <p:nvSpPr>
            <p:cNvPr id="23570" name="Line 16"/>
            <p:cNvSpPr>
              <a:spLocks noChangeShapeType="1"/>
            </p:cNvSpPr>
            <p:nvPr/>
          </p:nvSpPr>
          <p:spPr bwMode="auto">
            <a:xfrm>
              <a:off x="4356100" y="4191000"/>
              <a:ext cx="0" cy="414338"/>
            </a:xfrm>
            <a:prstGeom prst="line">
              <a:avLst/>
            </a:prstGeom>
            <a:noFill/>
            <a:ln w="25400">
              <a:solidFill>
                <a:schemeClr val="tx2"/>
              </a:solidFill>
              <a:round/>
              <a:headEnd/>
              <a:tailEnd type="triangle" w="med" len="med"/>
            </a:ln>
          </p:spPr>
          <p:txBody>
            <a:bodyPr/>
            <a:lstStyle/>
            <a:p>
              <a:endParaRPr lang="zh-CN" altLang="en-US"/>
            </a:p>
          </p:txBody>
        </p:sp>
        <p:sp>
          <p:nvSpPr>
            <p:cNvPr id="23571" name="Line 17"/>
            <p:cNvSpPr>
              <a:spLocks noChangeShapeType="1"/>
            </p:cNvSpPr>
            <p:nvPr/>
          </p:nvSpPr>
          <p:spPr bwMode="auto">
            <a:xfrm>
              <a:off x="4356100" y="5492750"/>
              <a:ext cx="0" cy="354013"/>
            </a:xfrm>
            <a:prstGeom prst="line">
              <a:avLst/>
            </a:prstGeom>
            <a:noFill/>
            <a:ln w="25400">
              <a:solidFill>
                <a:schemeClr val="tx2"/>
              </a:solidFill>
              <a:round/>
              <a:headEnd/>
              <a:tailEnd type="triangle" w="med" len="med"/>
            </a:ln>
          </p:spPr>
          <p:txBody>
            <a:bodyPr/>
            <a:lstStyle/>
            <a:p>
              <a:endParaRPr lang="zh-CN" altLang="en-US"/>
            </a:p>
          </p:txBody>
        </p:sp>
        <p:sp>
          <p:nvSpPr>
            <p:cNvPr id="23572" name="Line 18"/>
            <p:cNvSpPr>
              <a:spLocks noChangeShapeType="1"/>
            </p:cNvSpPr>
            <p:nvPr/>
          </p:nvSpPr>
          <p:spPr bwMode="auto">
            <a:xfrm>
              <a:off x="3779838" y="3717925"/>
              <a:ext cx="0" cy="236538"/>
            </a:xfrm>
            <a:prstGeom prst="line">
              <a:avLst/>
            </a:prstGeom>
            <a:noFill/>
            <a:ln w="25400">
              <a:solidFill>
                <a:schemeClr val="tx2"/>
              </a:solidFill>
              <a:round/>
              <a:headEnd/>
              <a:tailEnd/>
            </a:ln>
          </p:spPr>
          <p:txBody>
            <a:bodyPr/>
            <a:lstStyle/>
            <a:p>
              <a:endParaRPr lang="zh-CN" altLang="en-US"/>
            </a:p>
          </p:txBody>
        </p:sp>
        <p:sp>
          <p:nvSpPr>
            <p:cNvPr id="23573" name="Line 19"/>
            <p:cNvSpPr>
              <a:spLocks noChangeShapeType="1"/>
            </p:cNvSpPr>
            <p:nvPr/>
          </p:nvSpPr>
          <p:spPr bwMode="auto">
            <a:xfrm flipH="1">
              <a:off x="3132138" y="3954463"/>
              <a:ext cx="647700" cy="0"/>
            </a:xfrm>
            <a:prstGeom prst="line">
              <a:avLst/>
            </a:prstGeom>
            <a:noFill/>
            <a:ln w="25400">
              <a:solidFill>
                <a:schemeClr val="tx2"/>
              </a:solidFill>
              <a:round/>
              <a:headEnd/>
              <a:tailEnd type="triangle" w="med" len="med"/>
            </a:ln>
          </p:spPr>
          <p:txBody>
            <a:bodyPr/>
            <a:lstStyle/>
            <a:p>
              <a:endParaRPr lang="zh-CN" altLang="en-US"/>
            </a:p>
          </p:txBody>
        </p:sp>
        <p:sp>
          <p:nvSpPr>
            <p:cNvPr id="23574" name="Line 20"/>
            <p:cNvSpPr>
              <a:spLocks noChangeShapeType="1"/>
            </p:cNvSpPr>
            <p:nvPr/>
          </p:nvSpPr>
          <p:spPr bwMode="auto">
            <a:xfrm flipH="1">
              <a:off x="2916238" y="5078413"/>
              <a:ext cx="863600" cy="0"/>
            </a:xfrm>
            <a:prstGeom prst="line">
              <a:avLst/>
            </a:prstGeom>
            <a:noFill/>
            <a:ln w="25400">
              <a:solidFill>
                <a:schemeClr val="tx2"/>
              </a:solidFill>
              <a:round/>
              <a:headEnd/>
              <a:tailEnd/>
            </a:ln>
          </p:spPr>
          <p:txBody>
            <a:bodyPr/>
            <a:lstStyle/>
            <a:p>
              <a:endParaRPr lang="zh-CN" altLang="en-US"/>
            </a:p>
          </p:txBody>
        </p:sp>
        <p:sp>
          <p:nvSpPr>
            <p:cNvPr id="23575" name="Line 21"/>
            <p:cNvSpPr>
              <a:spLocks noChangeShapeType="1"/>
            </p:cNvSpPr>
            <p:nvPr/>
          </p:nvSpPr>
          <p:spPr bwMode="auto">
            <a:xfrm flipV="1">
              <a:off x="2916238" y="4841875"/>
              <a:ext cx="0" cy="236538"/>
            </a:xfrm>
            <a:prstGeom prst="line">
              <a:avLst/>
            </a:prstGeom>
            <a:noFill/>
            <a:ln w="25400">
              <a:solidFill>
                <a:schemeClr val="tx2"/>
              </a:solidFill>
              <a:round/>
              <a:headEnd/>
              <a:tailEnd type="triangle" w="med" len="med"/>
            </a:ln>
          </p:spPr>
          <p:txBody>
            <a:bodyPr/>
            <a:lstStyle/>
            <a:p>
              <a:endParaRPr lang="zh-CN" altLang="en-US"/>
            </a:p>
          </p:txBody>
        </p:sp>
        <p:sp>
          <p:nvSpPr>
            <p:cNvPr id="23576" name="Line 22"/>
            <p:cNvSpPr>
              <a:spLocks noChangeShapeType="1"/>
            </p:cNvSpPr>
            <p:nvPr/>
          </p:nvSpPr>
          <p:spPr bwMode="auto">
            <a:xfrm>
              <a:off x="4932363" y="5078413"/>
              <a:ext cx="792162" cy="0"/>
            </a:xfrm>
            <a:prstGeom prst="line">
              <a:avLst/>
            </a:prstGeom>
            <a:noFill/>
            <a:ln w="25400">
              <a:solidFill>
                <a:schemeClr val="tx2"/>
              </a:solidFill>
              <a:round/>
              <a:headEnd/>
              <a:tailEnd/>
            </a:ln>
          </p:spPr>
          <p:txBody>
            <a:bodyPr/>
            <a:lstStyle/>
            <a:p>
              <a:endParaRPr lang="zh-CN" altLang="en-US"/>
            </a:p>
          </p:txBody>
        </p:sp>
        <p:sp>
          <p:nvSpPr>
            <p:cNvPr id="23577" name="Line 23"/>
            <p:cNvSpPr>
              <a:spLocks noChangeShapeType="1"/>
            </p:cNvSpPr>
            <p:nvPr/>
          </p:nvSpPr>
          <p:spPr bwMode="auto">
            <a:xfrm flipV="1">
              <a:off x="5724525" y="4783138"/>
              <a:ext cx="0" cy="295275"/>
            </a:xfrm>
            <a:prstGeom prst="line">
              <a:avLst/>
            </a:prstGeom>
            <a:noFill/>
            <a:ln w="25400">
              <a:solidFill>
                <a:schemeClr val="tx2"/>
              </a:solidFill>
              <a:round/>
              <a:headEnd/>
              <a:tailEnd type="triangle" w="med" len="med"/>
            </a:ln>
          </p:spPr>
          <p:txBody>
            <a:bodyPr/>
            <a:lstStyle/>
            <a:p>
              <a:endParaRPr lang="zh-CN" altLang="en-US"/>
            </a:p>
          </p:txBody>
        </p:sp>
        <p:sp>
          <p:nvSpPr>
            <p:cNvPr id="26" name="Line 24"/>
            <p:cNvSpPr>
              <a:spLocks noChangeShapeType="1"/>
            </p:cNvSpPr>
            <p:nvPr/>
          </p:nvSpPr>
          <p:spPr bwMode="auto">
            <a:xfrm>
              <a:off x="4931858" y="3718423"/>
              <a:ext cx="0" cy="174873"/>
            </a:xfrm>
            <a:prstGeom prst="line">
              <a:avLst/>
            </a:prstGeom>
            <a:noFill/>
            <a:ln w="25400">
              <a:solidFill>
                <a:schemeClr val="tx2"/>
              </a:solidFill>
              <a:round/>
              <a:headEnd/>
              <a:tailEnd/>
            </a:ln>
            <a:effectLst>
              <a:outerShdw dist="35921" dir="2700000" algn="ctr" rotWithShape="0">
                <a:schemeClr val="bg2"/>
              </a:outerShdw>
            </a:effectLst>
          </p:spPr>
          <p:txBody>
            <a:bodyPr/>
            <a:lstStyle/>
            <a:p>
              <a:pPr>
                <a:defRPr/>
              </a:pPr>
              <a:endParaRPr lang="zh-CN" altLang="en-US" sz="1600" b="1">
                <a:latin typeface="楷体_GB2312" pitchFamily="49" charset="-122"/>
                <a:ea typeface="楷体_GB2312" pitchFamily="49" charset="-122"/>
              </a:endParaRPr>
            </a:p>
          </p:txBody>
        </p:sp>
        <p:sp>
          <p:nvSpPr>
            <p:cNvPr id="23579" name="Line 25"/>
            <p:cNvSpPr>
              <a:spLocks noChangeShapeType="1"/>
            </p:cNvSpPr>
            <p:nvPr/>
          </p:nvSpPr>
          <p:spPr bwMode="auto">
            <a:xfrm>
              <a:off x="4932363" y="3894138"/>
              <a:ext cx="431800" cy="0"/>
            </a:xfrm>
            <a:prstGeom prst="line">
              <a:avLst/>
            </a:prstGeom>
            <a:noFill/>
            <a:ln w="25400">
              <a:solidFill>
                <a:schemeClr val="tx2"/>
              </a:solidFill>
              <a:round/>
              <a:headEnd/>
              <a:tailEnd type="triangle" w="med" len="med"/>
            </a:ln>
          </p:spPr>
          <p:txBody>
            <a:bodyPr/>
            <a:lstStyle/>
            <a:p>
              <a:endParaRPr lang="zh-CN" altLang="en-US"/>
            </a:p>
          </p:txBody>
        </p:sp>
        <p:sp>
          <p:nvSpPr>
            <p:cNvPr id="23580" name="Line 26"/>
            <p:cNvSpPr>
              <a:spLocks noChangeShapeType="1"/>
            </p:cNvSpPr>
            <p:nvPr/>
          </p:nvSpPr>
          <p:spPr bwMode="auto">
            <a:xfrm>
              <a:off x="4716463" y="2593975"/>
              <a:ext cx="647700" cy="414338"/>
            </a:xfrm>
            <a:prstGeom prst="line">
              <a:avLst/>
            </a:prstGeom>
            <a:noFill/>
            <a:ln w="25400">
              <a:solidFill>
                <a:schemeClr val="tx2"/>
              </a:solidFill>
              <a:round/>
              <a:headEnd/>
              <a:tailEnd type="triangle" w="med" len="med"/>
            </a:ln>
          </p:spPr>
          <p:txBody>
            <a:bodyPr/>
            <a:lstStyle/>
            <a:p>
              <a:endParaRPr lang="zh-CN" altLang="en-US"/>
            </a:p>
          </p:txBody>
        </p:sp>
        <p:sp>
          <p:nvSpPr>
            <p:cNvPr id="23581" name="Line 27"/>
            <p:cNvSpPr>
              <a:spLocks noChangeShapeType="1"/>
            </p:cNvSpPr>
            <p:nvPr/>
          </p:nvSpPr>
          <p:spPr bwMode="auto">
            <a:xfrm>
              <a:off x="6084888" y="3894138"/>
              <a:ext cx="142875" cy="0"/>
            </a:xfrm>
            <a:prstGeom prst="line">
              <a:avLst/>
            </a:prstGeom>
            <a:noFill/>
            <a:ln w="25400">
              <a:solidFill>
                <a:schemeClr val="tx2"/>
              </a:solidFill>
              <a:round/>
              <a:headEnd/>
              <a:tailEnd/>
            </a:ln>
          </p:spPr>
          <p:txBody>
            <a:bodyPr/>
            <a:lstStyle/>
            <a:p>
              <a:endParaRPr lang="zh-CN" altLang="en-US"/>
            </a:p>
          </p:txBody>
        </p:sp>
        <p:sp>
          <p:nvSpPr>
            <p:cNvPr id="23582" name="Line 28"/>
            <p:cNvSpPr>
              <a:spLocks noChangeShapeType="1"/>
            </p:cNvSpPr>
            <p:nvPr/>
          </p:nvSpPr>
          <p:spPr bwMode="auto">
            <a:xfrm>
              <a:off x="7611375" y="4134539"/>
              <a:ext cx="792161" cy="0"/>
            </a:xfrm>
            <a:prstGeom prst="line">
              <a:avLst/>
            </a:prstGeom>
            <a:noFill/>
            <a:ln w="25400">
              <a:solidFill>
                <a:schemeClr val="tx2"/>
              </a:solidFill>
              <a:round/>
              <a:headEnd/>
              <a:tailEnd type="triangle" w="med" len="med"/>
            </a:ln>
          </p:spPr>
          <p:txBody>
            <a:bodyPr/>
            <a:lstStyle/>
            <a:p>
              <a:endParaRPr lang="zh-CN" altLang="en-US"/>
            </a:p>
          </p:txBody>
        </p:sp>
        <p:sp>
          <p:nvSpPr>
            <p:cNvPr id="23583" name="Line 29"/>
            <p:cNvSpPr>
              <a:spLocks noChangeShapeType="1"/>
            </p:cNvSpPr>
            <p:nvPr/>
          </p:nvSpPr>
          <p:spPr bwMode="auto">
            <a:xfrm>
              <a:off x="6227763" y="3894138"/>
              <a:ext cx="0" cy="238125"/>
            </a:xfrm>
            <a:prstGeom prst="line">
              <a:avLst/>
            </a:prstGeom>
            <a:noFill/>
            <a:ln w="25400">
              <a:solidFill>
                <a:schemeClr val="tx2"/>
              </a:solidFill>
              <a:round/>
              <a:headEnd/>
              <a:tailEnd/>
            </a:ln>
          </p:spPr>
          <p:txBody>
            <a:bodyPr/>
            <a:lstStyle/>
            <a:p>
              <a:endParaRPr lang="zh-CN" altLang="en-US"/>
            </a:p>
          </p:txBody>
        </p:sp>
        <p:sp>
          <p:nvSpPr>
            <p:cNvPr id="23584" name="Line 30"/>
            <p:cNvSpPr>
              <a:spLocks noChangeShapeType="1"/>
            </p:cNvSpPr>
            <p:nvPr/>
          </p:nvSpPr>
          <p:spPr bwMode="auto">
            <a:xfrm>
              <a:off x="6227763" y="4132263"/>
              <a:ext cx="1223962" cy="0"/>
            </a:xfrm>
            <a:prstGeom prst="line">
              <a:avLst/>
            </a:prstGeom>
            <a:noFill/>
            <a:ln w="25400">
              <a:solidFill>
                <a:schemeClr val="tx2"/>
              </a:solidFill>
              <a:round/>
              <a:headEnd/>
              <a:tailEnd type="triangle" w="med" len="med"/>
            </a:ln>
          </p:spPr>
          <p:txBody>
            <a:bodyPr/>
            <a:lstStyle/>
            <a:p>
              <a:endParaRPr lang="zh-CN" altLang="en-US"/>
            </a:p>
          </p:txBody>
        </p:sp>
        <p:sp>
          <p:nvSpPr>
            <p:cNvPr id="23585" name="Line 31"/>
            <p:cNvSpPr>
              <a:spLocks noChangeShapeType="1"/>
            </p:cNvSpPr>
            <p:nvPr/>
          </p:nvSpPr>
          <p:spPr bwMode="auto">
            <a:xfrm flipV="1">
              <a:off x="6084888" y="4251325"/>
              <a:ext cx="1366837" cy="354013"/>
            </a:xfrm>
            <a:prstGeom prst="line">
              <a:avLst/>
            </a:prstGeom>
            <a:noFill/>
            <a:ln w="25400">
              <a:solidFill>
                <a:schemeClr val="tx2"/>
              </a:solidFill>
              <a:round/>
              <a:headEnd/>
              <a:tailEnd type="triangle" w="med" len="med"/>
            </a:ln>
          </p:spPr>
          <p:txBody>
            <a:bodyPr/>
            <a:lstStyle/>
            <a:p>
              <a:endParaRPr lang="zh-CN" altLang="en-US"/>
            </a:p>
          </p:txBody>
        </p:sp>
        <p:sp>
          <p:nvSpPr>
            <p:cNvPr id="23586" name="Line 32"/>
            <p:cNvSpPr>
              <a:spLocks noChangeShapeType="1"/>
            </p:cNvSpPr>
            <p:nvPr/>
          </p:nvSpPr>
          <p:spPr bwMode="auto">
            <a:xfrm>
              <a:off x="6084888" y="3186113"/>
              <a:ext cx="1366837" cy="827087"/>
            </a:xfrm>
            <a:prstGeom prst="line">
              <a:avLst/>
            </a:prstGeom>
            <a:noFill/>
            <a:ln w="25400">
              <a:solidFill>
                <a:schemeClr val="tx2"/>
              </a:solidFill>
              <a:round/>
              <a:headEnd/>
              <a:tailEnd type="triangle" w="med" len="med"/>
            </a:ln>
          </p:spPr>
          <p:txBody>
            <a:bodyPr/>
            <a:lstStyle/>
            <a:p>
              <a:endParaRPr lang="zh-CN" altLang="en-US"/>
            </a:p>
          </p:txBody>
        </p:sp>
        <p:sp>
          <p:nvSpPr>
            <p:cNvPr id="23587" name="Line 33"/>
            <p:cNvSpPr>
              <a:spLocks noChangeShapeType="1"/>
            </p:cNvSpPr>
            <p:nvPr/>
          </p:nvSpPr>
          <p:spPr bwMode="auto">
            <a:xfrm flipH="1" flipV="1">
              <a:off x="2339975" y="6113463"/>
              <a:ext cx="1655763" cy="0"/>
            </a:xfrm>
            <a:prstGeom prst="line">
              <a:avLst/>
            </a:prstGeom>
            <a:noFill/>
            <a:ln w="25400">
              <a:solidFill>
                <a:schemeClr val="tx2"/>
              </a:solidFill>
              <a:round/>
              <a:headEnd/>
              <a:tailEnd type="triangle" w="med" len="med"/>
            </a:ln>
          </p:spPr>
          <p:txBody>
            <a:bodyPr/>
            <a:lstStyle/>
            <a:p>
              <a:endParaRPr lang="zh-CN" altLang="en-US"/>
            </a:p>
          </p:txBody>
        </p:sp>
        <p:sp>
          <p:nvSpPr>
            <p:cNvPr id="23588" name="Line 34"/>
            <p:cNvSpPr>
              <a:spLocks noChangeShapeType="1"/>
            </p:cNvSpPr>
            <p:nvPr/>
          </p:nvSpPr>
          <p:spPr bwMode="auto">
            <a:xfrm>
              <a:off x="1356769" y="1803622"/>
              <a:ext cx="2376488" cy="0"/>
            </a:xfrm>
            <a:prstGeom prst="line">
              <a:avLst/>
            </a:prstGeom>
            <a:noFill/>
            <a:ln w="25400">
              <a:solidFill>
                <a:schemeClr val="tx2"/>
              </a:solidFill>
              <a:round/>
              <a:headEnd/>
              <a:tailEnd type="triangle" w="med" len="med"/>
            </a:ln>
          </p:spPr>
          <p:txBody>
            <a:bodyPr/>
            <a:lstStyle/>
            <a:p>
              <a:endParaRPr lang="zh-CN" altLang="en-US"/>
            </a:p>
          </p:txBody>
        </p:sp>
        <p:sp>
          <p:nvSpPr>
            <p:cNvPr id="23589" name="Text Box 35"/>
            <p:cNvSpPr txBox="1">
              <a:spLocks noChangeArrowheads="1"/>
            </p:cNvSpPr>
            <p:nvPr/>
          </p:nvSpPr>
          <p:spPr bwMode="auto">
            <a:xfrm>
              <a:off x="381715" y="1844249"/>
              <a:ext cx="3196625" cy="376703"/>
            </a:xfrm>
            <a:prstGeom prst="rect">
              <a:avLst/>
            </a:prstGeom>
            <a:noFill/>
            <a:ln w="25400" algn="ctr">
              <a:noFill/>
              <a:miter lim="800000"/>
              <a:headEnd/>
              <a:tailEnd/>
            </a:ln>
          </p:spPr>
          <p:txBody>
            <a:bodyPr wrap="none">
              <a:spAutoFit/>
            </a:bodyPr>
            <a:lstStyle/>
            <a:p>
              <a:r>
                <a:rPr lang="zh-CN" altLang="en-US" sz="1600" b="1">
                  <a:solidFill>
                    <a:srgbClr val="FF0000"/>
                  </a:solidFill>
                  <a:latin typeface="楷体_GB2312" pitchFamily="49" charset="-122"/>
                  <a:ea typeface="楷体_GB2312" pitchFamily="49" charset="-122"/>
                </a:rPr>
                <a:t>到达访问控制组接口的数据包</a:t>
              </a:r>
            </a:p>
          </p:txBody>
        </p:sp>
        <p:sp>
          <p:nvSpPr>
            <p:cNvPr id="23590" name="Text Box 36"/>
            <p:cNvSpPr txBox="1">
              <a:spLocks noChangeArrowheads="1"/>
            </p:cNvSpPr>
            <p:nvPr/>
          </p:nvSpPr>
          <p:spPr bwMode="auto">
            <a:xfrm>
              <a:off x="3951290" y="2041525"/>
              <a:ext cx="895741" cy="650669"/>
            </a:xfrm>
            <a:prstGeom prst="rect">
              <a:avLst/>
            </a:prstGeom>
            <a:noFill/>
            <a:ln w="25400" algn="ctr">
              <a:noFill/>
              <a:miter lim="800000"/>
              <a:headEnd/>
              <a:tailEnd/>
            </a:ln>
          </p:spPr>
          <p:txBody>
            <a:bodyPr wrap="none">
              <a:spAutoFit/>
            </a:bodyPr>
            <a:lstStyle/>
            <a:p>
              <a:pPr algn="ctr"/>
              <a:r>
                <a:rPr lang="zh-CN" altLang="en-US" sz="1600" b="1">
                  <a:solidFill>
                    <a:schemeClr val="tx2"/>
                  </a:solidFill>
                  <a:latin typeface="楷体_GB2312" pitchFamily="49" charset="-122"/>
                  <a:ea typeface="楷体_GB2312" pitchFamily="49" charset="-122"/>
                </a:rPr>
                <a:t>匹配</a:t>
              </a:r>
            </a:p>
            <a:p>
              <a:pPr algn="ctr"/>
              <a:r>
                <a:rPr lang="zh-CN" altLang="en-US" sz="1600" b="1">
                  <a:solidFill>
                    <a:schemeClr val="tx2"/>
                  </a:solidFill>
                  <a:latin typeface="楷体_GB2312" pitchFamily="49" charset="-122"/>
                  <a:ea typeface="楷体_GB2312" pitchFamily="49" charset="-122"/>
                </a:rPr>
                <a:t>第一条</a:t>
              </a:r>
            </a:p>
          </p:txBody>
        </p:sp>
        <p:sp>
          <p:nvSpPr>
            <p:cNvPr id="23591" name="Text Box 37"/>
            <p:cNvSpPr txBox="1">
              <a:spLocks noChangeArrowheads="1"/>
            </p:cNvSpPr>
            <p:nvPr/>
          </p:nvSpPr>
          <p:spPr bwMode="auto">
            <a:xfrm>
              <a:off x="7780339" y="4222750"/>
              <a:ext cx="1125828" cy="376703"/>
            </a:xfrm>
            <a:prstGeom prst="rect">
              <a:avLst/>
            </a:prstGeom>
            <a:noFill/>
            <a:ln w="25400" algn="ctr">
              <a:noFill/>
              <a:miter lim="800000"/>
              <a:headEnd/>
              <a:tailEnd/>
            </a:ln>
          </p:spPr>
          <p:txBody>
            <a:bodyPr wrap="none">
              <a:spAutoFit/>
            </a:bodyPr>
            <a:lstStyle/>
            <a:p>
              <a:r>
                <a:rPr lang="zh-CN" altLang="en-US" sz="1600" b="1">
                  <a:solidFill>
                    <a:srgbClr val="FF0000"/>
                  </a:solidFill>
                  <a:latin typeface="楷体_GB2312" pitchFamily="49" charset="-122"/>
                  <a:ea typeface="楷体_GB2312" pitchFamily="49" charset="-122"/>
                </a:rPr>
                <a:t>目的接口</a:t>
              </a:r>
            </a:p>
          </p:txBody>
        </p:sp>
        <p:sp>
          <p:nvSpPr>
            <p:cNvPr id="23592" name="Text Box 38"/>
            <p:cNvSpPr txBox="1">
              <a:spLocks noChangeArrowheads="1"/>
            </p:cNvSpPr>
            <p:nvPr/>
          </p:nvSpPr>
          <p:spPr bwMode="auto">
            <a:xfrm>
              <a:off x="4497390" y="5400675"/>
              <a:ext cx="1125253" cy="650669"/>
            </a:xfrm>
            <a:prstGeom prst="rect">
              <a:avLst/>
            </a:prstGeom>
            <a:noFill/>
            <a:ln w="25400" algn="ctr">
              <a:noFill/>
              <a:miter lim="800000"/>
              <a:headEnd/>
              <a:tailEnd/>
            </a:ln>
          </p:spPr>
          <p:txBody>
            <a:bodyPr>
              <a:spAutoFit/>
            </a:bodyPr>
            <a:lstStyle/>
            <a:p>
              <a:pPr algn="ctr"/>
              <a:r>
                <a:rPr lang="zh-CN" altLang="en-US" sz="1600" b="1">
                  <a:solidFill>
                    <a:srgbClr val="FF0000"/>
                  </a:solidFill>
                  <a:latin typeface="楷体_GB2312" pitchFamily="49" charset="-122"/>
                  <a:ea typeface="楷体_GB2312" pitchFamily="49" charset="-122"/>
                </a:rPr>
                <a:t>隐含的</a:t>
              </a:r>
            </a:p>
            <a:p>
              <a:pPr algn="ctr"/>
              <a:r>
                <a:rPr lang="zh-CN" altLang="en-US" sz="1600" b="1">
                  <a:solidFill>
                    <a:srgbClr val="FF0000"/>
                  </a:solidFill>
                  <a:latin typeface="楷体_GB2312" pitchFamily="49" charset="-122"/>
                  <a:ea typeface="楷体_GB2312" pitchFamily="49" charset="-122"/>
                </a:rPr>
                <a:t>拒绝</a:t>
              </a:r>
            </a:p>
          </p:txBody>
        </p:sp>
        <p:sp>
          <p:nvSpPr>
            <p:cNvPr id="41" name="Text Box 39"/>
            <p:cNvSpPr txBox="1">
              <a:spLocks noChangeArrowheads="1"/>
            </p:cNvSpPr>
            <p:nvPr/>
          </p:nvSpPr>
          <p:spPr bwMode="auto">
            <a:xfrm>
              <a:off x="1710018" y="5965280"/>
              <a:ext cx="665918" cy="378009"/>
            </a:xfrm>
            <a:prstGeom prst="rect">
              <a:avLst/>
            </a:prstGeom>
            <a:noFill/>
            <a:ln w="25400" algn="ctr">
              <a:noFill/>
              <a:miter lim="800000"/>
              <a:headEnd/>
              <a:tailEnd/>
            </a:ln>
            <a:effectLst>
              <a:outerShdw dist="35921" dir="2700000" algn="ctr" rotWithShape="0">
                <a:schemeClr val="bg2">
                  <a:alpha val="50000"/>
                </a:schemeClr>
              </a:outerShdw>
            </a:effectLst>
          </p:spPr>
          <p:txBody>
            <a:bodyPr wrap="none">
              <a:spAutoFit/>
            </a:bodyPr>
            <a:lstStyle/>
            <a:p>
              <a:pPr>
                <a:defRPr/>
              </a:pPr>
              <a:r>
                <a:rPr lang="zh-CN" altLang="en-US" sz="1600" b="1">
                  <a:solidFill>
                    <a:schemeClr val="tx2"/>
                  </a:solidFill>
                  <a:latin typeface="楷体_GB2312" pitchFamily="49" charset="-122"/>
                  <a:ea typeface="楷体_GB2312" pitchFamily="49" charset="-122"/>
                </a:rPr>
                <a:t>丢弃</a:t>
              </a:r>
            </a:p>
          </p:txBody>
        </p:sp>
        <p:sp>
          <p:nvSpPr>
            <p:cNvPr id="23594" name="Text Box 40"/>
            <p:cNvSpPr txBox="1">
              <a:spLocks noChangeArrowheads="1"/>
            </p:cNvSpPr>
            <p:nvPr/>
          </p:nvSpPr>
          <p:spPr bwMode="auto">
            <a:xfrm>
              <a:off x="3563940" y="2439988"/>
              <a:ext cx="353512" cy="376706"/>
            </a:xfrm>
            <a:prstGeom prst="rect">
              <a:avLst/>
            </a:prstGeom>
            <a:noFill/>
            <a:ln w="25400" algn="ctr">
              <a:noFill/>
              <a:miter lim="800000"/>
              <a:headEnd/>
              <a:tailEnd/>
            </a:ln>
          </p:spPr>
          <p:txBody>
            <a:bodyPr wrap="none">
              <a:spAutoFit/>
            </a:bodyPr>
            <a:lstStyle/>
            <a:p>
              <a:r>
                <a:rPr lang="en-US" altLang="zh-CN" sz="1600" b="1">
                  <a:solidFill>
                    <a:srgbClr val="FF0000"/>
                  </a:solidFill>
                  <a:latin typeface="楷体_GB2312" pitchFamily="49" charset="-122"/>
                  <a:ea typeface="楷体_GB2312" pitchFamily="49" charset="-122"/>
                </a:rPr>
                <a:t>Y</a:t>
              </a:r>
            </a:p>
          </p:txBody>
        </p:sp>
        <p:sp>
          <p:nvSpPr>
            <p:cNvPr id="23595" name="Text Box 41"/>
            <p:cNvSpPr txBox="1">
              <a:spLocks noChangeArrowheads="1"/>
            </p:cNvSpPr>
            <p:nvPr/>
          </p:nvSpPr>
          <p:spPr bwMode="auto">
            <a:xfrm>
              <a:off x="4851402" y="2484437"/>
              <a:ext cx="353512" cy="376706"/>
            </a:xfrm>
            <a:prstGeom prst="rect">
              <a:avLst/>
            </a:prstGeom>
            <a:noFill/>
            <a:ln w="25400" algn="ctr">
              <a:noFill/>
              <a:miter lim="800000"/>
              <a:headEnd/>
              <a:tailEnd/>
            </a:ln>
          </p:spPr>
          <p:txBody>
            <a:bodyPr wrap="none">
              <a:spAutoFit/>
            </a:bodyPr>
            <a:lstStyle/>
            <a:p>
              <a:r>
                <a:rPr lang="en-US" altLang="zh-CN" sz="1600" b="1">
                  <a:solidFill>
                    <a:srgbClr val="FF0000"/>
                  </a:solidFill>
                  <a:latin typeface="楷体_GB2312" pitchFamily="49" charset="-122"/>
                  <a:ea typeface="楷体_GB2312" pitchFamily="49" charset="-122"/>
                </a:rPr>
                <a:t>Y</a:t>
              </a:r>
            </a:p>
          </p:txBody>
        </p:sp>
        <p:sp>
          <p:nvSpPr>
            <p:cNvPr id="23596" name="Text Box 42"/>
            <p:cNvSpPr txBox="1">
              <a:spLocks noChangeArrowheads="1"/>
            </p:cNvSpPr>
            <p:nvPr/>
          </p:nvSpPr>
          <p:spPr bwMode="auto">
            <a:xfrm>
              <a:off x="3260726" y="3646488"/>
              <a:ext cx="353512" cy="376706"/>
            </a:xfrm>
            <a:prstGeom prst="rect">
              <a:avLst/>
            </a:prstGeom>
            <a:noFill/>
            <a:ln w="25400" algn="ctr">
              <a:noFill/>
              <a:miter lim="800000"/>
              <a:headEnd/>
              <a:tailEnd/>
            </a:ln>
          </p:spPr>
          <p:txBody>
            <a:bodyPr wrap="none">
              <a:spAutoFit/>
            </a:bodyPr>
            <a:lstStyle/>
            <a:p>
              <a:r>
                <a:rPr lang="en-US" altLang="zh-CN" sz="1600" b="1">
                  <a:solidFill>
                    <a:srgbClr val="FF0000"/>
                  </a:solidFill>
                  <a:latin typeface="楷体_GB2312" pitchFamily="49" charset="-122"/>
                  <a:ea typeface="楷体_GB2312" pitchFamily="49" charset="-122"/>
                </a:rPr>
                <a:t>Y</a:t>
              </a:r>
            </a:p>
          </p:txBody>
        </p:sp>
        <p:sp>
          <p:nvSpPr>
            <p:cNvPr id="23597" name="Text Box 43"/>
            <p:cNvSpPr txBox="1">
              <a:spLocks noChangeArrowheads="1"/>
            </p:cNvSpPr>
            <p:nvPr/>
          </p:nvSpPr>
          <p:spPr bwMode="auto">
            <a:xfrm>
              <a:off x="4995864" y="3550598"/>
              <a:ext cx="353512" cy="376706"/>
            </a:xfrm>
            <a:prstGeom prst="rect">
              <a:avLst/>
            </a:prstGeom>
            <a:noFill/>
            <a:ln w="25400" algn="ctr">
              <a:noFill/>
              <a:miter lim="800000"/>
              <a:headEnd/>
              <a:tailEnd/>
            </a:ln>
          </p:spPr>
          <p:txBody>
            <a:bodyPr wrap="none">
              <a:spAutoFit/>
            </a:bodyPr>
            <a:lstStyle/>
            <a:p>
              <a:r>
                <a:rPr lang="en-US" altLang="zh-CN" sz="1600" b="1">
                  <a:solidFill>
                    <a:srgbClr val="FF0000"/>
                  </a:solidFill>
                  <a:latin typeface="楷体_GB2312" pitchFamily="49" charset="-122"/>
                  <a:ea typeface="楷体_GB2312" pitchFamily="49" charset="-122"/>
                </a:rPr>
                <a:t>Y</a:t>
              </a:r>
            </a:p>
          </p:txBody>
        </p:sp>
        <p:sp>
          <p:nvSpPr>
            <p:cNvPr id="23598" name="Text Box 44"/>
            <p:cNvSpPr txBox="1">
              <a:spLocks noChangeArrowheads="1"/>
            </p:cNvSpPr>
            <p:nvPr/>
          </p:nvSpPr>
          <p:spPr bwMode="auto">
            <a:xfrm>
              <a:off x="3260726" y="4789488"/>
              <a:ext cx="353512" cy="376706"/>
            </a:xfrm>
            <a:prstGeom prst="rect">
              <a:avLst/>
            </a:prstGeom>
            <a:noFill/>
            <a:ln w="25400" algn="ctr">
              <a:noFill/>
              <a:miter lim="800000"/>
              <a:headEnd/>
              <a:tailEnd/>
            </a:ln>
          </p:spPr>
          <p:txBody>
            <a:bodyPr wrap="none">
              <a:spAutoFit/>
            </a:bodyPr>
            <a:lstStyle/>
            <a:p>
              <a:r>
                <a:rPr lang="en-US" altLang="zh-CN" sz="1600" b="1">
                  <a:solidFill>
                    <a:srgbClr val="FF0000"/>
                  </a:solidFill>
                  <a:latin typeface="楷体_GB2312" pitchFamily="49" charset="-122"/>
                  <a:ea typeface="楷体_GB2312" pitchFamily="49" charset="-122"/>
                </a:rPr>
                <a:t>Y</a:t>
              </a:r>
            </a:p>
          </p:txBody>
        </p:sp>
        <p:sp>
          <p:nvSpPr>
            <p:cNvPr id="23599" name="Text Box 45"/>
            <p:cNvSpPr txBox="1">
              <a:spLocks noChangeArrowheads="1"/>
            </p:cNvSpPr>
            <p:nvPr/>
          </p:nvSpPr>
          <p:spPr bwMode="auto">
            <a:xfrm>
              <a:off x="4995864" y="4789488"/>
              <a:ext cx="353512" cy="376706"/>
            </a:xfrm>
            <a:prstGeom prst="rect">
              <a:avLst/>
            </a:prstGeom>
            <a:noFill/>
            <a:ln w="25400" algn="ctr">
              <a:noFill/>
              <a:miter lim="800000"/>
              <a:headEnd/>
              <a:tailEnd/>
            </a:ln>
          </p:spPr>
          <p:txBody>
            <a:bodyPr wrap="none">
              <a:spAutoFit/>
            </a:bodyPr>
            <a:lstStyle/>
            <a:p>
              <a:r>
                <a:rPr lang="en-US" altLang="zh-CN" sz="1600" b="1">
                  <a:solidFill>
                    <a:srgbClr val="FF0000"/>
                  </a:solidFill>
                  <a:latin typeface="楷体_GB2312" pitchFamily="49" charset="-122"/>
                  <a:ea typeface="楷体_GB2312" pitchFamily="49" charset="-122"/>
                </a:rPr>
                <a:t>Y</a:t>
              </a:r>
            </a:p>
          </p:txBody>
        </p:sp>
        <p:sp>
          <p:nvSpPr>
            <p:cNvPr id="23600" name="Text Box 46"/>
            <p:cNvSpPr txBox="1">
              <a:spLocks noChangeArrowheads="1"/>
            </p:cNvSpPr>
            <p:nvPr/>
          </p:nvSpPr>
          <p:spPr bwMode="auto">
            <a:xfrm>
              <a:off x="4403822" y="2859933"/>
              <a:ext cx="399886" cy="376706"/>
            </a:xfrm>
            <a:prstGeom prst="rect">
              <a:avLst/>
            </a:prstGeom>
            <a:noFill/>
            <a:ln w="25400" algn="ctr">
              <a:noFill/>
              <a:miter lim="800000"/>
              <a:headEnd/>
              <a:tailEnd/>
            </a:ln>
          </p:spPr>
          <p:txBody>
            <a:bodyPr wrap="none">
              <a:spAutoFit/>
            </a:bodyPr>
            <a:lstStyle/>
            <a:p>
              <a:r>
                <a:rPr lang="en-US" altLang="zh-CN" sz="1600" b="1">
                  <a:solidFill>
                    <a:srgbClr val="FF0000"/>
                  </a:solidFill>
                  <a:latin typeface="楷体_GB2312" pitchFamily="49" charset="-122"/>
                  <a:ea typeface="楷体_GB2312" pitchFamily="49" charset="-122"/>
                </a:rPr>
                <a:t>N</a:t>
              </a:r>
            </a:p>
          </p:txBody>
        </p:sp>
        <p:sp>
          <p:nvSpPr>
            <p:cNvPr id="23601" name="Text Box 47"/>
            <p:cNvSpPr txBox="1">
              <a:spLocks noChangeArrowheads="1"/>
            </p:cNvSpPr>
            <p:nvPr/>
          </p:nvSpPr>
          <p:spPr bwMode="auto">
            <a:xfrm>
              <a:off x="4474371" y="4281903"/>
              <a:ext cx="399886" cy="376706"/>
            </a:xfrm>
            <a:prstGeom prst="rect">
              <a:avLst/>
            </a:prstGeom>
            <a:noFill/>
            <a:ln w="25400" algn="ctr">
              <a:noFill/>
              <a:miter lim="800000"/>
              <a:headEnd/>
              <a:tailEnd/>
            </a:ln>
          </p:spPr>
          <p:txBody>
            <a:bodyPr wrap="none">
              <a:spAutoFit/>
            </a:bodyPr>
            <a:lstStyle/>
            <a:p>
              <a:r>
                <a:rPr lang="en-US" altLang="zh-CN" sz="1600" b="1">
                  <a:solidFill>
                    <a:srgbClr val="FF0000"/>
                  </a:solidFill>
                  <a:latin typeface="楷体_GB2312" pitchFamily="49" charset="-122"/>
                  <a:ea typeface="楷体_GB2312" pitchFamily="49" charset="-122"/>
                </a:rPr>
                <a:t>N</a:t>
              </a:r>
            </a:p>
          </p:txBody>
        </p:sp>
        <p:sp>
          <p:nvSpPr>
            <p:cNvPr id="23602" name="Text Box 48"/>
            <p:cNvSpPr txBox="1">
              <a:spLocks noChangeArrowheads="1"/>
            </p:cNvSpPr>
            <p:nvPr/>
          </p:nvSpPr>
          <p:spPr bwMode="auto">
            <a:xfrm>
              <a:off x="3779839" y="5500688"/>
              <a:ext cx="399886" cy="376706"/>
            </a:xfrm>
            <a:prstGeom prst="rect">
              <a:avLst/>
            </a:prstGeom>
            <a:noFill/>
            <a:ln w="25400" algn="ctr">
              <a:noFill/>
              <a:miter lim="800000"/>
              <a:headEnd/>
              <a:tailEnd/>
            </a:ln>
          </p:spPr>
          <p:txBody>
            <a:bodyPr wrap="none">
              <a:spAutoFit/>
            </a:bodyPr>
            <a:lstStyle/>
            <a:p>
              <a:r>
                <a:rPr lang="en-US" altLang="zh-CN" sz="1600" b="1">
                  <a:solidFill>
                    <a:srgbClr val="FF0000"/>
                  </a:solidFill>
                  <a:latin typeface="楷体_GB2312" pitchFamily="49" charset="-122"/>
                  <a:ea typeface="楷体_GB2312" pitchFamily="49" charset="-122"/>
                </a:rPr>
                <a:t>N</a:t>
              </a:r>
            </a:p>
          </p:txBody>
        </p:sp>
        <p:sp>
          <p:nvSpPr>
            <p:cNvPr id="23603" name="AutoShape 50"/>
            <p:cNvSpPr>
              <a:spLocks noChangeArrowheads="1"/>
            </p:cNvSpPr>
            <p:nvPr/>
          </p:nvSpPr>
          <p:spPr bwMode="auto">
            <a:xfrm>
              <a:off x="3754438" y="3303588"/>
              <a:ext cx="1203325" cy="855662"/>
            </a:xfrm>
            <a:prstGeom prst="flowChartDecision">
              <a:avLst/>
            </a:prstGeom>
            <a:gradFill rotWithShape="1">
              <a:gsLst>
                <a:gs pos="0">
                  <a:srgbClr val="0066FF">
                    <a:alpha val="50000"/>
                  </a:srgbClr>
                </a:gs>
                <a:gs pos="100000">
                  <a:schemeClr val="bg1"/>
                </a:gs>
              </a:gsLst>
              <a:lin ang="5400000" scaled="1"/>
            </a:gradFill>
            <a:ln w="25400" algn="ctr">
              <a:solidFill>
                <a:srgbClr val="0066FF">
                  <a:alpha val="50195"/>
                </a:srgbClr>
              </a:solidFill>
              <a:miter lim="800000"/>
              <a:headEnd/>
              <a:tailEnd/>
            </a:ln>
          </p:spPr>
          <p:txBody>
            <a:bodyPr wrap="none" anchor="ctr"/>
            <a:lstStyle/>
            <a:p>
              <a:pPr algn="ctr"/>
              <a:r>
                <a:rPr lang="zh-CN" altLang="en-US" sz="1600" b="1">
                  <a:solidFill>
                    <a:schemeClr val="tx2"/>
                  </a:solidFill>
                  <a:latin typeface="楷体_GB2312" pitchFamily="49" charset="-122"/>
                  <a:ea typeface="楷体_GB2312" pitchFamily="49" charset="-122"/>
                </a:rPr>
                <a:t>匹配</a:t>
              </a:r>
            </a:p>
            <a:p>
              <a:pPr algn="ctr"/>
              <a:r>
                <a:rPr lang="zh-CN" altLang="en-US" sz="1600" b="1">
                  <a:solidFill>
                    <a:schemeClr val="tx2"/>
                  </a:solidFill>
                  <a:latin typeface="楷体_GB2312" pitchFamily="49" charset="-122"/>
                  <a:ea typeface="楷体_GB2312" pitchFamily="49" charset="-122"/>
                </a:rPr>
                <a:t>下一条</a:t>
              </a:r>
            </a:p>
          </p:txBody>
        </p:sp>
        <p:sp>
          <p:nvSpPr>
            <p:cNvPr id="52" name="AutoShape 51"/>
            <p:cNvSpPr>
              <a:spLocks noChangeArrowheads="1"/>
            </p:cNvSpPr>
            <p:nvPr/>
          </p:nvSpPr>
          <p:spPr bwMode="auto">
            <a:xfrm>
              <a:off x="2483683" y="4486805"/>
              <a:ext cx="648255" cy="296755"/>
            </a:xfrm>
            <a:prstGeom prst="flowChartProcess">
              <a:avLst/>
            </a:prstGeom>
            <a:gradFill rotWithShape="1">
              <a:gsLst>
                <a:gs pos="0">
                  <a:srgbClr val="0066FF">
                    <a:alpha val="50000"/>
                  </a:srgbClr>
                </a:gs>
                <a:gs pos="100000">
                  <a:schemeClr val="bg1"/>
                </a:gs>
              </a:gsLst>
              <a:lin ang="5400000" scaled="1"/>
            </a:gradFill>
            <a:ln w="25400" algn="ctr">
              <a:solidFill>
                <a:srgbClr val="0066FF">
                  <a:alpha val="50000"/>
                </a:srgbClr>
              </a:solidFill>
              <a:miter lim="800000"/>
              <a:headEnd/>
              <a:tailEnd/>
            </a:ln>
            <a:effectLst>
              <a:outerShdw dist="35921" dir="2700000" algn="ctr" rotWithShape="0">
                <a:schemeClr val="bg2"/>
              </a:outerShdw>
            </a:effectLst>
          </p:spPr>
          <p:txBody>
            <a:bodyPr wrap="none" anchor="ctr"/>
            <a:lstStyle/>
            <a:p>
              <a:pPr>
                <a:defRPr/>
              </a:pPr>
              <a:r>
                <a:rPr lang="zh-CN" altLang="en-US" sz="1600" b="1">
                  <a:solidFill>
                    <a:schemeClr val="tx2"/>
                  </a:solidFill>
                  <a:latin typeface="楷体_GB2312" pitchFamily="49" charset="-122"/>
                  <a:ea typeface="楷体_GB2312" pitchFamily="49" charset="-122"/>
                </a:rPr>
                <a:t>拒绝</a:t>
              </a:r>
            </a:p>
          </p:txBody>
        </p:sp>
        <p:sp>
          <p:nvSpPr>
            <p:cNvPr id="53" name="AutoShape 52"/>
            <p:cNvSpPr>
              <a:spLocks noChangeArrowheads="1"/>
            </p:cNvSpPr>
            <p:nvPr/>
          </p:nvSpPr>
          <p:spPr bwMode="auto">
            <a:xfrm>
              <a:off x="2483683" y="3778481"/>
              <a:ext cx="648255" cy="294988"/>
            </a:xfrm>
            <a:prstGeom prst="flowChartProcess">
              <a:avLst/>
            </a:prstGeom>
            <a:gradFill rotWithShape="1">
              <a:gsLst>
                <a:gs pos="0">
                  <a:srgbClr val="0066FF">
                    <a:alpha val="50000"/>
                  </a:srgbClr>
                </a:gs>
                <a:gs pos="100000">
                  <a:schemeClr val="bg1"/>
                </a:gs>
              </a:gsLst>
              <a:lin ang="5400000" scaled="1"/>
            </a:gradFill>
            <a:ln w="25400" algn="ctr">
              <a:solidFill>
                <a:srgbClr val="0066FF">
                  <a:alpha val="50000"/>
                </a:srgbClr>
              </a:solidFill>
              <a:miter lim="800000"/>
              <a:headEnd/>
              <a:tailEnd/>
            </a:ln>
            <a:effectLst>
              <a:outerShdw dist="35921" dir="2700000" algn="ctr" rotWithShape="0">
                <a:schemeClr val="bg2"/>
              </a:outerShdw>
            </a:effectLst>
          </p:spPr>
          <p:txBody>
            <a:bodyPr wrap="none" anchor="ctr"/>
            <a:lstStyle/>
            <a:p>
              <a:pPr>
                <a:defRPr/>
              </a:pPr>
              <a:r>
                <a:rPr lang="zh-CN" altLang="en-US" sz="1600" b="1">
                  <a:solidFill>
                    <a:schemeClr val="tx2"/>
                  </a:solidFill>
                  <a:latin typeface="楷体_GB2312" pitchFamily="49" charset="-122"/>
                  <a:ea typeface="楷体_GB2312" pitchFamily="49" charset="-122"/>
                </a:rPr>
                <a:t>拒绝</a:t>
              </a:r>
            </a:p>
          </p:txBody>
        </p:sp>
        <p:sp>
          <p:nvSpPr>
            <p:cNvPr id="54" name="AutoShape 53"/>
            <p:cNvSpPr>
              <a:spLocks noChangeArrowheads="1"/>
            </p:cNvSpPr>
            <p:nvPr/>
          </p:nvSpPr>
          <p:spPr bwMode="auto">
            <a:xfrm>
              <a:off x="2483683" y="3126680"/>
              <a:ext cx="648255" cy="296755"/>
            </a:xfrm>
            <a:prstGeom prst="flowChartProcess">
              <a:avLst/>
            </a:prstGeom>
            <a:gradFill rotWithShape="1">
              <a:gsLst>
                <a:gs pos="0">
                  <a:srgbClr val="0066FF">
                    <a:alpha val="50000"/>
                  </a:srgbClr>
                </a:gs>
                <a:gs pos="100000">
                  <a:schemeClr val="bg1"/>
                </a:gs>
              </a:gsLst>
              <a:lin ang="5400000" scaled="1"/>
            </a:gradFill>
            <a:ln w="25400" algn="ctr">
              <a:solidFill>
                <a:srgbClr val="0066FF">
                  <a:alpha val="50000"/>
                </a:srgbClr>
              </a:solidFill>
              <a:miter lim="800000"/>
              <a:headEnd/>
              <a:tailEnd/>
            </a:ln>
            <a:effectLst>
              <a:outerShdw dist="35921" dir="2700000" algn="ctr" rotWithShape="0">
                <a:schemeClr val="bg2"/>
              </a:outerShdw>
            </a:effectLst>
          </p:spPr>
          <p:txBody>
            <a:bodyPr wrap="none" anchor="ctr"/>
            <a:lstStyle/>
            <a:p>
              <a:pPr>
                <a:defRPr/>
              </a:pPr>
              <a:r>
                <a:rPr lang="zh-CN" altLang="en-US" sz="1600" b="1">
                  <a:solidFill>
                    <a:schemeClr val="tx2"/>
                  </a:solidFill>
                  <a:latin typeface="楷体_GB2312" pitchFamily="49" charset="-122"/>
                  <a:ea typeface="楷体_GB2312" pitchFamily="49" charset="-122"/>
                </a:rPr>
                <a:t>拒绝</a:t>
              </a:r>
            </a:p>
          </p:txBody>
        </p:sp>
        <p:sp>
          <p:nvSpPr>
            <p:cNvPr id="23607" name="AutoShape 3"/>
            <p:cNvSpPr>
              <a:spLocks noChangeArrowheads="1"/>
            </p:cNvSpPr>
            <p:nvPr/>
          </p:nvSpPr>
          <p:spPr bwMode="auto">
            <a:xfrm>
              <a:off x="3779838" y="4664075"/>
              <a:ext cx="1203325" cy="855663"/>
            </a:xfrm>
            <a:prstGeom prst="flowChartDecision">
              <a:avLst/>
            </a:prstGeom>
            <a:gradFill rotWithShape="1">
              <a:gsLst>
                <a:gs pos="0">
                  <a:srgbClr val="0066FF">
                    <a:alpha val="50000"/>
                  </a:srgbClr>
                </a:gs>
                <a:gs pos="100000">
                  <a:schemeClr val="bg1"/>
                </a:gs>
              </a:gsLst>
              <a:lin ang="5400000" scaled="1"/>
            </a:gradFill>
            <a:ln w="25400" algn="ctr">
              <a:solidFill>
                <a:srgbClr val="0066FF">
                  <a:alpha val="50195"/>
                </a:srgbClr>
              </a:solidFill>
              <a:miter lim="800000"/>
              <a:headEnd/>
              <a:tailEnd/>
            </a:ln>
          </p:spPr>
          <p:txBody>
            <a:bodyPr wrap="none" anchor="ctr"/>
            <a:lstStyle/>
            <a:p>
              <a:pPr algn="ctr"/>
              <a:r>
                <a:rPr lang="zh-CN" altLang="en-US" sz="1600" b="1">
                  <a:solidFill>
                    <a:schemeClr val="tx2"/>
                  </a:solidFill>
                  <a:latin typeface="楷体_GB2312" pitchFamily="49" charset="-122"/>
                  <a:ea typeface="楷体_GB2312" pitchFamily="49" charset="-122"/>
                </a:rPr>
                <a:t>匹配</a:t>
              </a:r>
            </a:p>
            <a:p>
              <a:pPr algn="ctr"/>
              <a:r>
                <a:rPr lang="zh-CN" altLang="en-US" sz="1600" b="1">
                  <a:solidFill>
                    <a:schemeClr val="tx2"/>
                  </a:solidFill>
                  <a:latin typeface="楷体_GB2312" pitchFamily="49" charset="-122"/>
                  <a:ea typeface="楷体_GB2312" pitchFamily="49" charset="-122"/>
                </a:rPr>
                <a:t>下一条</a:t>
              </a:r>
            </a:p>
          </p:txBody>
        </p:sp>
      </p:gr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内容占位符 1"/>
          <p:cNvSpPr>
            <a:spLocks noGrp="1"/>
          </p:cNvSpPr>
          <p:nvPr>
            <p:ph idx="1"/>
          </p:nvPr>
        </p:nvSpPr>
        <p:spPr>
          <a:xfrm>
            <a:off x="1738313" y="1143001"/>
            <a:ext cx="8501062" cy="1357313"/>
          </a:xfrm>
        </p:spPr>
        <p:txBody>
          <a:bodyPr>
            <a:normAutofit fontScale="32500" lnSpcReduction="20000"/>
          </a:bodyPr>
          <a:lstStyle/>
          <a:p>
            <a:pPr>
              <a:spcBef>
                <a:spcPts val="675"/>
              </a:spcBef>
            </a:pPr>
            <a:r>
              <a:rPr lang="zh-CN" altLang="en-US"/>
              <a:t>标准访问控制列表</a:t>
            </a:r>
          </a:p>
          <a:p>
            <a:pPr lvl="1">
              <a:spcBef>
                <a:spcPts val="475"/>
              </a:spcBef>
            </a:pPr>
            <a:r>
              <a:rPr lang="zh-CN" altLang="en-US"/>
              <a:t>基于源</a:t>
            </a:r>
            <a:r>
              <a:rPr lang="en-US" altLang="zh-CN"/>
              <a:t>IP</a:t>
            </a:r>
            <a:r>
              <a:rPr lang="zh-CN" altLang="en-US"/>
              <a:t>地址过滤数据包</a:t>
            </a:r>
            <a:endParaRPr lang="en-US" altLang="zh-CN"/>
          </a:p>
          <a:p>
            <a:pPr lvl="1">
              <a:spcBef>
                <a:spcPts val="475"/>
              </a:spcBef>
            </a:pPr>
            <a:r>
              <a:rPr lang="zh-CN" altLang="en-US"/>
              <a:t>标准访问控制列表的访问控制列表号是</a:t>
            </a:r>
            <a:r>
              <a:rPr lang="en-US" altLang="zh-CN"/>
              <a:t>1</a:t>
            </a:r>
            <a:r>
              <a:rPr lang="zh-CN" altLang="en-US"/>
              <a:t>～</a:t>
            </a:r>
            <a:r>
              <a:rPr lang="en-US" altLang="zh-CN"/>
              <a:t>99</a:t>
            </a:r>
            <a:endParaRPr lang="zh-CN" altLang="en-US"/>
          </a:p>
          <a:p>
            <a:pPr>
              <a:spcBef>
                <a:spcPts val="675"/>
              </a:spcBef>
            </a:pPr>
            <a:r>
              <a:rPr lang="zh-CN" altLang="en-US"/>
              <a:t>扩展访问控制列表</a:t>
            </a:r>
          </a:p>
          <a:p>
            <a:pPr lvl="1">
              <a:spcBef>
                <a:spcPts val="475"/>
              </a:spcBef>
            </a:pPr>
            <a:r>
              <a:rPr lang="zh-CN" altLang="en-US"/>
              <a:t>基于源</a:t>
            </a:r>
            <a:r>
              <a:rPr lang="en-US" altLang="zh-CN"/>
              <a:t>IP</a:t>
            </a:r>
            <a:r>
              <a:rPr lang="zh-CN" altLang="en-US"/>
              <a:t>地址、目的</a:t>
            </a:r>
            <a:r>
              <a:rPr lang="en-US" altLang="zh-CN"/>
              <a:t>IP</a:t>
            </a:r>
            <a:r>
              <a:rPr lang="zh-CN" altLang="en-US"/>
              <a:t>地址、指定协议、端口和标志来过滤数据包</a:t>
            </a:r>
            <a:endParaRPr lang="en-US" altLang="zh-CN"/>
          </a:p>
          <a:p>
            <a:pPr lvl="1">
              <a:spcBef>
                <a:spcPts val="475"/>
              </a:spcBef>
            </a:pPr>
            <a:r>
              <a:rPr lang="zh-CN" altLang="en-US"/>
              <a:t>扩展访问控制列表的访问控制列表号是</a:t>
            </a:r>
            <a:r>
              <a:rPr lang="en-US" altLang="zh-CN"/>
              <a:t>100</a:t>
            </a:r>
            <a:r>
              <a:rPr lang="zh-CN" altLang="en-US"/>
              <a:t>～</a:t>
            </a:r>
            <a:r>
              <a:rPr lang="en-US" altLang="zh-CN"/>
              <a:t>199</a:t>
            </a:r>
            <a:endParaRPr lang="zh-CN" altLang="en-US"/>
          </a:p>
          <a:p>
            <a:pPr>
              <a:spcBef>
                <a:spcPts val="675"/>
              </a:spcBef>
            </a:pPr>
            <a:r>
              <a:rPr lang="zh-CN" altLang="en-US"/>
              <a:t>命名访问控制列表</a:t>
            </a:r>
          </a:p>
          <a:p>
            <a:pPr lvl="1">
              <a:spcBef>
                <a:spcPts val="475"/>
              </a:spcBef>
            </a:pPr>
            <a:r>
              <a:rPr lang="zh-CN" altLang="en-US"/>
              <a:t>命名访问控制列表允许在标准和扩展访问控制列表中使用名称代替表号</a:t>
            </a:r>
          </a:p>
          <a:p>
            <a:pPr>
              <a:spcBef>
                <a:spcPts val="675"/>
              </a:spcBef>
            </a:pPr>
            <a:endParaRPr lang="zh-CN" altLang="en-US"/>
          </a:p>
        </p:txBody>
      </p:sp>
      <p:sp>
        <p:nvSpPr>
          <p:cNvPr id="24579" name="标题 2"/>
          <p:cNvSpPr>
            <a:spLocks noGrp="1"/>
          </p:cNvSpPr>
          <p:nvPr>
            <p:ph type="title"/>
          </p:nvPr>
        </p:nvSpPr>
        <p:spPr/>
        <p:txBody>
          <a:bodyPr/>
          <a:lstStyle/>
          <a:p>
            <a:r>
              <a:rPr lang="zh-CN" altLang="en-US"/>
              <a:t>访问控制列表的类型</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nodeType="clickEffect">
                                  <p:stCondLst>
                                    <p:cond delay="0"/>
                                  </p:stCondLst>
                                  <p:childTnLst>
                                    <p:set>
                                      <p:cBhvr>
                                        <p:cTn id="6" dur="1" fill="hold">
                                          <p:stCondLst>
                                            <p:cond delay="0"/>
                                          </p:stCondLst>
                                        </p:cTn>
                                        <p:tgtEl>
                                          <p:spTgt spid="24578">
                                            <p:txEl>
                                              <p:pRg st="1" end="1"/>
                                            </p:txEl>
                                          </p:spTgt>
                                        </p:tgtEl>
                                        <p:attrNameLst>
                                          <p:attrName>style.visibility</p:attrName>
                                        </p:attrNameLst>
                                      </p:cBhvr>
                                      <p:to>
                                        <p:strVal val="visible"/>
                                      </p:to>
                                    </p:set>
                                    <p:anim calcmode="lin" valueType="num">
                                      <p:cBhvr>
                                        <p:cTn id="7" dur="1000" fill="hold"/>
                                        <p:tgtEl>
                                          <p:spTgt spid="24578">
                                            <p:txEl>
                                              <p:pRg st="1" end="1"/>
                                            </p:txEl>
                                          </p:spTgt>
                                        </p:tgtEl>
                                        <p:attrNameLst>
                                          <p:attrName>ppt_x</p:attrName>
                                        </p:attrNameLst>
                                      </p:cBhvr>
                                      <p:tavLst>
                                        <p:tav tm="0">
                                          <p:val>
                                            <p:strVal val="#ppt_x-.2"/>
                                          </p:val>
                                        </p:tav>
                                        <p:tav tm="100000">
                                          <p:val>
                                            <p:strVal val="#ppt_x"/>
                                          </p:val>
                                        </p:tav>
                                      </p:tavLst>
                                    </p:anim>
                                    <p:anim calcmode="lin" valueType="num">
                                      <p:cBhvr>
                                        <p:cTn id="8" dur="1000" fill="hold"/>
                                        <p:tgtEl>
                                          <p:spTgt spid="24578">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24578">
                                            <p:txEl>
                                              <p:pRg st="1" end="1"/>
                                            </p:txEl>
                                          </p:spTgt>
                                        </p:tgtEl>
                                      </p:cBhvr>
                                    </p:animEffect>
                                  </p:childTnLst>
                                </p:cTn>
                              </p:par>
                              <p:par>
                                <p:cTn id="10" presetID="29" presetClass="entr" presetSubtype="0" fill="hold" nodeType="withEffect">
                                  <p:stCondLst>
                                    <p:cond delay="0"/>
                                  </p:stCondLst>
                                  <p:childTnLst>
                                    <p:set>
                                      <p:cBhvr>
                                        <p:cTn id="11" dur="1" fill="hold">
                                          <p:stCondLst>
                                            <p:cond delay="0"/>
                                          </p:stCondLst>
                                        </p:cTn>
                                        <p:tgtEl>
                                          <p:spTgt spid="24578">
                                            <p:txEl>
                                              <p:pRg st="2" end="2"/>
                                            </p:txEl>
                                          </p:spTgt>
                                        </p:tgtEl>
                                        <p:attrNameLst>
                                          <p:attrName>style.visibility</p:attrName>
                                        </p:attrNameLst>
                                      </p:cBhvr>
                                      <p:to>
                                        <p:strVal val="visible"/>
                                      </p:to>
                                    </p:set>
                                    <p:anim calcmode="lin" valueType="num">
                                      <p:cBhvr>
                                        <p:cTn id="12" dur="1000" fill="hold"/>
                                        <p:tgtEl>
                                          <p:spTgt spid="24578">
                                            <p:txEl>
                                              <p:pRg st="2" end="2"/>
                                            </p:txEl>
                                          </p:spTgt>
                                        </p:tgtEl>
                                        <p:attrNameLst>
                                          <p:attrName>ppt_x</p:attrName>
                                        </p:attrNameLst>
                                      </p:cBhvr>
                                      <p:tavLst>
                                        <p:tav tm="0">
                                          <p:val>
                                            <p:strVal val="#ppt_x-.2"/>
                                          </p:val>
                                        </p:tav>
                                        <p:tav tm="100000">
                                          <p:val>
                                            <p:strVal val="#ppt_x"/>
                                          </p:val>
                                        </p:tav>
                                      </p:tavLst>
                                    </p:anim>
                                    <p:anim calcmode="lin" valueType="num">
                                      <p:cBhvr>
                                        <p:cTn id="13" dur="1000" fill="hold"/>
                                        <p:tgtEl>
                                          <p:spTgt spid="24578">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14" dur="1000"/>
                                        <p:tgtEl>
                                          <p:spTgt spid="24578">
                                            <p:txEl>
                                              <p:pRg st="2" end="2"/>
                                            </p:txEl>
                                          </p:spTgt>
                                        </p:tgtEl>
                                      </p:cBhvr>
                                    </p:animEffect>
                                  </p:childTnLst>
                                </p:cTn>
                              </p:par>
                              <p:par>
                                <p:cTn id="15" presetID="29" presetClass="entr" presetSubtype="0" fill="hold" nodeType="withEffect">
                                  <p:stCondLst>
                                    <p:cond delay="0"/>
                                  </p:stCondLst>
                                  <p:childTnLst>
                                    <p:set>
                                      <p:cBhvr>
                                        <p:cTn id="16" dur="1" fill="hold">
                                          <p:stCondLst>
                                            <p:cond delay="0"/>
                                          </p:stCondLst>
                                        </p:cTn>
                                        <p:tgtEl>
                                          <p:spTgt spid="24578">
                                            <p:txEl>
                                              <p:pRg st="4" end="4"/>
                                            </p:txEl>
                                          </p:spTgt>
                                        </p:tgtEl>
                                        <p:attrNameLst>
                                          <p:attrName>style.visibility</p:attrName>
                                        </p:attrNameLst>
                                      </p:cBhvr>
                                      <p:to>
                                        <p:strVal val="visible"/>
                                      </p:to>
                                    </p:set>
                                    <p:anim calcmode="lin" valueType="num">
                                      <p:cBhvr>
                                        <p:cTn id="17" dur="1000" fill="hold"/>
                                        <p:tgtEl>
                                          <p:spTgt spid="24578">
                                            <p:txEl>
                                              <p:pRg st="4" end="4"/>
                                            </p:txEl>
                                          </p:spTgt>
                                        </p:tgtEl>
                                        <p:attrNameLst>
                                          <p:attrName>ppt_x</p:attrName>
                                        </p:attrNameLst>
                                      </p:cBhvr>
                                      <p:tavLst>
                                        <p:tav tm="0">
                                          <p:val>
                                            <p:strVal val="#ppt_x-.2"/>
                                          </p:val>
                                        </p:tav>
                                        <p:tav tm="100000">
                                          <p:val>
                                            <p:strVal val="#ppt_x"/>
                                          </p:val>
                                        </p:tav>
                                      </p:tavLst>
                                    </p:anim>
                                    <p:anim calcmode="lin" valueType="num">
                                      <p:cBhvr>
                                        <p:cTn id="18" dur="1000" fill="hold"/>
                                        <p:tgtEl>
                                          <p:spTgt spid="24578">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19" dur="1000"/>
                                        <p:tgtEl>
                                          <p:spTgt spid="24578">
                                            <p:txEl>
                                              <p:pRg st="4" end="4"/>
                                            </p:txEl>
                                          </p:spTgt>
                                        </p:tgtEl>
                                      </p:cBhvr>
                                    </p:animEffect>
                                  </p:childTnLst>
                                </p:cTn>
                              </p:par>
                              <p:par>
                                <p:cTn id="20" presetID="29" presetClass="entr" presetSubtype="0" fill="hold" nodeType="withEffect">
                                  <p:stCondLst>
                                    <p:cond delay="0"/>
                                  </p:stCondLst>
                                  <p:childTnLst>
                                    <p:set>
                                      <p:cBhvr>
                                        <p:cTn id="21" dur="1" fill="hold">
                                          <p:stCondLst>
                                            <p:cond delay="0"/>
                                          </p:stCondLst>
                                        </p:cTn>
                                        <p:tgtEl>
                                          <p:spTgt spid="24578">
                                            <p:txEl>
                                              <p:pRg st="5" end="5"/>
                                            </p:txEl>
                                          </p:spTgt>
                                        </p:tgtEl>
                                        <p:attrNameLst>
                                          <p:attrName>style.visibility</p:attrName>
                                        </p:attrNameLst>
                                      </p:cBhvr>
                                      <p:to>
                                        <p:strVal val="visible"/>
                                      </p:to>
                                    </p:set>
                                    <p:anim calcmode="lin" valueType="num">
                                      <p:cBhvr>
                                        <p:cTn id="22" dur="1000" fill="hold"/>
                                        <p:tgtEl>
                                          <p:spTgt spid="24578">
                                            <p:txEl>
                                              <p:pRg st="5" end="5"/>
                                            </p:txEl>
                                          </p:spTgt>
                                        </p:tgtEl>
                                        <p:attrNameLst>
                                          <p:attrName>ppt_x</p:attrName>
                                        </p:attrNameLst>
                                      </p:cBhvr>
                                      <p:tavLst>
                                        <p:tav tm="0">
                                          <p:val>
                                            <p:strVal val="#ppt_x-.2"/>
                                          </p:val>
                                        </p:tav>
                                        <p:tav tm="100000">
                                          <p:val>
                                            <p:strVal val="#ppt_x"/>
                                          </p:val>
                                        </p:tav>
                                      </p:tavLst>
                                    </p:anim>
                                    <p:anim calcmode="lin" valueType="num">
                                      <p:cBhvr>
                                        <p:cTn id="23" dur="1000" fill="hold"/>
                                        <p:tgtEl>
                                          <p:spTgt spid="24578">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24" dur="1000"/>
                                        <p:tgtEl>
                                          <p:spTgt spid="24578">
                                            <p:txEl>
                                              <p:pRg st="5" end="5"/>
                                            </p:txEl>
                                          </p:spTgt>
                                        </p:tgtEl>
                                      </p:cBhvr>
                                    </p:animEffect>
                                  </p:childTnLst>
                                </p:cTn>
                              </p:par>
                              <p:par>
                                <p:cTn id="25" presetID="29" presetClass="entr" presetSubtype="0" fill="hold" nodeType="withEffect">
                                  <p:stCondLst>
                                    <p:cond delay="0"/>
                                  </p:stCondLst>
                                  <p:childTnLst>
                                    <p:set>
                                      <p:cBhvr>
                                        <p:cTn id="26" dur="1" fill="hold">
                                          <p:stCondLst>
                                            <p:cond delay="0"/>
                                          </p:stCondLst>
                                        </p:cTn>
                                        <p:tgtEl>
                                          <p:spTgt spid="24578">
                                            <p:txEl>
                                              <p:pRg st="7" end="7"/>
                                            </p:txEl>
                                          </p:spTgt>
                                        </p:tgtEl>
                                        <p:attrNameLst>
                                          <p:attrName>style.visibility</p:attrName>
                                        </p:attrNameLst>
                                      </p:cBhvr>
                                      <p:to>
                                        <p:strVal val="visible"/>
                                      </p:to>
                                    </p:set>
                                    <p:anim calcmode="lin" valueType="num">
                                      <p:cBhvr>
                                        <p:cTn id="27" dur="1000" fill="hold"/>
                                        <p:tgtEl>
                                          <p:spTgt spid="24578">
                                            <p:txEl>
                                              <p:pRg st="7" end="7"/>
                                            </p:txEl>
                                          </p:spTgt>
                                        </p:tgtEl>
                                        <p:attrNameLst>
                                          <p:attrName>ppt_x</p:attrName>
                                        </p:attrNameLst>
                                      </p:cBhvr>
                                      <p:tavLst>
                                        <p:tav tm="0">
                                          <p:val>
                                            <p:strVal val="#ppt_x-.2"/>
                                          </p:val>
                                        </p:tav>
                                        <p:tav tm="100000">
                                          <p:val>
                                            <p:strVal val="#ppt_x"/>
                                          </p:val>
                                        </p:tav>
                                      </p:tavLst>
                                    </p:anim>
                                    <p:anim calcmode="lin" valueType="num">
                                      <p:cBhvr>
                                        <p:cTn id="28" dur="1000" fill="hold"/>
                                        <p:tgtEl>
                                          <p:spTgt spid="24578">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29" dur="1000"/>
                                        <p:tgtEl>
                                          <p:spTgt spid="2457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AutoShape 8"/>
          <p:cNvSpPr>
            <a:spLocks noChangeArrowheads="1"/>
          </p:cNvSpPr>
          <p:nvPr/>
        </p:nvSpPr>
        <p:spPr bwMode="auto">
          <a:xfrm>
            <a:off x="1925621" y="3958535"/>
            <a:ext cx="7886700" cy="500063"/>
          </a:xfrm>
          <a:prstGeom prst="roundRect">
            <a:avLst>
              <a:gd name="adj" fmla="val 5477"/>
            </a:avLst>
          </a:prstGeom>
          <a:gradFill rotWithShape="1">
            <a:gsLst>
              <a:gs pos="0">
                <a:srgbClr val="CCFFFF"/>
              </a:gs>
              <a:gs pos="100000">
                <a:schemeClr val="bg1"/>
              </a:gs>
            </a:gsLst>
            <a:lin ang="5400000" scaled="1"/>
          </a:gradFill>
          <a:ln w="9525" algn="ctr">
            <a:solidFill>
              <a:srgbClr val="006666"/>
            </a:solidFill>
            <a:round/>
            <a:headEnd/>
            <a:tailEnd/>
          </a:ln>
        </p:spPr>
        <p:txBody>
          <a:bodyPr/>
          <a:lstStyle/>
          <a:p>
            <a:pPr algn="ctr"/>
            <a:endParaRPr lang="zh-CN" altLang="zh-CN"/>
          </a:p>
        </p:txBody>
      </p:sp>
      <p:sp>
        <p:nvSpPr>
          <p:cNvPr id="25603" name="AutoShape 8"/>
          <p:cNvSpPr>
            <a:spLocks noChangeArrowheads="1"/>
          </p:cNvSpPr>
          <p:nvPr/>
        </p:nvSpPr>
        <p:spPr bwMode="auto">
          <a:xfrm>
            <a:off x="2066925" y="1690689"/>
            <a:ext cx="7886700" cy="828675"/>
          </a:xfrm>
          <a:prstGeom prst="roundRect">
            <a:avLst>
              <a:gd name="adj" fmla="val 5477"/>
            </a:avLst>
          </a:prstGeom>
          <a:gradFill rotWithShape="1">
            <a:gsLst>
              <a:gs pos="0">
                <a:srgbClr val="CCFFFF"/>
              </a:gs>
              <a:gs pos="100000">
                <a:schemeClr val="bg1"/>
              </a:gs>
            </a:gsLst>
            <a:lin ang="5400000" scaled="1"/>
          </a:gradFill>
          <a:ln w="9525" algn="ctr">
            <a:solidFill>
              <a:srgbClr val="006666"/>
            </a:solidFill>
            <a:round/>
            <a:headEnd/>
            <a:tailEnd/>
          </a:ln>
        </p:spPr>
        <p:txBody>
          <a:bodyPr/>
          <a:lstStyle/>
          <a:p>
            <a:pPr algn="ctr"/>
            <a:endParaRPr lang="zh-CN" altLang="zh-CN"/>
          </a:p>
        </p:txBody>
      </p:sp>
      <p:sp>
        <p:nvSpPr>
          <p:cNvPr id="25604" name="内容占位符 1"/>
          <p:cNvSpPr>
            <a:spLocks noGrp="1"/>
          </p:cNvSpPr>
          <p:nvPr>
            <p:ph idx="1"/>
          </p:nvPr>
        </p:nvSpPr>
        <p:spPr>
          <a:xfrm>
            <a:off x="1925621" y="1386533"/>
            <a:ext cx="8501062" cy="3056738"/>
          </a:xfrm>
        </p:spPr>
        <p:txBody>
          <a:bodyPr>
            <a:normAutofit fontScale="92500" lnSpcReduction="10000"/>
          </a:bodyPr>
          <a:lstStyle/>
          <a:p>
            <a:pPr>
              <a:spcBef>
                <a:spcPts val="675"/>
              </a:spcBef>
            </a:pPr>
            <a:r>
              <a:rPr lang="zh-CN" altLang="en-US" dirty="0"/>
              <a:t>创建</a:t>
            </a:r>
            <a:r>
              <a:rPr lang="en-US" altLang="zh-CN" dirty="0"/>
              <a:t>ACL</a:t>
            </a:r>
          </a:p>
          <a:p>
            <a:pPr lvl="1">
              <a:spcBef>
                <a:spcPts val="475"/>
              </a:spcBef>
              <a:buNone/>
            </a:pPr>
            <a:r>
              <a:rPr lang="en-US" altLang="zh-CN" dirty="0"/>
              <a:t>    Router</a:t>
            </a:r>
            <a:r>
              <a:rPr lang="en-GB" altLang="zh-CN" dirty="0"/>
              <a:t>(config)</a:t>
            </a:r>
            <a:r>
              <a:rPr lang="en-US" altLang="zh-CN" dirty="0"/>
              <a:t>#access-list </a:t>
            </a:r>
            <a:r>
              <a:rPr lang="en-US" altLang="zh-CN" i="1" dirty="0"/>
              <a:t>access-list-number</a:t>
            </a:r>
            <a:r>
              <a:rPr lang="en-US" altLang="zh-CN" dirty="0"/>
              <a:t>          </a:t>
            </a:r>
          </a:p>
          <a:p>
            <a:pPr lvl="1">
              <a:spcBef>
                <a:spcPts val="475"/>
              </a:spcBef>
              <a:buNone/>
            </a:pPr>
            <a:r>
              <a:rPr lang="en-US" altLang="zh-CN" dirty="0"/>
              <a:t>     { permit | deny } </a:t>
            </a:r>
            <a:r>
              <a:rPr lang="en-US" altLang="zh-CN" i="1" dirty="0"/>
              <a:t>source </a:t>
            </a:r>
            <a:r>
              <a:rPr lang="en-US" altLang="zh-CN" dirty="0"/>
              <a:t>[ </a:t>
            </a:r>
            <a:r>
              <a:rPr lang="en-US" altLang="zh-CN" i="1" dirty="0"/>
              <a:t>source-wildcard</a:t>
            </a:r>
            <a:r>
              <a:rPr lang="en-US" altLang="zh-CN" dirty="0"/>
              <a:t> ]</a:t>
            </a:r>
          </a:p>
          <a:p>
            <a:pPr>
              <a:spcBef>
                <a:spcPts val="675"/>
              </a:spcBef>
            </a:pPr>
            <a:endParaRPr lang="en-US" altLang="zh-CN" dirty="0"/>
          </a:p>
          <a:p>
            <a:pPr>
              <a:spcBef>
                <a:spcPts val="675"/>
              </a:spcBef>
            </a:pPr>
            <a:endParaRPr lang="en-US" altLang="zh-CN" dirty="0"/>
          </a:p>
          <a:p>
            <a:pPr>
              <a:spcBef>
                <a:spcPts val="675"/>
              </a:spcBef>
            </a:pPr>
            <a:endParaRPr lang="en-US" altLang="zh-CN" dirty="0"/>
          </a:p>
          <a:p>
            <a:pPr>
              <a:spcBef>
                <a:spcPts val="675"/>
              </a:spcBef>
            </a:pPr>
            <a:r>
              <a:rPr lang="zh-CN" altLang="en-US" dirty="0"/>
              <a:t>删除</a:t>
            </a:r>
            <a:r>
              <a:rPr lang="en-US" altLang="zh-CN" dirty="0"/>
              <a:t>ACL</a:t>
            </a:r>
          </a:p>
          <a:p>
            <a:pPr lvl="1">
              <a:spcBef>
                <a:spcPts val="475"/>
              </a:spcBef>
              <a:buNone/>
            </a:pPr>
            <a:r>
              <a:rPr lang="en-US" altLang="zh-CN" dirty="0"/>
              <a:t>    Router(config)# no access-list </a:t>
            </a:r>
            <a:r>
              <a:rPr lang="en-US" altLang="zh-CN" i="1" dirty="0"/>
              <a:t>access-list-number</a:t>
            </a:r>
          </a:p>
          <a:p>
            <a:pPr>
              <a:spcBef>
                <a:spcPts val="675"/>
              </a:spcBef>
            </a:pPr>
            <a:endParaRPr lang="zh-CN" altLang="en-US" dirty="0"/>
          </a:p>
        </p:txBody>
      </p:sp>
      <p:sp>
        <p:nvSpPr>
          <p:cNvPr id="25605" name="标题 2"/>
          <p:cNvSpPr>
            <a:spLocks noGrp="1"/>
          </p:cNvSpPr>
          <p:nvPr>
            <p:ph type="title"/>
          </p:nvPr>
        </p:nvSpPr>
        <p:spPr/>
        <p:txBody>
          <a:bodyPr/>
          <a:lstStyle/>
          <a:p>
            <a:r>
              <a:rPr lang="zh-CN"/>
              <a:t>标准访问控制列表的配置</a:t>
            </a:r>
            <a:r>
              <a:rPr lang="en-US" altLang="zh-CN"/>
              <a:t>3-1</a:t>
            </a:r>
            <a:endParaRPr lang="zh-CN" altLang="en-US"/>
          </a:p>
        </p:txBody>
      </p:sp>
      <p:sp>
        <p:nvSpPr>
          <p:cNvPr id="25606" name="Line 4"/>
          <p:cNvSpPr>
            <a:spLocks noChangeShapeType="1"/>
          </p:cNvSpPr>
          <p:nvPr/>
        </p:nvSpPr>
        <p:spPr bwMode="auto">
          <a:xfrm>
            <a:off x="2801938" y="2459038"/>
            <a:ext cx="1008062" cy="0"/>
          </a:xfrm>
          <a:prstGeom prst="line">
            <a:avLst/>
          </a:prstGeom>
          <a:noFill/>
          <a:ln w="38100">
            <a:solidFill>
              <a:srgbClr val="FF6600"/>
            </a:solidFill>
            <a:round/>
            <a:headEnd/>
            <a:tailEnd/>
          </a:ln>
        </p:spPr>
        <p:txBody>
          <a:bodyPr/>
          <a:lstStyle/>
          <a:p>
            <a:endParaRPr lang="zh-CN" altLang="en-US"/>
          </a:p>
        </p:txBody>
      </p:sp>
      <p:sp>
        <p:nvSpPr>
          <p:cNvPr id="25607" name="Text Box 5"/>
          <p:cNvSpPr txBox="1">
            <a:spLocks noChangeArrowheads="1"/>
          </p:cNvSpPr>
          <p:nvPr/>
        </p:nvSpPr>
        <p:spPr bwMode="auto">
          <a:xfrm>
            <a:off x="1362067" y="3126236"/>
            <a:ext cx="2373313" cy="387350"/>
          </a:xfrm>
          <a:prstGeom prst="rect">
            <a:avLst/>
          </a:prstGeom>
          <a:noFill/>
          <a:ln w="9525" algn="ctr">
            <a:noFill/>
            <a:miter lim="800000"/>
            <a:headEnd/>
            <a:tailEnd/>
          </a:ln>
        </p:spPr>
        <p:txBody>
          <a:bodyPr>
            <a:spAutoFit/>
          </a:bodyPr>
          <a:lstStyle/>
          <a:p>
            <a:pPr>
              <a:lnSpc>
                <a:spcPct val="80000"/>
              </a:lnSpc>
              <a:spcBef>
                <a:spcPct val="50000"/>
              </a:spcBef>
            </a:pPr>
            <a:r>
              <a:rPr lang="zh-CN" altLang="en-US" sz="2400" b="1" dirty="0">
                <a:solidFill>
                  <a:schemeClr val="tx2"/>
                </a:solidFill>
                <a:ea typeface="楷体_GB2312" pitchFamily="49" charset="-122"/>
              </a:rPr>
              <a:t>允许数据包通过</a:t>
            </a:r>
          </a:p>
        </p:txBody>
      </p:sp>
      <p:sp>
        <p:nvSpPr>
          <p:cNvPr id="25608" name="Text Box 6"/>
          <p:cNvSpPr txBox="1">
            <a:spLocks noChangeArrowheads="1"/>
          </p:cNvSpPr>
          <p:nvPr/>
        </p:nvSpPr>
        <p:spPr bwMode="auto">
          <a:xfrm>
            <a:off x="3810000" y="3129411"/>
            <a:ext cx="2520950" cy="384175"/>
          </a:xfrm>
          <a:prstGeom prst="rect">
            <a:avLst/>
          </a:prstGeom>
          <a:noFill/>
          <a:ln w="9525" algn="ctr">
            <a:noFill/>
            <a:miter lim="800000"/>
            <a:headEnd/>
            <a:tailEnd/>
          </a:ln>
        </p:spPr>
        <p:txBody>
          <a:bodyPr>
            <a:spAutoFit/>
          </a:bodyPr>
          <a:lstStyle/>
          <a:p>
            <a:pPr>
              <a:lnSpc>
                <a:spcPct val="80000"/>
              </a:lnSpc>
              <a:spcBef>
                <a:spcPct val="50000"/>
              </a:spcBef>
            </a:pPr>
            <a:r>
              <a:rPr lang="zh-CN" altLang="en-US" sz="2400" b="1" dirty="0">
                <a:solidFill>
                  <a:schemeClr val="tx2"/>
                </a:solidFill>
                <a:ea typeface="楷体_GB2312" pitchFamily="49" charset="-122"/>
              </a:rPr>
              <a:t>拒绝数据包通过</a:t>
            </a:r>
          </a:p>
        </p:txBody>
      </p:sp>
      <p:sp>
        <p:nvSpPr>
          <p:cNvPr id="25609" name="Line 7"/>
          <p:cNvSpPr>
            <a:spLocks noChangeShapeType="1"/>
          </p:cNvSpPr>
          <p:nvPr/>
        </p:nvSpPr>
        <p:spPr bwMode="auto">
          <a:xfrm>
            <a:off x="4095750" y="2459038"/>
            <a:ext cx="704850" cy="0"/>
          </a:xfrm>
          <a:prstGeom prst="line">
            <a:avLst/>
          </a:prstGeom>
          <a:noFill/>
          <a:ln w="38100">
            <a:solidFill>
              <a:srgbClr val="FF6600"/>
            </a:solidFill>
            <a:round/>
            <a:headEnd/>
            <a:tailEnd/>
          </a:ln>
        </p:spPr>
        <p:txBody>
          <a:bodyPr/>
          <a:lstStyle/>
          <a:p>
            <a:endParaRPr lang="zh-CN" altLang="en-US"/>
          </a:p>
        </p:txBody>
      </p:sp>
      <p:sp>
        <p:nvSpPr>
          <p:cNvPr id="25610" name="Line 8"/>
          <p:cNvSpPr>
            <a:spLocks noChangeShapeType="1"/>
          </p:cNvSpPr>
          <p:nvPr/>
        </p:nvSpPr>
        <p:spPr bwMode="auto">
          <a:xfrm>
            <a:off x="3309938" y="2459038"/>
            <a:ext cx="0" cy="609600"/>
          </a:xfrm>
          <a:prstGeom prst="line">
            <a:avLst/>
          </a:prstGeom>
          <a:noFill/>
          <a:ln w="38100">
            <a:solidFill>
              <a:srgbClr val="FF6600"/>
            </a:solidFill>
            <a:round/>
            <a:headEnd/>
            <a:tailEnd/>
          </a:ln>
        </p:spPr>
        <p:txBody>
          <a:bodyPr/>
          <a:lstStyle/>
          <a:p>
            <a:endParaRPr lang="zh-CN" altLang="en-US"/>
          </a:p>
        </p:txBody>
      </p:sp>
      <p:sp>
        <p:nvSpPr>
          <p:cNvPr id="25611" name="Line 9"/>
          <p:cNvSpPr>
            <a:spLocks noChangeShapeType="1"/>
          </p:cNvSpPr>
          <p:nvPr/>
        </p:nvSpPr>
        <p:spPr bwMode="auto">
          <a:xfrm>
            <a:off x="4448175" y="2519364"/>
            <a:ext cx="0" cy="647700"/>
          </a:xfrm>
          <a:prstGeom prst="line">
            <a:avLst/>
          </a:prstGeom>
          <a:noFill/>
          <a:ln w="38100">
            <a:solidFill>
              <a:srgbClr val="FF6600"/>
            </a:solidFill>
            <a:round/>
            <a:headEnd/>
            <a:tailEnd/>
          </a:ln>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AutoShape 8"/>
          <p:cNvSpPr>
            <a:spLocks noChangeArrowheads="1"/>
          </p:cNvSpPr>
          <p:nvPr/>
        </p:nvSpPr>
        <p:spPr bwMode="auto">
          <a:xfrm>
            <a:off x="2024063" y="3783013"/>
            <a:ext cx="7886700" cy="431800"/>
          </a:xfrm>
          <a:prstGeom prst="roundRect">
            <a:avLst>
              <a:gd name="adj" fmla="val 5477"/>
            </a:avLst>
          </a:prstGeom>
          <a:gradFill rotWithShape="1">
            <a:gsLst>
              <a:gs pos="0">
                <a:srgbClr val="CCFFFF"/>
              </a:gs>
              <a:gs pos="100000">
                <a:schemeClr val="bg1"/>
              </a:gs>
            </a:gsLst>
            <a:lin ang="5400000" scaled="1"/>
          </a:gradFill>
          <a:ln w="9525" algn="ctr">
            <a:solidFill>
              <a:srgbClr val="006666"/>
            </a:solidFill>
            <a:round/>
            <a:headEnd/>
            <a:tailEnd/>
          </a:ln>
        </p:spPr>
        <p:txBody>
          <a:bodyPr/>
          <a:lstStyle/>
          <a:p>
            <a:pPr algn="ctr"/>
            <a:endParaRPr lang="zh-CN" altLang="zh-CN"/>
          </a:p>
        </p:txBody>
      </p:sp>
      <p:sp>
        <p:nvSpPr>
          <p:cNvPr id="26627" name="AutoShape 8"/>
          <p:cNvSpPr>
            <a:spLocks noChangeArrowheads="1"/>
          </p:cNvSpPr>
          <p:nvPr/>
        </p:nvSpPr>
        <p:spPr bwMode="auto">
          <a:xfrm>
            <a:off x="2066925" y="1643064"/>
            <a:ext cx="7886700" cy="828675"/>
          </a:xfrm>
          <a:prstGeom prst="roundRect">
            <a:avLst>
              <a:gd name="adj" fmla="val 5477"/>
            </a:avLst>
          </a:prstGeom>
          <a:gradFill rotWithShape="1">
            <a:gsLst>
              <a:gs pos="0">
                <a:srgbClr val="CCFFFF"/>
              </a:gs>
              <a:gs pos="100000">
                <a:schemeClr val="bg1"/>
              </a:gs>
            </a:gsLst>
            <a:lin ang="5400000" scaled="1"/>
          </a:gradFill>
          <a:ln w="9525" algn="ctr">
            <a:solidFill>
              <a:srgbClr val="006666"/>
            </a:solidFill>
            <a:round/>
            <a:headEnd/>
            <a:tailEnd/>
          </a:ln>
        </p:spPr>
        <p:txBody>
          <a:bodyPr/>
          <a:lstStyle/>
          <a:p>
            <a:pPr algn="ctr"/>
            <a:endParaRPr lang="zh-CN" altLang="zh-CN"/>
          </a:p>
        </p:txBody>
      </p:sp>
      <p:sp>
        <p:nvSpPr>
          <p:cNvPr id="26628" name="内容占位符 1"/>
          <p:cNvSpPr>
            <a:spLocks noGrp="1"/>
          </p:cNvSpPr>
          <p:nvPr>
            <p:ph idx="1"/>
          </p:nvPr>
        </p:nvSpPr>
        <p:spPr>
          <a:xfrm>
            <a:off x="1738313" y="1143000"/>
            <a:ext cx="8501062" cy="5143500"/>
          </a:xfrm>
        </p:spPr>
        <p:txBody>
          <a:bodyPr/>
          <a:lstStyle/>
          <a:p>
            <a:pPr>
              <a:spcBef>
                <a:spcPts val="675"/>
              </a:spcBef>
            </a:pPr>
            <a:r>
              <a:rPr lang="zh-CN" altLang="en-US" dirty="0"/>
              <a:t>应用实例</a:t>
            </a:r>
            <a:endParaRPr lang="en-US" altLang="zh-CN" dirty="0"/>
          </a:p>
          <a:p>
            <a:pPr lvl="1">
              <a:spcBef>
                <a:spcPts val="475"/>
              </a:spcBef>
              <a:buNone/>
            </a:pPr>
            <a:r>
              <a:rPr lang="en-US" altLang="zh-CN" sz="2000" dirty="0"/>
              <a:t>Router(config)# access-list 1 permit 192.168.1.0 0.0.0.255</a:t>
            </a:r>
            <a:endParaRPr lang="zh-CN" altLang="en-US" sz="2000" dirty="0"/>
          </a:p>
          <a:p>
            <a:pPr lvl="1">
              <a:spcBef>
                <a:spcPts val="475"/>
              </a:spcBef>
              <a:buNone/>
            </a:pPr>
            <a:r>
              <a:rPr lang="en-US" altLang="zh-CN" sz="2000" dirty="0"/>
              <a:t>Router(config)# access-list 1 permit 192.168.2.2 0.0.0.0</a:t>
            </a:r>
            <a:endParaRPr lang="zh-CN" altLang="en-US" sz="2000" dirty="0"/>
          </a:p>
          <a:p>
            <a:pPr lvl="1">
              <a:spcBef>
                <a:spcPts val="475"/>
              </a:spcBef>
            </a:pPr>
            <a:r>
              <a:rPr lang="zh-CN" altLang="en-US" dirty="0"/>
              <a:t>允许</a:t>
            </a:r>
            <a:r>
              <a:rPr lang="en-US" altLang="zh-CN" dirty="0"/>
              <a:t>192.168.1.0/24</a:t>
            </a:r>
            <a:r>
              <a:rPr lang="zh-CN" altLang="en-US" dirty="0"/>
              <a:t>和主机</a:t>
            </a:r>
            <a:r>
              <a:rPr lang="en-US" altLang="zh-CN" dirty="0"/>
              <a:t>192.168.2.2</a:t>
            </a:r>
            <a:r>
              <a:rPr lang="zh-CN" altLang="en-US" dirty="0"/>
              <a:t>的流量通过</a:t>
            </a:r>
            <a:endParaRPr lang="en-US" altLang="zh-CN" dirty="0"/>
          </a:p>
          <a:p>
            <a:pPr>
              <a:spcBef>
                <a:spcPts val="675"/>
              </a:spcBef>
            </a:pPr>
            <a:endParaRPr lang="en-US" altLang="zh-CN" sz="1500" dirty="0"/>
          </a:p>
          <a:p>
            <a:pPr>
              <a:spcBef>
                <a:spcPts val="675"/>
              </a:spcBef>
            </a:pPr>
            <a:r>
              <a:rPr lang="zh-CN" altLang="en-US" dirty="0"/>
              <a:t>隐含的拒绝语句</a:t>
            </a:r>
            <a:endParaRPr lang="en-US" altLang="zh-CN" dirty="0"/>
          </a:p>
          <a:p>
            <a:pPr lvl="1">
              <a:spcBef>
                <a:spcPts val="475"/>
              </a:spcBef>
              <a:buNone/>
            </a:pPr>
            <a:r>
              <a:rPr lang="en-US" altLang="zh-CN" sz="2000" dirty="0"/>
              <a:t>Router(config)# access-list 1 deny 0.0.0.0 255.255.255.255</a:t>
            </a:r>
          </a:p>
          <a:p>
            <a:pPr>
              <a:spcBef>
                <a:spcPts val="675"/>
              </a:spcBef>
            </a:pPr>
            <a:endParaRPr lang="en-US" altLang="zh-CN" dirty="0"/>
          </a:p>
          <a:p>
            <a:pPr>
              <a:spcBef>
                <a:spcPts val="675"/>
              </a:spcBef>
            </a:pPr>
            <a:r>
              <a:rPr lang="zh-CN" altLang="en-US" dirty="0"/>
              <a:t>关键字</a:t>
            </a:r>
            <a:endParaRPr lang="en-US" altLang="zh-CN" dirty="0"/>
          </a:p>
          <a:p>
            <a:pPr lvl="1">
              <a:spcBef>
                <a:spcPts val="475"/>
              </a:spcBef>
            </a:pPr>
            <a:r>
              <a:rPr lang="en-US" altLang="zh-CN" dirty="0"/>
              <a:t>host</a:t>
            </a:r>
          </a:p>
          <a:p>
            <a:pPr lvl="1">
              <a:spcBef>
                <a:spcPts val="475"/>
              </a:spcBef>
            </a:pPr>
            <a:r>
              <a:rPr lang="en-US" altLang="zh-CN" dirty="0"/>
              <a:t>any</a:t>
            </a:r>
          </a:p>
          <a:p>
            <a:pPr>
              <a:spcBef>
                <a:spcPts val="675"/>
              </a:spcBef>
            </a:pPr>
            <a:endParaRPr lang="zh-CN" altLang="en-US" dirty="0"/>
          </a:p>
        </p:txBody>
      </p:sp>
      <p:sp>
        <p:nvSpPr>
          <p:cNvPr id="26629" name="标题 2"/>
          <p:cNvSpPr>
            <a:spLocks noGrp="1"/>
          </p:cNvSpPr>
          <p:nvPr>
            <p:ph type="title"/>
          </p:nvPr>
        </p:nvSpPr>
        <p:spPr/>
        <p:txBody>
          <a:bodyPr/>
          <a:lstStyle/>
          <a:p>
            <a:r>
              <a:rPr lang="zh-CN"/>
              <a:t>标准访问控制列表的配置</a:t>
            </a:r>
            <a:r>
              <a:rPr lang="en-US" altLang="zh-CN"/>
              <a:t>3-2</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AutoShape 8"/>
          <p:cNvSpPr>
            <a:spLocks noChangeArrowheads="1"/>
          </p:cNvSpPr>
          <p:nvPr/>
        </p:nvSpPr>
        <p:spPr bwMode="auto">
          <a:xfrm>
            <a:off x="2097088" y="3143251"/>
            <a:ext cx="8285162" cy="468313"/>
          </a:xfrm>
          <a:prstGeom prst="roundRect">
            <a:avLst>
              <a:gd name="adj" fmla="val 5477"/>
            </a:avLst>
          </a:prstGeom>
          <a:gradFill rotWithShape="1">
            <a:gsLst>
              <a:gs pos="0">
                <a:srgbClr val="CCFFFF"/>
              </a:gs>
              <a:gs pos="100000">
                <a:schemeClr val="bg1"/>
              </a:gs>
            </a:gsLst>
            <a:lin ang="5400000" scaled="1"/>
          </a:gradFill>
          <a:ln w="9525" algn="ctr">
            <a:solidFill>
              <a:srgbClr val="006666"/>
            </a:solidFill>
            <a:round/>
            <a:headEnd/>
            <a:tailEnd/>
          </a:ln>
        </p:spPr>
        <p:txBody>
          <a:bodyPr/>
          <a:lstStyle/>
          <a:p>
            <a:pPr algn="ctr"/>
            <a:endParaRPr lang="zh-CN" altLang="zh-CN"/>
          </a:p>
        </p:txBody>
      </p:sp>
      <p:sp>
        <p:nvSpPr>
          <p:cNvPr id="27651" name="AutoShape 8"/>
          <p:cNvSpPr>
            <a:spLocks noChangeArrowheads="1"/>
          </p:cNvSpPr>
          <p:nvPr/>
        </p:nvSpPr>
        <p:spPr bwMode="auto">
          <a:xfrm>
            <a:off x="2103438" y="1812513"/>
            <a:ext cx="8278812" cy="468312"/>
          </a:xfrm>
          <a:prstGeom prst="roundRect">
            <a:avLst>
              <a:gd name="adj" fmla="val 5477"/>
            </a:avLst>
          </a:prstGeom>
          <a:gradFill rotWithShape="1">
            <a:gsLst>
              <a:gs pos="0">
                <a:srgbClr val="CCFFFF"/>
              </a:gs>
              <a:gs pos="100000">
                <a:schemeClr val="bg1"/>
              </a:gs>
            </a:gsLst>
            <a:lin ang="5400000" scaled="1"/>
          </a:gradFill>
          <a:ln w="9525" algn="ctr">
            <a:solidFill>
              <a:srgbClr val="006666"/>
            </a:solidFill>
            <a:round/>
            <a:headEnd/>
            <a:tailEnd/>
          </a:ln>
        </p:spPr>
        <p:txBody>
          <a:bodyPr/>
          <a:lstStyle/>
          <a:p>
            <a:pPr algn="ctr"/>
            <a:endParaRPr lang="zh-CN" altLang="zh-CN"/>
          </a:p>
        </p:txBody>
      </p:sp>
      <p:sp>
        <p:nvSpPr>
          <p:cNvPr id="27652" name="内容占位符 1"/>
          <p:cNvSpPr>
            <a:spLocks noGrp="1"/>
          </p:cNvSpPr>
          <p:nvPr>
            <p:ph idx="1"/>
          </p:nvPr>
        </p:nvSpPr>
        <p:spPr>
          <a:xfrm>
            <a:off x="1809750" y="1418400"/>
            <a:ext cx="8786812" cy="2649354"/>
          </a:xfrm>
        </p:spPr>
        <p:txBody>
          <a:bodyPr>
            <a:normAutofit/>
          </a:bodyPr>
          <a:lstStyle/>
          <a:p>
            <a:pPr>
              <a:spcBef>
                <a:spcPts val="675"/>
              </a:spcBef>
            </a:pPr>
            <a:r>
              <a:rPr lang="zh-CN" altLang="en-US" dirty="0"/>
              <a:t>将</a:t>
            </a:r>
            <a:r>
              <a:rPr lang="en-US" altLang="zh-CN" dirty="0"/>
              <a:t>ACL</a:t>
            </a:r>
            <a:r>
              <a:rPr lang="zh-CN" altLang="en-US" dirty="0"/>
              <a:t>应用于接口</a:t>
            </a:r>
          </a:p>
          <a:p>
            <a:pPr lvl="1">
              <a:spcBef>
                <a:spcPts val="475"/>
              </a:spcBef>
              <a:buNone/>
            </a:pPr>
            <a:r>
              <a:rPr lang="en-US" altLang="zh-CN" sz="2000" dirty="0"/>
              <a:t>Router(config-if)# </a:t>
            </a:r>
            <a:r>
              <a:rPr lang="en-US" altLang="zh-CN" sz="2000" dirty="0" err="1"/>
              <a:t>ip</a:t>
            </a:r>
            <a:r>
              <a:rPr lang="en-US" altLang="zh-CN" sz="2000" dirty="0"/>
              <a:t> access-group </a:t>
            </a:r>
            <a:r>
              <a:rPr lang="en-US" altLang="zh-CN" sz="2000" i="1" dirty="0"/>
              <a:t>access-list-number</a:t>
            </a:r>
            <a:r>
              <a:rPr lang="en-US" altLang="zh-CN" sz="2000" dirty="0"/>
              <a:t> {in |out}</a:t>
            </a:r>
          </a:p>
          <a:p>
            <a:pPr>
              <a:spcBef>
                <a:spcPts val="675"/>
              </a:spcBef>
            </a:pPr>
            <a:endParaRPr lang="en-US" altLang="zh-CN" dirty="0"/>
          </a:p>
          <a:p>
            <a:pPr>
              <a:spcBef>
                <a:spcPts val="675"/>
              </a:spcBef>
            </a:pPr>
            <a:r>
              <a:rPr lang="zh-CN" altLang="en-US" dirty="0"/>
              <a:t>在接口上取消</a:t>
            </a:r>
            <a:r>
              <a:rPr lang="en-US" altLang="zh-CN" dirty="0"/>
              <a:t>ACL</a:t>
            </a:r>
            <a:r>
              <a:rPr lang="zh-CN" altLang="en-US" dirty="0"/>
              <a:t>的应用</a:t>
            </a:r>
          </a:p>
          <a:p>
            <a:pPr lvl="1">
              <a:spcBef>
                <a:spcPts val="475"/>
              </a:spcBef>
              <a:buNone/>
            </a:pPr>
            <a:r>
              <a:rPr lang="en-US" altLang="zh-CN" sz="2000" dirty="0"/>
              <a:t>Router(config-if)# no </a:t>
            </a:r>
            <a:r>
              <a:rPr lang="en-US" altLang="zh-CN" sz="2000" dirty="0" err="1"/>
              <a:t>ip</a:t>
            </a:r>
            <a:r>
              <a:rPr lang="en-US" altLang="zh-CN" sz="2000" dirty="0"/>
              <a:t> access-group </a:t>
            </a:r>
            <a:r>
              <a:rPr lang="en-US" altLang="zh-CN" sz="2000" i="1" dirty="0"/>
              <a:t>access-list-number </a:t>
            </a:r>
            <a:r>
              <a:rPr lang="en-US" altLang="zh-CN" sz="2000" dirty="0"/>
              <a:t>{in |out}</a:t>
            </a:r>
            <a:endParaRPr lang="zh-CN" altLang="en-US" dirty="0"/>
          </a:p>
        </p:txBody>
      </p:sp>
      <p:sp>
        <p:nvSpPr>
          <p:cNvPr id="27653" name="标题 2"/>
          <p:cNvSpPr>
            <a:spLocks noGrp="1"/>
          </p:cNvSpPr>
          <p:nvPr>
            <p:ph type="title"/>
          </p:nvPr>
        </p:nvSpPr>
        <p:spPr/>
        <p:txBody>
          <a:bodyPr/>
          <a:lstStyle/>
          <a:p>
            <a:r>
              <a:rPr lang="zh-CN"/>
              <a:t>标准访问控制列表的配置</a:t>
            </a:r>
            <a:r>
              <a:rPr lang="en-US" altLang="zh-CN"/>
              <a:t>3-3</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364809" y="1327429"/>
            <a:ext cx="8501062" cy="1143000"/>
          </a:xfrm>
        </p:spPr>
        <p:txBody>
          <a:bodyPr>
            <a:normAutofit fontScale="85000" lnSpcReduction="20000"/>
          </a:bodyPr>
          <a:lstStyle/>
          <a:p>
            <a:pPr>
              <a:spcBef>
                <a:spcPts val="675"/>
              </a:spcBef>
            </a:pPr>
            <a:r>
              <a:rPr lang="zh-CN" altLang="en-US" dirty="0"/>
              <a:t>需求描述</a:t>
            </a:r>
            <a:endParaRPr lang="en-US" altLang="zh-CN" dirty="0"/>
          </a:p>
          <a:p>
            <a:pPr lvl="1">
              <a:spcBef>
                <a:spcPts val="475"/>
              </a:spcBef>
            </a:pPr>
            <a:r>
              <a:rPr lang="zh-CN" altLang="en-US" dirty="0"/>
              <a:t>禁止主机</a:t>
            </a:r>
            <a:r>
              <a:rPr lang="en-US" altLang="zh-CN" dirty="0"/>
              <a:t>PC2</a:t>
            </a:r>
            <a:r>
              <a:rPr lang="zh-CN" altLang="en-US" dirty="0"/>
              <a:t>访问主机</a:t>
            </a:r>
            <a:r>
              <a:rPr lang="en-US" altLang="zh-CN" dirty="0"/>
              <a:t>PC1</a:t>
            </a:r>
            <a:r>
              <a:rPr lang="zh-CN" altLang="en-US" dirty="0"/>
              <a:t>，而允许所有其他的流量</a:t>
            </a:r>
            <a:endParaRPr lang="en-US" altLang="zh-CN" dirty="0"/>
          </a:p>
          <a:p>
            <a:pPr lvl="1">
              <a:spcBef>
                <a:spcPts val="475"/>
              </a:spcBef>
            </a:pPr>
            <a:r>
              <a:rPr lang="zh-CN" altLang="en-US" dirty="0"/>
              <a:t>在哪个接口应用标准</a:t>
            </a:r>
            <a:r>
              <a:rPr lang="en-US" altLang="zh-CN" dirty="0"/>
              <a:t>ACL</a:t>
            </a:r>
          </a:p>
          <a:p>
            <a:pPr lvl="1">
              <a:spcBef>
                <a:spcPts val="475"/>
              </a:spcBef>
            </a:pPr>
            <a:r>
              <a:rPr lang="zh-CN" altLang="en-US" dirty="0"/>
              <a:t>应用在入方向还是出方向</a:t>
            </a:r>
            <a:endParaRPr lang="en-US" altLang="zh-CN" dirty="0"/>
          </a:p>
          <a:p>
            <a:pPr>
              <a:spcBef>
                <a:spcPts val="675"/>
              </a:spcBef>
              <a:buNone/>
            </a:pPr>
            <a:endParaRPr lang="zh-CN" altLang="en-US" dirty="0"/>
          </a:p>
          <a:p>
            <a:pPr>
              <a:spcBef>
                <a:spcPts val="675"/>
              </a:spcBef>
            </a:pPr>
            <a:endParaRPr lang="zh-CN" altLang="en-US" dirty="0"/>
          </a:p>
        </p:txBody>
      </p:sp>
      <p:sp>
        <p:nvSpPr>
          <p:cNvPr id="28675" name="标题 2"/>
          <p:cNvSpPr>
            <a:spLocks noGrp="1"/>
          </p:cNvSpPr>
          <p:nvPr>
            <p:ph type="title"/>
          </p:nvPr>
        </p:nvSpPr>
        <p:spPr/>
        <p:txBody>
          <a:bodyPr/>
          <a:lstStyle/>
          <a:p>
            <a:r>
              <a:rPr lang="zh-CN" altLang="en-US"/>
              <a:t>标准</a:t>
            </a:r>
            <a:r>
              <a:rPr lang="en-US" altLang="zh-CN"/>
              <a:t>ACL</a:t>
            </a:r>
            <a:r>
              <a:rPr lang="zh-CN" altLang="en-US"/>
              <a:t>的配置实例</a:t>
            </a:r>
          </a:p>
        </p:txBody>
      </p:sp>
      <p:sp>
        <p:nvSpPr>
          <p:cNvPr id="28676" name="Text Box 36"/>
          <p:cNvSpPr txBox="1">
            <a:spLocks noChangeArrowheads="1"/>
          </p:cNvSpPr>
          <p:nvPr/>
        </p:nvSpPr>
        <p:spPr bwMode="auto">
          <a:xfrm>
            <a:off x="2452688" y="2643189"/>
            <a:ext cx="1789112" cy="338137"/>
          </a:xfrm>
          <a:prstGeom prst="rect">
            <a:avLst/>
          </a:prstGeom>
          <a:noFill/>
          <a:ln w="9525">
            <a:noFill/>
            <a:miter lim="800000"/>
            <a:headEnd/>
            <a:tailEnd/>
          </a:ln>
        </p:spPr>
        <p:txBody>
          <a:bodyPr>
            <a:spAutoFit/>
          </a:bodyPr>
          <a:lstStyle/>
          <a:p>
            <a:pPr>
              <a:spcBef>
                <a:spcPct val="50000"/>
              </a:spcBef>
            </a:pPr>
            <a:r>
              <a:rPr lang="en-US" altLang="zh-CN" sz="1600" b="1">
                <a:solidFill>
                  <a:schemeClr val="tx2"/>
                </a:solidFill>
              </a:rPr>
              <a:t>192.168.1.1/24</a:t>
            </a:r>
          </a:p>
        </p:txBody>
      </p:sp>
      <p:grpSp>
        <p:nvGrpSpPr>
          <p:cNvPr id="3" name="组合 39"/>
          <p:cNvGrpSpPr>
            <a:grpSpLocks/>
          </p:cNvGrpSpPr>
          <p:nvPr/>
        </p:nvGrpSpPr>
        <p:grpSpPr bwMode="auto">
          <a:xfrm>
            <a:off x="2738438" y="2143125"/>
            <a:ext cx="7143750" cy="2579688"/>
            <a:chOff x="1571604" y="2786058"/>
            <a:chExt cx="7718467" cy="2631466"/>
          </a:xfrm>
        </p:grpSpPr>
        <p:sp>
          <p:nvSpPr>
            <p:cNvPr id="28681" name="Text Box 46"/>
            <p:cNvSpPr txBox="1">
              <a:spLocks noChangeArrowheads="1"/>
            </p:cNvSpPr>
            <p:nvPr/>
          </p:nvSpPr>
          <p:spPr bwMode="auto">
            <a:xfrm>
              <a:off x="3578405" y="3713176"/>
              <a:ext cx="722159" cy="345450"/>
            </a:xfrm>
            <a:prstGeom prst="rect">
              <a:avLst/>
            </a:prstGeom>
            <a:noFill/>
            <a:ln w="9525">
              <a:noFill/>
              <a:miter lim="800000"/>
              <a:headEnd/>
              <a:tailEnd/>
            </a:ln>
          </p:spPr>
          <p:txBody>
            <a:bodyPr>
              <a:spAutoFit/>
            </a:bodyPr>
            <a:lstStyle/>
            <a:p>
              <a:pPr>
                <a:spcBef>
                  <a:spcPct val="50000"/>
                </a:spcBef>
              </a:pPr>
              <a:r>
                <a:rPr lang="en-US" altLang="zh-CN" sz="1600" b="1">
                  <a:solidFill>
                    <a:schemeClr val="tx2"/>
                  </a:solidFill>
                </a:rPr>
                <a:t>F0/0</a:t>
              </a:r>
            </a:p>
          </p:txBody>
        </p:sp>
        <p:sp>
          <p:nvSpPr>
            <p:cNvPr id="28682" name="Text Box 47"/>
            <p:cNvSpPr txBox="1">
              <a:spLocks noChangeArrowheads="1"/>
            </p:cNvSpPr>
            <p:nvPr/>
          </p:nvSpPr>
          <p:spPr bwMode="auto">
            <a:xfrm>
              <a:off x="5143502" y="3714752"/>
              <a:ext cx="673257" cy="345450"/>
            </a:xfrm>
            <a:prstGeom prst="rect">
              <a:avLst/>
            </a:prstGeom>
            <a:noFill/>
            <a:ln w="9525">
              <a:noFill/>
              <a:miter lim="800000"/>
              <a:headEnd/>
              <a:tailEnd/>
            </a:ln>
          </p:spPr>
          <p:txBody>
            <a:bodyPr>
              <a:spAutoFit/>
            </a:bodyPr>
            <a:lstStyle/>
            <a:p>
              <a:pPr>
                <a:spcBef>
                  <a:spcPct val="50000"/>
                </a:spcBef>
              </a:pPr>
              <a:r>
                <a:rPr lang="en-US" altLang="zh-CN" sz="1600" b="1">
                  <a:solidFill>
                    <a:schemeClr val="tx2"/>
                  </a:solidFill>
                </a:rPr>
                <a:t>F0/1</a:t>
              </a:r>
            </a:p>
          </p:txBody>
        </p:sp>
        <p:cxnSp>
          <p:nvCxnSpPr>
            <p:cNvPr id="28683" name="直接连接符 60"/>
            <p:cNvCxnSpPr>
              <a:cxnSpLocks noChangeShapeType="1"/>
            </p:cNvCxnSpPr>
            <p:nvPr/>
          </p:nvCxnSpPr>
          <p:spPr bwMode="auto">
            <a:xfrm>
              <a:off x="5140353" y="4002101"/>
              <a:ext cx="1044575" cy="1588"/>
            </a:xfrm>
            <a:prstGeom prst="line">
              <a:avLst/>
            </a:prstGeom>
            <a:noFill/>
            <a:ln w="44450" algn="ctr">
              <a:solidFill>
                <a:schemeClr val="tx2"/>
              </a:solidFill>
              <a:round/>
              <a:headEnd/>
              <a:tailEnd/>
            </a:ln>
          </p:spPr>
        </p:cxnSp>
        <p:cxnSp>
          <p:nvCxnSpPr>
            <p:cNvPr id="28684" name="直接连接符 63"/>
            <p:cNvCxnSpPr>
              <a:cxnSpLocks noChangeShapeType="1"/>
            </p:cNvCxnSpPr>
            <p:nvPr/>
          </p:nvCxnSpPr>
          <p:spPr bwMode="auto">
            <a:xfrm>
              <a:off x="2214546" y="4000504"/>
              <a:ext cx="1998707" cy="3185"/>
            </a:xfrm>
            <a:prstGeom prst="line">
              <a:avLst/>
            </a:prstGeom>
            <a:noFill/>
            <a:ln w="44450" algn="ctr">
              <a:solidFill>
                <a:schemeClr val="tx2"/>
              </a:solidFill>
              <a:round/>
              <a:headEnd/>
              <a:tailEnd/>
            </a:ln>
          </p:spPr>
        </p:cxnSp>
        <p:cxnSp>
          <p:nvCxnSpPr>
            <p:cNvPr id="28685" name="直接连接符 66"/>
            <p:cNvCxnSpPr>
              <a:cxnSpLocks noChangeShapeType="1"/>
            </p:cNvCxnSpPr>
            <p:nvPr/>
          </p:nvCxnSpPr>
          <p:spPr bwMode="auto">
            <a:xfrm rot="5400000">
              <a:off x="4964910" y="4036223"/>
              <a:ext cx="2500329" cy="1588"/>
            </a:xfrm>
            <a:prstGeom prst="line">
              <a:avLst/>
            </a:prstGeom>
            <a:noFill/>
            <a:ln w="44450" algn="ctr">
              <a:solidFill>
                <a:schemeClr val="tx2"/>
              </a:solidFill>
              <a:round/>
              <a:headEnd/>
              <a:tailEnd/>
            </a:ln>
          </p:spPr>
        </p:cxnSp>
        <p:cxnSp>
          <p:nvCxnSpPr>
            <p:cNvPr id="28686" name="直接连接符 70"/>
            <p:cNvCxnSpPr>
              <a:cxnSpLocks noChangeShapeType="1"/>
            </p:cNvCxnSpPr>
            <p:nvPr/>
          </p:nvCxnSpPr>
          <p:spPr bwMode="auto">
            <a:xfrm>
              <a:off x="6215074" y="3143248"/>
              <a:ext cx="539750" cy="1587"/>
            </a:xfrm>
            <a:prstGeom prst="line">
              <a:avLst/>
            </a:prstGeom>
            <a:noFill/>
            <a:ln w="44450" algn="ctr">
              <a:solidFill>
                <a:schemeClr val="tx2"/>
              </a:solidFill>
              <a:round/>
              <a:headEnd/>
              <a:tailEnd/>
            </a:ln>
          </p:spPr>
        </p:cxnSp>
        <p:pic>
          <p:nvPicPr>
            <p:cNvPr id="28687" name="Picture 24"/>
            <p:cNvPicPr>
              <a:picLocks noChangeAspect="1" noChangeArrowheads="1"/>
            </p:cNvPicPr>
            <p:nvPr/>
          </p:nvPicPr>
          <p:blipFill>
            <a:blip r:embed="rId2"/>
            <a:srcRect/>
            <a:stretch>
              <a:fillRect/>
            </a:stretch>
          </p:blipFill>
          <p:spPr bwMode="auto">
            <a:xfrm>
              <a:off x="6715140" y="2786058"/>
              <a:ext cx="715963" cy="679450"/>
            </a:xfrm>
            <a:prstGeom prst="rect">
              <a:avLst/>
            </a:prstGeom>
            <a:noFill/>
            <a:ln w="9525">
              <a:noFill/>
              <a:miter lim="800000"/>
              <a:headEnd/>
              <a:tailEnd/>
            </a:ln>
          </p:spPr>
        </p:pic>
        <p:pic>
          <p:nvPicPr>
            <p:cNvPr id="28688" name="Picture 24"/>
            <p:cNvPicPr>
              <a:picLocks noChangeAspect="1" noChangeArrowheads="1"/>
            </p:cNvPicPr>
            <p:nvPr/>
          </p:nvPicPr>
          <p:blipFill>
            <a:blip r:embed="rId2"/>
            <a:srcRect/>
            <a:stretch>
              <a:fillRect/>
            </a:stretch>
          </p:blipFill>
          <p:spPr bwMode="auto">
            <a:xfrm>
              <a:off x="1571604" y="3643314"/>
              <a:ext cx="715962" cy="679450"/>
            </a:xfrm>
            <a:prstGeom prst="rect">
              <a:avLst/>
            </a:prstGeom>
            <a:noFill/>
            <a:ln w="9525">
              <a:noFill/>
              <a:miter lim="800000"/>
              <a:headEnd/>
              <a:tailEnd/>
            </a:ln>
          </p:spPr>
        </p:pic>
        <p:grpSp>
          <p:nvGrpSpPr>
            <p:cNvPr id="4" name="组合 51"/>
            <p:cNvGrpSpPr>
              <a:grpSpLocks/>
            </p:cNvGrpSpPr>
            <p:nvPr/>
          </p:nvGrpSpPr>
          <p:grpSpPr bwMode="auto">
            <a:xfrm>
              <a:off x="4216404" y="3714752"/>
              <a:ext cx="927100" cy="643228"/>
              <a:chOff x="3997314" y="2922566"/>
              <a:chExt cx="927134" cy="642934"/>
            </a:xfrm>
          </p:grpSpPr>
          <p:pic>
            <p:nvPicPr>
              <p:cNvPr id="28697" name="Picture 7"/>
              <p:cNvPicPr>
                <a:picLocks noChangeArrowheads="1"/>
              </p:cNvPicPr>
              <p:nvPr/>
            </p:nvPicPr>
            <p:blipFill>
              <a:blip r:embed="rId3"/>
              <a:srcRect/>
              <a:stretch>
                <a:fillRect/>
              </a:stretch>
            </p:blipFill>
            <p:spPr bwMode="auto">
              <a:xfrm>
                <a:off x="3997314" y="2922566"/>
                <a:ext cx="927134" cy="579459"/>
              </a:xfrm>
              <a:prstGeom prst="rect">
                <a:avLst/>
              </a:prstGeom>
              <a:noFill/>
              <a:ln w="9525">
                <a:noFill/>
                <a:miter lim="800000"/>
                <a:headEnd/>
                <a:tailEnd/>
              </a:ln>
            </p:spPr>
          </p:pic>
          <p:sp>
            <p:nvSpPr>
              <p:cNvPr id="28698" name="Text Box 39"/>
              <p:cNvSpPr txBox="1">
                <a:spLocks noChangeArrowheads="1"/>
              </p:cNvSpPr>
              <p:nvPr/>
            </p:nvSpPr>
            <p:spPr bwMode="auto">
              <a:xfrm>
                <a:off x="4196483" y="3220309"/>
                <a:ext cx="533400" cy="345191"/>
              </a:xfrm>
              <a:prstGeom prst="rect">
                <a:avLst/>
              </a:prstGeom>
              <a:noFill/>
              <a:ln w="9525">
                <a:noFill/>
                <a:miter lim="800000"/>
                <a:headEnd/>
                <a:tailEnd/>
              </a:ln>
            </p:spPr>
            <p:txBody>
              <a:bodyPr>
                <a:spAutoFit/>
              </a:bodyPr>
              <a:lstStyle/>
              <a:p>
                <a:pPr algn="ctr">
                  <a:spcBef>
                    <a:spcPct val="50000"/>
                  </a:spcBef>
                </a:pPr>
                <a:r>
                  <a:rPr lang="en-US" altLang="zh-CN" sz="1600" b="1">
                    <a:solidFill>
                      <a:schemeClr val="bg1"/>
                    </a:solidFill>
                  </a:rPr>
                  <a:t>R1</a:t>
                </a:r>
              </a:p>
            </p:txBody>
          </p:sp>
        </p:grpSp>
        <p:sp>
          <p:nvSpPr>
            <p:cNvPr id="28690" name="Text Box 46"/>
            <p:cNvSpPr txBox="1">
              <a:spLocks noChangeArrowheads="1"/>
            </p:cNvSpPr>
            <p:nvPr/>
          </p:nvSpPr>
          <p:spPr bwMode="auto">
            <a:xfrm>
              <a:off x="1643041" y="4357694"/>
              <a:ext cx="777594" cy="345450"/>
            </a:xfrm>
            <a:prstGeom prst="rect">
              <a:avLst/>
            </a:prstGeom>
            <a:noFill/>
            <a:ln w="9525">
              <a:noFill/>
              <a:miter lim="800000"/>
              <a:headEnd/>
              <a:tailEnd/>
            </a:ln>
          </p:spPr>
          <p:txBody>
            <a:bodyPr>
              <a:spAutoFit/>
            </a:bodyPr>
            <a:lstStyle/>
            <a:p>
              <a:pPr>
                <a:spcBef>
                  <a:spcPct val="50000"/>
                </a:spcBef>
              </a:pPr>
              <a:r>
                <a:rPr lang="en-US" altLang="zh-CN" sz="1600" b="1">
                  <a:solidFill>
                    <a:schemeClr val="tx2"/>
                  </a:solidFill>
                </a:rPr>
                <a:t>PC1</a:t>
              </a:r>
            </a:p>
          </p:txBody>
        </p:sp>
        <p:cxnSp>
          <p:nvCxnSpPr>
            <p:cNvPr id="28691" name="直接连接符 70"/>
            <p:cNvCxnSpPr>
              <a:cxnSpLocks noChangeShapeType="1"/>
            </p:cNvCxnSpPr>
            <p:nvPr/>
          </p:nvCxnSpPr>
          <p:spPr bwMode="auto">
            <a:xfrm>
              <a:off x="6215074" y="4786322"/>
              <a:ext cx="539750" cy="1587"/>
            </a:xfrm>
            <a:prstGeom prst="line">
              <a:avLst/>
            </a:prstGeom>
            <a:noFill/>
            <a:ln w="44450" algn="ctr">
              <a:solidFill>
                <a:schemeClr val="tx2"/>
              </a:solidFill>
              <a:round/>
              <a:headEnd/>
              <a:tailEnd/>
            </a:ln>
          </p:spPr>
        </p:cxnSp>
        <p:pic>
          <p:nvPicPr>
            <p:cNvPr id="28692" name="Picture 24"/>
            <p:cNvPicPr>
              <a:picLocks noChangeAspect="1" noChangeArrowheads="1"/>
            </p:cNvPicPr>
            <p:nvPr/>
          </p:nvPicPr>
          <p:blipFill>
            <a:blip r:embed="rId2"/>
            <a:srcRect/>
            <a:stretch>
              <a:fillRect/>
            </a:stretch>
          </p:blipFill>
          <p:spPr bwMode="auto">
            <a:xfrm>
              <a:off x="6715140" y="4392624"/>
              <a:ext cx="715963" cy="679450"/>
            </a:xfrm>
            <a:prstGeom prst="rect">
              <a:avLst/>
            </a:prstGeom>
            <a:noFill/>
            <a:ln w="9525">
              <a:noFill/>
              <a:miter lim="800000"/>
              <a:headEnd/>
              <a:tailEnd/>
            </a:ln>
          </p:spPr>
        </p:pic>
        <p:sp>
          <p:nvSpPr>
            <p:cNvPr id="28693" name="Text Box 46"/>
            <p:cNvSpPr txBox="1">
              <a:spLocks noChangeArrowheads="1"/>
            </p:cNvSpPr>
            <p:nvPr/>
          </p:nvSpPr>
          <p:spPr bwMode="auto">
            <a:xfrm>
              <a:off x="6786577" y="3500438"/>
              <a:ext cx="882615" cy="345450"/>
            </a:xfrm>
            <a:prstGeom prst="rect">
              <a:avLst/>
            </a:prstGeom>
            <a:noFill/>
            <a:ln w="9525">
              <a:noFill/>
              <a:miter lim="800000"/>
              <a:headEnd/>
              <a:tailEnd/>
            </a:ln>
          </p:spPr>
          <p:txBody>
            <a:bodyPr>
              <a:spAutoFit/>
            </a:bodyPr>
            <a:lstStyle/>
            <a:p>
              <a:pPr>
                <a:spcBef>
                  <a:spcPct val="50000"/>
                </a:spcBef>
              </a:pPr>
              <a:r>
                <a:rPr lang="en-US" altLang="zh-CN" sz="1600" b="1">
                  <a:solidFill>
                    <a:schemeClr val="tx2"/>
                  </a:solidFill>
                </a:rPr>
                <a:t>PC2</a:t>
              </a:r>
            </a:p>
          </p:txBody>
        </p:sp>
        <p:sp>
          <p:nvSpPr>
            <p:cNvPr id="28694" name="Text Box 46"/>
            <p:cNvSpPr txBox="1">
              <a:spLocks noChangeArrowheads="1"/>
            </p:cNvSpPr>
            <p:nvPr/>
          </p:nvSpPr>
          <p:spPr bwMode="auto">
            <a:xfrm>
              <a:off x="6786577" y="5072074"/>
              <a:ext cx="805430" cy="345450"/>
            </a:xfrm>
            <a:prstGeom prst="rect">
              <a:avLst/>
            </a:prstGeom>
            <a:noFill/>
            <a:ln w="9525">
              <a:noFill/>
              <a:miter lim="800000"/>
              <a:headEnd/>
              <a:tailEnd/>
            </a:ln>
          </p:spPr>
          <p:txBody>
            <a:bodyPr>
              <a:spAutoFit/>
            </a:bodyPr>
            <a:lstStyle/>
            <a:p>
              <a:pPr>
                <a:spcBef>
                  <a:spcPct val="50000"/>
                </a:spcBef>
              </a:pPr>
              <a:r>
                <a:rPr lang="en-US" altLang="zh-CN" sz="1600" b="1">
                  <a:solidFill>
                    <a:schemeClr val="tx2"/>
                  </a:solidFill>
                </a:rPr>
                <a:t>PC3</a:t>
              </a:r>
            </a:p>
          </p:txBody>
        </p:sp>
        <p:sp>
          <p:nvSpPr>
            <p:cNvPr id="28695" name="Text Box 36"/>
            <p:cNvSpPr txBox="1">
              <a:spLocks noChangeArrowheads="1"/>
            </p:cNvSpPr>
            <p:nvPr/>
          </p:nvSpPr>
          <p:spPr bwMode="auto">
            <a:xfrm>
              <a:off x="7500958" y="2947986"/>
              <a:ext cx="1789113" cy="345349"/>
            </a:xfrm>
            <a:prstGeom prst="rect">
              <a:avLst/>
            </a:prstGeom>
            <a:noFill/>
            <a:ln w="9525">
              <a:noFill/>
              <a:miter lim="800000"/>
              <a:headEnd/>
              <a:tailEnd/>
            </a:ln>
          </p:spPr>
          <p:txBody>
            <a:bodyPr>
              <a:spAutoFit/>
            </a:bodyPr>
            <a:lstStyle/>
            <a:p>
              <a:pPr>
                <a:spcBef>
                  <a:spcPct val="50000"/>
                </a:spcBef>
              </a:pPr>
              <a:r>
                <a:rPr lang="en-US" altLang="zh-CN" sz="1600" b="1">
                  <a:solidFill>
                    <a:schemeClr val="tx2"/>
                  </a:solidFill>
                </a:rPr>
                <a:t>192.168.2.2/24</a:t>
              </a:r>
            </a:p>
          </p:txBody>
        </p:sp>
        <p:sp>
          <p:nvSpPr>
            <p:cNvPr id="28696" name="Text Box 36"/>
            <p:cNvSpPr txBox="1">
              <a:spLocks noChangeArrowheads="1"/>
            </p:cNvSpPr>
            <p:nvPr/>
          </p:nvSpPr>
          <p:spPr bwMode="auto">
            <a:xfrm>
              <a:off x="7500958" y="4591060"/>
              <a:ext cx="1789113" cy="345349"/>
            </a:xfrm>
            <a:prstGeom prst="rect">
              <a:avLst/>
            </a:prstGeom>
            <a:noFill/>
            <a:ln w="9525">
              <a:noFill/>
              <a:miter lim="800000"/>
              <a:headEnd/>
              <a:tailEnd/>
            </a:ln>
          </p:spPr>
          <p:txBody>
            <a:bodyPr>
              <a:spAutoFit/>
            </a:bodyPr>
            <a:lstStyle/>
            <a:p>
              <a:pPr>
                <a:spcBef>
                  <a:spcPct val="50000"/>
                </a:spcBef>
              </a:pPr>
              <a:r>
                <a:rPr lang="en-US" altLang="zh-CN" sz="1600" b="1">
                  <a:solidFill>
                    <a:schemeClr val="tx2"/>
                  </a:solidFill>
                </a:rPr>
                <a:t>192.168.2.3/24</a:t>
              </a:r>
            </a:p>
          </p:txBody>
        </p:sp>
      </p:grpSp>
      <p:sp>
        <p:nvSpPr>
          <p:cNvPr id="41" name="AutoShape 8"/>
          <p:cNvSpPr>
            <a:spLocks noChangeArrowheads="1"/>
          </p:cNvSpPr>
          <p:nvPr/>
        </p:nvSpPr>
        <p:spPr bwMode="auto">
          <a:xfrm>
            <a:off x="2166938" y="4713289"/>
            <a:ext cx="7886700" cy="1716087"/>
          </a:xfrm>
          <a:prstGeom prst="roundRect">
            <a:avLst>
              <a:gd name="adj" fmla="val 5477"/>
            </a:avLst>
          </a:prstGeom>
          <a:gradFill rotWithShape="1">
            <a:gsLst>
              <a:gs pos="0">
                <a:srgbClr val="CCFFFF"/>
              </a:gs>
              <a:gs pos="100000">
                <a:schemeClr val="bg1"/>
              </a:gs>
            </a:gsLst>
            <a:lin ang="5400000" scaled="1"/>
          </a:gradFill>
          <a:ln w="9525" algn="ctr">
            <a:solidFill>
              <a:srgbClr val="006666"/>
            </a:solidFill>
            <a:round/>
            <a:headEnd/>
            <a:tailEnd/>
          </a:ln>
        </p:spPr>
        <p:txBody>
          <a:bodyPr/>
          <a:lstStyle/>
          <a:p>
            <a:pPr algn="ctr"/>
            <a:endParaRPr lang="zh-CN" altLang="zh-CN"/>
          </a:p>
        </p:txBody>
      </p:sp>
      <p:sp>
        <p:nvSpPr>
          <p:cNvPr id="84993" name="Rectangle 1"/>
          <p:cNvSpPr>
            <a:spLocks noChangeArrowheads="1"/>
          </p:cNvSpPr>
          <p:nvPr/>
        </p:nvSpPr>
        <p:spPr bwMode="auto">
          <a:xfrm>
            <a:off x="2024063" y="4857751"/>
            <a:ext cx="7429500" cy="1323975"/>
          </a:xfrm>
          <a:prstGeom prst="rect">
            <a:avLst/>
          </a:prstGeom>
          <a:noFill/>
          <a:ln w="9525">
            <a:noFill/>
            <a:miter lim="800000"/>
            <a:headEnd/>
            <a:tailEnd/>
          </a:ln>
          <a:effectLst>
            <a:prstShdw prst="shdw13" dist="53882" dir="13500000">
              <a:schemeClr val="accent1">
                <a:gamma/>
                <a:shade val="60000"/>
                <a:invGamma/>
                <a:alpha val="50000"/>
              </a:schemeClr>
            </a:prstShdw>
          </a:effectLst>
        </p:spPr>
        <p:txBody>
          <a:bodyPr lIns="745890" rIns="66654" anchor="ctr">
            <a:spAutoFit/>
          </a:bodyPr>
          <a:lstStyle/>
          <a:p>
            <a:pPr eaLnBrk="0" hangingPunct="0">
              <a:defRPr/>
            </a:pPr>
            <a:r>
              <a:rPr lang="en-US" altLang="zh-CN" sz="2000" b="1" dirty="0">
                <a:solidFill>
                  <a:schemeClr val="tx2"/>
                </a:solidFill>
                <a:cs typeface="Times New Roman" pitchFamily="18" charset="0"/>
              </a:rPr>
              <a:t>R1(</a:t>
            </a:r>
            <a:r>
              <a:rPr lang="en-US" altLang="zh-CN" sz="2000" b="1" dirty="0" err="1">
                <a:solidFill>
                  <a:schemeClr val="tx2"/>
                </a:solidFill>
                <a:cs typeface="Times New Roman" pitchFamily="18" charset="0"/>
              </a:rPr>
              <a:t>config</a:t>
            </a:r>
            <a:r>
              <a:rPr lang="en-US" altLang="zh-CN" sz="2000" b="1" dirty="0">
                <a:solidFill>
                  <a:schemeClr val="tx2"/>
                </a:solidFill>
                <a:cs typeface="Times New Roman" pitchFamily="18" charset="0"/>
              </a:rPr>
              <a:t>)# access-list 1 deny host 192.168.2.2</a:t>
            </a:r>
            <a:endParaRPr lang="en-US" altLang="zh-CN" sz="2000" b="1" dirty="0">
              <a:solidFill>
                <a:schemeClr val="tx2"/>
              </a:solidFill>
            </a:endParaRPr>
          </a:p>
          <a:p>
            <a:pPr eaLnBrk="0" hangingPunct="0">
              <a:defRPr/>
            </a:pPr>
            <a:r>
              <a:rPr lang="en-US" altLang="zh-CN" sz="2000" b="1" dirty="0">
                <a:solidFill>
                  <a:schemeClr val="tx2"/>
                </a:solidFill>
                <a:cs typeface="Times New Roman" pitchFamily="18" charset="0"/>
              </a:rPr>
              <a:t>R1(</a:t>
            </a:r>
            <a:r>
              <a:rPr lang="en-US" altLang="zh-CN" sz="2000" b="1" dirty="0" err="1">
                <a:solidFill>
                  <a:schemeClr val="tx2"/>
                </a:solidFill>
                <a:cs typeface="Times New Roman" pitchFamily="18" charset="0"/>
              </a:rPr>
              <a:t>config</a:t>
            </a:r>
            <a:r>
              <a:rPr lang="en-US" altLang="zh-CN" sz="2000" b="1" dirty="0">
                <a:solidFill>
                  <a:schemeClr val="tx2"/>
                </a:solidFill>
                <a:cs typeface="Times New Roman" pitchFamily="18" charset="0"/>
              </a:rPr>
              <a:t>)# access-list 1 permit any</a:t>
            </a:r>
            <a:endParaRPr lang="en-US" altLang="zh-CN" sz="2000" b="1" dirty="0">
              <a:solidFill>
                <a:schemeClr val="tx2"/>
              </a:solidFill>
            </a:endParaRPr>
          </a:p>
          <a:p>
            <a:pPr eaLnBrk="0" hangingPunct="0">
              <a:defRPr/>
            </a:pPr>
            <a:r>
              <a:rPr lang="en-US" altLang="zh-CN" sz="2000" b="1" dirty="0">
                <a:solidFill>
                  <a:schemeClr val="tx2"/>
                </a:solidFill>
                <a:cs typeface="Times New Roman" pitchFamily="18" charset="0"/>
              </a:rPr>
              <a:t>R1(</a:t>
            </a:r>
            <a:r>
              <a:rPr lang="en-US" altLang="zh-CN" sz="2000" b="1" dirty="0" err="1">
                <a:solidFill>
                  <a:schemeClr val="tx2"/>
                </a:solidFill>
                <a:cs typeface="Times New Roman" pitchFamily="18" charset="0"/>
              </a:rPr>
              <a:t>config</a:t>
            </a:r>
            <a:r>
              <a:rPr lang="en-US" altLang="zh-CN" sz="2000" b="1" dirty="0">
                <a:solidFill>
                  <a:schemeClr val="tx2"/>
                </a:solidFill>
                <a:cs typeface="Times New Roman" pitchFamily="18" charset="0"/>
              </a:rPr>
              <a:t>)# </a:t>
            </a:r>
            <a:r>
              <a:rPr lang="en-US" altLang="zh-CN" sz="2000" b="1" dirty="0" err="1">
                <a:solidFill>
                  <a:schemeClr val="tx2"/>
                </a:solidFill>
                <a:cs typeface="Times New Roman" pitchFamily="18" charset="0"/>
              </a:rPr>
              <a:t>int</a:t>
            </a:r>
            <a:r>
              <a:rPr lang="en-US" altLang="zh-CN" sz="2000" b="1" dirty="0">
                <a:solidFill>
                  <a:schemeClr val="tx2"/>
                </a:solidFill>
                <a:cs typeface="Times New Roman" pitchFamily="18" charset="0"/>
              </a:rPr>
              <a:t> f0/1</a:t>
            </a:r>
            <a:endParaRPr lang="en-US" altLang="zh-CN" sz="2000" b="1" dirty="0">
              <a:solidFill>
                <a:schemeClr val="tx2"/>
              </a:solidFill>
            </a:endParaRPr>
          </a:p>
          <a:p>
            <a:pPr eaLnBrk="0" hangingPunct="0">
              <a:defRPr/>
            </a:pPr>
            <a:r>
              <a:rPr lang="en-US" altLang="zh-CN" sz="2000" b="1" dirty="0">
                <a:solidFill>
                  <a:schemeClr val="tx2"/>
                </a:solidFill>
                <a:cs typeface="Times New Roman" pitchFamily="18" charset="0"/>
              </a:rPr>
              <a:t>R1(</a:t>
            </a:r>
            <a:r>
              <a:rPr lang="en-US" altLang="zh-CN" sz="2000" b="1" dirty="0" err="1">
                <a:solidFill>
                  <a:schemeClr val="tx2"/>
                </a:solidFill>
                <a:cs typeface="Times New Roman" pitchFamily="18" charset="0"/>
              </a:rPr>
              <a:t>config</a:t>
            </a:r>
            <a:r>
              <a:rPr lang="en-US" altLang="zh-CN" sz="2000" b="1" dirty="0">
                <a:solidFill>
                  <a:schemeClr val="tx2"/>
                </a:solidFill>
                <a:cs typeface="Times New Roman" pitchFamily="18" charset="0"/>
              </a:rPr>
              <a:t>-if)# </a:t>
            </a:r>
            <a:r>
              <a:rPr lang="en-US" altLang="zh-CN" sz="2000" b="1" dirty="0" err="1">
                <a:solidFill>
                  <a:schemeClr val="tx2"/>
                </a:solidFill>
                <a:cs typeface="Times New Roman" pitchFamily="18" charset="0"/>
              </a:rPr>
              <a:t>ip</a:t>
            </a:r>
            <a:r>
              <a:rPr lang="en-US" altLang="zh-CN" sz="2000" b="1" dirty="0">
                <a:solidFill>
                  <a:schemeClr val="tx2"/>
                </a:solidFill>
                <a:cs typeface="Times New Roman" pitchFamily="18" charset="0"/>
              </a:rPr>
              <a:t> access-group 1 in</a:t>
            </a:r>
            <a:endParaRPr lang="en-US" altLang="zh-CN" sz="2000" b="1" dirty="0">
              <a:solidFill>
                <a:schemeClr val="tx2"/>
              </a:solidFill>
            </a:endParaRPr>
          </a:p>
        </p:txBody>
      </p:sp>
      <p:sp>
        <p:nvSpPr>
          <p:cNvPr id="84994" name="Rectangle 2"/>
          <p:cNvSpPr>
            <a:spLocks noChangeArrowheads="1"/>
          </p:cNvSpPr>
          <p:nvPr/>
        </p:nvSpPr>
        <p:spPr bwMode="auto">
          <a:xfrm>
            <a:off x="2024064" y="4857751"/>
            <a:ext cx="3819525" cy="1323975"/>
          </a:xfrm>
          <a:prstGeom prst="rect">
            <a:avLst/>
          </a:prstGeom>
          <a:noFill/>
          <a:ln w="9525">
            <a:noFill/>
            <a:miter lim="800000"/>
            <a:headEnd/>
            <a:tailEnd/>
          </a:ln>
          <a:effectLst>
            <a:prstShdw prst="shdw13" dist="53882" dir="13500000">
              <a:schemeClr val="accent1">
                <a:gamma/>
                <a:shade val="60000"/>
                <a:invGamma/>
                <a:alpha val="50000"/>
              </a:schemeClr>
            </a:prstShdw>
          </a:effectLst>
        </p:spPr>
        <p:txBody>
          <a:bodyPr wrap="none" lIns="745890" rIns="66654" anchor="ctr">
            <a:spAutoFit/>
          </a:bodyPr>
          <a:lstStyle/>
          <a:p>
            <a:pPr eaLnBrk="0" hangingPunct="0">
              <a:defRPr/>
            </a:pPr>
            <a:r>
              <a:rPr lang="en-US" altLang="zh-CN" sz="2000" b="1" dirty="0">
                <a:solidFill>
                  <a:schemeClr val="tx2"/>
                </a:solidFill>
                <a:cs typeface="Times New Roman" pitchFamily="18" charset="0"/>
              </a:rPr>
              <a:t>R1# show access-lists</a:t>
            </a:r>
            <a:endParaRPr lang="en-US" altLang="zh-CN" sz="2000" b="1" dirty="0">
              <a:solidFill>
                <a:schemeClr val="tx2"/>
              </a:solidFill>
            </a:endParaRPr>
          </a:p>
          <a:p>
            <a:pPr eaLnBrk="0" hangingPunct="0">
              <a:defRPr/>
            </a:pPr>
            <a:r>
              <a:rPr lang="en-US" altLang="zh-CN" sz="2000" b="1" dirty="0">
                <a:solidFill>
                  <a:schemeClr val="tx2"/>
                </a:solidFill>
                <a:cs typeface="Times New Roman" pitchFamily="18" charset="0"/>
              </a:rPr>
              <a:t>Standard IP access list 1</a:t>
            </a:r>
            <a:endParaRPr lang="en-US" altLang="zh-CN" sz="2000" b="1" dirty="0">
              <a:solidFill>
                <a:schemeClr val="tx2"/>
              </a:solidFill>
            </a:endParaRPr>
          </a:p>
          <a:p>
            <a:pPr eaLnBrk="0" hangingPunct="0">
              <a:defRPr/>
            </a:pPr>
            <a:r>
              <a:rPr lang="en-US" altLang="zh-CN" sz="2000" b="1" dirty="0">
                <a:solidFill>
                  <a:schemeClr val="tx2"/>
                </a:solidFill>
                <a:cs typeface="Times New Roman" pitchFamily="18" charset="0"/>
              </a:rPr>
              <a:t>    10 deny   192.168.2.2</a:t>
            </a:r>
            <a:endParaRPr lang="en-US" altLang="zh-CN" sz="2000" b="1" dirty="0">
              <a:solidFill>
                <a:schemeClr val="tx2"/>
              </a:solidFill>
            </a:endParaRPr>
          </a:p>
          <a:p>
            <a:pPr eaLnBrk="0" hangingPunct="0">
              <a:defRPr/>
            </a:pPr>
            <a:r>
              <a:rPr lang="en-US" altLang="zh-CN" sz="2000" b="1" dirty="0">
                <a:solidFill>
                  <a:schemeClr val="tx2"/>
                </a:solidFill>
                <a:cs typeface="Times New Roman" pitchFamily="18" charset="0"/>
              </a:rPr>
              <a:t>    20 permit any</a:t>
            </a:r>
            <a:endParaRPr lang="en-US" altLang="zh-CN" sz="2000" b="1" dirty="0">
              <a:solidFill>
                <a:schemeClr val="tx2"/>
              </a:solidFill>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blinds(horizontal)">
                                      <p:cBhvr>
                                        <p:cTn id="13" dur="500"/>
                                        <p:tgtEl>
                                          <p:spTgt spid="41"/>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8499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grpId="1" nodeType="clickEffect">
                                  <p:stCondLst>
                                    <p:cond delay="0"/>
                                  </p:stCondLst>
                                  <p:childTnLst>
                                    <p:set>
                                      <p:cBhvr>
                                        <p:cTn id="19" dur="1" fill="hold">
                                          <p:stCondLst>
                                            <p:cond delay="0"/>
                                          </p:stCondLst>
                                        </p:cTn>
                                        <p:tgtEl>
                                          <p:spTgt spid="84993"/>
                                        </p:tgtEl>
                                        <p:attrNameLst>
                                          <p:attrName>style.visibility</p:attrName>
                                        </p:attrNameLst>
                                      </p:cBhvr>
                                      <p:to>
                                        <p:strVal val="hidden"/>
                                      </p:to>
                                    </p:set>
                                  </p:childTnLst>
                                </p:cTn>
                              </p:par>
                              <p:par>
                                <p:cTn id="20" presetID="1" presetClass="entr" presetSubtype="0" fill="hold" grpId="0" nodeType="withEffect">
                                  <p:stCondLst>
                                    <p:cond delay="0"/>
                                  </p:stCondLst>
                                  <p:childTnLst>
                                    <p:set>
                                      <p:cBhvr>
                                        <p:cTn id="21" dur="1" fill="hold">
                                          <p:stCondLst>
                                            <p:cond delay="0"/>
                                          </p:stCondLst>
                                        </p:cTn>
                                        <p:tgtEl>
                                          <p:spTgt spid="849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84993" grpId="0"/>
      <p:bldP spid="84993" grpId="1"/>
      <p:bldP spid="8499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4" name="Rectangle 2"/>
          <p:cNvSpPr>
            <a:spLocks noGrp="1" noChangeArrowheads="1"/>
          </p:cNvSpPr>
          <p:nvPr>
            <p:ph type="title"/>
          </p:nvPr>
        </p:nvSpPr>
        <p:spPr/>
        <p:txBody>
          <a:bodyPr/>
          <a:lstStyle/>
          <a:p>
            <a:pPr eaLnBrk="1" hangingPunct="1"/>
            <a:r>
              <a:rPr lang="zh-CN" altLang="en-US"/>
              <a:t>本章总结</a:t>
            </a:r>
          </a:p>
        </p:txBody>
      </p:sp>
      <p:sp>
        <p:nvSpPr>
          <p:cNvPr id="28" name="Line 25"/>
          <p:cNvSpPr>
            <a:spLocks noChangeShapeType="1"/>
          </p:cNvSpPr>
          <p:nvPr/>
        </p:nvSpPr>
        <p:spPr bwMode="auto">
          <a:xfrm flipV="1">
            <a:off x="6680201" y="3706814"/>
            <a:ext cx="360363" cy="1587"/>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29" name="Line 16"/>
          <p:cNvSpPr>
            <a:spLocks noChangeShapeType="1"/>
          </p:cNvSpPr>
          <p:nvPr/>
        </p:nvSpPr>
        <p:spPr bwMode="auto">
          <a:xfrm>
            <a:off x="6656389" y="1500188"/>
            <a:ext cx="358775" cy="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30" name="Line 26"/>
          <p:cNvSpPr>
            <a:spLocks noChangeShapeType="1"/>
          </p:cNvSpPr>
          <p:nvPr/>
        </p:nvSpPr>
        <p:spPr bwMode="auto">
          <a:xfrm flipV="1">
            <a:off x="6678613" y="3140076"/>
            <a:ext cx="349250" cy="3175"/>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31" name="Line 8"/>
          <p:cNvSpPr>
            <a:spLocks noChangeShapeType="1"/>
          </p:cNvSpPr>
          <p:nvPr/>
        </p:nvSpPr>
        <p:spPr bwMode="auto">
          <a:xfrm>
            <a:off x="4238626" y="3357563"/>
            <a:ext cx="2428875" cy="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32" name="Line 10"/>
          <p:cNvSpPr>
            <a:spLocks noChangeShapeType="1"/>
          </p:cNvSpPr>
          <p:nvPr/>
        </p:nvSpPr>
        <p:spPr bwMode="auto">
          <a:xfrm>
            <a:off x="4227513" y="5143500"/>
            <a:ext cx="4392612" cy="46038"/>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33" name="Line 10"/>
          <p:cNvSpPr>
            <a:spLocks noChangeShapeType="1"/>
          </p:cNvSpPr>
          <p:nvPr/>
        </p:nvSpPr>
        <p:spPr bwMode="auto">
          <a:xfrm>
            <a:off x="3806825" y="3632200"/>
            <a:ext cx="431800" cy="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34" name="AutoShape 5"/>
          <p:cNvSpPr>
            <a:spLocks noChangeArrowheads="1"/>
          </p:cNvSpPr>
          <p:nvPr/>
        </p:nvSpPr>
        <p:spPr bwMode="auto">
          <a:xfrm>
            <a:off x="4492626" y="3197306"/>
            <a:ext cx="1971675" cy="374571"/>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000000"/>
                </a:solidFill>
                <a:latin typeface="Arial" pitchFamily="34" charset="0"/>
                <a:ea typeface="楷体_GB2312" pitchFamily="49" charset="-122"/>
              </a:rPr>
              <a:t>访问控制列表概述</a:t>
            </a:r>
          </a:p>
        </p:txBody>
      </p:sp>
      <p:sp>
        <p:nvSpPr>
          <p:cNvPr id="35" name="Line 14"/>
          <p:cNvSpPr>
            <a:spLocks noChangeShapeType="1"/>
          </p:cNvSpPr>
          <p:nvPr/>
        </p:nvSpPr>
        <p:spPr bwMode="auto">
          <a:xfrm>
            <a:off x="6667500" y="1492250"/>
            <a:ext cx="0" cy="579438"/>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37" name="AutoShape 18"/>
          <p:cNvSpPr>
            <a:spLocks noChangeArrowheads="1"/>
          </p:cNvSpPr>
          <p:nvPr/>
        </p:nvSpPr>
        <p:spPr bwMode="auto">
          <a:xfrm>
            <a:off x="7024694" y="2928935"/>
            <a:ext cx="2700338" cy="374571"/>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000000"/>
                </a:solidFill>
                <a:latin typeface="Arial" pitchFamily="34" charset="0"/>
                <a:ea typeface="楷体_GB2312" pitchFamily="49" charset="-122"/>
              </a:rPr>
              <a:t>访问控制列表的工作原理</a:t>
            </a:r>
          </a:p>
        </p:txBody>
      </p:sp>
      <p:sp>
        <p:nvSpPr>
          <p:cNvPr id="41" name="AutoShape 28"/>
          <p:cNvSpPr>
            <a:spLocks noChangeArrowheads="1"/>
          </p:cNvSpPr>
          <p:nvPr/>
        </p:nvSpPr>
        <p:spPr bwMode="auto">
          <a:xfrm>
            <a:off x="7024694" y="3500439"/>
            <a:ext cx="2700338" cy="374571"/>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000000"/>
                </a:solidFill>
                <a:latin typeface="Arial" pitchFamily="34" charset="0"/>
                <a:ea typeface="楷体_GB2312" pitchFamily="49" charset="-122"/>
              </a:rPr>
              <a:t>访问控制列表的类型</a:t>
            </a:r>
          </a:p>
        </p:txBody>
      </p:sp>
      <p:sp>
        <p:nvSpPr>
          <p:cNvPr id="42" name="AutoShape 4"/>
          <p:cNvSpPr>
            <a:spLocks noChangeArrowheads="1"/>
          </p:cNvSpPr>
          <p:nvPr/>
        </p:nvSpPr>
        <p:spPr bwMode="auto">
          <a:xfrm>
            <a:off x="1820848" y="3436738"/>
            <a:ext cx="2132012" cy="374571"/>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000000"/>
                </a:solidFill>
                <a:latin typeface="Arial" pitchFamily="34" charset="0"/>
                <a:ea typeface="楷体_GB2312" pitchFamily="49" charset="-122"/>
              </a:rPr>
              <a:t>访问控制列表（一）</a:t>
            </a:r>
          </a:p>
        </p:txBody>
      </p:sp>
      <p:sp>
        <p:nvSpPr>
          <p:cNvPr id="46" name="Line 36"/>
          <p:cNvSpPr>
            <a:spLocks noChangeShapeType="1"/>
          </p:cNvSpPr>
          <p:nvPr/>
        </p:nvSpPr>
        <p:spPr bwMode="auto">
          <a:xfrm flipH="1">
            <a:off x="4238625" y="1714500"/>
            <a:ext cx="0" cy="342900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47" name="Line 37"/>
          <p:cNvSpPr>
            <a:spLocks noChangeShapeType="1"/>
          </p:cNvSpPr>
          <p:nvPr/>
        </p:nvSpPr>
        <p:spPr bwMode="auto">
          <a:xfrm flipH="1">
            <a:off x="6667500" y="3143250"/>
            <a:ext cx="0" cy="57150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48" name="Line 8"/>
          <p:cNvSpPr>
            <a:spLocks noChangeShapeType="1"/>
          </p:cNvSpPr>
          <p:nvPr/>
        </p:nvSpPr>
        <p:spPr bwMode="auto">
          <a:xfrm>
            <a:off x="4238626" y="1714488"/>
            <a:ext cx="2428875" cy="46038"/>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49" name="AutoShape 11"/>
          <p:cNvSpPr>
            <a:spLocks noChangeArrowheads="1"/>
          </p:cNvSpPr>
          <p:nvPr/>
        </p:nvSpPr>
        <p:spPr bwMode="auto">
          <a:xfrm>
            <a:off x="6988175" y="1339918"/>
            <a:ext cx="2700338" cy="374571"/>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en-US" altLang="zh-CN" sz="1600" b="1" dirty="0">
                <a:solidFill>
                  <a:srgbClr val="FF0000"/>
                </a:solidFill>
                <a:latin typeface="Arial" pitchFamily="34" charset="0"/>
                <a:ea typeface="楷体_GB2312" pitchFamily="49" charset="-122"/>
              </a:rPr>
              <a:t>TCP</a:t>
            </a:r>
            <a:r>
              <a:rPr lang="zh-CN" altLang="en-US" sz="1600" b="1" dirty="0">
                <a:solidFill>
                  <a:srgbClr val="FF0000"/>
                </a:solidFill>
                <a:latin typeface="Arial" pitchFamily="34" charset="0"/>
                <a:ea typeface="楷体_GB2312" pitchFamily="49" charset="-122"/>
              </a:rPr>
              <a:t>协议</a:t>
            </a:r>
          </a:p>
        </p:txBody>
      </p:sp>
      <p:sp>
        <p:nvSpPr>
          <p:cNvPr id="50" name="AutoShape 5"/>
          <p:cNvSpPr>
            <a:spLocks noChangeArrowheads="1"/>
          </p:cNvSpPr>
          <p:nvPr/>
        </p:nvSpPr>
        <p:spPr bwMode="auto">
          <a:xfrm>
            <a:off x="4485201" y="4786322"/>
            <a:ext cx="2000263" cy="646986"/>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FF0000"/>
                </a:solidFill>
                <a:latin typeface="Arial" pitchFamily="34" charset="0"/>
                <a:ea typeface="楷体_GB2312" pitchFamily="49" charset="-122"/>
              </a:rPr>
              <a:t>标准访问控制列表的配置</a:t>
            </a:r>
          </a:p>
        </p:txBody>
      </p:sp>
      <p:sp>
        <p:nvSpPr>
          <p:cNvPr id="51" name="AutoShape 5"/>
          <p:cNvSpPr>
            <a:spLocks noChangeArrowheads="1"/>
          </p:cNvSpPr>
          <p:nvPr/>
        </p:nvSpPr>
        <p:spPr bwMode="auto">
          <a:xfrm>
            <a:off x="4481514" y="1554152"/>
            <a:ext cx="1971675" cy="374650"/>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en-US" altLang="zh-CN" sz="1600" b="1" dirty="0">
                <a:solidFill>
                  <a:srgbClr val="000000"/>
                </a:solidFill>
                <a:latin typeface="Arial" pitchFamily="34" charset="0"/>
                <a:ea typeface="楷体_GB2312" pitchFamily="49" charset="-122"/>
              </a:rPr>
              <a:t>TCP</a:t>
            </a:r>
            <a:r>
              <a:rPr lang="zh-CN" altLang="en-US" sz="1600" b="1" dirty="0">
                <a:solidFill>
                  <a:srgbClr val="000000"/>
                </a:solidFill>
                <a:latin typeface="Arial" pitchFamily="34" charset="0"/>
                <a:ea typeface="楷体_GB2312" pitchFamily="49" charset="-122"/>
              </a:rPr>
              <a:t>和</a:t>
            </a:r>
            <a:r>
              <a:rPr lang="en-US" altLang="zh-CN" sz="1600" b="1" dirty="0">
                <a:solidFill>
                  <a:srgbClr val="000000"/>
                </a:solidFill>
                <a:latin typeface="Arial" pitchFamily="34" charset="0"/>
                <a:ea typeface="楷体_GB2312" pitchFamily="49" charset="-122"/>
              </a:rPr>
              <a:t>UDP</a:t>
            </a:r>
            <a:r>
              <a:rPr lang="zh-CN" altLang="en-US" sz="1600" b="1" dirty="0">
                <a:solidFill>
                  <a:srgbClr val="000000"/>
                </a:solidFill>
                <a:latin typeface="Arial" pitchFamily="34" charset="0"/>
                <a:ea typeface="楷体_GB2312" pitchFamily="49" charset="-122"/>
              </a:rPr>
              <a:t>协议</a:t>
            </a:r>
          </a:p>
        </p:txBody>
      </p:sp>
      <p:sp>
        <p:nvSpPr>
          <p:cNvPr id="52" name="Line 25"/>
          <p:cNvSpPr>
            <a:spLocks noChangeShapeType="1"/>
          </p:cNvSpPr>
          <p:nvPr/>
        </p:nvSpPr>
        <p:spPr bwMode="auto">
          <a:xfrm flipV="1">
            <a:off x="6683376" y="5704615"/>
            <a:ext cx="360363" cy="1587"/>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53" name="Line 16"/>
          <p:cNvSpPr>
            <a:spLocks noChangeShapeType="1"/>
          </p:cNvSpPr>
          <p:nvPr/>
        </p:nvSpPr>
        <p:spPr bwMode="auto">
          <a:xfrm>
            <a:off x="6667501" y="4737100"/>
            <a:ext cx="360363" cy="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54" name="AutoShape 18"/>
          <p:cNvSpPr>
            <a:spLocks noChangeArrowheads="1"/>
          </p:cNvSpPr>
          <p:nvPr/>
        </p:nvSpPr>
        <p:spPr bwMode="auto">
          <a:xfrm>
            <a:off x="6992042" y="4557038"/>
            <a:ext cx="2700338" cy="374571"/>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FF0000"/>
                </a:solidFill>
                <a:latin typeface="Arial" pitchFamily="34" charset="0"/>
                <a:ea typeface="楷体_GB2312" pitchFamily="49" charset="-122"/>
              </a:rPr>
              <a:t>创建</a:t>
            </a:r>
            <a:r>
              <a:rPr lang="en-US" altLang="zh-CN" sz="1600" b="1" dirty="0">
                <a:solidFill>
                  <a:srgbClr val="FF0000"/>
                </a:solidFill>
                <a:latin typeface="Arial" pitchFamily="34" charset="0"/>
                <a:ea typeface="楷体_GB2312" pitchFamily="49" charset="-122"/>
              </a:rPr>
              <a:t>ACL</a:t>
            </a:r>
            <a:endParaRPr lang="zh-CN" altLang="en-US" sz="1600" b="1" dirty="0">
              <a:solidFill>
                <a:srgbClr val="FF0000"/>
              </a:solidFill>
              <a:latin typeface="Arial" pitchFamily="34" charset="0"/>
              <a:ea typeface="楷体_GB2312" pitchFamily="49" charset="-122"/>
            </a:endParaRPr>
          </a:p>
        </p:txBody>
      </p:sp>
      <p:sp>
        <p:nvSpPr>
          <p:cNvPr id="55" name="AutoShape 27"/>
          <p:cNvSpPr>
            <a:spLocks noChangeArrowheads="1"/>
          </p:cNvSpPr>
          <p:nvPr/>
        </p:nvSpPr>
        <p:spPr bwMode="auto">
          <a:xfrm>
            <a:off x="6996289" y="5501432"/>
            <a:ext cx="2675479" cy="374571"/>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000000"/>
                </a:solidFill>
                <a:latin typeface="Arial" pitchFamily="34" charset="0"/>
                <a:ea typeface="楷体_GB2312" pitchFamily="49" charset="-122"/>
              </a:rPr>
              <a:t>标准</a:t>
            </a:r>
            <a:r>
              <a:rPr lang="en-US" altLang="zh-CN" sz="1600" b="1" dirty="0">
                <a:solidFill>
                  <a:srgbClr val="000000"/>
                </a:solidFill>
                <a:latin typeface="Arial" pitchFamily="34" charset="0"/>
                <a:ea typeface="楷体_GB2312" pitchFamily="49" charset="-122"/>
              </a:rPr>
              <a:t>ACL</a:t>
            </a:r>
            <a:r>
              <a:rPr lang="zh-CN" altLang="en-US" sz="1600" b="1" dirty="0">
                <a:solidFill>
                  <a:srgbClr val="000000"/>
                </a:solidFill>
                <a:latin typeface="Arial" pitchFamily="34" charset="0"/>
                <a:ea typeface="楷体_GB2312" pitchFamily="49" charset="-122"/>
              </a:rPr>
              <a:t>的配置实例</a:t>
            </a:r>
          </a:p>
        </p:txBody>
      </p:sp>
      <p:sp>
        <p:nvSpPr>
          <p:cNvPr id="56" name="AutoShape 28"/>
          <p:cNvSpPr>
            <a:spLocks noChangeArrowheads="1"/>
          </p:cNvSpPr>
          <p:nvPr/>
        </p:nvSpPr>
        <p:spPr bwMode="auto">
          <a:xfrm>
            <a:off x="6992042" y="5025350"/>
            <a:ext cx="2700338" cy="374571"/>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FF0000"/>
                </a:solidFill>
                <a:latin typeface="Arial" pitchFamily="34" charset="0"/>
                <a:ea typeface="楷体_GB2312" pitchFamily="49" charset="-122"/>
              </a:rPr>
              <a:t>将</a:t>
            </a:r>
            <a:r>
              <a:rPr lang="en-US" altLang="zh-CN" sz="1600" b="1" dirty="0">
                <a:solidFill>
                  <a:srgbClr val="FF0000"/>
                </a:solidFill>
                <a:latin typeface="Arial" pitchFamily="34" charset="0"/>
                <a:ea typeface="楷体_GB2312" pitchFamily="49" charset="-122"/>
              </a:rPr>
              <a:t>ACL</a:t>
            </a:r>
            <a:r>
              <a:rPr lang="zh-CN" altLang="en-US" sz="1600" b="1" dirty="0">
                <a:solidFill>
                  <a:srgbClr val="FF0000"/>
                </a:solidFill>
                <a:latin typeface="Arial" pitchFamily="34" charset="0"/>
                <a:ea typeface="楷体_GB2312" pitchFamily="49" charset="-122"/>
              </a:rPr>
              <a:t>应用于接口</a:t>
            </a:r>
          </a:p>
        </p:txBody>
      </p:sp>
      <p:sp>
        <p:nvSpPr>
          <p:cNvPr id="57" name="Line 16"/>
          <p:cNvSpPr>
            <a:spLocks noChangeShapeType="1"/>
          </p:cNvSpPr>
          <p:nvPr/>
        </p:nvSpPr>
        <p:spPr bwMode="auto">
          <a:xfrm>
            <a:off x="6667501" y="2071688"/>
            <a:ext cx="358775" cy="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cxnSp>
        <p:nvCxnSpPr>
          <p:cNvPr id="58" name="直接连接符 57"/>
          <p:cNvCxnSpPr>
            <a:stCxn id="53" idx="0"/>
          </p:cNvCxnSpPr>
          <p:nvPr/>
        </p:nvCxnSpPr>
        <p:spPr bwMode="auto">
          <a:xfrm rot="5400000">
            <a:off x="6178550" y="5226050"/>
            <a:ext cx="977900" cy="0"/>
          </a:xfrm>
          <a:prstGeom prst="lin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cxnSp>
      <p:sp>
        <p:nvSpPr>
          <p:cNvPr id="59" name="AutoShape 11"/>
          <p:cNvSpPr>
            <a:spLocks noChangeArrowheads="1"/>
          </p:cNvSpPr>
          <p:nvPr/>
        </p:nvSpPr>
        <p:spPr bwMode="auto">
          <a:xfrm>
            <a:off x="6988175" y="1911422"/>
            <a:ext cx="2700338" cy="374571"/>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en-US" altLang="zh-CN" sz="1600" b="1" dirty="0">
                <a:solidFill>
                  <a:srgbClr val="000000"/>
                </a:solidFill>
                <a:latin typeface="Arial" pitchFamily="34" charset="0"/>
                <a:ea typeface="楷体_GB2312" pitchFamily="49" charset="-122"/>
              </a:rPr>
              <a:t>UDP</a:t>
            </a:r>
            <a:r>
              <a:rPr lang="zh-CN" altLang="en-US" sz="1600" b="1" dirty="0">
                <a:solidFill>
                  <a:srgbClr val="000000"/>
                </a:solidFill>
                <a:latin typeface="Arial" pitchFamily="34" charset="0"/>
                <a:ea typeface="楷体_GB2312" pitchFamily="49" charset="-122"/>
              </a:rPr>
              <a:t>协议</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strips(downRight)">
                                      <p:cBhvr>
                                        <p:cTn id="7" dur="500"/>
                                        <p:tgtEl>
                                          <p:spTgt spid="28"/>
                                        </p:tgtEl>
                                      </p:cBhvr>
                                    </p:animEffect>
                                  </p:childTnLst>
                                </p:cTn>
                              </p:par>
                              <p:par>
                                <p:cTn id="8" presetID="18" presetClass="entr" presetSubtype="6"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strips(downRight)">
                                      <p:cBhvr>
                                        <p:cTn id="10" dur="500"/>
                                        <p:tgtEl>
                                          <p:spTgt spid="29"/>
                                        </p:tgtEl>
                                      </p:cBhvr>
                                    </p:animEffect>
                                  </p:childTnLst>
                                </p:cTn>
                              </p:par>
                              <p:par>
                                <p:cTn id="11" presetID="18" presetClass="entr" presetSubtype="6"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strips(downRight)">
                                      <p:cBhvr>
                                        <p:cTn id="13" dur="500"/>
                                        <p:tgtEl>
                                          <p:spTgt spid="30"/>
                                        </p:tgtEl>
                                      </p:cBhvr>
                                    </p:animEffect>
                                  </p:childTnLst>
                                </p:cTn>
                              </p:par>
                              <p:par>
                                <p:cTn id="14" presetID="18" presetClass="entr" presetSubtype="6" fill="hold" grpId="0"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strips(downRight)">
                                      <p:cBhvr>
                                        <p:cTn id="16" dur="500"/>
                                        <p:tgtEl>
                                          <p:spTgt spid="31"/>
                                        </p:tgtEl>
                                      </p:cBhvr>
                                    </p:animEffect>
                                  </p:childTnLst>
                                </p:cTn>
                              </p:par>
                              <p:par>
                                <p:cTn id="17" presetID="18" presetClass="entr" presetSubtype="6"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strips(downRight)">
                                      <p:cBhvr>
                                        <p:cTn id="19" dur="500"/>
                                        <p:tgtEl>
                                          <p:spTgt spid="32"/>
                                        </p:tgtEl>
                                      </p:cBhvr>
                                    </p:animEffect>
                                  </p:childTnLst>
                                </p:cTn>
                              </p:par>
                              <p:par>
                                <p:cTn id="20" presetID="18" presetClass="entr" presetSubtype="6" fill="hold" grpId="0"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strips(downRight)">
                                      <p:cBhvr>
                                        <p:cTn id="22" dur="500"/>
                                        <p:tgtEl>
                                          <p:spTgt spid="33"/>
                                        </p:tgtEl>
                                      </p:cBhvr>
                                    </p:animEffect>
                                  </p:childTnLst>
                                </p:cTn>
                              </p:par>
                              <p:par>
                                <p:cTn id="23" presetID="18" presetClass="entr" presetSubtype="6"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strips(downRight)">
                                      <p:cBhvr>
                                        <p:cTn id="25" dur="500"/>
                                        <p:tgtEl>
                                          <p:spTgt spid="34"/>
                                        </p:tgtEl>
                                      </p:cBhvr>
                                    </p:animEffect>
                                  </p:childTnLst>
                                </p:cTn>
                              </p:par>
                              <p:par>
                                <p:cTn id="26" presetID="18" presetClass="entr" presetSubtype="6" fill="hold" grpId="0" nodeType="with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strips(downRight)">
                                      <p:cBhvr>
                                        <p:cTn id="28" dur="500"/>
                                        <p:tgtEl>
                                          <p:spTgt spid="35"/>
                                        </p:tgtEl>
                                      </p:cBhvr>
                                    </p:animEffect>
                                  </p:childTnLst>
                                </p:cTn>
                              </p:par>
                              <p:par>
                                <p:cTn id="29" presetID="18" presetClass="entr" presetSubtype="6"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strips(downRight)">
                                      <p:cBhvr>
                                        <p:cTn id="31" dur="500"/>
                                        <p:tgtEl>
                                          <p:spTgt spid="37"/>
                                        </p:tgtEl>
                                      </p:cBhvr>
                                    </p:animEffect>
                                  </p:childTnLst>
                                </p:cTn>
                              </p:par>
                              <p:par>
                                <p:cTn id="32" presetID="18" presetClass="entr" presetSubtype="6" fill="hold" grpId="0" nodeType="withEffect">
                                  <p:stCondLst>
                                    <p:cond delay="0"/>
                                  </p:stCondLst>
                                  <p:childTnLst>
                                    <p:set>
                                      <p:cBhvr>
                                        <p:cTn id="33" dur="1" fill="hold">
                                          <p:stCondLst>
                                            <p:cond delay="0"/>
                                          </p:stCondLst>
                                        </p:cTn>
                                        <p:tgtEl>
                                          <p:spTgt spid="41"/>
                                        </p:tgtEl>
                                        <p:attrNameLst>
                                          <p:attrName>style.visibility</p:attrName>
                                        </p:attrNameLst>
                                      </p:cBhvr>
                                      <p:to>
                                        <p:strVal val="visible"/>
                                      </p:to>
                                    </p:set>
                                    <p:animEffect transition="in" filter="strips(downRight)">
                                      <p:cBhvr>
                                        <p:cTn id="34" dur="500"/>
                                        <p:tgtEl>
                                          <p:spTgt spid="41"/>
                                        </p:tgtEl>
                                      </p:cBhvr>
                                    </p:animEffect>
                                  </p:childTnLst>
                                </p:cTn>
                              </p:par>
                              <p:par>
                                <p:cTn id="35" presetID="18" presetClass="entr" presetSubtype="6"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strips(downRight)">
                                      <p:cBhvr>
                                        <p:cTn id="37" dur="500"/>
                                        <p:tgtEl>
                                          <p:spTgt spid="42"/>
                                        </p:tgtEl>
                                      </p:cBhvr>
                                    </p:animEffect>
                                  </p:childTnLst>
                                </p:cTn>
                              </p:par>
                              <p:par>
                                <p:cTn id="38" presetID="18" presetClass="entr" presetSubtype="6" fill="hold" grpId="0" nodeType="withEffect">
                                  <p:stCondLst>
                                    <p:cond delay="0"/>
                                  </p:stCondLst>
                                  <p:childTnLst>
                                    <p:set>
                                      <p:cBhvr>
                                        <p:cTn id="39" dur="1" fill="hold">
                                          <p:stCondLst>
                                            <p:cond delay="0"/>
                                          </p:stCondLst>
                                        </p:cTn>
                                        <p:tgtEl>
                                          <p:spTgt spid="46"/>
                                        </p:tgtEl>
                                        <p:attrNameLst>
                                          <p:attrName>style.visibility</p:attrName>
                                        </p:attrNameLst>
                                      </p:cBhvr>
                                      <p:to>
                                        <p:strVal val="visible"/>
                                      </p:to>
                                    </p:set>
                                    <p:animEffect transition="in" filter="strips(downRight)">
                                      <p:cBhvr>
                                        <p:cTn id="40" dur="500"/>
                                        <p:tgtEl>
                                          <p:spTgt spid="46"/>
                                        </p:tgtEl>
                                      </p:cBhvr>
                                    </p:animEffect>
                                  </p:childTnLst>
                                </p:cTn>
                              </p:par>
                              <p:par>
                                <p:cTn id="41" presetID="18" presetClass="entr" presetSubtype="6" fill="hold" grpId="0" nodeType="withEffect">
                                  <p:stCondLst>
                                    <p:cond delay="0"/>
                                  </p:stCondLst>
                                  <p:childTnLst>
                                    <p:set>
                                      <p:cBhvr>
                                        <p:cTn id="42" dur="1" fill="hold">
                                          <p:stCondLst>
                                            <p:cond delay="0"/>
                                          </p:stCondLst>
                                        </p:cTn>
                                        <p:tgtEl>
                                          <p:spTgt spid="47"/>
                                        </p:tgtEl>
                                        <p:attrNameLst>
                                          <p:attrName>style.visibility</p:attrName>
                                        </p:attrNameLst>
                                      </p:cBhvr>
                                      <p:to>
                                        <p:strVal val="visible"/>
                                      </p:to>
                                    </p:set>
                                    <p:animEffect transition="in" filter="strips(downRight)">
                                      <p:cBhvr>
                                        <p:cTn id="43" dur="500"/>
                                        <p:tgtEl>
                                          <p:spTgt spid="47"/>
                                        </p:tgtEl>
                                      </p:cBhvr>
                                    </p:animEffect>
                                  </p:childTnLst>
                                </p:cTn>
                              </p:par>
                              <p:par>
                                <p:cTn id="44" presetID="18" presetClass="entr" presetSubtype="6" fill="hold" grpId="0" nodeType="withEffect">
                                  <p:stCondLst>
                                    <p:cond delay="0"/>
                                  </p:stCondLst>
                                  <p:childTnLst>
                                    <p:set>
                                      <p:cBhvr>
                                        <p:cTn id="45" dur="1" fill="hold">
                                          <p:stCondLst>
                                            <p:cond delay="0"/>
                                          </p:stCondLst>
                                        </p:cTn>
                                        <p:tgtEl>
                                          <p:spTgt spid="48"/>
                                        </p:tgtEl>
                                        <p:attrNameLst>
                                          <p:attrName>style.visibility</p:attrName>
                                        </p:attrNameLst>
                                      </p:cBhvr>
                                      <p:to>
                                        <p:strVal val="visible"/>
                                      </p:to>
                                    </p:set>
                                    <p:animEffect transition="in" filter="strips(downRight)">
                                      <p:cBhvr>
                                        <p:cTn id="46" dur="500"/>
                                        <p:tgtEl>
                                          <p:spTgt spid="48"/>
                                        </p:tgtEl>
                                      </p:cBhvr>
                                    </p:animEffect>
                                  </p:childTnLst>
                                </p:cTn>
                              </p:par>
                              <p:par>
                                <p:cTn id="47" presetID="18" presetClass="entr" presetSubtype="6" fill="hold" grpId="0" nodeType="withEffect">
                                  <p:stCondLst>
                                    <p:cond delay="0"/>
                                  </p:stCondLst>
                                  <p:childTnLst>
                                    <p:set>
                                      <p:cBhvr>
                                        <p:cTn id="48" dur="1" fill="hold">
                                          <p:stCondLst>
                                            <p:cond delay="0"/>
                                          </p:stCondLst>
                                        </p:cTn>
                                        <p:tgtEl>
                                          <p:spTgt spid="49"/>
                                        </p:tgtEl>
                                        <p:attrNameLst>
                                          <p:attrName>style.visibility</p:attrName>
                                        </p:attrNameLst>
                                      </p:cBhvr>
                                      <p:to>
                                        <p:strVal val="visible"/>
                                      </p:to>
                                    </p:set>
                                    <p:animEffect transition="in" filter="strips(downRight)">
                                      <p:cBhvr>
                                        <p:cTn id="49" dur="500"/>
                                        <p:tgtEl>
                                          <p:spTgt spid="49"/>
                                        </p:tgtEl>
                                      </p:cBhvr>
                                    </p:animEffect>
                                  </p:childTnLst>
                                </p:cTn>
                              </p:par>
                              <p:par>
                                <p:cTn id="50" presetID="18" presetClass="entr" presetSubtype="6" fill="hold" grpId="0" nodeType="withEffect">
                                  <p:stCondLst>
                                    <p:cond delay="0"/>
                                  </p:stCondLst>
                                  <p:childTnLst>
                                    <p:set>
                                      <p:cBhvr>
                                        <p:cTn id="51" dur="1" fill="hold">
                                          <p:stCondLst>
                                            <p:cond delay="0"/>
                                          </p:stCondLst>
                                        </p:cTn>
                                        <p:tgtEl>
                                          <p:spTgt spid="50"/>
                                        </p:tgtEl>
                                        <p:attrNameLst>
                                          <p:attrName>style.visibility</p:attrName>
                                        </p:attrNameLst>
                                      </p:cBhvr>
                                      <p:to>
                                        <p:strVal val="visible"/>
                                      </p:to>
                                    </p:set>
                                    <p:animEffect transition="in" filter="strips(downRight)">
                                      <p:cBhvr>
                                        <p:cTn id="52" dur="500"/>
                                        <p:tgtEl>
                                          <p:spTgt spid="50"/>
                                        </p:tgtEl>
                                      </p:cBhvr>
                                    </p:animEffect>
                                  </p:childTnLst>
                                </p:cTn>
                              </p:par>
                              <p:par>
                                <p:cTn id="53" presetID="18" presetClass="entr" presetSubtype="6" fill="hold" grpId="0" nodeType="withEffect">
                                  <p:stCondLst>
                                    <p:cond delay="0"/>
                                  </p:stCondLst>
                                  <p:childTnLst>
                                    <p:set>
                                      <p:cBhvr>
                                        <p:cTn id="54" dur="1" fill="hold">
                                          <p:stCondLst>
                                            <p:cond delay="0"/>
                                          </p:stCondLst>
                                        </p:cTn>
                                        <p:tgtEl>
                                          <p:spTgt spid="51"/>
                                        </p:tgtEl>
                                        <p:attrNameLst>
                                          <p:attrName>style.visibility</p:attrName>
                                        </p:attrNameLst>
                                      </p:cBhvr>
                                      <p:to>
                                        <p:strVal val="visible"/>
                                      </p:to>
                                    </p:set>
                                    <p:animEffect transition="in" filter="strips(downRight)">
                                      <p:cBhvr>
                                        <p:cTn id="55" dur="500"/>
                                        <p:tgtEl>
                                          <p:spTgt spid="51"/>
                                        </p:tgtEl>
                                      </p:cBhvr>
                                    </p:animEffect>
                                  </p:childTnLst>
                                </p:cTn>
                              </p:par>
                              <p:par>
                                <p:cTn id="56" presetID="18" presetClass="entr" presetSubtype="6" fill="hold" grpId="0" nodeType="withEffect">
                                  <p:stCondLst>
                                    <p:cond delay="0"/>
                                  </p:stCondLst>
                                  <p:childTnLst>
                                    <p:set>
                                      <p:cBhvr>
                                        <p:cTn id="57" dur="1" fill="hold">
                                          <p:stCondLst>
                                            <p:cond delay="0"/>
                                          </p:stCondLst>
                                        </p:cTn>
                                        <p:tgtEl>
                                          <p:spTgt spid="52"/>
                                        </p:tgtEl>
                                        <p:attrNameLst>
                                          <p:attrName>style.visibility</p:attrName>
                                        </p:attrNameLst>
                                      </p:cBhvr>
                                      <p:to>
                                        <p:strVal val="visible"/>
                                      </p:to>
                                    </p:set>
                                    <p:animEffect transition="in" filter="strips(downRight)">
                                      <p:cBhvr>
                                        <p:cTn id="58" dur="500"/>
                                        <p:tgtEl>
                                          <p:spTgt spid="52"/>
                                        </p:tgtEl>
                                      </p:cBhvr>
                                    </p:animEffect>
                                  </p:childTnLst>
                                </p:cTn>
                              </p:par>
                              <p:par>
                                <p:cTn id="59" presetID="18" presetClass="entr" presetSubtype="6" fill="hold" grpId="0" nodeType="withEffect">
                                  <p:stCondLst>
                                    <p:cond delay="0"/>
                                  </p:stCondLst>
                                  <p:childTnLst>
                                    <p:set>
                                      <p:cBhvr>
                                        <p:cTn id="60" dur="1" fill="hold">
                                          <p:stCondLst>
                                            <p:cond delay="0"/>
                                          </p:stCondLst>
                                        </p:cTn>
                                        <p:tgtEl>
                                          <p:spTgt spid="53"/>
                                        </p:tgtEl>
                                        <p:attrNameLst>
                                          <p:attrName>style.visibility</p:attrName>
                                        </p:attrNameLst>
                                      </p:cBhvr>
                                      <p:to>
                                        <p:strVal val="visible"/>
                                      </p:to>
                                    </p:set>
                                    <p:animEffect transition="in" filter="strips(downRight)">
                                      <p:cBhvr>
                                        <p:cTn id="61" dur="500"/>
                                        <p:tgtEl>
                                          <p:spTgt spid="53"/>
                                        </p:tgtEl>
                                      </p:cBhvr>
                                    </p:animEffect>
                                  </p:childTnLst>
                                </p:cTn>
                              </p:par>
                              <p:par>
                                <p:cTn id="62" presetID="18" presetClass="entr" presetSubtype="6" fill="hold" grpId="0" nodeType="withEffect">
                                  <p:stCondLst>
                                    <p:cond delay="0"/>
                                  </p:stCondLst>
                                  <p:childTnLst>
                                    <p:set>
                                      <p:cBhvr>
                                        <p:cTn id="63" dur="1" fill="hold">
                                          <p:stCondLst>
                                            <p:cond delay="0"/>
                                          </p:stCondLst>
                                        </p:cTn>
                                        <p:tgtEl>
                                          <p:spTgt spid="54"/>
                                        </p:tgtEl>
                                        <p:attrNameLst>
                                          <p:attrName>style.visibility</p:attrName>
                                        </p:attrNameLst>
                                      </p:cBhvr>
                                      <p:to>
                                        <p:strVal val="visible"/>
                                      </p:to>
                                    </p:set>
                                    <p:animEffect transition="in" filter="strips(downRight)">
                                      <p:cBhvr>
                                        <p:cTn id="64" dur="500"/>
                                        <p:tgtEl>
                                          <p:spTgt spid="54"/>
                                        </p:tgtEl>
                                      </p:cBhvr>
                                    </p:animEffect>
                                  </p:childTnLst>
                                </p:cTn>
                              </p:par>
                              <p:par>
                                <p:cTn id="65" presetID="18" presetClass="entr" presetSubtype="6" fill="hold" grpId="0" nodeType="withEffect">
                                  <p:stCondLst>
                                    <p:cond delay="0"/>
                                  </p:stCondLst>
                                  <p:childTnLst>
                                    <p:set>
                                      <p:cBhvr>
                                        <p:cTn id="66" dur="1" fill="hold">
                                          <p:stCondLst>
                                            <p:cond delay="0"/>
                                          </p:stCondLst>
                                        </p:cTn>
                                        <p:tgtEl>
                                          <p:spTgt spid="55"/>
                                        </p:tgtEl>
                                        <p:attrNameLst>
                                          <p:attrName>style.visibility</p:attrName>
                                        </p:attrNameLst>
                                      </p:cBhvr>
                                      <p:to>
                                        <p:strVal val="visible"/>
                                      </p:to>
                                    </p:set>
                                    <p:animEffect transition="in" filter="strips(downRight)">
                                      <p:cBhvr>
                                        <p:cTn id="67" dur="500"/>
                                        <p:tgtEl>
                                          <p:spTgt spid="55"/>
                                        </p:tgtEl>
                                      </p:cBhvr>
                                    </p:animEffect>
                                  </p:childTnLst>
                                </p:cTn>
                              </p:par>
                              <p:par>
                                <p:cTn id="68" presetID="18" presetClass="entr" presetSubtype="6" fill="hold" grpId="0" nodeType="withEffect">
                                  <p:stCondLst>
                                    <p:cond delay="0"/>
                                  </p:stCondLst>
                                  <p:childTnLst>
                                    <p:set>
                                      <p:cBhvr>
                                        <p:cTn id="69" dur="1" fill="hold">
                                          <p:stCondLst>
                                            <p:cond delay="0"/>
                                          </p:stCondLst>
                                        </p:cTn>
                                        <p:tgtEl>
                                          <p:spTgt spid="56"/>
                                        </p:tgtEl>
                                        <p:attrNameLst>
                                          <p:attrName>style.visibility</p:attrName>
                                        </p:attrNameLst>
                                      </p:cBhvr>
                                      <p:to>
                                        <p:strVal val="visible"/>
                                      </p:to>
                                    </p:set>
                                    <p:animEffect transition="in" filter="strips(downRight)">
                                      <p:cBhvr>
                                        <p:cTn id="70" dur="500"/>
                                        <p:tgtEl>
                                          <p:spTgt spid="56"/>
                                        </p:tgtEl>
                                      </p:cBhvr>
                                    </p:animEffect>
                                  </p:childTnLst>
                                </p:cTn>
                              </p:par>
                              <p:par>
                                <p:cTn id="71" presetID="18" presetClass="entr" presetSubtype="6" fill="hold" grpId="0" nodeType="withEffect">
                                  <p:stCondLst>
                                    <p:cond delay="0"/>
                                  </p:stCondLst>
                                  <p:childTnLst>
                                    <p:set>
                                      <p:cBhvr>
                                        <p:cTn id="72" dur="1" fill="hold">
                                          <p:stCondLst>
                                            <p:cond delay="0"/>
                                          </p:stCondLst>
                                        </p:cTn>
                                        <p:tgtEl>
                                          <p:spTgt spid="57"/>
                                        </p:tgtEl>
                                        <p:attrNameLst>
                                          <p:attrName>style.visibility</p:attrName>
                                        </p:attrNameLst>
                                      </p:cBhvr>
                                      <p:to>
                                        <p:strVal val="visible"/>
                                      </p:to>
                                    </p:set>
                                    <p:animEffect transition="in" filter="strips(downRight)">
                                      <p:cBhvr>
                                        <p:cTn id="73" dur="500"/>
                                        <p:tgtEl>
                                          <p:spTgt spid="57"/>
                                        </p:tgtEl>
                                      </p:cBhvr>
                                    </p:animEffect>
                                  </p:childTnLst>
                                </p:cTn>
                              </p:par>
                              <p:par>
                                <p:cTn id="74" presetID="18" presetClass="entr" presetSubtype="6" fill="hold" nodeType="withEffect">
                                  <p:stCondLst>
                                    <p:cond delay="0"/>
                                  </p:stCondLst>
                                  <p:childTnLst>
                                    <p:set>
                                      <p:cBhvr>
                                        <p:cTn id="75" dur="1" fill="hold">
                                          <p:stCondLst>
                                            <p:cond delay="0"/>
                                          </p:stCondLst>
                                        </p:cTn>
                                        <p:tgtEl>
                                          <p:spTgt spid="58"/>
                                        </p:tgtEl>
                                        <p:attrNameLst>
                                          <p:attrName>style.visibility</p:attrName>
                                        </p:attrNameLst>
                                      </p:cBhvr>
                                      <p:to>
                                        <p:strVal val="visible"/>
                                      </p:to>
                                    </p:set>
                                    <p:animEffect transition="in" filter="strips(downRight)">
                                      <p:cBhvr>
                                        <p:cTn id="76" dur="500"/>
                                        <p:tgtEl>
                                          <p:spTgt spid="58"/>
                                        </p:tgtEl>
                                      </p:cBhvr>
                                    </p:animEffect>
                                  </p:childTnLst>
                                </p:cTn>
                              </p:par>
                              <p:par>
                                <p:cTn id="77" presetID="18" presetClass="entr" presetSubtype="6" fill="hold" grpId="0" nodeType="withEffect">
                                  <p:stCondLst>
                                    <p:cond delay="0"/>
                                  </p:stCondLst>
                                  <p:childTnLst>
                                    <p:set>
                                      <p:cBhvr>
                                        <p:cTn id="78" dur="1" fill="hold">
                                          <p:stCondLst>
                                            <p:cond delay="0"/>
                                          </p:stCondLst>
                                        </p:cTn>
                                        <p:tgtEl>
                                          <p:spTgt spid="59"/>
                                        </p:tgtEl>
                                        <p:attrNameLst>
                                          <p:attrName>style.visibility</p:attrName>
                                        </p:attrNameLst>
                                      </p:cBhvr>
                                      <p:to>
                                        <p:strVal val="visible"/>
                                      </p:to>
                                    </p:set>
                                    <p:animEffect transition="in" filter="strips(downRight)">
                                      <p:cBhvr>
                                        <p:cTn id="79"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37" grpId="0" animBg="1"/>
      <p:bldP spid="41" grpId="0" animBg="1"/>
      <p:bldP spid="42"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内容占位符 1"/>
          <p:cNvSpPr>
            <a:spLocks noGrp="1"/>
          </p:cNvSpPr>
          <p:nvPr>
            <p:ph idx="1"/>
          </p:nvPr>
        </p:nvSpPr>
        <p:spPr>
          <a:xfrm>
            <a:off x="1738313" y="1143000"/>
            <a:ext cx="8501062" cy="4286264"/>
          </a:xfrm>
        </p:spPr>
        <p:txBody>
          <a:bodyPr/>
          <a:lstStyle/>
          <a:p>
            <a:pPr>
              <a:spcBef>
                <a:spcPts val="675"/>
              </a:spcBef>
            </a:pPr>
            <a:r>
              <a:rPr lang="zh-CN" altLang="en-US" dirty="0"/>
              <a:t>预习作业</a:t>
            </a:r>
            <a:endParaRPr lang="en-US" altLang="zh-CN" dirty="0"/>
          </a:p>
          <a:p>
            <a:pPr lvl="1">
              <a:spcBef>
                <a:spcPts val="475"/>
              </a:spcBef>
            </a:pPr>
            <a:r>
              <a:rPr lang="zh-CN" altLang="en-US" dirty="0"/>
              <a:t>预习目标</a:t>
            </a:r>
            <a:endParaRPr lang="en-US" altLang="zh-CN" dirty="0"/>
          </a:p>
          <a:p>
            <a:pPr lvl="2"/>
            <a:r>
              <a:rPr lang="zh-CN" altLang="en-US"/>
              <a:t>配置扩展</a:t>
            </a:r>
            <a:r>
              <a:rPr lang="en-US" altLang="zh-CN"/>
              <a:t>ACL</a:t>
            </a:r>
          </a:p>
          <a:p>
            <a:pPr lvl="2"/>
            <a:r>
              <a:rPr lang="zh-CN" altLang="en-US"/>
              <a:t>配置命名</a:t>
            </a:r>
            <a:r>
              <a:rPr lang="en-US" altLang="zh-CN"/>
              <a:t>ACL</a:t>
            </a:r>
          </a:p>
          <a:p>
            <a:pPr lvl="2"/>
            <a:r>
              <a:rPr lang="zh-CN" altLang="en-US"/>
              <a:t>综合应用</a:t>
            </a:r>
            <a:r>
              <a:rPr lang="en-US" altLang="zh-CN"/>
              <a:t>ACL</a:t>
            </a:r>
          </a:p>
          <a:p>
            <a:pPr lvl="2">
              <a:spcBef>
                <a:spcPct val="0"/>
              </a:spcBef>
              <a:buNone/>
            </a:pPr>
            <a:endParaRPr lang="en-US" altLang="zh-CN" dirty="0">
              <a:solidFill>
                <a:srgbClr val="FF0000"/>
              </a:solidFill>
            </a:endParaRPr>
          </a:p>
          <a:p>
            <a:pPr lvl="1">
              <a:spcBef>
                <a:spcPts val="475"/>
              </a:spcBef>
            </a:pPr>
            <a:r>
              <a:rPr lang="zh-CN" altLang="en-US" dirty="0"/>
              <a:t>预习下一章学生用书，完成预习作业</a:t>
            </a:r>
            <a:endParaRPr lang="en-US" altLang="zh-CN" dirty="0"/>
          </a:p>
          <a:p>
            <a:pPr lvl="2">
              <a:spcBef>
                <a:spcPts val="675"/>
              </a:spcBef>
            </a:pPr>
            <a:r>
              <a:rPr lang="zh-CN" altLang="en-US"/>
              <a:t>命名</a:t>
            </a:r>
            <a:r>
              <a:rPr lang="en-US" altLang="zh-CN"/>
              <a:t>ACL</a:t>
            </a:r>
            <a:r>
              <a:rPr lang="zh-CN" altLang="en-US"/>
              <a:t>在配置上的灵活性体现在哪里？</a:t>
            </a:r>
            <a:endParaRPr lang="en-US" altLang="zh-CN" dirty="0"/>
          </a:p>
          <a:p>
            <a:pPr lvl="2">
              <a:spcBef>
                <a:spcPts val="675"/>
              </a:spcBef>
            </a:pPr>
            <a:endParaRPr lang="zh-CN" altLang="en-US" dirty="0"/>
          </a:p>
          <a:p>
            <a:pPr>
              <a:spcBef>
                <a:spcPts val="675"/>
              </a:spcBef>
            </a:pPr>
            <a:endParaRPr lang="zh-CN" altLang="en-US" dirty="0"/>
          </a:p>
        </p:txBody>
      </p:sp>
      <p:sp>
        <p:nvSpPr>
          <p:cNvPr id="57347" name="标题 2"/>
          <p:cNvSpPr>
            <a:spLocks noGrp="1"/>
          </p:cNvSpPr>
          <p:nvPr>
            <p:ph type="title"/>
          </p:nvPr>
        </p:nvSpPr>
        <p:spPr>
          <a:xfrm>
            <a:off x="1752600" y="146051"/>
            <a:ext cx="8763000" cy="639763"/>
          </a:xfrm>
        </p:spPr>
        <p:txBody>
          <a:bodyPr/>
          <a:lstStyle/>
          <a:p>
            <a:r>
              <a:rPr lang="zh-CN" altLang="en-US"/>
              <a:t>作业</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内容占位符 1"/>
          <p:cNvSpPr>
            <a:spLocks noGrp="1"/>
          </p:cNvSpPr>
          <p:nvPr>
            <p:ph idx="1"/>
          </p:nvPr>
        </p:nvSpPr>
        <p:spPr>
          <a:xfrm>
            <a:off x="1738313" y="1143000"/>
            <a:ext cx="8572500" cy="3929074"/>
          </a:xfrm>
        </p:spPr>
        <p:txBody>
          <a:bodyPr/>
          <a:lstStyle/>
          <a:p>
            <a:pPr>
              <a:spcBef>
                <a:spcPts val="475"/>
              </a:spcBef>
              <a:spcAft>
                <a:spcPct val="25000"/>
              </a:spcAft>
            </a:pPr>
            <a:r>
              <a:rPr lang="zh-CN" altLang="en-US"/>
              <a:t>简述</a:t>
            </a:r>
            <a:r>
              <a:rPr lang="en-US" altLang="zh-CN"/>
              <a:t>TCP</a:t>
            </a:r>
            <a:r>
              <a:rPr lang="zh-CN" altLang="en-US"/>
              <a:t>与</a:t>
            </a:r>
            <a:r>
              <a:rPr lang="en-US" altLang="zh-CN"/>
              <a:t>UDP</a:t>
            </a:r>
            <a:r>
              <a:rPr lang="zh-CN" altLang="en-US"/>
              <a:t>区别？</a:t>
            </a:r>
          </a:p>
          <a:p>
            <a:pPr>
              <a:spcBef>
                <a:spcPts val="675"/>
              </a:spcBef>
            </a:pPr>
            <a:r>
              <a:rPr lang="zh-CN" altLang="en-US"/>
              <a:t>列举常见的</a:t>
            </a:r>
            <a:r>
              <a:rPr lang="en-US" altLang="zh-CN"/>
              <a:t>TCP</a:t>
            </a:r>
            <a:r>
              <a:rPr lang="zh-CN" altLang="en-US"/>
              <a:t>、</a:t>
            </a:r>
            <a:r>
              <a:rPr lang="en-US" altLang="zh-CN"/>
              <a:t>UDP</a:t>
            </a:r>
            <a:r>
              <a:rPr lang="zh-CN" altLang="en-US"/>
              <a:t>端口有哪些？</a:t>
            </a:r>
            <a:endParaRPr lang="en-US" altLang="zh-CN"/>
          </a:p>
          <a:p>
            <a:pPr>
              <a:spcBef>
                <a:spcPts val="675"/>
              </a:spcBef>
            </a:pPr>
            <a:r>
              <a:rPr lang="zh-CN" altLang="en-US"/>
              <a:t>简述标准访问控制列表的特点？</a:t>
            </a:r>
            <a:endParaRPr lang="en-US" altLang="zh-CN"/>
          </a:p>
        </p:txBody>
      </p:sp>
      <p:sp>
        <p:nvSpPr>
          <p:cNvPr id="36867" name="标题 2"/>
          <p:cNvSpPr>
            <a:spLocks noGrp="1"/>
          </p:cNvSpPr>
          <p:nvPr>
            <p:ph type="title"/>
          </p:nvPr>
        </p:nvSpPr>
        <p:spPr>
          <a:xfrm>
            <a:off x="1752600" y="146051"/>
            <a:ext cx="8763000" cy="639763"/>
          </a:xfrm>
        </p:spPr>
        <p:txBody>
          <a:bodyPr/>
          <a:lstStyle/>
          <a:p>
            <a:r>
              <a:rPr lang="zh-CN" altLang="en-US"/>
              <a:t>考题</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内容占位符 4"/>
          <p:cNvSpPr>
            <a:spLocks noGrp="1"/>
          </p:cNvSpPr>
          <p:nvPr>
            <p:ph idx="1"/>
          </p:nvPr>
        </p:nvSpPr>
        <p:spPr>
          <a:xfrm>
            <a:off x="1738313" y="1143001"/>
            <a:ext cx="8501062" cy="1571625"/>
          </a:xfrm>
        </p:spPr>
        <p:txBody>
          <a:bodyPr/>
          <a:lstStyle/>
          <a:p>
            <a:pPr>
              <a:spcBef>
                <a:spcPts val="675"/>
              </a:spcBef>
            </a:pPr>
            <a:r>
              <a:rPr lang="zh-CN" altLang="en-US"/>
              <a:t>实验环境</a:t>
            </a:r>
            <a:endParaRPr lang="en-US" altLang="zh-CN"/>
          </a:p>
          <a:p>
            <a:pPr lvl="1">
              <a:spcBef>
                <a:spcPts val="475"/>
              </a:spcBef>
            </a:pPr>
            <a:r>
              <a:rPr lang="zh-CN" altLang="en-US"/>
              <a:t>两台</a:t>
            </a:r>
            <a:r>
              <a:rPr lang="en-US" altLang="zh-CN"/>
              <a:t>Windows 2008</a:t>
            </a:r>
            <a:r>
              <a:rPr lang="zh-CN" altLang="en-US"/>
              <a:t>主机，配置</a:t>
            </a:r>
            <a:r>
              <a:rPr lang="en-US" altLang="zh-CN"/>
              <a:t>IIS</a:t>
            </a:r>
            <a:r>
              <a:rPr lang="zh-CN" altLang="en-US"/>
              <a:t>搭建</a:t>
            </a:r>
            <a:r>
              <a:rPr lang="en-US" altLang="zh-CN"/>
              <a:t>FTP</a:t>
            </a:r>
            <a:r>
              <a:rPr lang="zh-CN" altLang="en-US"/>
              <a:t>服务器，在客户端主机安装</a:t>
            </a:r>
            <a:r>
              <a:rPr lang="en-US" altLang="zh-CN"/>
              <a:t>Sniffer</a:t>
            </a:r>
            <a:r>
              <a:rPr lang="zh-CN" altLang="en-US"/>
              <a:t>软件</a:t>
            </a:r>
          </a:p>
        </p:txBody>
      </p:sp>
      <p:sp>
        <p:nvSpPr>
          <p:cNvPr id="31747" name="Rectangle 2"/>
          <p:cNvSpPr>
            <a:spLocks noGrp="1" noChangeArrowheads="1"/>
          </p:cNvSpPr>
          <p:nvPr>
            <p:ph type="title"/>
          </p:nvPr>
        </p:nvSpPr>
        <p:spPr/>
        <p:txBody>
          <a:bodyPr/>
          <a:lstStyle/>
          <a:p>
            <a:pPr eaLnBrk="1" hangingPunct="1"/>
            <a:r>
              <a:rPr lang="zh-CN" altLang="en-US"/>
              <a:t>实验一：</a:t>
            </a:r>
            <a:r>
              <a:rPr lang="zh-CN"/>
              <a:t>观察</a:t>
            </a:r>
            <a:r>
              <a:rPr lang="en-US" altLang="zh-CN"/>
              <a:t>TCP</a:t>
            </a:r>
            <a:r>
              <a:rPr lang="zh-CN"/>
              <a:t>建立链接的过程</a:t>
            </a:r>
            <a:r>
              <a:rPr lang="en-US" altLang="zh-CN"/>
              <a:t>2-1</a:t>
            </a:r>
            <a:endParaRPr lang="en-US" altLang="zh-CN">
              <a:latin typeface="黑体" pitchFamily="2" charset="-122"/>
            </a:endParaRPr>
          </a:p>
        </p:txBody>
      </p:sp>
      <p:pic>
        <p:nvPicPr>
          <p:cNvPr id="31748" name="Picture 4" descr="与FTP服务器建立TCP连接"/>
          <p:cNvPicPr>
            <a:picLocks noChangeAspect="1" noChangeArrowheads="1"/>
          </p:cNvPicPr>
          <p:nvPr/>
        </p:nvPicPr>
        <p:blipFill>
          <a:blip r:embed="rId3"/>
          <a:srcRect t="2135"/>
          <a:stretch>
            <a:fillRect/>
          </a:stretch>
        </p:blipFill>
        <p:spPr bwMode="auto">
          <a:xfrm>
            <a:off x="3613150" y="3071813"/>
            <a:ext cx="4483100" cy="1928812"/>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内容占位符 1"/>
          <p:cNvSpPr>
            <a:spLocks noGrp="1"/>
          </p:cNvSpPr>
          <p:nvPr>
            <p:ph idx="1"/>
          </p:nvPr>
        </p:nvSpPr>
        <p:spPr>
          <a:xfrm>
            <a:off x="1738313" y="1143000"/>
            <a:ext cx="8501062" cy="5143500"/>
          </a:xfrm>
        </p:spPr>
        <p:txBody>
          <a:bodyPr/>
          <a:lstStyle/>
          <a:p>
            <a:pPr>
              <a:spcBef>
                <a:spcPts val="675"/>
              </a:spcBef>
            </a:pPr>
            <a:r>
              <a:rPr lang="zh-CN" altLang="en-US"/>
              <a:t>需求描述</a:t>
            </a:r>
            <a:endParaRPr lang="en-US" altLang="zh-CN"/>
          </a:p>
          <a:p>
            <a:pPr lvl="1">
              <a:spcBef>
                <a:spcPts val="475"/>
              </a:spcBef>
            </a:pPr>
            <a:r>
              <a:rPr lang="zh-CN" altLang="en-US"/>
              <a:t>在客户端通过被动模式连接</a:t>
            </a:r>
            <a:r>
              <a:rPr lang="en-US" altLang="zh-CN"/>
              <a:t>FTP</a:t>
            </a:r>
            <a:r>
              <a:rPr lang="zh-CN" altLang="en-US"/>
              <a:t>服务器，观察</a:t>
            </a:r>
            <a:r>
              <a:rPr lang="en-US" altLang="zh-CN"/>
              <a:t>TCP</a:t>
            </a:r>
            <a:r>
              <a:rPr lang="zh-CN" altLang="en-US"/>
              <a:t>的建立过程</a:t>
            </a:r>
          </a:p>
          <a:p>
            <a:pPr>
              <a:spcBef>
                <a:spcPts val="475"/>
              </a:spcBef>
            </a:pPr>
            <a:r>
              <a:rPr lang="zh-CN" altLang="en-US"/>
              <a:t>实现思路</a:t>
            </a:r>
            <a:endParaRPr lang="en-US" altLang="zh-CN"/>
          </a:p>
          <a:p>
            <a:pPr lvl="1">
              <a:spcBef>
                <a:spcPts val="475"/>
              </a:spcBef>
            </a:pPr>
            <a:r>
              <a:rPr lang="zh-CN" altLang="en-US"/>
              <a:t>准备工作</a:t>
            </a:r>
          </a:p>
          <a:p>
            <a:pPr lvl="2">
              <a:spcBef>
                <a:spcPct val="0"/>
              </a:spcBef>
            </a:pPr>
            <a:r>
              <a:rPr lang="zh-CN" altLang="en-US"/>
              <a:t>在客户端运行</a:t>
            </a:r>
            <a:r>
              <a:rPr lang="en-US" altLang="zh-CN"/>
              <a:t>Sniffer</a:t>
            </a:r>
            <a:r>
              <a:rPr lang="zh-CN" altLang="en-US"/>
              <a:t>抓包，通过</a:t>
            </a:r>
            <a:r>
              <a:rPr lang="en-US" altLang="zh-CN"/>
              <a:t>IE</a:t>
            </a:r>
            <a:r>
              <a:rPr lang="zh-CN" altLang="en-US"/>
              <a:t>浏览器访问</a:t>
            </a:r>
            <a:r>
              <a:rPr lang="en-US" altLang="zh-CN"/>
              <a:t>FTP</a:t>
            </a:r>
            <a:r>
              <a:rPr lang="zh-CN" altLang="en-US"/>
              <a:t>服务器</a:t>
            </a:r>
          </a:p>
          <a:p>
            <a:pPr lvl="1">
              <a:spcBef>
                <a:spcPts val="475"/>
              </a:spcBef>
            </a:pPr>
            <a:r>
              <a:rPr lang="zh-CN" altLang="en-US"/>
              <a:t>过滤数据</a:t>
            </a:r>
          </a:p>
          <a:p>
            <a:pPr lvl="2">
              <a:spcBef>
                <a:spcPct val="0"/>
              </a:spcBef>
            </a:pPr>
            <a:r>
              <a:rPr lang="zh-CN" altLang="en-US"/>
              <a:t>过滤范围：在</a:t>
            </a:r>
            <a:r>
              <a:rPr lang="en-US" altLang="zh-CN"/>
              <a:t>FTP</a:t>
            </a:r>
            <a:r>
              <a:rPr lang="zh-CN" altLang="en-US"/>
              <a:t>服务器和客户端主机之间</a:t>
            </a:r>
            <a:endParaRPr lang="en-US" altLang="zh-CN"/>
          </a:p>
          <a:p>
            <a:pPr lvl="1">
              <a:spcBef>
                <a:spcPts val="475"/>
              </a:spcBef>
            </a:pPr>
            <a:r>
              <a:rPr lang="zh-CN" altLang="en-US"/>
              <a:t>分析数据</a:t>
            </a:r>
          </a:p>
          <a:p>
            <a:pPr lvl="2">
              <a:spcBef>
                <a:spcPct val="0"/>
              </a:spcBef>
            </a:pPr>
            <a:r>
              <a:rPr lang="zh-CN" altLang="en-US"/>
              <a:t>分析三次握手的数据报文内容</a:t>
            </a:r>
          </a:p>
          <a:p>
            <a:pPr>
              <a:spcBef>
                <a:spcPts val="675"/>
              </a:spcBef>
            </a:pPr>
            <a:r>
              <a:rPr lang="zh-CN" altLang="en-US"/>
              <a:t>学员练习</a:t>
            </a:r>
            <a:endParaRPr lang="en-US" altLang="zh-CN"/>
          </a:p>
          <a:p>
            <a:pPr>
              <a:spcBef>
                <a:spcPts val="675"/>
              </a:spcBef>
            </a:pPr>
            <a:endParaRPr lang="zh-CN" altLang="en-US"/>
          </a:p>
        </p:txBody>
      </p:sp>
      <p:sp>
        <p:nvSpPr>
          <p:cNvPr id="32771" name="标题 2"/>
          <p:cNvSpPr>
            <a:spLocks noGrp="1"/>
          </p:cNvSpPr>
          <p:nvPr>
            <p:ph type="title"/>
          </p:nvPr>
        </p:nvSpPr>
        <p:spPr/>
        <p:txBody>
          <a:bodyPr/>
          <a:lstStyle/>
          <a:p>
            <a:r>
              <a:rPr lang="zh-CN" altLang="en-US"/>
              <a:t>实验一：</a:t>
            </a:r>
            <a:r>
              <a:rPr lang="zh-CN"/>
              <a:t>观察</a:t>
            </a:r>
            <a:r>
              <a:rPr lang="en-US" altLang="zh-CN"/>
              <a:t>TCP</a:t>
            </a:r>
            <a:r>
              <a:rPr lang="zh-CN"/>
              <a:t>建立链接的过程</a:t>
            </a:r>
            <a:r>
              <a:rPr lang="en-US" altLang="zh-CN"/>
              <a:t>2-2</a:t>
            </a:r>
            <a:endParaRPr lang="zh-CN" altLang="en-US"/>
          </a:p>
        </p:txBody>
      </p:sp>
      <p:grpSp>
        <p:nvGrpSpPr>
          <p:cNvPr id="2" name="组合 7"/>
          <p:cNvGrpSpPr>
            <a:grpSpLocks/>
          </p:cNvGrpSpPr>
          <p:nvPr/>
        </p:nvGrpSpPr>
        <p:grpSpPr bwMode="auto">
          <a:xfrm>
            <a:off x="4381501" y="5800725"/>
            <a:ext cx="3598863" cy="914400"/>
            <a:chOff x="1079500" y="5657872"/>
            <a:chExt cx="3598863" cy="914400"/>
          </a:xfrm>
        </p:grpSpPr>
        <p:pic>
          <p:nvPicPr>
            <p:cNvPr id="32773" name="Picture 4" descr="练习"/>
            <p:cNvPicPr>
              <a:picLocks noChangeAspect="1" noChangeArrowheads="1"/>
            </p:cNvPicPr>
            <p:nvPr/>
          </p:nvPicPr>
          <p:blipFill>
            <a:blip r:embed="rId2"/>
            <a:srcRect/>
            <a:stretch>
              <a:fillRect/>
            </a:stretch>
          </p:blipFill>
          <p:spPr bwMode="auto">
            <a:xfrm>
              <a:off x="1079500" y="5657872"/>
              <a:ext cx="1008063" cy="914400"/>
            </a:xfrm>
            <a:prstGeom prst="rect">
              <a:avLst/>
            </a:prstGeom>
            <a:noFill/>
            <a:ln w="9525">
              <a:noFill/>
              <a:miter lim="800000"/>
              <a:headEnd/>
              <a:tailEnd/>
            </a:ln>
          </p:spPr>
        </p:pic>
        <p:sp>
          <p:nvSpPr>
            <p:cNvPr id="32774" name="Rectangle 5"/>
            <p:cNvSpPr>
              <a:spLocks noChangeArrowheads="1"/>
            </p:cNvSpPr>
            <p:nvPr/>
          </p:nvSpPr>
          <p:spPr bwMode="auto">
            <a:xfrm>
              <a:off x="1943100" y="5854720"/>
              <a:ext cx="2735263" cy="503238"/>
            </a:xfrm>
            <a:prstGeom prst="rect">
              <a:avLst/>
            </a:prstGeom>
            <a:noFill/>
            <a:ln w="9525">
              <a:noFill/>
              <a:miter lim="800000"/>
              <a:headEnd/>
              <a:tailEnd/>
            </a:ln>
          </p:spPr>
          <p:txBody>
            <a:bodyPr/>
            <a:lstStyle/>
            <a:p>
              <a:pPr marL="342900" indent="-342900">
                <a:spcBef>
                  <a:spcPct val="20000"/>
                </a:spcBef>
                <a:buClr>
                  <a:srgbClr val="006600"/>
                </a:buClr>
                <a:buSzPct val="80000"/>
              </a:pPr>
              <a:r>
                <a:rPr lang="en-US" altLang="zh-CN" sz="2400" b="1">
                  <a:solidFill>
                    <a:srgbClr val="FF9933"/>
                  </a:solidFill>
                  <a:latin typeface="黑体" pitchFamily="2" charset="-122"/>
                </a:rPr>
                <a:t>40</a:t>
              </a:r>
              <a:r>
                <a:rPr lang="zh-CN" altLang="en-US" sz="2400" b="1">
                  <a:solidFill>
                    <a:srgbClr val="FF9933"/>
                  </a:solidFill>
                  <a:latin typeface="黑体" pitchFamily="2" charset="-122"/>
                </a:rPr>
                <a:t>分钟完成</a:t>
              </a:r>
            </a:p>
          </p:txBody>
        </p:sp>
      </p:gr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内容占位符 1"/>
          <p:cNvSpPr>
            <a:spLocks noGrp="1"/>
          </p:cNvSpPr>
          <p:nvPr>
            <p:ph idx="1"/>
          </p:nvPr>
        </p:nvSpPr>
        <p:spPr>
          <a:xfrm>
            <a:off x="1738313" y="1143000"/>
            <a:ext cx="8501062" cy="1500188"/>
          </a:xfrm>
        </p:spPr>
        <p:txBody>
          <a:bodyPr/>
          <a:lstStyle/>
          <a:p>
            <a:pPr>
              <a:spcBef>
                <a:spcPts val="675"/>
              </a:spcBef>
            </a:pPr>
            <a:r>
              <a:rPr lang="zh-CN" altLang="en-US"/>
              <a:t>实验环境</a:t>
            </a:r>
            <a:endParaRPr lang="en-US" altLang="zh-CN"/>
          </a:p>
          <a:p>
            <a:pPr lvl="1">
              <a:spcBef>
                <a:spcPts val="475"/>
              </a:spcBef>
            </a:pPr>
            <a:r>
              <a:rPr lang="zh-CN" altLang="en-US"/>
              <a:t>如图所示，要求配置标准</a:t>
            </a:r>
            <a:r>
              <a:rPr lang="en-US" altLang="zh-CN"/>
              <a:t>ACL</a:t>
            </a:r>
            <a:r>
              <a:rPr lang="zh-CN" altLang="en-US"/>
              <a:t>实现：禁止主机</a:t>
            </a:r>
            <a:r>
              <a:rPr lang="en-US" altLang="zh-CN"/>
              <a:t>PC1</a:t>
            </a:r>
            <a:r>
              <a:rPr lang="zh-CN" altLang="en-US"/>
              <a:t>访问主机</a:t>
            </a:r>
            <a:r>
              <a:rPr lang="en-US" altLang="zh-CN"/>
              <a:t>PC2</a:t>
            </a:r>
            <a:r>
              <a:rPr lang="zh-CN" altLang="en-US"/>
              <a:t>，而允许所有其他的流量</a:t>
            </a:r>
          </a:p>
        </p:txBody>
      </p:sp>
      <p:sp>
        <p:nvSpPr>
          <p:cNvPr id="33795" name="标题 2"/>
          <p:cNvSpPr>
            <a:spLocks noGrp="1"/>
          </p:cNvSpPr>
          <p:nvPr>
            <p:ph type="title"/>
          </p:nvPr>
        </p:nvSpPr>
        <p:spPr/>
        <p:txBody>
          <a:bodyPr/>
          <a:lstStyle/>
          <a:p>
            <a:r>
              <a:rPr lang="zh-CN"/>
              <a:t>实验二：配置标准</a:t>
            </a:r>
            <a:r>
              <a:rPr lang="en-US" altLang="zh-CN"/>
              <a:t>ACL</a:t>
            </a:r>
            <a:r>
              <a:rPr lang="zh-CN"/>
              <a:t>实现需求</a:t>
            </a:r>
            <a:r>
              <a:rPr lang="en-US" altLang="zh-CN"/>
              <a:t>3-1</a:t>
            </a:r>
            <a:endParaRPr lang="zh-CN" altLang="en-US"/>
          </a:p>
        </p:txBody>
      </p:sp>
      <p:cxnSp>
        <p:nvCxnSpPr>
          <p:cNvPr id="33796" name="直接连接符 73"/>
          <p:cNvCxnSpPr>
            <a:cxnSpLocks noChangeShapeType="1"/>
          </p:cNvCxnSpPr>
          <p:nvPr/>
        </p:nvCxnSpPr>
        <p:spPr bwMode="auto">
          <a:xfrm rot="5400000">
            <a:off x="5628482" y="3740944"/>
            <a:ext cx="936625" cy="1588"/>
          </a:xfrm>
          <a:prstGeom prst="line">
            <a:avLst/>
          </a:prstGeom>
          <a:noFill/>
          <a:ln w="44450" algn="ctr">
            <a:solidFill>
              <a:schemeClr val="tx2"/>
            </a:solidFill>
            <a:round/>
            <a:headEnd/>
            <a:tailEnd/>
          </a:ln>
        </p:spPr>
      </p:cxnSp>
      <p:cxnSp>
        <p:nvCxnSpPr>
          <p:cNvPr id="33797" name="直接连接符 68"/>
          <p:cNvCxnSpPr>
            <a:cxnSpLocks noChangeShapeType="1"/>
          </p:cNvCxnSpPr>
          <p:nvPr/>
        </p:nvCxnSpPr>
        <p:spPr bwMode="auto">
          <a:xfrm>
            <a:off x="3065463" y="4476750"/>
            <a:ext cx="539750" cy="1588"/>
          </a:xfrm>
          <a:prstGeom prst="line">
            <a:avLst/>
          </a:prstGeom>
          <a:noFill/>
          <a:ln w="44450" algn="ctr">
            <a:solidFill>
              <a:schemeClr val="tx2"/>
            </a:solidFill>
            <a:round/>
            <a:headEnd/>
            <a:tailEnd/>
          </a:ln>
        </p:spPr>
      </p:cxnSp>
      <p:cxnSp>
        <p:nvCxnSpPr>
          <p:cNvPr id="33798" name="直接连接符 71"/>
          <p:cNvCxnSpPr>
            <a:cxnSpLocks noChangeShapeType="1"/>
          </p:cNvCxnSpPr>
          <p:nvPr/>
        </p:nvCxnSpPr>
        <p:spPr bwMode="auto">
          <a:xfrm>
            <a:off x="8383588" y="4486275"/>
            <a:ext cx="539750" cy="1588"/>
          </a:xfrm>
          <a:prstGeom prst="line">
            <a:avLst/>
          </a:prstGeom>
          <a:noFill/>
          <a:ln w="44450" algn="ctr">
            <a:solidFill>
              <a:schemeClr val="tx2"/>
            </a:solidFill>
            <a:round/>
            <a:headEnd/>
            <a:tailEnd/>
          </a:ln>
        </p:spPr>
      </p:cxnSp>
      <p:grpSp>
        <p:nvGrpSpPr>
          <p:cNvPr id="2" name="组合 51"/>
          <p:cNvGrpSpPr>
            <a:grpSpLocks/>
          </p:cNvGrpSpPr>
          <p:nvPr/>
        </p:nvGrpSpPr>
        <p:grpSpPr bwMode="auto">
          <a:xfrm>
            <a:off x="3576638" y="4197350"/>
            <a:ext cx="927100" cy="636588"/>
            <a:chOff x="3997314" y="2922566"/>
            <a:chExt cx="927134" cy="636297"/>
          </a:xfrm>
        </p:grpSpPr>
        <p:pic>
          <p:nvPicPr>
            <p:cNvPr id="33823" name="Picture 7"/>
            <p:cNvPicPr>
              <a:picLocks noChangeArrowheads="1"/>
            </p:cNvPicPr>
            <p:nvPr/>
          </p:nvPicPr>
          <p:blipFill>
            <a:blip r:embed="rId2"/>
            <a:srcRect/>
            <a:stretch>
              <a:fillRect/>
            </a:stretch>
          </p:blipFill>
          <p:spPr bwMode="auto">
            <a:xfrm>
              <a:off x="3997314" y="2922566"/>
              <a:ext cx="927134" cy="579459"/>
            </a:xfrm>
            <a:prstGeom prst="rect">
              <a:avLst/>
            </a:prstGeom>
            <a:noFill/>
            <a:ln w="9525">
              <a:noFill/>
              <a:miter lim="800000"/>
              <a:headEnd/>
              <a:tailEnd/>
            </a:ln>
          </p:spPr>
        </p:pic>
        <p:sp>
          <p:nvSpPr>
            <p:cNvPr id="10" name="Text Box 39"/>
            <p:cNvSpPr txBox="1">
              <a:spLocks noChangeArrowheads="1"/>
            </p:cNvSpPr>
            <p:nvPr/>
          </p:nvSpPr>
          <p:spPr bwMode="auto">
            <a:xfrm>
              <a:off x="4195758" y="3220880"/>
              <a:ext cx="533420" cy="337983"/>
            </a:xfrm>
            <a:prstGeom prst="rect">
              <a:avLst/>
            </a:prstGeom>
            <a:noFill/>
            <a:ln w="9525">
              <a:noFill/>
              <a:miter lim="800000"/>
              <a:headEnd/>
              <a:tailEnd/>
            </a:ln>
          </p:spPr>
          <p:txBody>
            <a:bodyPr>
              <a:spAutoFit/>
            </a:bodyPr>
            <a:lstStyle/>
            <a:p>
              <a:pPr algn="ctr">
                <a:spcBef>
                  <a:spcPct val="50000"/>
                </a:spcBef>
                <a:defRPr/>
              </a:pPr>
              <a:r>
                <a:rPr lang="en-US" altLang="zh-CN" sz="1600" b="1" dirty="0">
                  <a:solidFill>
                    <a:schemeClr val="accent3"/>
                  </a:solidFill>
                </a:rPr>
                <a:t>R1</a:t>
              </a:r>
            </a:p>
          </p:txBody>
        </p:sp>
      </p:grpSp>
      <p:sp>
        <p:nvSpPr>
          <p:cNvPr id="33800" name="Text Box 43"/>
          <p:cNvSpPr txBox="1">
            <a:spLocks noChangeArrowheads="1"/>
          </p:cNvSpPr>
          <p:nvPr/>
        </p:nvSpPr>
        <p:spPr bwMode="auto">
          <a:xfrm>
            <a:off x="2039939" y="5106989"/>
            <a:ext cx="769937" cy="369887"/>
          </a:xfrm>
          <a:prstGeom prst="rect">
            <a:avLst/>
          </a:prstGeom>
          <a:noFill/>
          <a:ln w="9525">
            <a:noFill/>
            <a:miter lim="800000"/>
            <a:headEnd/>
            <a:tailEnd/>
          </a:ln>
        </p:spPr>
        <p:txBody>
          <a:bodyPr>
            <a:spAutoFit/>
          </a:bodyPr>
          <a:lstStyle/>
          <a:p>
            <a:pPr>
              <a:spcBef>
                <a:spcPct val="50000"/>
              </a:spcBef>
            </a:pPr>
            <a:r>
              <a:rPr lang="en-US" altLang="zh-CN" b="1">
                <a:solidFill>
                  <a:schemeClr val="tx2"/>
                </a:solidFill>
              </a:rPr>
              <a:t>PC1</a:t>
            </a:r>
          </a:p>
        </p:txBody>
      </p:sp>
      <p:sp>
        <p:nvSpPr>
          <p:cNvPr id="33801" name="Text Box 45"/>
          <p:cNvSpPr txBox="1">
            <a:spLocks noChangeArrowheads="1"/>
          </p:cNvSpPr>
          <p:nvPr/>
        </p:nvSpPr>
        <p:spPr bwMode="auto">
          <a:xfrm>
            <a:off x="3040063" y="4197350"/>
            <a:ext cx="620712" cy="338138"/>
          </a:xfrm>
          <a:prstGeom prst="rect">
            <a:avLst/>
          </a:prstGeom>
          <a:noFill/>
          <a:ln w="9525">
            <a:noFill/>
            <a:miter lim="800000"/>
            <a:headEnd/>
            <a:tailEnd/>
          </a:ln>
        </p:spPr>
        <p:txBody>
          <a:bodyPr>
            <a:spAutoFit/>
          </a:bodyPr>
          <a:lstStyle/>
          <a:p>
            <a:pPr>
              <a:spcBef>
                <a:spcPct val="50000"/>
              </a:spcBef>
            </a:pPr>
            <a:r>
              <a:rPr lang="en-US" altLang="zh-CN" sz="1600" b="1">
                <a:solidFill>
                  <a:schemeClr val="tx2"/>
                </a:solidFill>
              </a:rPr>
              <a:t>F0/0</a:t>
            </a:r>
          </a:p>
        </p:txBody>
      </p:sp>
      <p:sp>
        <p:nvSpPr>
          <p:cNvPr id="33802" name="Text Box 46"/>
          <p:cNvSpPr txBox="1">
            <a:spLocks noChangeArrowheads="1"/>
          </p:cNvSpPr>
          <p:nvPr/>
        </p:nvSpPr>
        <p:spPr bwMode="auto">
          <a:xfrm>
            <a:off x="5110163" y="4197350"/>
            <a:ext cx="620712" cy="338138"/>
          </a:xfrm>
          <a:prstGeom prst="rect">
            <a:avLst/>
          </a:prstGeom>
          <a:noFill/>
          <a:ln w="9525">
            <a:noFill/>
            <a:miter lim="800000"/>
            <a:headEnd/>
            <a:tailEnd/>
          </a:ln>
        </p:spPr>
        <p:txBody>
          <a:bodyPr>
            <a:spAutoFit/>
          </a:bodyPr>
          <a:lstStyle/>
          <a:p>
            <a:pPr>
              <a:spcBef>
                <a:spcPct val="50000"/>
              </a:spcBef>
            </a:pPr>
            <a:r>
              <a:rPr lang="en-US" altLang="zh-CN" sz="1600" b="1">
                <a:solidFill>
                  <a:schemeClr val="tx2"/>
                </a:solidFill>
              </a:rPr>
              <a:t>F0/0</a:t>
            </a:r>
          </a:p>
        </p:txBody>
      </p:sp>
      <p:sp>
        <p:nvSpPr>
          <p:cNvPr id="33803" name="Text Box 47"/>
          <p:cNvSpPr txBox="1">
            <a:spLocks noChangeArrowheads="1"/>
          </p:cNvSpPr>
          <p:nvPr/>
        </p:nvSpPr>
        <p:spPr bwMode="auto">
          <a:xfrm>
            <a:off x="7081838" y="4197350"/>
            <a:ext cx="620712" cy="338138"/>
          </a:xfrm>
          <a:prstGeom prst="rect">
            <a:avLst/>
          </a:prstGeom>
          <a:noFill/>
          <a:ln w="9525">
            <a:noFill/>
            <a:miter lim="800000"/>
            <a:headEnd/>
            <a:tailEnd/>
          </a:ln>
        </p:spPr>
        <p:txBody>
          <a:bodyPr>
            <a:spAutoFit/>
          </a:bodyPr>
          <a:lstStyle/>
          <a:p>
            <a:pPr>
              <a:spcBef>
                <a:spcPct val="50000"/>
              </a:spcBef>
            </a:pPr>
            <a:r>
              <a:rPr lang="en-US" altLang="zh-CN" sz="1600" b="1">
                <a:solidFill>
                  <a:schemeClr val="tx2"/>
                </a:solidFill>
              </a:rPr>
              <a:t>F0/0</a:t>
            </a:r>
          </a:p>
        </p:txBody>
      </p:sp>
      <p:grpSp>
        <p:nvGrpSpPr>
          <p:cNvPr id="3" name="组合 52"/>
          <p:cNvGrpSpPr>
            <a:grpSpLocks/>
          </p:cNvGrpSpPr>
          <p:nvPr/>
        </p:nvGrpSpPr>
        <p:grpSpPr bwMode="auto">
          <a:xfrm>
            <a:off x="5643563" y="4197350"/>
            <a:ext cx="927100" cy="636588"/>
            <a:chOff x="3997314" y="2922566"/>
            <a:chExt cx="927134" cy="636297"/>
          </a:xfrm>
        </p:grpSpPr>
        <p:pic>
          <p:nvPicPr>
            <p:cNvPr id="33821" name="Picture 7"/>
            <p:cNvPicPr>
              <a:picLocks noChangeArrowheads="1"/>
            </p:cNvPicPr>
            <p:nvPr/>
          </p:nvPicPr>
          <p:blipFill>
            <a:blip r:embed="rId2"/>
            <a:srcRect/>
            <a:stretch>
              <a:fillRect/>
            </a:stretch>
          </p:blipFill>
          <p:spPr bwMode="auto">
            <a:xfrm>
              <a:off x="3997314" y="2922566"/>
              <a:ext cx="927134" cy="579459"/>
            </a:xfrm>
            <a:prstGeom prst="rect">
              <a:avLst/>
            </a:prstGeom>
            <a:noFill/>
            <a:ln w="9525">
              <a:noFill/>
              <a:miter lim="800000"/>
              <a:headEnd/>
              <a:tailEnd/>
            </a:ln>
          </p:spPr>
        </p:pic>
        <p:sp>
          <p:nvSpPr>
            <p:cNvPr id="17" name="Text Box 39"/>
            <p:cNvSpPr txBox="1">
              <a:spLocks noChangeArrowheads="1"/>
            </p:cNvSpPr>
            <p:nvPr/>
          </p:nvSpPr>
          <p:spPr bwMode="auto">
            <a:xfrm>
              <a:off x="4195758" y="3220880"/>
              <a:ext cx="533420" cy="337983"/>
            </a:xfrm>
            <a:prstGeom prst="rect">
              <a:avLst/>
            </a:prstGeom>
            <a:noFill/>
            <a:ln w="9525">
              <a:noFill/>
              <a:miter lim="800000"/>
              <a:headEnd/>
              <a:tailEnd/>
            </a:ln>
          </p:spPr>
          <p:txBody>
            <a:bodyPr>
              <a:spAutoFit/>
            </a:bodyPr>
            <a:lstStyle/>
            <a:p>
              <a:pPr algn="ctr">
                <a:spcBef>
                  <a:spcPct val="50000"/>
                </a:spcBef>
                <a:defRPr/>
              </a:pPr>
              <a:r>
                <a:rPr lang="en-US" altLang="zh-CN" sz="1600" b="1" dirty="0">
                  <a:solidFill>
                    <a:schemeClr val="accent3"/>
                  </a:solidFill>
                </a:rPr>
                <a:t>R2</a:t>
              </a:r>
            </a:p>
          </p:txBody>
        </p:sp>
      </p:grpSp>
      <p:grpSp>
        <p:nvGrpSpPr>
          <p:cNvPr id="4" name="组合 55"/>
          <p:cNvGrpSpPr>
            <a:grpSpLocks/>
          </p:cNvGrpSpPr>
          <p:nvPr/>
        </p:nvGrpSpPr>
        <p:grpSpPr bwMode="auto">
          <a:xfrm>
            <a:off x="7615238" y="4208464"/>
            <a:ext cx="927100" cy="636587"/>
            <a:chOff x="3997314" y="2922566"/>
            <a:chExt cx="927134" cy="636297"/>
          </a:xfrm>
        </p:grpSpPr>
        <p:pic>
          <p:nvPicPr>
            <p:cNvPr id="33819" name="Picture 7"/>
            <p:cNvPicPr>
              <a:picLocks noChangeArrowheads="1"/>
            </p:cNvPicPr>
            <p:nvPr/>
          </p:nvPicPr>
          <p:blipFill>
            <a:blip r:embed="rId2"/>
            <a:srcRect/>
            <a:stretch>
              <a:fillRect/>
            </a:stretch>
          </p:blipFill>
          <p:spPr bwMode="auto">
            <a:xfrm>
              <a:off x="3997314" y="2922566"/>
              <a:ext cx="927134" cy="579459"/>
            </a:xfrm>
            <a:prstGeom prst="rect">
              <a:avLst/>
            </a:prstGeom>
            <a:noFill/>
            <a:ln w="9525">
              <a:noFill/>
              <a:miter lim="800000"/>
              <a:headEnd/>
              <a:tailEnd/>
            </a:ln>
          </p:spPr>
        </p:pic>
        <p:sp>
          <p:nvSpPr>
            <p:cNvPr id="20" name="Text Box 39"/>
            <p:cNvSpPr txBox="1">
              <a:spLocks noChangeArrowheads="1"/>
            </p:cNvSpPr>
            <p:nvPr/>
          </p:nvSpPr>
          <p:spPr bwMode="auto">
            <a:xfrm>
              <a:off x="4195758" y="3220880"/>
              <a:ext cx="533420" cy="337983"/>
            </a:xfrm>
            <a:prstGeom prst="rect">
              <a:avLst/>
            </a:prstGeom>
            <a:noFill/>
            <a:ln w="9525">
              <a:noFill/>
              <a:miter lim="800000"/>
              <a:headEnd/>
              <a:tailEnd/>
            </a:ln>
          </p:spPr>
          <p:txBody>
            <a:bodyPr>
              <a:spAutoFit/>
            </a:bodyPr>
            <a:lstStyle/>
            <a:p>
              <a:pPr algn="ctr">
                <a:spcBef>
                  <a:spcPct val="50000"/>
                </a:spcBef>
                <a:defRPr/>
              </a:pPr>
              <a:r>
                <a:rPr lang="en-US" altLang="zh-CN" sz="1600" b="1" dirty="0">
                  <a:solidFill>
                    <a:schemeClr val="accent3"/>
                  </a:solidFill>
                </a:rPr>
                <a:t>R3</a:t>
              </a:r>
            </a:p>
          </p:txBody>
        </p:sp>
      </p:grpSp>
      <p:cxnSp>
        <p:nvCxnSpPr>
          <p:cNvPr id="33806" name="直接连接符 60"/>
          <p:cNvCxnSpPr>
            <a:cxnSpLocks noChangeShapeType="1"/>
          </p:cNvCxnSpPr>
          <p:nvPr/>
        </p:nvCxnSpPr>
        <p:spPr bwMode="auto">
          <a:xfrm>
            <a:off x="6570664" y="4486275"/>
            <a:ext cx="1044575" cy="1588"/>
          </a:xfrm>
          <a:prstGeom prst="line">
            <a:avLst/>
          </a:prstGeom>
          <a:noFill/>
          <a:ln w="44450" algn="ctr">
            <a:solidFill>
              <a:schemeClr val="tx2"/>
            </a:solidFill>
            <a:round/>
            <a:headEnd/>
            <a:tailEnd/>
          </a:ln>
        </p:spPr>
      </p:cxnSp>
      <p:cxnSp>
        <p:nvCxnSpPr>
          <p:cNvPr id="33807" name="直接连接符 63"/>
          <p:cNvCxnSpPr>
            <a:cxnSpLocks noChangeShapeType="1"/>
          </p:cNvCxnSpPr>
          <p:nvPr/>
        </p:nvCxnSpPr>
        <p:spPr bwMode="auto">
          <a:xfrm>
            <a:off x="4503739" y="4486275"/>
            <a:ext cx="1139825" cy="1588"/>
          </a:xfrm>
          <a:prstGeom prst="line">
            <a:avLst/>
          </a:prstGeom>
          <a:noFill/>
          <a:ln w="44450" algn="ctr">
            <a:solidFill>
              <a:schemeClr val="tx2"/>
            </a:solidFill>
            <a:round/>
            <a:headEnd/>
            <a:tailEnd/>
          </a:ln>
        </p:spPr>
      </p:cxnSp>
      <p:cxnSp>
        <p:nvCxnSpPr>
          <p:cNvPr id="33808" name="直接连接符 66"/>
          <p:cNvCxnSpPr>
            <a:cxnSpLocks noChangeShapeType="1"/>
          </p:cNvCxnSpPr>
          <p:nvPr/>
        </p:nvCxnSpPr>
        <p:spPr bwMode="auto">
          <a:xfrm rot="5400000">
            <a:off x="8078788" y="4802188"/>
            <a:ext cx="1655763" cy="1588"/>
          </a:xfrm>
          <a:prstGeom prst="line">
            <a:avLst/>
          </a:prstGeom>
          <a:noFill/>
          <a:ln w="44450" algn="ctr">
            <a:solidFill>
              <a:schemeClr val="tx2"/>
            </a:solidFill>
            <a:round/>
            <a:headEnd/>
            <a:tailEnd/>
          </a:ln>
        </p:spPr>
      </p:cxnSp>
      <p:cxnSp>
        <p:nvCxnSpPr>
          <p:cNvPr id="33809" name="直接连接符 67"/>
          <p:cNvCxnSpPr>
            <a:cxnSpLocks noChangeShapeType="1"/>
          </p:cNvCxnSpPr>
          <p:nvPr/>
        </p:nvCxnSpPr>
        <p:spPr bwMode="auto">
          <a:xfrm rot="5400000">
            <a:off x="2238376" y="4886326"/>
            <a:ext cx="1655762" cy="1587"/>
          </a:xfrm>
          <a:prstGeom prst="line">
            <a:avLst/>
          </a:prstGeom>
          <a:noFill/>
          <a:ln w="44450" algn="ctr">
            <a:solidFill>
              <a:schemeClr val="tx2"/>
            </a:solidFill>
            <a:round/>
            <a:headEnd/>
            <a:tailEnd/>
          </a:ln>
        </p:spPr>
      </p:cxnSp>
      <p:cxnSp>
        <p:nvCxnSpPr>
          <p:cNvPr id="33810" name="直接连接符 69"/>
          <p:cNvCxnSpPr>
            <a:cxnSpLocks noChangeShapeType="1"/>
          </p:cNvCxnSpPr>
          <p:nvPr/>
        </p:nvCxnSpPr>
        <p:spPr bwMode="auto">
          <a:xfrm>
            <a:off x="2541588" y="4800600"/>
            <a:ext cx="539750" cy="1588"/>
          </a:xfrm>
          <a:prstGeom prst="line">
            <a:avLst/>
          </a:prstGeom>
          <a:noFill/>
          <a:ln w="44450" algn="ctr">
            <a:solidFill>
              <a:schemeClr val="tx2"/>
            </a:solidFill>
            <a:round/>
            <a:headEnd/>
            <a:tailEnd/>
          </a:ln>
        </p:spPr>
      </p:cxnSp>
      <p:cxnSp>
        <p:nvCxnSpPr>
          <p:cNvPr id="33811" name="直接连接符 70"/>
          <p:cNvCxnSpPr>
            <a:cxnSpLocks noChangeShapeType="1"/>
          </p:cNvCxnSpPr>
          <p:nvPr/>
        </p:nvCxnSpPr>
        <p:spPr bwMode="auto">
          <a:xfrm>
            <a:off x="8886825" y="4999039"/>
            <a:ext cx="539750" cy="1587"/>
          </a:xfrm>
          <a:prstGeom prst="line">
            <a:avLst/>
          </a:prstGeom>
          <a:noFill/>
          <a:ln w="44450" algn="ctr">
            <a:solidFill>
              <a:schemeClr val="tx2"/>
            </a:solidFill>
            <a:round/>
            <a:headEnd/>
            <a:tailEnd/>
          </a:ln>
        </p:spPr>
      </p:cxnSp>
      <p:pic>
        <p:nvPicPr>
          <p:cNvPr id="33812" name="Picture 24"/>
          <p:cNvPicPr>
            <a:picLocks noChangeAspect="1" noChangeArrowheads="1"/>
          </p:cNvPicPr>
          <p:nvPr/>
        </p:nvPicPr>
        <p:blipFill>
          <a:blip r:embed="rId3"/>
          <a:srcRect/>
          <a:stretch>
            <a:fillRect/>
          </a:stretch>
        </p:blipFill>
        <p:spPr bwMode="auto">
          <a:xfrm>
            <a:off x="9286876" y="4659313"/>
            <a:ext cx="715963" cy="679450"/>
          </a:xfrm>
          <a:prstGeom prst="rect">
            <a:avLst/>
          </a:prstGeom>
          <a:noFill/>
          <a:ln w="9525">
            <a:noFill/>
            <a:miter lim="800000"/>
            <a:headEnd/>
            <a:tailEnd/>
          </a:ln>
        </p:spPr>
      </p:pic>
      <p:pic>
        <p:nvPicPr>
          <p:cNvPr id="33813" name="Picture 24"/>
          <p:cNvPicPr>
            <a:picLocks noChangeAspect="1" noChangeArrowheads="1"/>
          </p:cNvPicPr>
          <p:nvPr/>
        </p:nvPicPr>
        <p:blipFill>
          <a:blip r:embed="rId3"/>
          <a:srcRect/>
          <a:stretch>
            <a:fillRect/>
          </a:stretch>
        </p:blipFill>
        <p:spPr bwMode="auto">
          <a:xfrm>
            <a:off x="1947863" y="4464050"/>
            <a:ext cx="715962" cy="679450"/>
          </a:xfrm>
          <a:prstGeom prst="rect">
            <a:avLst/>
          </a:prstGeom>
          <a:noFill/>
          <a:ln w="9525">
            <a:noFill/>
            <a:miter lim="800000"/>
            <a:headEnd/>
            <a:tailEnd/>
          </a:ln>
        </p:spPr>
      </p:pic>
      <p:sp>
        <p:nvSpPr>
          <p:cNvPr id="33814" name="Text Box 43"/>
          <p:cNvSpPr txBox="1">
            <a:spLocks noChangeArrowheads="1"/>
          </p:cNvSpPr>
          <p:nvPr/>
        </p:nvSpPr>
        <p:spPr bwMode="auto">
          <a:xfrm>
            <a:off x="9342439" y="5260975"/>
            <a:ext cx="769937" cy="369888"/>
          </a:xfrm>
          <a:prstGeom prst="rect">
            <a:avLst/>
          </a:prstGeom>
          <a:noFill/>
          <a:ln w="9525">
            <a:noFill/>
            <a:miter lim="800000"/>
            <a:headEnd/>
            <a:tailEnd/>
          </a:ln>
        </p:spPr>
        <p:txBody>
          <a:bodyPr>
            <a:spAutoFit/>
          </a:bodyPr>
          <a:lstStyle/>
          <a:p>
            <a:pPr>
              <a:spcBef>
                <a:spcPct val="50000"/>
              </a:spcBef>
            </a:pPr>
            <a:r>
              <a:rPr lang="en-US" altLang="zh-CN" b="1">
                <a:solidFill>
                  <a:schemeClr val="tx2"/>
                </a:solidFill>
              </a:rPr>
              <a:t>PC2</a:t>
            </a:r>
          </a:p>
        </p:txBody>
      </p:sp>
      <p:pic>
        <p:nvPicPr>
          <p:cNvPr id="33815" name="Picture 8"/>
          <p:cNvPicPr>
            <a:picLocks noChangeArrowheads="1"/>
          </p:cNvPicPr>
          <p:nvPr/>
        </p:nvPicPr>
        <p:blipFill>
          <a:blip r:embed="rId4"/>
          <a:srcRect/>
          <a:stretch>
            <a:fillRect/>
          </a:stretch>
        </p:blipFill>
        <p:spPr bwMode="auto">
          <a:xfrm>
            <a:off x="5024438" y="2773364"/>
            <a:ext cx="2081212" cy="657225"/>
          </a:xfrm>
          <a:prstGeom prst="rect">
            <a:avLst/>
          </a:prstGeom>
          <a:noFill/>
          <a:ln w="9525">
            <a:noFill/>
            <a:miter lim="800000"/>
            <a:headEnd/>
            <a:tailEnd/>
          </a:ln>
        </p:spPr>
      </p:pic>
      <p:sp>
        <p:nvSpPr>
          <p:cNvPr id="33816" name="Text Box 13"/>
          <p:cNvSpPr txBox="1">
            <a:spLocks noChangeArrowheads="1"/>
          </p:cNvSpPr>
          <p:nvPr/>
        </p:nvSpPr>
        <p:spPr bwMode="auto">
          <a:xfrm>
            <a:off x="5238751" y="2916239"/>
            <a:ext cx="1789113" cy="369887"/>
          </a:xfrm>
          <a:prstGeom prst="rect">
            <a:avLst/>
          </a:prstGeom>
          <a:noFill/>
          <a:ln w="9525">
            <a:noFill/>
            <a:miter lim="800000"/>
            <a:headEnd/>
            <a:tailEnd/>
          </a:ln>
        </p:spPr>
        <p:txBody>
          <a:bodyPr>
            <a:spAutoFit/>
          </a:bodyPr>
          <a:lstStyle/>
          <a:p>
            <a:pPr>
              <a:spcBef>
                <a:spcPct val="50000"/>
              </a:spcBef>
            </a:pPr>
            <a:r>
              <a:rPr lang="en-US" altLang="zh-CN" b="1">
                <a:solidFill>
                  <a:schemeClr val="tx2"/>
                </a:solidFill>
              </a:rPr>
              <a:t>192.168.2.0/24</a:t>
            </a:r>
          </a:p>
        </p:txBody>
      </p:sp>
      <p:sp>
        <p:nvSpPr>
          <p:cNvPr id="33817" name="Text Box 36"/>
          <p:cNvSpPr txBox="1">
            <a:spLocks noChangeArrowheads="1"/>
          </p:cNvSpPr>
          <p:nvPr/>
        </p:nvSpPr>
        <p:spPr bwMode="auto">
          <a:xfrm>
            <a:off x="1524001" y="3987800"/>
            <a:ext cx="1789113" cy="338138"/>
          </a:xfrm>
          <a:prstGeom prst="rect">
            <a:avLst/>
          </a:prstGeom>
          <a:noFill/>
          <a:ln w="9525">
            <a:noFill/>
            <a:miter lim="800000"/>
            <a:headEnd/>
            <a:tailEnd/>
          </a:ln>
        </p:spPr>
        <p:txBody>
          <a:bodyPr>
            <a:spAutoFit/>
          </a:bodyPr>
          <a:lstStyle/>
          <a:p>
            <a:pPr>
              <a:spcBef>
                <a:spcPct val="50000"/>
              </a:spcBef>
            </a:pPr>
            <a:r>
              <a:rPr lang="en-US" altLang="zh-CN" sz="1600" b="1">
                <a:solidFill>
                  <a:schemeClr val="tx2"/>
                </a:solidFill>
              </a:rPr>
              <a:t>192.168.1.1/24</a:t>
            </a:r>
          </a:p>
        </p:txBody>
      </p:sp>
      <p:sp>
        <p:nvSpPr>
          <p:cNvPr id="33818" name="Text Box 37"/>
          <p:cNvSpPr txBox="1">
            <a:spLocks noChangeArrowheads="1"/>
          </p:cNvSpPr>
          <p:nvPr/>
        </p:nvSpPr>
        <p:spPr bwMode="auto">
          <a:xfrm>
            <a:off x="9024938" y="4071939"/>
            <a:ext cx="1789112" cy="339725"/>
          </a:xfrm>
          <a:prstGeom prst="rect">
            <a:avLst/>
          </a:prstGeom>
          <a:noFill/>
          <a:ln w="9525">
            <a:noFill/>
            <a:miter lim="800000"/>
            <a:headEnd/>
            <a:tailEnd/>
          </a:ln>
        </p:spPr>
        <p:txBody>
          <a:bodyPr>
            <a:spAutoFit/>
          </a:bodyPr>
          <a:lstStyle/>
          <a:p>
            <a:pPr>
              <a:spcBef>
                <a:spcPct val="50000"/>
              </a:spcBef>
            </a:pPr>
            <a:r>
              <a:rPr lang="en-US" altLang="zh-CN" sz="1600" b="1">
                <a:solidFill>
                  <a:schemeClr val="tx2"/>
                </a:solidFill>
              </a:rPr>
              <a:t>192.168.3.1/24</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内容占位符 1"/>
          <p:cNvSpPr>
            <a:spLocks noGrp="1"/>
          </p:cNvSpPr>
          <p:nvPr>
            <p:ph idx="1"/>
          </p:nvPr>
        </p:nvSpPr>
        <p:spPr>
          <a:xfrm>
            <a:off x="1738313" y="1143000"/>
            <a:ext cx="8501062" cy="1428750"/>
          </a:xfrm>
        </p:spPr>
        <p:txBody>
          <a:bodyPr>
            <a:normAutofit fontScale="77500" lnSpcReduction="20000"/>
          </a:bodyPr>
          <a:lstStyle/>
          <a:p>
            <a:pPr>
              <a:spcBef>
                <a:spcPts val="675"/>
              </a:spcBef>
            </a:pPr>
            <a:r>
              <a:rPr lang="zh-CN" altLang="en-US"/>
              <a:t>需求描述</a:t>
            </a:r>
            <a:endParaRPr lang="en-US" altLang="zh-CN"/>
          </a:p>
          <a:p>
            <a:pPr lvl="1">
              <a:spcBef>
                <a:spcPts val="475"/>
              </a:spcBef>
            </a:pPr>
            <a:r>
              <a:rPr lang="zh-CN" altLang="en-US"/>
              <a:t>主机</a:t>
            </a:r>
            <a:r>
              <a:rPr lang="en-US" altLang="zh-CN"/>
              <a:t>PC1</a:t>
            </a:r>
            <a:r>
              <a:rPr lang="zh-CN" altLang="en-US"/>
              <a:t>不能</a:t>
            </a:r>
            <a:r>
              <a:rPr lang="en-US" altLang="zh-CN"/>
              <a:t>ping</a:t>
            </a:r>
            <a:r>
              <a:rPr lang="zh-CN" altLang="en-US"/>
              <a:t>通</a:t>
            </a:r>
            <a:r>
              <a:rPr lang="en-US" altLang="zh-CN"/>
              <a:t>192.168.3.1</a:t>
            </a:r>
            <a:r>
              <a:rPr lang="zh-CN" altLang="en-US"/>
              <a:t>，但可以</a:t>
            </a:r>
            <a:r>
              <a:rPr lang="en-US" altLang="zh-CN"/>
              <a:t>ping</a:t>
            </a:r>
            <a:r>
              <a:rPr lang="zh-CN" altLang="en-US"/>
              <a:t>通</a:t>
            </a:r>
            <a:r>
              <a:rPr lang="en-US" altLang="zh-CN"/>
              <a:t>192.168.2.1</a:t>
            </a:r>
          </a:p>
          <a:p>
            <a:pPr>
              <a:spcBef>
                <a:spcPts val="675"/>
              </a:spcBef>
            </a:pPr>
            <a:r>
              <a:rPr lang="zh-CN" altLang="en-US"/>
              <a:t>问题分析</a:t>
            </a:r>
            <a:endParaRPr lang="en-US" altLang="zh-CN"/>
          </a:p>
          <a:p>
            <a:pPr lvl="1">
              <a:spcBef>
                <a:spcPts val="475"/>
              </a:spcBef>
            </a:pPr>
            <a:r>
              <a:rPr lang="zh-CN" altLang="en-US"/>
              <a:t>在哪个接口应用标准</a:t>
            </a:r>
            <a:r>
              <a:rPr lang="en-US" altLang="zh-CN"/>
              <a:t>ACL</a:t>
            </a:r>
            <a:endParaRPr lang="zh-CN" altLang="en-US"/>
          </a:p>
          <a:p>
            <a:pPr lvl="1">
              <a:spcBef>
                <a:spcPts val="475"/>
              </a:spcBef>
            </a:pPr>
            <a:r>
              <a:rPr lang="zh-CN" altLang="en-US"/>
              <a:t>在哪台路由器应用标准</a:t>
            </a:r>
            <a:r>
              <a:rPr lang="en-US" altLang="zh-CN"/>
              <a:t>ACL</a:t>
            </a:r>
          </a:p>
          <a:p>
            <a:pPr lvl="1">
              <a:spcBef>
                <a:spcPts val="475"/>
              </a:spcBef>
              <a:buNone/>
            </a:pPr>
            <a:endParaRPr lang="en-US" altLang="zh-CN"/>
          </a:p>
          <a:p>
            <a:pPr lvl="1">
              <a:spcBef>
                <a:spcPts val="475"/>
              </a:spcBef>
            </a:pPr>
            <a:endParaRPr lang="zh-CN" altLang="en-US"/>
          </a:p>
        </p:txBody>
      </p:sp>
      <p:sp>
        <p:nvSpPr>
          <p:cNvPr id="34819" name="标题 2"/>
          <p:cNvSpPr>
            <a:spLocks noGrp="1"/>
          </p:cNvSpPr>
          <p:nvPr>
            <p:ph type="title"/>
          </p:nvPr>
        </p:nvSpPr>
        <p:spPr/>
        <p:txBody>
          <a:bodyPr/>
          <a:lstStyle/>
          <a:p>
            <a:r>
              <a:rPr lang="zh-CN"/>
              <a:t>实验二：配置标准</a:t>
            </a:r>
            <a:r>
              <a:rPr lang="en-US" altLang="zh-CN"/>
              <a:t>ACL</a:t>
            </a:r>
            <a:r>
              <a:rPr lang="zh-CN"/>
              <a:t>实现需求</a:t>
            </a:r>
            <a:r>
              <a:rPr lang="en-US" altLang="zh-CN"/>
              <a:t>3-2</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内容占位符 1"/>
          <p:cNvSpPr>
            <a:spLocks noGrp="1"/>
          </p:cNvSpPr>
          <p:nvPr>
            <p:ph idx="1"/>
          </p:nvPr>
        </p:nvSpPr>
        <p:spPr>
          <a:xfrm>
            <a:off x="1738313" y="1143000"/>
            <a:ext cx="8501062" cy="5143500"/>
          </a:xfrm>
        </p:spPr>
        <p:txBody>
          <a:bodyPr/>
          <a:lstStyle/>
          <a:p>
            <a:pPr>
              <a:spcBef>
                <a:spcPts val="675"/>
              </a:spcBef>
            </a:pPr>
            <a:r>
              <a:rPr lang="zh-CN" altLang="en-US"/>
              <a:t>实现思路</a:t>
            </a:r>
            <a:endParaRPr lang="en-US" altLang="zh-CN"/>
          </a:p>
          <a:p>
            <a:pPr lvl="1">
              <a:spcBef>
                <a:spcPts val="475"/>
              </a:spcBef>
            </a:pPr>
            <a:r>
              <a:rPr lang="zh-CN" altLang="en-US"/>
              <a:t>配置路由实现网络互通</a:t>
            </a:r>
          </a:p>
          <a:p>
            <a:pPr lvl="1">
              <a:spcBef>
                <a:spcPts val="475"/>
              </a:spcBef>
            </a:pPr>
            <a:r>
              <a:rPr lang="zh-CN" altLang="en-US"/>
              <a:t>确定在哪台路由器、哪个接口应用标准</a:t>
            </a:r>
            <a:r>
              <a:rPr lang="en-US" altLang="zh-CN"/>
              <a:t>ACL</a:t>
            </a:r>
            <a:endParaRPr lang="zh-CN" altLang="en-US"/>
          </a:p>
          <a:p>
            <a:pPr lvl="1">
              <a:spcBef>
                <a:spcPts val="475"/>
              </a:spcBef>
            </a:pPr>
            <a:r>
              <a:rPr lang="zh-CN" altLang="en-US"/>
              <a:t>配置标准</a:t>
            </a:r>
            <a:r>
              <a:rPr lang="en-US" altLang="zh-CN"/>
              <a:t>ACL</a:t>
            </a:r>
            <a:r>
              <a:rPr lang="zh-CN" altLang="en-US"/>
              <a:t>并应用到接口上</a:t>
            </a:r>
          </a:p>
          <a:p>
            <a:pPr lvl="1">
              <a:spcBef>
                <a:spcPts val="475"/>
              </a:spcBef>
            </a:pPr>
            <a:r>
              <a:rPr lang="zh-CN" altLang="en-US"/>
              <a:t>查看并验证配置</a:t>
            </a:r>
          </a:p>
          <a:p>
            <a:pPr lvl="2">
              <a:spcBef>
                <a:spcPct val="0"/>
              </a:spcBef>
            </a:pPr>
            <a:r>
              <a:rPr lang="zh-CN" altLang="en-US"/>
              <a:t>使用</a:t>
            </a:r>
            <a:r>
              <a:rPr lang="en-US" altLang="zh-CN"/>
              <a:t>show access-lists</a:t>
            </a:r>
            <a:r>
              <a:rPr lang="zh-CN" altLang="en-US"/>
              <a:t>命令查看</a:t>
            </a:r>
            <a:r>
              <a:rPr lang="en-US" altLang="zh-CN"/>
              <a:t>ACL</a:t>
            </a:r>
            <a:r>
              <a:rPr lang="zh-CN" altLang="en-US"/>
              <a:t>配置</a:t>
            </a:r>
          </a:p>
          <a:p>
            <a:pPr lvl="2">
              <a:spcBef>
                <a:spcPct val="0"/>
              </a:spcBef>
            </a:pPr>
            <a:r>
              <a:rPr lang="zh-CN" altLang="en-US"/>
              <a:t>使用</a:t>
            </a:r>
            <a:r>
              <a:rPr lang="en-US" altLang="zh-CN"/>
              <a:t>ping</a:t>
            </a:r>
            <a:r>
              <a:rPr lang="zh-CN" altLang="en-US"/>
              <a:t>命令验证配置</a:t>
            </a:r>
          </a:p>
          <a:p>
            <a:pPr>
              <a:spcBef>
                <a:spcPts val="675"/>
              </a:spcBef>
            </a:pPr>
            <a:r>
              <a:rPr lang="zh-CN" altLang="en-US"/>
              <a:t>学员练习</a:t>
            </a:r>
            <a:endParaRPr lang="en-US" altLang="zh-CN"/>
          </a:p>
          <a:p>
            <a:pPr>
              <a:spcBef>
                <a:spcPts val="675"/>
              </a:spcBef>
            </a:pPr>
            <a:endParaRPr lang="zh-CN" altLang="en-US"/>
          </a:p>
        </p:txBody>
      </p:sp>
      <p:sp>
        <p:nvSpPr>
          <p:cNvPr id="35843" name="标题 2"/>
          <p:cNvSpPr>
            <a:spLocks noGrp="1"/>
          </p:cNvSpPr>
          <p:nvPr>
            <p:ph type="title"/>
          </p:nvPr>
        </p:nvSpPr>
        <p:spPr/>
        <p:txBody>
          <a:bodyPr/>
          <a:lstStyle/>
          <a:p>
            <a:r>
              <a:rPr lang="zh-CN"/>
              <a:t>实验二：配置标准</a:t>
            </a:r>
            <a:r>
              <a:rPr lang="en-US" altLang="zh-CN"/>
              <a:t>ACL</a:t>
            </a:r>
            <a:r>
              <a:rPr lang="zh-CN"/>
              <a:t>实现需求</a:t>
            </a:r>
            <a:r>
              <a:rPr lang="en-US" altLang="zh-CN"/>
              <a:t>3-3</a:t>
            </a:r>
            <a:endParaRPr lang="zh-CN" altLang="en-US"/>
          </a:p>
        </p:txBody>
      </p:sp>
      <p:grpSp>
        <p:nvGrpSpPr>
          <p:cNvPr id="2" name="组合 7"/>
          <p:cNvGrpSpPr>
            <a:grpSpLocks/>
          </p:cNvGrpSpPr>
          <p:nvPr/>
        </p:nvGrpSpPr>
        <p:grpSpPr bwMode="auto">
          <a:xfrm>
            <a:off x="4310063" y="5000625"/>
            <a:ext cx="3598862" cy="914400"/>
            <a:chOff x="1079500" y="5657872"/>
            <a:chExt cx="3598863" cy="914400"/>
          </a:xfrm>
        </p:grpSpPr>
        <p:pic>
          <p:nvPicPr>
            <p:cNvPr id="35845" name="Picture 4" descr="练习"/>
            <p:cNvPicPr>
              <a:picLocks noChangeAspect="1" noChangeArrowheads="1"/>
            </p:cNvPicPr>
            <p:nvPr/>
          </p:nvPicPr>
          <p:blipFill>
            <a:blip r:embed="rId2"/>
            <a:srcRect/>
            <a:stretch>
              <a:fillRect/>
            </a:stretch>
          </p:blipFill>
          <p:spPr bwMode="auto">
            <a:xfrm>
              <a:off x="1079500" y="5657872"/>
              <a:ext cx="1008063" cy="914400"/>
            </a:xfrm>
            <a:prstGeom prst="rect">
              <a:avLst/>
            </a:prstGeom>
            <a:noFill/>
            <a:ln w="9525">
              <a:noFill/>
              <a:miter lim="800000"/>
              <a:headEnd/>
              <a:tailEnd/>
            </a:ln>
          </p:spPr>
        </p:pic>
        <p:sp>
          <p:nvSpPr>
            <p:cNvPr id="35846" name="Rectangle 5"/>
            <p:cNvSpPr>
              <a:spLocks noChangeArrowheads="1"/>
            </p:cNvSpPr>
            <p:nvPr/>
          </p:nvSpPr>
          <p:spPr bwMode="auto">
            <a:xfrm>
              <a:off x="1943100" y="5854720"/>
              <a:ext cx="2735263" cy="503238"/>
            </a:xfrm>
            <a:prstGeom prst="rect">
              <a:avLst/>
            </a:prstGeom>
            <a:noFill/>
            <a:ln w="9525">
              <a:noFill/>
              <a:miter lim="800000"/>
              <a:headEnd/>
              <a:tailEnd/>
            </a:ln>
          </p:spPr>
          <p:txBody>
            <a:bodyPr/>
            <a:lstStyle/>
            <a:p>
              <a:pPr marL="342900" indent="-342900">
                <a:spcBef>
                  <a:spcPct val="20000"/>
                </a:spcBef>
                <a:buClr>
                  <a:srgbClr val="006600"/>
                </a:buClr>
                <a:buSzPct val="80000"/>
              </a:pPr>
              <a:r>
                <a:rPr lang="en-US" altLang="zh-CN" sz="2400" b="1">
                  <a:solidFill>
                    <a:srgbClr val="FF9933"/>
                  </a:solidFill>
                  <a:latin typeface="黑体" pitchFamily="2" charset="-122"/>
                </a:rPr>
                <a:t>40</a:t>
              </a:r>
              <a:r>
                <a:rPr lang="zh-CN" altLang="en-US" sz="2400" b="1">
                  <a:solidFill>
                    <a:srgbClr val="FF9933"/>
                  </a:solidFill>
                  <a:latin typeface="黑体" pitchFamily="2" charset="-122"/>
                </a:rPr>
                <a:t>分钟完成</a:t>
              </a:r>
            </a:p>
          </p:txBody>
        </p:sp>
      </p:gr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835318-A86B-4409-944A-1726D62CC60E}"/>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6435D2E-46A2-4568-AD7C-3760BC95CF9D}"/>
              </a:ext>
            </a:extLst>
          </p:cNvPr>
          <p:cNvSpPr>
            <a:spLocks noGrp="1"/>
          </p:cNvSpPr>
          <p:nvPr>
            <p:ph idx="1"/>
          </p:nvPr>
        </p:nvSpPr>
        <p:spPr>
          <a:xfrm>
            <a:off x="491146" y="2551193"/>
            <a:ext cx="10972440" cy="751405"/>
          </a:xfrm>
        </p:spPr>
        <p:txBody>
          <a:bodyPr>
            <a:normAutofit/>
          </a:bodyPr>
          <a:lstStyle/>
          <a:p>
            <a:pPr marL="0" indent="0" algn="ctr">
              <a:buNone/>
            </a:pPr>
            <a:r>
              <a:rPr lang="zh-CN" altLang="en-US" sz="4800" dirty="0"/>
              <a:t>谢谢</a:t>
            </a:r>
          </a:p>
        </p:txBody>
      </p:sp>
    </p:spTree>
    <p:extLst>
      <p:ext uri="{BB962C8B-B14F-4D97-AF65-F5344CB8AC3E}">
        <p14:creationId xmlns:p14="http://schemas.microsoft.com/office/powerpoint/2010/main" val="3404734476"/>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6620</TotalTime>
  <Words>2091</Words>
  <Application>Microsoft Office PowerPoint</Application>
  <PresentationFormat>宽屏</PresentationFormat>
  <Paragraphs>376</Paragraphs>
  <Slides>29</Slides>
  <Notes>9</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29</vt:i4>
      </vt:variant>
    </vt:vector>
  </HeadingPairs>
  <TitlesOfParts>
    <vt:vector size="39" baseType="lpstr">
      <vt:lpstr>DejaVu Sans</vt:lpstr>
      <vt:lpstr>Myriad Pro</vt:lpstr>
      <vt:lpstr>仿宋_GB2312</vt:lpstr>
      <vt:lpstr>黑体</vt:lpstr>
      <vt:lpstr>楷体_GB2312</vt:lpstr>
      <vt:lpstr>Arial</vt:lpstr>
      <vt:lpstr>Symbol</vt:lpstr>
      <vt:lpstr>Times New Roman</vt:lpstr>
      <vt:lpstr>Wingdings</vt:lpstr>
      <vt:lpstr>Office Theme</vt:lpstr>
      <vt:lpstr>目标</vt:lpstr>
      <vt:lpstr>本章结构</vt:lpstr>
      <vt:lpstr>TCP和UDP协议</vt:lpstr>
      <vt:lpstr>TCP协议</vt:lpstr>
      <vt:lpstr>TCP报文段</vt:lpstr>
      <vt:lpstr>TCP连接4-1</vt:lpstr>
      <vt:lpstr>TCP连接4-2</vt:lpstr>
      <vt:lpstr>TCP连接4-3</vt:lpstr>
      <vt:lpstr>TCP连接4-4</vt:lpstr>
      <vt:lpstr>UDP协议2-1</vt:lpstr>
      <vt:lpstr>UDP协议2-2</vt:lpstr>
      <vt:lpstr>小结</vt:lpstr>
      <vt:lpstr>访问控制列表概述</vt:lpstr>
      <vt:lpstr>访问控制列表的工作原理2-1</vt:lpstr>
      <vt:lpstr>访问控制列表的工作原理2-2</vt:lpstr>
      <vt:lpstr>访问控制列表的类型</vt:lpstr>
      <vt:lpstr>标准访问控制列表的配置3-1</vt:lpstr>
      <vt:lpstr>标准访问控制列表的配置3-2</vt:lpstr>
      <vt:lpstr>标准访问控制列表的配置3-3</vt:lpstr>
      <vt:lpstr>标准ACL的配置实例</vt:lpstr>
      <vt:lpstr>本章总结</vt:lpstr>
      <vt:lpstr>作业</vt:lpstr>
      <vt:lpstr>考题</vt:lpstr>
      <vt:lpstr>实验一：观察TCP建立链接的过程2-1</vt:lpstr>
      <vt:lpstr>实验一：观察TCP建立链接的过程2-2</vt:lpstr>
      <vt:lpstr>实验二：配置标准ACL实现需求3-1</vt:lpstr>
      <vt:lpstr>实验二：配置标准ACL实现需求3-2</vt:lpstr>
      <vt:lpstr>实验二：配置标准ACL实现需求3-3</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cuiyongxin</dc:creator>
  <dc:description/>
  <cp:lastModifiedBy>Jason Chen</cp:lastModifiedBy>
  <cp:revision>173</cp:revision>
  <dcterms:created xsi:type="dcterms:W3CDTF">2019-12-12T13:30:13Z</dcterms:created>
  <dcterms:modified xsi:type="dcterms:W3CDTF">2021-10-14T11:17:14Z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HiddenSlides">
    <vt:i4>0</vt:i4>
  </property>
  <property fmtid="{D5CDD505-2E9C-101B-9397-08002B2CF9AE}" pid="4" name="HyperlinksChanged">
    <vt:bool>false</vt:bool>
  </property>
  <property fmtid="{D5CDD505-2E9C-101B-9397-08002B2CF9AE}" pid="5" name="KSOProductBuildVer">
    <vt:lpwstr>2052-1.2.1.1575</vt:lpwstr>
  </property>
  <property fmtid="{D5CDD505-2E9C-101B-9397-08002B2CF9AE}" pid="6" name="LinksUpToDate">
    <vt:bool>false</vt:bool>
  </property>
  <property fmtid="{D5CDD505-2E9C-101B-9397-08002B2CF9AE}" pid="7" name="MMClips">
    <vt:i4>0</vt:i4>
  </property>
  <property fmtid="{D5CDD505-2E9C-101B-9397-08002B2CF9AE}" pid="8" name="Notes">
    <vt:i4>4</vt:i4>
  </property>
  <property fmtid="{D5CDD505-2E9C-101B-9397-08002B2CF9AE}" pid="9" name="PresentationFormat">
    <vt:lpwstr>宽屏</vt:lpwstr>
  </property>
  <property fmtid="{D5CDD505-2E9C-101B-9397-08002B2CF9AE}" pid="10" name="ScaleCrop">
    <vt:bool>false</vt:bool>
  </property>
  <property fmtid="{D5CDD505-2E9C-101B-9397-08002B2CF9AE}" pid="11" name="ShareDoc">
    <vt:bool>false</vt:bool>
  </property>
  <property fmtid="{D5CDD505-2E9C-101B-9397-08002B2CF9AE}" pid="12" name="Slides">
    <vt:i4>24</vt:i4>
  </property>
</Properties>
</file>