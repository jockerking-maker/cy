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0E27"/>
              </a:gs>
              <a:gs pos="100000">
                <a:srgbClr val="0F1F4A"/>
              </a:gs>
            </a:gsLst>
            <a:lin scaled="0" ang="189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600994" y="171523"/>
            <a:ext cx="19271" cy="19271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54580" y="4640805"/>
            <a:ext cx="37894" cy="37894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15469" y="204349"/>
            <a:ext cx="17570" cy="1757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15438" y="1363628"/>
            <a:ext cx="30583" cy="3058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620421" y="4041184"/>
            <a:ext cx="35397" cy="35397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578934" y="4787839"/>
            <a:ext cx="21239" cy="21239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378583" y="2308365"/>
            <a:ext cx="13771" cy="13771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074335" y="4140353"/>
            <a:ext cx="35328" cy="353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374250" y="6673627"/>
            <a:ext cx="22395" cy="2239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859299" y="4241808"/>
            <a:ext cx="36974" cy="3697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375386" y="314263"/>
            <a:ext cx="17849" cy="17849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48503" y="1596479"/>
            <a:ext cx="14020" cy="14020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556508" y="2502019"/>
            <a:ext cx="22143" cy="22143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173618" y="6423577"/>
            <a:ext cx="30527" cy="305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034359" y="5000351"/>
            <a:ext cx="15903" cy="1590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762661" y="4389118"/>
            <a:ext cx="27778" cy="2777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019149" y="5321807"/>
            <a:ext cx="17884" cy="17884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749853" y="1836166"/>
            <a:ext cx="17339" cy="1733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417557" y="2158060"/>
            <a:ext cx="30750" cy="307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871410" y="3146806"/>
            <a:ext cx="18965" cy="18965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673095" y="1801881"/>
            <a:ext cx="28612" cy="2861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747753" y="1504101"/>
            <a:ext cx="41073" cy="4107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80658" y="323124"/>
            <a:ext cx="14281" cy="14281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415605" y="2895173"/>
            <a:ext cx="12889" cy="1288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841094" y="3628666"/>
            <a:ext cx="40275" cy="4027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36477" y="4942710"/>
            <a:ext cx="31543" cy="3154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171804" y="4395716"/>
            <a:ext cx="14338" cy="1433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393504" y="6541269"/>
            <a:ext cx="37401" cy="37401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950567" y="1225194"/>
            <a:ext cx="38511" cy="38511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547672" y="4381915"/>
            <a:ext cx="29348" cy="2934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064118" y="3699061"/>
            <a:ext cx="34468" cy="3446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798" y="2223062"/>
            <a:ext cx="11560" cy="1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445542" y="5703562"/>
            <a:ext cx="20252" cy="20252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437075" y="6494179"/>
            <a:ext cx="13557" cy="1355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22743" y="5216209"/>
            <a:ext cx="34082" cy="34082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649776" y="3770553"/>
            <a:ext cx="18970" cy="1897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029925" y="1452512"/>
            <a:ext cx="27246" cy="2724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2391122" y="2137750"/>
            <a:ext cx="41001" cy="41001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207783" y="3549535"/>
            <a:ext cx="14624" cy="14624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4018890" y="4034621"/>
            <a:ext cx="17916" cy="17916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74320" y="0"/>
            <a:ext cx="36576" cy="68580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29184" y="0"/>
            <a:ext cx="36576" cy="6858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84048" y="0"/>
            <a:ext cx="36576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38912" y="0"/>
            <a:ext cx="36576" cy="6858000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93776" y="0"/>
            <a:ext cx="36576" cy="6858000"/>
          </a:xfrm>
          <a:prstGeom prst="rect">
            <a:avLst/>
          </a:prstGeom>
          <a:solidFill>
            <a:srgbClr val="FF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645920" y="1371600"/>
            <a:ext cx="8686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200" b="1" i="0">
                <a:solidFill>
                  <a:srgbClr val="FFFFFF"/>
                </a:solidFill>
              </a:defRPr>
            </a:pPr>
            <a:r>
              <a:t>外太空探索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645920" y="2331720"/>
            <a:ext cx="8686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800" b="1" i="0">
                <a:solidFill>
                  <a:srgbClr val="00C8FF"/>
                </a:solidFill>
              </a:defRPr>
            </a:pPr>
            <a:r>
              <a:t>与航天航空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645920" y="320040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 i="0">
                <a:solidFill>
                  <a:srgbClr val="C8E6FF"/>
                </a:solidFill>
              </a:defRPr>
            </a:pPr>
            <a:r>
              <a:t>Space Exploration &amp; Aerospace Technology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657600" y="3749039"/>
            <a:ext cx="4846320" cy="457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114800" y="3840480"/>
            <a:ext cx="3931920" cy="2743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828800" y="4114800"/>
            <a:ext cx="2103120" cy="411480"/>
          </a:xfrm>
          <a:prstGeom prst="rect">
            <a:avLst/>
          </a:prstGeom>
          <a:solidFill>
            <a:srgbClr val="0F1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828800" y="411480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FFD700"/>
                </a:solidFill>
              </a:defRPr>
            </a:pPr>
            <a:r>
              <a:t>★ 探索未知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297680" y="4114800"/>
            <a:ext cx="2103120" cy="411480"/>
          </a:xfrm>
          <a:prstGeom prst="rect">
            <a:avLst/>
          </a:prstGeom>
          <a:solidFill>
            <a:srgbClr val="0F1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297680" y="411480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FFD700"/>
                </a:solidFill>
              </a:defRPr>
            </a:pPr>
            <a:r>
              <a:t>★ 勇攀高峰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766560" y="4114800"/>
            <a:ext cx="2103120" cy="411480"/>
          </a:xfrm>
          <a:prstGeom prst="rect">
            <a:avLst/>
          </a:prstGeom>
          <a:solidFill>
            <a:srgbClr val="0F1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766560" y="411480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FFD700"/>
                </a:solidFill>
              </a:defRPr>
            </a:pPr>
            <a:r>
              <a:t>★ 科技创新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235440" y="4114800"/>
            <a:ext cx="2103120" cy="411480"/>
          </a:xfrm>
          <a:prstGeom prst="rect">
            <a:avLst/>
          </a:prstGeom>
          <a:solidFill>
            <a:srgbClr val="0F1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235440" y="411480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FFD700"/>
                </a:solidFill>
              </a:defRPr>
            </a:pPr>
            <a:r>
              <a:t>★ 人类梦想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645920" y="59436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C8E6FF"/>
                </a:solidFill>
              </a:defRPr>
            </a:pPr>
            <a:r>
              <a:t>2026  ·  航空航天专题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0E27"/>
              </a:gs>
              <a:gs pos="100000">
                <a:srgbClr val="0F1F4A"/>
              </a:gs>
            </a:gsLst>
            <a:lin scaled="0" ang="189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600994" y="171523"/>
            <a:ext cx="19271" cy="19271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754580" y="4640805"/>
            <a:ext cx="37894" cy="37894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015469" y="204349"/>
            <a:ext cx="17570" cy="1757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15438" y="1363628"/>
            <a:ext cx="30583" cy="3058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620421" y="4041184"/>
            <a:ext cx="35397" cy="35397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578934" y="4787839"/>
            <a:ext cx="21239" cy="21239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378583" y="2308365"/>
            <a:ext cx="13771" cy="13771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074335" y="4140353"/>
            <a:ext cx="35328" cy="353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74250" y="6673627"/>
            <a:ext cx="22395" cy="2239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859299" y="4241808"/>
            <a:ext cx="36974" cy="3697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375386" y="314263"/>
            <a:ext cx="17849" cy="17849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48503" y="1596479"/>
            <a:ext cx="14020" cy="14020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556508" y="2502019"/>
            <a:ext cx="22143" cy="22143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173618" y="6423577"/>
            <a:ext cx="30527" cy="305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034359" y="5000351"/>
            <a:ext cx="15903" cy="1590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762661" y="4389118"/>
            <a:ext cx="27778" cy="2777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19149" y="5321807"/>
            <a:ext cx="17884" cy="17884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749853" y="1836166"/>
            <a:ext cx="17339" cy="1733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417557" y="2158060"/>
            <a:ext cx="30750" cy="307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871410" y="3146806"/>
            <a:ext cx="18965" cy="18965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673095" y="1801881"/>
            <a:ext cx="28612" cy="2861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747753" y="1504101"/>
            <a:ext cx="41073" cy="4107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0658" y="323124"/>
            <a:ext cx="14281" cy="14281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415605" y="2895173"/>
            <a:ext cx="12889" cy="1288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841094" y="3628666"/>
            <a:ext cx="40275" cy="4027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6477" y="4942710"/>
            <a:ext cx="31543" cy="3154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171804" y="4395716"/>
            <a:ext cx="14338" cy="1433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393504" y="6541269"/>
            <a:ext cx="37401" cy="37401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950567" y="1225194"/>
            <a:ext cx="38511" cy="38511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547672" y="4381915"/>
            <a:ext cx="29348" cy="2934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064118" y="3699061"/>
            <a:ext cx="34468" cy="3446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798" y="2223062"/>
            <a:ext cx="11560" cy="1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445542" y="5703562"/>
            <a:ext cx="20252" cy="20252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437075" y="6494179"/>
            <a:ext cx="13557" cy="1355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22743" y="5216209"/>
            <a:ext cx="34082" cy="34082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649776" y="3770553"/>
            <a:ext cx="18970" cy="1897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029925" y="1452512"/>
            <a:ext cx="27246" cy="2724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2391122" y="2137750"/>
            <a:ext cx="41001" cy="41001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207783" y="3549535"/>
            <a:ext cx="14624" cy="14624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018890" y="4034621"/>
            <a:ext cx="17916" cy="17916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371600" y="54864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 i="0">
                <a:solidFill>
                  <a:srgbClr val="FFFFFF"/>
                </a:solidFill>
              </a:defRPr>
            </a:pPr>
            <a:r>
              <a:t>目  录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114800" y="1417320"/>
            <a:ext cx="3931920" cy="4572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371600" y="1691640"/>
            <a:ext cx="530352" cy="47548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371600" y="1691640"/>
            <a:ext cx="5303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0A0E27"/>
                </a:solidFill>
              </a:defRPr>
            </a:pPr>
            <a:r>
              <a:t>01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057400" y="169164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FFFFFF"/>
                </a:solidFill>
              </a:defRPr>
            </a:pPr>
            <a:r>
              <a:t>航天航空发展史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057400" y="1947672"/>
            <a:ext cx="5029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8E6FF"/>
                </a:solidFill>
              </a:defRPr>
            </a:pPr>
            <a:r>
              <a:t>从古代飞天梦到现代航天科技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371600" y="2350008"/>
            <a:ext cx="530352" cy="47548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371600" y="2350008"/>
            <a:ext cx="5303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0A0E27"/>
                </a:solidFill>
              </a:defRPr>
            </a:pPr>
            <a:r>
              <a:t>02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057400" y="2350008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FFFFFF"/>
                </a:solidFill>
              </a:defRPr>
            </a:pPr>
            <a:r>
              <a:t>世界航天重大里程碑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057400" y="2606040"/>
            <a:ext cx="5029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8E6FF"/>
                </a:solidFill>
              </a:defRPr>
            </a:pPr>
            <a:r>
              <a:t>改变人类历史的关键太空事件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371600" y="3008376"/>
            <a:ext cx="530352" cy="47548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371600" y="3008376"/>
            <a:ext cx="5303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0A0E27"/>
                </a:solidFill>
              </a:defRPr>
            </a:pPr>
            <a:r>
              <a:t>03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057400" y="3008376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FFFFFF"/>
                </a:solidFill>
              </a:defRPr>
            </a:pPr>
            <a:r>
              <a:t>中国航天辉煌成就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057400" y="3264408"/>
            <a:ext cx="5029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8E6FF"/>
                </a:solidFill>
              </a:defRPr>
            </a:pPr>
            <a:r>
              <a:t>从追赶到领跑的中国力量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0" y="3666744"/>
            <a:ext cx="530352" cy="475488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371600" y="3666744"/>
            <a:ext cx="5303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0A0E27"/>
                </a:solidFill>
              </a:defRPr>
            </a:pPr>
            <a:r>
              <a:t>04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057400" y="3666744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FFFFFF"/>
                </a:solidFill>
              </a:defRPr>
            </a:pPr>
            <a:r>
              <a:t>现代航天前沿技术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057400" y="3922776"/>
            <a:ext cx="5029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8E6FF"/>
                </a:solidFill>
              </a:defRPr>
            </a:pPr>
            <a:r>
              <a:t>可重复火箭与商业航天革命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371600" y="4325112"/>
            <a:ext cx="530352" cy="47548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371600" y="4325112"/>
            <a:ext cx="5303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0A0E27"/>
                </a:solidFill>
              </a:defRPr>
            </a:pPr>
            <a:r>
              <a:t>05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057400" y="4325112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FFFFFF"/>
                </a:solidFill>
              </a:defRPr>
            </a:pPr>
            <a:r>
              <a:t>深空探测使命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057400" y="4581144"/>
            <a:ext cx="5029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8E6FF"/>
                </a:solidFill>
              </a:defRPr>
            </a:pPr>
            <a:r>
              <a:t>走向太阳系深处的探索之旅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371600" y="4983479"/>
            <a:ext cx="530352" cy="475488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371600" y="4983479"/>
            <a:ext cx="5303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0A0E27"/>
                </a:solidFill>
              </a:defRPr>
            </a:pPr>
            <a:r>
              <a:t>06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057400" y="4983479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FFFFFF"/>
                </a:solidFill>
              </a:defRPr>
            </a:pPr>
            <a:r>
              <a:t>载人航天与空间站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057400" y="5239512"/>
            <a:ext cx="5029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8E6FF"/>
                </a:solidFill>
              </a:defRPr>
            </a:pPr>
            <a:r>
              <a:t>人类在太空的永久家园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371600" y="5641848"/>
            <a:ext cx="530352" cy="47548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371600" y="5641848"/>
            <a:ext cx="5303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0A0E27"/>
                </a:solidFill>
              </a:defRPr>
            </a:pPr>
            <a:r>
              <a:t>07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057400" y="5641848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FFFFFF"/>
                </a:solidFill>
              </a:defRPr>
            </a:pPr>
            <a:r>
              <a:t>未来太空展望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057400" y="5897880"/>
            <a:ext cx="5029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8E6FF"/>
                </a:solidFill>
              </a:defRPr>
            </a:pPr>
            <a:r>
              <a:t>星际移民与人类文明新纪元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0E27"/>
              </a:gs>
              <a:gs pos="100000">
                <a:srgbClr val="0F1F4A"/>
              </a:gs>
            </a:gsLst>
            <a:lin scaled="0" ang="189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600994" y="171523"/>
            <a:ext cx="19271" cy="19271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754580" y="4640805"/>
            <a:ext cx="37894" cy="37894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015469" y="204349"/>
            <a:ext cx="17570" cy="1757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15438" y="1363628"/>
            <a:ext cx="30583" cy="3058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620421" y="4041184"/>
            <a:ext cx="35397" cy="35397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578934" y="4787839"/>
            <a:ext cx="21239" cy="21239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378583" y="2308365"/>
            <a:ext cx="13771" cy="13771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074335" y="4140353"/>
            <a:ext cx="35328" cy="353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74250" y="6673627"/>
            <a:ext cx="22395" cy="2239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859299" y="4241808"/>
            <a:ext cx="36974" cy="3697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375386" y="314263"/>
            <a:ext cx="17849" cy="17849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48503" y="1596479"/>
            <a:ext cx="14020" cy="14020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556508" y="2502019"/>
            <a:ext cx="22143" cy="22143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173618" y="6423577"/>
            <a:ext cx="30527" cy="305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034359" y="5000351"/>
            <a:ext cx="15903" cy="1590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762661" y="4389118"/>
            <a:ext cx="27778" cy="2777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19149" y="5321807"/>
            <a:ext cx="17884" cy="17884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749853" y="1836166"/>
            <a:ext cx="17339" cy="1733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417557" y="2158060"/>
            <a:ext cx="30750" cy="307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871410" y="3146806"/>
            <a:ext cx="18965" cy="18965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673095" y="1801881"/>
            <a:ext cx="28612" cy="2861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747753" y="1504101"/>
            <a:ext cx="41073" cy="4107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0658" y="323124"/>
            <a:ext cx="14281" cy="14281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415605" y="2895173"/>
            <a:ext cx="12889" cy="1288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841094" y="3628666"/>
            <a:ext cx="40275" cy="4027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6477" y="4942710"/>
            <a:ext cx="31543" cy="3154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171804" y="4395716"/>
            <a:ext cx="14338" cy="1433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393504" y="6541269"/>
            <a:ext cx="37401" cy="37401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950567" y="1225194"/>
            <a:ext cx="38511" cy="38511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547672" y="4381915"/>
            <a:ext cx="29348" cy="2934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064118" y="3699061"/>
            <a:ext cx="34468" cy="3446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798" y="2223062"/>
            <a:ext cx="11560" cy="1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445542" y="5703562"/>
            <a:ext cx="20252" cy="20252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437075" y="6494179"/>
            <a:ext cx="13557" cy="1355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22743" y="5216209"/>
            <a:ext cx="34082" cy="34082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649776" y="3770553"/>
            <a:ext cx="18970" cy="1897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029925" y="1452512"/>
            <a:ext cx="27246" cy="2724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2391122" y="2137750"/>
            <a:ext cx="41001" cy="41001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207783" y="3549535"/>
            <a:ext cx="14624" cy="14624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018890" y="4034621"/>
            <a:ext cx="17916" cy="17916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41148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00C8FF"/>
                </a:solidFill>
              </a:defRPr>
            </a:pPr>
            <a:r>
              <a:t>01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645920" y="4114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FFFFFF"/>
                </a:solidFill>
              </a:defRPr>
            </a:pPr>
            <a:r>
              <a:t>航天航空发展史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645920" y="1097280"/>
            <a:ext cx="5486400" cy="3657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57200" y="1371600"/>
            <a:ext cx="1737360" cy="4389120"/>
          </a:xfrm>
          <a:prstGeom prst="rect">
            <a:avLst/>
          </a:prstGeom>
          <a:gradFill rotWithShape="1">
            <a:gsLst>
              <a:gs pos="0">
                <a:srgbClr val="0F1F4A"/>
              </a:gs>
              <a:gs pos="100000">
                <a:srgbClr val="0A0E27"/>
              </a:gs>
            </a:gsLst>
            <a:lin scaled="0" ang="189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57200" y="1371600"/>
            <a:ext cx="1737360" cy="7315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02920" y="15087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D700"/>
                </a:solidFill>
              </a:defRPr>
            </a:pPr>
            <a:r>
              <a:t>古代</a:t>
            </a:r>
            <a:br/>
            <a:r>
              <a:t>文明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8640" y="2011680"/>
            <a:ext cx="1554480" cy="27432"/>
          </a:xfrm>
          <a:prstGeom prst="rect">
            <a:avLst/>
          </a:prstGeom>
          <a:solidFill>
            <a:srgbClr val="C8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" y="2103120"/>
            <a:ext cx="1554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8E6FF"/>
                </a:solidFill>
              </a:defRPr>
            </a:pPr>
            <a:r>
              <a:t>人类仰望星空</a:t>
            </a:r>
            <a:br/>
            <a:r>
              <a:t>绘制星图与历法</a:t>
            </a:r>
            <a:br/>
            <a:r>
              <a:t>嫦娥奔月、万户飞天等</a:t>
            </a:r>
            <a:br/>
            <a:r>
              <a:t>梦想在神话中萌芽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377440" y="1371600"/>
            <a:ext cx="1737360" cy="4389120"/>
          </a:xfrm>
          <a:prstGeom prst="rect">
            <a:avLst/>
          </a:prstGeom>
          <a:gradFill rotWithShape="1">
            <a:gsLst>
              <a:gs pos="0">
                <a:srgbClr val="0F1F4A"/>
              </a:gs>
              <a:gs pos="100000">
                <a:srgbClr val="0A0E27"/>
              </a:gs>
            </a:gsLst>
            <a:lin scaled="0" ang="189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2377440" y="1371600"/>
            <a:ext cx="1737360" cy="7315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423160" y="15087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FFD700"/>
                </a:solidFill>
              </a:defRPr>
            </a:pPr>
            <a:r>
              <a:t>1783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468880" y="2011680"/>
            <a:ext cx="1554480" cy="27432"/>
          </a:xfrm>
          <a:prstGeom prst="rect">
            <a:avLst/>
          </a:prstGeom>
          <a:solidFill>
            <a:srgbClr val="C8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468880" y="2103120"/>
            <a:ext cx="1554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8E6FF"/>
                </a:solidFill>
              </a:defRPr>
            </a:pPr>
            <a:r>
              <a:t>蒙特哥菲尔兄弟</a:t>
            </a:r>
            <a:br/>
            <a:r>
              <a:t>首次载人飞行</a:t>
            </a:r>
            <a:br/>
            <a:r>
              <a:t>人类脱离地面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297680" y="1371600"/>
            <a:ext cx="1737360" cy="4389120"/>
          </a:xfrm>
          <a:prstGeom prst="rect">
            <a:avLst/>
          </a:prstGeom>
          <a:gradFill rotWithShape="1">
            <a:gsLst>
              <a:gs pos="0">
                <a:srgbClr val="0F1F4A"/>
              </a:gs>
              <a:gs pos="100000">
                <a:srgbClr val="0A0E27"/>
              </a:gs>
            </a:gsLst>
            <a:lin scaled="0" ang="189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297680" y="1371600"/>
            <a:ext cx="1737360" cy="7315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343400" y="15087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FFD700"/>
                </a:solidFill>
              </a:defRPr>
            </a:pPr>
            <a:r>
              <a:t>1903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389120" y="2011680"/>
            <a:ext cx="1554480" cy="27432"/>
          </a:xfrm>
          <a:prstGeom prst="rect">
            <a:avLst/>
          </a:prstGeom>
          <a:solidFill>
            <a:srgbClr val="C8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389120" y="2103120"/>
            <a:ext cx="1554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8E6FF"/>
                </a:solidFill>
              </a:defRPr>
            </a:pPr>
            <a:r>
              <a:t>莱特兄弟</a:t>
            </a:r>
            <a:br/>
            <a:r>
              <a:t>首次动力飞行</a:t>
            </a:r>
            <a:br/>
            <a:r>
              <a:t>12秒飞行纪录</a:t>
            </a:r>
            <a:br/>
            <a:r>
              <a:t>航空时代开启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217920" y="1371600"/>
            <a:ext cx="1737360" cy="4389120"/>
          </a:xfrm>
          <a:prstGeom prst="rect">
            <a:avLst/>
          </a:prstGeom>
          <a:gradFill rotWithShape="1">
            <a:gsLst>
              <a:gs pos="0">
                <a:srgbClr val="0F1F4A"/>
              </a:gs>
              <a:gs pos="100000">
                <a:srgbClr val="0A0E27"/>
              </a:gs>
            </a:gsLst>
            <a:lin scaled="0" ang="189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217920" y="1371600"/>
            <a:ext cx="1737360" cy="7315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263640" y="15087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FFD700"/>
                </a:solidFill>
              </a:defRPr>
            </a:pPr>
            <a:r>
              <a:t>1957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309360" y="2011680"/>
            <a:ext cx="1554480" cy="27432"/>
          </a:xfrm>
          <a:prstGeom prst="rect">
            <a:avLst/>
          </a:prstGeom>
          <a:solidFill>
            <a:srgbClr val="C8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309360" y="2103120"/>
            <a:ext cx="1554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8E6FF"/>
                </a:solidFill>
              </a:defRPr>
            </a:pPr>
            <a:r>
              <a:t>斯普特尼克1号</a:t>
            </a:r>
            <a:br/>
            <a:r>
              <a:t>人类首颗人造卫星</a:t>
            </a:r>
            <a:br/>
            <a:r>
              <a:t>太空时代正式开启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138160" y="1371600"/>
            <a:ext cx="1737360" cy="4389120"/>
          </a:xfrm>
          <a:prstGeom prst="rect">
            <a:avLst/>
          </a:prstGeom>
          <a:gradFill rotWithShape="1">
            <a:gsLst>
              <a:gs pos="0">
                <a:srgbClr val="0F1F4A"/>
              </a:gs>
              <a:gs pos="100000">
                <a:srgbClr val="0A0E27"/>
              </a:gs>
            </a:gsLst>
            <a:lin scaled="0" ang="189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138160" y="1371600"/>
            <a:ext cx="1737360" cy="7315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183880" y="15087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FFD700"/>
                </a:solidFill>
              </a:defRPr>
            </a:pPr>
            <a:r>
              <a:t>1961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229600" y="2011680"/>
            <a:ext cx="1554480" cy="27432"/>
          </a:xfrm>
          <a:prstGeom prst="rect">
            <a:avLst/>
          </a:prstGeom>
          <a:solidFill>
            <a:srgbClr val="C8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229600" y="2103120"/>
            <a:ext cx="1554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8E6FF"/>
                </a:solidFill>
              </a:defRPr>
            </a:pPr>
            <a:r>
              <a:t>加加林乘东方一号</a:t>
            </a:r>
            <a:br/>
            <a:r>
              <a:t>绕地球飞行108分钟</a:t>
            </a:r>
            <a:br/>
            <a:r>
              <a:t>人类首次进入太空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0058400" y="1371600"/>
            <a:ext cx="1737360" cy="4389120"/>
          </a:xfrm>
          <a:prstGeom prst="rect">
            <a:avLst/>
          </a:prstGeom>
          <a:gradFill rotWithShape="1">
            <a:gsLst>
              <a:gs pos="0">
                <a:srgbClr val="0F1F4A"/>
              </a:gs>
              <a:gs pos="100000">
                <a:srgbClr val="0A0E27"/>
              </a:gs>
            </a:gsLst>
            <a:lin scaled="0" ang="189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0058400" y="1371600"/>
            <a:ext cx="1737360" cy="7315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0104120" y="15087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FFD700"/>
                </a:solidFill>
              </a:defRPr>
            </a:pPr>
            <a:r>
              <a:t>1969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0149840" y="2011680"/>
            <a:ext cx="1554480" cy="27432"/>
          </a:xfrm>
          <a:prstGeom prst="rect">
            <a:avLst/>
          </a:prstGeom>
          <a:solidFill>
            <a:srgbClr val="C8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0149840" y="2103120"/>
            <a:ext cx="1554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8E6FF"/>
                </a:solidFill>
              </a:defRPr>
            </a:pPr>
            <a:r>
              <a:t>阿波罗11号成功登月</a:t>
            </a:r>
            <a:br/>
            <a:r>
              <a:t>阿姆斯特朗名言：</a:t>
            </a:r>
            <a:br/>
            <a:r>
              <a:t>『这是个人的一小步，</a:t>
            </a:r>
            <a:br/>
            <a:r>
              <a:t>却是人类的一大步』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0E27"/>
              </a:gs>
              <a:gs pos="100000">
                <a:srgbClr val="0F1F4A"/>
              </a:gs>
            </a:gsLst>
            <a:lin scaled="0" ang="189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600994" y="171523"/>
            <a:ext cx="19271" cy="19271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754580" y="4640805"/>
            <a:ext cx="37894" cy="37894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015469" y="204349"/>
            <a:ext cx="17570" cy="1757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15438" y="1363628"/>
            <a:ext cx="30583" cy="3058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620421" y="4041184"/>
            <a:ext cx="35397" cy="35397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578934" y="4787839"/>
            <a:ext cx="21239" cy="21239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378583" y="2308365"/>
            <a:ext cx="13771" cy="13771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074335" y="4140353"/>
            <a:ext cx="35328" cy="353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74250" y="6673627"/>
            <a:ext cx="22395" cy="2239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859299" y="4241808"/>
            <a:ext cx="36974" cy="3697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375386" y="314263"/>
            <a:ext cx="17849" cy="17849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48503" y="1596479"/>
            <a:ext cx="14020" cy="14020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556508" y="2502019"/>
            <a:ext cx="22143" cy="22143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173618" y="6423577"/>
            <a:ext cx="30527" cy="305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034359" y="5000351"/>
            <a:ext cx="15903" cy="1590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762661" y="4389118"/>
            <a:ext cx="27778" cy="2777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19149" y="5321807"/>
            <a:ext cx="17884" cy="17884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749853" y="1836166"/>
            <a:ext cx="17339" cy="1733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417557" y="2158060"/>
            <a:ext cx="30750" cy="307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871410" y="3146806"/>
            <a:ext cx="18965" cy="18965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673095" y="1801881"/>
            <a:ext cx="28612" cy="2861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747753" y="1504101"/>
            <a:ext cx="41073" cy="4107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0658" y="323124"/>
            <a:ext cx="14281" cy="14281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415605" y="2895173"/>
            <a:ext cx="12889" cy="1288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841094" y="3628666"/>
            <a:ext cx="40275" cy="4027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6477" y="4942710"/>
            <a:ext cx="31543" cy="3154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171804" y="4395716"/>
            <a:ext cx="14338" cy="1433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393504" y="6541269"/>
            <a:ext cx="37401" cy="37401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950567" y="1225194"/>
            <a:ext cx="38511" cy="38511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547672" y="4381915"/>
            <a:ext cx="29348" cy="2934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064118" y="3699061"/>
            <a:ext cx="34468" cy="3446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798" y="2223062"/>
            <a:ext cx="11560" cy="1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445542" y="5703562"/>
            <a:ext cx="20252" cy="20252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437075" y="6494179"/>
            <a:ext cx="13557" cy="1355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22743" y="5216209"/>
            <a:ext cx="34082" cy="34082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649776" y="3770553"/>
            <a:ext cx="18970" cy="1897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029925" y="1452512"/>
            <a:ext cx="27246" cy="2724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2391122" y="2137750"/>
            <a:ext cx="41001" cy="41001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207783" y="3549535"/>
            <a:ext cx="14624" cy="14624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018890" y="4034621"/>
            <a:ext cx="17916" cy="17916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41148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FFD700"/>
                </a:solidFill>
              </a:defRPr>
            </a:pPr>
            <a:r>
              <a:t>02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645920" y="4114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FFFFFF"/>
                </a:solidFill>
              </a:defRPr>
            </a:pPr>
            <a:r>
              <a:t>世界航天重大里程碑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645920" y="1097280"/>
            <a:ext cx="5486400" cy="3657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65760" y="1371600"/>
            <a:ext cx="3657600" cy="2286000"/>
          </a:xfrm>
          <a:prstGeom prst="rect">
            <a:avLst/>
          </a:prstGeom>
          <a:gradFill rotWithShape="1">
            <a:gsLst>
              <a:gs pos="0">
                <a:srgbClr val="0F1F4A"/>
              </a:gs>
              <a:gs pos="100000">
                <a:srgbClr val="0A0E27"/>
              </a:gs>
            </a:gsLst>
            <a:lin scaled="0" ang="189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65760" y="1371600"/>
            <a:ext cx="3657600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02920" y="150876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FFD700"/>
                </a:solidFill>
              </a:defRPr>
            </a:pPr>
            <a:r>
              <a:t>斯普特尼克1号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2920" y="1901952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00C8FF"/>
                </a:solidFill>
              </a:defRPr>
            </a:pPr>
            <a:r>
              <a:t>1957.10.4  |  苏联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02920" y="2176272"/>
            <a:ext cx="3383280" cy="27432"/>
          </a:xfrm>
          <a:prstGeom prst="rect">
            <a:avLst/>
          </a:prstGeom>
          <a:solidFill>
            <a:srgbClr val="C8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02920" y="2240280"/>
            <a:ext cx="3383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C8E6FF"/>
                </a:solidFill>
              </a:defRPr>
            </a:pPr>
            <a:r>
              <a:t>人类首颗人造地球卫星，直径58cm，重83.6kg，发射后开启了美苏太空竞赛。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251960" y="1371600"/>
            <a:ext cx="3657600" cy="2286000"/>
          </a:xfrm>
          <a:prstGeom prst="rect">
            <a:avLst/>
          </a:prstGeom>
          <a:gradFill rotWithShape="1">
            <a:gsLst>
              <a:gs pos="0">
                <a:srgbClr val="0F1F4A"/>
              </a:gs>
              <a:gs pos="100000">
                <a:srgbClr val="0A0E27"/>
              </a:gs>
            </a:gsLst>
            <a:lin scaled="0" ang="189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251960" y="1371600"/>
            <a:ext cx="3657600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389120" y="150876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FFD700"/>
                </a:solidFill>
              </a:defRPr>
            </a:pPr>
            <a:r>
              <a:t>东方一号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389120" y="1901952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00C8FF"/>
                </a:solidFill>
              </a:defRPr>
            </a:pPr>
            <a:r>
              <a:t>1961.4.12  |  苏联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389120" y="2176272"/>
            <a:ext cx="3383280" cy="27432"/>
          </a:xfrm>
          <a:prstGeom prst="rect">
            <a:avLst/>
          </a:prstGeom>
          <a:solidFill>
            <a:srgbClr val="C8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389120" y="2240280"/>
            <a:ext cx="3383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C8E6FF"/>
                </a:solidFill>
              </a:defRPr>
            </a:pPr>
            <a:r>
              <a:t>尤里·加加林成为首位进入太空的人类，飞行历时108分钟，震惊世界。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138160" y="1371600"/>
            <a:ext cx="3657600" cy="2286000"/>
          </a:xfrm>
          <a:prstGeom prst="rect">
            <a:avLst/>
          </a:prstGeom>
          <a:gradFill rotWithShape="1">
            <a:gsLst>
              <a:gs pos="0">
                <a:srgbClr val="0F1F4A"/>
              </a:gs>
              <a:gs pos="100000">
                <a:srgbClr val="0A0E27"/>
              </a:gs>
            </a:gsLst>
            <a:lin scaled="0" ang="189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138160" y="1371600"/>
            <a:ext cx="3657600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275320" y="150876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FFD700"/>
                </a:solidFill>
              </a:defRPr>
            </a:pPr>
            <a:r>
              <a:t>阿波罗11号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275320" y="1901952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00C8FF"/>
                </a:solidFill>
              </a:defRPr>
            </a:pPr>
            <a:r>
              <a:t>1969.7.20  |  美国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275320" y="2176272"/>
            <a:ext cx="3383280" cy="27432"/>
          </a:xfrm>
          <a:prstGeom prst="rect">
            <a:avLst/>
          </a:prstGeom>
          <a:solidFill>
            <a:srgbClr val="C8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275320" y="2240280"/>
            <a:ext cx="3383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C8E6FF"/>
                </a:solidFill>
              </a:defRPr>
            </a:pPr>
            <a:r>
              <a:t>尼尔·阿姆斯特朗和巴兹·奥尔德林登上月球，全球6亿人通过电视观看。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65760" y="3931920"/>
            <a:ext cx="3657600" cy="2286000"/>
          </a:xfrm>
          <a:prstGeom prst="rect">
            <a:avLst/>
          </a:prstGeom>
          <a:gradFill rotWithShape="1">
            <a:gsLst>
              <a:gs pos="0">
                <a:srgbClr val="0F1F4A"/>
              </a:gs>
              <a:gs pos="100000">
                <a:srgbClr val="0A0E27"/>
              </a:gs>
            </a:gsLst>
            <a:lin scaled="0" ang="189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365760" y="3931920"/>
            <a:ext cx="3657600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02920" y="406908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FFD700"/>
                </a:solidFill>
              </a:defRPr>
            </a:pPr>
            <a:r>
              <a:t>礼炮1号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02920" y="4462272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00C8FF"/>
                </a:solidFill>
              </a:defRPr>
            </a:pPr>
            <a:r>
              <a:t>1971.4.19  |  苏联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02920" y="4736592"/>
            <a:ext cx="3383280" cy="27432"/>
          </a:xfrm>
          <a:prstGeom prst="rect">
            <a:avLst/>
          </a:prstGeom>
          <a:solidFill>
            <a:srgbClr val="C8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02920" y="4800600"/>
            <a:ext cx="3383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C8E6FF"/>
                </a:solidFill>
              </a:defRPr>
            </a:pPr>
            <a:r>
              <a:t>人类首个空间站，虽然首次任务出现悲剧，但开启了长期驻留太空的时代。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251960" y="3931920"/>
            <a:ext cx="3657600" cy="2286000"/>
          </a:xfrm>
          <a:prstGeom prst="rect">
            <a:avLst/>
          </a:prstGeom>
          <a:gradFill rotWithShape="1">
            <a:gsLst>
              <a:gs pos="0">
                <a:srgbClr val="0F1F4A"/>
              </a:gs>
              <a:gs pos="100000">
                <a:srgbClr val="0A0E27"/>
              </a:gs>
            </a:gsLst>
            <a:lin scaled="0" ang="189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4251960" y="3931920"/>
            <a:ext cx="3657600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389120" y="406908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FFD700"/>
                </a:solidFill>
              </a:defRPr>
            </a:pPr>
            <a:r>
              <a:t>旅行者1号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389120" y="4462272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00C8FF"/>
                </a:solidFill>
              </a:defRPr>
            </a:pPr>
            <a:r>
              <a:t>1977.9.5  |  美国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389120" y="4736592"/>
            <a:ext cx="3383280" cy="27432"/>
          </a:xfrm>
          <a:prstGeom prst="rect">
            <a:avLst/>
          </a:prstGeom>
          <a:solidFill>
            <a:srgbClr val="C8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389120" y="4800600"/>
            <a:ext cx="3383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C8E6FF"/>
                </a:solidFill>
              </a:defRPr>
            </a:pPr>
            <a:r>
              <a:t>目前距离地球最远的人造物体（超240亿公里），携带记录地球信息的金唱片。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138160" y="3931920"/>
            <a:ext cx="3657600" cy="2286000"/>
          </a:xfrm>
          <a:prstGeom prst="rect">
            <a:avLst/>
          </a:prstGeom>
          <a:gradFill rotWithShape="1">
            <a:gsLst>
              <a:gs pos="0">
                <a:srgbClr val="0F1F4A"/>
              </a:gs>
              <a:gs pos="100000">
                <a:srgbClr val="0A0E27"/>
              </a:gs>
            </a:gsLst>
            <a:lin scaled="0" ang="189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138160" y="3931920"/>
            <a:ext cx="3657600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275320" y="406908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FFD700"/>
                </a:solidFill>
              </a:defRPr>
            </a:pPr>
            <a:r>
              <a:t>国际空间站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275320" y="4462272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00C8FF"/>
                </a:solidFill>
              </a:defRPr>
            </a:pPr>
            <a:r>
              <a:t>1998  |  国际合作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275320" y="4736592"/>
            <a:ext cx="3383280" cy="27432"/>
          </a:xfrm>
          <a:prstGeom prst="rect">
            <a:avLst/>
          </a:prstGeom>
          <a:solidFill>
            <a:srgbClr val="C8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275320" y="4800600"/>
            <a:ext cx="3383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C8E6FF"/>
                </a:solidFill>
              </a:defRPr>
            </a:pPr>
            <a:r>
              <a:t>16个国家共同建造，人类在太空最雄心勃勃的工程，已持续运营25年以上。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0E27"/>
              </a:gs>
              <a:gs pos="100000">
                <a:srgbClr val="1A0A00"/>
              </a:gs>
            </a:gsLst>
            <a:lin scaled="0" ang="189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600994" y="171523"/>
            <a:ext cx="19271" cy="19271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754580" y="4640805"/>
            <a:ext cx="37894" cy="37894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015469" y="204349"/>
            <a:ext cx="17570" cy="1757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15438" y="1363628"/>
            <a:ext cx="30583" cy="3058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620421" y="4041184"/>
            <a:ext cx="35397" cy="35397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578934" y="4787839"/>
            <a:ext cx="21239" cy="21239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378583" y="2308365"/>
            <a:ext cx="13771" cy="13771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074335" y="4140353"/>
            <a:ext cx="35328" cy="353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74250" y="6673627"/>
            <a:ext cx="22395" cy="2239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859299" y="4241808"/>
            <a:ext cx="36974" cy="3697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375386" y="314263"/>
            <a:ext cx="17849" cy="17849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48503" y="1596479"/>
            <a:ext cx="14020" cy="14020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556508" y="2502019"/>
            <a:ext cx="22143" cy="22143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173618" y="6423577"/>
            <a:ext cx="30527" cy="305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034359" y="5000351"/>
            <a:ext cx="15903" cy="1590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762661" y="4389118"/>
            <a:ext cx="27778" cy="2777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19149" y="5321807"/>
            <a:ext cx="17884" cy="17884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749853" y="1836166"/>
            <a:ext cx="17339" cy="1733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417557" y="2158060"/>
            <a:ext cx="30750" cy="307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871410" y="3146806"/>
            <a:ext cx="18965" cy="18965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673095" y="1801881"/>
            <a:ext cx="28612" cy="2861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747753" y="1504101"/>
            <a:ext cx="41073" cy="4107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0658" y="323124"/>
            <a:ext cx="14281" cy="14281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415605" y="2895173"/>
            <a:ext cx="12889" cy="1288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841094" y="3628666"/>
            <a:ext cx="40275" cy="4027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6477" y="4942710"/>
            <a:ext cx="31543" cy="3154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171804" y="4395716"/>
            <a:ext cx="14338" cy="1433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393504" y="6541269"/>
            <a:ext cx="37401" cy="37401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950567" y="1225194"/>
            <a:ext cx="38511" cy="38511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547672" y="4381915"/>
            <a:ext cx="29348" cy="2934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064118" y="3699061"/>
            <a:ext cx="34468" cy="3446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798" y="2223062"/>
            <a:ext cx="11560" cy="1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445542" y="5703562"/>
            <a:ext cx="20252" cy="20252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437075" y="6494179"/>
            <a:ext cx="13557" cy="1355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22743" y="5216209"/>
            <a:ext cx="34082" cy="34082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649776" y="3770553"/>
            <a:ext cx="18970" cy="1897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029925" y="1452512"/>
            <a:ext cx="27246" cy="2724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2391122" y="2137750"/>
            <a:ext cx="41001" cy="41001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207783" y="3549535"/>
            <a:ext cx="14624" cy="14624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018890" y="4034621"/>
            <a:ext cx="17916" cy="17916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41148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FFD700"/>
                </a:solidFill>
              </a:defRPr>
            </a:pPr>
            <a:r>
              <a:t>03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645920" y="4114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FFFFFF"/>
                </a:solidFill>
              </a:defRPr>
            </a:pPr>
            <a:r>
              <a:t>中国航天辉煌成就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645920" y="1097280"/>
            <a:ext cx="5486400" cy="3657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65760" y="1280160"/>
            <a:ext cx="2103120" cy="1463040"/>
          </a:xfrm>
          <a:prstGeom prst="rect">
            <a:avLst/>
          </a:prstGeom>
          <a:gradFill rotWithShape="1">
            <a:gsLst>
              <a:gs pos="0">
                <a:srgbClr val="0F1F4A"/>
              </a:gs>
              <a:gs pos="100000">
                <a:srgbClr val="0A0E27"/>
              </a:gs>
            </a:gsLst>
            <a:lin scaled="0" ang="189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65760" y="1280160"/>
            <a:ext cx="2103120" cy="73152"/>
          </a:xfrm>
          <a:prstGeom prst="rect">
            <a:avLst/>
          </a:prstGeom>
          <a:solidFill>
            <a:srgbClr val="FF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7200" y="1463039"/>
            <a:ext cx="19202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 i="0">
                <a:solidFill>
                  <a:srgbClr val="FF4488"/>
                </a:solidFill>
              </a:defRPr>
            </a:pPr>
            <a:r>
              <a:t>200+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" y="1965960"/>
            <a:ext cx="19202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C8E6FF"/>
                </a:solidFill>
              </a:defRPr>
            </a:pPr>
            <a:r>
              <a:t>次/年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" y="2331720"/>
            <a:ext cx="19202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FFFFFF"/>
                </a:solidFill>
              </a:defRPr>
            </a:pPr>
            <a:r>
              <a:t>发射次数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670048" y="1280160"/>
            <a:ext cx="2103120" cy="1463040"/>
          </a:xfrm>
          <a:prstGeom prst="rect">
            <a:avLst/>
          </a:prstGeom>
          <a:gradFill rotWithShape="1">
            <a:gsLst>
              <a:gs pos="0">
                <a:srgbClr val="0F1F4A"/>
              </a:gs>
              <a:gs pos="100000">
                <a:srgbClr val="0A0E27"/>
              </a:gs>
            </a:gsLst>
            <a:lin scaled="0" ang="189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2670048" y="1280160"/>
            <a:ext cx="2103120" cy="73152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761488" y="1463039"/>
            <a:ext cx="19202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 i="0">
                <a:solidFill>
                  <a:srgbClr val="00E596"/>
                </a:solidFill>
              </a:defRPr>
            </a:pPr>
            <a:r>
              <a:t>55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761488" y="1965960"/>
            <a:ext cx="19202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C8E6FF"/>
                </a:solidFill>
              </a:defRPr>
            </a:pPr>
            <a:r>
              <a:t>颗组网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761488" y="2331720"/>
            <a:ext cx="19202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FFFFFF"/>
                </a:solidFill>
              </a:defRPr>
            </a:pPr>
            <a:r>
              <a:t>北斗卫星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974336" y="1280160"/>
            <a:ext cx="2103120" cy="1463040"/>
          </a:xfrm>
          <a:prstGeom prst="rect">
            <a:avLst/>
          </a:prstGeom>
          <a:gradFill rotWithShape="1">
            <a:gsLst>
              <a:gs pos="0">
                <a:srgbClr val="0F1F4A"/>
              </a:gs>
              <a:gs pos="100000">
                <a:srgbClr val="0A0E27"/>
              </a:gs>
            </a:gsLst>
            <a:lin scaled="0" ang="189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974336" y="1280160"/>
            <a:ext cx="2103120" cy="7315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065776" y="1463039"/>
            <a:ext cx="19202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 i="0">
                <a:solidFill>
                  <a:srgbClr val="00C8FF"/>
                </a:solidFill>
              </a:defRPr>
            </a:pPr>
            <a:r>
              <a:t>180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065776" y="1965960"/>
            <a:ext cx="19202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C8E6FF"/>
                </a:solidFill>
              </a:defRPr>
            </a:pPr>
            <a:r>
              <a:t>吨重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065776" y="2331720"/>
            <a:ext cx="19202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FFFFFF"/>
                </a:solidFill>
              </a:defRPr>
            </a:pPr>
            <a:r>
              <a:t>空间站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278624" y="1280160"/>
            <a:ext cx="2103120" cy="1463040"/>
          </a:xfrm>
          <a:prstGeom prst="rect">
            <a:avLst/>
          </a:prstGeom>
          <a:gradFill rotWithShape="1">
            <a:gsLst>
              <a:gs pos="0">
                <a:srgbClr val="0F1F4A"/>
              </a:gs>
              <a:gs pos="100000">
                <a:srgbClr val="0A0E27"/>
              </a:gs>
            </a:gsLst>
            <a:lin scaled="0" ang="189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278624" y="1280160"/>
            <a:ext cx="210312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370064" y="1463039"/>
            <a:ext cx="19202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 i="0">
                <a:solidFill>
                  <a:srgbClr val="8B5CF6"/>
                </a:solidFill>
              </a:defRPr>
            </a:pPr>
            <a:r>
              <a:t>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370064" y="1965960"/>
            <a:ext cx="19202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C8E6FF"/>
                </a:solidFill>
              </a:defRPr>
            </a:pPr>
            <a:r>
              <a:t>次成功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370064" y="2331720"/>
            <a:ext cx="19202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FFFFFF"/>
                </a:solidFill>
              </a:defRPr>
            </a:pPr>
            <a:r>
              <a:t>探火任务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582912" y="1280160"/>
            <a:ext cx="2103120" cy="1463040"/>
          </a:xfrm>
          <a:prstGeom prst="rect">
            <a:avLst/>
          </a:prstGeom>
          <a:gradFill rotWithShape="1">
            <a:gsLst>
              <a:gs pos="0">
                <a:srgbClr val="0F1F4A"/>
              </a:gs>
              <a:gs pos="100000">
                <a:srgbClr val="0A0E27"/>
              </a:gs>
            </a:gsLst>
            <a:lin scaled="0" ang="189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9582912" y="1280160"/>
            <a:ext cx="2103120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674352" y="1463039"/>
            <a:ext cx="19202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 i="0">
                <a:solidFill>
                  <a:srgbClr val="FFD700"/>
                </a:solidFill>
              </a:defRPr>
            </a:pPr>
            <a:r>
              <a:t>20+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674352" y="1965960"/>
            <a:ext cx="19202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C8E6FF"/>
                </a:solidFill>
              </a:defRPr>
            </a:pPr>
            <a:r>
              <a:t>人次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674352" y="2331720"/>
            <a:ext cx="19202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FFFFFF"/>
                </a:solidFill>
              </a:defRPr>
            </a:pPr>
            <a:r>
              <a:t>航天员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65760" y="3017520"/>
            <a:ext cx="3657600" cy="1554480"/>
          </a:xfrm>
          <a:prstGeom prst="rect">
            <a:avLst/>
          </a:prstGeom>
          <a:gradFill rotWithShape="1">
            <a:gsLst>
              <a:gs pos="0">
                <a:srgbClr val="0F1F4A"/>
              </a:gs>
              <a:gs pos="100000">
                <a:srgbClr val="0A0E27"/>
              </a:gs>
            </a:gsLst>
            <a:lin scaled="0" ang="189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365760" y="3017520"/>
            <a:ext cx="73152" cy="15544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48640" y="31089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 i="0">
                <a:solidFill>
                  <a:srgbClr val="FFD700"/>
                </a:solidFill>
              </a:defRPr>
            </a:pPr>
            <a:r>
              <a:t>北斗导航系统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48640" y="3456432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00C8FF"/>
                </a:solidFill>
              </a:defRPr>
            </a:pPr>
            <a:r>
              <a:t>【全球组网】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48640" y="370332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8E6FF"/>
                </a:solidFill>
              </a:defRPr>
            </a:pPr>
            <a:r>
              <a:t>2020年全面建成，向全球提供厘米级高精度定位服务，打破GPS长期垄断。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251960" y="3017520"/>
            <a:ext cx="3657600" cy="1554480"/>
          </a:xfrm>
          <a:prstGeom prst="rect">
            <a:avLst/>
          </a:prstGeom>
          <a:gradFill rotWithShape="1">
            <a:gsLst>
              <a:gs pos="0">
                <a:srgbClr val="0F1F4A"/>
              </a:gs>
              <a:gs pos="100000">
                <a:srgbClr val="0A0E27"/>
              </a:gs>
            </a:gsLst>
            <a:lin scaled="0" ang="189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4251960" y="3017520"/>
            <a:ext cx="73152" cy="15544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434840" y="31089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 i="0">
                <a:solidFill>
                  <a:srgbClr val="FFD700"/>
                </a:solidFill>
              </a:defRPr>
            </a:pPr>
            <a:r>
              <a:t>嫦娥探月工程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434840" y="3456432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00C8FF"/>
                </a:solidFill>
              </a:defRPr>
            </a:pPr>
            <a:r>
              <a:t>【月球探测】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434840" y="370332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8E6FF"/>
                </a:solidFill>
              </a:defRPr>
            </a:pPr>
            <a:r>
              <a:t>嫦娥四号实现人类首次月背软着陆；嫦娥五号成功带回1731克月球样本。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138160" y="3017520"/>
            <a:ext cx="3657600" cy="1554480"/>
          </a:xfrm>
          <a:prstGeom prst="rect">
            <a:avLst/>
          </a:prstGeom>
          <a:gradFill rotWithShape="1">
            <a:gsLst>
              <a:gs pos="0">
                <a:srgbClr val="0F1F4A"/>
              </a:gs>
              <a:gs pos="100000">
                <a:srgbClr val="0A0E27"/>
              </a:gs>
            </a:gsLst>
            <a:lin scaled="0" ang="189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8138160" y="3017520"/>
            <a:ext cx="73152" cy="15544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321040" y="31089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 i="0">
                <a:solidFill>
                  <a:srgbClr val="FFD700"/>
                </a:solidFill>
              </a:defRPr>
            </a:pPr>
            <a:r>
              <a:t>天问一号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321040" y="3456432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00C8FF"/>
                </a:solidFill>
              </a:defRPr>
            </a:pPr>
            <a:r>
              <a:t>【火星探测】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321040" y="370332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8E6FF"/>
                </a:solidFill>
              </a:defRPr>
            </a:pPr>
            <a:r>
              <a:t>首次任务即实现『绕、落、巡』三大目标，使中国成为第二个成功在火星着陆的国家。</a:t>
            </a:r>
          </a:p>
        </p:txBody>
      </p:sp>
      <p:sp>
        <p:nvSpPr>
          <p:cNvPr id="87" name="Rectangle 86"/>
          <p:cNvSpPr/>
          <p:nvPr/>
        </p:nvSpPr>
        <p:spPr>
          <a:xfrm>
            <a:off x="365760" y="4754879"/>
            <a:ext cx="3657600" cy="1554480"/>
          </a:xfrm>
          <a:prstGeom prst="rect">
            <a:avLst/>
          </a:prstGeom>
          <a:gradFill rotWithShape="1">
            <a:gsLst>
              <a:gs pos="0">
                <a:srgbClr val="0F1F4A"/>
              </a:gs>
              <a:gs pos="100000">
                <a:srgbClr val="0A0E27"/>
              </a:gs>
            </a:gsLst>
            <a:lin scaled="0" ang="189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365760" y="4754879"/>
            <a:ext cx="73152" cy="15544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48640" y="4846319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 i="0">
                <a:solidFill>
                  <a:srgbClr val="FFD700"/>
                </a:solidFill>
              </a:defRPr>
            </a:pPr>
            <a:r>
              <a:t>中国空间站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48640" y="5193792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00C8FF"/>
                </a:solidFill>
              </a:defRPr>
            </a:pPr>
            <a:r>
              <a:t>【天宫】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48640" y="5440679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8E6FF"/>
                </a:solidFill>
              </a:defRPr>
            </a:pPr>
            <a:r>
              <a:t>2022年全面建成，由天和核心舱、问天和梦天实验舱组成，长期驻留3人。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251960" y="4754879"/>
            <a:ext cx="3657600" cy="1554480"/>
          </a:xfrm>
          <a:prstGeom prst="rect">
            <a:avLst/>
          </a:prstGeom>
          <a:gradFill rotWithShape="1">
            <a:gsLst>
              <a:gs pos="0">
                <a:srgbClr val="0F1F4A"/>
              </a:gs>
              <a:gs pos="100000">
                <a:srgbClr val="0A0E27"/>
              </a:gs>
            </a:gsLst>
            <a:lin scaled="0" ang="189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4251960" y="4754879"/>
            <a:ext cx="73152" cy="15544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4434840" y="4846319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 i="0">
                <a:solidFill>
                  <a:srgbClr val="FFD700"/>
                </a:solidFill>
              </a:defRPr>
            </a:pPr>
            <a:r>
              <a:t>长征火箭家族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434840" y="5193792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00C8FF"/>
                </a:solidFill>
              </a:defRPr>
            </a:pPr>
            <a:r>
              <a:t>【运载系统】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434840" y="5440679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8E6FF"/>
                </a:solidFill>
              </a:defRPr>
            </a:pPr>
            <a:r>
              <a:t>长征五号『胖五』推力超1000吨；长征八号实现可回收技术验证。</a:t>
            </a:r>
          </a:p>
        </p:txBody>
      </p:sp>
      <p:sp>
        <p:nvSpPr>
          <p:cNvPr id="97" name="Rectangle 96"/>
          <p:cNvSpPr/>
          <p:nvPr/>
        </p:nvSpPr>
        <p:spPr>
          <a:xfrm>
            <a:off x="8138160" y="4754879"/>
            <a:ext cx="3657600" cy="1554480"/>
          </a:xfrm>
          <a:prstGeom prst="rect">
            <a:avLst/>
          </a:prstGeom>
          <a:gradFill rotWithShape="1">
            <a:gsLst>
              <a:gs pos="0">
                <a:srgbClr val="0F1F4A"/>
              </a:gs>
              <a:gs pos="100000">
                <a:srgbClr val="0A0E27"/>
              </a:gs>
            </a:gsLst>
            <a:lin scaled="0" ang="189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138160" y="4754879"/>
            <a:ext cx="73152" cy="15544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8321040" y="4846319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 i="0">
                <a:solidFill>
                  <a:srgbClr val="FFD700"/>
                </a:solidFill>
              </a:defRPr>
            </a:pPr>
            <a:r>
              <a:t>载人航天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321040" y="5193792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00C8FF"/>
                </a:solidFill>
              </a:defRPr>
            </a:pPr>
            <a:r>
              <a:t>【神舟系列】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321040" y="5440679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8E6FF"/>
                </a:solidFill>
              </a:defRPr>
            </a:pPr>
            <a:r>
              <a:t>从神舟五号杨利伟首飞，到如今常态化载人飞行，中国航天员队伍不断壮大。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0E27"/>
              </a:gs>
              <a:gs pos="100000">
                <a:srgbClr val="0F1F4A"/>
              </a:gs>
            </a:gsLst>
            <a:lin scaled="0" ang="189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600994" y="171523"/>
            <a:ext cx="19271" cy="19271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754580" y="4640805"/>
            <a:ext cx="37894" cy="37894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015469" y="204349"/>
            <a:ext cx="17570" cy="1757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15438" y="1363628"/>
            <a:ext cx="30583" cy="3058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620421" y="4041184"/>
            <a:ext cx="35397" cy="35397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578934" y="4787839"/>
            <a:ext cx="21239" cy="21239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378583" y="2308365"/>
            <a:ext cx="13771" cy="13771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074335" y="4140353"/>
            <a:ext cx="35328" cy="353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74250" y="6673627"/>
            <a:ext cx="22395" cy="2239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859299" y="4241808"/>
            <a:ext cx="36974" cy="3697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375386" y="314263"/>
            <a:ext cx="17849" cy="17849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48503" y="1596479"/>
            <a:ext cx="14020" cy="14020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556508" y="2502019"/>
            <a:ext cx="22143" cy="22143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173618" y="6423577"/>
            <a:ext cx="30527" cy="305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034359" y="5000351"/>
            <a:ext cx="15903" cy="1590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762661" y="4389118"/>
            <a:ext cx="27778" cy="2777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19149" y="5321807"/>
            <a:ext cx="17884" cy="17884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749853" y="1836166"/>
            <a:ext cx="17339" cy="1733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417557" y="2158060"/>
            <a:ext cx="30750" cy="307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871410" y="3146806"/>
            <a:ext cx="18965" cy="18965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673095" y="1801881"/>
            <a:ext cx="28612" cy="2861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747753" y="1504101"/>
            <a:ext cx="41073" cy="4107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0658" y="323124"/>
            <a:ext cx="14281" cy="14281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415605" y="2895173"/>
            <a:ext cx="12889" cy="1288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841094" y="3628666"/>
            <a:ext cx="40275" cy="4027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6477" y="4942710"/>
            <a:ext cx="31543" cy="3154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171804" y="4395716"/>
            <a:ext cx="14338" cy="1433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393504" y="6541269"/>
            <a:ext cx="37401" cy="37401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950567" y="1225194"/>
            <a:ext cx="38511" cy="38511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547672" y="4381915"/>
            <a:ext cx="29348" cy="2934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064118" y="3699061"/>
            <a:ext cx="34468" cy="3446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798" y="2223062"/>
            <a:ext cx="11560" cy="1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445542" y="5703562"/>
            <a:ext cx="20252" cy="20252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437075" y="6494179"/>
            <a:ext cx="13557" cy="1355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22743" y="5216209"/>
            <a:ext cx="34082" cy="34082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649776" y="3770553"/>
            <a:ext cx="18970" cy="1897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029925" y="1452512"/>
            <a:ext cx="27246" cy="2724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2391122" y="2137750"/>
            <a:ext cx="41001" cy="41001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207783" y="3549535"/>
            <a:ext cx="14624" cy="14624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018890" y="4034621"/>
            <a:ext cx="17916" cy="17916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41148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00E596"/>
                </a:solidFill>
              </a:defRPr>
            </a:pPr>
            <a:r>
              <a:t>04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645920" y="4114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FFFFFF"/>
                </a:solidFill>
              </a:defRPr>
            </a:pPr>
            <a:r>
              <a:t>现代航天前沿技术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645920" y="1097280"/>
            <a:ext cx="5486400" cy="36576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65760" y="1325880"/>
            <a:ext cx="5669280" cy="2377440"/>
          </a:xfrm>
          <a:prstGeom prst="rect">
            <a:avLst/>
          </a:prstGeom>
          <a:gradFill rotWithShape="1">
            <a:gsLst>
              <a:gs pos="0">
                <a:srgbClr val="0F1F4A"/>
              </a:gs>
              <a:gs pos="100000">
                <a:srgbClr val="0A0E27"/>
              </a:gs>
            </a:gsLst>
            <a:lin scaled="0" ang="189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65760" y="1325880"/>
            <a:ext cx="5669280" cy="7315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" y="1435607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00C8FF"/>
                </a:solidFill>
              </a:defRPr>
            </a:pPr>
            <a:r>
              <a:t>可重复使用火箭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8640" y="1874519"/>
            <a:ext cx="5303520" cy="27432"/>
          </a:xfrm>
          <a:prstGeom prst="rect">
            <a:avLst/>
          </a:prstGeom>
          <a:solidFill>
            <a:srgbClr val="C8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" y="196596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C8E6FF"/>
                </a:solidFill>
              </a:defRPr>
            </a:pPr>
            <a:r>
              <a:t>▸ SpaceX猎鹰9号：已回收400+次，大幅降低发射成本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8640" y="237744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C8E6FF"/>
                </a:solidFill>
              </a:defRPr>
            </a:pPr>
            <a:r>
              <a:t>▸ 火箭成本从每公斤$20,000降至$2,000以下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8640" y="278892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C8E6FF"/>
                </a:solidFill>
              </a:defRPr>
            </a:pPr>
            <a:r>
              <a:t>▸ 中国长征八号R、星际荣耀等加入可回收火箭竞赛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640" y="320040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C8E6FF"/>
                </a:solidFill>
              </a:defRPr>
            </a:pPr>
            <a:r>
              <a:t>▸ Starship星舰：完全可重复使用的超重型运载火箭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309360" y="1325880"/>
            <a:ext cx="5669280" cy="2377440"/>
          </a:xfrm>
          <a:prstGeom prst="rect">
            <a:avLst/>
          </a:prstGeom>
          <a:gradFill rotWithShape="1">
            <a:gsLst>
              <a:gs pos="0">
                <a:srgbClr val="0F1F4A"/>
              </a:gs>
              <a:gs pos="100000">
                <a:srgbClr val="0A0E27"/>
              </a:gs>
            </a:gsLst>
            <a:lin scaled="0" ang="189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309360" y="1325880"/>
            <a:ext cx="5669280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92240" y="1435607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D700"/>
                </a:solidFill>
              </a:defRPr>
            </a:pPr>
            <a:r>
              <a:t>商业航天革命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492240" y="1874519"/>
            <a:ext cx="5303520" cy="27432"/>
          </a:xfrm>
          <a:prstGeom prst="rect">
            <a:avLst/>
          </a:prstGeom>
          <a:solidFill>
            <a:srgbClr val="C8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92240" y="196596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C8E6FF"/>
                </a:solidFill>
              </a:defRPr>
            </a:pPr>
            <a:r>
              <a:t>▸ SpaceX、蓝色起源、维珍银河引领商业航天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92240" y="237744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C8E6FF"/>
                </a:solidFill>
              </a:defRPr>
            </a:pPr>
            <a:r>
              <a:t>▸ 中国商业航天公司快速崛起：星际荣耀、蓝箭航天等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92240" y="278892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C8E6FF"/>
                </a:solidFill>
              </a:defRPr>
            </a:pPr>
            <a:r>
              <a:t>▸ 全球商业航天市场规模预计2030年超$1万亿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92240" y="320040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C8E6FF"/>
                </a:solidFill>
              </a:defRPr>
            </a:pPr>
            <a:r>
              <a:t>▸ 航天产业从政府主导转向市场化运作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65760" y="3977639"/>
            <a:ext cx="5669280" cy="2377440"/>
          </a:xfrm>
          <a:prstGeom prst="rect">
            <a:avLst/>
          </a:prstGeom>
          <a:gradFill rotWithShape="1">
            <a:gsLst>
              <a:gs pos="0">
                <a:srgbClr val="0F1F4A"/>
              </a:gs>
              <a:gs pos="100000">
                <a:srgbClr val="0A0E27"/>
              </a:gs>
            </a:gsLst>
            <a:lin scaled="0" ang="189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365760" y="3977639"/>
            <a:ext cx="566928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8640" y="408736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8B5CF6"/>
                </a:solidFill>
              </a:defRPr>
            </a:pPr>
            <a:r>
              <a:t>空间望远镜技术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48640" y="4526279"/>
            <a:ext cx="5303520" cy="27432"/>
          </a:xfrm>
          <a:prstGeom prst="rect">
            <a:avLst/>
          </a:prstGeom>
          <a:solidFill>
            <a:srgbClr val="C8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48640" y="461772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C8E6FF"/>
                </a:solidFill>
              </a:defRPr>
            </a:pPr>
            <a:r>
              <a:t>▸ 詹姆斯·韦伯望远镜：红外观测揭示宇宙早期星系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48640" y="502920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C8E6FF"/>
                </a:solidFill>
              </a:defRPr>
            </a:pPr>
            <a:r>
              <a:t>▸ 中国巡天空间望远镜：与空间站共轨飞行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48640" y="544068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C8E6FF"/>
                </a:solidFill>
              </a:defRPr>
            </a:pPr>
            <a:r>
              <a:t>▸ 下一代望远镜将直接拍摄系外行星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48640" y="585216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C8E6FF"/>
                </a:solidFill>
              </a:defRPr>
            </a:pPr>
            <a:r>
              <a:t>▸ 引力波天文台LISA计划2030年代发射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309360" y="3977639"/>
            <a:ext cx="5669280" cy="2377440"/>
          </a:xfrm>
          <a:prstGeom prst="rect">
            <a:avLst/>
          </a:prstGeom>
          <a:gradFill rotWithShape="1">
            <a:gsLst>
              <a:gs pos="0">
                <a:srgbClr val="0F1F4A"/>
              </a:gs>
              <a:gs pos="100000">
                <a:srgbClr val="0A0E27"/>
              </a:gs>
            </a:gsLst>
            <a:lin scaled="0" ang="189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309360" y="3977639"/>
            <a:ext cx="5669280" cy="73152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492240" y="408736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00E596"/>
                </a:solidFill>
              </a:defRPr>
            </a:pPr>
            <a:r>
              <a:t>卫星互联网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492240" y="4526279"/>
            <a:ext cx="5303520" cy="27432"/>
          </a:xfrm>
          <a:prstGeom prst="rect">
            <a:avLst/>
          </a:prstGeom>
          <a:solidFill>
            <a:srgbClr val="C8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492240" y="461772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C8E6FF"/>
                </a:solidFill>
              </a:defRPr>
            </a:pPr>
            <a:r>
              <a:t>▸ Starlink星链：已部署6000+颗低轨卫星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492240" y="502920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C8E6FF"/>
                </a:solidFill>
              </a:defRPr>
            </a:pPr>
            <a:r>
              <a:t>▸ 中国『星网』计划：拟发射13,000颗卫星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92240" y="544068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C8E6FF"/>
                </a:solidFill>
              </a:defRPr>
            </a:pPr>
            <a:r>
              <a:t>▸ OneWeb、Kuiper等全球竞争加速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492240" y="585216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C8E6FF"/>
                </a:solidFill>
              </a:defRPr>
            </a:pPr>
            <a:r>
              <a:t>▸ 低轨卫星互联网将实现全球无缝覆盖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0E27"/>
              </a:gs>
              <a:gs pos="100000">
                <a:srgbClr val="0F1F4A"/>
              </a:gs>
            </a:gsLst>
            <a:lin scaled="0" ang="189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600994" y="171523"/>
            <a:ext cx="19271" cy="19271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754580" y="4640805"/>
            <a:ext cx="37894" cy="37894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015469" y="204349"/>
            <a:ext cx="17570" cy="1757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15438" y="1363628"/>
            <a:ext cx="30583" cy="3058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620421" y="4041184"/>
            <a:ext cx="35397" cy="35397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578934" y="4787839"/>
            <a:ext cx="21239" cy="21239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378583" y="2308365"/>
            <a:ext cx="13771" cy="13771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074335" y="4140353"/>
            <a:ext cx="35328" cy="353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74250" y="6673627"/>
            <a:ext cx="22395" cy="2239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859299" y="4241808"/>
            <a:ext cx="36974" cy="3697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375386" y="314263"/>
            <a:ext cx="17849" cy="17849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48503" y="1596479"/>
            <a:ext cx="14020" cy="14020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556508" y="2502019"/>
            <a:ext cx="22143" cy="22143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173618" y="6423577"/>
            <a:ext cx="30527" cy="305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034359" y="5000351"/>
            <a:ext cx="15903" cy="1590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762661" y="4389118"/>
            <a:ext cx="27778" cy="2777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19149" y="5321807"/>
            <a:ext cx="17884" cy="17884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749853" y="1836166"/>
            <a:ext cx="17339" cy="1733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417557" y="2158060"/>
            <a:ext cx="30750" cy="307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871410" y="3146806"/>
            <a:ext cx="18965" cy="18965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673095" y="1801881"/>
            <a:ext cx="28612" cy="2861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747753" y="1504101"/>
            <a:ext cx="41073" cy="4107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0658" y="323124"/>
            <a:ext cx="14281" cy="14281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415605" y="2895173"/>
            <a:ext cx="12889" cy="1288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841094" y="3628666"/>
            <a:ext cx="40275" cy="4027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6477" y="4942710"/>
            <a:ext cx="31543" cy="3154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171804" y="4395716"/>
            <a:ext cx="14338" cy="1433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393504" y="6541269"/>
            <a:ext cx="37401" cy="37401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950567" y="1225194"/>
            <a:ext cx="38511" cy="38511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547672" y="4381915"/>
            <a:ext cx="29348" cy="2934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064118" y="3699061"/>
            <a:ext cx="34468" cy="3446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798" y="2223062"/>
            <a:ext cx="11560" cy="1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445542" y="5703562"/>
            <a:ext cx="20252" cy="20252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437075" y="6494179"/>
            <a:ext cx="13557" cy="1355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22743" y="5216209"/>
            <a:ext cx="34082" cy="34082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649776" y="3770553"/>
            <a:ext cx="18970" cy="1897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029925" y="1452512"/>
            <a:ext cx="27246" cy="2724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2391122" y="2137750"/>
            <a:ext cx="41001" cy="41001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207783" y="3549535"/>
            <a:ext cx="14624" cy="14624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018890" y="4034621"/>
            <a:ext cx="17916" cy="17916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41148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8B5CF6"/>
                </a:solidFill>
              </a:defRPr>
            </a:pPr>
            <a:r>
              <a:t>05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645920" y="4114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FFFFFF"/>
                </a:solidFill>
              </a:defRPr>
            </a:pPr>
            <a:r>
              <a:t>深空探测使命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645920" y="1097280"/>
            <a:ext cx="548640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65760" y="1325880"/>
            <a:ext cx="5669280" cy="2377440"/>
          </a:xfrm>
          <a:prstGeom prst="rect">
            <a:avLst/>
          </a:prstGeom>
          <a:gradFill rotWithShape="1">
            <a:gsLst>
              <a:gs pos="0">
                <a:srgbClr val="0F1F4A"/>
              </a:gs>
              <a:gs pos="100000">
                <a:srgbClr val="0A0E27"/>
              </a:gs>
            </a:gsLst>
            <a:lin scaled="0" ang="189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65760" y="1325880"/>
            <a:ext cx="5669280" cy="73152"/>
          </a:xfrm>
          <a:prstGeom prst="rect">
            <a:avLst/>
          </a:prstGeom>
          <a:solidFill>
            <a:srgbClr val="FF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" y="14173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4488"/>
                </a:solidFill>
              </a:defRPr>
            </a:pPr>
            <a:r>
              <a:t>火星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" y="180136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C8E6FF"/>
                </a:solidFill>
              </a:defRPr>
            </a:pPr>
            <a:r>
              <a:t>天问一号 · 毅力号 · 好奇号 · 祝融号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48640" y="2075688"/>
            <a:ext cx="5303520" cy="27432"/>
          </a:xfrm>
          <a:prstGeom prst="rect">
            <a:avLst/>
          </a:prstGeom>
          <a:solidFill>
            <a:srgbClr val="C8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48640" y="214884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8E6FF"/>
                </a:solidFill>
              </a:defRPr>
            </a:pPr>
            <a:r>
              <a:t>▸ 天问一号：中国首次火星探测即实现绕落巡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8640" y="251460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8E6FF"/>
                </a:solidFill>
              </a:defRPr>
            </a:pPr>
            <a:r>
              <a:t>▸ 毅力号：在 Jezero 陨石坑寻找古代生命迹象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640" y="288036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8E6FF"/>
                </a:solidFill>
              </a:defRPr>
            </a:pPr>
            <a:r>
              <a:t>▸ 祝融号火星车：在乌托邦平原行驶超1900米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8640" y="324612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8E6FF"/>
                </a:solidFill>
              </a:defRPr>
            </a:pPr>
            <a:r>
              <a:t>▸ 火星样本返回任务：预计2030年代将样本带回地球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309360" y="1325880"/>
            <a:ext cx="5669280" cy="2377440"/>
          </a:xfrm>
          <a:prstGeom prst="rect">
            <a:avLst/>
          </a:prstGeom>
          <a:gradFill rotWithShape="1">
            <a:gsLst>
              <a:gs pos="0">
                <a:srgbClr val="0F1F4A"/>
              </a:gs>
              <a:gs pos="100000">
                <a:srgbClr val="0A0E27"/>
              </a:gs>
            </a:gsLst>
            <a:lin scaled="0" ang="189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309360" y="1325880"/>
            <a:ext cx="5669280" cy="7315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92240" y="14173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8C00"/>
                </a:solidFill>
              </a:defRPr>
            </a:pPr>
            <a:r>
              <a:t>木星系统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92240" y="180136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C8E6FF"/>
                </a:solidFill>
              </a:defRPr>
            </a:pPr>
            <a:r>
              <a:t>朱诺号 · 木星冰月探测器（JUICE）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492240" y="2075688"/>
            <a:ext cx="5303520" cy="27432"/>
          </a:xfrm>
          <a:prstGeom prst="rect">
            <a:avLst/>
          </a:prstGeom>
          <a:solidFill>
            <a:srgbClr val="C8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92240" y="214884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8E6FF"/>
                </a:solidFill>
              </a:defRPr>
            </a:pPr>
            <a:r>
              <a:t>▸ 朱诺号：正在深入探测木星大气层和磁场结构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92240" y="251460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8E6FF"/>
                </a:solidFill>
              </a:defRPr>
            </a:pPr>
            <a:r>
              <a:t>▸ 木卫二（欧罗巴）：冰壳下可能存在液态海洋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92240" y="288036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8E6FF"/>
                </a:solidFill>
              </a:defRPr>
            </a:pPr>
            <a:r>
              <a:t>▸ JUICE任务：欧洲空间局发射，探测木卫三和木卫二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92240" y="324612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8E6FF"/>
                </a:solidFill>
              </a:defRPr>
            </a:pPr>
            <a:r>
              <a:t>▸ Europa Clipper：NASA计划2025年发射探测木卫二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65760" y="3977639"/>
            <a:ext cx="5669280" cy="2377440"/>
          </a:xfrm>
          <a:prstGeom prst="rect">
            <a:avLst/>
          </a:prstGeom>
          <a:gradFill rotWithShape="1">
            <a:gsLst>
              <a:gs pos="0">
                <a:srgbClr val="0F1F4A"/>
              </a:gs>
              <a:gs pos="100000">
                <a:srgbClr val="0A0E27"/>
              </a:gs>
            </a:gsLst>
            <a:lin scaled="0" ang="189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365760" y="3977639"/>
            <a:ext cx="5669280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48640" y="4069079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D700"/>
                </a:solidFill>
              </a:defRPr>
            </a:pPr>
            <a:r>
              <a:t>土星系统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48640" y="4453127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C8E6FF"/>
                </a:solidFill>
              </a:defRPr>
            </a:pPr>
            <a:r>
              <a:t>卡西尼-惠更斯号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48640" y="4727448"/>
            <a:ext cx="5303520" cy="27432"/>
          </a:xfrm>
          <a:prstGeom prst="rect">
            <a:avLst/>
          </a:prstGeom>
          <a:solidFill>
            <a:srgbClr val="C8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48640" y="480060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8E6FF"/>
                </a:solidFill>
              </a:defRPr>
            </a:pPr>
            <a:r>
              <a:t>▸ 卡西尼号：13年探测揭示土星环精细结构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48640" y="516636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8E6FF"/>
                </a:solidFill>
              </a:defRPr>
            </a:pPr>
            <a:r>
              <a:t>▸ 惠更斯探针：成功登陆土卫六（泰坦）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48640" y="553212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8E6FF"/>
                </a:solidFill>
              </a:defRPr>
            </a:pPr>
            <a:r>
              <a:t>▸ 土卫六：拥有液态甲烷湖泊，是地球以外唯一有地表湖泊的天体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48640" y="589788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8E6FF"/>
                </a:solidFill>
              </a:defRPr>
            </a:pPr>
            <a:r>
              <a:t>▸ 未来计划：新土星探测任务正在酝酿中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309360" y="3977639"/>
            <a:ext cx="5669280" cy="2377440"/>
          </a:xfrm>
          <a:prstGeom prst="rect">
            <a:avLst/>
          </a:prstGeom>
          <a:gradFill rotWithShape="1">
            <a:gsLst>
              <a:gs pos="0">
                <a:srgbClr val="0F1F4A"/>
              </a:gs>
              <a:gs pos="100000">
                <a:srgbClr val="0A0E27"/>
              </a:gs>
            </a:gsLst>
            <a:lin scaled="0" ang="189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309360" y="3977639"/>
            <a:ext cx="5669280" cy="73152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492240" y="4069079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00E596"/>
                </a:solidFill>
              </a:defRPr>
            </a:pPr>
            <a:r>
              <a:t>小行星与彗星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92240" y="4453127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C8E6FF"/>
                </a:solidFill>
              </a:defRPr>
            </a:pPr>
            <a:r>
              <a:t>OSIRIS-REx · 隼鸟2号 · 菲莱着陆器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492240" y="4727448"/>
            <a:ext cx="5303520" cy="27432"/>
          </a:xfrm>
          <a:prstGeom prst="rect">
            <a:avLst/>
          </a:prstGeom>
          <a:solidFill>
            <a:srgbClr val="C8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492240" y="480060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8E6FF"/>
                </a:solidFill>
              </a:defRPr>
            </a:pPr>
            <a:r>
              <a:t>▸ 隼鸟2号：从小行星龙宫采集样本并成功返回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492240" y="516636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8E6FF"/>
                </a:solidFill>
              </a:defRPr>
            </a:pPr>
            <a:r>
              <a:t>▸ OSIRIS-REx：从小行星贝努采集样本，2023年返回地球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92240" y="553212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8E6FF"/>
                </a:solidFill>
              </a:defRPr>
            </a:pPr>
            <a:r>
              <a:t>▸ 小行星采矿：被认为是未来太空经济的重要方向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492240" y="589788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8E6FF"/>
                </a:solidFill>
              </a:defRPr>
            </a:pPr>
            <a:r>
              <a:t>▸ DART任务：成功改变小行星轨道，行星防御技术验证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0E27"/>
              </a:gs>
              <a:gs pos="100000">
                <a:srgbClr val="0F1F4A"/>
              </a:gs>
            </a:gsLst>
            <a:lin scaled="0" ang="189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600994" y="171523"/>
            <a:ext cx="19271" cy="19271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754580" y="4640805"/>
            <a:ext cx="37894" cy="37894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015469" y="204349"/>
            <a:ext cx="17570" cy="1757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15438" y="1363628"/>
            <a:ext cx="30583" cy="3058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620421" y="4041184"/>
            <a:ext cx="35397" cy="35397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578934" y="4787839"/>
            <a:ext cx="21239" cy="21239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378583" y="2308365"/>
            <a:ext cx="13771" cy="13771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074335" y="4140353"/>
            <a:ext cx="35328" cy="353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74250" y="6673627"/>
            <a:ext cx="22395" cy="2239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859299" y="4241808"/>
            <a:ext cx="36974" cy="3697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375386" y="314263"/>
            <a:ext cx="17849" cy="17849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48503" y="1596479"/>
            <a:ext cx="14020" cy="14020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556508" y="2502019"/>
            <a:ext cx="22143" cy="22143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173618" y="6423577"/>
            <a:ext cx="30527" cy="305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034359" y="5000351"/>
            <a:ext cx="15903" cy="1590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762661" y="4389118"/>
            <a:ext cx="27778" cy="2777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19149" y="5321807"/>
            <a:ext cx="17884" cy="17884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749853" y="1836166"/>
            <a:ext cx="17339" cy="1733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417557" y="2158060"/>
            <a:ext cx="30750" cy="307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871410" y="3146806"/>
            <a:ext cx="18965" cy="18965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673095" y="1801881"/>
            <a:ext cx="28612" cy="2861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747753" y="1504101"/>
            <a:ext cx="41073" cy="4107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0658" y="323124"/>
            <a:ext cx="14281" cy="14281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415605" y="2895173"/>
            <a:ext cx="12889" cy="1288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841094" y="3628666"/>
            <a:ext cx="40275" cy="4027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6477" y="4942710"/>
            <a:ext cx="31543" cy="3154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171804" y="4395716"/>
            <a:ext cx="14338" cy="1433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393504" y="6541269"/>
            <a:ext cx="37401" cy="37401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950567" y="1225194"/>
            <a:ext cx="38511" cy="38511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547672" y="4381915"/>
            <a:ext cx="29348" cy="2934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064118" y="3699061"/>
            <a:ext cx="34468" cy="3446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798" y="2223062"/>
            <a:ext cx="11560" cy="1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445542" y="5703562"/>
            <a:ext cx="20252" cy="20252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437075" y="6494179"/>
            <a:ext cx="13557" cy="1355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22743" y="5216209"/>
            <a:ext cx="34082" cy="34082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649776" y="3770553"/>
            <a:ext cx="18970" cy="1897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029925" y="1452512"/>
            <a:ext cx="27246" cy="2724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2391122" y="2137750"/>
            <a:ext cx="41001" cy="41001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207783" y="3549535"/>
            <a:ext cx="14624" cy="14624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018890" y="4034621"/>
            <a:ext cx="17916" cy="17916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41148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00FFCC"/>
                </a:solidFill>
              </a:defRPr>
            </a:pPr>
            <a:r>
              <a:t>06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645920" y="4114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FFFFFF"/>
                </a:solidFill>
              </a:defRPr>
            </a:pPr>
            <a:r>
              <a:t>载人航天与空间站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645920" y="1097280"/>
            <a:ext cx="5486400" cy="36576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65760" y="1280160"/>
            <a:ext cx="5303520" cy="5029200"/>
          </a:xfrm>
          <a:prstGeom prst="rect">
            <a:avLst/>
          </a:prstGeom>
          <a:gradFill rotWithShape="1">
            <a:gsLst>
              <a:gs pos="0">
                <a:srgbClr val="0F1F4A"/>
              </a:gs>
              <a:gs pos="100000">
                <a:srgbClr val="0A0E27"/>
              </a:gs>
            </a:gsLst>
            <a:lin scaled="0" ang="189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65760" y="1280160"/>
            <a:ext cx="5303520" cy="7315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7200" y="13716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00C8FF"/>
                </a:solidFill>
              </a:defRPr>
            </a:pPr>
            <a:r>
              <a:t>国际空间站（ISS）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" y="1874519"/>
            <a:ext cx="5120640" cy="27432"/>
          </a:xfrm>
          <a:prstGeom prst="rect">
            <a:avLst/>
          </a:prstGeom>
          <a:solidFill>
            <a:srgbClr val="C8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02920" y="19659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C8E6FF"/>
                </a:solidFill>
              </a:defRPr>
            </a:pPr>
            <a:r>
              <a:t>▸ 发射时间：1998年（首个模块）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2920" y="240487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C8E6FF"/>
                </a:solidFill>
              </a:defRPr>
            </a:pPr>
            <a:r>
              <a:t>▸ 总重量：约420吨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2920" y="2843784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C8E6FF"/>
                </a:solidFill>
              </a:defRPr>
            </a:pPr>
            <a:r>
              <a:t>▸ 长度：109米（约为足球场大小）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02920" y="3282696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C8E6FF"/>
                </a:solidFill>
              </a:defRPr>
            </a:pPr>
            <a:r>
              <a:t>▸ 轨道高度：约408公里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02920" y="372160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C8E6FF"/>
                </a:solidFill>
              </a:defRPr>
            </a:pPr>
            <a:r>
              <a:t>▸ 驻留人员：通常6-7人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2920" y="41605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C8E6FF"/>
                </a:solidFill>
              </a:defRPr>
            </a:pPr>
            <a:r>
              <a:t>▸ 参与国家：16个国家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02920" y="4599431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C8E6FF"/>
                </a:solidFill>
              </a:defRPr>
            </a:pPr>
            <a:r>
              <a:t>▸ 科学研究：已完成3000+项实验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02920" y="5038344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C8E6FF"/>
                </a:solidFill>
              </a:defRPr>
            </a:pPr>
            <a:r>
              <a:t>▸ 运营期限：计划延长至2030年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943600" y="1280160"/>
            <a:ext cx="5943600" cy="5029200"/>
          </a:xfrm>
          <a:prstGeom prst="rect">
            <a:avLst/>
          </a:prstGeom>
          <a:gradFill rotWithShape="1">
            <a:gsLst>
              <a:gs pos="0">
                <a:srgbClr val="0F1F4A"/>
              </a:gs>
              <a:gs pos="100000">
                <a:srgbClr val="0A1025"/>
              </a:gs>
            </a:gsLst>
            <a:lin scaled="0" ang="189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943600" y="1280160"/>
            <a:ext cx="5943600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035040" y="137160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D700"/>
                </a:solidFill>
              </a:defRPr>
            </a:pPr>
            <a:r>
              <a:t>中国天宫空间站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035040" y="1874519"/>
            <a:ext cx="5760720" cy="27432"/>
          </a:xfrm>
          <a:prstGeom prst="rect">
            <a:avLst/>
          </a:prstGeom>
          <a:solidFill>
            <a:srgbClr val="C8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080760" y="196596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C8E6FF"/>
                </a:solidFill>
              </a:defRPr>
            </a:pPr>
            <a:r>
              <a:t>▸ 全面建成：2022年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080760" y="2404872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C8E6FF"/>
                </a:solidFill>
              </a:defRPr>
            </a:pPr>
            <a:r>
              <a:t>▸ 组成：天和核心舱 + 问天实验舱 + 梦天实验舱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080760" y="2843784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C8E6FF"/>
                </a:solidFill>
              </a:defRPr>
            </a:pPr>
            <a:r>
              <a:t>▸ 总重量：约180吨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080760" y="3282696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C8E6FF"/>
                </a:solidFill>
              </a:defRPr>
            </a:pPr>
            <a:r>
              <a:t>▸ 轨道高度：约390公里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080760" y="3721608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C8E6FF"/>
                </a:solidFill>
              </a:defRPr>
            </a:pPr>
            <a:r>
              <a:t>▸ 设计寿命：10年以上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080760" y="416052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C8E6FF"/>
                </a:solidFill>
              </a:defRPr>
            </a:pPr>
            <a:r>
              <a:t>▸ 驻留：3人（长期）/ 6人（轮换期）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080760" y="4599431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C8E6FF"/>
                </a:solidFill>
              </a:defRPr>
            </a:pPr>
            <a:r>
              <a:t>▸ 特色：配备大型机械臂，支持舱外活动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080760" y="5038344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C8E6FF"/>
                </a:solidFill>
              </a:defRPr>
            </a:pPr>
            <a:r>
              <a:t>▸ 科学实验：支持空间生命科学、微重力物理等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0E27"/>
              </a:gs>
              <a:gs pos="100000">
                <a:srgbClr val="0F1F4A"/>
              </a:gs>
            </a:gsLst>
            <a:lin scaled="0" ang="189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600994" y="171523"/>
            <a:ext cx="19271" cy="19271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754580" y="4640805"/>
            <a:ext cx="37894" cy="37894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015469" y="204349"/>
            <a:ext cx="17570" cy="1757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15438" y="1363628"/>
            <a:ext cx="30583" cy="3058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620421" y="4041184"/>
            <a:ext cx="35397" cy="35397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578934" y="4787839"/>
            <a:ext cx="21239" cy="21239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378583" y="2308365"/>
            <a:ext cx="13771" cy="13771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074335" y="4140353"/>
            <a:ext cx="35328" cy="353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74250" y="6673627"/>
            <a:ext cx="22395" cy="2239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859299" y="4241808"/>
            <a:ext cx="36974" cy="3697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375386" y="314263"/>
            <a:ext cx="17849" cy="17849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48503" y="1596479"/>
            <a:ext cx="14020" cy="14020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556508" y="2502019"/>
            <a:ext cx="22143" cy="22143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173618" y="6423577"/>
            <a:ext cx="30527" cy="305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034359" y="5000351"/>
            <a:ext cx="15903" cy="1590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762661" y="4389118"/>
            <a:ext cx="27778" cy="2777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19149" y="5321807"/>
            <a:ext cx="17884" cy="17884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749853" y="1836166"/>
            <a:ext cx="17339" cy="1733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417557" y="2158060"/>
            <a:ext cx="30750" cy="307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871410" y="3146806"/>
            <a:ext cx="18965" cy="18965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673095" y="1801881"/>
            <a:ext cx="28612" cy="2861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747753" y="1504101"/>
            <a:ext cx="41073" cy="4107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0658" y="323124"/>
            <a:ext cx="14281" cy="14281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415605" y="2895173"/>
            <a:ext cx="12889" cy="1288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841094" y="3628666"/>
            <a:ext cx="40275" cy="4027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6477" y="4942710"/>
            <a:ext cx="31543" cy="3154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171804" y="4395716"/>
            <a:ext cx="14338" cy="1433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393504" y="6541269"/>
            <a:ext cx="37401" cy="37401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950567" y="1225194"/>
            <a:ext cx="38511" cy="38511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547672" y="4381915"/>
            <a:ext cx="29348" cy="2934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064118" y="3699061"/>
            <a:ext cx="34468" cy="3446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798" y="2223062"/>
            <a:ext cx="11560" cy="1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445542" y="5703562"/>
            <a:ext cx="20252" cy="20252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437075" y="6494179"/>
            <a:ext cx="13557" cy="1355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22743" y="5216209"/>
            <a:ext cx="34082" cy="34082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649776" y="3770553"/>
            <a:ext cx="18970" cy="1897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029925" y="1452512"/>
            <a:ext cx="27246" cy="2724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2391122" y="2137750"/>
            <a:ext cx="41001" cy="41001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207783" y="3549535"/>
            <a:ext cx="14624" cy="14624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018890" y="4034621"/>
            <a:ext cx="17916" cy="17916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41148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FFD700"/>
                </a:solidFill>
              </a:defRPr>
            </a:pPr>
            <a:r>
              <a:t>❤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645920" y="4114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FFFFFF"/>
                </a:solidFill>
              </a:defRPr>
            </a:pPr>
            <a:r>
              <a:t>太空中的人类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645920" y="1097280"/>
            <a:ext cx="5486400" cy="3657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65760" y="1325880"/>
            <a:ext cx="5669280" cy="2377440"/>
          </a:xfrm>
          <a:prstGeom prst="rect">
            <a:avLst/>
          </a:prstGeom>
          <a:gradFill rotWithShape="1">
            <a:gsLst>
              <a:gs pos="0">
                <a:srgbClr val="0F1F4A"/>
              </a:gs>
              <a:gs pos="100000">
                <a:srgbClr val="0A0E27"/>
              </a:gs>
            </a:gsLst>
            <a:lin scaled="0" ang="189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65760" y="1325880"/>
            <a:ext cx="91440" cy="2377440"/>
          </a:xfrm>
          <a:prstGeom prst="rect">
            <a:avLst/>
          </a:prstGeom>
          <a:solidFill>
            <a:srgbClr val="FF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" y="141732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4488"/>
                </a:solidFill>
              </a:defRPr>
            </a:pPr>
            <a:r>
              <a:t>身体挑战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8640" y="1828800"/>
            <a:ext cx="5303520" cy="27432"/>
          </a:xfrm>
          <a:prstGeom prst="rect">
            <a:avLst/>
          </a:prstGeom>
          <a:solidFill>
            <a:srgbClr val="C8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" y="1892807"/>
            <a:ext cx="53035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8E6FF"/>
                </a:solidFill>
              </a:defRPr>
            </a:pPr>
            <a:r>
              <a:t>▸ 骨密度流失：每月约1-2%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8640" y="2240279"/>
            <a:ext cx="53035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8E6FF"/>
                </a:solidFill>
              </a:defRPr>
            </a:pPr>
            <a:r>
              <a:t>▸ 肌肉萎缩：每周流失约20%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8640" y="2587752"/>
            <a:ext cx="53035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8E6FF"/>
                </a:solidFill>
              </a:defRPr>
            </a:pPr>
            <a:r>
              <a:t>▸ 体液重新分布：面部浮肿『月亮脸』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640" y="2935224"/>
            <a:ext cx="53035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8E6FF"/>
                </a:solidFill>
              </a:defRPr>
            </a:pPr>
            <a:r>
              <a:t>▸ 视力下降：长期驻留常见副作用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8640" y="3282696"/>
            <a:ext cx="53035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8E6FF"/>
                </a:solidFill>
              </a:defRPr>
            </a:pPr>
            <a:r>
              <a:t>▸ 辐射暴露：比地球高10倍以上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309360" y="1325880"/>
            <a:ext cx="5669280" cy="2377440"/>
          </a:xfrm>
          <a:prstGeom prst="rect">
            <a:avLst/>
          </a:prstGeom>
          <a:gradFill rotWithShape="1">
            <a:gsLst>
              <a:gs pos="0">
                <a:srgbClr val="0F1F4A"/>
              </a:gs>
              <a:gs pos="100000">
                <a:srgbClr val="0A0E27"/>
              </a:gs>
            </a:gsLst>
            <a:lin scaled="0" ang="189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309360" y="1325880"/>
            <a:ext cx="91440" cy="237744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92240" y="141732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00C8FF"/>
                </a:solidFill>
              </a:defRPr>
            </a:pPr>
            <a:r>
              <a:t>日常训练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92240" y="1828800"/>
            <a:ext cx="5303520" cy="27432"/>
          </a:xfrm>
          <a:prstGeom prst="rect">
            <a:avLst/>
          </a:prstGeom>
          <a:solidFill>
            <a:srgbClr val="C8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92240" y="1892807"/>
            <a:ext cx="53035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8E6FF"/>
                </a:solidFill>
              </a:defRPr>
            </a:pPr>
            <a:r>
              <a:t>▸ 每日锻炼2小时：跑步机、自行车、阻力训练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92240" y="2240279"/>
            <a:ext cx="53035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8E6FF"/>
                </a:solidFill>
              </a:defRPr>
            </a:pPr>
            <a:r>
              <a:t>▸ 中性浮力水池：模拟太空失重环境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92240" y="2587752"/>
            <a:ext cx="53035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8E6FF"/>
                </a:solidFill>
              </a:defRPr>
            </a:pPr>
            <a:r>
              <a:t>▸ 离心机训练：承受8G重力加速度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92240" y="2935224"/>
            <a:ext cx="53035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8E6FF"/>
                </a:solidFill>
              </a:defRPr>
            </a:pPr>
            <a:r>
              <a:t>▸ 生存训练：水下、沙漠、极地求生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92240" y="3282696"/>
            <a:ext cx="53035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8E6FF"/>
                </a:solidFill>
              </a:defRPr>
            </a:pPr>
            <a:r>
              <a:t>▸ 语言学习：国际任务需掌握俄语和英语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65760" y="3977639"/>
            <a:ext cx="5669280" cy="2377440"/>
          </a:xfrm>
          <a:prstGeom prst="rect">
            <a:avLst/>
          </a:prstGeom>
          <a:gradFill rotWithShape="1">
            <a:gsLst>
              <a:gs pos="0">
                <a:srgbClr val="0F1F4A"/>
              </a:gs>
              <a:gs pos="100000">
                <a:srgbClr val="0A0E27"/>
              </a:gs>
            </a:gsLst>
            <a:lin scaled="0" ang="189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365760" y="3977639"/>
            <a:ext cx="91440" cy="2377440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48640" y="4069079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00E596"/>
                </a:solidFill>
              </a:defRPr>
            </a:pPr>
            <a:r>
              <a:t>太空生活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48640" y="4480559"/>
            <a:ext cx="5303520" cy="27432"/>
          </a:xfrm>
          <a:prstGeom prst="rect">
            <a:avLst/>
          </a:prstGeom>
          <a:solidFill>
            <a:srgbClr val="C8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48640" y="4544568"/>
            <a:ext cx="53035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8E6FF"/>
                </a:solidFill>
              </a:defRPr>
            </a:pPr>
            <a:r>
              <a:t>▸ 睡眠：睡袋固定在墙壁，无上下之分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48640" y="4892040"/>
            <a:ext cx="53035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8E6FF"/>
                </a:solidFill>
              </a:defRPr>
            </a:pPr>
            <a:r>
              <a:t>▸ 饮食：脱水食品复水，新鲜水果是奢侈品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48640" y="5239512"/>
            <a:ext cx="53035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8E6FF"/>
                </a:solidFill>
              </a:defRPr>
            </a:pPr>
            <a:r>
              <a:t>▸ 洗漱：无淋浴，用湿毛巾擦拭身体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48640" y="5586983"/>
            <a:ext cx="53035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8E6FF"/>
                </a:solidFill>
              </a:defRPr>
            </a:pPr>
            <a:r>
              <a:t>▸ 如厕：真空吸力马桶，需『瞄准训练』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48640" y="5934456"/>
            <a:ext cx="53035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8E6FF"/>
                </a:solidFill>
              </a:defRPr>
            </a:pPr>
            <a:r>
              <a:t>▸ 娱乐：看电影、读书、与家人视频通话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309360" y="3977639"/>
            <a:ext cx="5669280" cy="2377440"/>
          </a:xfrm>
          <a:prstGeom prst="rect">
            <a:avLst/>
          </a:prstGeom>
          <a:gradFill rotWithShape="1">
            <a:gsLst>
              <a:gs pos="0">
                <a:srgbClr val="0F1F4A"/>
              </a:gs>
              <a:gs pos="100000">
                <a:srgbClr val="0A0E27"/>
              </a:gs>
            </a:gsLst>
            <a:lin scaled="0" ang="189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309360" y="3977639"/>
            <a:ext cx="91440" cy="23774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492240" y="4069079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8B5CF6"/>
                </a:solidFill>
              </a:defRPr>
            </a:pPr>
            <a:r>
              <a:t>杰出宇航员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492240" y="4480559"/>
            <a:ext cx="5303520" cy="27432"/>
          </a:xfrm>
          <a:prstGeom prst="rect">
            <a:avLst/>
          </a:prstGeom>
          <a:solidFill>
            <a:srgbClr val="C8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492240" y="4544568"/>
            <a:ext cx="53035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8E6FF"/>
                </a:solidFill>
              </a:defRPr>
            </a:pPr>
            <a:r>
              <a:t>▸ 尤里·加加林（苏联）：首位进入太空的人类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492240" y="4892040"/>
            <a:ext cx="53035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8E6FF"/>
                </a:solidFill>
              </a:defRPr>
            </a:pPr>
            <a:r>
              <a:t>▸ 尼尔·阿姆斯特朗（美国）：首位登上月球的人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492240" y="5239512"/>
            <a:ext cx="53035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8E6FF"/>
                </a:solidFill>
              </a:defRPr>
            </a:pPr>
            <a:r>
              <a:t>▸ 王亚平（中国）：首位太空授课的中国航天员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92240" y="5586983"/>
            <a:ext cx="53035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8E6FF"/>
                </a:solidFill>
              </a:defRPr>
            </a:pPr>
            <a:r>
              <a:t>▸ Peggy Whitson（美国）：累计太空停留675天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492240" y="5934456"/>
            <a:ext cx="53035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8E6FF"/>
                </a:solidFill>
              </a:defRPr>
            </a:pPr>
            <a:r>
              <a:t>▸ 杨利伟（中国）：中国首位进入太空的航天员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0E27"/>
              </a:gs>
              <a:gs pos="100000">
                <a:srgbClr val="0F1F4A"/>
              </a:gs>
            </a:gsLst>
            <a:lin scaled="0" ang="189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600994" y="171523"/>
            <a:ext cx="19271" cy="19271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754580" y="4640805"/>
            <a:ext cx="37894" cy="37894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015469" y="204349"/>
            <a:ext cx="17570" cy="1757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15438" y="1363628"/>
            <a:ext cx="30583" cy="3058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620421" y="4041184"/>
            <a:ext cx="35397" cy="35397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578934" y="4787839"/>
            <a:ext cx="21239" cy="21239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378583" y="2308365"/>
            <a:ext cx="13771" cy="13771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074335" y="4140353"/>
            <a:ext cx="35328" cy="353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74250" y="6673627"/>
            <a:ext cx="22395" cy="2239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859299" y="4241808"/>
            <a:ext cx="36974" cy="3697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375386" y="314263"/>
            <a:ext cx="17849" cy="17849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48503" y="1596479"/>
            <a:ext cx="14020" cy="14020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556508" y="2502019"/>
            <a:ext cx="22143" cy="22143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173618" y="6423577"/>
            <a:ext cx="30527" cy="305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034359" y="5000351"/>
            <a:ext cx="15903" cy="1590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762661" y="4389118"/>
            <a:ext cx="27778" cy="2777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19149" y="5321807"/>
            <a:ext cx="17884" cy="17884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749853" y="1836166"/>
            <a:ext cx="17339" cy="1733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417557" y="2158060"/>
            <a:ext cx="30750" cy="307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871410" y="3146806"/>
            <a:ext cx="18965" cy="18965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673095" y="1801881"/>
            <a:ext cx="28612" cy="2861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747753" y="1504101"/>
            <a:ext cx="41073" cy="4107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0658" y="323124"/>
            <a:ext cx="14281" cy="14281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415605" y="2895173"/>
            <a:ext cx="12889" cy="1288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841094" y="3628666"/>
            <a:ext cx="40275" cy="4027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6477" y="4942710"/>
            <a:ext cx="31543" cy="3154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171804" y="4395716"/>
            <a:ext cx="14338" cy="1433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393504" y="6541269"/>
            <a:ext cx="37401" cy="37401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950567" y="1225194"/>
            <a:ext cx="38511" cy="38511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547672" y="4381915"/>
            <a:ext cx="29348" cy="2934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064118" y="3699061"/>
            <a:ext cx="34468" cy="3446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798" y="2223062"/>
            <a:ext cx="11560" cy="1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445542" y="5703562"/>
            <a:ext cx="20252" cy="20252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437075" y="6494179"/>
            <a:ext cx="13557" cy="1355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22743" y="5216209"/>
            <a:ext cx="34082" cy="34082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649776" y="3770553"/>
            <a:ext cx="18970" cy="1897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029925" y="1452512"/>
            <a:ext cx="27246" cy="2724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2391122" y="2137750"/>
            <a:ext cx="41001" cy="41001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207783" y="3549535"/>
            <a:ext cx="14624" cy="14624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018890" y="4034621"/>
            <a:ext cx="17916" cy="17916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41148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FF8C00"/>
                </a:solidFill>
              </a:defRPr>
            </a:pPr>
            <a:r>
              <a:t>07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645920" y="4114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FFFFFF"/>
                </a:solidFill>
              </a:defRPr>
            </a:pPr>
            <a:r>
              <a:t>未来太空展望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645920" y="1097280"/>
            <a:ext cx="5486400" cy="36576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65760" y="1325880"/>
            <a:ext cx="3657600" cy="2468880"/>
          </a:xfrm>
          <a:prstGeom prst="rect">
            <a:avLst/>
          </a:prstGeom>
          <a:gradFill rotWithShape="1">
            <a:gsLst>
              <a:gs pos="0">
                <a:srgbClr val="0F1F4A"/>
              </a:gs>
              <a:gs pos="100000">
                <a:srgbClr val="0A0E27"/>
              </a:gs>
            </a:gsLst>
            <a:lin scaled="0" ang="189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65760" y="1325880"/>
            <a:ext cx="3657600" cy="7315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02920" y="1435607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0C8FF"/>
                </a:solidFill>
              </a:defRPr>
            </a:pPr>
            <a:r>
              <a:t>2026-2030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2920" y="17373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FFFFFF"/>
                </a:solidFill>
              </a:defRPr>
            </a:pPr>
            <a:r>
              <a:t>重返月球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02920" y="2103120"/>
            <a:ext cx="3383280" cy="27432"/>
          </a:xfrm>
          <a:prstGeom prst="rect">
            <a:avLst/>
          </a:prstGeom>
          <a:solidFill>
            <a:srgbClr val="C8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02920" y="2167128"/>
            <a:ext cx="3383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8E6FF"/>
                </a:solidFill>
              </a:defRPr>
            </a:pPr>
            <a:r>
              <a:t>阿尔忒弥斯计划将送首位女性和首位有色人种登月；中国载人登月计划目标2030年前实现；月球南极水冰资源勘探。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251960" y="1325880"/>
            <a:ext cx="3657600" cy="2468880"/>
          </a:xfrm>
          <a:prstGeom prst="rect">
            <a:avLst/>
          </a:prstGeom>
          <a:gradFill rotWithShape="1">
            <a:gsLst>
              <a:gs pos="0">
                <a:srgbClr val="0F1F4A"/>
              </a:gs>
              <a:gs pos="100000">
                <a:srgbClr val="0A0E27"/>
              </a:gs>
            </a:gsLst>
            <a:lin scaled="0" ang="189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251960" y="1325880"/>
            <a:ext cx="3657600" cy="73152"/>
          </a:xfrm>
          <a:prstGeom prst="rect">
            <a:avLst/>
          </a:prstGeom>
          <a:solidFill>
            <a:srgbClr val="FF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389120" y="1435607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F4488"/>
                </a:solidFill>
              </a:defRPr>
            </a:pPr>
            <a:r>
              <a:t>2030年代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389120" y="17373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FFFFFF"/>
                </a:solidFill>
              </a:defRPr>
            </a:pPr>
            <a:r>
              <a:t>载人火星飞行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389120" y="2103120"/>
            <a:ext cx="3383280" cy="27432"/>
          </a:xfrm>
          <a:prstGeom prst="rect">
            <a:avLst/>
          </a:prstGeom>
          <a:solidFill>
            <a:srgbClr val="C8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389120" y="2167128"/>
            <a:ext cx="3383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8E6FF"/>
                </a:solidFill>
              </a:defRPr>
            </a:pPr>
            <a:r>
              <a:t>SpaceX星舰计划发射无人火星任务；NASA阿尔忒弥斯后续任务瞄准火星；中国也公布了载人火星飞行路线图。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138160" y="1325880"/>
            <a:ext cx="3657600" cy="2468880"/>
          </a:xfrm>
          <a:prstGeom prst="rect">
            <a:avLst/>
          </a:prstGeom>
          <a:gradFill rotWithShape="1">
            <a:gsLst>
              <a:gs pos="0">
                <a:srgbClr val="0F1F4A"/>
              </a:gs>
              <a:gs pos="100000">
                <a:srgbClr val="0A0E27"/>
              </a:gs>
            </a:gsLst>
            <a:lin scaled="0" ang="189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138160" y="1325880"/>
            <a:ext cx="3657600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275320" y="1435607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FD700"/>
                </a:solidFill>
              </a:defRPr>
            </a:pPr>
            <a:r>
              <a:t>2030-2040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275320" y="17373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FFFFFF"/>
                </a:solidFill>
              </a:defRPr>
            </a:pPr>
            <a:r>
              <a:t>月球基地建设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275320" y="2103120"/>
            <a:ext cx="3383280" cy="27432"/>
          </a:xfrm>
          <a:prstGeom prst="rect">
            <a:avLst/>
          </a:prstGeom>
          <a:solidFill>
            <a:srgbClr val="C8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275320" y="2167128"/>
            <a:ext cx="3383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8E6FF"/>
                </a:solidFill>
              </a:defRPr>
            </a:pPr>
            <a:r>
              <a:t>多国计划建设月球科研基地；月球氦-3核聚变能源开采研究；月球将成为深空探索的前沿基地。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65760" y="4069080"/>
            <a:ext cx="3657600" cy="2468880"/>
          </a:xfrm>
          <a:prstGeom prst="rect">
            <a:avLst/>
          </a:prstGeom>
          <a:gradFill rotWithShape="1">
            <a:gsLst>
              <a:gs pos="0">
                <a:srgbClr val="0F1F4A"/>
              </a:gs>
              <a:gs pos="100000">
                <a:srgbClr val="0A0E27"/>
              </a:gs>
            </a:gsLst>
            <a:lin scaled="0" ang="189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365760" y="4069080"/>
            <a:ext cx="3657600" cy="73152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02920" y="417880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0E596"/>
                </a:solidFill>
              </a:defRPr>
            </a:pPr>
            <a:r>
              <a:t>2040-2050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02920" y="44805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FFFFFF"/>
                </a:solidFill>
              </a:defRPr>
            </a:pPr>
            <a:r>
              <a:t>太空工业化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02920" y="4846320"/>
            <a:ext cx="3383280" cy="27432"/>
          </a:xfrm>
          <a:prstGeom prst="rect">
            <a:avLst/>
          </a:prstGeom>
          <a:solidFill>
            <a:srgbClr val="C8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02920" y="4910328"/>
            <a:ext cx="3383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8E6FF"/>
                </a:solidFill>
              </a:defRPr>
            </a:pPr>
            <a:r>
              <a:t>太空制造业：微重力环境生产特殊材料；太空太阳能电站；小行星采矿产业化；太空旅游成为新兴产业。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251960" y="4069080"/>
            <a:ext cx="3657600" cy="2468880"/>
          </a:xfrm>
          <a:prstGeom prst="rect">
            <a:avLst/>
          </a:prstGeom>
          <a:gradFill rotWithShape="1">
            <a:gsLst>
              <a:gs pos="0">
                <a:srgbClr val="0F1F4A"/>
              </a:gs>
              <a:gs pos="100000">
                <a:srgbClr val="0A0E27"/>
              </a:gs>
            </a:gsLst>
            <a:lin scaled="0" ang="189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4251960" y="4069080"/>
            <a:ext cx="365760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389120" y="417880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8B5CF6"/>
                </a:solidFill>
              </a:defRPr>
            </a:pPr>
            <a:r>
              <a:t>2050+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389120" y="44805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FFFFFF"/>
                </a:solidFill>
              </a:defRPr>
            </a:pPr>
            <a:r>
              <a:t>星际移民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389120" y="4846320"/>
            <a:ext cx="3383280" cy="27432"/>
          </a:xfrm>
          <a:prstGeom prst="rect">
            <a:avLst/>
          </a:prstGeom>
          <a:solidFill>
            <a:srgbClr val="C8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389120" y="4910328"/>
            <a:ext cx="3383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8E6FF"/>
                </a:solidFill>
              </a:defRPr>
            </a:pPr>
            <a:r>
              <a:t>火星城市计划：马斯克目标2050年建立百万人级火星城市；地球化改造研究；人类文明成为多行星文明。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138160" y="4069080"/>
            <a:ext cx="3657600" cy="2468880"/>
          </a:xfrm>
          <a:prstGeom prst="rect">
            <a:avLst/>
          </a:prstGeom>
          <a:gradFill rotWithShape="1">
            <a:gsLst>
              <a:gs pos="0">
                <a:srgbClr val="0F1F4A"/>
              </a:gs>
              <a:gs pos="100000">
                <a:srgbClr val="0A0E27"/>
              </a:gs>
            </a:gsLst>
            <a:lin scaled="0" ang="189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138160" y="4069080"/>
            <a:ext cx="3657600" cy="73152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275320" y="417880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0FFCC"/>
                </a:solidFill>
              </a:defRPr>
            </a:pPr>
            <a:r>
              <a:t>长远未来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275320" y="44805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FFFFFF"/>
                </a:solidFill>
              </a:defRPr>
            </a:pPr>
            <a:r>
              <a:t>星际航行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275320" y="4846320"/>
            <a:ext cx="3383280" cy="27432"/>
          </a:xfrm>
          <a:prstGeom prst="rect">
            <a:avLst/>
          </a:prstGeom>
          <a:solidFill>
            <a:srgbClr val="C8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275320" y="4910328"/>
            <a:ext cx="3383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8E6FF"/>
                </a:solidFill>
              </a:defRPr>
            </a:pPr>
            <a:r>
              <a:t>突破摄星计划：激光推进纳米探测器前往半人马座α星；核聚变推进技术研究；世代飞船概念设计；寻找地外文明。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0E27"/>
              </a:gs>
              <a:gs pos="100000">
                <a:srgbClr val="0F1F4A"/>
              </a:gs>
            </a:gsLst>
            <a:lin scaled="0" ang="189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600994" y="171523"/>
            <a:ext cx="19271" cy="19271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754580" y="4640805"/>
            <a:ext cx="37894" cy="37894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015469" y="204349"/>
            <a:ext cx="17570" cy="1757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15438" y="1363628"/>
            <a:ext cx="30583" cy="3058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620421" y="4041184"/>
            <a:ext cx="35397" cy="35397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578934" y="4787839"/>
            <a:ext cx="21239" cy="21239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378583" y="2308365"/>
            <a:ext cx="13771" cy="13771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074335" y="4140353"/>
            <a:ext cx="35328" cy="353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74250" y="6673627"/>
            <a:ext cx="22395" cy="2239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859299" y="4241808"/>
            <a:ext cx="36974" cy="3697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375386" y="314263"/>
            <a:ext cx="17849" cy="17849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48503" y="1596479"/>
            <a:ext cx="14020" cy="14020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556508" y="2502019"/>
            <a:ext cx="22143" cy="22143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173618" y="6423577"/>
            <a:ext cx="30527" cy="305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034359" y="5000351"/>
            <a:ext cx="15903" cy="1590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762661" y="4389118"/>
            <a:ext cx="27778" cy="2777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19149" y="5321807"/>
            <a:ext cx="17884" cy="17884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749853" y="1836166"/>
            <a:ext cx="17339" cy="1733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417557" y="2158060"/>
            <a:ext cx="30750" cy="307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871410" y="3146806"/>
            <a:ext cx="18965" cy="18965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673095" y="1801881"/>
            <a:ext cx="28612" cy="2861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747753" y="1504101"/>
            <a:ext cx="41073" cy="4107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0658" y="323124"/>
            <a:ext cx="14281" cy="14281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415605" y="2895173"/>
            <a:ext cx="12889" cy="1288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841094" y="3628666"/>
            <a:ext cx="40275" cy="4027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6477" y="4942710"/>
            <a:ext cx="31543" cy="3154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171804" y="4395716"/>
            <a:ext cx="14338" cy="1433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393504" y="6541269"/>
            <a:ext cx="37401" cy="37401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950567" y="1225194"/>
            <a:ext cx="38511" cy="38511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547672" y="4381915"/>
            <a:ext cx="29348" cy="2934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064118" y="3699061"/>
            <a:ext cx="34468" cy="3446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798" y="2223062"/>
            <a:ext cx="11560" cy="1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445542" y="5703562"/>
            <a:ext cx="20252" cy="20252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437075" y="6494179"/>
            <a:ext cx="13557" cy="1355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22743" y="5216209"/>
            <a:ext cx="34082" cy="34082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649776" y="3770553"/>
            <a:ext cx="18970" cy="1897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029925" y="1452512"/>
            <a:ext cx="27246" cy="2724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2391122" y="2137750"/>
            <a:ext cx="41001" cy="41001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207783" y="3549535"/>
            <a:ext cx="14624" cy="14624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018890" y="4034621"/>
            <a:ext cx="17916" cy="17916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41148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00C8FF"/>
                </a:solidFill>
              </a:defRPr>
            </a:pPr>
            <a:r>
              <a:t>📊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645920" y="4114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FFFFFF"/>
                </a:solidFill>
              </a:defRPr>
            </a:pPr>
            <a:r>
              <a:t>航天数据大盘点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645920" y="1097280"/>
            <a:ext cx="5486400" cy="3657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65760" y="1325880"/>
            <a:ext cx="2651760" cy="2286000"/>
          </a:xfrm>
          <a:prstGeom prst="rect">
            <a:avLst/>
          </a:prstGeom>
          <a:gradFill rotWithShape="1">
            <a:gsLst>
              <a:gs pos="0">
                <a:srgbClr val="0F1F4A"/>
              </a:gs>
              <a:gs pos="100000">
                <a:srgbClr val="0A0E27"/>
              </a:gs>
            </a:gsLst>
            <a:lin scaled="0" ang="189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65760" y="1325880"/>
            <a:ext cx="2651760" cy="7315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7200" y="1463039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0C8FF"/>
                </a:solidFill>
              </a:defRPr>
            </a:pPr>
            <a:r>
              <a:t>全球航天发射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" y="182880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 i="0">
                <a:solidFill>
                  <a:srgbClr val="FFFFFF"/>
                </a:solidFill>
              </a:defRPr>
            </a:pPr>
            <a:r>
              <a:t>2025年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" y="246888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C8E6FF"/>
                </a:solidFill>
              </a:defRPr>
            </a:pPr>
            <a:r>
              <a:t>全年发射超250次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291840" y="1325880"/>
            <a:ext cx="2651760" cy="2286000"/>
          </a:xfrm>
          <a:prstGeom prst="rect">
            <a:avLst/>
          </a:prstGeom>
          <a:gradFill rotWithShape="1">
            <a:gsLst>
              <a:gs pos="0">
                <a:srgbClr val="0F1F4A"/>
              </a:gs>
              <a:gs pos="100000">
                <a:srgbClr val="0A0E27"/>
              </a:gs>
            </a:gsLst>
            <a:lin scaled="0" ang="189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291840" y="1325880"/>
            <a:ext cx="2651760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383280" y="1463039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FD700"/>
                </a:solidFill>
              </a:defRPr>
            </a:pPr>
            <a:r>
              <a:t>在轨卫星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383280" y="182880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 i="0">
                <a:solidFill>
                  <a:srgbClr val="FFFFFF"/>
                </a:solidFill>
              </a:defRPr>
            </a:pPr>
            <a:r>
              <a:t>超12,000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383280" y="246888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C8E6FF"/>
                </a:solidFill>
              </a:defRPr>
            </a:pPr>
            <a:r>
              <a:t>颗活跃卫星在轨运行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217920" y="1325880"/>
            <a:ext cx="2651760" cy="2286000"/>
          </a:xfrm>
          <a:prstGeom prst="rect">
            <a:avLst/>
          </a:prstGeom>
          <a:gradFill rotWithShape="1">
            <a:gsLst>
              <a:gs pos="0">
                <a:srgbClr val="0F1F4A"/>
              </a:gs>
              <a:gs pos="100000">
                <a:srgbClr val="0A0E27"/>
              </a:gs>
            </a:gsLst>
            <a:lin scaled="0" ang="189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217920" y="1325880"/>
            <a:ext cx="2651760" cy="73152"/>
          </a:xfrm>
          <a:prstGeom prst="rect">
            <a:avLst/>
          </a:prstGeom>
          <a:solidFill>
            <a:srgbClr val="FF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309360" y="1463039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F4488"/>
                </a:solidFill>
              </a:defRPr>
            </a:pPr>
            <a:r>
              <a:t>太空垃圾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309360" y="182880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 i="0">
                <a:solidFill>
                  <a:srgbClr val="FFFFFF"/>
                </a:solidFill>
              </a:defRPr>
            </a:pPr>
            <a:r>
              <a:t>超50万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309360" y="246888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C8E6FF"/>
                </a:solidFill>
              </a:defRPr>
            </a:pPr>
            <a:r>
              <a:t>个大于1cm的太空碎片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144000" y="1325880"/>
            <a:ext cx="2651760" cy="2286000"/>
          </a:xfrm>
          <a:prstGeom prst="rect">
            <a:avLst/>
          </a:prstGeom>
          <a:gradFill rotWithShape="1">
            <a:gsLst>
              <a:gs pos="0">
                <a:srgbClr val="0F1F4A"/>
              </a:gs>
              <a:gs pos="100000">
                <a:srgbClr val="0A0E27"/>
              </a:gs>
            </a:gsLst>
            <a:lin scaled="0" ang="189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144000" y="1325880"/>
            <a:ext cx="2651760" cy="73152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235440" y="1463039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0E596"/>
                </a:solidFill>
              </a:defRPr>
            </a:pPr>
            <a:r>
              <a:t>累计宇航员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235440" y="182880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 i="0">
                <a:solidFill>
                  <a:srgbClr val="FFFFFF"/>
                </a:solidFill>
              </a:defRPr>
            </a:pPr>
            <a:r>
              <a:t>超600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235440" y="246888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C8E6FF"/>
                </a:solidFill>
              </a:defRPr>
            </a:pPr>
            <a:r>
              <a:t>人进入过太空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65760" y="3886200"/>
            <a:ext cx="2651760" cy="2286000"/>
          </a:xfrm>
          <a:prstGeom prst="rect">
            <a:avLst/>
          </a:prstGeom>
          <a:gradFill rotWithShape="1">
            <a:gsLst>
              <a:gs pos="0">
                <a:srgbClr val="0F1F4A"/>
              </a:gs>
              <a:gs pos="100000">
                <a:srgbClr val="0A0E27"/>
              </a:gs>
            </a:gsLst>
            <a:lin scaled="0" ang="189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365760" y="3886200"/>
            <a:ext cx="265176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57200" y="40233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8B5CF6"/>
                </a:solidFill>
              </a:defRPr>
            </a:pPr>
            <a:r>
              <a:t>太空行走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7200" y="438912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 i="0">
                <a:solidFill>
                  <a:srgbClr val="FFFFFF"/>
                </a:solidFill>
              </a:defRPr>
            </a:pPr>
            <a:r>
              <a:t>超270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57200" y="502920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C8E6FF"/>
                </a:solidFill>
              </a:defRPr>
            </a:pPr>
            <a:r>
              <a:t>次出舱活动记录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291840" y="3886200"/>
            <a:ext cx="2651760" cy="2286000"/>
          </a:xfrm>
          <a:prstGeom prst="rect">
            <a:avLst/>
          </a:prstGeom>
          <a:gradFill rotWithShape="1">
            <a:gsLst>
              <a:gs pos="0">
                <a:srgbClr val="0F1F4A"/>
              </a:gs>
              <a:gs pos="100000">
                <a:srgbClr val="0A0E27"/>
              </a:gs>
            </a:gsLst>
            <a:lin scaled="0" ang="189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3291840" y="3886200"/>
            <a:ext cx="2651760" cy="7315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383280" y="40233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F8C00"/>
                </a:solidFill>
              </a:defRPr>
            </a:pPr>
            <a:r>
              <a:t>火星车行驶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383280" y="438912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 i="0">
                <a:solidFill>
                  <a:srgbClr val="FFFFFF"/>
                </a:solidFill>
              </a:defRPr>
            </a:pPr>
            <a:r>
              <a:t>超28km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383280" y="502920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C8E6FF"/>
                </a:solidFill>
              </a:defRPr>
            </a:pPr>
            <a:r>
              <a:t>好奇号在火星行驶距离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217920" y="3886200"/>
            <a:ext cx="2651760" cy="2286000"/>
          </a:xfrm>
          <a:prstGeom prst="rect">
            <a:avLst/>
          </a:prstGeom>
          <a:gradFill rotWithShape="1">
            <a:gsLst>
              <a:gs pos="0">
                <a:srgbClr val="0F1F4A"/>
              </a:gs>
              <a:gs pos="100000">
                <a:srgbClr val="0A0E27"/>
              </a:gs>
            </a:gsLst>
            <a:lin scaled="0" ang="189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217920" y="3886200"/>
            <a:ext cx="2651760" cy="73152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309360" y="40233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0FFCC"/>
                </a:solidFill>
              </a:defRPr>
            </a:pPr>
            <a:r>
              <a:t>旅行者1号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309360" y="438912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 i="0">
                <a:solidFill>
                  <a:srgbClr val="FFFFFF"/>
                </a:solidFill>
              </a:defRPr>
            </a:pPr>
            <a:r>
              <a:t>240亿km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309360" y="502920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C8E6FF"/>
                </a:solidFill>
              </a:defRPr>
            </a:pPr>
            <a:r>
              <a:t>距离地球最远的人造物</a:t>
            </a:r>
          </a:p>
        </p:txBody>
      </p:sp>
      <p:sp>
        <p:nvSpPr>
          <p:cNvPr id="82" name="Rectangle 81"/>
          <p:cNvSpPr/>
          <p:nvPr/>
        </p:nvSpPr>
        <p:spPr>
          <a:xfrm>
            <a:off x="9144000" y="3886200"/>
            <a:ext cx="2651760" cy="2286000"/>
          </a:xfrm>
          <a:prstGeom prst="rect">
            <a:avLst/>
          </a:prstGeom>
          <a:gradFill rotWithShape="1">
            <a:gsLst>
              <a:gs pos="0">
                <a:srgbClr val="0F1F4A"/>
              </a:gs>
              <a:gs pos="100000">
                <a:srgbClr val="0A0E27"/>
              </a:gs>
            </a:gsLst>
            <a:lin scaled="0" ang="189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9144000" y="3886200"/>
            <a:ext cx="2651760" cy="73152"/>
          </a:xfrm>
          <a:prstGeom prst="rect">
            <a:avLst/>
          </a:prstGeom>
          <a:solidFill>
            <a:srgbClr val="C8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235440" y="40233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C8E6FF"/>
                </a:solidFill>
              </a:defRPr>
            </a:pPr>
            <a:r>
              <a:t>国际空间站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235440" y="438912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 i="0">
                <a:solidFill>
                  <a:srgbClr val="FFFFFF"/>
                </a:solidFill>
              </a:defRPr>
            </a:pPr>
            <a:r>
              <a:t>绕地90,000+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235440" y="502920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C8E6FF"/>
                </a:solidFill>
              </a:defRPr>
            </a:pPr>
            <a:r>
              <a:t>圈，总里程超40亿公里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0E27"/>
              </a:gs>
              <a:gs pos="100000">
                <a:srgbClr val="0F1F4A"/>
              </a:gs>
            </a:gsLst>
            <a:lin scaled="0" ang="189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600994" y="171523"/>
            <a:ext cx="19271" cy="19271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754580" y="4640805"/>
            <a:ext cx="37894" cy="37894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015469" y="204349"/>
            <a:ext cx="17570" cy="1757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15438" y="1363628"/>
            <a:ext cx="30583" cy="3058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620421" y="4041184"/>
            <a:ext cx="35397" cy="35397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578934" y="4787839"/>
            <a:ext cx="21239" cy="21239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378583" y="2308365"/>
            <a:ext cx="13771" cy="13771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074335" y="4140353"/>
            <a:ext cx="35328" cy="353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74250" y="6673627"/>
            <a:ext cx="22395" cy="2239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859299" y="4241808"/>
            <a:ext cx="36974" cy="3697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375386" y="314263"/>
            <a:ext cx="17849" cy="17849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48503" y="1596479"/>
            <a:ext cx="14020" cy="14020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556508" y="2502019"/>
            <a:ext cx="22143" cy="22143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173618" y="6423577"/>
            <a:ext cx="30527" cy="305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034359" y="5000351"/>
            <a:ext cx="15903" cy="1590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762661" y="4389118"/>
            <a:ext cx="27778" cy="2777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19149" y="5321807"/>
            <a:ext cx="17884" cy="17884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749853" y="1836166"/>
            <a:ext cx="17339" cy="1733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417557" y="2158060"/>
            <a:ext cx="30750" cy="307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871410" y="3146806"/>
            <a:ext cx="18965" cy="18965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673095" y="1801881"/>
            <a:ext cx="28612" cy="2861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747753" y="1504101"/>
            <a:ext cx="41073" cy="4107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0658" y="323124"/>
            <a:ext cx="14281" cy="14281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415605" y="2895173"/>
            <a:ext cx="12889" cy="1288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841094" y="3628666"/>
            <a:ext cx="40275" cy="4027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6477" y="4942710"/>
            <a:ext cx="31543" cy="3154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171804" y="4395716"/>
            <a:ext cx="14338" cy="1433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393504" y="6541269"/>
            <a:ext cx="37401" cy="37401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950567" y="1225194"/>
            <a:ext cx="38511" cy="38511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547672" y="4381915"/>
            <a:ext cx="29348" cy="2934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064118" y="3699061"/>
            <a:ext cx="34468" cy="3446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798" y="2223062"/>
            <a:ext cx="11560" cy="1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445542" y="5703562"/>
            <a:ext cx="20252" cy="20252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437075" y="6494179"/>
            <a:ext cx="13557" cy="1355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22743" y="5216209"/>
            <a:ext cx="34082" cy="34082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649776" y="3770553"/>
            <a:ext cx="18970" cy="1897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029925" y="1452512"/>
            <a:ext cx="27246" cy="2724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2391122" y="2137750"/>
            <a:ext cx="41001" cy="41001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207783" y="3549535"/>
            <a:ext cx="14624" cy="14624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018890" y="4034621"/>
            <a:ext cx="17916" cy="17916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572000" y="2057400"/>
            <a:ext cx="2743200" cy="2743200"/>
          </a:xfrm>
          <a:prstGeom prst="rect">
            <a:avLst/>
          </a:prstGeom>
          <a:noFill/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526280" y="2011680"/>
            <a:ext cx="2834640" cy="2834640"/>
          </a:xfrm>
          <a:prstGeom prst="rect">
            <a:avLst/>
          </a:prstGeom>
          <a:noFill/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480560" y="1965960"/>
            <a:ext cx="2926080" cy="2926080"/>
          </a:xfrm>
          <a:prstGeom prst="rect">
            <a:avLst/>
          </a:prstGeom>
          <a:noFill/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371600" y="146304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 i="0">
                <a:solidFill>
                  <a:srgbClr val="FFFFFF"/>
                </a:solidFill>
              </a:defRPr>
            </a:pPr>
            <a:r>
              <a:t>仰望星空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371600" y="2377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 i="0">
                <a:solidFill>
                  <a:srgbClr val="00C8FF"/>
                </a:solidFill>
              </a:defRPr>
            </a:pPr>
            <a:r>
              <a:t>人类的太空探索永无止境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14800" y="3063240"/>
            <a:ext cx="3931920" cy="457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371600" y="32004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 i="0">
                <a:solidFill>
                  <a:srgbClr val="FFD700"/>
                </a:solidFill>
              </a:defRPr>
            </a:pPr>
            <a:r>
              <a:t>「 星辰大海，征途漫漫，唯有探索不止 」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371600" y="3931920"/>
            <a:ext cx="1280160" cy="457200"/>
          </a:xfrm>
          <a:prstGeom prst="rect">
            <a:avLst/>
          </a:prstGeom>
          <a:solidFill>
            <a:srgbClr val="0F1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371600" y="393192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FFD700"/>
                </a:solidFill>
              </a:defRPr>
            </a:pPr>
            <a:r>
              <a:t>勇气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971800" y="3931920"/>
            <a:ext cx="1280160" cy="457200"/>
          </a:xfrm>
          <a:prstGeom prst="rect">
            <a:avLst/>
          </a:prstGeom>
          <a:solidFill>
            <a:srgbClr val="0F1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971800" y="393192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FFD700"/>
                </a:solidFill>
              </a:defRPr>
            </a:pPr>
            <a:r>
              <a:t>智慧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0" y="3931920"/>
            <a:ext cx="1280160" cy="457200"/>
          </a:xfrm>
          <a:prstGeom prst="rect">
            <a:avLst/>
          </a:prstGeom>
          <a:solidFill>
            <a:srgbClr val="0F1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572000" y="393192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FFD700"/>
                </a:solidFill>
              </a:defRPr>
            </a:pPr>
            <a:r>
              <a:t>探索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172200" y="3931920"/>
            <a:ext cx="1280160" cy="457200"/>
          </a:xfrm>
          <a:prstGeom prst="rect">
            <a:avLst/>
          </a:prstGeom>
          <a:solidFill>
            <a:srgbClr val="0F1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172200" y="393192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FFD700"/>
                </a:solidFill>
              </a:defRPr>
            </a:pPr>
            <a:r>
              <a:t>创新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772400" y="3931920"/>
            <a:ext cx="1280160" cy="457200"/>
          </a:xfrm>
          <a:prstGeom prst="rect">
            <a:avLst/>
          </a:prstGeom>
          <a:solidFill>
            <a:srgbClr val="0F1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772400" y="393192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FFD700"/>
                </a:solidFill>
              </a:defRPr>
            </a:pPr>
            <a:r>
              <a:t>梦想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372600" y="3931920"/>
            <a:ext cx="1280160" cy="457200"/>
          </a:xfrm>
          <a:prstGeom prst="rect">
            <a:avLst/>
          </a:prstGeom>
          <a:solidFill>
            <a:srgbClr val="0F1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372600" y="393192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FFD700"/>
                </a:solidFill>
              </a:defRPr>
            </a:pPr>
            <a:r>
              <a:t>未来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371600" y="4846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FFFFFF"/>
                </a:solidFill>
              </a:defRPr>
            </a:pPr>
            <a:r>
              <a:t>谢谢观看  ·  THANK YOU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371600" y="53492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C8E6FF"/>
                </a:solidFill>
              </a:defRPr>
            </a:pPr>
            <a:r>
              <a:t>To the stars and beyond —— 向星辰大海进发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371600" y="58521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00C8FF"/>
                </a:solidFill>
              </a:defRPr>
            </a:pPr>
            <a:r>
              <a:t>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